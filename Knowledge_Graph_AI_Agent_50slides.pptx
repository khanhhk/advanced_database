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8795156" y="1098194"/>
            <a:ext cx="1481328" cy="432054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5156" y="1530248"/>
            <a:ext cx="1604772" cy="92583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6484" y="1098194"/>
            <a:ext cx="1604772" cy="67894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399928" y="1777136"/>
            <a:ext cx="1481328" cy="67894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95156" y="1530248"/>
            <a:ext cx="864108" cy="1357884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659264" y="2456078"/>
            <a:ext cx="740664" cy="432054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757812" y="1777136"/>
            <a:ext cx="123444" cy="123444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9264" y="2888132"/>
            <a:ext cx="2098548" cy="123444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9368" y="1394460"/>
            <a:ext cx="370332" cy="370332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40696" y="962406"/>
            <a:ext cx="246888" cy="246888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64140" y="2320290"/>
            <a:ext cx="246888" cy="24688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5468" y="1641348"/>
            <a:ext cx="370332" cy="370332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23476" y="2752344"/>
            <a:ext cx="246888" cy="246888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22024" y="2875788"/>
            <a:ext cx="246888" cy="246888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432328" y="4095415"/>
            <a:ext cx="965606" cy="281635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328" y="4377050"/>
            <a:ext cx="1046074" cy="603504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7935" y="4095415"/>
            <a:ext cx="1046074" cy="44257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478402" y="4537984"/>
            <a:ext cx="965606" cy="44257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328" y="4377050"/>
            <a:ext cx="563270" cy="885139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95599" y="4980554"/>
            <a:ext cx="482803" cy="281635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363541" y="4537984"/>
            <a:ext cx="80467" cy="804672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5599" y="5262189"/>
            <a:ext cx="1367942" cy="80467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814" y="4288536"/>
            <a:ext cx="241402" cy="241402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09421" y="4006901"/>
            <a:ext cx="160934" cy="16093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89888" y="4892040"/>
            <a:ext cx="160934" cy="16093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55494" y="4449470"/>
            <a:ext cx="241402" cy="241402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07085" y="5173675"/>
            <a:ext cx="160934" cy="16093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75027" y="5254142"/>
            <a:ext cx="160934" cy="16093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• CNTT NĂM 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18745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Knowledge Graph trong xây dựng AI Agent thông minh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50292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chính xác dựa trên các khái niệm và quy tắc được định nghĩa chắc chắn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16129"/>
            </a:avLst>
          </a:prstGeom>
          <a:solidFill>
            <a:srgbClr val="111C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8064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tượng: Sinh viên năm 2 ngành Công nghệ thông tin  •  Học phần: Trí tuệ nhân tạo ứng dụng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BÀI HỌC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học tập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45920"/>
            <a:ext cx="506578" cy="50657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45920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đồ thị tri thức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khái niệm cốt lõi và các thành phần cấu tạo nên đồ thị tri thức.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445106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73122"/>
            <a:ext cx="506578" cy="50657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573122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45106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&amp; truy vấn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mô hình RDF và Property Graph, biết cách truy vấn dữ liệu.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372307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500323"/>
            <a:ext cx="506578" cy="50657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3500323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72307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suy luận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cách suy luận theo luật và ontology trên đồ thị tri thức.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299509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427525"/>
            <a:ext cx="506578" cy="50657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4427525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299509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KG với LLM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ghép KG với LLM để xây dựng AI Agent trả lời chính xác.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226710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5354726"/>
            <a:ext cx="506578" cy="50657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5354726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26710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&amp; dự án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các bài tập và một mini-project cuối bài.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bài giảng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7455" y="2002536"/>
            <a:ext cx="621792" cy="6217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12745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KG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46934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0982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5518" y="2002536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55518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40710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truy vấn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74997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9045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83580" y="2002536"/>
            <a:ext cx="621792" cy="6217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783580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68773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03059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7107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1642" y="2002536"/>
            <a:ext cx="621792" cy="6217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111642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96835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+ KG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31122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1517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39705" y="2002536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3970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2489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5266944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xây dựng dần: khái niệm → công cụ → suy luận → ứng dụng → thực hành.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AI cần tri thức có cấu trúc?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rất mạnh nhưng vẫn có điểm yếu cốt lõi.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21408"/>
            <a:ext cx="704088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sinh văn bản theo xác suất, dễ 'bịa' thông tin (ảo giác).</a:t>
            </a:r>
            <a:endParaRPr lang="en-US" sz="16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nguồn tri thức chắc chắn để đối chiếu.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truy vết vì sao mô hình đưa ra kết luận đó.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trong LLM 'đóng băng' tại thời điểm huấn luyện.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tri thức cung cấp sự thật có cấu trúc, kiểm chứng được.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= 'bộ não sự thật' để AI suy luận thay vì đoán mò.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là gì?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63624"/>
            <a:ext cx="70408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mạng lưới các thực thể được nối bởi quan hệ có ngữ nghĩa.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tri thức dưới dạng bộ ba: (chủ thể, vị ngữ, đối tượng).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có thể đọc, truy vấn và suy luận trên đó.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nổi tiếng: Google Knowledge Graph, Wikidata.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thể là nút, quan hệ là cạnh — tri thức trở nên 'có thể đi lại được'.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trực quan: một mảnh đồ thị tri thức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V="1">
            <a:off x="2057400" y="2157984"/>
            <a:ext cx="3931920" cy="4572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383280" y="224028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lập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2615184"/>
            <a:ext cx="74066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120640" y="246888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minh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7400" y="2615184"/>
            <a:ext cx="91440" cy="20116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463040" y="347472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tại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2615184"/>
            <a:ext cx="4297680" cy="20116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566160" y="347472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 danh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2157984"/>
            <a:ext cx="3474720" cy="45720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086600" y="224028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88720" y="2286000"/>
            <a:ext cx="1737360" cy="65836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228600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học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tính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0" y="228600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95360" y="228600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Turing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429768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280160" y="429768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(UK)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429768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429768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Turing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theo cạnh: Alan Turing → phát minh → Máy Turing → thuộc → Khoa học máy tính.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của đồ thị tri thức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85925"/>
            <a:ext cx="658368" cy="65836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8592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(thực thể)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tượng: người, môn học, khái niệm, địa điểm…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676906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844927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84492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76906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(quan hệ)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CÓ HƯỚNG và có ý nghĩa giữa hai nút.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835908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4003929"/>
            <a:ext cx="658368" cy="65836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4003929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35908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 (property)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tả cho nút hoặc cạnh, ví dụ: tên, năm.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994910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5162931"/>
            <a:ext cx="658368" cy="65836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5162931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994910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/ Lớp (label)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nút: SinhVien, MonHoc, GiangVien…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CƠ BẢN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ba tri thức: chủ thể – vị ngữ – đối tượng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sự thật đều tách được thành một bộ ba (triple).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66544"/>
          <a:ext cx="111831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Chủ thể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ngữ (quan hệ)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Turing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Nhà khoa học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Turing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minh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Turing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Máy Turing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thuộc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Khoa học máy tính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Sinh viên 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đăng ký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Môn Trí tuệ nhân tạo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 tuệ nhân tạo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thuộc ngành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CNTT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8932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bộ ba ghép lại tạo thành một đồ thị tri thức.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NGHĨA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thể học (ontology) và lược đồ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63624"/>
            <a:ext cx="70408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= bộ khái niệm/lớp + quan hệ hợp lệ + ràng buộc.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và phân cấp: Sinh viên là một loại Người (kế thừa).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quan hệ hợp lệ: chỉ Sinh viên mới 'đăng ký' Môn học.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rõ ràng giúp máy suy luận CHẮC CHẮN, nhất quán.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là 'luật chơi' để tri thức không mâu thuẫn.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quan hệ vs Đồ thị tri thức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quan hệ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cố định, cứng nhắc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ẩn sau khoá ngoại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nhiều bảng rất tốn kém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thêm loại quan hệ mới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suy luận theo luật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14516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thị tri thức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88836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xoay quanh quan hệ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là 'công dân hạng nhất'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theo cạnh cực nhanh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mở rộng, thêm quan hệ tự do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theo ontology/luật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92724" y="3406140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92724" y="34061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03436" y="3739896"/>
            <a:ext cx="164592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03436" y="4219956"/>
            <a:ext cx="1783080" cy="10287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9356" y="3739896"/>
            <a:ext cx="178308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986516" y="4494276"/>
            <a:ext cx="164592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436" y="4219956"/>
            <a:ext cx="960120" cy="15087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63556" y="5248656"/>
            <a:ext cx="82296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495276" y="4494276"/>
            <a:ext cx="137160" cy="13716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3556" y="5728716"/>
            <a:ext cx="2331720" cy="1371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358902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509778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81560" y="434340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12680" y="557784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0" y="571500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2286000" y="2468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biểu diễn &amp; truy vấn tri thức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33172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RDFS/OWL · SPARQL · Neo4j/Cypher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biểu diễn tri thức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là các bộ ba S–P–O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của W3C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bằng URI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bằng SPARQL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với dữ liệu liên kết mở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14516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88836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&amp; cạnh đều có thuộc tính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linh hoạt, trực quan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biểu: Neo4j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bằng Cypher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với ứng dụng thực tế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92724" y="3406140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92724" y="34061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 biểu diễn tri thức bằng bộ ba (Turtle)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là một sự thật.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tiền tố (prefix) rút gọn URI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pháp: chủ thể  vị ngữ  đối tượng .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mỗi bộ ba bằng dấu chấm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trithuc.ttl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@prefix ex: &lt;http://vd.edu/&gt;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@prefix rdf: &lt;...#&gt;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ex:AlanTuring rdf:type ex:NhaKhoaHoc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ex:AlanTuring ex:phatMinh ex:MayTuring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ex:MayTuring  ex:thuoc    ex:KHMayTinh 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&amp; OWL: định nghĩa lớp và ràng buộc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mô tả 'luật chơi' của tri thức.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 khai báo lớp &amp; phân cấp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OWL: thêm ràng buộc mạnh hơn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 tự suy ra tri thức mới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ontology.ttl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Sinh vien la mot loai Nguoi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ex:SinhVien rdfs:subClassOf ex:Nguoi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ex:hocMon rdf:type owl:ObjectProperty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ex:hocMon rdfs:domain ex:SinhVien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ex:hocMon rdfs:range  ex:MonHoc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Suy ra: An:SinhVien =&gt; An:Nguoi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SPARQL: ngôn ngữ truy vấn cho RDF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SQL nhưng khớp mẫu bộ ba.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WHERE { mẫu bộ ba }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bắt đầu bằng dấu ?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mọi lời giải khớp mẫu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query.sparql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 ex: &lt;http://vd.edu/&gt;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?phatMinh WHERE {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ex:AlanTuring ex:phatMinh ?phatMinh 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Neo4j: cơ sở dữ liệu đồ thị phổ biến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45920"/>
            <a:ext cx="506578" cy="50657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45920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trực tiếp nút &amp; cạnh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bảng trung gian như CSDL quan hệ.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445106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73122"/>
            <a:ext cx="506578" cy="50657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573122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45106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Cypher trực quan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Cú pháp giống 'vẽ' đồ thị bằng ASCII.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372307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500323"/>
            <a:ext cx="506578" cy="50657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3500323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72307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Browser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trực quan tại localhost:7474.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299509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427525"/>
            <a:ext cx="506578" cy="50657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4427525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299509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thuật toán đồ thị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đường, PageRank, cộng đồng…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226710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5354726"/>
            <a:ext cx="506578" cy="50657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5354726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26710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mạnh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Python, Java, và cả LLM.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cơ bản: tạo nút và quan hệ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để tạo dữ liệu.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(:Nhãn {thuộc_tính}) là một nút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-[:QUAN_HE]-&gt; là cạnh có hướng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biến (an, ai) để dùng lại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— cypher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Tao sinh vien va mon hoc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(an:SinhVien {ten:'An', mssv:'B21'})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(ai:MonHoc {ten:'Tri tue nhan tao'})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(an)-[:DANG_KY {ky:1}]-&gt;(ai);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truy vấn: tìm theo mẫu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09344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— cypher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975104"/>
            <a:ext cx="1078077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Tim cac mon ma An dang ky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(an:SinhVien {ten:'An'})-[:DANG_KY]-&gt;(m:MonHoc)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m.ten AS Mon;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Dem so sinh vien moi mon hoc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(s:SinhVien)-[:DANG_KY]-&gt;(m:MonHoc)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m.ten AS Mon, count(s) AS SoLuong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SoLuong DESC;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KG TỰ ĐỘNG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thực thể &amp; quan hệ từ văn bản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NLP để biến văn bản thành nút/cạnh.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nhận diện thực thể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nhận diện quan hệ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nạp vào KG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 — Python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spacy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= spacy.load("xx_ent_wiki_sm")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nlp("Alan Turing phat minh may Turing")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Liet ke thuc the tim duoc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 in doc.ents: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print(e.text, "-&gt;", e.label_)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=&gt; tao node &amp; edge tuong ung trong KG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xây dựng đồ thị tri thức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7455" y="2002536"/>
            <a:ext cx="621792" cy="6217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12745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bản, CSDL,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46934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0982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5518" y="2002536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55518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40710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thể &amp; quan hệ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74997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9045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83580" y="2002536"/>
            <a:ext cx="621792" cy="6217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783580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68773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trùng, ánh xạ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03059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7107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1642" y="2002536"/>
            <a:ext cx="621792" cy="6217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111642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96835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hoặc RDF store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31122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1517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39705" y="2002536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3970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2489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luật &amp; kiểm thử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5266944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thường dùng: spaCy (NLP), RDFLib, Neo4j, Protégé (ontology).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03436" y="3739896"/>
            <a:ext cx="164592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03436" y="4219956"/>
            <a:ext cx="1783080" cy="10287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9356" y="3739896"/>
            <a:ext cx="178308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986516" y="4494276"/>
            <a:ext cx="164592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436" y="4219956"/>
            <a:ext cx="960120" cy="15087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63556" y="5248656"/>
            <a:ext cx="82296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495276" y="4494276"/>
            <a:ext cx="137160" cy="13716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3556" y="5728716"/>
            <a:ext cx="2331720" cy="1371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358902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509778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81560" y="434340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12680" y="557784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0" y="571500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2286000" y="2468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trên đồ thị tri thức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33172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dữ kiện &amp; quy tắc đến kết luận chính xác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là gì? Vì sao KG suy luận chính xác?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63624"/>
            <a:ext cx="70408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= rút ra tri thức MỚI từ tri thức đã biết.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có cấu trúc rõ ràng + luật xác định.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truy vết được theo đường đi trên đồ thị.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với LLM đoán theo xác suất, KG cho kết quả chắc chắn.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dữ kiện &amp; luật → luôn ra cùng kết luận.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loại suy luận thường gặp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45920"/>
            <a:ext cx="506578" cy="50657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45920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diễn theo luật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luật NẾU–THÌ để rút kết luận chắc chắn.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445106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73122"/>
            <a:ext cx="506578" cy="50657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573122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45106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theo lớp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là Sinh viên ⇒ An là Người.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372307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500323"/>
            <a:ext cx="506578" cy="50657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3500323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72307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bắc cầu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A&gt;B và B&gt;C ⇒ A&gt;C (vd: tổ tiên, thành phần).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299509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427525"/>
            <a:ext cx="506578" cy="50657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4427525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299509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đa bước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nhiều quan hệ dọc theo đường đi.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226710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5354726"/>
            <a:ext cx="506578" cy="50657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5354726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26710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nạp (phát hiện mẫu)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nhiều ví dụ suy ra quy luật chung.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SUY LUẬN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&amp; ràng buộc: định nghĩa chắc chắn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408676" cy="4425696"/>
          </a:xfrm>
          <a:prstGeom prst="roundRect">
            <a:avLst>
              <a:gd name="adj" fmla="val 206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907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19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(lớp)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49424"/>
            <a:ext cx="489661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⊑ Người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⊑ Người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hệ: dạy, học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7356" y="1517904"/>
            <a:ext cx="5408676" cy="4425696"/>
          </a:xfrm>
          <a:prstGeom prst="roundRect">
            <a:avLst>
              <a:gd name="adj" fmla="val 2066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05956" y="171907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505956" y="1719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(luật)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3388" y="2249424"/>
            <a:ext cx="489661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X dạy Y THÌ X là Giảng viên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a là X và X ⊑ Y THÌ a là Y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hệ 'tiên quyết' có tính bắc cầu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rõ ràng ⇒ suy luận không mâu thuẫn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theo ontology: kế thừa &amp; bắc cầu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V="1">
            <a:off x="3246120" y="2157984"/>
            <a:ext cx="2651760" cy="1463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931920" y="274320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97880" y="2157984"/>
            <a:ext cx="2651760" cy="1463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583680" y="274320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3621024"/>
            <a:ext cx="0" cy="14630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06040" y="420624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3246120" y="2157984"/>
            <a:ext cx="2651760" cy="2926080"/>
          </a:xfrm>
          <a:prstGeom prst="line">
            <a:avLst/>
          </a:prstGeom>
          <a:noFill/>
          <a:ln w="2222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931920" y="347472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29184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329184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329184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0" y="329184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4754880"/>
            <a:ext cx="1737360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77440" y="475488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nét đứt 'An → là → Người' được MÁY tự suy ra nhờ luật kế thừa.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suy diễn: suy ra tri thức mới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Prolog: khai báo sự thật + luật, máy tự suy diễn.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dạng: ĐẦU :- THÂN.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suy diễn tự kết luận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chắc chắn, giải thích được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suyluan.pl — Prolog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Su that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sinh_vien(an).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Luat: moi sinh vien deu la nguoi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nguoi(X) :- sinh_vien(X).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Truy van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nguoi(an).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=&gt; true  (may tu suy ra)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đa bước (multi-hop) với Cypher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09344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 — cypher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975104"/>
            <a:ext cx="1078077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Dong nghiep: cung day 1 mon (2 buoc)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(a:GiangVien)-[:DAY]-&gt;(m:MonHoc)&lt;-[:DAY]-(b:GiangVien)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 &lt;&gt; b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a.ten, b.ten, m.ten;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Duong di 1..3 buoc toi nut 'CNTT'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p = (x)-[*1..3]-(y {ten:'CNTT'})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 LIMIT 5;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luật suy diễn với SWRL / OWL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gắn trên ontology, reasoner tự áp dụng.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Vế trái ^ nối các điều kiện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suy ra quan hệ/lớp mới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Reasoner: Pellet, HermiT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rules.swrl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Neu X day Y va Y la MonHoc thi X la GiangVien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day(?x, ?y) ^ MonHoc(?y) -&gt; GiangVien(?x)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 cau cua quan he lop con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subClassOf(?a,?b) ^ subClassOf(?b,?c)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subClassOf(?a,?c)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QUAN TRỌNG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giúp AI trả lời chính xác, tránh ảo giác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63624"/>
            <a:ext cx="70408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dựa trên SỰ THẬT trong KG, không bịa.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theo luật thay vì xác suất của từ ngữ.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được nguồn: chỉ ra đường đi dẫn tới kết luận.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TỪ CHỐI khi thiếu dữ kiện ('không đủ thông tin').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tri thức không cần huấn luyện lại mô hình.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thật + Luật + Truy vết = niềm tin vào câu trả lời.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suy luận (điểm kiểm tra)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Trung bình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KG về sinh viên–môn học–giảng viên. Hãy suy ra 'bạn cùng lớp' (cùng đăng ký ≥1 môn) và viết truy vấn Cypher đa bước để liệt kê.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luật suy ra quan hệ CUNG_LOP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truy vấn 2 bước với MATCH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trùng (a &lt;&gt; b)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tên 2 sinh viên &amp; môn chung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mẫu (a)-[:DANG_KY]-&gt;(m)&lt;-[:DANG_KY]-(b).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starter.cypher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hoan thanh truy van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(a:SinhVien)-[:DANG_KY]-&gt;(m:MonHoc)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&lt;-[:DANG_KY]-(b:SinhVien)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// ... dieu kien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// ... a.ten, b.ten, m.ten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03436" y="3739896"/>
            <a:ext cx="164592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03436" y="4219956"/>
            <a:ext cx="1783080" cy="10287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9356" y="3739896"/>
            <a:ext cx="178308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986516" y="4494276"/>
            <a:ext cx="164592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436" y="4219956"/>
            <a:ext cx="960120" cy="15087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63556" y="5248656"/>
            <a:ext cx="82296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495276" y="4494276"/>
            <a:ext cx="137160" cy="13716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3556" y="5728716"/>
            <a:ext cx="2331720" cy="1371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358902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509778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81560" y="434340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12680" y="557784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0" y="571500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2286000" y="2468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kết hợp Knowledge Graph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33172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và triển khai agent suy luận chính xác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85925"/>
            <a:ext cx="658368" cy="65836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8592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nhận (Perceive)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đầu vào: câu hỏi, dữ liệu, sự kiện.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676906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844927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84492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76906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&amp; lập kế hoạch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cần làm gì để đạt mục tiêu.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835908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4003929"/>
            <a:ext cx="658368" cy="65836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4003929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35908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động (Act)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công cụ: truy vấn KG, API, tính toán.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994910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5162931"/>
            <a:ext cx="658368" cy="65836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5162931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994910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 (Memory)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KG làm bộ nhớ tri thức lâu dài.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chỉ dùng LLM vs Agent LLM +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theo xác suất từ ngữ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ảo giác, bịa dữ kiện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thức đóng băng khi huấn luyện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giải thích, khó truy vết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14516" y="1517904"/>
            <a:ext cx="5271516" cy="4379976"/>
          </a:xfrm>
          <a:prstGeom prst="roundRect">
            <a:avLst>
              <a:gd name="adj" fmla="val 250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1517904"/>
            <a:ext cx="5271516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517904"/>
            <a:ext cx="52715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KG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88836" y="2295144"/>
            <a:ext cx="47228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 sự thật có cấu trúc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theo luật rõ ràng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tri thức tức thời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được đường suy luận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92724" y="3406140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92724" y="34061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của LLM khi cần suy luận chính xác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63624"/>
            <a:ext cx="704088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Ảo giác: tự tin nói ra thông tin sai.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lỗi thời sau thời điểm huấn luyện.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nhất quán: hỏi lại có thể trả lời khác.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 với suy luận nhiều bước và quan hệ phức tạp.</a:t>
            </a:r>
            <a:endParaRPr lang="en-US" sz="1650" dirty="0"/>
          </a:p>
          <a:p>
            <a:pPr algn="l" marL="228600" indent="-228600">
              <a:spcBef>
                <a:spcPts val="400"/>
              </a:spcBef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giải thích căn cứ của câu trả lời.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8120" y="1517904"/>
            <a:ext cx="3867912" cy="4297680"/>
          </a:xfrm>
          <a:prstGeom prst="roundRect">
            <a:avLst>
              <a:gd name="adj" fmla="val 2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8464144" y="2294230"/>
            <a:ext cx="1261872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4144" y="2662276"/>
            <a:ext cx="1367028" cy="78867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26016" y="2294230"/>
            <a:ext cx="1367028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831172" y="2872588"/>
            <a:ext cx="1261872" cy="57835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4144" y="2662276"/>
            <a:ext cx="736092" cy="115671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200236" y="3450946"/>
            <a:ext cx="630936" cy="36804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87888" y="2872588"/>
            <a:ext cx="105156" cy="105156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0236" y="3818992"/>
            <a:ext cx="1787652" cy="10515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546604"/>
            <a:ext cx="315468" cy="315468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0344" y="2178558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5500" y="3335274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7372" y="2756916"/>
            <a:ext cx="315468" cy="315468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84564" y="3703320"/>
            <a:ext cx="210312" cy="210312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872216" y="3808476"/>
            <a:ext cx="210312" cy="210312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4306824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bù đắp đúng những điểm yếu này.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AI Agent tăng cường bằng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08760" y="3346704"/>
            <a:ext cx="246888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103120" y="320040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 flipV="1">
            <a:off x="3977640" y="2157984"/>
            <a:ext cx="2834640" cy="11887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754880" y="260604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2157984"/>
            <a:ext cx="0" cy="23774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72200" y="320040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kiện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V="1">
            <a:off x="6812280" y="3346704"/>
            <a:ext cx="2834640" cy="11887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589520" y="3794760"/>
            <a:ext cx="12801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737360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08960" y="301752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(điều phối)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420624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420624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3017520"/>
            <a:ext cx="1737360" cy="658368"/>
          </a:xfrm>
          <a:prstGeom prst="roundRect">
            <a:avLst>
              <a:gd name="adj" fmla="val 1388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nguồn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Luồng: Người dùng → LLM → truy vấn KG → suy luận → câu trả lời có dẫn nguồn.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truy xuất tăng cường bằng đồ thị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85925"/>
            <a:ext cx="658368" cy="65836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85925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truyền thống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đoạn văn bản gần nghĩa rồi đưa vào LLM.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676906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844927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84492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676906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xuất CON ĐỒ THỊ liên quan quanh thực thể.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835908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4003929"/>
            <a:ext cx="658368" cy="65836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4003929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35908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 cảnh giàu quan hệ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thấy cả các quan hệ nhiều bước.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994910"/>
            <a:ext cx="11183112" cy="994410"/>
          </a:xfrm>
          <a:prstGeom prst="roundRect">
            <a:avLst>
              <a:gd name="adj" fmla="val 9195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5162931"/>
            <a:ext cx="658368" cy="65836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5162931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994910"/>
            <a:ext cx="9811512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dẫn nguồn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kèm đường đi trong KG.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 của Agent dùng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7455" y="2002536"/>
            <a:ext cx="621792" cy="6217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12745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ngôn ngữ tự nhiên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46934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0982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5518" y="2002536"/>
            <a:ext cx="621792" cy="6217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55518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40710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tạo Cypher/SPARQL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74997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9045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83580" y="2002536"/>
            <a:ext cx="621792" cy="62179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783580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68773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thi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truy vấn trên KG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03059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87107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11642" y="2002536"/>
            <a:ext cx="621792" cy="6217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111642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596835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luật trên kết quả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31122" y="3392424"/>
            <a:ext cx="31089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15170" y="1746504"/>
            <a:ext cx="1870862" cy="3291840"/>
          </a:xfrm>
          <a:prstGeom prst="roundRect">
            <a:avLst>
              <a:gd name="adj" fmla="val 488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39705" y="2002536"/>
            <a:ext cx="621792" cy="6217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39705" y="2002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924898" y="2752344"/>
            <a:ext cx="165140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
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giải + trích nguồn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5266944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KG không có dữ kiện, agent trả lời 'không đủ thông tin' thay vì bịa.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khai: LLM sinh Cypher từ câu hỏi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09344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agent_step.py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975104"/>
            <a:ext cx="1078077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neo4j import GraphDatabase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= GraphDatabase.driver("bolt://localhost:7687",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auth=("neo4j", "test1234"))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cau_hoi = "An hoc nhung mon nao?"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cypher  = llm_sinh_cypher(cau_hoi)   # LLM -&gt; MATCH ...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driver.session() as s: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ket_qua = s.run(cypher).data()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tra_loi = llm_dien_giai(cau_hoi, ket_qua)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print(tra_loi)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Agent hỏi–đáp hoàn chỉnh trên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09344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kg_agent.py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975104"/>
            <a:ext cx="1078077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KGAgent: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driver, llm):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self.driver, self.llm = driver, llm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hoi(self, cau_hoi):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cypher = self.llm.to_cypher(cau_hoi)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self.driver.session() as s: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data = s.run(cypher).data()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data:                 # chong ao giac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"Khong du du kien de tra loi."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self.llm.answer(cau_hoi, data)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Dung: KGAgent(driver, llm).hoi("An hoc mon gi?")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thực tế &amp; lưu 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45920"/>
            <a:ext cx="506578" cy="50657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45920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tế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quan hệ thuốc–bệnh–triệu chứng.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445106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73122"/>
            <a:ext cx="506578" cy="50657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573122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45106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gian lận qua mạng lưới giao dịch.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372307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500323"/>
            <a:ext cx="506578" cy="50657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3500323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72307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dục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sư ảo theo lộ trình kiến thức tiên quyết.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299509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427525"/>
            <a:ext cx="506578" cy="50657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4427525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299509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 tài liệu nội bộ có dẫn nguồn.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226710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5354726"/>
            <a:ext cx="506578" cy="50657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5354726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26710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 &amp; độ phủ của KG quyết định độ tốt.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203436" y="3739896"/>
            <a:ext cx="164592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03436" y="4219956"/>
            <a:ext cx="1783080" cy="10287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9356" y="3739896"/>
            <a:ext cx="178308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986516" y="4494276"/>
            <a:ext cx="1645920" cy="75438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03436" y="4219956"/>
            <a:ext cx="960120" cy="15087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63556" y="5248656"/>
            <a:ext cx="822960" cy="4800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495276" y="4494276"/>
            <a:ext cx="137160" cy="137160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3556" y="5728716"/>
            <a:ext cx="2331720" cy="13716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406908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0" y="358902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35640" y="509778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481560" y="4343400"/>
            <a:ext cx="411480" cy="411480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12680" y="557784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0" y="5715000"/>
            <a:ext cx="274320" cy="274320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0" dirty="0"/>
          </a:p>
        </p:txBody>
      </p:sp>
      <p:sp>
        <p:nvSpPr>
          <p:cNvPr id="18" name="Text 16"/>
          <p:cNvSpPr/>
          <p:nvPr/>
        </p:nvSpPr>
        <p:spPr>
          <a:xfrm>
            <a:off x="2286000" y="2468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&amp; Tổng kết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33172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tăng dần và một đồ án nhỏ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môi trường thực hành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Neo4j + Python.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86584"/>
            <a:ext cx="41148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Neo4j bằng Docker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Neo4j Browser: localhost:7474</a:t>
            </a:r>
            <a:endParaRPr lang="en-US" sz="1400" dirty="0"/>
          </a:p>
          <a:p>
            <a:pPr algn="l" marL="203200" indent="-203200">
              <a:spcBef>
                <a:spcPts val="300"/>
              </a:spcBef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thư viện 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17904"/>
            <a:ext cx="674827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0235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50468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609344"/>
            <a:ext cx="5742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bash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38928" y="1975104"/>
            <a:ext cx="634593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Chay Neo4j bang Docker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-p7474:7474 -p7687:7687 \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NEO4J_AUTH=neo4j/test1234 neo4j:5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Cai thu vien Python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neo4j spacy rdflib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1 — Xây KG trường đại học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Dễ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Cypher tạo đồ thị tri thức nhỏ mô tả sinh viên, môn học và giảng viên trong một khoa.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≥6 nút: SinhVien, MonHoc, GiangVien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quan hệ DANG_KY và DAY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truy vấn liệt kê môn của một SV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số SV mỗi môn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bằng CREATE, sau đó MATCH … RETURN.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bai1.cypher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tao sinh vien, mon hoc, giang vien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(:SinhVien {ten:'An'})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them cac nut khac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tao quan he DANG_KY, DAY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MATCH ... RETURN ...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2 — Truy vấn suy luận đa bước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Trung bình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KG ở Bài tập 1, tìm quan hệ gián tiếp: bạn cùng lớp và giảng viên gián tiếp của một sinh viên qua 2–3 bước.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'bạn cùng lớp' (chung ≥1 môn)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giảng viên dạy môn SV đang học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đường đi *2..3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kết quả trùng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Mẫu: (a)-[:DANG_KY]-&gt;(m)&lt;-[:DAY]-(gv).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bai2.cypher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ban cung lop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(a:SinhVien)-[:DANG_KY]-&gt;(m)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&lt;-[:DANG_KY]-(b:SinhVien)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 &lt;&gt; b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a.ten, b.ten, m.ten;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tim giang vien gian tiep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3 — Trích xuất thực thể → nạp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Trung bình–Khó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Python + spaCy trích thực thể từ một đoạn văn tiếng Việt, rồi tạo nút/cạnh tương ứng trong Neo4j.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≥3 thực thể bằng NER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Ánh xạ thực thể thành nút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quan hệ giữa chúng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vào Neo4j bằng driver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doc.ents, với mỗi thực thể chạy MERGE để tránh trùng.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bai3.py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spacy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neo4j import GraphDatabase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 = spacy.load("xx_ent_wiki_sm")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= nlp("...van ban...")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voi moi ent -&gt; MERGE (:ThucThe {ten})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tao quan he giua cac thuc the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4 — Thêm luật suy luận &amp; kiểm chứng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Khó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một luật (kế thừa hoặc bắc cầu), sinh tri thức mới trên KG rồi kiểm chứng kết quả.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luật: lớp con HOẶC tiên quyết bắc cầu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truy vấn suy ra quan hệ mới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quan hệ suy ra vào KG (MERGE)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bằng truy vấn đối chiếu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Bắc cầu: (a)-[:TIEN_QUYET*2..]-&gt;(c) ⇒ tạo cạnh TIEN_QUYET trực tiếp.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bai4.cypher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Luat bac cau cho quan he TIEN_QUYET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(a)-[:TIEN_QUYET*2..]-&gt;(c)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(a)-[:TIEN_QUYET_SUYRA]-&gt;(c);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TODO: kiem chung bang truy van doi chieu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— AI Agent hỏi–đáp trên KG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08592" y="56692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308592" y="5669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độ: Mini-project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bài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agent nhận câu hỏi tiếng Việt, sinh truy vấn Cypher, truy vấn KG, trả lời kèm nguồn và biết từ chối khi thiếu dữ kiện.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35224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≥20 nút, ≥3 loại quan hệ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Mô-đun chuyển câu hỏi → Cypher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≥5 câu hỏi mẫu</a:t>
            </a:r>
            <a:endParaRPr lang="en-US" sz="1350" dirty="0"/>
          </a:p>
          <a:p>
            <a:pPr algn="l" marL="203200" indent="-203200">
              <a:spcBef>
                <a:spcPts val="200"/>
              </a:spcBef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trường hợp 'không biết'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5623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dùng LLM hoặc bộ luật ánh xạ từ khoá → mẫu Cypher.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517904"/>
            <a:ext cx="5102352" cy="4334256"/>
          </a:xfrm>
          <a:prstGeom prst="roundRect">
            <a:avLst>
              <a:gd name="adj" fmla="val 168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48272" y="166420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166420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0608" y="16642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609344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975104"/>
            <a:ext cx="4700016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tra_loi(cau_hoi):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cypher = sinh_cypher(cau_hoi)  # TODO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chay_cypher(cypher)     # TODO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data: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"Khong du du kien."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dien_giai(cau_hoi, data)  # TODO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kiến trúc gợi ý &amp; tiêu chí chấm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5408676" cy="4425696"/>
          </a:xfrm>
          <a:prstGeom prst="roundRect">
            <a:avLst>
              <a:gd name="adj" fmla="val 206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1907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19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gợi 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2249424"/>
            <a:ext cx="489661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lưu trong Neo4j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Mô-đun câu hỏi → Cypher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Mô-đun suy luận theo luật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Mô-đun sinh câu trả lời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dòng lệnh/web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7356" y="1517904"/>
            <a:ext cx="5408676" cy="4425696"/>
          </a:xfrm>
          <a:prstGeom prst="roundRect">
            <a:avLst>
              <a:gd name="adj" fmla="val 2066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505956" y="171907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505956" y="17190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3388" y="2249424"/>
            <a:ext cx="489661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đắn câu trả lời — 40%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đa bước — 25%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ảo giác — 20%</a:t>
            </a:r>
            <a:endParaRPr lang="en-US" sz="1450" dirty="0"/>
          </a:p>
          <a:p>
            <a:pPr algn="l" marL="203200" indent="-203200">
              <a:spcBef>
                <a:spcPts val="300"/>
              </a:spcBef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&amp; báo cáo — 15%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 &amp; NGUỒN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 &amp; tài nguyên học tập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645920"/>
            <a:ext cx="506578" cy="50657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45920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517904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Lỗi: thực thể trùng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MERGE thay vì CREATE để tránh nhân đôi nút.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02920" y="2445106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573122"/>
            <a:ext cx="506578" cy="50657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573122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45106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Lỗi: sai chiều quan hệ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hướng mũi tên trong MATCH.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3372307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500323"/>
            <a:ext cx="506578" cy="506578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3500323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72307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Mẹo: bắt đầu nhỏ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KG nhỏ, đúng, rồi mới mở rộng.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02920" y="4299509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427525"/>
            <a:ext cx="506578" cy="50657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" y="4427525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299509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Neo4j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GraphAcademy (miễn phí).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02920" y="5226710"/>
            <a:ext cx="11183112" cy="762610"/>
          </a:xfrm>
          <a:prstGeom prst="roundRect">
            <a:avLst>
              <a:gd name="adj" fmla="val 11990"/>
            </a:avLst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5354726"/>
            <a:ext cx="506578" cy="50657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8952" y="5354726"/>
            <a:ext cx="506578" cy="506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226710"/>
            <a:ext cx="98115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RDF/SPARQL
</a:t>
            </a:r>
            <a:endParaRPr lang="en-US" sz="165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W3C và Wikidata để luyện tập.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72423" y="1040587"/>
            <a:ext cx="1426464" cy="41605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72423" y="1456639"/>
            <a:ext cx="1545336" cy="89154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98887" y="1040587"/>
            <a:ext cx="1545336" cy="65379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17759" y="1694383"/>
            <a:ext cx="1426464" cy="653796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72423" y="1456639"/>
            <a:ext cx="832104" cy="130759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704527" y="2348179"/>
            <a:ext cx="713232" cy="41605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1725351" y="1694383"/>
            <a:ext cx="118872" cy="1188720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04527" y="2764231"/>
            <a:ext cx="2020824" cy="118872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41664" y="1325880"/>
            <a:ext cx="356616" cy="356616"/>
          </a:xfrm>
          <a:prstGeom prst="ellipse">
            <a:avLst/>
          </a:prstGeom>
          <a:solidFill>
            <a:srgbClr val="22D3EE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68128" y="909828"/>
            <a:ext cx="237744" cy="23774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2217420"/>
            <a:ext cx="237744" cy="23774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13464" y="1563624"/>
            <a:ext cx="356616" cy="356616"/>
          </a:xfrm>
          <a:prstGeom prst="ellipse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573768" y="2633472"/>
            <a:ext cx="237744" cy="237744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94592" y="2752344"/>
            <a:ext cx="237744" cy="237744"/>
          </a:xfrm>
          <a:prstGeom prst="ellipse">
            <a:avLst/>
          </a:prstGeom>
          <a:solidFill>
            <a:srgbClr val="7C3AED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" y="2331720"/>
            <a:ext cx="7498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= thực thể + quan hệ + thuộc tính, có ontology &amp; luật</a:t>
            </a:r>
            <a:endParaRPr lang="en-US" sz="1600" dirty="0"/>
          </a:p>
          <a:p>
            <a:pPr algn="l" marL="228600" indent="-228600">
              <a:spcBef>
                <a:spcPts val="300"/>
              </a:spcBef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 luận theo cấu trúc ⇒ chính xác, nhất quán, truy vết được</a:t>
            </a:r>
            <a:endParaRPr lang="en-US" sz="1600" dirty="0"/>
          </a:p>
          <a:p>
            <a:pPr algn="l" marL="228600" indent="-228600">
              <a:spcBef>
                <a:spcPts val="300"/>
              </a:spcBef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+ LLM ⇒ AI Agent trả lời đúng và giảm ảo giác</a:t>
            </a:r>
            <a:endParaRPr lang="en-US" sz="1600" dirty="0"/>
          </a:p>
          <a:p>
            <a:pPr algn="l" marL="228600" indent="-228600">
              <a:spcBef>
                <a:spcPts val="300"/>
              </a:spcBef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hành: từ KG nhỏ đến agent hỏi–đáp hoàn chỉnh</a:t>
            </a:r>
            <a:endParaRPr lang="en-US" sz="1600" dirty="0"/>
          </a:p>
          <a:p>
            <a:pPr algn="l" marL="228600" indent="-228600">
              <a:spcBef>
                <a:spcPts val="300"/>
              </a:spcBef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tiếp: GraphRAG, reasoner (OWL/SWRL), thiết kế ontology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5669280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0B122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566928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đã theo dõi — Hỏi &amp; Đáp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× AI Agent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8875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444275E818BD4089527327482737A3" ma:contentTypeVersion="3" ma:contentTypeDescription="Create a new document." ma:contentTypeScope="" ma:versionID="3621d9875567ee96c38707b4b84c0c7f">
  <xsd:schema xmlns:xsd="http://www.w3.org/2001/XMLSchema" xmlns:xs="http://www.w3.org/2001/XMLSchema" xmlns:p="http://schemas.microsoft.com/office/2006/metadata/properties" xmlns:ns2="6dc41f47-bff2-41df-9641-f0b03d01a0b9" targetNamespace="http://schemas.microsoft.com/office/2006/metadata/properties" ma:root="true" ma:fieldsID="43e3e12f871a965d26f90b688dfad499" ns2:_="">
    <xsd:import namespace="6dc41f47-bff2-41df-9641-f0b03d01a0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1f47-bff2-41df-9641-f0b03d01a0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5F8651-5C8A-4144-AC6B-B88C6E34D022}"/>
</file>

<file path=customXml/itemProps2.xml><?xml version="1.0" encoding="utf-8"?>
<ds:datastoreItem xmlns:ds="http://schemas.openxmlformats.org/officeDocument/2006/customXml" ds:itemID="{A9BF9E45-0929-4718-A452-0F7032D3F841}"/>
</file>

<file path=customXml/itemProps3.xml><?xml version="1.0" encoding="utf-8"?>
<ds:datastoreItem xmlns:ds="http://schemas.openxmlformats.org/officeDocument/2006/customXml" ds:itemID="{45D8E7EA-B7BC-4D27-BD68-C172CC5405A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Knowledge Graph x AI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Knowledge Graph trong xây dựng AI Agent thông minh</dc:title>
  <dc:subject>PptxGenJS Presentation</dc:subject>
  <dc:creator>Bài giảng CNTT</dc:creator>
  <cp:lastModifiedBy>Bài giảng CNTT</cp:lastModifiedBy>
  <cp:revision>1</cp:revision>
  <dcterms:created xsi:type="dcterms:W3CDTF">2026-07-11T09:00:04Z</dcterms:created>
  <dcterms:modified xsi:type="dcterms:W3CDTF">2026-07-11T09:00:04Z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0x010100BD444275E818BD4089527327482737A3</vt:lpwstr>
  </property>
</Properties>
</file>