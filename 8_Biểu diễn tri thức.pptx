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sldIdLst>
    <p:sldId id="344"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45" r:id="rId78"/>
    <p:sldId id="337" r:id="rId79"/>
    <p:sldId id="338" r:id="rId80"/>
    <p:sldId id="339" r:id="rId81"/>
    <p:sldId id="340" r:id="rId82"/>
    <p:sldId id="341" r:id="rId83"/>
    <p:sldId id="342" r:id="rId84"/>
    <p:sldId id="343" r:id="rId85"/>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661" y="8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6/11/relationships/changesInfo" Target="changesInfos/changesInfo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ần Ngọc Thăng" userId="cd00a1f0-d62b-491f-90c5-10f1a68fd32e" providerId="ADAL" clId="{B1BC4BE9-5961-4A6E-A5A6-43324D27A9FD}"/>
    <pc:docChg chg="delSld modSld">
      <pc:chgData name="Trần Ngọc Thăng" userId="cd00a1f0-d62b-491f-90c5-10f1a68fd32e" providerId="ADAL" clId="{B1BC4BE9-5961-4A6E-A5A6-43324D27A9FD}" dt="2026-07-11T08:42:25.797" v="51" actId="47"/>
      <pc:docMkLst>
        <pc:docMk/>
      </pc:docMkLst>
      <pc:sldChg chg="del">
        <pc:chgData name="Trần Ngọc Thăng" userId="cd00a1f0-d62b-491f-90c5-10f1a68fd32e" providerId="ADAL" clId="{B1BC4BE9-5961-4A6E-A5A6-43324D27A9FD}" dt="2026-07-11T08:42:25.797" v="51" actId="47"/>
        <pc:sldMkLst>
          <pc:docMk/>
          <pc:sldMk cId="0" sldId="257"/>
        </pc:sldMkLst>
      </pc:sldChg>
      <pc:sldChg chg="modSp mod">
        <pc:chgData name="Trần Ngọc Thăng" userId="cd00a1f0-d62b-491f-90c5-10f1a68fd32e" providerId="ADAL" clId="{B1BC4BE9-5961-4A6E-A5A6-43324D27A9FD}" dt="2026-07-11T08:42:22.223" v="50" actId="20577"/>
        <pc:sldMkLst>
          <pc:docMk/>
          <pc:sldMk cId="3479039604" sldId="344"/>
        </pc:sldMkLst>
        <pc:spChg chg="mod">
          <ac:chgData name="Trần Ngọc Thăng" userId="cd00a1f0-d62b-491f-90c5-10f1a68fd32e" providerId="ADAL" clId="{B1BC4BE9-5961-4A6E-A5A6-43324D27A9FD}" dt="2026-07-11T08:42:22.223" v="50" actId="20577"/>
          <ac:spMkLst>
            <pc:docMk/>
            <pc:sldMk cId="3479039604" sldId="344"/>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257300" y="1743392"/>
            <a:ext cx="7543800" cy="2705947"/>
          </a:xfrm>
        </p:spPr>
        <p:txBody>
          <a:bodyPr anchor="b">
            <a:normAutofit/>
          </a:bodyPr>
          <a:lstStyle>
            <a:lvl1pPr marL="0" marR="0" indent="0" algn="ctr" defTabSz="754380" rtl="0" eaLnBrk="1" fontAlgn="auto" latinLnBrk="0" hangingPunct="1">
              <a:lnSpc>
                <a:spcPct val="90000"/>
              </a:lnSpc>
              <a:spcBef>
                <a:spcPct val="0"/>
              </a:spcBef>
              <a:spcAft>
                <a:spcPts val="0"/>
              </a:spcAft>
              <a:buClrTx/>
              <a:buSzTx/>
              <a:buFontTx/>
              <a:buNone/>
              <a:tabLst/>
              <a:defRPr sz="4840">
                <a:solidFill>
                  <a:schemeClr val="tx1">
                    <a:lumMod val="75000"/>
                    <a:lumOff val="25000"/>
                  </a:schemeClr>
                </a:solidFill>
              </a:defRPr>
            </a:lvl1pPr>
          </a:lstStyle>
          <a:p>
            <a:r>
              <a:rPr lang="en-US" dirty="0"/>
              <a:t>Click to edit </a:t>
            </a:r>
            <a:br>
              <a:rPr lang="en-US" dirty="0"/>
            </a:br>
            <a:r>
              <a:rPr lang="en-US" dirty="0"/>
              <a:t>Master subtitle style</a:t>
            </a:r>
            <a:br>
              <a:rPr lang="en-US" dirty="0"/>
            </a:br>
            <a:endParaRPr lang="en-US" dirty="0"/>
          </a:p>
        </p:txBody>
      </p:sp>
      <p:sp>
        <p:nvSpPr>
          <p:cNvPr id="3" name="Subtitle 2"/>
          <p:cNvSpPr>
            <a:spLocks noGrp="1"/>
          </p:cNvSpPr>
          <p:nvPr>
            <p:ph type="subTitle" idx="1"/>
          </p:nvPr>
        </p:nvSpPr>
        <p:spPr>
          <a:xfrm>
            <a:off x="1257300" y="4888337"/>
            <a:ext cx="7543800" cy="1876530"/>
          </a:xfrm>
        </p:spPr>
        <p:txBody>
          <a:bodyPr>
            <a:normAutofit/>
          </a:bodyPr>
          <a:lstStyle>
            <a:lvl1pPr marL="0" indent="0" algn="ctr">
              <a:buNone/>
              <a:defRPr sz="3080">
                <a:solidFill>
                  <a:schemeClr val="bg1"/>
                </a:solidFill>
              </a:defRPr>
            </a:lvl1pPr>
            <a:lvl2pPr marL="377190" indent="0" algn="ctr">
              <a:buNone/>
              <a:defRPr sz="1650"/>
            </a:lvl2pPr>
            <a:lvl3pPr marL="754380" indent="0" algn="ctr">
              <a:buNone/>
              <a:defRPr sz="1485"/>
            </a:lvl3pPr>
            <a:lvl4pPr marL="1131570" indent="0" algn="ctr">
              <a:buNone/>
              <a:defRPr sz="1320"/>
            </a:lvl4pPr>
            <a:lvl5pPr marL="1508760" indent="0" algn="ctr">
              <a:buNone/>
              <a:defRPr sz="1320"/>
            </a:lvl5pPr>
            <a:lvl6pPr marL="1885950" indent="0" algn="ctr">
              <a:buNone/>
              <a:defRPr sz="1320"/>
            </a:lvl6pPr>
            <a:lvl7pPr marL="2263140" indent="0" algn="ctr">
              <a:buNone/>
              <a:defRPr sz="1320"/>
            </a:lvl7pPr>
            <a:lvl8pPr marL="2640330" indent="0" algn="ctr">
              <a:buNone/>
              <a:defRPr sz="1320"/>
            </a:lvl8pPr>
            <a:lvl9pPr marL="3017520" indent="0" algn="ctr">
              <a:buNone/>
              <a:defRPr sz="13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7/11/2026</a:t>
            </a:fld>
            <a:endParaRPr lang="en-US"/>
          </a:p>
        </p:txBody>
      </p:sp>
      <p:sp>
        <p:nvSpPr>
          <p:cNvPr id="5" name="Footer Placeholder 4"/>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1249998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7/11/2026</a:t>
            </a:fld>
            <a:endParaRPr lang="en-US"/>
          </a:p>
        </p:txBody>
      </p:sp>
      <p:sp>
        <p:nvSpPr>
          <p:cNvPr id="5" name="Footer Placeholder 4"/>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3658897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4950"/>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1980">
                <a:solidFill>
                  <a:schemeClr val="tx1">
                    <a:tint val="75000"/>
                  </a:schemeClr>
                </a:solidFill>
              </a:defRPr>
            </a:lvl1pPr>
            <a:lvl2pPr marL="377190" indent="0">
              <a:buNone/>
              <a:defRPr sz="1650">
                <a:solidFill>
                  <a:schemeClr val="tx1">
                    <a:tint val="75000"/>
                  </a:schemeClr>
                </a:solidFill>
              </a:defRPr>
            </a:lvl2pPr>
            <a:lvl3pPr marL="754380" indent="0">
              <a:buNone/>
              <a:defRPr sz="1485">
                <a:solidFill>
                  <a:schemeClr val="tx1">
                    <a:tint val="75000"/>
                  </a:schemeClr>
                </a:solidFill>
              </a:defRPr>
            </a:lvl3pPr>
            <a:lvl4pPr marL="1131570" indent="0">
              <a:buNone/>
              <a:defRPr sz="1320">
                <a:solidFill>
                  <a:schemeClr val="tx1">
                    <a:tint val="75000"/>
                  </a:schemeClr>
                </a:solidFill>
              </a:defRPr>
            </a:lvl4pPr>
            <a:lvl5pPr marL="1508760" indent="0">
              <a:buNone/>
              <a:defRPr sz="1320">
                <a:solidFill>
                  <a:schemeClr val="tx1">
                    <a:tint val="75000"/>
                  </a:schemeClr>
                </a:solidFill>
              </a:defRPr>
            </a:lvl5pPr>
            <a:lvl6pPr marL="1885950" indent="0">
              <a:buNone/>
              <a:defRPr sz="1320">
                <a:solidFill>
                  <a:schemeClr val="tx1">
                    <a:tint val="75000"/>
                  </a:schemeClr>
                </a:solidFill>
              </a:defRPr>
            </a:lvl6pPr>
            <a:lvl7pPr marL="2263140" indent="0">
              <a:buNone/>
              <a:defRPr sz="1320">
                <a:solidFill>
                  <a:schemeClr val="tx1">
                    <a:tint val="75000"/>
                  </a:schemeClr>
                </a:solidFill>
              </a:defRPr>
            </a:lvl7pPr>
            <a:lvl8pPr marL="2640330" indent="0">
              <a:buNone/>
              <a:defRPr sz="1320">
                <a:solidFill>
                  <a:schemeClr val="tx1">
                    <a:tint val="75000"/>
                  </a:schemeClr>
                </a:solidFill>
              </a:defRPr>
            </a:lvl8pPr>
            <a:lvl9pPr marL="3017520" indent="0">
              <a:buNone/>
              <a:defRPr sz="13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7/11/2026</a:t>
            </a:fld>
            <a:endParaRPr lang="en-US"/>
          </a:p>
        </p:txBody>
      </p:sp>
      <p:sp>
        <p:nvSpPr>
          <p:cNvPr id="5" name="Footer Placeholder 4"/>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3887931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7/11/2026</a:t>
            </a:fld>
            <a:endParaRPr lang="en-US"/>
          </a:p>
        </p:txBody>
      </p:sp>
      <p:sp>
        <p:nvSpPr>
          <p:cNvPr id="6" name="Footer Placeholder 5"/>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7" name="Slide Number Placeholder 6"/>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1423606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18"/>
            <a:ext cx="4255174"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1980" b="1"/>
            </a:lvl1pPr>
            <a:lvl2pPr marL="377190" indent="0">
              <a:buNone/>
              <a:defRPr sz="1650" b="1"/>
            </a:lvl2pPr>
            <a:lvl3pPr marL="754380" indent="0">
              <a:buNone/>
              <a:defRPr sz="1485" b="1"/>
            </a:lvl3pPr>
            <a:lvl4pPr marL="1131570" indent="0">
              <a:buNone/>
              <a:defRPr sz="1320" b="1"/>
            </a:lvl4pPr>
            <a:lvl5pPr marL="1508760" indent="0">
              <a:buNone/>
              <a:defRPr sz="1320" b="1"/>
            </a:lvl5pPr>
            <a:lvl6pPr marL="1885950" indent="0">
              <a:buNone/>
              <a:defRPr sz="1320" b="1"/>
            </a:lvl6pPr>
            <a:lvl7pPr marL="2263140" indent="0">
              <a:buNone/>
              <a:defRPr sz="1320" b="1"/>
            </a:lvl7pPr>
            <a:lvl8pPr marL="2640330" indent="0">
              <a:buNone/>
              <a:defRPr sz="1320" b="1"/>
            </a:lvl8pPr>
            <a:lvl9pPr marL="3017520" indent="0">
              <a:buNone/>
              <a:defRPr sz="132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7/11/2026</a:t>
            </a:fld>
            <a:endParaRPr lang="en-US"/>
          </a:p>
        </p:txBody>
      </p:sp>
      <p:sp>
        <p:nvSpPr>
          <p:cNvPr id="8" name="Footer Placeholder 7"/>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9" name="Slide Number Placeholder 8"/>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1864183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t>7/11/2026</a:t>
            </a:fld>
            <a:endParaRPr lang="en-US"/>
          </a:p>
        </p:txBody>
      </p:sp>
      <p:sp>
        <p:nvSpPr>
          <p:cNvPr id="4" name="Footer Placeholder 3"/>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5" name="Slide Number Placeholder 4"/>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2359168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7/11/2026</a:t>
            </a:fld>
            <a:endParaRPr lang="en-US"/>
          </a:p>
        </p:txBody>
      </p:sp>
      <p:sp>
        <p:nvSpPr>
          <p:cNvPr id="3" name="Footer Placeholder 2"/>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4" name="Slide Number Placeholder 3"/>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3765931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2640"/>
            </a:lvl1pPr>
            <a:lvl2pPr>
              <a:defRPr sz="2310"/>
            </a:lvl2pPr>
            <a:lvl3pPr>
              <a:defRPr sz="1980"/>
            </a:lvl3pPr>
            <a:lvl4pPr>
              <a:defRPr sz="1650"/>
            </a:lvl4pPr>
            <a:lvl5pPr>
              <a:defRPr sz="1650"/>
            </a:lvl5pPr>
            <a:lvl6pPr>
              <a:defRPr sz="1650"/>
            </a:lvl6pPr>
            <a:lvl7pPr>
              <a:defRPr sz="1650"/>
            </a:lvl7pPr>
            <a:lvl8pPr>
              <a:defRPr sz="1650"/>
            </a:lvl8pPr>
            <a:lvl9pPr>
              <a:defRPr sz="16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7/11/2026</a:t>
            </a:fld>
            <a:endParaRPr lang="en-US"/>
          </a:p>
        </p:txBody>
      </p:sp>
      <p:sp>
        <p:nvSpPr>
          <p:cNvPr id="6" name="Footer Placeholder 5"/>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7" name="Slide Number Placeholder 6"/>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4005070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2640"/>
            </a:lvl1pPr>
          </a:lstStyle>
          <a:p>
            <a:r>
              <a:rPr lang="en-US"/>
              <a:t>Click to edit Master title style</a:t>
            </a:r>
          </a:p>
        </p:txBody>
      </p:sp>
      <p:sp>
        <p:nvSpPr>
          <p:cNvPr id="3" name="Picture Placeholder 2"/>
          <p:cNvSpPr>
            <a:spLocks noGrp="1"/>
          </p:cNvSpPr>
          <p:nvPr>
            <p:ph type="pic" idx="1"/>
          </p:nvPr>
        </p:nvSpPr>
        <p:spPr>
          <a:xfrm>
            <a:off x="4276130" y="1119083"/>
            <a:ext cx="5092065" cy="5523442"/>
          </a:xfrm>
        </p:spPr>
        <p:txBody>
          <a:bodyPr/>
          <a:lstStyle>
            <a:lvl1pPr marL="0" indent="0">
              <a:buNone/>
              <a:defRPr sz="2640"/>
            </a:lvl1pPr>
            <a:lvl2pPr marL="377190" indent="0">
              <a:buNone/>
              <a:defRPr sz="2310"/>
            </a:lvl2pPr>
            <a:lvl3pPr marL="754380" indent="0">
              <a:buNone/>
              <a:defRPr sz="1980"/>
            </a:lvl3pPr>
            <a:lvl4pPr marL="1131570" indent="0">
              <a:buNone/>
              <a:defRPr sz="1650"/>
            </a:lvl4pPr>
            <a:lvl5pPr marL="1508760" indent="0">
              <a:buNone/>
              <a:defRPr sz="1650"/>
            </a:lvl5pPr>
            <a:lvl6pPr marL="1885950" indent="0">
              <a:buNone/>
              <a:defRPr sz="1650"/>
            </a:lvl6pPr>
            <a:lvl7pPr marL="2263140" indent="0">
              <a:buNone/>
              <a:defRPr sz="1650"/>
            </a:lvl7pPr>
            <a:lvl8pPr marL="2640330" indent="0">
              <a:buNone/>
              <a:defRPr sz="1650"/>
            </a:lvl8pPr>
            <a:lvl9pPr marL="3017520" indent="0">
              <a:buNone/>
              <a:defRPr sz="165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320"/>
            </a:lvl1pPr>
            <a:lvl2pPr marL="377190" indent="0">
              <a:buNone/>
              <a:defRPr sz="1155"/>
            </a:lvl2pPr>
            <a:lvl3pPr marL="754380" indent="0">
              <a:buNone/>
              <a:defRPr sz="990"/>
            </a:lvl3pPr>
            <a:lvl4pPr marL="1131570" indent="0">
              <a:buNone/>
              <a:defRPr sz="825"/>
            </a:lvl4pPr>
            <a:lvl5pPr marL="1508760" indent="0">
              <a:buNone/>
              <a:defRPr sz="825"/>
            </a:lvl5pPr>
            <a:lvl6pPr marL="1885950" indent="0">
              <a:buNone/>
              <a:defRPr sz="825"/>
            </a:lvl6pPr>
            <a:lvl7pPr marL="2263140" indent="0">
              <a:buNone/>
              <a:defRPr sz="825"/>
            </a:lvl7pPr>
            <a:lvl8pPr marL="2640330" indent="0">
              <a:buNone/>
              <a:defRPr sz="825"/>
            </a:lvl8pPr>
            <a:lvl9pPr marL="3017520" indent="0">
              <a:buNone/>
              <a:defRPr sz="825"/>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7/11/2026</a:t>
            </a:fld>
            <a:endParaRPr lang="en-US"/>
          </a:p>
        </p:txBody>
      </p:sp>
      <p:sp>
        <p:nvSpPr>
          <p:cNvPr id="6" name="Footer Placeholder 5"/>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7" name="Slide Number Placeholder 6"/>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1021476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7/11/2026</a:t>
            </a:fld>
            <a:endParaRPr lang="en-US"/>
          </a:p>
        </p:txBody>
      </p:sp>
      <p:sp>
        <p:nvSpPr>
          <p:cNvPr id="5" name="Footer Placeholder 4"/>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1081626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7/11/2026</a:t>
            </a:fld>
            <a:endParaRPr lang="en-US"/>
          </a:p>
        </p:txBody>
      </p:sp>
      <p:sp>
        <p:nvSpPr>
          <p:cNvPr id="5" name="Footer Placeholder 4"/>
          <p:cNvSpPr>
            <a:spLocks noGrp="1"/>
          </p:cNvSpPr>
          <p:nvPr>
            <p:ph type="ftr" sz="quarter" idx="11"/>
          </p:nvPr>
        </p:nvSpPr>
        <p:spPr/>
        <p:txBody>
          <a:body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12"/>
          </p:nvPr>
        </p:nvSpPr>
        <p:spPr/>
        <p:txBody>
          <a:body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31164446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200" b="0" i="0">
                <a:solidFill>
                  <a:srgbClr val="006533"/>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1">
                <a:solidFill>
                  <a:schemeClr val="tx1"/>
                </a:solidFill>
                <a:latin typeface="Verdana"/>
                <a:cs typeface="Verdana"/>
              </a:defRPr>
            </a:lvl1pPr>
          </a:lstStyle>
          <a:p>
            <a:pPr marL="12700">
              <a:lnSpc>
                <a:spcPct val="100000"/>
              </a:lnSpc>
              <a:spcBef>
                <a:spcPts val="105"/>
              </a:spcBef>
            </a:pPr>
            <a:r>
              <a:rPr spc="-5" dirty="0"/>
              <a:t>Trí Tuệ </a:t>
            </a:r>
            <a:r>
              <a:rPr dirty="0"/>
              <a:t>Nhân</a:t>
            </a:r>
            <a:r>
              <a:rPr spc="-65" dirty="0"/>
              <a:t> </a:t>
            </a:r>
            <a:r>
              <a:rPr spc="-5" dirty="0"/>
              <a:t>Tạo</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7/11/2026</a:t>
            </a:fld>
            <a:endParaRPr lang="en-US"/>
          </a:p>
        </p:txBody>
      </p:sp>
      <p:sp>
        <p:nvSpPr>
          <p:cNvPr id="5" name="Holder 5"/>
          <p:cNvSpPr>
            <a:spLocks noGrp="1"/>
          </p:cNvSpPr>
          <p:nvPr>
            <p:ph type="sldNum" sz="quarter" idx="7"/>
          </p:nvPr>
        </p:nvSpPr>
        <p:spPr/>
        <p:txBody>
          <a:bodyPr lIns="0" tIns="0" rIns="0" bIns="0"/>
          <a:lstStyle>
            <a:lvl1pPr>
              <a:defRPr sz="1200" b="0" i="0">
                <a:solidFill>
                  <a:schemeClr val="tx1"/>
                </a:solidFill>
                <a:latin typeface="Times New Roman"/>
                <a:cs typeface="Times New Roman"/>
              </a:defRPr>
            </a:lvl1pPr>
          </a:lstStyle>
          <a:p>
            <a:pPr marL="38100">
              <a:lnSpc>
                <a:spcPts val="1375"/>
              </a:lnSpc>
            </a:pPr>
            <a:fld id="{81D60167-4931-47E6-BA6A-407CBD079E47}" type="slidenum">
              <a:rPr spc="-40" dirty="0"/>
              <a:t>‹#›</a:t>
            </a:fld>
            <a:endParaRPr spc="-40" dirty="0"/>
          </a:p>
        </p:txBody>
      </p:sp>
    </p:spTree>
    <p:extLst>
      <p:ext uri="{BB962C8B-B14F-4D97-AF65-F5344CB8AC3E}">
        <p14:creationId xmlns:p14="http://schemas.microsoft.com/office/powerpoint/2010/main" val="5613750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7845" y="-98957"/>
            <a:ext cx="882904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845" y="1525694"/>
            <a:ext cx="8829040" cy="55558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990">
                <a:solidFill>
                  <a:schemeClr val="tx1">
                    <a:tint val="75000"/>
                  </a:schemeClr>
                </a:solidFill>
              </a:defRPr>
            </a:lvl1pPr>
          </a:lstStyle>
          <a:p>
            <a:fld id="{1D8BD707-D9CF-40AE-B4C6-C98DA3205C09}" type="datetimeFigureOut">
              <a:rPr lang="en-US" smtClean="0"/>
              <a:t>7/11/2026</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990">
                <a:solidFill>
                  <a:schemeClr val="tx1">
                    <a:tint val="75000"/>
                  </a:schemeClr>
                </a:solidFill>
              </a:defRPr>
            </a:lvl1pPr>
          </a:lstStyle>
          <a:p>
            <a:pPr marL="12700">
              <a:lnSpc>
                <a:spcPct val="100000"/>
              </a:lnSpc>
              <a:spcBef>
                <a:spcPts val="105"/>
              </a:spcBef>
            </a:pPr>
            <a:r>
              <a:rPr lang="en-US" spc="-5"/>
              <a:t>Trí Tuệ </a:t>
            </a:r>
            <a:r>
              <a:rPr lang="en-US"/>
              <a:t>Nhân</a:t>
            </a:r>
            <a:r>
              <a:rPr lang="en-US" spc="-65"/>
              <a:t> </a:t>
            </a:r>
            <a:r>
              <a:rPr lang="en-US" spc="-5"/>
              <a:t>Tạo</a:t>
            </a:r>
            <a:endParaRPr lang="en-US" spc="-5" dirty="0"/>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990">
                <a:solidFill>
                  <a:schemeClr val="tx1">
                    <a:tint val="75000"/>
                  </a:schemeClr>
                </a:solidFill>
              </a:defRPr>
            </a:lvl1pPr>
          </a:lstStyle>
          <a:p>
            <a:pPr marL="38100">
              <a:lnSpc>
                <a:spcPts val="1375"/>
              </a:lnSpc>
            </a:pPr>
            <a:fld id="{81D60167-4931-47E6-BA6A-407CBD079E47}" type="slidenum">
              <a:rPr lang="en-US" spc="-40" smtClean="0"/>
              <a:t>‹#›</a:t>
            </a:fld>
            <a:endParaRPr lang="en-US" spc="-40" dirty="0"/>
          </a:p>
        </p:txBody>
      </p:sp>
    </p:spTree>
    <p:extLst>
      <p:ext uri="{BB962C8B-B14F-4D97-AF65-F5344CB8AC3E}">
        <p14:creationId xmlns:p14="http://schemas.microsoft.com/office/powerpoint/2010/main" val="213984340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754380" rtl="0" eaLnBrk="1" latinLnBrk="0" hangingPunct="1">
        <a:lnSpc>
          <a:spcPct val="90000"/>
        </a:lnSpc>
        <a:spcBef>
          <a:spcPct val="0"/>
        </a:spcBef>
        <a:buNone/>
        <a:defRPr sz="3960" b="1" kern="1200">
          <a:solidFill>
            <a:schemeClr val="bg1"/>
          </a:solidFill>
          <a:latin typeface="+mj-lt"/>
          <a:ea typeface="+mj-ea"/>
          <a:cs typeface="+mj-cs"/>
        </a:defRPr>
      </a:lvl1pPr>
    </p:titleStyle>
    <p:bodyStyle>
      <a:lvl1pPr marL="188595" indent="-188595" algn="l" defTabSz="754380" rtl="0" eaLnBrk="1" latinLnBrk="0" hangingPunct="1">
        <a:lnSpc>
          <a:spcPct val="90000"/>
        </a:lnSpc>
        <a:spcBef>
          <a:spcPts val="825"/>
        </a:spcBef>
        <a:buFont typeface="Arial" panose="020B0604020202020204" pitchFamily="34" charset="0"/>
        <a:buChar char="•"/>
        <a:defRPr sz="2310" kern="1200">
          <a:solidFill>
            <a:schemeClr val="tx1">
              <a:lumMod val="75000"/>
              <a:lumOff val="25000"/>
            </a:schemeClr>
          </a:solidFill>
          <a:latin typeface="+mn-lt"/>
          <a:ea typeface="+mn-ea"/>
          <a:cs typeface="+mn-cs"/>
        </a:defRPr>
      </a:lvl1pPr>
      <a:lvl2pPr marL="565785" indent="-188595" algn="l" defTabSz="754380" rtl="0" eaLnBrk="1" latinLnBrk="0" hangingPunct="1">
        <a:lnSpc>
          <a:spcPct val="90000"/>
        </a:lnSpc>
        <a:spcBef>
          <a:spcPts val="413"/>
        </a:spcBef>
        <a:buFont typeface="Arial" panose="020B0604020202020204" pitchFamily="34" charset="0"/>
        <a:buChar char="•"/>
        <a:defRPr sz="1980" kern="1200">
          <a:solidFill>
            <a:schemeClr val="tx1">
              <a:lumMod val="75000"/>
              <a:lumOff val="25000"/>
            </a:schemeClr>
          </a:solidFill>
          <a:latin typeface="+mn-lt"/>
          <a:ea typeface="+mn-ea"/>
          <a:cs typeface="+mn-cs"/>
        </a:defRPr>
      </a:lvl2pPr>
      <a:lvl3pPr marL="942975" indent="-188595" algn="l" defTabSz="754380" rtl="0" eaLnBrk="1" latinLnBrk="0" hangingPunct="1">
        <a:lnSpc>
          <a:spcPct val="90000"/>
        </a:lnSpc>
        <a:spcBef>
          <a:spcPts val="413"/>
        </a:spcBef>
        <a:buFont typeface="Arial" panose="020B0604020202020204" pitchFamily="34" charset="0"/>
        <a:buChar char="•"/>
        <a:defRPr sz="1650" kern="1200">
          <a:solidFill>
            <a:schemeClr val="tx1">
              <a:lumMod val="75000"/>
              <a:lumOff val="25000"/>
            </a:schemeClr>
          </a:solidFill>
          <a:latin typeface="+mn-lt"/>
          <a:ea typeface="+mn-ea"/>
          <a:cs typeface="+mn-cs"/>
        </a:defRPr>
      </a:lvl3pPr>
      <a:lvl4pPr marL="1320165" indent="-188595" algn="l" defTabSz="754380" rtl="0" eaLnBrk="1" latinLnBrk="0" hangingPunct="1">
        <a:lnSpc>
          <a:spcPct val="90000"/>
        </a:lnSpc>
        <a:spcBef>
          <a:spcPts val="413"/>
        </a:spcBef>
        <a:buFont typeface="Arial" panose="020B0604020202020204" pitchFamily="34" charset="0"/>
        <a:buChar char="•"/>
        <a:defRPr sz="1485" kern="1200">
          <a:solidFill>
            <a:schemeClr val="tx1">
              <a:lumMod val="75000"/>
              <a:lumOff val="25000"/>
            </a:schemeClr>
          </a:solidFill>
          <a:latin typeface="+mn-lt"/>
          <a:ea typeface="+mn-ea"/>
          <a:cs typeface="+mn-cs"/>
        </a:defRPr>
      </a:lvl4pPr>
      <a:lvl5pPr marL="1697355" indent="-188595" algn="l" defTabSz="754380" rtl="0" eaLnBrk="1" latinLnBrk="0" hangingPunct="1">
        <a:lnSpc>
          <a:spcPct val="90000"/>
        </a:lnSpc>
        <a:spcBef>
          <a:spcPts val="413"/>
        </a:spcBef>
        <a:buFont typeface="Arial" panose="020B0604020202020204" pitchFamily="34" charset="0"/>
        <a:buChar char="•"/>
        <a:defRPr sz="1485" kern="1200">
          <a:solidFill>
            <a:schemeClr val="tx1">
              <a:lumMod val="75000"/>
              <a:lumOff val="25000"/>
            </a:schemeClr>
          </a:solidFill>
          <a:latin typeface="+mn-lt"/>
          <a:ea typeface="+mn-ea"/>
          <a:cs typeface="+mn-cs"/>
        </a:defRPr>
      </a:lvl5pPr>
      <a:lvl6pPr marL="207454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6pPr>
      <a:lvl7pPr marL="245173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7pPr>
      <a:lvl8pPr marL="282892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8pPr>
      <a:lvl9pPr marL="3206115" indent="-188595" algn="l" defTabSz="754380" rtl="0" eaLnBrk="1" latinLnBrk="0" hangingPunct="1">
        <a:lnSpc>
          <a:spcPct val="90000"/>
        </a:lnSpc>
        <a:spcBef>
          <a:spcPts val="413"/>
        </a:spcBef>
        <a:buFont typeface="Arial" panose="020B0604020202020204" pitchFamily="34" charset="0"/>
        <a:buChar char="•"/>
        <a:defRPr sz="1485" kern="1200">
          <a:solidFill>
            <a:schemeClr val="tx1"/>
          </a:solidFill>
          <a:latin typeface="+mn-lt"/>
          <a:ea typeface="+mn-ea"/>
          <a:cs typeface="+mn-cs"/>
        </a:defRPr>
      </a:lvl9pPr>
    </p:bodyStyle>
    <p:otherStyle>
      <a:defPPr>
        <a:defRPr lang="en-US"/>
      </a:defPPr>
      <a:lvl1pPr marL="0" algn="l" defTabSz="754380" rtl="0" eaLnBrk="1" latinLnBrk="0" hangingPunct="1">
        <a:defRPr sz="1485" kern="1200">
          <a:solidFill>
            <a:schemeClr val="tx1"/>
          </a:solidFill>
          <a:latin typeface="+mn-lt"/>
          <a:ea typeface="+mn-ea"/>
          <a:cs typeface="+mn-cs"/>
        </a:defRPr>
      </a:lvl1pPr>
      <a:lvl2pPr marL="377190" algn="l" defTabSz="754380" rtl="0" eaLnBrk="1" latinLnBrk="0" hangingPunct="1">
        <a:defRPr sz="1485" kern="1200">
          <a:solidFill>
            <a:schemeClr val="tx1"/>
          </a:solidFill>
          <a:latin typeface="+mn-lt"/>
          <a:ea typeface="+mn-ea"/>
          <a:cs typeface="+mn-cs"/>
        </a:defRPr>
      </a:lvl2pPr>
      <a:lvl3pPr marL="754380" algn="l" defTabSz="754380" rtl="0" eaLnBrk="1" latinLnBrk="0" hangingPunct="1">
        <a:defRPr sz="1485" kern="1200">
          <a:solidFill>
            <a:schemeClr val="tx1"/>
          </a:solidFill>
          <a:latin typeface="+mn-lt"/>
          <a:ea typeface="+mn-ea"/>
          <a:cs typeface="+mn-cs"/>
        </a:defRPr>
      </a:lvl3pPr>
      <a:lvl4pPr marL="1131570" algn="l" defTabSz="754380" rtl="0" eaLnBrk="1" latinLnBrk="0" hangingPunct="1">
        <a:defRPr sz="1485" kern="1200">
          <a:solidFill>
            <a:schemeClr val="tx1"/>
          </a:solidFill>
          <a:latin typeface="+mn-lt"/>
          <a:ea typeface="+mn-ea"/>
          <a:cs typeface="+mn-cs"/>
        </a:defRPr>
      </a:lvl4pPr>
      <a:lvl5pPr marL="1508760" algn="l" defTabSz="754380" rtl="0" eaLnBrk="1" latinLnBrk="0" hangingPunct="1">
        <a:defRPr sz="1485" kern="1200">
          <a:solidFill>
            <a:schemeClr val="tx1"/>
          </a:solidFill>
          <a:latin typeface="+mn-lt"/>
          <a:ea typeface="+mn-ea"/>
          <a:cs typeface="+mn-cs"/>
        </a:defRPr>
      </a:lvl5pPr>
      <a:lvl6pPr marL="1885950" algn="l" defTabSz="754380" rtl="0" eaLnBrk="1" latinLnBrk="0" hangingPunct="1">
        <a:defRPr sz="1485" kern="1200">
          <a:solidFill>
            <a:schemeClr val="tx1"/>
          </a:solidFill>
          <a:latin typeface="+mn-lt"/>
          <a:ea typeface="+mn-ea"/>
          <a:cs typeface="+mn-cs"/>
        </a:defRPr>
      </a:lvl6pPr>
      <a:lvl7pPr marL="2263140" algn="l" defTabSz="754380" rtl="0" eaLnBrk="1" latinLnBrk="0" hangingPunct="1">
        <a:defRPr sz="1485" kern="1200">
          <a:solidFill>
            <a:schemeClr val="tx1"/>
          </a:solidFill>
          <a:latin typeface="+mn-lt"/>
          <a:ea typeface="+mn-ea"/>
          <a:cs typeface="+mn-cs"/>
        </a:defRPr>
      </a:lvl7pPr>
      <a:lvl8pPr marL="2640330" algn="l" defTabSz="754380" rtl="0" eaLnBrk="1" latinLnBrk="0" hangingPunct="1">
        <a:defRPr sz="1485" kern="1200">
          <a:solidFill>
            <a:schemeClr val="tx1"/>
          </a:solidFill>
          <a:latin typeface="+mn-lt"/>
          <a:ea typeface="+mn-ea"/>
          <a:cs typeface="+mn-cs"/>
        </a:defRPr>
      </a:lvl8pPr>
      <a:lvl9pPr marL="3017520" algn="l" defTabSz="754380" rtl="0" eaLnBrk="1" latinLnBrk="0" hangingPunct="1">
        <a:defRPr sz="148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cwa.mdx.ac.uk/bis2040/johnlect.html)"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hyperlink" Target="http://www.cwa.mdx.ac.uk/bis2040/johnlect.html)"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nSpc>
                <a:spcPct val="150000"/>
              </a:lnSpc>
            </a:pPr>
            <a:r>
              <a:rPr lang="en-US"/>
              <a:t>CSDL nâng cao</a:t>
            </a:r>
            <a:br>
              <a:rPr lang="en-US"/>
            </a:br>
            <a:r>
              <a:rPr lang="en-US" b="0"/>
              <a:t>Biểu diễn tri thức</a:t>
            </a:r>
          </a:p>
        </p:txBody>
      </p:sp>
      <p:sp>
        <p:nvSpPr>
          <p:cNvPr id="3" name="Subtitle 2"/>
          <p:cNvSpPr>
            <a:spLocks noGrp="1"/>
          </p:cNvSpPr>
          <p:nvPr>
            <p:ph type="subTitle" idx="1"/>
          </p:nvPr>
        </p:nvSpPr>
        <p:spPr>
          <a:xfrm>
            <a:off x="1257300" y="5090743"/>
            <a:ext cx="7543800" cy="1876530"/>
          </a:xfrm>
        </p:spPr>
        <p:txBody>
          <a:bodyPr>
            <a:normAutofit fontScale="92500" lnSpcReduction="10000"/>
          </a:bodyPr>
          <a:lstStyle/>
          <a:p>
            <a:pPr marR="374650">
              <a:lnSpc>
                <a:spcPct val="100000"/>
              </a:lnSpc>
              <a:spcBef>
                <a:spcPts val="1385"/>
              </a:spcBef>
            </a:pPr>
            <a:r>
              <a:rPr lang="en-US" b="1"/>
              <a:t> TS. Trần Ngọc Thăng</a:t>
            </a:r>
          </a:p>
          <a:p>
            <a:pPr marL="12700" marR="5080">
              <a:lnSpc>
                <a:spcPct val="120000"/>
              </a:lnSpc>
            </a:pPr>
            <a:r>
              <a:rPr lang="vi-VN" sz="2600" spc="-5">
                <a:latin typeface="Times New Roman"/>
                <a:cs typeface="Times New Roman"/>
              </a:rPr>
              <a:t>Viện </a:t>
            </a:r>
            <a:r>
              <a:rPr lang="vi-VN" sz="2600">
                <a:latin typeface="Times New Roman"/>
                <a:cs typeface="Times New Roman"/>
              </a:rPr>
              <a:t>Toán ứng dụng và Tin học </a:t>
            </a:r>
          </a:p>
          <a:p>
            <a:pPr marL="12700" marR="5080">
              <a:lnSpc>
                <a:spcPct val="120000"/>
              </a:lnSpc>
            </a:pPr>
            <a:r>
              <a:rPr lang="vi-VN" sz="2600" spc="-5">
                <a:latin typeface="Times New Roman"/>
                <a:cs typeface="Times New Roman"/>
              </a:rPr>
              <a:t>Trường Đại học </a:t>
            </a:r>
            <a:r>
              <a:rPr lang="vi-VN" sz="2600">
                <a:latin typeface="Times New Roman"/>
                <a:cs typeface="Times New Roman"/>
              </a:rPr>
              <a:t>Bách </a:t>
            </a:r>
            <a:r>
              <a:rPr lang="vi-VN" sz="2600" spc="-5">
                <a:latin typeface="Times New Roman"/>
                <a:cs typeface="Times New Roman"/>
              </a:rPr>
              <a:t>Khoa Hà</a:t>
            </a:r>
            <a:r>
              <a:rPr lang="vi-VN" sz="2600" spc="-20">
                <a:latin typeface="Times New Roman"/>
                <a:cs typeface="Times New Roman"/>
              </a:rPr>
              <a:t> </a:t>
            </a:r>
            <a:r>
              <a:rPr lang="vi-VN" sz="2600">
                <a:latin typeface="Times New Roman"/>
                <a:cs typeface="Times New Roman"/>
              </a:rPr>
              <a:t>Nội</a:t>
            </a:r>
          </a:p>
          <a:p>
            <a:r>
              <a:rPr lang="en-US" sz="2400"/>
              <a:t>Phiên bản @2020.01</a:t>
            </a:r>
          </a:p>
        </p:txBody>
      </p:sp>
    </p:spTree>
    <p:extLst>
      <p:ext uri="{BB962C8B-B14F-4D97-AF65-F5344CB8AC3E}">
        <p14:creationId xmlns:p14="http://schemas.microsoft.com/office/powerpoint/2010/main" val="3479039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a:t>
            </a:fld>
            <a:endParaRPr spc="-40" dirty="0"/>
          </a:p>
        </p:txBody>
      </p:sp>
      <p:sp>
        <p:nvSpPr>
          <p:cNvPr id="3" name="object 3"/>
          <p:cNvSpPr/>
          <p:nvPr/>
        </p:nvSpPr>
        <p:spPr>
          <a:xfrm>
            <a:off x="457200" y="2415539"/>
            <a:ext cx="9144000" cy="3916679"/>
          </a:xfrm>
          <a:custGeom>
            <a:avLst/>
            <a:gdLst/>
            <a:ahLst/>
            <a:cxnLst/>
            <a:rect l="l" t="t" r="r" b="b"/>
            <a:pathLst>
              <a:path w="9144000" h="3916679">
                <a:moveTo>
                  <a:pt x="9144000" y="0"/>
                </a:moveTo>
                <a:lnTo>
                  <a:pt x="0" y="0"/>
                </a:lnTo>
                <a:lnTo>
                  <a:pt x="0" y="979170"/>
                </a:lnTo>
                <a:lnTo>
                  <a:pt x="0" y="1958340"/>
                </a:lnTo>
                <a:lnTo>
                  <a:pt x="0" y="2937510"/>
                </a:lnTo>
                <a:lnTo>
                  <a:pt x="0" y="3916680"/>
                </a:lnTo>
                <a:lnTo>
                  <a:pt x="9144000" y="391668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993139" y="1777238"/>
            <a:ext cx="7840345" cy="4003040"/>
          </a:xfrm>
          <a:prstGeom prst="rect">
            <a:avLst/>
          </a:prstGeom>
        </p:spPr>
        <p:txBody>
          <a:bodyPr vert="horz" wrap="square" lIns="0" tIns="12700" rIns="0" bIns="0" rtlCol="0">
            <a:spAutoFit/>
          </a:bodyPr>
          <a:lstStyle/>
          <a:p>
            <a:pPr marL="298450" marR="201295" indent="-285750">
              <a:lnSpc>
                <a:spcPct val="100000"/>
              </a:lnSpc>
              <a:spcBef>
                <a:spcPts val="100"/>
              </a:spcBef>
              <a:buClr>
                <a:srgbClr val="CC9A00"/>
              </a:buClr>
              <a:buSzPct val="64583"/>
              <a:buFont typeface="Wingdings"/>
              <a:buChar char=""/>
              <a:tabLst>
                <a:tab pos="297815" algn="l"/>
                <a:tab pos="298450" algn="l"/>
              </a:tabLst>
            </a:pPr>
            <a:r>
              <a:rPr sz="2400" b="1" dirty="0">
                <a:latin typeface="Arial"/>
                <a:cs typeface="Arial"/>
              </a:rPr>
              <a:t>Dữ </a:t>
            </a:r>
            <a:r>
              <a:rPr sz="2400" b="1" spc="-5" dirty="0">
                <a:latin typeface="Arial"/>
                <a:cs typeface="Arial"/>
              </a:rPr>
              <a:t>liệu (data) </a:t>
            </a:r>
            <a:r>
              <a:rPr sz="2400" spc="-5" dirty="0">
                <a:latin typeface="Arial"/>
                <a:cs typeface="Arial"/>
              </a:rPr>
              <a:t>thường được định nghĩa là các sự kiện  (facts) hoặc các ký hiệu</a:t>
            </a:r>
            <a:r>
              <a:rPr sz="2400" spc="10" dirty="0">
                <a:latin typeface="Arial"/>
                <a:cs typeface="Arial"/>
              </a:rPr>
              <a:t> </a:t>
            </a:r>
            <a:r>
              <a:rPr sz="2400" spc="-5" dirty="0">
                <a:latin typeface="Arial"/>
                <a:cs typeface="Arial"/>
              </a:rPr>
              <a:t>(symbols)</a:t>
            </a:r>
            <a:endParaRPr sz="2400">
              <a:latin typeface="Arial"/>
              <a:cs typeface="Arial"/>
            </a:endParaRPr>
          </a:p>
          <a:p>
            <a:pPr marL="297815" marR="5080" indent="-285750">
              <a:lnSpc>
                <a:spcPct val="100000"/>
              </a:lnSpc>
              <a:spcBef>
                <a:spcPts val="1800"/>
              </a:spcBef>
              <a:buClr>
                <a:srgbClr val="CC9A00"/>
              </a:buClr>
              <a:buSzPct val="64583"/>
              <a:buFont typeface="Wingdings"/>
              <a:buChar char=""/>
              <a:tabLst>
                <a:tab pos="297815" algn="l"/>
                <a:tab pos="298450" algn="l"/>
              </a:tabLst>
            </a:pPr>
            <a:r>
              <a:rPr sz="2400" b="1" spc="-5" dirty="0">
                <a:latin typeface="Arial"/>
                <a:cs typeface="Arial"/>
              </a:rPr>
              <a:t>Thông tin (information) </a:t>
            </a:r>
            <a:r>
              <a:rPr sz="2400" spc="-5" dirty="0">
                <a:latin typeface="Arial"/>
                <a:cs typeface="Arial"/>
              </a:rPr>
              <a:t>thường được định nghĩa là dữ  liệu đã được </a:t>
            </a:r>
            <a:r>
              <a:rPr sz="2400" dirty="0">
                <a:latin typeface="Arial"/>
                <a:cs typeface="Arial"/>
              </a:rPr>
              <a:t>xử </a:t>
            </a:r>
            <a:r>
              <a:rPr sz="2400" spc="-5" dirty="0">
                <a:latin typeface="Arial"/>
                <a:cs typeface="Arial"/>
              </a:rPr>
              <a:t>lý hoặc chuyển đổi thành những dạng  hoặc cấu trúc phù hợp cho việc sử dụng của con</a:t>
            </a:r>
            <a:r>
              <a:rPr sz="2400" spc="65" dirty="0">
                <a:latin typeface="Arial"/>
                <a:cs typeface="Arial"/>
              </a:rPr>
              <a:t> </a:t>
            </a:r>
            <a:r>
              <a:rPr sz="2400" spc="-5" dirty="0">
                <a:latin typeface="Arial"/>
                <a:cs typeface="Arial"/>
              </a:rPr>
              <a:t>người</a:t>
            </a:r>
            <a:endParaRPr sz="2400">
              <a:latin typeface="Arial"/>
              <a:cs typeface="Arial"/>
            </a:endParaRPr>
          </a:p>
          <a:p>
            <a:pPr marL="297815" marR="132080" indent="-285750">
              <a:lnSpc>
                <a:spcPct val="100000"/>
              </a:lnSpc>
              <a:spcBef>
                <a:spcPts val="1800"/>
              </a:spcBef>
              <a:buClr>
                <a:srgbClr val="CC9A00"/>
              </a:buClr>
              <a:buSzPct val="64583"/>
              <a:buFont typeface="Wingdings"/>
              <a:buChar char=""/>
              <a:tabLst>
                <a:tab pos="297815" algn="l"/>
                <a:tab pos="298450" algn="l"/>
              </a:tabLst>
            </a:pPr>
            <a:r>
              <a:rPr sz="2400" spc="-5" dirty="0">
                <a:latin typeface="Arial"/>
                <a:cs typeface="Arial"/>
              </a:rPr>
              <a:t>Thông tin </a:t>
            </a:r>
            <a:r>
              <a:rPr sz="2400" dirty="0">
                <a:latin typeface="Arial"/>
                <a:cs typeface="Arial"/>
              </a:rPr>
              <a:t>có </a:t>
            </a:r>
            <a:r>
              <a:rPr sz="2400" spc="-5" dirty="0">
                <a:latin typeface="Arial"/>
                <a:cs typeface="Arial"/>
              </a:rPr>
              <a:t>được sau (chứ không xuất hiện trước) dữ  liệu</a:t>
            </a:r>
            <a:endParaRPr sz="2400">
              <a:latin typeface="Arial"/>
              <a:cs typeface="Arial"/>
            </a:endParaRPr>
          </a:p>
          <a:p>
            <a:pPr marL="298450" marR="356870" indent="-285750">
              <a:lnSpc>
                <a:spcPct val="100000"/>
              </a:lnSpc>
              <a:spcBef>
                <a:spcPts val="1800"/>
              </a:spcBef>
              <a:buClr>
                <a:srgbClr val="CC9A00"/>
              </a:buClr>
              <a:buSzPct val="64583"/>
              <a:buFont typeface="Wingdings"/>
              <a:buChar char=""/>
              <a:tabLst>
                <a:tab pos="297815" algn="l"/>
                <a:tab pos="298450" algn="l"/>
              </a:tabLst>
            </a:pPr>
            <a:r>
              <a:rPr sz="2400" b="1" dirty="0">
                <a:latin typeface="Arial"/>
                <a:cs typeface="Arial"/>
              </a:rPr>
              <a:t>Tri </a:t>
            </a:r>
            <a:r>
              <a:rPr sz="2400" b="1" spc="-5" dirty="0">
                <a:latin typeface="Arial"/>
                <a:cs typeface="Arial"/>
              </a:rPr>
              <a:t>thức (knowledge) </a:t>
            </a:r>
            <a:r>
              <a:rPr sz="2400" spc="-5" dirty="0">
                <a:latin typeface="Arial"/>
                <a:cs typeface="Arial"/>
              </a:rPr>
              <a:t>thường được định nghĩa là sự  hiểu biết (nhận thức) về thông</a:t>
            </a:r>
            <a:r>
              <a:rPr sz="2400" spc="55" dirty="0">
                <a:latin typeface="Arial"/>
                <a:cs typeface="Arial"/>
              </a:rPr>
              <a:t> </a:t>
            </a:r>
            <a:r>
              <a:rPr sz="2400" spc="-5" dirty="0">
                <a:latin typeface="Arial"/>
                <a:cs typeface="Arial"/>
              </a:rPr>
              <a:t>tin</a:t>
            </a:r>
            <a:endParaRPr sz="24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EE2B726B-2C7C-4A9A-BCB2-F542DA9DB729}"/>
              </a:ext>
            </a:extLst>
          </p:cNvPr>
          <p:cNvSpPr>
            <a:spLocks noGrp="1"/>
          </p:cNvSpPr>
          <p:nvPr>
            <p:ph type="title"/>
          </p:nvPr>
        </p:nvSpPr>
        <p:spPr/>
        <p:txBody>
          <a:bodyPr/>
          <a:lstStyle/>
          <a:p>
            <a:r>
              <a:rPr lang="en-US" sz="3600" b="0">
                <a:latin typeface="Verdana"/>
                <a:cs typeface="Verdana"/>
              </a:rPr>
              <a:t>Dữ </a:t>
            </a:r>
            <a:r>
              <a:rPr lang="en-US" sz="3600" b="0" spc="-5">
                <a:latin typeface="Verdana"/>
                <a:cs typeface="Verdana"/>
              </a:rPr>
              <a:t>liệu, Thông </a:t>
            </a:r>
            <a:r>
              <a:rPr lang="en-US" sz="3600" b="0">
                <a:latin typeface="Verdana"/>
                <a:cs typeface="Verdana"/>
              </a:rPr>
              <a:t>tin, </a:t>
            </a:r>
            <a:r>
              <a:rPr lang="en-US" sz="3600" b="0" spc="-5">
                <a:latin typeface="Verdana"/>
                <a:cs typeface="Verdana"/>
              </a:rPr>
              <a:t>Tri </a:t>
            </a:r>
            <a:r>
              <a:rPr lang="en-US" sz="3600" b="0">
                <a:latin typeface="Verdana"/>
                <a:cs typeface="Verdana"/>
              </a:rPr>
              <a:t>thức</a:t>
            </a:r>
            <a:endParaRPr lang="en-US"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2" name="object 4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43" name="object 4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a:t>
            </a:fld>
            <a:endParaRPr spc="-40" dirty="0"/>
          </a:p>
        </p:txBody>
      </p:sp>
      <p:grpSp>
        <p:nvGrpSpPr>
          <p:cNvPr id="3" name="object 3"/>
          <p:cNvGrpSpPr/>
          <p:nvPr/>
        </p:nvGrpSpPr>
        <p:grpSpPr>
          <a:xfrm>
            <a:off x="4793019" y="1900427"/>
            <a:ext cx="4370070" cy="515620"/>
            <a:chOff x="4793019" y="1900427"/>
            <a:chExt cx="4370070" cy="515620"/>
          </a:xfrm>
        </p:grpSpPr>
        <p:sp>
          <p:nvSpPr>
            <p:cNvPr id="4" name="object 4"/>
            <p:cNvSpPr/>
            <p:nvPr/>
          </p:nvSpPr>
          <p:spPr>
            <a:xfrm>
              <a:off x="4798198" y="1981199"/>
              <a:ext cx="538203" cy="434339"/>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4793018" y="1900427"/>
              <a:ext cx="4370070" cy="515620"/>
            </a:xfrm>
            <a:custGeom>
              <a:avLst/>
              <a:gdLst/>
              <a:ahLst/>
              <a:cxnLst/>
              <a:rect l="l" t="t" r="r" b="b"/>
              <a:pathLst>
                <a:path w="4370070" h="515619">
                  <a:moveTo>
                    <a:pt x="548652" y="515112"/>
                  </a:moveTo>
                  <a:lnTo>
                    <a:pt x="274281" y="72390"/>
                  </a:lnTo>
                  <a:lnTo>
                    <a:pt x="0" y="515112"/>
                  </a:lnTo>
                  <a:lnTo>
                    <a:pt x="11633" y="515112"/>
                  </a:lnTo>
                  <a:lnTo>
                    <a:pt x="270471" y="97358"/>
                  </a:lnTo>
                  <a:lnTo>
                    <a:pt x="274662" y="90589"/>
                  </a:lnTo>
                  <a:lnTo>
                    <a:pt x="278853" y="97358"/>
                  </a:lnTo>
                  <a:lnTo>
                    <a:pt x="537679" y="515112"/>
                  </a:lnTo>
                  <a:lnTo>
                    <a:pt x="548652" y="515112"/>
                  </a:lnTo>
                  <a:close/>
                </a:path>
                <a:path w="4370070" h="515619">
                  <a:moveTo>
                    <a:pt x="4370032" y="90678"/>
                  </a:moveTo>
                  <a:lnTo>
                    <a:pt x="4358589" y="53238"/>
                  </a:lnTo>
                  <a:lnTo>
                    <a:pt x="4327931" y="18834"/>
                  </a:lnTo>
                  <a:lnTo>
                    <a:pt x="4280116" y="762"/>
                  </a:lnTo>
                  <a:lnTo>
                    <a:pt x="4269448" y="0"/>
                  </a:lnTo>
                  <a:lnTo>
                    <a:pt x="2084793" y="0"/>
                  </a:lnTo>
                  <a:lnTo>
                    <a:pt x="2026158" y="19151"/>
                  </a:lnTo>
                  <a:lnTo>
                    <a:pt x="1989696" y="68656"/>
                  </a:lnTo>
                  <a:lnTo>
                    <a:pt x="1984209" y="100584"/>
                  </a:lnTo>
                  <a:lnTo>
                    <a:pt x="1984209" y="341376"/>
                  </a:lnTo>
                  <a:lnTo>
                    <a:pt x="1979777" y="398995"/>
                  </a:lnTo>
                  <a:lnTo>
                    <a:pt x="1979409" y="447103"/>
                  </a:lnTo>
                  <a:lnTo>
                    <a:pt x="1983041" y="486511"/>
                  </a:lnTo>
                  <a:lnTo>
                    <a:pt x="1989975" y="515112"/>
                  </a:lnTo>
                  <a:lnTo>
                    <a:pt x="1994115" y="515112"/>
                  </a:lnTo>
                  <a:lnTo>
                    <a:pt x="1998941" y="515112"/>
                  </a:lnTo>
                  <a:lnTo>
                    <a:pt x="1997925" y="512064"/>
                  </a:lnTo>
                  <a:lnTo>
                    <a:pt x="1997925" y="512826"/>
                  </a:lnTo>
                  <a:lnTo>
                    <a:pt x="1995639" y="503682"/>
                  </a:lnTo>
                  <a:lnTo>
                    <a:pt x="1994115" y="494538"/>
                  </a:lnTo>
                  <a:lnTo>
                    <a:pt x="1994115" y="92202"/>
                  </a:lnTo>
                  <a:lnTo>
                    <a:pt x="1995639" y="82296"/>
                  </a:lnTo>
                  <a:lnTo>
                    <a:pt x="1995639" y="83058"/>
                  </a:lnTo>
                  <a:lnTo>
                    <a:pt x="1997925" y="73914"/>
                  </a:lnTo>
                  <a:lnTo>
                    <a:pt x="2000973" y="65532"/>
                  </a:lnTo>
                  <a:lnTo>
                    <a:pt x="2004783" y="57150"/>
                  </a:lnTo>
                  <a:lnTo>
                    <a:pt x="2004783" y="57912"/>
                  </a:lnTo>
                  <a:lnTo>
                    <a:pt x="2009355" y="49530"/>
                  </a:lnTo>
                  <a:lnTo>
                    <a:pt x="2009355" y="50292"/>
                  </a:lnTo>
                  <a:lnTo>
                    <a:pt x="2014689" y="42672"/>
                  </a:lnTo>
                  <a:lnTo>
                    <a:pt x="2014689" y="43434"/>
                  </a:lnTo>
                  <a:lnTo>
                    <a:pt x="2020785" y="36576"/>
                  </a:lnTo>
                  <a:lnTo>
                    <a:pt x="2026881" y="31165"/>
                  </a:lnTo>
                  <a:lnTo>
                    <a:pt x="2027643" y="30480"/>
                  </a:lnTo>
                  <a:lnTo>
                    <a:pt x="2026881" y="30480"/>
                  </a:lnTo>
                  <a:lnTo>
                    <a:pt x="2033739" y="25679"/>
                  </a:lnTo>
                  <a:lnTo>
                    <a:pt x="2034501" y="25146"/>
                  </a:lnTo>
                  <a:lnTo>
                    <a:pt x="2033739" y="25146"/>
                  </a:lnTo>
                  <a:lnTo>
                    <a:pt x="2041359" y="20993"/>
                  </a:lnTo>
                  <a:lnTo>
                    <a:pt x="2042121" y="20574"/>
                  </a:lnTo>
                  <a:lnTo>
                    <a:pt x="2041359" y="20574"/>
                  </a:lnTo>
                  <a:lnTo>
                    <a:pt x="2049741" y="16764"/>
                  </a:lnTo>
                  <a:lnTo>
                    <a:pt x="2058123" y="13716"/>
                  </a:lnTo>
                  <a:lnTo>
                    <a:pt x="2066505" y="11620"/>
                  </a:lnTo>
                  <a:lnTo>
                    <a:pt x="2067267" y="11430"/>
                  </a:lnTo>
                  <a:lnTo>
                    <a:pt x="2066505" y="11430"/>
                  </a:lnTo>
                  <a:lnTo>
                    <a:pt x="2075649" y="10033"/>
                  </a:lnTo>
                  <a:lnTo>
                    <a:pt x="2076399" y="9918"/>
                  </a:lnTo>
                  <a:lnTo>
                    <a:pt x="4279354" y="10033"/>
                  </a:lnTo>
                  <a:lnTo>
                    <a:pt x="4288498" y="11430"/>
                  </a:lnTo>
                  <a:lnTo>
                    <a:pt x="4287736" y="11430"/>
                  </a:lnTo>
                  <a:lnTo>
                    <a:pt x="4288498" y="11620"/>
                  </a:lnTo>
                  <a:lnTo>
                    <a:pt x="4296918" y="13741"/>
                  </a:lnTo>
                  <a:lnTo>
                    <a:pt x="4305262" y="16764"/>
                  </a:lnTo>
                  <a:lnTo>
                    <a:pt x="4313644" y="20574"/>
                  </a:lnTo>
                  <a:lnTo>
                    <a:pt x="4312882" y="20574"/>
                  </a:lnTo>
                  <a:lnTo>
                    <a:pt x="4313644" y="21031"/>
                  </a:lnTo>
                  <a:lnTo>
                    <a:pt x="4320502" y="25146"/>
                  </a:lnTo>
                  <a:lnTo>
                    <a:pt x="4328122" y="30480"/>
                  </a:lnTo>
                  <a:lnTo>
                    <a:pt x="4327360" y="30480"/>
                  </a:lnTo>
                  <a:lnTo>
                    <a:pt x="4328122" y="31165"/>
                  </a:lnTo>
                  <a:lnTo>
                    <a:pt x="4334218" y="36576"/>
                  </a:lnTo>
                  <a:lnTo>
                    <a:pt x="4340314" y="43434"/>
                  </a:lnTo>
                  <a:lnTo>
                    <a:pt x="4339552" y="42672"/>
                  </a:lnTo>
                  <a:lnTo>
                    <a:pt x="4340314" y="43624"/>
                  </a:lnTo>
                  <a:lnTo>
                    <a:pt x="4345648" y="50292"/>
                  </a:lnTo>
                  <a:lnTo>
                    <a:pt x="4344886" y="49530"/>
                  </a:lnTo>
                  <a:lnTo>
                    <a:pt x="4345648" y="50736"/>
                  </a:lnTo>
                  <a:lnTo>
                    <a:pt x="4350220" y="57912"/>
                  </a:lnTo>
                  <a:lnTo>
                    <a:pt x="4349458" y="57150"/>
                  </a:lnTo>
                  <a:lnTo>
                    <a:pt x="4350220" y="58547"/>
                  </a:lnTo>
                  <a:lnTo>
                    <a:pt x="4354030" y="65532"/>
                  </a:lnTo>
                  <a:lnTo>
                    <a:pt x="4353268" y="65532"/>
                  </a:lnTo>
                  <a:lnTo>
                    <a:pt x="4354030" y="67208"/>
                  </a:lnTo>
                  <a:lnTo>
                    <a:pt x="4357078" y="73914"/>
                  </a:lnTo>
                  <a:lnTo>
                    <a:pt x="4356316" y="73914"/>
                  </a:lnTo>
                  <a:lnTo>
                    <a:pt x="4357078" y="76212"/>
                  </a:lnTo>
                  <a:lnTo>
                    <a:pt x="4359364" y="83058"/>
                  </a:lnTo>
                  <a:lnTo>
                    <a:pt x="4358602" y="82296"/>
                  </a:lnTo>
                  <a:lnTo>
                    <a:pt x="4359364" y="87249"/>
                  </a:lnTo>
                  <a:lnTo>
                    <a:pt x="4360126" y="92202"/>
                  </a:lnTo>
                  <a:lnTo>
                    <a:pt x="4360126" y="91440"/>
                  </a:lnTo>
                  <a:lnTo>
                    <a:pt x="4360888" y="101346"/>
                  </a:lnTo>
                  <a:lnTo>
                    <a:pt x="4360888" y="484632"/>
                  </a:lnTo>
                  <a:lnTo>
                    <a:pt x="4360126" y="494538"/>
                  </a:lnTo>
                  <a:lnTo>
                    <a:pt x="4358602" y="503682"/>
                  </a:lnTo>
                  <a:lnTo>
                    <a:pt x="4359364" y="503682"/>
                  </a:lnTo>
                  <a:lnTo>
                    <a:pt x="4356316" y="512826"/>
                  </a:lnTo>
                  <a:lnTo>
                    <a:pt x="4357078" y="512064"/>
                  </a:lnTo>
                  <a:lnTo>
                    <a:pt x="4355808" y="515112"/>
                  </a:lnTo>
                  <a:lnTo>
                    <a:pt x="4357078" y="515112"/>
                  </a:lnTo>
                  <a:lnTo>
                    <a:pt x="4359364" y="515112"/>
                  </a:lnTo>
                  <a:lnTo>
                    <a:pt x="4360888" y="515112"/>
                  </a:lnTo>
                  <a:lnTo>
                    <a:pt x="4366222" y="515112"/>
                  </a:lnTo>
                  <a:lnTo>
                    <a:pt x="4368508" y="505206"/>
                  </a:lnTo>
                  <a:lnTo>
                    <a:pt x="4370032" y="495300"/>
                  </a:lnTo>
                  <a:lnTo>
                    <a:pt x="4370032" y="90678"/>
                  </a:lnTo>
                  <a:close/>
                </a:path>
              </a:pathLst>
            </a:custGeom>
            <a:solidFill>
              <a:srgbClr val="000000"/>
            </a:solidFill>
          </p:spPr>
          <p:txBody>
            <a:bodyPr wrap="square" lIns="0" tIns="0" rIns="0" bIns="0" rtlCol="0"/>
            <a:lstStyle/>
            <a:p>
              <a:endParaRPr/>
            </a:p>
          </p:txBody>
        </p:sp>
      </p:grpSp>
      <p:sp>
        <p:nvSpPr>
          <p:cNvPr id="6" name="object 6"/>
          <p:cNvSpPr txBox="1"/>
          <p:nvPr/>
        </p:nvSpPr>
        <p:spPr>
          <a:xfrm>
            <a:off x="6888733" y="1961642"/>
            <a:ext cx="2049780" cy="452120"/>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Arial"/>
                <a:cs typeface="Arial"/>
              </a:rPr>
              <a:t>Knowledge on</a:t>
            </a:r>
            <a:r>
              <a:rPr sz="1400" spc="-55" dirty="0">
                <a:latin typeface="Arial"/>
                <a:cs typeface="Arial"/>
              </a:rPr>
              <a:t> </a:t>
            </a:r>
            <a:r>
              <a:rPr sz="1400" spc="-5" dirty="0">
                <a:latin typeface="Arial"/>
                <a:cs typeface="Arial"/>
              </a:rPr>
              <a:t>knowledge  (e.g., how/when to</a:t>
            </a:r>
            <a:r>
              <a:rPr sz="1400" spc="-55" dirty="0">
                <a:latin typeface="Arial"/>
                <a:cs typeface="Arial"/>
              </a:rPr>
              <a:t> </a:t>
            </a:r>
            <a:r>
              <a:rPr sz="1400" spc="-5" dirty="0">
                <a:latin typeface="Arial"/>
                <a:cs typeface="Arial"/>
              </a:rPr>
              <a:t>apply)</a:t>
            </a:r>
            <a:endParaRPr sz="1400">
              <a:latin typeface="Arial"/>
              <a:cs typeface="Arial"/>
            </a:endParaRPr>
          </a:p>
        </p:txBody>
      </p:sp>
      <p:grpSp>
        <p:nvGrpSpPr>
          <p:cNvPr id="7" name="object 7"/>
          <p:cNvGrpSpPr/>
          <p:nvPr/>
        </p:nvGrpSpPr>
        <p:grpSpPr>
          <a:xfrm>
            <a:off x="3245357" y="2052827"/>
            <a:ext cx="5996940" cy="2321560"/>
            <a:chOff x="3245357" y="2052827"/>
            <a:chExt cx="5996940" cy="2321560"/>
          </a:xfrm>
        </p:grpSpPr>
        <p:sp>
          <p:nvSpPr>
            <p:cNvPr id="8" name="object 8"/>
            <p:cNvSpPr/>
            <p:nvPr/>
          </p:nvSpPr>
          <p:spPr>
            <a:xfrm>
              <a:off x="4191538" y="2415539"/>
              <a:ext cx="1751523" cy="979169"/>
            </a:xfrm>
            <a:prstGeom prst="rect">
              <a:avLst/>
            </a:prstGeom>
            <a:blipFill>
              <a:blip r:embed="rId3" cstate="print"/>
              <a:stretch>
                <a:fillRect/>
              </a:stretch>
            </a:blipFill>
          </p:spPr>
          <p:txBody>
            <a:bodyPr wrap="square" lIns="0" tIns="0" rIns="0" bIns="0" rtlCol="0"/>
            <a:lstStyle/>
            <a:p>
              <a:endParaRPr/>
            </a:p>
          </p:txBody>
        </p:sp>
        <p:sp>
          <p:nvSpPr>
            <p:cNvPr id="9" name="object 9"/>
            <p:cNvSpPr/>
            <p:nvPr/>
          </p:nvSpPr>
          <p:spPr>
            <a:xfrm>
              <a:off x="4186390" y="2415539"/>
              <a:ext cx="5055870" cy="979169"/>
            </a:xfrm>
            <a:custGeom>
              <a:avLst/>
              <a:gdLst/>
              <a:ahLst/>
              <a:cxnLst/>
              <a:rect l="l" t="t" r="r" b="b"/>
              <a:pathLst>
                <a:path w="5055870" h="979170">
                  <a:moveTo>
                    <a:pt x="618261" y="12"/>
                  </a:moveTo>
                  <a:lnTo>
                    <a:pt x="606628" y="12"/>
                  </a:lnTo>
                  <a:lnTo>
                    <a:pt x="0" y="979170"/>
                  </a:lnTo>
                  <a:lnTo>
                    <a:pt x="11607" y="979170"/>
                  </a:lnTo>
                  <a:lnTo>
                    <a:pt x="618261" y="12"/>
                  </a:lnTo>
                  <a:close/>
                </a:path>
                <a:path w="5055870" h="979170">
                  <a:moveTo>
                    <a:pt x="4972850" y="0"/>
                  </a:moveTo>
                  <a:lnTo>
                    <a:pt x="4962436" y="0"/>
                  </a:lnTo>
                  <a:lnTo>
                    <a:pt x="4959896" y="6096"/>
                  </a:lnTo>
                  <a:lnTo>
                    <a:pt x="4960658" y="5334"/>
                  </a:lnTo>
                  <a:lnTo>
                    <a:pt x="4956086" y="13716"/>
                  </a:lnTo>
                  <a:lnTo>
                    <a:pt x="4956848" y="13716"/>
                  </a:lnTo>
                  <a:lnTo>
                    <a:pt x="4951514" y="21336"/>
                  </a:lnTo>
                  <a:lnTo>
                    <a:pt x="4952276" y="20574"/>
                  </a:lnTo>
                  <a:lnTo>
                    <a:pt x="4946180" y="28194"/>
                  </a:lnTo>
                  <a:lnTo>
                    <a:pt x="4946942" y="28194"/>
                  </a:lnTo>
                  <a:lnTo>
                    <a:pt x="4940846" y="35052"/>
                  </a:lnTo>
                  <a:lnTo>
                    <a:pt x="4940846" y="34290"/>
                  </a:lnTo>
                  <a:lnTo>
                    <a:pt x="4933988" y="40386"/>
                  </a:lnTo>
                  <a:lnTo>
                    <a:pt x="4934750" y="40386"/>
                  </a:lnTo>
                  <a:lnTo>
                    <a:pt x="4927130" y="45720"/>
                  </a:lnTo>
                  <a:lnTo>
                    <a:pt x="4919510" y="50292"/>
                  </a:lnTo>
                  <a:lnTo>
                    <a:pt x="4920272" y="50292"/>
                  </a:lnTo>
                  <a:lnTo>
                    <a:pt x="4911890" y="54102"/>
                  </a:lnTo>
                  <a:lnTo>
                    <a:pt x="4903508" y="57150"/>
                  </a:lnTo>
                  <a:lnTo>
                    <a:pt x="4894364" y="59436"/>
                  </a:lnTo>
                  <a:lnTo>
                    <a:pt x="4895126" y="59436"/>
                  </a:lnTo>
                  <a:lnTo>
                    <a:pt x="4885220" y="60960"/>
                  </a:lnTo>
                  <a:lnTo>
                    <a:pt x="3585248" y="60960"/>
                  </a:lnTo>
                  <a:lnTo>
                    <a:pt x="1644256" y="674293"/>
                  </a:lnTo>
                  <a:lnTo>
                    <a:pt x="2991650" y="71196"/>
                  </a:lnTo>
                  <a:lnTo>
                    <a:pt x="3014510" y="60960"/>
                  </a:lnTo>
                  <a:lnTo>
                    <a:pt x="2683040" y="60960"/>
                  </a:lnTo>
                  <a:lnTo>
                    <a:pt x="2682278" y="60845"/>
                  </a:lnTo>
                  <a:lnTo>
                    <a:pt x="2673134" y="59436"/>
                  </a:lnTo>
                  <a:lnTo>
                    <a:pt x="2673896" y="59436"/>
                  </a:lnTo>
                  <a:lnTo>
                    <a:pt x="2664752" y="57150"/>
                  </a:lnTo>
                  <a:lnTo>
                    <a:pt x="2656370" y="54102"/>
                  </a:lnTo>
                  <a:lnTo>
                    <a:pt x="2647988" y="50292"/>
                  </a:lnTo>
                  <a:lnTo>
                    <a:pt x="2648750" y="50292"/>
                  </a:lnTo>
                  <a:lnTo>
                    <a:pt x="2640368" y="45720"/>
                  </a:lnTo>
                  <a:lnTo>
                    <a:pt x="2641130" y="45720"/>
                  </a:lnTo>
                  <a:lnTo>
                    <a:pt x="2633510" y="40386"/>
                  </a:lnTo>
                  <a:lnTo>
                    <a:pt x="2634272" y="40386"/>
                  </a:lnTo>
                  <a:lnTo>
                    <a:pt x="2627414" y="34290"/>
                  </a:lnTo>
                  <a:lnTo>
                    <a:pt x="2627414" y="35052"/>
                  </a:lnTo>
                  <a:lnTo>
                    <a:pt x="2621318" y="28194"/>
                  </a:lnTo>
                  <a:lnTo>
                    <a:pt x="2615984" y="20574"/>
                  </a:lnTo>
                  <a:lnTo>
                    <a:pt x="2615984" y="21336"/>
                  </a:lnTo>
                  <a:lnTo>
                    <a:pt x="2611412" y="13716"/>
                  </a:lnTo>
                  <a:lnTo>
                    <a:pt x="2607602" y="5334"/>
                  </a:lnTo>
                  <a:lnTo>
                    <a:pt x="2607602" y="6096"/>
                  </a:lnTo>
                  <a:lnTo>
                    <a:pt x="2605570" y="0"/>
                  </a:lnTo>
                  <a:lnTo>
                    <a:pt x="2596604" y="0"/>
                  </a:lnTo>
                  <a:lnTo>
                    <a:pt x="2597315" y="2959"/>
                  </a:lnTo>
                  <a:lnTo>
                    <a:pt x="2608923" y="27495"/>
                  </a:lnTo>
                  <a:lnTo>
                    <a:pt x="2624480" y="45834"/>
                  </a:lnTo>
                  <a:lnTo>
                    <a:pt x="2633510" y="51841"/>
                  </a:lnTo>
                  <a:lnTo>
                    <a:pt x="2640368" y="56400"/>
                  </a:lnTo>
                  <a:lnTo>
                    <a:pt x="2643962" y="58801"/>
                  </a:lnTo>
                  <a:lnTo>
                    <a:pt x="2647988" y="60248"/>
                  </a:lnTo>
                  <a:lnTo>
                    <a:pt x="2667330" y="67221"/>
                  </a:lnTo>
                  <a:lnTo>
                    <a:pt x="2673134" y="68224"/>
                  </a:lnTo>
                  <a:lnTo>
                    <a:pt x="2694584" y="71945"/>
                  </a:lnTo>
                  <a:lnTo>
                    <a:pt x="2725674" y="73787"/>
                  </a:lnTo>
                  <a:lnTo>
                    <a:pt x="2760586" y="73583"/>
                  </a:lnTo>
                  <a:lnTo>
                    <a:pt x="2799308" y="72161"/>
                  </a:lnTo>
                  <a:lnTo>
                    <a:pt x="2841790" y="70345"/>
                  </a:lnTo>
                  <a:lnTo>
                    <a:pt x="2888030" y="68973"/>
                  </a:lnTo>
                  <a:lnTo>
                    <a:pt x="2937980" y="68872"/>
                  </a:lnTo>
                  <a:lnTo>
                    <a:pt x="2971381" y="70116"/>
                  </a:lnTo>
                  <a:lnTo>
                    <a:pt x="1583664" y="691222"/>
                  </a:lnTo>
                  <a:lnTo>
                    <a:pt x="1155280" y="0"/>
                  </a:lnTo>
                  <a:lnTo>
                    <a:pt x="1144308" y="0"/>
                  </a:lnTo>
                  <a:lnTo>
                    <a:pt x="1574965" y="695121"/>
                  </a:lnTo>
                  <a:lnTo>
                    <a:pt x="1566799" y="698766"/>
                  </a:lnTo>
                  <a:lnTo>
                    <a:pt x="1564424" y="699516"/>
                  </a:lnTo>
                  <a:lnTo>
                    <a:pt x="1564513" y="699795"/>
                  </a:lnTo>
                  <a:lnTo>
                    <a:pt x="1529372" y="715518"/>
                  </a:lnTo>
                  <a:lnTo>
                    <a:pt x="1530896" y="720090"/>
                  </a:lnTo>
                  <a:lnTo>
                    <a:pt x="1567434" y="708558"/>
                  </a:lnTo>
                  <a:lnTo>
                    <a:pt x="1568348" y="708279"/>
                  </a:lnTo>
                  <a:lnTo>
                    <a:pt x="1580705" y="704380"/>
                  </a:lnTo>
                  <a:lnTo>
                    <a:pt x="1750961" y="979170"/>
                  </a:lnTo>
                  <a:lnTo>
                    <a:pt x="1762125" y="979170"/>
                  </a:lnTo>
                  <a:lnTo>
                    <a:pt x="1590001" y="701446"/>
                  </a:lnTo>
                  <a:lnTo>
                    <a:pt x="3586010" y="71348"/>
                  </a:lnTo>
                  <a:lnTo>
                    <a:pt x="3587534" y="70866"/>
                  </a:lnTo>
                  <a:lnTo>
                    <a:pt x="4876076" y="70866"/>
                  </a:lnTo>
                  <a:lnTo>
                    <a:pt x="4885982" y="70167"/>
                  </a:lnTo>
                  <a:lnTo>
                    <a:pt x="4924082" y="58674"/>
                  </a:lnTo>
                  <a:lnTo>
                    <a:pt x="4946942" y="41757"/>
                  </a:lnTo>
                  <a:lnTo>
                    <a:pt x="4952276" y="35814"/>
                  </a:lnTo>
                  <a:lnTo>
                    <a:pt x="4956848" y="30708"/>
                  </a:lnTo>
                  <a:lnTo>
                    <a:pt x="4957292" y="30213"/>
                  </a:lnTo>
                  <a:lnTo>
                    <a:pt x="4960658" y="24803"/>
                  </a:lnTo>
                  <a:lnTo>
                    <a:pt x="4966132" y="15989"/>
                  </a:lnTo>
                  <a:lnTo>
                    <a:pt x="4972850" y="0"/>
                  </a:lnTo>
                  <a:close/>
                </a:path>
                <a:path w="5055870" h="979170">
                  <a:moveTo>
                    <a:pt x="5055286" y="979170"/>
                  </a:moveTo>
                  <a:lnTo>
                    <a:pt x="5054968" y="950099"/>
                  </a:lnTo>
                  <a:lnTo>
                    <a:pt x="5053215" y="898182"/>
                  </a:lnTo>
                  <a:lnTo>
                    <a:pt x="5048643" y="794219"/>
                  </a:lnTo>
                  <a:lnTo>
                    <a:pt x="5047081" y="742289"/>
                  </a:lnTo>
                  <a:lnTo>
                    <a:pt x="5046853" y="690499"/>
                  </a:lnTo>
                  <a:lnTo>
                    <a:pt x="5048567" y="638886"/>
                  </a:lnTo>
                  <a:lnTo>
                    <a:pt x="5052860" y="587502"/>
                  </a:lnTo>
                  <a:lnTo>
                    <a:pt x="5048326" y="565594"/>
                  </a:lnTo>
                  <a:lnTo>
                    <a:pt x="5031270" y="529399"/>
                  </a:lnTo>
                  <a:lnTo>
                    <a:pt x="4998136" y="496963"/>
                  </a:lnTo>
                  <a:lnTo>
                    <a:pt x="4958461" y="479386"/>
                  </a:lnTo>
                  <a:lnTo>
                    <a:pt x="4934750" y="475488"/>
                  </a:lnTo>
                  <a:lnTo>
                    <a:pt x="2785148" y="475488"/>
                  </a:lnTo>
                  <a:lnTo>
                    <a:pt x="2726817" y="493915"/>
                  </a:lnTo>
                  <a:lnTo>
                    <a:pt x="2695283" y="521627"/>
                  </a:lnTo>
                  <a:lnTo>
                    <a:pt x="2674582" y="558292"/>
                  </a:lnTo>
                  <a:lnTo>
                    <a:pt x="2667038" y="600456"/>
                  </a:lnTo>
                  <a:lnTo>
                    <a:pt x="2667038" y="979170"/>
                  </a:lnTo>
                  <a:lnTo>
                    <a:pt x="2676944" y="979170"/>
                  </a:lnTo>
                  <a:lnTo>
                    <a:pt x="2676944" y="594360"/>
                  </a:lnTo>
                  <a:lnTo>
                    <a:pt x="2677706" y="588264"/>
                  </a:lnTo>
                  <a:lnTo>
                    <a:pt x="2676944" y="589026"/>
                  </a:lnTo>
                  <a:lnTo>
                    <a:pt x="2677706" y="582930"/>
                  </a:lnTo>
                  <a:lnTo>
                    <a:pt x="2679230" y="576834"/>
                  </a:lnTo>
                  <a:lnTo>
                    <a:pt x="2679230" y="577596"/>
                  </a:lnTo>
                  <a:lnTo>
                    <a:pt x="2681516" y="569036"/>
                  </a:lnTo>
                  <a:lnTo>
                    <a:pt x="2682278" y="566166"/>
                  </a:lnTo>
                  <a:lnTo>
                    <a:pt x="2681516" y="566166"/>
                  </a:lnTo>
                  <a:lnTo>
                    <a:pt x="2685326" y="557276"/>
                  </a:lnTo>
                  <a:lnTo>
                    <a:pt x="2686088" y="555498"/>
                  </a:lnTo>
                  <a:lnTo>
                    <a:pt x="2685326" y="555498"/>
                  </a:lnTo>
                  <a:lnTo>
                    <a:pt x="2690660" y="544830"/>
                  </a:lnTo>
                  <a:lnTo>
                    <a:pt x="2690660" y="545592"/>
                  </a:lnTo>
                  <a:lnTo>
                    <a:pt x="2695994" y="536930"/>
                  </a:lnTo>
                  <a:lnTo>
                    <a:pt x="2696756" y="535686"/>
                  </a:lnTo>
                  <a:lnTo>
                    <a:pt x="2695994" y="536448"/>
                  </a:lnTo>
                  <a:lnTo>
                    <a:pt x="2702852" y="526542"/>
                  </a:lnTo>
                  <a:lnTo>
                    <a:pt x="2702852" y="527304"/>
                  </a:lnTo>
                  <a:lnTo>
                    <a:pt x="2710472" y="518922"/>
                  </a:lnTo>
                  <a:lnTo>
                    <a:pt x="2718092" y="512000"/>
                  </a:lnTo>
                  <a:lnTo>
                    <a:pt x="2718854" y="511302"/>
                  </a:lnTo>
                  <a:lnTo>
                    <a:pt x="2718092" y="511302"/>
                  </a:lnTo>
                  <a:lnTo>
                    <a:pt x="2727998" y="504444"/>
                  </a:lnTo>
                  <a:lnTo>
                    <a:pt x="2727236" y="505206"/>
                  </a:lnTo>
                  <a:lnTo>
                    <a:pt x="2727998" y="504748"/>
                  </a:lnTo>
                  <a:lnTo>
                    <a:pt x="2736380" y="499579"/>
                  </a:lnTo>
                  <a:lnTo>
                    <a:pt x="2737142" y="499110"/>
                  </a:lnTo>
                  <a:lnTo>
                    <a:pt x="2736380" y="499110"/>
                  </a:lnTo>
                  <a:lnTo>
                    <a:pt x="2747048" y="493776"/>
                  </a:lnTo>
                  <a:lnTo>
                    <a:pt x="2747048" y="494538"/>
                  </a:lnTo>
                  <a:lnTo>
                    <a:pt x="2757716" y="489966"/>
                  </a:lnTo>
                  <a:lnTo>
                    <a:pt x="2757716" y="490728"/>
                  </a:lnTo>
                  <a:lnTo>
                    <a:pt x="2768384" y="487883"/>
                  </a:lnTo>
                  <a:lnTo>
                    <a:pt x="2769146" y="487680"/>
                  </a:lnTo>
                  <a:lnTo>
                    <a:pt x="2768384" y="487680"/>
                  </a:lnTo>
                  <a:lnTo>
                    <a:pt x="2774480" y="486156"/>
                  </a:lnTo>
                  <a:lnTo>
                    <a:pt x="2780576" y="485394"/>
                  </a:lnTo>
                  <a:lnTo>
                    <a:pt x="2779814" y="486156"/>
                  </a:lnTo>
                  <a:lnTo>
                    <a:pt x="2780576" y="486156"/>
                  </a:lnTo>
                  <a:lnTo>
                    <a:pt x="2880283" y="485851"/>
                  </a:lnTo>
                  <a:lnTo>
                    <a:pt x="2980779" y="485597"/>
                  </a:lnTo>
                  <a:lnTo>
                    <a:pt x="3081286" y="485419"/>
                  </a:lnTo>
                  <a:lnTo>
                    <a:pt x="3181794" y="485292"/>
                  </a:lnTo>
                  <a:lnTo>
                    <a:pt x="3684422" y="485343"/>
                  </a:lnTo>
                  <a:lnTo>
                    <a:pt x="4438383" y="486194"/>
                  </a:lnTo>
                  <a:lnTo>
                    <a:pt x="4940084" y="486168"/>
                  </a:lnTo>
                  <a:lnTo>
                    <a:pt x="4940846" y="486156"/>
                  </a:lnTo>
                  <a:lnTo>
                    <a:pt x="4940084" y="485394"/>
                  </a:lnTo>
                  <a:lnTo>
                    <a:pt x="4946180" y="486156"/>
                  </a:lnTo>
                  <a:lnTo>
                    <a:pt x="4952276" y="487680"/>
                  </a:lnTo>
                  <a:lnTo>
                    <a:pt x="4951514" y="487680"/>
                  </a:lnTo>
                  <a:lnTo>
                    <a:pt x="4952276" y="487883"/>
                  </a:lnTo>
                  <a:lnTo>
                    <a:pt x="4962944" y="490728"/>
                  </a:lnTo>
                  <a:lnTo>
                    <a:pt x="4962944" y="489966"/>
                  </a:lnTo>
                  <a:lnTo>
                    <a:pt x="4972850" y="494220"/>
                  </a:lnTo>
                  <a:lnTo>
                    <a:pt x="4973612" y="494538"/>
                  </a:lnTo>
                  <a:lnTo>
                    <a:pt x="4972850" y="493776"/>
                  </a:lnTo>
                  <a:lnTo>
                    <a:pt x="4983518" y="499110"/>
                  </a:lnTo>
                  <a:lnTo>
                    <a:pt x="4992662" y="504748"/>
                  </a:lnTo>
                  <a:lnTo>
                    <a:pt x="4993424" y="505206"/>
                  </a:lnTo>
                  <a:lnTo>
                    <a:pt x="4992662" y="504444"/>
                  </a:lnTo>
                  <a:lnTo>
                    <a:pt x="5001806" y="511302"/>
                  </a:lnTo>
                  <a:lnTo>
                    <a:pt x="5010188" y="518922"/>
                  </a:lnTo>
                  <a:lnTo>
                    <a:pt x="5017808" y="527304"/>
                  </a:lnTo>
                  <a:lnTo>
                    <a:pt x="5017046" y="526542"/>
                  </a:lnTo>
                  <a:lnTo>
                    <a:pt x="5017808" y="527646"/>
                  </a:lnTo>
                  <a:lnTo>
                    <a:pt x="5023904" y="536448"/>
                  </a:lnTo>
                  <a:lnTo>
                    <a:pt x="5023904" y="535686"/>
                  </a:lnTo>
                  <a:lnTo>
                    <a:pt x="5030000" y="545592"/>
                  </a:lnTo>
                  <a:lnTo>
                    <a:pt x="5030000" y="544830"/>
                  </a:lnTo>
                  <a:lnTo>
                    <a:pt x="5034572" y="555498"/>
                  </a:lnTo>
                  <a:lnTo>
                    <a:pt x="5038382" y="566166"/>
                  </a:lnTo>
                  <a:lnTo>
                    <a:pt x="5041430" y="577596"/>
                  </a:lnTo>
                  <a:lnTo>
                    <a:pt x="5041430" y="576834"/>
                  </a:lnTo>
                  <a:lnTo>
                    <a:pt x="5042954" y="589026"/>
                  </a:lnTo>
                  <a:lnTo>
                    <a:pt x="5042954" y="588264"/>
                  </a:lnTo>
                  <a:lnTo>
                    <a:pt x="5044110" y="638390"/>
                  </a:lnTo>
                  <a:lnTo>
                    <a:pt x="5044491" y="799541"/>
                  </a:lnTo>
                  <a:lnTo>
                    <a:pt x="5043208" y="979170"/>
                  </a:lnTo>
                  <a:lnTo>
                    <a:pt x="5044935" y="979170"/>
                  </a:lnTo>
                  <a:lnTo>
                    <a:pt x="5046853" y="979170"/>
                  </a:lnTo>
                  <a:lnTo>
                    <a:pt x="5055286" y="979170"/>
                  </a:lnTo>
                  <a:close/>
                </a:path>
              </a:pathLst>
            </a:custGeom>
            <a:solidFill>
              <a:srgbClr val="000000"/>
            </a:solidFill>
          </p:spPr>
          <p:txBody>
            <a:bodyPr wrap="square" lIns="0" tIns="0" rIns="0" bIns="0" rtlCol="0"/>
            <a:lstStyle/>
            <a:p>
              <a:endParaRPr/>
            </a:p>
          </p:txBody>
        </p:sp>
        <p:sp>
          <p:nvSpPr>
            <p:cNvPr id="10" name="object 10"/>
            <p:cNvSpPr/>
            <p:nvPr/>
          </p:nvSpPr>
          <p:spPr>
            <a:xfrm>
              <a:off x="3584878" y="3394710"/>
              <a:ext cx="2964842" cy="979170"/>
            </a:xfrm>
            <a:prstGeom prst="rect">
              <a:avLst/>
            </a:prstGeom>
            <a:blipFill>
              <a:blip r:embed="rId4" cstate="print"/>
              <a:stretch>
                <a:fillRect/>
              </a:stretch>
            </a:blipFill>
          </p:spPr>
          <p:txBody>
            <a:bodyPr wrap="square" lIns="0" tIns="0" rIns="0" bIns="0" rtlCol="0"/>
            <a:lstStyle/>
            <a:p>
              <a:endParaRPr/>
            </a:p>
          </p:txBody>
        </p:sp>
        <p:sp>
          <p:nvSpPr>
            <p:cNvPr id="11" name="object 11"/>
            <p:cNvSpPr/>
            <p:nvPr/>
          </p:nvSpPr>
          <p:spPr>
            <a:xfrm>
              <a:off x="3245358" y="2052827"/>
              <a:ext cx="3310254" cy="2321560"/>
            </a:xfrm>
            <a:custGeom>
              <a:avLst/>
              <a:gdLst/>
              <a:ahLst/>
              <a:cxnLst/>
              <a:rect l="l" t="t" r="r" b="b"/>
              <a:pathLst>
                <a:path w="3310254" h="2321560">
                  <a:moveTo>
                    <a:pt x="291846" y="0"/>
                  </a:moveTo>
                  <a:lnTo>
                    <a:pt x="227317" y="16827"/>
                  </a:lnTo>
                  <a:lnTo>
                    <a:pt x="176784" y="60960"/>
                  </a:lnTo>
                  <a:lnTo>
                    <a:pt x="152806" y="108851"/>
                  </a:lnTo>
                  <a:lnTo>
                    <a:pt x="141897" y="175729"/>
                  </a:lnTo>
                  <a:lnTo>
                    <a:pt x="137452" y="226491"/>
                  </a:lnTo>
                  <a:lnTo>
                    <a:pt x="134315" y="277901"/>
                  </a:lnTo>
                  <a:lnTo>
                    <a:pt x="132359" y="329793"/>
                  </a:lnTo>
                  <a:lnTo>
                    <a:pt x="131762" y="362712"/>
                  </a:lnTo>
                  <a:lnTo>
                    <a:pt x="131406" y="382028"/>
                  </a:lnTo>
                  <a:lnTo>
                    <a:pt x="131305" y="434454"/>
                  </a:lnTo>
                  <a:lnTo>
                    <a:pt x="131914" y="486930"/>
                  </a:lnTo>
                  <a:lnTo>
                    <a:pt x="142709" y="843343"/>
                  </a:lnTo>
                  <a:lnTo>
                    <a:pt x="143332" y="890943"/>
                  </a:lnTo>
                  <a:lnTo>
                    <a:pt x="143256" y="937260"/>
                  </a:lnTo>
                  <a:lnTo>
                    <a:pt x="127774" y="1002220"/>
                  </a:lnTo>
                  <a:lnTo>
                    <a:pt x="87630" y="1055370"/>
                  </a:lnTo>
                  <a:lnTo>
                    <a:pt x="52565" y="1077226"/>
                  </a:lnTo>
                  <a:lnTo>
                    <a:pt x="12192" y="1086612"/>
                  </a:lnTo>
                  <a:lnTo>
                    <a:pt x="4572" y="1086612"/>
                  </a:lnTo>
                  <a:lnTo>
                    <a:pt x="1524" y="1088136"/>
                  </a:lnTo>
                  <a:lnTo>
                    <a:pt x="0" y="1091946"/>
                  </a:lnTo>
                  <a:lnTo>
                    <a:pt x="1524" y="1094994"/>
                  </a:lnTo>
                  <a:lnTo>
                    <a:pt x="4572" y="1096518"/>
                  </a:lnTo>
                  <a:lnTo>
                    <a:pt x="12192" y="1096606"/>
                  </a:lnTo>
                  <a:lnTo>
                    <a:pt x="18288" y="1097280"/>
                  </a:lnTo>
                  <a:lnTo>
                    <a:pt x="59143" y="1108849"/>
                  </a:lnTo>
                  <a:lnTo>
                    <a:pt x="92964" y="1131570"/>
                  </a:lnTo>
                  <a:lnTo>
                    <a:pt x="130619" y="1187399"/>
                  </a:lnTo>
                  <a:lnTo>
                    <a:pt x="143256" y="1253490"/>
                  </a:lnTo>
                  <a:lnTo>
                    <a:pt x="143256" y="1341882"/>
                  </a:lnTo>
                  <a:lnTo>
                    <a:pt x="153162" y="1341882"/>
                  </a:lnTo>
                  <a:lnTo>
                    <a:pt x="153162" y="1253490"/>
                  </a:lnTo>
                  <a:lnTo>
                    <a:pt x="146418" y="1203667"/>
                  </a:lnTo>
                  <a:lnTo>
                    <a:pt x="126631" y="1158506"/>
                  </a:lnTo>
                  <a:lnTo>
                    <a:pt x="95338" y="1121562"/>
                  </a:lnTo>
                  <a:lnTo>
                    <a:pt x="54127" y="1096416"/>
                  </a:lnTo>
                  <a:lnTo>
                    <a:pt x="35471" y="1092733"/>
                  </a:lnTo>
                  <a:lnTo>
                    <a:pt x="62191" y="1083297"/>
                  </a:lnTo>
                  <a:lnTo>
                    <a:pt x="109728" y="1047750"/>
                  </a:lnTo>
                  <a:lnTo>
                    <a:pt x="131864" y="1015466"/>
                  </a:lnTo>
                  <a:lnTo>
                    <a:pt x="146304" y="979170"/>
                  </a:lnTo>
                  <a:lnTo>
                    <a:pt x="153162" y="938022"/>
                  </a:lnTo>
                  <a:lnTo>
                    <a:pt x="153162" y="362712"/>
                  </a:lnTo>
                  <a:lnTo>
                    <a:pt x="153162" y="166878"/>
                  </a:lnTo>
                  <a:lnTo>
                    <a:pt x="159156" y="120345"/>
                  </a:lnTo>
                  <a:lnTo>
                    <a:pt x="177596" y="77685"/>
                  </a:lnTo>
                  <a:lnTo>
                    <a:pt x="206921" y="42595"/>
                  </a:lnTo>
                  <a:lnTo>
                    <a:pt x="245529" y="18783"/>
                  </a:lnTo>
                  <a:lnTo>
                    <a:pt x="291846" y="9906"/>
                  </a:lnTo>
                  <a:lnTo>
                    <a:pt x="291846" y="0"/>
                  </a:lnTo>
                  <a:close/>
                </a:path>
                <a:path w="3310254" h="2321560">
                  <a:moveTo>
                    <a:pt x="952639" y="1341882"/>
                  </a:moveTo>
                  <a:lnTo>
                    <a:pt x="941031" y="1341882"/>
                  </a:lnTo>
                  <a:lnTo>
                    <a:pt x="334403" y="2321052"/>
                  </a:lnTo>
                  <a:lnTo>
                    <a:pt x="345973" y="2321052"/>
                  </a:lnTo>
                  <a:lnTo>
                    <a:pt x="952639" y="1341882"/>
                  </a:lnTo>
                  <a:close/>
                </a:path>
                <a:path w="3310254" h="2321560">
                  <a:moveTo>
                    <a:pt x="3309988" y="2321052"/>
                  </a:moveTo>
                  <a:lnTo>
                    <a:pt x="2703157" y="1341882"/>
                  </a:lnTo>
                  <a:lnTo>
                    <a:pt x="2691993" y="1341882"/>
                  </a:lnTo>
                  <a:lnTo>
                    <a:pt x="3298660" y="2321052"/>
                  </a:lnTo>
                  <a:lnTo>
                    <a:pt x="3309988" y="2321052"/>
                  </a:lnTo>
                  <a:close/>
                </a:path>
              </a:pathLst>
            </a:custGeom>
            <a:solidFill>
              <a:srgbClr val="000000"/>
            </a:solidFill>
          </p:spPr>
          <p:txBody>
            <a:bodyPr wrap="square" lIns="0" tIns="0" rIns="0" bIns="0" rtlCol="0"/>
            <a:lstStyle/>
            <a:p>
              <a:endParaRPr/>
            </a:p>
          </p:txBody>
        </p:sp>
      </p:grpSp>
      <p:sp>
        <p:nvSpPr>
          <p:cNvPr id="12" name="object 12"/>
          <p:cNvSpPr txBox="1"/>
          <p:nvPr/>
        </p:nvSpPr>
        <p:spPr>
          <a:xfrm>
            <a:off x="2216911" y="2545333"/>
            <a:ext cx="965200" cy="665480"/>
          </a:xfrm>
          <a:prstGeom prst="rect">
            <a:avLst/>
          </a:prstGeom>
        </p:spPr>
        <p:txBody>
          <a:bodyPr vert="horz" wrap="square" lIns="0" tIns="12065" rIns="0" bIns="0" rtlCol="0">
            <a:spAutoFit/>
          </a:bodyPr>
          <a:lstStyle/>
          <a:p>
            <a:pPr marL="12700" marR="5080" algn="ctr">
              <a:lnSpc>
                <a:spcPct val="100000"/>
              </a:lnSpc>
              <a:spcBef>
                <a:spcPts val="95"/>
              </a:spcBef>
            </a:pPr>
            <a:r>
              <a:rPr sz="1400" spc="-5" dirty="0">
                <a:latin typeface="Arial"/>
                <a:cs typeface="Arial"/>
              </a:rPr>
              <a:t>Knowledge-  based  systems</a:t>
            </a:r>
            <a:endParaRPr sz="1400">
              <a:latin typeface="Arial"/>
              <a:cs typeface="Arial"/>
            </a:endParaRPr>
          </a:p>
        </p:txBody>
      </p:sp>
      <p:sp>
        <p:nvSpPr>
          <p:cNvPr id="13" name="object 13"/>
          <p:cNvSpPr txBox="1"/>
          <p:nvPr/>
        </p:nvSpPr>
        <p:spPr>
          <a:xfrm>
            <a:off x="4213352" y="2766313"/>
            <a:ext cx="1787525" cy="879475"/>
          </a:xfrm>
          <a:prstGeom prst="rect">
            <a:avLst/>
          </a:prstGeom>
        </p:spPr>
        <p:txBody>
          <a:bodyPr vert="horz" wrap="square" lIns="0" tIns="12700" rIns="0" bIns="0" rtlCol="0">
            <a:spAutoFit/>
          </a:bodyPr>
          <a:lstStyle/>
          <a:p>
            <a:pPr marL="12700" marR="5080" indent="425450">
              <a:lnSpc>
                <a:spcPct val="100000"/>
              </a:lnSpc>
              <a:spcBef>
                <a:spcPts val="100"/>
              </a:spcBef>
            </a:pPr>
            <a:r>
              <a:rPr sz="2800" dirty="0">
                <a:latin typeface="Arial"/>
                <a:cs typeface="Arial"/>
              </a:rPr>
              <a:t>Meta-  Knowledge</a:t>
            </a:r>
            <a:endParaRPr sz="2800">
              <a:latin typeface="Arial"/>
              <a:cs typeface="Arial"/>
            </a:endParaRPr>
          </a:p>
        </p:txBody>
      </p:sp>
      <p:sp>
        <p:nvSpPr>
          <p:cNvPr id="14" name="object 14"/>
          <p:cNvSpPr txBox="1"/>
          <p:nvPr/>
        </p:nvSpPr>
        <p:spPr>
          <a:xfrm>
            <a:off x="4213352" y="3772154"/>
            <a:ext cx="178752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Knowledge</a:t>
            </a:r>
            <a:endParaRPr sz="2800">
              <a:latin typeface="Arial"/>
              <a:cs typeface="Arial"/>
            </a:endParaRPr>
          </a:p>
        </p:txBody>
      </p:sp>
      <p:sp>
        <p:nvSpPr>
          <p:cNvPr id="15" name="object 15"/>
          <p:cNvSpPr/>
          <p:nvPr/>
        </p:nvSpPr>
        <p:spPr>
          <a:xfrm>
            <a:off x="3657600" y="3805427"/>
            <a:ext cx="5568315" cy="568960"/>
          </a:xfrm>
          <a:custGeom>
            <a:avLst/>
            <a:gdLst/>
            <a:ahLst/>
            <a:cxnLst/>
            <a:rect l="l" t="t" r="r" b="b"/>
            <a:pathLst>
              <a:path w="5568315" h="568960">
                <a:moveTo>
                  <a:pt x="2543556" y="0"/>
                </a:moveTo>
                <a:lnTo>
                  <a:pt x="304800" y="0"/>
                </a:lnTo>
                <a:lnTo>
                  <a:pt x="304800" y="9906"/>
                </a:lnTo>
                <a:lnTo>
                  <a:pt x="2543556" y="9906"/>
                </a:lnTo>
                <a:lnTo>
                  <a:pt x="2543556" y="0"/>
                </a:lnTo>
                <a:close/>
              </a:path>
              <a:path w="5568315" h="568960">
                <a:moveTo>
                  <a:pt x="2895600" y="533400"/>
                </a:moveTo>
                <a:lnTo>
                  <a:pt x="0" y="533400"/>
                </a:lnTo>
                <a:lnTo>
                  <a:pt x="0" y="543306"/>
                </a:lnTo>
                <a:lnTo>
                  <a:pt x="2895600" y="543306"/>
                </a:lnTo>
                <a:lnTo>
                  <a:pt x="2895600" y="533400"/>
                </a:lnTo>
                <a:close/>
              </a:path>
              <a:path w="5568315" h="568960">
                <a:moveTo>
                  <a:pt x="5567934" y="429768"/>
                </a:moveTo>
                <a:lnTo>
                  <a:pt x="5567172" y="423672"/>
                </a:lnTo>
                <a:lnTo>
                  <a:pt x="5567172" y="416814"/>
                </a:lnTo>
                <a:lnTo>
                  <a:pt x="5566410" y="410718"/>
                </a:lnTo>
                <a:lnTo>
                  <a:pt x="5549760" y="365061"/>
                </a:lnTo>
                <a:lnTo>
                  <a:pt x="5516550" y="329272"/>
                </a:lnTo>
                <a:lnTo>
                  <a:pt x="5468112" y="307848"/>
                </a:lnTo>
                <a:lnTo>
                  <a:pt x="5449062" y="304800"/>
                </a:lnTo>
                <a:lnTo>
                  <a:pt x="3543300" y="304800"/>
                </a:lnTo>
                <a:lnTo>
                  <a:pt x="3495344" y="317182"/>
                </a:lnTo>
                <a:lnTo>
                  <a:pt x="3450894" y="353174"/>
                </a:lnTo>
                <a:lnTo>
                  <a:pt x="3427628" y="402615"/>
                </a:lnTo>
                <a:lnTo>
                  <a:pt x="3424428" y="429768"/>
                </a:lnTo>
                <a:lnTo>
                  <a:pt x="3424428" y="568452"/>
                </a:lnTo>
                <a:lnTo>
                  <a:pt x="3434334" y="568452"/>
                </a:lnTo>
                <a:lnTo>
                  <a:pt x="3434334" y="424434"/>
                </a:lnTo>
                <a:lnTo>
                  <a:pt x="3435096" y="418338"/>
                </a:lnTo>
                <a:lnTo>
                  <a:pt x="3434334" y="418338"/>
                </a:lnTo>
                <a:lnTo>
                  <a:pt x="3435096" y="412242"/>
                </a:lnTo>
                <a:lnTo>
                  <a:pt x="3436620" y="406146"/>
                </a:lnTo>
                <a:lnTo>
                  <a:pt x="3436620" y="406908"/>
                </a:lnTo>
                <a:lnTo>
                  <a:pt x="3438906" y="398348"/>
                </a:lnTo>
                <a:lnTo>
                  <a:pt x="3439668" y="395478"/>
                </a:lnTo>
                <a:lnTo>
                  <a:pt x="3438906" y="395478"/>
                </a:lnTo>
                <a:lnTo>
                  <a:pt x="3442716" y="386588"/>
                </a:lnTo>
                <a:lnTo>
                  <a:pt x="3443478" y="384810"/>
                </a:lnTo>
                <a:lnTo>
                  <a:pt x="3442716" y="385572"/>
                </a:lnTo>
                <a:lnTo>
                  <a:pt x="3448050" y="374904"/>
                </a:lnTo>
                <a:lnTo>
                  <a:pt x="3453384" y="366242"/>
                </a:lnTo>
                <a:lnTo>
                  <a:pt x="3454146" y="364998"/>
                </a:lnTo>
                <a:lnTo>
                  <a:pt x="3453384" y="365760"/>
                </a:lnTo>
                <a:lnTo>
                  <a:pt x="3460242" y="356616"/>
                </a:lnTo>
                <a:lnTo>
                  <a:pt x="3467862" y="348234"/>
                </a:lnTo>
                <a:lnTo>
                  <a:pt x="3476244" y="340614"/>
                </a:lnTo>
                <a:lnTo>
                  <a:pt x="3485388" y="333756"/>
                </a:lnTo>
                <a:lnTo>
                  <a:pt x="3484626" y="334518"/>
                </a:lnTo>
                <a:lnTo>
                  <a:pt x="3485388" y="334060"/>
                </a:lnTo>
                <a:lnTo>
                  <a:pt x="3494532" y="328422"/>
                </a:lnTo>
                <a:lnTo>
                  <a:pt x="3504438" y="323088"/>
                </a:lnTo>
                <a:lnTo>
                  <a:pt x="3504438" y="323850"/>
                </a:lnTo>
                <a:lnTo>
                  <a:pt x="3515106" y="319278"/>
                </a:lnTo>
                <a:lnTo>
                  <a:pt x="3515106" y="320040"/>
                </a:lnTo>
                <a:lnTo>
                  <a:pt x="3525774" y="317195"/>
                </a:lnTo>
                <a:lnTo>
                  <a:pt x="3526536" y="316992"/>
                </a:lnTo>
                <a:lnTo>
                  <a:pt x="3525774" y="316992"/>
                </a:lnTo>
                <a:lnTo>
                  <a:pt x="3531870" y="315468"/>
                </a:lnTo>
                <a:lnTo>
                  <a:pt x="3537966" y="314706"/>
                </a:lnTo>
                <a:lnTo>
                  <a:pt x="3537966" y="315468"/>
                </a:lnTo>
                <a:lnTo>
                  <a:pt x="3543300" y="314807"/>
                </a:lnTo>
                <a:lnTo>
                  <a:pt x="3544049" y="314718"/>
                </a:lnTo>
                <a:lnTo>
                  <a:pt x="5449062" y="314807"/>
                </a:lnTo>
                <a:lnTo>
                  <a:pt x="5454396" y="315468"/>
                </a:lnTo>
                <a:lnTo>
                  <a:pt x="5454396" y="314706"/>
                </a:lnTo>
                <a:lnTo>
                  <a:pt x="5460492" y="315468"/>
                </a:lnTo>
                <a:lnTo>
                  <a:pt x="5465826" y="316992"/>
                </a:lnTo>
                <a:lnTo>
                  <a:pt x="5477256" y="320040"/>
                </a:lnTo>
                <a:lnTo>
                  <a:pt x="5477256" y="319278"/>
                </a:lnTo>
                <a:lnTo>
                  <a:pt x="5487162" y="323532"/>
                </a:lnTo>
                <a:lnTo>
                  <a:pt x="5487924" y="323850"/>
                </a:lnTo>
                <a:lnTo>
                  <a:pt x="5487162" y="323088"/>
                </a:lnTo>
                <a:lnTo>
                  <a:pt x="5497830" y="328422"/>
                </a:lnTo>
                <a:lnTo>
                  <a:pt x="5506974" y="334060"/>
                </a:lnTo>
                <a:lnTo>
                  <a:pt x="5507736" y="334518"/>
                </a:lnTo>
                <a:lnTo>
                  <a:pt x="5506974" y="333756"/>
                </a:lnTo>
                <a:lnTo>
                  <a:pt x="5516118" y="340614"/>
                </a:lnTo>
                <a:lnTo>
                  <a:pt x="5524500" y="348234"/>
                </a:lnTo>
                <a:lnTo>
                  <a:pt x="5532120" y="356616"/>
                </a:lnTo>
                <a:lnTo>
                  <a:pt x="5531358" y="356616"/>
                </a:lnTo>
                <a:lnTo>
                  <a:pt x="5532120" y="357530"/>
                </a:lnTo>
                <a:lnTo>
                  <a:pt x="5538978" y="365760"/>
                </a:lnTo>
                <a:lnTo>
                  <a:pt x="5538216" y="364998"/>
                </a:lnTo>
                <a:lnTo>
                  <a:pt x="5538978" y="366242"/>
                </a:lnTo>
                <a:lnTo>
                  <a:pt x="5544312" y="374904"/>
                </a:lnTo>
                <a:lnTo>
                  <a:pt x="5548884" y="384810"/>
                </a:lnTo>
                <a:lnTo>
                  <a:pt x="5552694" y="395478"/>
                </a:lnTo>
                <a:lnTo>
                  <a:pt x="5555742" y="406908"/>
                </a:lnTo>
                <a:lnTo>
                  <a:pt x="5555742" y="406146"/>
                </a:lnTo>
                <a:lnTo>
                  <a:pt x="5557266" y="418338"/>
                </a:lnTo>
                <a:lnTo>
                  <a:pt x="5557266" y="417576"/>
                </a:lnTo>
                <a:lnTo>
                  <a:pt x="5560060" y="466648"/>
                </a:lnTo>
                <a:lnTo>
                  <a:pt x="5561381" y="516166"/>
                </a:lnTo>
                <a:lnTo>
                  <a:pt x="5561533" y="566445"/>
                </a:lnTo>
                <a:lnTo>
                  <a:pt x="5561508" y="568452"/>
                </a:lnTo>
                <a:lnTo>
                  <a:pt x="5567934" y="568452"/>
                </a:lnTo>
                <a:lnTo>
                  <a:pt x="5567934" y="429768"/>
                </a:lnTo>
                <a:close/>
              </a:path>
            </a:pathLst>
          </a:custGeom>
          <a:solidFill>
            <a:srgbClr val="000000"/>
          </a:solidFill>
        </p:spPr>
        <p:txBody>
          <a:bodyPr wrap="square" lIns="0" tIns="0" rIns="0" bIns="0" rtlCol="0"/>
          <a:lstStyle/>
          <a:p>
            <a:endParaRPr/>
          </a:p>
        </p:txBody>
      </p:sp>
      <p:sp>
        <p:nvSpPr>
          <p:cNvPr id="16" name="object 16"/>
          <p:cNvSpPr txBox="1"/>
          <p:nvPr/>
        </p:nvSpPr>
        <p:spPr>
          <a:xfrm>
            <a:off x="7200392" y="4178300"/>
            <a:ext cx="1750695"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a:cs typeface="Arial"/>
              </a:rPr>
              <a:t>Lower volume.</a:t>
            </a:r>
            <a:r>
              <a:rPr sz="1400" spc="-70" dirty="0">
                <a:latin typeface="Arial"/>
                <a:cs typeface="Arial"/>
              </a:rPr>
              <a:t> </a:t>
            </a:r>
            <a:r>
              <a:rPr sz="1400" spc="-5" dirty="0">
                <a:latin typeface="Arial"/>
                <a:cs typeface="Arial"/>
              </a:rPr>
              <a:t>Higher</a:t>
            </a:r>
            <a:endParaRPr sz="1400">
              <a:latin typeface="Arial"/>
              <a:cs typeface="Arial"/>
            </a:endParaRPr>
          </a:p>
        </p:txBody>
      </p:sp>
      <p:sp>
        <p:nvSpPr>
          <p:cNvPr id="17" name="object 17"/>
          <p:cNvSpPr/>
          <p:nvPr/>
        </p:nvSpPr>
        <p:spPr>
          <a:xfrm>
            <a:off x="6319265" y="3394709"/>
            <a:ext cx="2922905" cy="679450"/>
          </a:xfrm>
          <a:custGeom>
            <a:avLst/>
            <a:gdLst/>
            <a:ahLst/>
            <a:cxnLst/>
            <a:rect l="l" t="t" r="r" b="b"/>
            <a:pathLst>
              <a:path w="2922904" h="679450">
                <a:moveTo>
                  <a:pt x="2807969" y="224790"/>
                </a:moveTo>
                <a:lnTo>
                  <a:pt x="2807969" y="214884"/>
                </a:lnTo>
                <a:lnTo>
                  <a:pt x="2801874" y="215646"/>
                </a:lnTo>
                <a:lnTo>
                  <a:pt x="1528572" y="215646"/>
                </a:lnTo>
                <a:lnTo>
                  <a:pt x="90446" y="641730"/>
                </a:lnTo>
                <a:lnTo>
                  <a:pt x="38100" y="667512"/>
                </a:lnTo>
                <a:lnTo>
                  <a:pt x="34513" y="658904"/>
                </a:lnTo>
                <a:lnTo>
                  <a:pt x="0" y="675894"/>
                </a:lnTo>
                <a:lnTo>
                  <a:pt x="762" y="678942"/>
                </a:lnTo>
                <a:lnTo>
                  <a:pt x="1529334" y="225242"/>
                </a:lnTo>
                <a:lnTo>
                  <a:pt x="1529334" y="224790"/>
                </a:lnTo>
                <a:lnTo>
                  <a:pt x="2807969" y="224790"/>
                </a:lnTo>
                <a:close/>
              </a:path>
              <a:path w="2922904" h="679450">
                <a:moveTo>
                  <a:pt x="37591" y="657389"/>
                </a:moveTo>
                <a:lnTo>
                  <a:pt x="34289" y="658368"/>
                </a:lnTo>
                <a:lnTo>
                  <a:pt x="34513" y="658904"/>
                </a:lnTo>
                <a:lnTo>
                  <a:pt x="37591" y="657389"/>
                </a:lnTo>
                <a:close/>
              </a:path>
              <a:path w="2922904" h="679450">
                <a:moveTo>
                  <a:pt x="90446" y="641730"/>
                </a:moveTo>
                <a:lnTo>
                  <a:pt x="37591" y="657389"/>
                </a:lnTo>
                <a:lnTo>
                  <a:pt x="34513" y="658904"/>
                </a:lnTo>
                <a:lnTo>
                  <a:pt x="38100" y="667512"/>
                </a:lnTo>
                <a:lnTo>
                  <a:pt x="90446" y="641730"/>
                </a:lnTo>
                <a:close/>
              </a:path>
              <a:path w="2922904" h="679450">
                <a:moveTo>
                  <a:pt x="934974" y="225779"/>
                </a:moveTo>
                <a:lnTo>
                  <a:pt x="934974" y="224790"/>
                </a:lnTo>
                <a:lnTo>
                  <a:pt x="916421" y="224790"/>
                </a:lnTo>
                <a:lnTo>
                  <a:pt x="37591" y="657389"/>
                </a:lnTo>
                <a:lnTo>
                  <a:pt x="90446" y="641730"/>
                </a:lnTo>
                <a:lnTo>
                  <a:pt x="934974" y="225779"/>
                </a:lnTo>
                <a:close/>
              </a:path>
              <a:path w="2922904" h="679450">
                <a:moveTo>
                  <a:pt x="549402" y="134874"/>
                </a:moveTo>
                <a:lnTo>
                  <a:pt x="546354" y="123444"/>
                </a:lnTo>
                <a:lnTo>
                  <a:pt x="546354" y="124206"/>
                </a:lnTo>
                <a:lnTo>
                  <a:pt x="544830" y="118110"/>
                </a:lnTo>
                <a:lnTo>
                  <a:pt x="544067" y="112014"/>
                </a:lnTo>
                <a:lnTo>
                  <a:pt x="544067" y="0"/>
                </a:lnTo>
                <a:lnTo>
                  <a:pt x="534162" y="0"/>
                </a:lnTo>
                <a:lnTo>
                  <a:pt x="534162" y="106680"/>
                </a:lnTo>
                <a:lnTo>
                  <a:pt x="534924" y="113538"/>
                </a:lnTo>
                <a:lnTo>
                  <a:pt x="535686" y="119634"/>
                </a:lnTo>
                <a:lnTo>
                  <a:pt x="540258" y="137922"/>
                </a:lnTo>
                <a:lnTo>
                  <a:pt x="545318" y="152174"/>
                </a:lnTo>
                <a:lnTo>
                  <a:pt x="548639" y="158246"/>
                </a:lnTo>
                <a:lnTo>
                  <a:pt x="548639" y="134874"/>
                </a:lnTo>
                <a:lnTo>
                  <a:pt x="549402" y="134874"/>
                </a:lnTo>
                <a:close/>
              </a:path>
              <a:path w="2922904" h="679450">
                <a:moveTo>
                  <a:pt x="544830" y="112776"/>
                </a:moveTo>
                <a:lnTo>
                  <a:pt x="544067" y="106680"/>
                </a:lnTo>
                <a:lnTo>
                  <a:pt x="544067" y="112014"/>
                </a:lnTo>
                <a:lnTo>
                  <a:pt x="544830" y="112776"/>
                </a:lnTo>
                <a:close/>
              </a:path>
              <a:path w="2922904" h="679450">
                <a:moveTo>
                  <a:pt x="553212" y="145542"/>
                </a:moveTo>
                <a:lnTo>
                  <a:pt x="548639" y="134874"/>
                </a:lnTo>
                <a:lnTo>
                  <a:pt x="548639" y="158246"/>
                </a:lnTo>
                <a:lnTo>
                  <a:pt x="552450" y="165211"/>
                </a:lnTo>
                <a:lnTo>
                  <a:pt x="552450" y="144780"/>
                </a:lnTo>
                <a:lnTo>
                  <a:pt x="553212" y="145542"/>
                </a:lnTo>
                <a:close/>
              </a:path>
              <a:path w="2922904" h="679450">
                <a:moveTo>
                  <a:pt x="563880" y="165354"/>
                </a:moveTo>
                <a:lnTo>
                  <a:pt x="557784" y="155448"/>
                </a:lnTo>
                <a:lnTo>
                  <a:pt x="552450" y="144780"/>
                </a:lnTo>
                <a:lnTo>
                  <a:pt x="552454" y="165220"/>
                </a:lnTo>
                <a:lnTo>
                  <a:pt x="561112" y="177380"/>
                </a:lnTo>
                <a:lnTo>
                  <a:pt x="563117" y="179796"/>
                </a:lnTo>
                <a:lnTo>
                  <a:pt x="563117" y="164592"/>
                </a:lnTo>
                <a:lnTo>
                  <a:pt x="563880" y="165354"/>
                </a:lnTo>
                <a:close/>
              </a:path>
              <a:path w="2922904" h="679450">
                <a:moveTo>
                  <a:pt x="585978" y="201602"/>
                </a:moveTo>
                <a:lnTo>
                  <a:pt x="585978" y="189738"/>
                </a:lnTo>
                <a:lnTo>
                  <a:pt x="577595" y="182118"/>
                </a:lnTo>
                <a:lnTo>
                  <a:pt x="569976" y="173736"/>
                </a:lnTo>
                <a:lnTo>
                  <a:pt x="563117" y="164592"/>
                </a:lnTo>
                <a:lnTo>
                  <a:pt x="563117" y="179796"/>
                </a:lnTo>
                <a:lnTo>
                  <a:pt x="570738" y="188976"/>
                </a:lnTo>
                <a:lnTo>
                  <a:pt x="585436" y="201251"/>
                </a:lnTo>
                <a:lnTo>
                  <a:pt x="585978" y="201602"/>
                </a:lnTo>
                <a:close/>
              </a:path>
              <a:path w="2922904" h="679450">
                <a:moveTo>
                  <a:pt x="595122" y="195834"/>
                </a:moveTo>
                <a:lnTo>
                  <a:pt x="585215" y="188976"/>
                </a:lnTo>
                <a:lnTo>
                  <a:pt x="585978" y="189738"/>
                </a:lnTo>
                <a:lnTo>
                  <a:pt x="585978" y="201602"/>
                </a:lnTo>
                <a:lnTo>
                  <a:pt x="594360" y="207046"/>
                </a:lnTo>
                <a:lnTo>
                  <a:pt x="594360" y="195834"/>
                </a:lnTo>
                <a:lnTo>
                  <a:pt x="595122" y="195834"/>
                </a:lnTo>
                <a:close/>
              </a:path>
              <a:path w="2922904" h="679450">
                <a:moveTo>
                  <a:pt x="604265" y="201930"/>
                </a:moveTo>
                <a:lnTo>
                  <a:pt x="594360" y="195834"/>
                </a:lnTo>
                <a:lnTo>
                  <a:pt x="594360" y="207046"/>
                </a:lnTo>
                <a:lnTo>
                  <a:pt x="599755" y="210550"/>
                </a:lnTo>
                <a:lnTo>
                  <a:pt x="603504" y="212204"/>
                </a:lnTo>
                <a:lnTo>
                  <a:pt x="603504" y="201930"/>
                </a:lnTo>
                <a:lnTo>
                  <a:pt x="604265" y="201930"/>
                </a:lnTo>
                <a:close/>
              </a:path>
              <a:path w="2922904" h="679450">
                <a:moveTo>
                  <a:pt x="636269" y="213360"/>
                </a:moveTo>
                <a:lnTo>
                  <a:pt x="624839" y="210312"/>
                </a:lnTo>
                <a:lnTo>
                  <a:pt x="614172" y="206502"/>
                </a:lnTo>
                <a:lnTo>
                  <a:pt x="603504" y="201930"/>
                </a:lnTo>
                <a:lnTo>
                  <a:pt x="603504" y="212204"/>
                </a:lnTo>
                <a:lnTo>
                  <a:pt x="615377" y="217443"/>
                </a:lnTo>
                <a:lnTo>
                  <a:pt x="633984" y="222504"/>
                </a:lnTo>
                <a:lnTo>
                  <a:pt x="635508" y="222885"/>
                </a:lnTo>
                <a:lnTo>
                  <a:pt x="635508" y="213360"/>
                </a:lnTo>
                <a:lnTo>
                  <a:pt x="636269" y="213360"/>
                </a:lnTo>
                <a:close/>
              </a:path>
              <a:path w="2922904" h="679450">
                <a:moveTo>
                  <a:pt x="955548" y="215646"/>
                </a:moveTo>
                <a:lnTo>
                  <a:pt x="653034" y="215646"/>
                </a:lnTo>
                <a:lnTo>
                  <a:pt x="646938" y="214884"/>
                </a:lnTo>
                <a:lnTo>
                  <a:pt x="635508" y="213360"/>
                </a:lnTo>
                <a:lnTo>
                  <a:pt x="635508" y="222885"/>
                </a:lnTo>
                <a:lnTo>
                  <a:pt x="640080" y="224028"/>
                </a:lnTo>
                <a:lnTo>
                  <a:pt x="646176" y="224790"/>
                </a:lnTo>
                <a:lnTo>
                  <a:pt x="916421" y="224790"/>
                </a:lnTo>
                <a:lnTo>
                  <a:pt x="933450" y="216408"/>
                </a:lnTo>
                <a:lnTo>
                  <a:pt x="934974" y="224790"/>
                </a:lnTo>
                <a:lnTo>
                  <a:pt x="934974" y="225779"/>
                </a:lnTo>
                <a:lnTo>
                  <a:pt x="955548" y="215646"/>
                </a:lnTo>
                <a:close/>
              </a:path>
              <a:path w="2922904" h="679450">
                <a:moveTo>
                  <a:pt x="647700" y="214884"/>
                </a:moveTo>
                <a:lnTo>
                  <a:pt x="646938" y="214788"/>
                </a:lnTo>
                <a:lnTo>
                  <a:pt x="647700" y="214884"/>
                </a:lnTo>
                <a:close/>
              </a:path>
              <a:path w="2922904" h="679450">
                <a:moveTo>
                  <a:pt x="934974" y="224790"/>
                </a:moveTo>
                <a:lnTo>
                  <a:pt x="933450" y="216408"/>
                </a:lnTo>
                <a:lnTo>
                  <a:pt x="916421" y="224790"/>
                </a:lnTo>
                <a:lnTo>
                  <a:pt x="934974" y="224790"/>
                </a:lnTo>
                <a:close/>
              </a:path>
              <a:path w="2922904" h="679450">
                <a:moveTo>
                  <a:pt x="1530858" y="224790"/>
                </a:moveTo>
                <a:lnTo>
                  <a:pt x="1529334" y="224790"/>
                </a:lnTo>
                <a:lnTo>
                  <a:pt x="1529334" y="225242"/>
                </a:lnTo>
                <a:lnTo>
                  <a:pt x="1530858" y="224790"/>
                </a:lnTo>
                <a:close/>
              </a:path>
              <a:path w="2922904" h="679450">
                <a:moveTo>
                  <a:pt x="2819400" y="222885"/>
                </a:moveTo>
                <a:lnTo>
                  <a:pt x="2819400" y="213360"/>
                </a:lnTo>
                <a:lnTo>
                  <a:pt x="2807208" y="214884"/>
                </a:lnTo>
                <a:lnTo>
                  <a:pt x="2807969" y="214884"/>
                </a:lnTo>
                <a:lnTo>
                  <a:pt x="2807969" y="224790"/>
                </a:lnTo>
                <a:lnTo>
                  <a:pt x="2808732" y="224790"/>
                </a:lnTo>
                <a:lnTo>
                  <a:pt x="2814828" y="224028"/>
                </a:lnTo>
                <a:lnTo>
                  <a:pt x="2819400" y="222885"/>
                </a:lnTo>
                <a:close/>
              </a:path>
              <a:path w="2922904" h="679450">
                <a:moveTo>
                  <a:pt x="2840736" y="216915"/>
                </a:moveTo>
                <a:lnTo>
                  <a:pt x="2840736" y="206502"/>
                </a:lnTo>
                <a:lnTo>
                  <a:pt x="2830067" y="210312"/>
                </a:lnTo>
                <a:lnTo>
                  <a:pt x="2818638" y="213360"/>
                </a:lnTo>
                <a:lnTo>
                  <a:pt x="2819400" y="213360"/>
                </a:lnTo>
                <a:lnTo>
                  <a:pt x="2819400" y="222885"/>
                </a:lnTo>
                <a:lnTo>
                  <a:pt x="2833116" y="219456"/>
                </a:lnTo>
                <a:lnTo>
                  <a:pt x="2840736" y="216915"/>
                </a:lnTo>
                <a:close/>
              </a:path>
              <a:path w="2922904" h="679450">
                <a:moveTo>
                  <a:pt x="2860548" y="207029"/>
                </a:moveTo>
                <a:lnTo>
                  <a:pt x="2860548" y="195834"/>
                </a:lnTo>
                <a:lnTo>
                  <a:pt x="2850641" y="201930"/>
                </a:lnTo>
                <a:lnTo>
                  <a:pt x="2839974" y="206502"/>
                </a:lnTo>
                <a:lnTo>
                  <a:pt x="2840736" y="206502"/>
                </a:lnTo>
                <a:lnTo>
                  <a:pt x="2840736" y="216915"/>
                </a:lnTo>
                <a:lnTo>
                  <a:pt x="2844545" y="215646"/>
                </a:lnTo>
                <a:lnTo>
                  <a:pt x="2855214" y="210312"/>
                </a:lnTo>
                <a:lnTo>
                  <a:pt x="2860548" y="207029"/>
                </a:lnTo>
                <a:close/>
              </a:path>
              <a:path w="2922904" h="679450">
                <a:moveTo>
                  <a:pt x="2884932" y="187508"/>
                </a:moveTo>
                <a:lnTo>
                  <a:pt x="2884932" y="173736"/>
                </a:lnTo>
                <a:lnTo>
                  <a:pt x="2877312" y="182118"/>
                </a:lnTo>
                <a:lnTo>
                  <a:pt x="2868930" y="189738"/>
                </a:lnTo>
                <a:lnTo>
                  <a:pt x="2868930" y="188976"/>
                </a:lnTo>
                <a:lnTo>
                  <a:pt x="2859786" y="195834"/>
                </a:lnTo>
                <a:lnTo>
                  <a:pt x="2860548" y="195834"/>
                </a:lnTo>
                <a:lnTo>
                  <a:pt x="2860548" y="207029"/>
                </a:lnTo>
                <a:lnTo>
                  <a:pt x="2865119" y="204216"/>
                </a:lnTo>
                <a:lnTo>
                  <a:pt x="2883813" y="188855"/>
                </a:lnTo>
                <a:lnTo>
                  <a:pt x="2884932" y="187508"/>
                </a:lnTo>
                <a:close/>
              </a:path>
              <a:path w="2922904" h="679450">
                <a:moveTo>
                  <a:pt x="2910078" y="150329"/>
                </a:moveTo>
                <a:lnTo>
                  <a:pt x="2910077" y="112021"/>
                </a:lnTo>
                <a:lnTo>
                  <a:pt x="2908554" y="124206"/>
                </a:lnTo>
                <a:lnTo>
                  <a:pt x="2908554" y="123444"/>
                </a:lnTo>
                <a:lnTo>
                  <a:pt x="2905506" y="134874"/>
                </a:lnTo>
                <a:lnTo>
                  <a:pt x="2901695" y="145542"/>
                </a:lnTo>
                <a:lnTo>
                  <a:pt x="2901695" y="144780"/>
                </a:lnTo>
                <a:lnTo>
                  <a:pt x="2897124" y="155448"/>
                </a:lnTo>
                <a:lnTo>
                  <a:pt x="2891028" y="165354"/>
                </a:lnTo>
                <a:lnTo>
                  <a:pt x="2891028" y="164592"/>
                </a:lnTo>
                <a:lnTo>
                  <a:pt x="2884169" y="173736"/>
                </a:lnTo>
                <a:lnTo>
                  <a:pt x="2884932" y="173736"/>
                </a:lnTo>
                <a:lnTo>
                  <a:pt x="2884932" y="187508"/>
                </a:lnTo>
                <a:lnTo>
                  <a:pt x="2899290" y="170211"/>
                </a:lnTo>
                <a:lnTo>
                  <a:pt x="2910078" y="150329"/>
                </a:lnTo>
                <a:close/>
              </a:path>
              <a:path w="2922904" h="679450">
                <a:moveTo>
                  <a:pt x="2922666" y="22730"/>
                </a:moveTo>
                <a:lnTo>
                  <a:pt x="2922419" y="0"/>
                </a:lnTo>
                <a:lnTo>
                  <a:pt x="2910334" y="0"/>
                </a:lnTo>
                <a:lnTo>
                  <a:pt x="2910014" y="62545"/>
                </a:lnTo>
                <a:lnTo>
                  <a:pt x="2910077" y="112021"/>
                </a:lnTo>
                <a:lnTo>
                  <a:pt x="2910078" y="150329"/>
                </a:lnTo>
                <a:lnTo>
                  <a:pt x="2910827" y="148948"/>
                </a:lnTo>
                <a:lnTo>
                  <a:pt x="2917698" y="125730"/>
                </a:lnTo>
                <a:lnTo>
                  <a:pt x="2921407" y="74351"/>
                </a:lnTo>
                <a:lnTo>
                  <a:pt x="2922666" y="22730"/>
                </a:lnTo>
                <a:close/>
              </a:path>
            </a:pathLst>
          </a:custGeom>
          <a:solidFill>
            <a:srgbClr val="000000"/>
          </a:solidFill>
        </p:spPr>
        <p:txBody>
          <a:bodyPr wrap="square" lIns="0" tIns="0" rIns="0" bIns="0" rtlCol="0"/>
          <a:lstStyle/>
          <a:p>
            <a:endParaRPr/>
          </a:p>
        </p:txBody>
      </p:sp>
      <p:sp>
        <p:nvSpPr>
          <p:cNvPr id="18" name="object 18"/>
          <p:cNvSpPr txBox="1"/>
          <p:nvPr/>
        </p:nvSpPr>
        <p:spPr>
          <a:xfrm>
            <a:off x="6971792" y="2959100"/>
            <a:ext cx="2094230" cy="665480"/>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Arial"/>
                <a:cs typeface="Arial"/>
              </a:rPr>
              <a:t>Understanding of a  domain. Can be applied</a:t>
            </a:r>
            <a:r>
              <a:rPr sz="1400" spc="-75" dirty="0">
                <a:latin typeface="Arial"/>
                <a:cs typeface="Arial"/>
              </a:rPr>
              <a:t> </a:t>
            </a:r>
            <a:r>
              <a:rPr sz="1400" spc="-5" dirty="0">
                <a:latin typeface="Arial"/>
                <a:cs typeface="Arial"/>
              </a:rPr>
              <a:t>to  solve</a:t>
            </a:r>
            <a:r>
              <a:rPr sz="1400" spc="-30" dirty="0">
                <a:latin typeface="Arial"/>
                <a:cs typeface="Arial"/>
              </a:rPr>
              <a:t> </a:t>
            </a:r>
            <a:r>
              <a:rPr sz="1400" spc="-5" dirty="0">
                <a:latin typeface="Arial"/>
                <a:cs typeface="Arial"/>
              </a:rPr>
              <a:t>problems</a:t>
            </a:r>
            <a:endParaRPr sz="1400">
              <a:latin typeface="Arial"/>
              <a:cs typeface="Arial"/>
            </a:endParaRPr>
          </a:p>
        </p:txBody>
      </p:sp>
      <p:grpSp>
        <p:nvGrpSpPr>
          <p:cNvPr id="19" name="object 19"/>
          <p:cNvGrpSpPr/>
          <p:nvPr/>
        </p:nvGrpSpPr>
        <p:grpSpPr>
          <a:xfrm>
            <a:off x="457200" y="3394709"/>
            <a:ext cx="9144000" cy="1958339"/>
            <a:chOff x="457200" y="3394709"/>
            <a:chExt cx="9144000" cy="1958339"/>
          </a:xfrm>
        </p:grpSpPr>
        <p:sp>
          <p:nvSpPr>
            <p:cNvPr id="20" name="object 20"/>
            <p:cNvSpPr/>
            <p:nvPr/>
          </p:nvSpPr>
          <p:spPr>
            <a:xfrm>
              <a:off x="1794141" y="3394709"/>
              <a:ext cx="1743075" cy="979169"/>
            </a:xfrm>
            <a:custGeom>
              <a:avLst/>
              <a:gdLst/>
              <a:ahLst/>
              <a:cxnLst/>
              <a:rect l="l" t="t" r="r" b="b"/>
              <a:pathLst>
                <a:path w="1743075" h="979170">
                  <a:moveTo>
                    <a:pt x="111620" y="954024"/>
                  </a:moveTo>
                  <a:lnTo>
                    <a:pt x="110858" y="944118"/>
                  </a:lnTo>
                  <a:lnTo>
                    <a:pt x="80581" y="946264"/>
                  </a:lnTo>
                  <a:lnTo>
                    <a:pt x="49491" y="952754"/>
                  </a:lnTo>
                  <a:lnTo>
                    <a:pt x="20307" y="964463"/>
                  </a:lnTo>
                  <a:lnTo>
                    <a:pt x="0" y="979170"/>
                  </a:lnTo>
                  <a:lnTo>
                    <a:pt x="17411" y="979170"/>
                  </a:lnTo>
                  <a:lnTo>
                    <a:pt x="37122" y="967206"/>
                  </a:lnTo>
                  <a:lnTo>
                    <a:pt x="77203" y="956284"/>
                  </a:lnTo>
                  <a:lnTo>
                    <a:pt x="111620" y="954024"/>
                  </a:lnTo>
                  <a:close/>
                </a:path>
                <a:path w="1743075" h="979170">
                  <a:moveTo>
                    <a:pt x="1743062" y="831342"/>
                  </a:moveTo>
                  <a:lnTo>
                    <a:pt x="1689023" y="819238"/>
                  </a:lnTo>
                  <a:lnTo>
                    <a:pt x="1644764" y="785622"/>
                  </a:lnTo>
                  <a:lnTo>
                    <a:pt x="1616532" y="739152"/>
                  </a:lnTo>
                  <a:lnTo>
                    <a:pt x="1607426" y="705612"/>
                  </a:lnTo>
                  <a:lnTo>
                    <a:pt x="1605902" y="697992"/>
                  </a:lnTo>
                  <a:lnTo>
                    <a:pt x="1604378" y="681990"/>
                  </a:lnTo>
                  <a:lnTo>
                    <a:pt x="1604378" y="0"/>
                  </a:lnTo>
                  <a:lnTo>
                    <a:pt x="1594472" y="0"/>
                  </a:lnTo>
                  <a:lnTo>
                    <a:pt x="1594472" y="674370"/>
                  </a:lnTo>
                  <a:lnTo>
                    <a:pt x="1595234" y="682752"/>
                  </a:lnTo>
                  <a:lnTo>
                    <a:pt x="1595234" y="691134"/>
                  </a:lnTo>
                  <a:lnTo>
                    <a:pt x="1596758" y="699516"/>
                  </a:lnTo>
                  <a:lnTo>
                    <a:pt x="1597520" y="707898"/>
                  </a:lnTo>
                  <a:lnTo>
                    <a:pt x="1599044" y="716280"/>
                  </a:lnTo>
                  <a:lnTo>
                    <a:pt x="1617764" y="763295"/>
                  </a:lnTo>
                  <a:lnTo>
                    <a:pt x="1660525" y="812876"/>
                  </a:lnTo>
                  <a:lnTo>
                    <a:pt x="1712810" y="837666"/>
                  </a:lnTo>
                  <a:lnTo>
                    <a:pt x="1743062" y="841248"/>
                  </a:lnTo>
                  <a:lnTo>
                    <a:pt x="1743062" y="831342"/>
                  </a:lnTo>
                  <a:close/>
                </a:path>
              </a:pathLst>
            </a:custGeom>
            <a:solidFill>
              <a:srgbClr val="000000"/>
            </a:solidFill>
          </p:spPr>
          <p:txBody>
            <a:bodyPr wrap="square" lIns="0" tIns="0" rIns="0" bIns="0" rtlCol="0"/>
            <a:lstStyle/>
            <a:p>
              <a:endParaRPr/>
            </a:p>
          </p:txBody>
        </p:sp>
        <p:sp>
          <p:nvSpPr>
            <p:cNvPr id="21" name="object 21"/>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22" name="object 22"/>
            <p:cNvSpPr/>
            <p:nvPr/>
          </p:nvSpPr>
          <p:spPr>
            <a:xfrm>
              <a:off x="2978218" y="4373879"/>
              <a:ext cx="4178161" cy="979170"/>
            </a:xfrm>
            <a:prstGeom prst="rect">
              <a:avLst/>
            </a:prstGeom>
            <a:blipFill>
              <a:blip r:embed="rId5" cstate="print"/>
              <a:stretch>
                <a:fillRect/>
              </a:stretch>
            </a:blipFill>
          </p:spPr>
          <p:txBody>
            <a:bodyPr wrap="square" lIns="0" tIns="0" rIns="0" bIns="0" rtlCol="0"/>
            <a:lstStyle/>
            <a:p>
              <a:endParaRPr/>
            </a:p>
          </p:txBody>
        </p:sp>
        <p:sp>
          <p:nvSpPr>
            <p:cNvPr id="23" name="object 23"/>
            <p:cNvSpPr/>
            <p:nvPr/>
          </p:nvSpPr>
          <p:spPr>
            <a:xfrm>
              <a:off x="2973137" y="4373879"/>
              <a:ext cx="4189095" cy="979169"/>
            </a:xfrm>
            <a:custGeom>
              <a:avLst/>
              <a:gdLst/>
              <a:ahLst/>
              <a:cxnLst/>
              <a:rect l="l" t="t" r="r" b="b"/>
              <a:pathLst>
                <a:path w="4189095" h="979170">
                  <a:moveTo>
                    <a:pt x="618201" y="0"/>
                  </a:moveTo>
                  <a:lnTo>
                    <a:pt x="606627" y="0"/>
                  </a:lnTo>
                  <a:lnTo>
                    <a:pt x="0" y="979170"/>
                  </a:lnTo>
                  <a:lnTo>
                    <a:pt x="11542" y="979170"/>
                  </a:lnTo>
                  <a:lnTo>
                    <a:pt x="618201" y="0"/>
                  </a:lnTo>
                  <a:close/>
                </a:path>
                <a:path w="4189095" h="979170">
                  <a:moveTo>
                    <a:pt x="4189057" y="979170"/>
                  </a:moveTo>
                  <a:lnTo>
                    <a:pt x="3582218" y="0"/>
                  </a:lnTo>
                  <a:lnTo>
                    <a:pt x="3570885" y="0"/>
                  </a:lnTo>
                  <a:lnTo>
                    <a:pt x="4177545" y="979170"/>
                  </a:lnTo>
                  <a:lnTo>
                    <a:pt x="4189057" y="979170"/>
                  </a:lnTo>
                  <a:close/>
                </a:path>
              </a:pathLst>
            </a:custGeom>
            <a:solidFill>
              <a:srgbClr val="000000"/>
            </a:solidFill>
          </p:spPr>
          <p:txBody>
            <a:bodyPr wrap="square" lIns="0" tIns="0" rIns="0" bIns="0" rtlCol="0"/>
            <a:lstStyle/>
            <a:p>
              <a:endParaRPr/>
            </a:p>
          </p:txBody>
        </p:sp>
      </p:grpSp>
      <p:sp>
        <p:nvSpPr>
          <p:cNvPr id="24" name="object 24"/>
          <p:cNvSpPr txBox="1"/>
          <p:nvPr/>
        </p:nvSpPr>
        <p:spPr>
          <a:xfrm>
            <a:off x="4203446" y="4351273"/>
            <a:ext cx="1808480"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Information</a:t>
            </a:r>
            <a:endParaRPr sz="2800">
              <a:latin typeface="Arial"/>
              <a:cs typeface="Arial"/>
            </a:endParaRPr>
          </a:p>
        </p:txBody>
      </p:sp>
      <p:sp>
        <p:nvSpPr>
          <p:cNvPr id="25" name="object 25"/>
          <p:cNvSpPr txBox="1"/>
          <p:nvPr/>
        </p:nvSpPr>
        <p:spPr>
          <a:xfrm>
            <a:off x="4718544" y="4930390"/>
            <a:ext cx="77787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Data</a:t>
            </a:r>
            <a:endParaRPr sz="2800">
              <a:latin typeface="Arial"/>
              <a:cs typeface="Arial"/>
            </a:endParaRPr>
          </a:p>
        </p:txBody>
      </p:sp>
      <p:sp>
        <p:nvSpPr>
          <p:cNvPr id="26" name="object 26"/>
          <p:cNvSpPr/>
          <p:nvPr/>
        </p:nvSpPr>
        <p:spPr>
          <a:xfrm>
            <a:off x="3200400" y="4373879"/>
            <a:ext cx="6098540" cy="979169"/>
          </a:xfrm>
          <a:custGeom>
            <a:avLst/>
            <a:gdLst/>
            <a:ahLst/>
            <a:cxnLst/>
            <a:rect l="l" t="t" r="r" b="b"/>
            <a:pathLst>
              <a:path w="6098540" h="979170">
                <a:moveTo>
                  <a:pt x="3695700" y="574548"/>
                </a:moveTo>
                <a:lnTo>
                  <a:pt x="0" y="574548"/>
                </a:lnTo>
                <a:lnTo>
                  <a:pt x="0" y="584454"/>
                </a:lnTo>
                <a:lnTo>
                  <a:pt x="3695700" y="584454"/>
                </a:lnTo>
                <a:lnTo>
                  <a:pt x="3695700" y="574548"/>
                </a:lnTo>
                <a:close/>
              </a:path>
              <a:path w="6098540" h="979170">
                <a:moveTo>
                  <a:pt x="4424718" y="457200"/>
                </a:moveTo>
                <a:lnTo>
                  <a:pt x="4001262" y="457200"/>
                </a:lnTo>
                <a:lnTo>
                  <a:pt x="4000500" y="457111"/>
                </a:lnTo>
                <a:lnTo>
                  <a:pt x="3982974" y="454914"/>
                </a:lnTo>
                <a:lnTo>
                  <a:pt x="3983736" y="454914"/>
                </a:lnTo>
                <a:lnTo>
                  <a:pt x="3972306" y="451866"/>
                </a:lnTo>
                <a:lnTo>
                  <a:pt x="3961638" y="448056"/>
                </a:lnTo>
                <a:lnTo>
                  <a:pt x="3951732" y="443484"/>
                </a:lnTo>
                <a:lnTo>
                  <a:pt x="3941826" y="437388"/>
                </a:lnTo>
                <a:lnTo>
                  <a:pt x="3942588" y="437388"/>
                </a:lnTo>
                <a:lnTo>
                  <a:pt x="3933444" y="430530"/>
                </a:lnTo>
                <a:lnTo>
                  <a:pt x="3933444" y="431292"/>
                </a:lnTo>
                <a:lnTo>
                  <a:pt x="3925062" y="423672"/>
                </a:lnTo>
                <a:lnTo>
                  <a:pt x="3917442" y="415290"/>
                </a:lnTo>
                <a:lnTo>
                  <a:pt x="3910584" y="406146"/>
                </a:lnTo>
                <a:lnTo>
                  <a:pt x="3911346" y="406908"/>
                </a:lnTo>
                <a:lnTo>
                  <a:pt x="3905250" y="397002"/>
                </a:lnTo>
                <a:lnTo>
                  <a:pt x="3899916" y="386334"/>
                </a:lnTo>
                <a:lnTo>
                  <a:pt x="3900678" y="387096"/>
                </a:lnTo>
                <a:lnTo>
                  <a:pt x="3896106" y="375666"/>
                </a:lnTo>
                <a:lnTo>
                  <a:pt x="3896868" y="376428"/>
                </a:lnTo>
                <a:lnTo>
                  <a:pt x="3893820" y="364998"/>
                </a:lnTo>
                <a:lnTo>
                  <a:pt x="3892296" y="359664"/>
                </a:lnTo>
                <a:lnTo>
                  <a:pt x="3891534" y="353568"/>
                </a:lnTo>
                <a:lnTo>
                  <a:pt x="3892296" y="353568"/>
                </a:lnTo>
                <a:lnTo>
                  <a:pt x="3891534" y="347472"/>
                </a:lnTo>
                <a:lnTo>
                  <a:pt x="3891534" y="337566"/>
                </a:lnTo>
                <a:lnTo>
                  <a:pt x="3518166" y="273177"/>
                </a:lnTo>
                <a:lnTo>
                  <a:pt x="3881628" y="168224"/>
                </a:lnTo>
                <a:lnTo>
                  <a:pt x="3885438" y="167119"/>
                </a:lnTo>
                <a:lnTo>
                  <a:pt x="3891534" y="165354"/>
                </a:lnTo>
                <a:lnTo>
                  <a:pt x="3891534" y="0"/>
                </a:lnTo>
                <a:lnTo>
                  <a:pt x="3881628" y="0"/>
                </a:lnTo>
                <a:lnTo>
                  <a:pt x="3881628" y="158089"/>
                </a:lnTo>
                <a:lnTo>
                  <a:pt x="3476244" y="275844"/>
                </a:lnTo>
                <a:lnTo>
                  <a:pt x="3498342" y="279679"/>
                </a:lnTo>
                <a:lnTo>
                  <a:pt x="3881628" y="346062"/>
                </a:lnTo>
                <a:lnTo>
                  <a:pt x="3882110" y="346138"/>
                </a:lnTo>
                <a:lnTo>
                  <a:pt x="3884904" y="369328"/>
                </a:lnTo>
                <a:lnTo>
                  <a:pt x="3885438" y="370852"/>
                </a:lnTo>
                <a:lnTo>
                  <a:pt x="3893820" y="395300"/>
                </a:lnTo>
                <a:lnTo>
                  <a:pt x="3896106" y="399059"/>
                </a:lnTo>
                <a:lnTo>
                  <a:pt x="3899916" y="405320"/>
                </a:lnTo>
                <a:lnTo>
                  <a:pt x="3908056" y="418706"/>
                </a:lnTo>
                <a:lnTo>
                  <a:pt x="3910584" y="421246"/>
                </a:lnTo>
                <a:lnTo>
                  <a:pt x="3941826" y="448805"/>
                </a:lnTo>
                <a:lnTo>
                  <a:pt x="3982974" y="464451"/>
                </a:lnTo>
                <a:lnTo>
                  <a:pt x="4036580" y="468744"/>
                </a:lnTo>
                <a:lnTo>
                  <a:pt x="4085729" y="470255"/>
                </a:lnTo>
                <a:lnTo>
                  <a:pt x="4134967" y="470369"/>
                </a:lnTo>
                <a:lnTo>
                  <a:pt x="4184294" y="469353"/>
                </a:lnTo>
                <a:lnTo>
                  <a:pt x="4233672" y="467499"/>
                </a:lnTo>
                <a:lnTo>
                  <a:pt x="4283087" y="465048"/>
                </a:lnTo>
                <a:lnTo>
                  <a:pt x="4332529" y="462280"/>
                </a:lnTo>
                <a:lnTo>
                  <a:pt x="4381970" y="459460"/>
                </a:lnTo>
                <a:lnTo>
                  <a:pt x="4424718" y="457200"/>
                </a:lnTo>
                <a:close/>
              </a:path>
              <a:path w="6098540" h="979170">
                <a:moveTo>
                  <a:pt x="4686617" y="457200"/>
                </a:moveTo>
                <a:lnTo>
                  <a:pt x="4677664" y="456425"/>
                </a:lnTo>
                <a:lnTo>
                  <a:pt x="4628591" y="453936"/>
                </a:lnTo>
                <a:lnTo>
                  <a:pt x="4579404" y="453009"/>
                </a:lnTo>
                <a:lnTo>
                  <a:pt x="4530128" y="453364"/>
                </a:lnTo>
                <a:lnTo>
                  <a:pt x="4480788" y="454736"/>
                </a:lnTo>
                <a:lnTo>
                  <a:pt x="4431385" y="456857"/>
                </a:lnTo>
                <a:lnTo>
                  <a:pt x="4424718" y="457200"/>
                </a:lnTo>
                <a:lnTo>
                  <a:pt x="4686617" y="457200"/>
                </a:lnTo>
                <a:close/>
              </a:path>
              <a:path w="6098540" h="979170">
                <a:moveTo>
                  <a:pt x="6025134" y="0"/>
                </a:moveTo>
                <a:lnTo>
                  <a:pt x="6018708" y="0"/>
                </a:lnTo>
                <a:lnTo>
                  <a:pt x="6013742" y="248780"/>
                </a:lnTo>
                <a:lnTo>
                  <a:pt x="6013907" y="298691"/>
                </a:lnTo>
                <a:lnTo>
                  <a:pt x="6015202" y="347611"/>
                </a:lnTo>
                <a:lnTo>
                  <a:pt x="6013704" y="359664"/>
                </a:lnTo>
                <a:lnTo>
                  <a:pt x="6014466" y="359664"/>
                </a:lnTo>
                <a:lnTo>
                  <a:pt x="6012942" y="364998"/>
                </a:lnTo>
                <a:lnTo>
                  <a:pt x="6009894" y="376428"/>
                </a:lnTo>
                <a:lnTo>
                  <a:pt x="6010656" y="375666"/>
                </a:lnTo>
                <a:lnTo>
                  <a:pt x="6006084" y="387096"/>
                </a:lnTo>
                <a:lnTo>
                  <a:pt x="6006084" y="386334"/>
                </a:lnTo>
                <a:lnTo>
                  <a:pt x="6001512" y="397002"/>
                </a:lnTo>
                <a:lnTo>
                  <a:pt x="5995416" y="406908"/>
                </a:lnTo>
                <a:lnTo>
                  <a:pt x="5996178" y="406146"/>
                </a:lnTo>
                <a:lnTo>
                  <a:pt x="5988558" y="415290"/>
                </a:lnTo>
                <a:lnTo>
                  <a:pt x="5989320" y="415290"/>
                </a:lnTo>
                <a:lnTo>
                  <a:pt x="5981700" y="423672"/>
                </a:lnTo>
                <a:lnTo>
                  <a:pt x="5973318" y="431292"/>
                </a:lnTo>
                <a:lnTo>
                  <a:pt x="5973318" y="430530"/>
                </a:lnTo>
                <a:lnTo>
                  <a:pt x="5964174" y="437388"/>
                </a:lnTo>
                <a:lnTo>
                  <a:pt x="5964936" y="437388"/>
                </a:lnTo>
                <a:lnTo>
                  <a:pt x="5952998" y="444500"/>
                </a:lnTo>
                <a:lnTo>
                  <a:pt x="5939498" y="450240"/>
                </a:lnTo>
                <a:lnTo>
                  <a:pt x="5925375" y="454317"/>
                </a:lnTo>
                <a:lnTo>
                  <a:pt x="5911596" y="456438"/>
                </a:lnTo>
                <a:lnTo>
                  <a:pt x="5912358" y="456438"/>
                </a:lnTo>
                <a:lnTo>
                  <a:pt x="5905500" y="457200"/>
                </a:lnTo>
                <a:lnTo>
                  <a:pt x="4686617" y="457200"/>
                </a:lnTo>
                <a:lnTo>
                  <a:pt x="4726635" y="460717"/>
                </a:lnTo>
                <a:lnTo>
                  <a:pt x="4775454" y="467106"/>
                </a:lnTo>
                <a:lnTo>
                  <a:pt x="5900166" y="467106"/>
                </a:lnTo>
                <a:lnTo>
                  <a:pt x="5906262" y="466344"/>
                </a:lnTo>
                <a:lnTo>
                  <a:pt x="5912358" y="466344"/>
                </a:lnTo>
                <a:lnTo>
                  <a:pt x="5913120" y="466344"/>
                </a:lnTo>
                <a:lnTo>
                  <a:pt x="5919216" y="465582"/>
                </a:lnTo>
                <a:lnTo>
                  <a:pt x="5937504" y="461010"/>
                </a:lnTo>
                <a:lnTo>
                  <a:pt x="5951753" y="455955"/>
                </a:lnTo>
                <a:lnTo>
                  <a:pt x="5964796" y="448818"/>
                </a:lnTo>
                <a:lnTo>
                  <a:pt x="5964936" y="448716"/>
                </a:lnTo>
                <a:lnTo>
                  <a:pt x="5976950" y="440156"/>
                </a:lnTo>
                <a:lnTo>
                  <a:pt x="6010046" y="401447"/>
                </a:lnTo>
                <a:lnTo>
                  <a:pt x="6014466" y="391528"/>
                </a:lnTo>
                <a:lnTo>
                  <a:pt x="6015228" y="389813"/>
                </a:lnTo>
                <a:lnTo>
                  <a:pt x="6016790" y="386270"/>
                </a:lnTo>
                <a:lnTo>
                  <a:pt x="6022086" y="367284"/>
                </a:lnTo>
                <a:lnTo>
                  <a:pt x="6023610" y="361188"/>
                </a:lnTo>
                <a:lnTo>
                  <a:pt x="6024372" y="354330"/>
                </a:lnTo>
                <a:lnTo>
                  <a:pt x="6025134" y="348234"/>
                </a:lnTo>
                <a:lnTo>
                  <a:pt x="6025134" y="0"/>
                </a:lnTo>
                <a:close/>
              </a:path>
              <a:path w="6098540" h="979170">
                <a:moveTo>
                  <a:pt x="6098286" y="979170"/>
                </a:moveTo>
                <a:lnTo>
                  <a:pt x="6072695" y="924979"/>
                </a:lnTo>
                <a:lnTo>
                  <a:pt x="6035802" y="894588"/>
                </a:lnTo>
                <a:lnTo>
                  <a:pt x="5995416" y="880872"/>
                </a:lnTo>
                <a:lnTo>
                  <a:pt x="5982462" y="879348"/>
                </a:lnTo>
                <a:lnTo>
                  <a:pt x="4941570" y="879348"/>
                </a:lnTo>
                <a:lnTo>
                  <a:pt x="4940808" y="879259"/>
                </a:lnTo>
                <a:lnTo>
                  <a:pt x="3819715" y="743077"/>
                </a:lnTo>
                <a:lnTo>
                  <a:pt x="3819131" y="743013"/>
                </a:lnTo>
                <a:lnTo>
                  <a:pt x="3781044" y="738378"/>
                </a:lnTo>
                <a:lnTo>
                  <a:pt x="3780282" y="744474"/>
                </a:lnTo>
                <a:lnTo>
                  <a:pt x="3817645" y="752627"/>
                </a:lnTo>
                <a:lnTo>
                  <a:pt x="3817620" y="752856"/>
                </a:lnTo>
                <a:lnTo>
                  <a:pt x="3820172" y="753173"/>
                </a:lnTo>
                <a:lnTo>
                  <a:pt x="4397311" y="878928"/>
                </a:lnTo>
                <a:lnTo>
                  <a:pt x="4367314" y="877506"/>
                </a:lnTo>
                <a:lnTo>
                  <a:pt x="4324362" y="875347"/>
                </a:lnTo>
                <a:lnTo>
                  <a:pt x="4281106" y="874737"/>
                </a:lnTo>
                <a:lnTo>
                  <a:pt x="4239247" y="877493"/>
                </a:lnTo>
                <a:lnTo>
                  <a:pt x="4200474" y="885393"/>
                </a:lnTo>
                <a:lnTo>
                  <a:pt x="4138993" y="923798"/>
                </a:lnTo>
                <a:lnTo>
                  <a:pt x="4119664" y="957897"/>
                </a:lnTo>
                <a:lnTo>
                  <a:pt x="4115333" y="979170"/>
                </a:lnTo>
                <a:lnTo>
                  <a:pt x="4123029" y="979170"/>
                </a:lnTo>
                <a:lnTo>
                  <a:pt x="4124706" y="972896"/>
                </a:lnTo>
                <a:lnTo>
                  <a:pt x="4125468" y="970026"/>
                </a:lnTo>
                <a:lnTo>
                  <a:pt x="4124706" y="970026"/>
                </a:lnTo>
                <a:lnTo>
                  <a:pt x="4128516" y="961136"/>
                </a:lnTo>
                <a:lnTo>
                  <a:pt x="4129278" y="959358"/>
                </a:lnTo>
                <a:lnTo>
                  <a:pt x="4128516" y="960120"/>
                </a:lnTo>
                <a:lnTo>
                  <a:pt x="4133850" y="949452"/>
                </a:lnTo>
                <a:lnTo>
                  <a:pt x="4139184" y="940790"/>
                </a:lnTo>
                <a:lnTo>
                  <a:pt x="4139946" y="939546"/>
                </a:lnTo>
                <a:lnTo>
                  <a:pt x="4139184" y="940308"/>
                </a:lnTo>
                <a:lnTo>
                  <a:pt x="4146042" y="931164"/>
                </a:lnTo>
                <a:lnTo>
                  <a:pt x="4153662" y="922782"/>
                </a:lnTo>
                <a:lnTo>
                  <a:pt x="4162044" y="915162"/>
                </a:lnTo>
                <a:lnTo>
                  <a:pt x="4171188" y="908304"/>
                </a:lnTo>
                <a:lnTo>
                  <a:pt x="4170426" y="909066"/>
                </a:lnTo>
                <a:lnTo>
                  <a:pt x="4171188" y="908608"/>
                </a:lnTo>
                <a:lnTo>
                  <a:pt x="4180332" y="902970"/>
                </a:lnTo>
                <a:lnTo>
                  <a:pt x="4190238" y="897636"/>
                </a:lnTo>
                <a:lnTo>
                  <a:pt x="4190238" y="898398"/>
                </a:lnTo>
                <a:lnTo>
                  <a:pt x="4200906" y="893826"/>
                </a:lnTo>
                <a:lnTo>
                  <a:pt x="4200906" y="894588"/>
                </a:lnTo>
                <a:lnTo>
                  <a:pt x="4211574" y="891743"/>
                </a:lnTo>
                <a:lnTo>
                  <a:pt x="4212336" y="891540"/>
                </a:lnTo>
                <a:lnTo>
                  <a:pt x="4211574" y="891540"/>
                </a:lnTo>
                <a:lnTo>
                  <a:pt x="4217670" y="890016"/>
                </a:lnTo>
                <a:lnTo>
                  <a:pt x="4223766" y="889254"/>
                </a:lnTo>
                <a:lnTo>
                  <a:pt x="4223766" y="890016"/>
                </a:lnTo>
                <a:lnTo>
                  <a:pt x="4229100" y="889355"/>
                </a:lnTo>
                <a:lnTo>
                  <a:pt x="4229862" y="889254"/>
                </a:lnTo>
                <a:lnTo>
                  <a:pt x="4444746" y="889254"/>
                </a:lnTo>
                <a:lnTo>
                  <a:pt x="4482846" y="889254"/>
                </a:lnTo>
                <a:lnTo>
                  <a:pt x="4483608" y="887730"/>
                </a:lnTo>
                <a:lnTo>
                  <a:pt x="4445495" y="879436"/>
                </a:lnTo>
                <a:lnTo>
                  <a:pt x="4408259" y="879449"/>
                </a:lnTo>
                <a:lnTo>
                  <a:pt x="4445139" y="879360"/>
                </a:lnTo>
                <a:lnTo>
                  <a:pt x="3923855" y="765771"/>
                </a:lnTo>
                <a:lnTo>
                  <a:pt x="4940046" y="889254"/>
                </a:lnTo>
                <a:lnTo>
                  <a:pt x="5982462" y="889355"/>
                </a:lnTo>
                <a:lnTo>
                  <a:pt x="5987796" y="890016"/>
                </a:lnTo>
                <a:lnTo>
                  <a:pt x="5987796" y="889254"/>
                </a:lnTo>
                <a:lnTo>
                  <a:pt x="5993892" y="890016"/>
                </a:lnTo>
                <a:lnTo>
                  <a:pt x="5999988" y="891540"/>
                </a:lnTo>
                <a:lnTo>
                  <a:pt x="5999226" y="891540"/>
                </a:lnTo>
                <a:lnTo>
                  <a:pt x="5999988" y="891743"/>
                </a:lnTo>
                <a:lnTo>
                  <a:pt x="6010656" y="894588"/>
                </a:lnTo>
                <a:lnTo>
                  <a:pt x="6010656" y="893826"/>
                </a:lnTo>
                <a:lnTo>
                  <a:pt x="6020562" y="898080"/>
                </a:lnTo>
                <a:lnTo>
                  <a:pt x="6021324" y="898398"/>
                </a:lnTo>
                <a:lnTo>
                  <a:pt x="6020562" y="897636"/>
                </a:lnTo>
                <a:lnTo>
                  <a:pt x="6031230" y="902970"/>
                </a:lnTo>
                <a:lnTo>
                  <a:pt x="6040374" y="908608"/>
                </a:lnTo>
                <a:lnTo>
                  <a:pt x="6041136" y="909066"/>
                </a:lnTo>
                <a:lnTo>
                  <a:pt x="6040374" y="908304"/>
                </a:lnTo>
                <a:lnTo>
                  <a:pt x="6049518" y="915162"/>
                </a:lnTo>
                <a:lnTo>
                  <a:pt x="6057900" y="922782"/>
                </a:lnTo>
                <a:lnTo>
                  <a:pt x="6065520" y="931164"/>
                </a:lnTo>
                <a:lnTo>
                  <a:pt x="6064758" y="931164"/>
                </a:lnTo>
                <a:lnTo>
                  <a:pt x="6065520" y="932078"/>
                </a:lnTo>
                <a:lnTo>
                  <a:pt x="6072378" y="940308"/>
                </a:lnTo>
                <a:lnTo>
                  <a:pt x="6071616" y="939546"/>
                </a:lnTo>
                <a:lnTo>
                  <a:pt x="6072378" y="940790"/>
                </a:lnTo>
                <a:lnTo>
                  <a:pt x="6077712" y="949452"/>
                </a:lnTo>
                <a:lnTo>
                  <a:pt x="6082284" y="959358"/>
                </a:lnTo>
                <a:lnTo>
                  <a:pt x="6086094" y="970026"/>
                </a:lnTo>
                <a:lnTo>
                  <a:pt x="6088532" y="979170"/>
                </a:lnTo>
                <a:lnTo>
                  <a:pt x="6098286" y="979170"/>
                </a:lnTo>
                <a:close/>
              </a:path>
            </a:pathLst>
          </a:custGeom>
          <a:solidFill>
            <a:srgbClr val="000000"/>
          </a:solidFill>
        </p:spPr>
        <p:txBody>
          <a:bodyPr wrap="square" lIns="0" tIns="0" rIns="0" bIns="0" rtlCol="0"/>
          <a:lstStyle/>
          <a:p>
            <a:endParaRPr/>
          </a:p>
        </p:txBody>
      </p:sp>
      <p:sp>
        <p:nvSpPr>
          <p:cNvPr id="27" name="object 27"/>
          <p:cNvSpPr txBox="1"/>
          <p:nvPr/>
        </p:nvSpPr>
        <p:spPr>
          <a:xfrm>
            <a:off x="7200392" y="4391659"/>
            <a:ext cx="1869439" cy="452120"/>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Arial"/>
                <a:cs typeface="Arial"/>
              </a:rPr>
              <a:t>value. With context</a:t>
            </a:r>
            <a:r>
              <a:rPr sz="1400" spc="-70" dirty="0">
                <a:latin typeface="Arial"/>
                <a:cs typeface="Arial"/>
              </a:rPr>
              <a:t> </a:t>
            </a:r>
            <a:r>
              <a:rPr sz="1400" spc="-5" dirty="0">
                <a:latin typeface="Arial"/>
                <a:cs typeface="Arial"/>
              </a:rPr>
              <a:t>and  associated</a:t>
            </a:r>
            <a:r>
              <a:rPr sz="1400" spc="-40" dirty="0">
                <a:latin typeface="Arial"/>
                <a:cs typeface="Arial"/>
              </a:rPr>
              <a:t> </a:t>
            </a:r>
            <a:r>
              <a:rPr sz="1400" spc="-5" dirty="0">
                <a:latin typeface="Arial"/>
                <a:cs typeface="Arial"/>
              </a:rPr>
              <a:t>meanings</a:t>
            </a:r>
            <a:endParaRPr sz="1400">
              <a:latin typeface="Arial"/>
              <a:cs typeface="Arial"/>
            </a:endParaRPr>
          </a:p>
        </p:txBody>
      </p:sp>
      <p:sp>
        <p:nvSpPr>
          <p:cNvPr id="28" name="object 28"/>
          <p:cNvSpPr/>
          <p:nvPr/>
        </p:nvSpPr>
        <p:spPr>
          <a:xfrm>
            <a:off x="1645920" y="4373879"/>
            <a:ext cx="165735" cy="979169"/>
          </a:xfrm>
          <a:custGeom>
            <a:avLst/>
            <a:gdLst/>
            <a:ahLst/>
            <a:cxnLst/>
            <a:rect l="l" t="t" r="r" b="b"/>
            <a:pathLst>
              <a:path w="165735" h="979170">
                <a:moveTo>
                  <a:pt x="49230" y="514479"/>
                </a:moveTo>
                <a:lnTo>
                  <a:pt x="44493" y="513124"/>
                </a:lnTo>
                <a:lnTo>
                  <a:pt x="5334" y="509778"/>
                </a:lnTo>
                <a:lnTo>
                  <a:pt x="4572" y="509778"/>
                </a:lnTo>
                <a:lnTo>
                  <a:pt x="1524" y="511302"/>
                </a:lnTo>
                <a:lnTo>
                  <a:pt x="0" y="514350"/>
                </a:lnTo>
                <a:lnTo>
                  <a:pt x="1524" y="518160"/>
                </a:lnTo>
                <a:lnTo>
                  <a:pt x="8404" y="518757"/>
                </a:lnTo>
                <a:lnTo>
                  <a:pt x="35721" y="517297"/>
                </a:lnTo>
                <a:lnTo>
                  <a:pt x="49230" y="514479"/>
                </a:lnTo>
                <a:close/>
              </a:path>
              <a:path w="165735" h="979170">
                <a:moveTo>
                  <a:pt x="127254" y="473717"/>
                </a:moveTo>
                <a:lnTo>
                  <a:pt x="127254" y="448056"/>
                </a:lnTo>
                <a:lnTo>
                  <a:pt x="123551" y="461487"/>
                </a:lnTo>
                <a:lnTo>
                  <a:pt x="115476" y="472859"/>
                </a:lnTo>
                <a:lnTo>
                  <a:pt x="78466" y="496815"/>
                </a:lnTo>
                <a:lnTo>
                  <a:pt x="30480" y="508254"/>
                </a:lnTo>
                <a:lnTo>
                  <a:pt x="5334" y="509733"/>
                </a:lnTo>
                <a:lnTo>
                  <a:pt x="44493" y="513124"/>
                </a:lnTo>
                <a:lnTo>
                  <a:pt x="49230" y="514479"/>
                </a:lnTo>
                <a:lnTo>
                  <a:pt x="66541" y="510868"/>
                </a:lnTo>
                <a:lnTo>
                  <a:pt x="95523" y="499132"/>
                </a:lnTo>
                <a:lnTo>
                  <a:pt x="120396" y="481584"/>
                </a:lnTo>
                <a:lnTo>
                  <a:pt x="123761" y="478586"/>
                </a:lnTo>
                <a:lnTo>
                  <a:pt x="127254" y="473717"/>
                </a:lnTo>
                <a:close/>
              </a:path>
              <a:path w="165735" h="979170">
                <a:moveTo>
                  <a:pt x="8404" y="518757"/>
                </a:moveTo>
                <a:lnTo>
                  <a:pt x="5334" y="518491"/>
                </a:lnTo>
                <a:lnTo>
                  <a:pt x="5334" y="518922"/>
                </a:lnTo>
                <a:lnTo>
                  <a:pt x="8404" y="518757"/>
                </a:lnTo>
                <a:close/>
              </a:path>
              <a:path w="165735" h="979170">
                <a:moveTo>
                  <a:pt x="137160" y="979170"/>
                </a:moveTo>
                <a:lnTo>
                  <a:pt x="137160" y="583692"/>
                </a:lnTo>
                <a:lnTo>
                  <a:pt x="121348" y="548088"/>
                </a:lnTo>
                <a:lnTo>
                  <a:pt x="86815" y="525232"/>
                </a:lnTo>
                <a:lnTo>
                  <a:pt x="49230" y="514479"/>
                </a:lnTo>
                <a:lnTo>
                  <a:pt x="35721" y="517297"/>
                </a:lnTo>
                <a:lnTo>
                  <a:pt x="8404" y="518757"/>
                </a:lnTo>
                <a:lnTo>
                  <a:pt x="56949" y="525146"/>
                </a:lnTo>
                <a:lnTo>
                  <a:pt x="107442" y="548640"/>
                </a:lnTo>
                <a:lnTo>
                  <a:pt x="127254" y="583692"/>
                </a:lnTo>
                <a:lnTo>
                  <a:pt x="127254" y="979170"/>
                </a:lnTo>
                <a:lnTo>
                  <a:pt x="137160" y="979170"/>
                </a:lnTo>
                <a:close/>
              </a:path>
              <a:path w="165735" h="979170">
                <a:moveTo>
                  <a:pt x="165634" y="0"/>
                </a:moveTo>
                <a:lnTo>
                  <a:pt x="148225" y="0"/>
                </a:lnTo>
                <a:lnTo>
                  <a:pt x="144018" y="3048"/>
                </a:lnTo>
                <a:lnTo>
                  <a:pt x="122247" y="79215"/>
                </a:lnTo>
                <a:lnTo>
                  <a:pt x="119088" y="131984"/>
                </a:lnTo>
                <a:lnTo>
                  <a:pt x="118522" y="185360"/>
                </a:lnTo>
                <a:lnTo>
                  <a:pt x="119767" y="238963"/>
                </a:lnTo>
                <a:lnTo>
                  <a:pt x="121353" y="276218"/>
                </a:lnTo>
                <a:lnTo>
                  <a:pt x="126567" y="397339"/>
                </a:lnTo>
                <a:lnTo>
                  <a:pt x="127254" y="448056"/>
                </a:lnTo>
                <a:lnTo>
                  <a:pt x="127254" y="473717"/>
                </a:lnTo>
                <a:lnTo>
                  <a:pt x="132943" y="465785"/>
                </a:lnTo>
                <a:lnTo>
                  <a:pt x="134112" y="461010"/>
                </a:lnTo>
                <a:lnTo>
                  <a:pt x="135636" y="457200"/>
                </a:lnTo>
                <a:lnTo>
                  <a:pt x="136398" y="453390"/>
                </a:lnTo>
                <a:lnTo>
                  <a:pt x="136398" y="449580"/>
                </a:lnTo>
                <a:lnTo>
                  <a:pt x="137160" y="445770"/>
                </a:lnTo>
                <a:lnTo>
                  <a:pt x="137160" y="38862"/>
                </a:lnTo>
                <a:lnTo>
                  <a:pt x="151839" y="8372"/>
                </a:lnTo>
                <a:lnTo>
                  <a:pt x="165634" y="0"/>
                </a:lnTo>
                <a:close/>
              </a:path>
            </a:pathLst>
          </a:custGeom>
          <a:solidFill>
            <a:srgbClr val="000000"/>
          </a:solidFill>
        </p:spPr>
        <p:txBody>
          <a:bodyPr wrap="square" lIns="0" tIns="0" rIns="0" bIns="0" rtlCol="0"/>
          <a:lstStyle/>
          <a:p>
            <a:endParaRPr/>
          </a:p>
        </p:txBody>
      </p:sp>
      <p:sp>
        <p:nvSpPr>
          <p:cNvPr id="29" name="object 29"/>
          <p:cNvSpPr txBox="1"/>
          <p:nvPr/>
        </p:nvSpPr>
        <p:spPr>
          <a:xfrm>
            <a:off x="699769" y="4456429"/>
            <a:ext cx="1062355" cy="665480"/>
          </a:xfrm>
          <a:prstGeom prst="rect">
            <a:avLst/>
          </a:prstGeom>
        </p:spPr>
        <p:txBody>
          <a:bodyPr vert="horz" wrap="square" lIns="0" tIns="12065" rIns="0" bIns="0" rtlCol="0">
            <a:spAutoFit/>
          </a:bodyPr>
          <a:lstStyle/>
          <a:p>
            <a:pPr marL="12700" marR="5080" algn="ctr">
              <a:lnSpc>
                <a:spcPct val="100000"/>
              </a:lnSpc>
              <a:spcBef>
                <a:spcPts val="95"/>
              </a:spcBef>
            </a:pPr>
            <a:r>
              <a:rPr sz="1400" spc="-5" dirty="0">
                <a:latin typeface="Arial"/>
                <a:cs typeface="Arial"/>
              </a:rPr>
              <a:t>Manage</a:t>
            </a:r>
            <a:r>
              <a:rPr sz="1400" spc="-15" dirty="0">
                <a:latin typeface="Arial"/>
                <a:cs typeface="Arial"/>
              </a:rPr>
              <a:t>m</a:t>
            </a:r>
            <a:r>
              <a:rPr sz="1400" spc="-5" dirty="0">
                <a:latin typeface="Arial"/>
                <a:cs typeface="Arial"/>
              </a:rPr>
              <a:t>ent  information  systems</a:t>
            </a:r>
            <a:endParaRPr sz="1400">
              <a:latin typeface="Arial"/>
              <a:cs typeface="Arial"/>
            </a:endParaRPr>
          </a:p>
        </p:txBody>
      </p:sp>
      <p:sp>
        <p:nvSpPr>
          <p:cNvPr id="30" name="object 30"/>
          <p:cNvSpPr txBox="1"/>
          <p:nvPr/>
        </p:nvSpPr>
        <p:spPr>
          <a:xfrm>
            <a:off x="1897637" y="4752842"/>
            <a:ext cx="925194" cy="665480"/>
          </a:xfrm>
          <a:prstGeom prst="rect">
            <a:avLst/>
          </a:prstGeom>
        </p:spPr>
        <p:txBody>
          <a:bodyPr vert="horz" wrap="square" lIns="0" tIns="12065" rIns="0" bIns="0" rtlCol="0">
            <a:spAutoFit/>
          </a:bodyPr>
          <a:lstStyle/>
          <a:p>
            <a:pPr marL="12700" marR="5080" algn="ctr">
              <a:lnSpc>
                <a:spcPct val="100000"/>
              </a:lnSpc>
              <a:spcBef>
                <a:spcPts val="95"/>
              </a:spcBef>
            </a:pPr>
            <a:r>
              <a:rPr sz="1400" spc="-5" dirty="0">
                <a:latin typeface="Arial"/>
                <a:cs typeface="Arial"/>
              </a:rPr>
              <a:t>Databases,  transaction  systems</a:t>
            </a:r>
            <a:endParaRPr sz="1400">
              <a:latin typeface="Arial"/>
              <a:cs typeface="Arial"/>
            </a:endParaRPr>
          </a:p>
        </p:txBody>
      </p:sp>
      <p:grpSp>
        <p:nvGrpSpPr>
          <p:cNvPr id="31" name="object 31"/>
          <p:cNvGrpSpPr/>
          <p:nvPr/>
        </p:nvGrpSpPr>
        <p:grpSpPr>
          <a:xfrm>
            <a:off x="457200" y="4937759"/>
            <a:ext cx="9144000" cy="1394460"/>
            <a:chOff x="457200" y="4937759"/>
            <a:chExt cx="9144000" cy="1394460"/>
          </a:xfrm>
        </p:grpSpPr>
        <p:sp>
          <p:nvSpPr>
            <p:cNvPr id="32" name="object 32"/>
            <p:cNvSpPr/>
            <p:nvPr/>
          </p:nvSpPr>
          <p:spPr>
            <a:xfrm>
              <a:off x="2756916" y="4937759"/>
              <a:ext cx="215900" cy="415290"/>
            </a:xfrm>
            <a:custGeom>
              <a:avLst/>
              <a:gdLst/>
              <a:ahLst/>
              <a:cxnLst/>
              <a:rect l="l" t="t" r="r" b="b"/>
              <a:pathLst>
                <a:path w="215900" h="415289">
                  <a:moveTo>
                    <a:pt x="54456" y="256189"/>
                  </a:moveTo>
                  <a:lnTo>
                    <a:pt x="39600" y="253526"/>
                  </a:lnTo>
                  <a:lnTo>
                    <a:pt x="22772" y="251795"/>
                  </a:lnTo>
                  <a:lnTo>
                    <a:pt x="4571" y="251460"/>
                  </a:lnTo>
                  <a:lnTo>
                    <a:pt x="1523" y="252984"/>
                  </a:lnTo>
                  <a:lnTo>
                    <a:pt x="0" y="256031"/>
                  </a:lnTo>
                  <a:lnTo>
                    <a:pt x="1523" y="259841"/>
                  </a:lnTo>
                  <a:lnTo>
                    <a:pt x="8980" y="260472"/>
                  </a:lnTo>
                  <a:lnTo>
                    <a:pt x="29125" y="259747"/>
                  </a:lnTo>
                  <a:lnTo>
                    <a:pt x="54456" y="256189"/>
                  </a:lnTo>
                  <a:close/>
                </a:path>
                <a:path w="215900" h="415289">
                  <a:moveTo>
                    <a:pt x="102107" y="236873"/>
                  </a:moveTo>
                  <a:lnTo>
                    <a:pt x="102107" y="224027"/>
                  </a:lnTo>
                  <a:lnTo>
                    <a:pt x="101345" y="224789"/>
                  </a:lnTo>
                  <a:lnTo>
                    <a:pt x="66701" y="243457"/>
                  </a:lnTo>
                  <a:lnTo>
                    <a:pt x="35813" y="249174"/>
                  </a:lnTo>
                  <a:lnTo>
                    <a:pt x="25907" y="250698"/>
                  </a:lnTo>
                  <a:lnTo>
                    <a:pt x="16001" y="251460"/>
                  </a:lnTo>
                  <a:lnTo>
                    <a:pt x="5333" y="251460"/>
                  </a:lnTo>
                  <a:lnTo>
                    <a:pt x="22772" y="251795"/>
                  </a:lnTo>
                  <a:lnTo>
                    <a:pt x="39600" y="253526"/>
                  </a:lnTo>
                  <a:lnTo>
                    <a:pt x="54101" y="256125"/>
                  </a:lnTo>
                  <a:lnTo>
                    <a:pt x="54649" y="256135"/>
                  </a:lnTo>
                  <a:lnTo>
                    <a:pt x="78723" y="249349"/>
                  </a:lnTo>
                  <a:lnTo>
                    <a:pt x="99821" y="238505"/>
                  </a:lnTo>
                  <a:lnTo>
                    <a:pt x="102107" y="236873"/>
                  </a:lnTo>
                  <a:close/>
                </a:path>
                <a:path w="215900" h="415289">
                  <a:moveTo>
                    <a:pt x="8980" y="260472"/>
                  </a:moveTo>
                  <a:lnTo>
                    <a:pt x="5333" y="260164"/>
                  </a:lnTo>
                  <a:lnTo>
                    <a:pt x="5333" y="260603"/>
                  </a:lnTo>
                  <a:lnTo>
                    <a:pt x="8980" y="260472"/>
                  </a:lnTo>
                  <a:close/>
                </a:path>
                <a:path w="215900" h="415289">
                  <a:moveTo>
                    <a:pt x="115061" y="415289"/>
                  </a:moveTo>
                  <a:lnTo>
                    <a:pt x="115061" y="297179"/>
                  </a:lnTo>
                  <a:lnTo>
                    <a:pt x="114300" y="291845"/>
                  </a:lnTo>
                  <a:lnTo>
                    <a:pt x="114300" y="291084"/>
                  </a:lnTo>
                  <a:lnTo>
                    <a:pt x="112013" y="287274"/>
                  </a:lnTo>
                  <a:lnTo>
                    <a:pt x="112013" y="285750"/>
                  </a:lnTo>
                  <a:lnTo>
                    <a:pt x="109727" y="281939"/>
                  </a:lnTo>
                  <a:lnTo>
                    <a:pt x="108965" y="281939"/>
                  </a:lnTo>
                  <a:lnTo>
                    <a:pt x="100583" y="273557"/>
                  </a:lnTo>
                  <a:lnTo>
                    <a:pt x="94487" y="270510"/>
                  </a:lnTo>
                  <a:lnTo>
                    <a:pt x="56249" y="256510"/>
                  </a:lnTo>
                  <a:lnTo>
                    <a:pt x="54649" y="256223"/>
                  </a:lnTo>
                  <a:lnTo>
                    <a:pt x="54101" y="256250"/>
                  </a:lnTo>
                  <a:lnTo>
                    <a:pt x="29125" y="259747"/>
                  </a:lnTo>
                  <a:lnTo>
                    <a:pt x="8980" y="260472"/>
                  </a:lnTo>
                  <a:lnTo>
                    <a:pt x="26514" y="261955"/>
                  </a:lnTo>
                  <a:lnTo>
                    <a:pt x="54649" y="265942"/>
                  </a:lnTo>
                  <a:lnTo>
                    <a:pt x="81367" y="273927"/>
                  </a:lnTo>
                  <a:lnTo>
                    <a:pt x="101345" y="287517"/>
                  </a:lnTo>
                  <a:lnTo>
                    <a:pt x="101345" y="287274"/>
                  </a:lnTo>
                  <a:lnTo>
                    <a:pt x="102107" y="288036"/>
                  </a:lnTo>
                  <a:lnTo>
                    <a:pt x="102107" y="288544"/>
                  </a:lnTo>
                  <a:lnTo>
                    <a:pt x="103631" y="291084"/>
                  </a:lnTo>
                  <a:lnTo>
                    <a:pt x="103631" y="290322"/>
                  </a:lnTo>
                  <a:lnTo>
                    <a:pt x="105156" y="294893"/>
                  </a:lnTo>
                  <a:lnTo>
                    <a:pt x="105156" y="415289"/>
                  </a:lnTo>
                  <a:lnTo>
                    <a:pt x="115061" y="415289"/>
                  </a:lnTo>
                  <a:close/>
                </a:path>
                <a:path w="215900" h="415289">
                  <a:moveTo>
                    <a:pt x="101462" y="224595"/>
                  </a:moveTo>
                  <a:lnTo>
                    <a:pt x="101345" y="224789"/>
                  </a:lnTo>
                  <a:lnTo>
                    <a:pt x="101462" y="224595"/>
                  </a:lnTo>
                  <a:close/>
                </a:path>
                <a:path w="215900" h="415289">
                  <a:moveTo>
                    <a:pt x="102107" y="224027"/>
                  </a:moveTo>
                  <a:lnTo>
                    <a:pt x="101462" y="224595"/>
                  </a:lnTo>
                  <a:lnTo>
                    <a:pt x="101345" y="224789"/>
                  </a:lnTo>
                  <a:lnTo>
                    <a:pt x="102107" y="224027"/>
                  </a:lnTo>
                  <a:close/>
                </a:path>
                <a:path w="215900" h="415289">
                  <a:moveTo>
                    <a:pt x="102107" y="288036"/>
                  </a:moveTo>
                  <a:lnTo>
                    <a:pt x="101345" y="287274"/>
                  </a:lnTo>
                  <a:lnTo>
                    <a:pt x="101593" y="287685"/>
                  </a:lnTo>
                  <a:lnTo>
                    <a:pt x="102107" y="288036"/>
                  </a:lnTo>
                  <a:close/>
                </a:path>
                <a:path w="215900" h="415289">
                  <a:moveTo>
                    <a:pt x="101593" y="287685"/>
                  </a:moveTo>
                  <a:lnTo>
                    <a:pt x="101345" y="287274"/>
                  </a:lnTo>
                  <a:lnTo>
                    <a:pt x="101345" y="287517"/>
                  </a:lnTo>
                  <a:lnTo>
                    <a:pt x="101593" y="287685"/>
                  </a:lnTo>
                  <a:close/>
                </a:path>
                <a:path w="215900" h="415289">
                  <a:moveTo>
                    <a:pt x="215645" y="9143"/>
                  </a:moveTo>
                  <a:lnTo>
                    <a:pt x="214883" y="0"/>
                  </a:lnTo>
                  <a:lnTo>
                    <a:pt x="190530" y="922"/>
                  </a:lnTo>
                  <a:lnTo>
                    <a:pt x="165530" y="4376"/>
                  </a:lnTo>
                  <a:lnTo>
                    <a:pt x="119633" y="22098"/>
                  </a:lnTo>
                  <a:lnTo>
                    <a:pt x="108203" y="34289"/>
                  </a:lnTo>
                  <a:lnTo>
                    <a:pt x="108203" y="35051"/>
                  </a:lnTo>
                  <a:lnTo>
                    <a:pt x="105917" y="39624"/>
                  </a:lnTo>
                  <a:lnTo>
                    <a:pt x="105917" y="40386"/>
                  </a:lnTo>
                  <a:lnTo>
                    <a:pt x="105156" y="45719"/>
                  </a:lnTo>
                  <a:lnTo>
                    <a:pt x="105156" y="217931"/>
                  </a:lnTo>
                  <a:lnTo>
                    <a:pt x="103631" y="221741"/>
                  </a:lnTo>
                  <a:lnTo>
                    <a:pt x="103631" y="220979"/>
                  </a:lnTo>
                  <a:lnTo>
                    <a:pt x="101462" y="224595"/>
                  </a:lnTo>
                  <a:lnTo>
                    <a:pt x="102107" y="224027"/>
                  </a:lnTo>
                  <a:lnTo>
                    <a:pt x="102107" y="236873"/>
                  </a:lnTo>
                  <a:lnTo>
                    <a:pt x="105156" y="234695"/>
                  </a:lnTo>
                  <a:lnTo>
                    <a:pt x="109727" y="230124"/>
                  </a:lnTo>
                  <a:lnTo>
                    <a:pt x="112013" y="226313"/>
                  </a:lnTo>
                  <a:lnTo>
                    <a:pt x="112013" y="225551"/>
                  </a:lnTo>
                  <a:lnTo>
                    <a:pt x="114300" y="220979"/>
                  </a:lnTo>
                  <a:lnTo>
                    <a:pt x="114300" y="220217"/>
                  </a:lnTo>
                  <a:lnTo>
                    <a:pt x="115061" y="215645"/>
                  </a:lnTo>
                  <a:lnTo>
                    <a:pt x="115061" y="42672"/>
                  </a:lnTo>
                  <a:lnTo>
                    <a:pt x="116585" y="38862"/>
                  </a:lnTo>
                  <a:lnTo>
                    <a:pt x="116585" y="39624"/>
                  </a:lnTo>
                  <a:lnTo>
                    <a:pt x="118109" y="37084"/>
                  </a:lnTo>
                  <a:lnTo>
                    <a:pt x="118109" y="36575"/>
                  </a:lnTo>
                  <a:lnTo>
                    <a:pt x="118871" y="35813"/>
                  </a:lnTo>
                  <a:lnTo>
                    <a:pt x="118871" y="36041"/>
                  </a:lnTo>
                  <a:lnTo>
                    <a:pt x="137371" y="23065"/>
                  </a:lnTo>
                  <a:lnTo>
                    <a:pt x="163887" y="14606"/>
                  </a:lnTo>
                  <a:lnTo>
                    <a:pt x="191897" y="10274"/>
                  </a:lnTo>
                  <a:lnTo>
                    <a:pt x="215645" y="9143"/>
                  </a:lnTo>
                  <a:close/>
                </a:path>
                <a:path w="215900" h="415289">
                  <a:moveTo>
                    <a:pt x="102107" y="288544"/>
                  </a:moveTo>
                  <a:lnTo>
                    <a:pt x="102107" y="288036"/>
                  </a:lnTo>
                  <a:lnTo>
                    <a:pt x="101593" y="287685"/>
                  </a:lnTo>
                  <a:lnTo>
                    <a:pt x="102107" y="288544"/>
                  </a:lnTo>
                  <a:close/>
                </a:path>
                <a:path w="215900" h="415289">
                  <a:moveTo>
                    <a:pt x="118871" y="35813"/>
                  </a:moveTo>
                  <a:lnTo>
                    <a:pt x="118109" y="36575"/>
                  </a:lnTo>
                  <a:lnTo>
                    <a:pt x="118636" y="36206"/>
                  </a:lnTo>
                  <a:lnTo>
                    <a:pt x="118871" y="35813"/>
                  </a:lnTo>
                  <a:close/>
                </a:path>
                <a:path w="215900" h="415289">
                  <a:moveTo>
                    <a:pt x="118636" y="36206"/>
                  </a:moveTo>
                  <a:lnTo>
                    <a:pt x="118109" y="36575"/>
                  </a:lnTo>
                  <a:lnTo>
                    <a:pt x="118109" y="37084"/>
                  </a:lnTo>
                  <a:lnTo>
                    <a:pt x="118636" y="36206"/>
                  </a:lnTo>
                  <a:close/>
                </a:path>
                <a:path w="215900" h="415289">
                  <a:moveTo>
                    <a:pt x="118871" y="36041"/>
                  </a:moveTo>
                  <a:lnTo>
                    <a:pt x="118871" y="35813"/>
                  </a:lnTo>
                  <a:lnTo>
                    <a:pt x="118636" y="36206"/>
                  </a:lnTo>
                  <a:lnTo>
                    <a:pt x="118871" y="36041"/>
                  </a:lnTo>
                  <a:close/>
                </a:path>
              </a:pathLst>
            </a:custGeom>
            <a:solidFill>
              <a:srgbClr val="000000"/>
            </a:solidFill>
          </p:spPr>
          <p:txBody>
            <a:bodyPr wrap="square" lIns="0" tIns="0" rIns="0" bIns="0" rtlCol="0"/>
            <a:lstStyle/>
            <a:p>
              <a:endParaRPr/>
            </a:p>
          </p:txBody>
        </p:sp>
        <p:sp>
          <p:nvSpPr>
            <p:cNvPr id="33" name="object 33"/>
            <p:cNvSpPr/>
            <p:nvPr/>
          </p:nvSpPr>
          <p:spPr>
            <a:xfrm>
              <a:off x="457200" y="535304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34" name="object 34"/>
            <p:cNvSpPr/>
            <p:nvPr/>
          </p:nvSpPr>
          <p:spPr>
            <a:xfrm>
              <a:off x="2895600" y="5353049"/>
              <a:ext cx="4343400" cy="133350"/>
            </a:xfrm>
            <a:prstGeom prst="rect">
              <a:avLst/>
            </a:prstGeom>
            <a:blipFill>
              <a:blip r:embed="rId6" cstate="print"/>
              <a:stretch>
                <a:fillRect/>
              </a:stretch>
            </a:blipFill>
          </p:spPr>
          <p:txBody>
            <a:bodyPr wrap="square" lIns="0" tIns="0" rIns="0" bIns="0" rtlCol="0"/>
            <a:lstStyle/>
            <a:p>
              <a:endParaRPr/>
            </a:p>
          </p:txBody>
        </p:sp>
        <p:sp>
          <p:nvSpPr>
            <p:cNvPr id="35" name="object 35"/>
            <p:cNvSpPr/>
            <p:nvPr/>
          </p:nvSpPr>
          <p:spPr>
            <a:xfrm>
              <a:off x="2887218" y="5353049"/>
              <a:ext cx="6414770" cy="631190"/>
            </a:xfrm>
            <a:custGeom>
              <a:avLst/>
              <a:gdLst/>
              <a:ahLst/>
              <a:cxnLst/>
              <a:rect l="l" t="t" r="r" b="b"/>
              <a:pathLst>
                <a:path w="6414770" h="631189">
                  <a:moveTo>
                    <a:pt x="4360926" y="138684"/>
                  </a:moveTo>
                  <a:lnTo>
                    <a:pt x="4274972" y="0"/>
                  </a:lnTo>
                  <a:lnTo>
                    <a:pt x="4263453" y="0"/>
                  </a:lnTo>
                  <a:lnTo>
                    <a:pt x="4343247" y="128778"/>
                  </a:lnTo>
                  <a:lnTo>
                    <a:pt x="17665" y="128778"/>
                  </a:lnTo>
                  <a:lnTo>
                    <a:pt x="97459" y="0"/>
                  </a:lnTo>
                  <a:lnTo>
                    <a:pt x="85915" y="0"/>
                  </a:lnTo>
                  <a:lnTo>
                    <a:pt x="0" y="138684"/>
                  </a:lnTo>
                  <a:lnTo>
                    <a:pt x="8382" y="138684"/>
                  </a:lnTo>
                  <a:lnTo>
                    <a:pt x="4351782" y="138684"/>
                  </a:lnTo>
                  <a:lnTo>
                    <a:pt x="4360926" y="138684"/>
                  </a:lnTo>
                  <a:close/>
                </a:path>
                <a:path w="6414770" h="631189">
                  <a:moveTo>
                    <a:pt x="6414516" y="25146"/>
                  </a:moveTo>
                  <a:lnTo>
                    <a:pt x="6413754" y="19050"/>
                  </a:lnTo>
                  <a:lnTo>
                    <a:pt x="6413754" y="12192"/>
                  </a:lnTo>
                  <a:lnTo>
                    <a:pt x="6412992" y="6096"/>
                  </a:lnTo>
                  <a:lnTo>
                    <a:pt x="6411468" y="0"/>
                  </a:lnTo>
                  <a:lnTo>
                    <a:pt x="6401714" y="0"/>
                  </a:lnTo>
                  <a:lnTo>
                    <a:pt x="6402324" y="2286"/>
                  </a:lnTo>
                  <a:lnTo>
                    <a:pt x="6402324" y="1524"/>
                  </a:lnTo>
                  <a:lnTo>
                    <a:pt x="6403848" y="13716"/>
                  </a:lnTo>
                  <a:lnTo>
                    <a:pt x="6403848" y="12954"/>
                  </a:lnTo>
                  <a:lnTo>
                    <a:pt x="6405842" y="63779"/>
                  </a:lnTo>
                  <a:lnTo>
                    <a:pt x="6406350" y="113703"/>
                  </a:lnTo>
                  <a:lnTo>
                    <a:pt x="6405753" y="162991"/>
                  </a:lnTo>
                  <a:lnTo>
                    <a:pt x="6401422" y="309676"/>
                  </a:lnTo>
                  <a:lnTo>
                    <a:pt x="6400457" y="359029"/>
                  </a:lnTo>
                  <a:lnTo>
                    <a:pt x="6400406" y="409041"/>
                  </a:lnTo>
                  <a:lnTo>
                    <a:pt x="6401651" y="459968"/>
                  </a:lnTo>
                  <a:lnTo>
                    <a:pt x="6404572" y="511543"/>
                  </a:lnTo>
                  <a:lnTo>
                    <a:pt x="6403086" y="523494"/>
                  </a:lnTo>
                  <a:lnTo>
                    <a:pt x="6403848" y="523494"/>
                  </a:lnTo>
                  <a:lnTo>
                    <a:pt x="6402324" y="528828"/>
                  </a:lnTo>
                  <a:lnTo>
                    <a:pt x="6399276" y="540258"/>
                  </a:lnTo>
                  <a:lnTo>
                    <a:pt x="6400038" y="539496"/>
                  </a:lnTo>
                  <a:lnTo>
                    <a:pt x="6395466" y="550926"/>
                  </a:lnTo>
                  <a:lnTo>
                    <a:pt x="6395466" y="550164"/>
                  </a:lnTo>
                  <a:lnTo>
                    <a:pt x="6390894" y="560832"/>
                  </a:lnTo>
                  <a:lnTo>
                    <a:pt x="6384798" y="570738"/>
                  </a:lnTo>
                  <a:lnTo>
                    <a:pt x="6385560" y="569976"/>
                  </a:lnTo>
                  <a:lnTo>
                    <a:pt x="6377940" y="579120"/>
                  </a:lnTo>
                  <a:lnTo>
                    <a:pt x="6378702" y="579120"/>
                  </a:lnTo>
                  <a:lnTo>
                    <a:pt x="6371082" y="587502"/>
                  </a:lnTo>
                  <a:lnTo>
                    <a:pt x="6362700" y="595122"/>
                  </a:lnTo>
                  <a:lnTo>
                    <a:pt x="6362700" y="594360"/>
                  </a:lnTo>
                  <a:lnTo>
                    <a:pt x="6353556" y="601218"/>
                  </a:lnTo>
                  <a:lnTo>
                    <a:pt x="6354318" y="601218"/>
                  </a:lnTo>
                  <a:lnTo>
                    <a:pt x="6342380" y="608330"/>
                  </a:lnTo>
                  <a:lnTo>
                    <a:pt x="6328880" y="614070"/>
                  </a:lnTo>
                  <a:lnTo>
                    <a:pt x="6314757" y="618147"/>
                  </a:lnTo>
                  <a:lnTo>
                    <a:pt x="6300978" y="620268"/>
                  </a:lnTo>
                  <a:lnTo>
                    <a:pt x="6301740" y="620268"/>
                  </a:lnTo>
                  <a:lnTo>
                    <a:pt x="6294882" y="621030"/>
                  </a:lnTo>
                  <a:lnTo>
                    <a:pt x="4543044" y="621030"/>
                  </a:lnTo>
                  <a:lnTo>
                    <a:pt x="4542282" y="620941"/>
                  </a:lnTo>
                  <a:lnTo>
                    <a:pt x="4524756" y="618744"/>
                  </a:lnTo>
                  <a:lnTo>
                    <a:pt x="4525518" y="618744"/>
                  </a:lnTo>
                  <a:lnTo>
                    <a:pt x="4514088" y="615696"/>
                  </a:lnTo>
                  <a:lnTo>
                    <a:pt x="4503420" y="611886"/>
                  </a:lnTo>
                  <a:lnTo>
                    <a:pt x="4493514" y="607314"/>
                  </a:lnTo>
                  <a:lnTo>
                    <a:pt x="4483608" y="601218"/>
                  </a:lnTo>
                  <a:lnTo>
                    <a:pt x="4484370" y="601218"/>
                  </a:lnTo>
                  <a:lnTo>
                    <a:pt x="4475226" y="594360"/>
                  </a:lnTo>
                  <a:lnTo>
                    <a:pt x="4475226" y="595122"/>
                  </a:lnTo>
                  <a:lnTo>
                    <a:pt x="4466844" y="587502"/>
                  </a:lnTo>
                  <a:lnTo>
                    <a:pt x="4459224" y="579120"/>
                  </a:lnTo>
                  <a:lnTo>
                    <a:pt x="4452366" y="569976"/>
                  </a:lnTo>
                  <a:lnTo>
                    <a:pt x="4453128" y="570738"/>
                  </a:lnTo>
                  <a:lnTo>
                    <a:pt x="4447032" y="560832"/>
                  </a:lnTo>
                  <a:lnTo>
                    <a:pt x="4441698" y="550164"/>
                  </a:lnTo>
                  <a:lnTo>
                    <a:pt x="4442460" y="550926"/>
                  </a:lnTo>
                  <a:lnTo>
                    <a:pt x="4437888" y="539496"/>
                  </a:lnTo>
                  <a:lnTo>
                    <a:pt x="4438650" y="540258"/>
                  </a:lnTo>
                  <a:lnTo>
                    <a:pt x="4435602" y="528828"/>
                  </a:lnTo>
                  <a:lnTo>
                    <a:pt x="4434078" y="523494"/>
                  </a:lnTo>
                  <a:lnTo>
                    <a:pt x="4433316" y="517398"/>
                  </a:lnTo>
                  <a:lnTo>
                    <a:pt x="4434078" y="517398"/>
                  </a:lnTo>
                  <a:lnTo>
                    <a:pt x="4433316" y="511302"/>
                  </a:lnTo>
                  <a:lnTo>
                    <a:pt x="4433316" y="19812"/>
                  </a:lnTo>
                  <a:lnTo>
                    <a:pt x="4434078" y="13716"/>
                  </a:lnTo>
                  <a:lnTo>
                    <a:pt x="4433316" y="13716"/>
                  </a:lnTo>
                  <a:lnTo>
                    <a:pt x="4434078" y="7620"/>
                  </a:lnTo>
                  <a:lnTo>
                    <a:pt x="4435602" y="1524"/>
                  </a:lnTo>
                  <a:lnTo>
                    <a:pt x="4435602" y="2286"/>
                  </a:lnTo>
                  <a:lnTo>
                    <a:pt x="4436211" y="0"/>
                  </a:lnTo>
                  <a:lnTo>
                    <a:pt x="4428515" y="0"/>
                  </a:lnTo>
                  <a:lnTo>
                    <a:pt x="4423410" y="25146"/>
                  </a:lnTo>
                  <a:lnTo>
                    <a:pt x="4423410" y="512064"/>
                  </a:lnTo>
                  <a:lnTo>
                    <a:pt x="4424172" y="518160"/>
                  </a:lnTo>
                  <a:lnTo>
                    <a:pt x="4424934" y="525018"/>
                  </a:lnTo>
                  <a:lnTo>
                    <a:pt x="4426458" y="531114"/>
                  </a:lnTo>
                  <a:lnTo>
                    <a:pt x="4429506" y="542544"/>
                  </a:lnTo>
                  <a:lnTo>
                    <a:pt x="4433316" y="554736"/>
                  </a:lnTo>
                  <a:lnTo>
                    <a:pt x="4437888" y="563880"/>
                  </a:lnTo>
                  <a:lnTo>
                    <a:pt x="4438650" y="565404"/>
                  </a:lnTo>
                  <a:lnTo>
                    <a:pt x="4441698" y="570357"/>
                  </a:lnTo>
                  <a:lnTo>
                    <a:pt x="4444746" y="575310"/>
                  </a:lnTo>
                  <a:lnTo>
                    <a:pt x="4452366" y="584593"/>
                  </a:lnTo>
                  <a:lnTo>
                    <a:pt x="4483608" y="612127"/>
                  </a:lnTo>
                  <a:lnTo>
                    <a:pt x="4523232" y="627888"/>
                  </a:lnTo>
                  <a:lnTo>
                    <a:pt x="4524756" y="628269"/>
                  </a:lnTo>
                  <a:lnTo>
                    <a:pt x="4529328" y="629412"/>
                  </a:lnTo>
                  <a:lnTo>
                    <a:pt x="4535424" y="630174"/>
                  </a:lnTo>
                  <a:lnTo>
                    <a:pt x="4543044" y="630275"/>
                  </a:lnTo>
                  <a:lnTo>
                    <a:pt x="4548378" y="630936"/>
                  </a:lnTo>
                  <a:lnTo>
                    <a:pt x="6289548" y="630936"/>
                  </a:lnTo>
                  <a:lnTo>
                    <a:pt x="6295644" y="630174"/>
                  </a:lnTo>
                  <a:lnTo>
                    <a:pt x="6301740" y="630174"/>
                  </a:lnTo>
                  <a:lnTo>
                    <a:pt x="6302502" y="630174"/>
                  </a:lnTo>
                  <a:lnTo>
                    <a:pt x="6324282" y="625729"/>
                  </a:lnTo>
                  <a:lnTo>
                    <a:pt x="6360617" y="608368"/>
                  </a:lnTo>
                  <a:lnTo>
                    <a:pt x="6392913" y="575703"/>
                  </a:lnTo>
                  <a:lnTo>
                    <a:pt x="6406350" y="548208"/>
                  </a:lnTo>
                  <a:lnTo>
                    <a:pt x="6410604" y="535520"/>
                  </a:lnTo>
                  <a:lnTo>
                    <a:pt x="6414516" y="512064"/>
                  </a:lnTo>
                  <a:lnTo>
                    <a:pt x="6414516" y="25146"/>
                  </a:lnTo>
                  <a:close/>
                </a:path>
              </a:pathLst>
            </a:custGeom>
            <a:solidFill>
              <a:srgbClr val="000000"/>
            </a:solidFill>
          </p:spPr>
          <p:txBody>
            <a:bodyPr wrap="square" lIns="0" tIns="0" rIns="0" bIns="0" rtlCol="0"/>
            <a:lstStyle/>
            <a:p>
              <a:endParaRPr/>
            </a:p>
          </p:txBody>
        </p:sp>
      </p:grpSp>
      <p:sp>
        <p:nvSpPr>
          <p:cNvPr id="36" name="object 36"/>
          <p:cNvSpPr txBox="1"/>
          <p:nvPr/>
        </p:nvSpPr>
        <p:spPr>
          <a:xfrm>
            <a:off x="7428992" y="5321300"/>
            <a:ext cx="1522730" cy="665480"/>
          </a:xfrm>
          <a:prstGeom prst="rect">
            <a:avLst/>
          </a:prstGeom>
        </p:spPr>
        <p:txBody>
          <a:bodyPr vert="horz" wrap="square" lIns="0" tIns="12065" rIns="0" bIns="0" rtlCol="0">
            <a:spAutoFit/>
          </a:bodyPr>
          <a:lstStyle/>
          <a:p>
            <a:pPr marL="12700" marR="5080">
              <a:lnSpc>
                <a:spcPct val="100000"/>
              </a:lnSpc>
              <a:spcBef>
                <a:spcPts val="95"/>
              </a:spcBef>
            </a:pPr>
            <a:r>
              <a:rPr sz="1400" spc="-5" dirty="0">
                <a:latin typeface="Arial"/>
                <a:cs typeface="Arial"/>
              </a:rPr>
              <a:t>Large volume.</a:t>
            </a:r>
            <a:r>
              <a:rPr sz="1400" spc="-85" dirty="0">
                <a:latin typeface="Arial"/>
                <a:cs typeface="Arial"/>
              </a:rPr>
              <a:t> </a:t>
            </a:r>
            <a:r>
              <a:rPr sz="1400" spc="-5" dirty="0">
                <a:latin typeface="Arial"/>
                <a:cs typeface="Arial"/>
              </a:rPr>
              <a:t>Low  value. Usually no  meaning/</a:t>
            </a:r>
            <a:r>
              <a:rPr sz="1400" spc="-35" dirty="0">
                <a:latin typeface="Arial"/>
                <a:cs typeface="Arial"/>
              </a:rPr>
              <a:t> </a:t>
            </a:r>
            <a:r>
              <a:rPr sz="1400" spc="-5" dirty="0">
                <a:latin typeface="Arial"/>
                <a:cs typeface="Arial"/>
              </a:rPr>
              <a:t>context</a:t>
            </a:r>
            <a:endParaRPr sz="1400">
              <a:latin typeface="Arial"/>
              <a:cs typeface="Arial"/>
            </a:endParaRPr>
          </a:p>
        </p:txBody>
      </p:sp>
      <p:grpSp>
        <p:nvGrpSpPr>
          <p:cNvPr id="37" name="object 37"/>
          <p:cNvGrpSpPr/>
          <p:nvPr/>
        </p:nvGrpSpPr>
        <p:grpSpPr>
          <a:xfrm>
            <a:off x="1773173" y="5353050"/>
            <a:ext cx="1199515" cy="97790"/>
            <a:chOff x="1773173" y="5353050"/>
            <a:chExt cx="1199515" cy="97790"/>
          </a:xfrm>
        </p:grpSpPr>
        <p:sp>
          <p:nvSpPr>
            <p:cNvPr id="38" name="object 38"/>
            <p:cNvSpPr/>
            <p:nvPr/>
          </p:nvSpPr>
          <p:spPr>
            <a:xfrm>
              <a:off x="1773173" y="5353050"/>
              <a:ext cx="132587" cy="84582"/>
            </a:xfrm>
            <a:prstGeom prst="rect">
              <a:avLst/>
            </a:prstGeom>
            <a:blipFill>
              <a:blip r:embed="rId7" cstate="print"/>
              <a:stretch>
                <a:fillRect/>
              </a:stretch>
            </a:blipFill>
          </p:spPr>
          <p:txBody>
            <a:bodyPr wrap="square" lIns="0" tIns="0" rIns="0" bIns="0" rtlCol="0"/>
            <a:lstStyle/>
            <a:p>
              <a:endParaRPr/>
            </a:p>
          </p:txBody>
        </p:sp>
        <p:sp>
          <p:nvSpPr>
            <p:cNvPr id="39" name="object 39"/>
            <p:cNvSpPr/>
            <p:nvPr/>
          </p:nvSpPr>
          <p:spPr>
            <a:xfrm>
              <a:off x="2862071" y="5353050"/>
              <a:ext cx="110489" cy="97536"/>
            </a:xfrm>
            <a:prstGeom prst="rect">
              <a:avLst/>
            </a:prstGeom>
            <a:blipFill>
              <a:blip r:embed="rId8" cstate="print"/>
              <a:stretch>
                <a:fillRect/>
              </a:stretch>
            </a:blipFill>
          </p:spPr>
          <p:txBody>
            <a:bodyPr wrap="square" lIns="0" tIns="0" rIns="0" bIns="0" rtlCol="0"/>
            <a:lstStyle/>
            <a:p>
              <a:endParaRPr/>
            </a:p>
          </p:txBody>
        </p:sp>
      </p:grpSp>
      <p:sp>
        <p:nvSpPr>
          <p:cNvPr id="40" name="object 4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41" name="object 41"/>
          <p:cNvSpPr txBox="1"/>
          <p:nvPr/>
        </p:nvSpPr>
        <p:spPr>
          <a:xfrm>
            <a:off x="993139" y="6275323"/>
            <a:ext cx="7306945" cy="269875"/>
          </a:xfrm>
          <a:prstGeom prst="rect">
            <a:avLst/>
          </a:prstGeom>
        </p:spPr>
        <p:txBody>
          <a:bodyPr vert="horz" wrap="square" lIns="0" tIns="12700" rIns="0" bIns="0" rtlCol="0">
            <a:spAutoFit/>
          </a:bodyPr>
          <a:lstStyle/>
          <a:p>
            <a:pPr marL="12700">
              <a:lnSpc>
                <a:spcPct val="100000"/>
              </a:lnSpc>
              <a:spcBef>
                <a:spcPts val="100"/>
              </a:spcBef>
            </a:pPr>
            <a:r>
              <a:rPr sz="1600" i="1" spc="-5" dirty="0">
                <a:latin typeface="Arial"/>
                <a:cs typeface="Arial"/>
              </a:rPr>
              <a:t>(Adapted from “Knowledge Engineering course (CM3016), by K. Hui</a:t>
            </a:r>
            <a:r>
              <a:rPr sz="1600" i="1" spc="30" dirty="0">
                <a:latin typeface="Arial"/>
                <a:cs typeface="Arial"/>
              </a:rPr>
              <a:t> </a:t>
            </a:r>
            <a:r>
              <a:rPr sz="1600" i="1" spc="-5" dirty="0">
                <a:latin typeface="Arial"/>
                <a:cs typeface="Arial"/>
              </a:rPr>
              <a:t>2008-2009”)</a:t>
            </a:r>
            <a:endParaRPr sz="1600">
              <a:latin typeface="Arial"/>
              <a:cs typeface="Arial"/>
            </a:endParaRPr>
          </a:p>
        </p:txBody>
      </p:sp>
      <p:sp>
        <p:nvSpPr>
          <p:cNvPr id="45" name="Title 44">
            <a:extLst>
              <a:ext uri="{FF2B5EF4-FFF2-40B4-BE49-F238E27FC236}">
                <a16:creationId xmlns:a16="http://schemas.microsoft.com/office/drawing/2014/main" id="{1D863925-9FA1-4279-9087-1A91DAF5D26F}"/>
              </a:ext>
            </a:extLst>
          </p:cNvPr>
          <p:cNvSpPr>
            <a:spLocks noGrp="1"/>
          </p:cNvSpPr>
          <p:nvPr>
            <p:ph type="title"/>
          </p:nvPr>
        </p:nvSpPr>
        <p:spPr/>
        <p:txBody>
          <a:bodyPr/>
          <a:lstStyle/>
          <a:p>
            <a:r>
              <a:rPr lang="en-US" sz="3600" b="0">
                <a:latin typeface="Verdana"/>
                <a:cs typeface="Verdana"/>
              </a:rPr>
              <a:t>Dữ </a:t>
            </a:r>
            <a:r>
              <a:rPr lang="en-US" sz="3600" b="0" spc="-5">
                <a:latin typeface="Verdana"/>
                <a:cs typeface="Verdana"/>
              </a:rPr>
              <a:t>liệu, Thông </a:t>
            </a:r>
            <a:r>
              <a:rPr lang="en-US" sz="3600" b="0">
                <a:latin typeface="Verdana"/>
                <a:cs typeface="Verdana"/>
              </a:rPr>
              <a:t>tin, </a:t>
            </a:r>
            <a:r>
              <a:rPr lang="en-US" sz="3600" b="0" spc="-5">
                <a:latin typeface="Verdana"/>
                <a:cs typeface="Verdana"/>
              </a:rPr>
              <a:t>Tri </a:t>
            </a:r>
            <a:r>
              <a:rPr lang="en-US" sz="3600" b="0">
                <a:latin typeface="Verdana"/>
                <a:cs typeface="Verdana"/>
              </a:rPr>
              <a:t>thức</a:t>
            </a:r>
            <a:endParaRPr lang="en-US" b="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93139" y="1702181"/>
            <a:ext cx="3808729" cy="1793875"/>
          </a:xfrm>
          <a:prstGeom prst="rect">
            <a:avLst/>
          </a:prstGeom>
        </p:spPr>
        <p:txBody>
          <a:bodyPr vert="horz" wrap="square" lIns="0" tIns="87630" rIns="0" bIns="0" rtlCol="0">
            <a:spAutoFit/>
          </a:bodyPr>
          <a:lstStyle/>
          <a:p>
            <a:pPr marL="298450" indent="-285750">
              <a:lnSpc>
                <a:spcPct val="100000"/>
              </a:lnSpc>
              <a:spcBef>
                <a:spcPts val="690"/>
              </a:spcBef>
              <a:buClr>
                <a:srgbClr val="CC9A00"/>
              </a:buClr>
              <a:buSzPct val="64583"/>
              <a:buFont typeface="Wingdings"/>
              <a:buChar char=""/>
              <a:tabLst>
                <a:tab pos="297815" algn="l"/>
                <a:tab pos="298450" algn="l"/>
              </a:tabLst>
            </a:pPr>
            <a:r>
              <a:rPr sz="2400" dirty="0">
                <a:latin typeface="Arial"/>
                <a:cs typeface="Arial"/>
              </a:rPr>
              <a:t>Dữ</a:t>
            </a:r>
            <a:r>
              <a:rPr sz="2400" spc="-5" dirty="0">
                <a:latin typeface="Arial"/>
                <a:cs typeface="Arial"/>
              </a:rPr>
              <a:t> liệu</a:t>
            </a:r>
            <a:endParaRPr sz="2400">
              <a:latin typeface="Arial"/>
              <a:cs typeface="Arial"/>
            </a:endParaRPr>
          </a:p>
          <a:p>
            <a:pPr marL="624840" lvl="1" indent="-286385">
              <a:lnSpc>
                <a:spcPct val="100000"/>
              </a:lnSpc>
              <a:spcBef>
                <a:spcPts val="490"/>
              </a:spcBef>
              <a:buClr>
                <a:srgbClr val="3B822F"/>
              </a:buClr>
              <a:buSzPct val="60000"/>
              <a:buFont typeface="Wingdings"/>
              <a:buChar char=""/>
              <a:tabLst>
                <a:tab pos="624840" algn="l"/>
                <a:tab pos="625475" algn="l"/>
              </a:tabLst>
            </a:pPr>
            <a:r>
              <a:rPr sz="2000" spc="-5" dirty="0">
                <a:latin typeface="Arial"/>
                <a:cs typeface="Arial"/>
              </a:rPr>
              <a:t>Nhiệt độ ngoài trời là 5 độ</a:t>
            </a:r>
            <a:r>
              <a:rPr sz="2000" spc="-45" dirty="0">
                <a:latin typeface="Arial"/>
                <a:cs typeface="Arial"/>
              </a:rPr>
              <a:t> </a:t>
            </a:r>
            <a:r>
              <a:rPr sz="2000" spc="-5" dirty="0">
                <a:latin typeface="Arial"/>
                <a:cs typeface="Arial"/>
              </a:rPr>
              <a:t>C</a:t>
            </a:r>
            <a:endParaRPr sz="2000">
              <a:latin typeface="Arial"/>
              <a:cs typeface="Arial"/>
            </a:endParaRPr>
          </a:p>
          <a:p>
            <a:pPr marL="298450" indent="-285750">
              <a:lnSpc>
                <a:spcPct val="100000"/>
              </a:lnSpc>
              <a:spcBef>
                <a:spcPts val="1789"/>
              </a:spcBef>
              <a:buClr>
                <a:srgbClr val="CC9A00"/>
              </a:buClr>
              <a:buSzPct val="64583"/>
              <a:buFont typeface="Wingdings"/>
              <a:buChar char=""/>
              <a:tabLst>
                <a:tab pos="297815" algn="l"/>
                <a:tab pos="298450" algn="l"/>
              </a:tabLst>
            </a:pPr>
            <a:r>
              <a:rPr sz="2400" spc="-5" dirty="0">
                <a:latin typeface="Arial"/>
                <a:cs typeface="Arial"/>
              </a:rPr>
              <a:t>Thông</a:t>
            </a:r>
            <a:r>
              <a:rPr sz="2400" spc="5" dirty="0">
                <a:latin typeface="Arial"/>
                <a:cs typeface="Arial"/>
              </a:rPr>
              <a:t> </a:t>
            </a:r>
            <a:r>
              <a:rPr sz="2400" spc="-5" dirty="0">
                <a:latin typeface="Arial"/>
                <a:cs typeface="Arial"/>
              </a:rPr>
              <a:t>tin</a:t>
            </a:r>
            <a:endParaRPr sz="2400">
              <a:latin typeface="Arial"/>
              <a:cs typeface="Arial"/>
            </a:endParaRPr>
          </a:p>
          <a:p>
            <a:pPr marL="624840" lvl="1" indent="-286385">
              <a:lnSpc>
                <a:spcPct val="100000"/>
              </a:lnSpc>
              <a:spcBef>
                <a:spcPts val="490"/>
              </a:spcBef>
              <a:buClr>
                <a:srgbClr val="3B822F"/>
              </a:buClr>
              <a:buSzPct val="60000"/>
              <a:buFont typeface="Wingdings"/>
              <a:buChar char=""/>
              <a:tabLst>
                <a:tab pos="624840" algn="l"/>
                <a:tab pos="625475" algn="l"/>
              </a:tabLst>
            </a:pPr>
            <a:r>
              <a:rPr sz="2000" spc="-5" dirty="0">
                <a:latin typeface="Arial"/>
                <a:cs typeface="Arial"/>
              </a:rPr>
              <a:t>Ngoài trời thời tiết</a:t>
            </a:r>
            <a:r>
              <a:rPr sz="2000" spc="-25" dirty="0">
                <a:latin typeface="Arial"/>
                <a:cs typeface="Arial"/>
              </a:rPr>
              <a:t> </a:t>
            </a:r>
            <a:r>
              <a:rPr sz="2000" spc="-10" dirty="0">
                <a:latin typeface="Arial"/>
                <a:cs typeface="Arial"/>
              </a:rPr>
              <a:t>lạnh</a:t>
            </a:r>
            <a:endParaRPr sz="2000">
              <a:latin typeface="Arial"/>
              <a:cs typeface="Arial"/>
            </a:endParaRPr>
          </a:p>
        </p:txBody>
      </p:sp>
      <p:sp>
        <p:nvSpPr>
          <p:cNvPr id="6" name="object 6"/>
          <p:cNvSpPr txBox="1"/>
          <p:nvPr/>
        </p:nvSpPr>
        <p:spPr>
          <a:xfrm>
            <a:off x="993139" y="3622422"/>
            <a:ext cx="8020050" cy="1731645"/>
          </a:xfrm>
          <a:prstGeom prst="rect">
            <a:avLst/>
          </a:prstGeom>
        </p:spPr>
        <p:txBody>
          <a:bodyPr vert="horz" wrap="square" lIns="0" tIns="87630" rIns="0" bIns="0" rtlCol="0">
            <a:spAutoFit/>
          </a:bodyPr>
          <a:lstStyle/>
          <a:p>
            <a:pPr marL="298450" indent="-285750">
              <a:lnSpc>
                <a:spcPct val="100000"/>
              </a:lnSpc>
              <a:spcBef>
                <a:spcPts val="690"/>
              </a:spcBef>
              <a:buClr>
                <a:srgbClr val="CC9A00"/>
              </a:buClr>
              <a:buSzPct val="64583"/>
              <a:buFont typeface="Wingdings"/>
              <a:buChar char=""/>
              <a:tabLst>
                <a:tab pos="297815" algn="l"/>
                <a:tab pos="298450" algn="l"/>
              </a:tabLst>
            </a:pPr>
            <a:r>
              <a:rPr sz="2400" dirty="0">
                <a:latin typeface="Arial"/>
                <a:cs typeface="Arial"/>
              </a:rPr>
              <a:t>Tri</a:t>
            </a:r>
            <a:r>
              <a:rPr sz="2400" spc="-15" dirty="0">
                <a:latin typeface="Arial"/>
                <a:cs typeface="Arial"/>
              </a:rPr>
              <a:t> </a:t>
            </a:r>
            <a:r>
              <a:rPr sz="2400" spc="-5" dirty="0">
                <a:latin typeface="Arial"/>
                <a:cs typeface="Arial"/>
              </a:rPr>
              <a:t>thức</a:t>
            </a:r>
            <a:endParaRPr sz="2400">
              <a:latin typeface="Arial"/>
              <a:cs typeface="Arial"/>
            </a:endParaRPr>
          </a:p>
          <a:p>
            <a:pPr marL="624840" marR="5080" lvl="1" indent="-285750">
              <a:lnSpc>
                <a:spcPct val="100000"/>
              </a:lnSpc>
              <a:spcBef>
                <a:spcPts val="490"/>
              </a:spcBef>
              <a:buClr>
                <a:srgbClr val="3B822F"/>
              </a:buClr>
              <a:buSzPct val="60000"/>
              <a:buFont typeface="Wingdings"/>
              <a:buChar char=""/>
              <a:tabLst>
                <a:tab pos="624840" algn="l"/>
                <a:tab pos="625475" algn="l"/>
              </a:tabLst>
            </a:pPr>
            <a:r>
              <a:rPr sz="2000" spc="-5" dirty="0">
                <a:latin typeface="Arial"/>
                <a:cs typeface="Arial"/>
              </a:rPr>
              <a:t>Nếu ngoài trời thời tiết lạnh thì bạn nên mặc áo choàng ấm (khi đi  ra</a:t>
            </a:r>
            <a:r>
              <a:rPr sz="2000" spc="-20" dirty="0">
                <a:latin typeface="Arial"/>
                <a:cs typeface="Arial"/>
              </a:rPr>
              <a:t> </a:t>
            </a:r>
            <a:r>
              <a:rPr sz="2000" spc="-10" dirty="0">
                <a:latin typeface="Arial"/>
                <a:cs typeface="Arial"/>
              </a:rPr>
              <a:t>ngoài)</a:t>
            </a:r>
            <a:endParaRPr sz="2000">
              <a:latin typeface="Arial"/>
              <a:cs typeface="Arial"/>
            </a:endParaRPr>
          </a:p>
          <a:p>
            <a:pPr marL="12700">
              <a:lnSpc>
                <a:spcPct val="100000"/>
              </a:lnSpc>
              <a:spcBef>
                <a:spcPts val="1789"/>
              </a:spcBef>
            </a:pPr>
            <a:r>
              <a:rPr sz="2400" spc="-5" dirty="0">
                <a:solidFill>
                  <a:srgbClr val="006533"/>
                </a:solidFill>
                <a:latin typeface="Symbol"/>
                <a:cs typeface="Symbol"/>
              </a:rPr>
              <a:t></a:t>
            </a:r>
            <a:r>
              <a:rPr sz="2400" spc="-5" dirty="0">
                <a:latin typeface="Arial"/>
                <a:cs typeface="Arial"/>
              </a:rPr>
              <a:t>Giá trị (sử dụng) của dữ liệu tăng lên khi nó</a:t>
            </a:r>
            <a:r>
              <a:rPr sz="2400" spc="70" dirty="0">
                <a:latin typeface="Arial"/>
                <a:cs typeface="Arial"/>
              </a:rPr>
              <a:t> </a:t>
            </a:r>
            <a:r>
              <a:rPr sz="2400" spc="-5" dirty="0">
                <a:latin typeface="Arial"/>
                <a:cs typeface="Arial"/>
              </a:rPr>
              <a:t>được</a:t>
            </a:r>
            <a:endParaRPr sz="2400">
              <a:latin typeface="Arial"/>
              <a:cs typeface="Arial"/>
            </a:endParaRPr>
          </a:p>
        </p:txBody>
      </p:sp>
      <p:sp>
        <p:nvSpPr>
          <p:cNvPr id="7" name="object 7"/>
          <p:cNvSpPr txBox="1"/>
          <p:nvPr/>
        </p:nvSpPr>
        <p:spPr>
          <a:xfrm>
            <a:off x="993139" y="5175757"/>
            <a:ext cx="7902575" cy="1427480"/>
          </a:xfrm>
          <a:prstGeom prst="rect">
            <a:avLst/>
          </a:prstGeom>
        </p:spPr>
        <p:txBody>
          <a:bodyPr vert="horz" wrap="square" lIns="0" tIns="165100" rIns="0" bIns="0" rtlCol="0">
            <a:spAutoFit/>
          </a:bodyPr>
          <a:lstStyle/>
          <a:p>
            <a:pPr marL="298450">
              <a:lnSpc>
                <a:spcPct val="100000"/>
              </a:lnSpc>
              <a:spcBef>
                <a:spcPts val="1300"/>
              </a:spcBef>
            </a:pPr>
            <a:r>
              <a:rPr sz="2400" spc="-5" dirty="0">
                <a:latin typeface="Arial"/>
                <a:cs typeface="Arial"/>
              </a:rPr>
              <a:t>“chuyển đổi” thành tri</a:t>
            </a:r>
            <a:r>
              <a:rPr sz="2400" spc="25" dirty="0">
                <a:latin typeface="Arial"/>
                <a:cs typeface="Arial"/>
              </a:rPr>
              <a:t> </a:t>
            </a:r>
            <a:r>
              <a:rPr sz="2400" spc="-5" dirty="0">
                <a:latin typeface="Arial"/>
                <a:cs typeface="Arial"/>
              </a:rPr>
              <a:t>thức</a:t>
            </a:r>
            <a:endParaRPr sz="2400">
              <a:latin typeface="Arial"/>
              <a:cs typeface="Arial"/>
            </a:endParaRPr>
          </a:p>
          <a:p>
            <a:pPr marL="298450" marR="5080" indent="-285750">
              <a:lnSpc>
                <a:spcPct val="100000"/>
              </a:lnSpc>
              <a:spcBef>
                <a:spcPts val="1200"/>
              </a:spcBef>
            </a:pPr>
            <a:r>
              <a:rPr sz="2400" spc="-5" dirty="0">
                <a:solidFill>
                  <a:srgbClr val="006533"/>
                </a:solidFill>
                <a:latin typeface="Symbol"/>
                <a:cs typeface="Symbol"/>
              </a:rPr>
              <a:t></a:t>
            </a:r>
            <a:r>
              <a:rPr sz="2400" spc="-5" dirty="0">
                <a:latin typeface="Arial"/>
                <a:cs typeface="Arial"/>
              </a:rPr>
              <a:t>Sử dụng tri thức sẽ cho phép đưa ra các quyết định phù  hợp </a:t>
            </a:r>
            <a:r>
              <a:rPr sz="2400" dirty="0">
                <a:latin typeface="Arial"/>
                <a:cs typeface="Arial"/>
              </a:rPr>
              <a:t>và </a:t>
            </a:r>
            <a:r>
              <a:rPr sz="2400" spc="-5" dirty="0">
                <a:latin typeface="Arial"/>
                <a:cs typeface="Arial"/>
              </a:rPr>
              <a:t>hiệu</a:t>
            </a:r>
            <a:r>
              <a:rPr sz="2400" spc="5" dirty="0">
                <a:latin typeface="Arial"/>
                <a:cs typeface="Arial"/>
              </a:rPr>
              <a:t> </a:t>
            </a:r>
            <a:r>
              <a:rPr sz="2400" spc="-5" dirty="0">
                <a:latin typeface="Arial"/>
                <a:cs typeface="Arial"/>
              </a:rPr>
              <a:t>quả</a:t>
            </a:r>
            <a:endParaRPr sz="24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A26BDF31-7D87-4191-B50A-58BB9114C615}"/>
              </a:ext>
            </a:extLst>
          </p:cNvPr>
          <p:cNvSpPr>
            <a:spLocks noGrp="1"/>
          </p:cNvSpPr>
          <p:nvPr>
            <p:ph type="title"/>
          </p:nvPr>
        </p:nvSpPr>
        <p:spPr/>
        <p:txBody>
          <a:bodyPr/>
          <a:lstStyle/>
          <a:p>
            <a:r>
              <a:rPr lang="en-US" sz="3600" b="0">
                <a:latin typeface="Verdana"/>
                <a:cs typeface="Verdana"/>
              </a:rPr>
              <a:t>Dữ </a:t>
            </a:r>
            <a:r>
              <a:rPr lang="en-US" sz="3600" b="0" spc="-5">
                <a:latin typeface="Verdana"/>
                <a:cs typeface="Verdana"/>
              </a:rPr>
              <a:t>liệu, Thông </a:t>
            </a:r>
            <a:r>
              <a:rPr lang="en-US" sz="3600" b="0">
                <a:latin typeface="Verdana"/>
                <a:cs typeface="Verdana"/>
              </a:rPr>
              <a:t>tin, </a:t>
            </a:r>
            <a:r>
              <a:rPr lang="en-US" sz="3600" b="0" spc="-5">
                <a:latin typeface="Verdana"/>
                <a:cs typeface="Verdana"/>
              </a:rPr>
              <a:t>Tri </a:t>
            </a:r>
            <a:r>
              <a:rPr lang="en-US" sz="3600" b="0">
                <a:latin typeface="Verdana"/>
                <a:cs typeface="Verdana"/>
              </a:rPr>
              <a:t>thức</a:t>
            </a:r>
            <a:endParaRPr lang="en-US" b="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7" name="object 7"/>
          <p:cNvSpPr txBox="1"/>
          <p:nvPr/>
        </p:nvSpPr>
        <p:spPr>
          <a:xfrm>
            <a:off x="993139" y="1853438"/>
            <a:ext cx="8067675" cy="4309110"/>
          </a:xfrm>
          <a:prstGeom prst="rect">
            <a:avLst/>
          </a:prstGeom>
        </p:spPr>
        <p:txBody>
          <a:bodyPr vert="horz" wrap="square" lIns="0" tIns="12700" rIns="0" bIns="0" rtlCol="0">
            <a:spAutoFit/>
          </a:bodyPr>
          <a:lstStyle/>
          <a:p>
            <a:pPr marL="298450" marR="13144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Biểu diễn tri thức (Knowlegde representation) là một lĩnh  </a:t>
            </a:r>
            <a:r>
              <a:rPr sz="2400" dirty="0">
                <a:latin typeface="Arial"/>
                <a:cs typeface="Arial"/>
              </a:rPr>
              <a:t>vực </a:t>
            </a:r>
            <a:r>
              <a:rPr sz="2400" spc="-5" dirty="0">
                <a:latin typeface="Arial"/>
                <a:cs typeface="Arial"/>
              </a:rPr>
              <a:t>nghiên </a:t>
            </a:r>
            <a:r>
              <a:rPr sz="2400" dirty="0">
                <a:latin typeface="Arial"/>
                <a:cs typeface="Arial"/>
              </a:rPr>
              <a:t>cứu </a:t>
            </a:r>
            <a:r>
              <a:rPr sz="2400" spc="-5" dirty="0">
                <a:latin typeface="Arial"/>
                <a:cs typeface="Arial"/>
              </a:rPr>
              <a:t>quan trọng của Trí tuệ nhân</a:t>
            </a:r>
            <a:r>
              <a:rPr sz="2400" spc="35" dirty="0">
                <a:latin typeface="Arial"/>
                <a:cs typeface="Arial"/>
              </a:rPr>
              <a:t> </a:t>
            </a:r>
            <a:r>
              <a:rPr sz="2400" spc="-5" dirty="0">
                <a:latin typeface="Arial"/>
                <a:cs typeface="Arial"/>
              </a:rPr>
              <a:t>tạo</a:t>
            </a:r>
            <a:endParaRPr sz="2400">
              <a:latin typeface="Arial"/>
              <a:cs typeface="Arial"/>
            </a:endParaRPr>
          </a:p>
          <a:p>
            <a:pPr marL="624840" marR="5080" lvl="1" indent="-286385">
              <a:lnSpc>
                <a:spcPct val="100000"/>
              </a:lnSpc>
              <a:spcBef>
                <a:spcPts val="610"/>
              </a:spcBef>
              <a:buClr>
                <a:srgbClr val="3B822F"/>
              </a:buClr>
              <a:buSzPct val="60000"/>
              <a:buFont typeface="Wingdings"/>
              <a:buChar char=""/>
              <a:tabLst>
                <a:tab pos="624840" algn="l"/>
                <a:tab pos="625475" algn="l"/>
              </a:tabLst>
            </a:pPr>
            <a:r>
              <a:rPr sz="2000" spc="-10" dirty="0">
                <a:latin typeface="Arial"/>
                <a:cs typeface="Arial"/>
              </a:rPr>
              <a:t>Nhằm </a:t>
            </a:r>
            <a:r>
              <a:rPr sz="2000" spc="-5" dirty="0">
                <a:latin typeface="Arial"/>
                <a:cs typeface="Arial"/>
              </a:rPr>
              <a:t>phát triển các phương pháp, cách </a:t>
            </a:r>
            <a:r>
              <a:rPr sz="2000" dirty="0">
                <a:latin typeface="Arial"/>
                <a:cs typeface="Arial"/>
              </a:rPr>
              <a:t>thức </a:t>
            </a:r>
            <a:r>
              <a:rPr sz="2000" spc="-5" dirty="0">
                <a:latin typeface="Arial"/>
                <a:cs typeface="Arial"/>
              </a:rPr>
              <a:t>biểu diễn tri thức và  các công cụ hỗ trợ việc biểu diễn tri</a:t>
            </a:r>
            <a:r>
              <a:rPr sz="2000" spc="-10" dirty="0">
                <a:latin typeface="Arial"/>
                <a:cs typeface="Arial"/>
              </a:rPr>
              <a:t> </a:t>
            </a:r>
            <a:r>
              <a:rPr sz="2000" spc="-5" dirty="0">
                <a:latin typeface="Arial"/>
                <a:cs typeface="Arial"/>
              </a:rPr>
              <a:t>thức</a:t>
            </a:r>
            <a:endParaRPr sz="2000">
              <a:latin typeface="Arial"/>
              <a:cs typeface="Arial"/>
            </a:endParaRPr>
          </a:p>
          <a:p>
            <a:pPr lvl="1">
              <a:lnSpc>
                <a:spcPct val="100000"/>
              </a:lnSpc>
              <a:spcBef>
                <a:spcPts val="30"/>
              </a:spcBef>
              <a:buClr>
                <a:srgbClr val="3B822F"/>
              </a:buClr>
              <a:buFont typeface="Wingdings"/>
              <a:buChar char=""/>
            </a:pPr>
            <a:endParaRPr sz="2050">
              <a:latin typeface="Arial"/>
              <a:cs typeface="Arial"/>
            </a:endParaRPr>
          </a:p>
          <a:p>
            <a:pPr marL="298450" indent="-285750">
              <a:lnSpc>
                <a:spcPct val="100000"/>
              </a:lnSpc>
              <a:buClr>
                <a:srgbClr val="CC9A00"/>
              </a:buClr>
              <a:buSzPct val="64583"/>
              <a:buFont typeface="Wingdings"/>
              <a:buChar char=""/>
              <a:tabLst>
                <a:tab pos="297815" algn="l"/>
                <a:tab pos="298450" algn="l"/>
              </a:tabLst>
            </a:pPr>
            <a:r>
              <a:rPr sz="2400" spc="-5" dirty="0">
                <a:latin typeface="Arial"/>
                <a:cs typeface="Arial"/>
              </a:rPr>
              <a:t>Tồn tại nhiều phương pháp biểu diễn tri</a:t>
            </a:r>
            <a:r>
              <a:rPr sz="2400" spc="65" dirty="0">
                <a:latin typeface="Arial"/>
                <a:cs typeface="Arial"/>
              </a:rPr>
              <a:t> </a:t>
            </a:r>
            <a:r>
              <a:rPr sz="2400" spc="-5" dirty="0">
                <a:latin typeface="Arial"/>
                <a:cs typeface="Arial"/>
              </a:rPr>
              <a:t>thức</a:t>
            </a:r>
            <a:endParaRPr sz="2400">
              <a:latin typeface="Arial"/>
              <a:cs typeface="Arial"/>
            </a:endParaRPr>
          </a:p>
          <a:p>
            <a:pPr marL="624840" lvl="1" indent="-286385">
              <a:lnSpc>
                <a:spcPct val="100000"/>
              </a:lnSpc>
              <a:spcBef>
                <a:spcPts val="490"/>
              </a:spcBef>
              <a:buClr>
                <a:srgbClr val="3B822F"/>
              </a:buClr>
              <a:buSzPct val="60000"/>
              <a:buFont typeface="Wingdings"/>
              <a:buChar char=""/>
              <a:tabLst>
                <a:tab pos="624840" algn="l"/>
                <a:tab pos="625475" algn="l"/>
              </a:tabLst>
            </a:pPr>
            <a:r>
              <a:rPr sz="2000" b="1" spc="-5" dirty="0">
                <a:latin typeface="Arial"/>
                <a:cs typeface="Arial"/>
              </a:rPr>
              <a:t>Luật sản xuất </a:t>
            </a:r>
            <a:r>
              <a:rPr sz="2000" b="1" spc="-10" dirty="0">
                <a:latin typeface="Arial"/>
                <a:cs typeface="Arial"/>
              </a:rPr>
              <a:t>(Production</a:t>
            </a:r>
            <a:r>
              <a:rPr sz="2000" b="1" spc="25" dirty="0">
                <a:latin typeface="Arial"/>
                <a:cs typeface="Arial"/>
              </a:rPr>
              <a:t> </a:t>
            </a:r>
            <a:r>
              <a:rPr sz="2000" b="1" spc="-10" dirty="0">
                <a:latin typeface="Arial"/>
                <a:cs typeface="Arial"/>
              </a:rPr>
              <a:t>rules)</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b="1" spc="-10" dirty="0">
                <a:latin typeface="Arial"/>
                <a:cs typeface="Arial"/>
              </a:rPr>
              <a:t>Khung</a:t>
            </a:r>
            <a:r>
              <a:rPr sz="2000" b="1" spc="10" dirty="0">
                <a:latin typeface="Arial"/>
                <a:cs typeface="Arial"/>
              </a:rPr>
              <a:t> </a:t>
            </a:r>
            <a:r>
              <a:rPr sz="2000" b="1" spc="-10" dirty="0">
                <a:latin typeface="Arial"/>
                <a:cs typeface="Arial"/>
              </a:rPr>
              <a:t>(Frames)</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b="1" spc="-10" dirty="0">
                <a:latin typeface="Arial"/>
                <a:cs typeface="Arial"/>
              </a:rPr>
              <a:t>Mạng </a:t>
            </a:r>
            <a:r>
              <a:rPr sz="2000" b="1" spc="-5" dirty="0">
                <a:latin typeface="Arial"/>
                <a:cs typeface="Arial"/>
              </a:rPr>
              <a:t>ngữ nghĩa </a:t>
            </a:r>
            <a:r>
              <a:rPr sz="2000" b="1" spc="-10" dirty="0">
                <a:latin typeface="Arial"/>
                <a:cs typeface="Arial"/>
              </a:rPr>
              <a:t>(Semantic</a:t>
            </a:r>
            <a:r>
              <a:rPr sz="2000" b="1" spc="30" dirty="0">
                <a:latin typeface="Arial"/>
                <a:cs typeface="Arial"/>
              </a:rPr>
              <a:t> </a:t>
            </a:r>
            <a:r>
              <a:rPr sz="2000" b="1" spc="-10" dirty="0">
                <a:latin typeface="Arial"/>
                <a:cs typeface="Arial"/>
              </a:rPr>
              <a:t>networks)</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10" dirty="0">
                <a:latin typeface="Arial"/>
                <a:cs typeface="Arial"/>
              </a:rPr>
              <a:t>Ontology</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Các mô hình xác</a:t>
            </a:r>
            <a:r>
              <a:rPr sz="2000" spc="-10" dirty="0">
                <a:latin typeface="Arial"/>
                <a:cs typeface="Arial"/>
              </a:rPr>
              <a:t> </a:t>
            </a:r>
            <a:r>
              <a:rPr sz="2000" spc="-5" dirty="0">
                <a:latin typeface="Arial"/>
                <a:cs typeface="Arial"/>
              </a:rPr>
              <a:t>suất</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CB9869E4-9F94-460F-87AE-50DC25CFC0B1}"/>
              </a:ext>
            </a:extLst>
          </p:cNvPr>
          <p:cNvSpPr>
            <a:spLocks noGrp="1"/>
          </p:cNvSpPr>
          <p:nvPr>
            <p:ph type="title"/>
          </p:nvPr>
        </p:nvSpPr>
        <p:spPr/>
        <p:txBody>
          <a:bodyPr/>
          <a:lstStyle/>
          <a:p>
            <a:r>
              <a:rPr lang="en-US" b="0" spc="-5">
                <a:latin typeface="Verdana"/>
                <a:cs typeface="Verdana"/>
              </a:rPr>
              <a:t>Biểu diễn </a:t>
            </a:r>
            <a:r>
              <a:rPr lang="en-US" b="0">
                <a:latin typeface="Verdana"/>
                <a:cs typeface="Verdana"/>
              </a:rPr>
              <a:t>tri </a:t>
            </a:r>
            <a:r>
              <a:rPr lang="en-US" b="0" spc="-5">
                <a:latin typeface="Verdana"/>
                <a:cs typeface="Verdana"/>
              </a:rPr>
              <a:t>thức</a:t>
            </a:r>
            <a:endParaRPr lang="en-US" b="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02181"/>
            <a:ext cx="7928609" cy="4704715"/>
          </a:xfrm>
          <a:prstGeom prst="rect">
            <a:avLst/>
          </a:prstGeom>
        </p:spPr>
        <p:txBody>
          <a:bodyPr vert="horz" wrap="square" lIns="0" tIns="87630" rIns="0" bIns="0" rtlCol="0">
            <a:spAutoFit/>
          </a:bodyPr>
          <a:lstStyle/>
          <a:p>
            <a:pPr marL="298450" indent="-285750">
              <a:lnSpc>
                <a:spcPct val="100000"/>
              </a:lnSpc>
              <a:spcBef>
                <a:spcPts val="690"/>
              </a:spcBef>
              <a:buClr>
                <a:srgbClr val="CC9A00"/>
              </a:buClr>
              <a:buSzPct val="64583"/>
              <a:buFont typeface="Wingdings"/>
              <a:buChar char=""/>
              <a:tabLst>
                <a:tab pos="297815" algn="l"/>
                <a:tab pos="298450" algn="l"/>
              </a:tabLst>
            </a:pPr>
            <a:r>
              <a:rPr sz="2400" spc="-5" dirty="0">
                <a:latin typeface="Arial"/>
                <a:cs typeface="Arial"/>
              </a:rPr>
              <a:t>Tính hoàn chỉnh</a:t>
            </a:r>
            <a:r>
              <a:rPr sz="2400" spc="20" dirty="0">
                <a:latin typeface="Arial"/>
                <a:cs typeface="Arial"/>
              </a:rPr>
              <a:t> </a:t>
            </a:r>
            <a:r>
              <a:rPr sz="2400" spc="-5" dirty="0">
                <a:latin typeface="Arial"/>
                <a:cs typeface="Arial"/>
              </a:rPr>
              <a:t>(Completeness)</a:t>
            </a:r>
            <a:endParaRPr sz="2400">
              <a:latin typeface="Arial"/>
              <a:cs typeface="Arial"/>
            </a:endParaRPr>
          </a:p>
          <a:p>
            <a:pPr marL="624840" marR="250190" lvl="1" indent="-285750">
              <a:lnSpc>
                <a:spcPct val="100000"/>
              </a:lnSpc>
              <a:spcBef>
                <a:spcPts val="490"/>
              </a:spcBef>
              <a:buClr>
                <a:srgbClr val="3B822F"/>
              </a:buClr>
              <a:buSzPct val="60000"/>
              <a:buFont typeface="Wingdings"/>
              <a:buChar char=""/>
              <a:tabLst>
                <a:tab pos="624840" algn="l"/>
                <a:tab pos="625475" algn="l"/>
              </a:tabLst>
            </a:pPr>
            <a:r>
              <a:rPr sz="2000" spc="-10" dirty="0">
                <a:latin typeface="Arial"/>
                <a:cs typeface="Arial"/>
              </a:rPr>
              <a:t>Phương </a:t>
            </a:r>
            <a:r>
              <a:rPr sz="2000" spc="-5" dirty="0">
                <a:latin typeface="Arial"/>
                <a:cs typeface="Arial"/>
              </a:rPr>
              <a:t>pháp biểu diễn có hỗ trợ việc thu thập và thể hiện mọi  khía cạnh của tri thức (của một lĩnh vực cụ</a:t>
            </a:r>
            <a:r>
              <a:rPr sz="2000" spc="-55" dirty="0">
                <a:latin typeface="Arial"/>
                <a:cs typeface="Arial"/>
              </a:rPr>
              <a:t> </a:t>
            </a:r>
            <a:r>
              <a:rPr sz="2000" spc="-5" dirty="0">
                <a:latin typeface="Arial"/>
                <a:cs typeface="Arial"/>
              </a:rPr>
              <a:t>thể)?</a:t>
            </a:r>
            <a:endParaRPr sz="2000">
              <a:latin typeface="Arial"/>
              <a:cs typeface="Arial"/>
            </a:endParaRPr>
          </a:p>
          <a:p>
            <a:pPr marL="298450" indent="-285750">
              <a:lnSpc>
                <a:spcPct val="100000"/>
              </a:lnSpc>
              <a:spcBef>
                <a:spcPts val="1190"/>
              </a:spcBef>
              <a:buClr>
                <a:srgbClr val="CC9A00"/>
              </a:buClr>
              <a:buSzPct val="64583"/>
              <a:buFont typeface="Wingdings"/>
              <a:buChar char=""/>
              <a:tabLst>
                <a:tab pos="297815" algn="l"/>
                <a:tab pos="298450" algn="l"/>
              </a:tabLst>
            </a:pPr>
            <a:r>
              <a:rPr sz="2400" spc="-5" dirty="0">
                <a:latin typeface="Arial"/>
                <a:cs typeface="Arial"/>
              </a:rPr>
              <a:t>Tính ngắn gọn</a:t>
            </a:r>
            <a:r>
              <a:rPr sz="2400" spc="20" dirty="0">
                <a:latin typeface="Arial"/>
                <a:cs typeface="Arial"/>
              </a:rPr>
              <a:t> </a:t>
            </a:r>
            <a:r>
              <a:rPr sz="2400" spc="-5" dirty="0">
                <a:latin typeface="Arial"/>
                <a:cs typeface="Arial"/>
              </a:rPr>
              <a:t>(Conciseness)</a:t>
            </a:r>
            <a:endParaRPr sz="2400">
              <a:latin typeface="Arial"/>
              <a:cs typeface="Arial"/>
            </a:endParaRPr>
          </a:p>
          <a:p>
            <a:pPr marL="624840" marR="316865" lvl="1" indent="-286385">
              <a:lnSpc>
                <a:spcPct val="100000"/>
              </a:lnSpc>
              <a:spcBef>
                <a:spcPts val="490"/>
              </a:spcBef>
              <a:buClr>
                <a:srgbClr val="3B822F"/>
              </a:buClr>
              <a:buSzPct val="60000"/>
              <a:buFont typeface="Wingdings"/>
              <a:buChar char=""/>
              <a:tabLst>
                <a:tab pos="624840" algn="l"/>
                <a:tab pos="625475" algn="l"/>
              </a:tabLst>
            </a:pPr>
            <a:r>
              <a:rPr sz="2000" spc="-10" dirty="0">
                <a:latin typeface="Arial"/>
                <a:cs typeface="Arial"/>
              </a:rPr>
              <a:t>Phương </a:t>
            </a:r>
            <a:r>
              <a:rPr sz="2000" spc="-5" dirty="0">
                <a:latin typeface="Arial"/>
                <a:cs typeface="Arial"/>
              </a:rPr>
              <a:t>pháp biểu diễn có cho phép việc thu thập tri thức một  cách hiệu quả?</a:t>
            </a:r>
            <a:endParaRPr sz="2000">
              <a:latin typeface="Arial"/>
              <a:cs typeface="Arial"/>
            </a:endParaRPr>
          </a:p>
          <a:p>
            <a:pPr marL="624840" marR="5080" lvl="1" indent="-285750">
              <a:lnSpc>
                <a:spcPct val="100000"/>
              </a:lnSpc>
              <a:spcBef>
                <a:spcPts val="480"/>
              </a:spcBef>
              <a:buClr>
                <a:srgbClr val="3B822F"/>
              </a:buClr>
              <a:buSzPct val="60000"/>
              <a:buFont typeface="Wingdings"/>
              <a:buChar char=""/>
              <a:tabLst>
                <a:tab pos="624840" algn="l"/>
                <a:tab pos="625475" algn="l"/>
              </a:tabLst>
            </a:pPr>
            <a:r>
              <a:rPr sz="2000" spc="-10" dirty="0">
                <a:latin typeface="Arial"/>
                <a:cs typeface="Arial"/>
              </a:rPr>
              <a:t>Phương </a:t>
            </a:r>
            <a:r>
              <a:rPr sz="2000" spc="-5" dirty="0">
                <a:latin typeface="Arial"/>
                <a:cs typeface="Arial"/>
              </a:rPr>
              <a:t>pháp biểu diễn có cho phép việc lưu trữ và truy nhập dễ  dàng tri thức</a:t>
            </a:r>
            <a:r>
              <a:rPr sz="2000" spc="-30" dirty="0">
                <a:latin typeface="Arial"/>
                <a:cs typeface="Arial"/>
              </a:rPr>
              <a:t> </a:t>
            </a:r>
            <a:r>
              <a:rPr sz="2000" spc="-5" dirty="0">
                <a:latin typeface="Arial"/>
                <a:cs typeface="Arial"/>
              </a:rPr>
              <a:t>không?</a:t>
            </a:r>
            <a:endParaRPr sz="2000">
              <a:latin typeface="Arial"/>
              <a:cs typeface="Arial"/>
            </a:endParaRPr>
          </a:p>
          <a:p>
            <a:pPr marL="298450" indent="-285750">
              <a:lnSpc>
                <a:spcPct val="100000"/>
              </a:lnSpc>
              <a:spcBef>
                <a:spcPts val="1190"/>
              </a:spcBef>
              <a:buClr>
                <a:srgbClr val="CC9A00"/>
              </a:buClr>
              <a:buSzPct val="64583"/>
              <a:buFont typeface="Wingdings"/>
              <a:buChar char=""/>
              <a:tabLst>
                <a:tab pos="297815" algn="l"/>
                <a:tab pos="298450" algn="l"/>
              </a:tabLst>
            </a:pPr>
            <a:r>
              <a:rPr sz="2400" spc="-5" dirty="0">
                <a:latin typeface="Arial"/>
                <a:cs typeface="Arial"/>
              </a:rPr>
              <a:t>Tính hiệu quả về </a:t>
            </a:r>
            <a:r>
              <a:rPr sz="2400" dirty="0">
                <a:latin typeface="Arial"/>
                <a:cs typeface="Arial"/>
              </a:rPr>
              <a:t>tính toán </a:t>
            </a:r>
            <a:r>
              <a:rPr sz="2400" spc="-5" dirty="0">
                <a:latin typeface="Arial"/>
                <a:cs typeface="Arial"/>
              </a:rPr>
              <a:t>(Computational efficiency)</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Tính rõ ràng, </a:t>
            </a:r>
            <a:r>
              <a:rPr sz="2400" spc="-10" dirty="0">
                <a:latin typeface="Arial"/>
                <a:cs typeface="Arial"/>
              </a:rPr>
              <a:t>dễ </a:t>
            </a:r>
            <a:r>
              <a:rPr sz="2400" spc="-5" dirty="0">
                <a:latin typeface="Arial"/>
                <a:cs typeface="Arial"/>
              </a:rPr>
              <a:t>hiểu</a:t>
            </a:r>
            <a:r>
              <a:rPr sz="2400" spc="25" dirty="0">
                <a:latin typeface="Arial"/>
                <a:cs typeface="Arial"/>
              </a:rPr>
              <a:t> </a:t>
            </a:r>
            <a:r>
              <a:rPr sz="2400" spc="-5" dirty="0">
                <a:latin typeface="Arial"/>
                <a:cs typeface="Arial"/>
              </a:rPr>
              <a:t>(Transparency)</a:t>
            </a:r>
            <a:endParaRPr sz="2400">
              <a:latin typeface="Arial"/>
              <a:cs typeface="Arial"/>
            </a:endParaRPr>
          </a:p>
          <a:p>
            <a:pPr marL="624840" marR="342900" lvl="1" indent="-285750">
              <a:lnSpc>
                <a:spcPct val="100000"/>
              </a:lnSpc>
              <a:spcBef>
                <a:spcPts val="490"/>
              </a:spcBef>
              <a:buClr>
                <a:srgbClr val="3B822F"/>
              </a:buClr>
              <a:buSzPct val="60000"/>
              <a:buFont typeface="Wingdings"/>
              <a:buChar char=""/>
              <a:tabLst>
                <a:tab pos="624840" algn="l"/>
                <a:tab pos="625475" algn="l"/>
              </a:tabLst>
            </a:pPr>
            <a:r>
              <a:rPr sz="2000" spc="-10" dirty="0">
                <a:latin typeface="Arial"/>
                <a:cs typeface="Arial"/>
              </a:rPr>
              <a:t>Phương </a:t>
            </a:r>
            <a:r>
              <a:rPr sz="2000" spc="-5" dirty="0">
                <a:latin typeface="Arial"/>
                <a:cs typeface="Arial"/>
              </a:rPr>
              <a:t>pháp biểu diễn có cho phép diễn giải (để </a:t>
            </a:r>
            <a:r>
              <a:rPr sz="2000" spc="-10" dirty="0">
                <a:latin typeface="Arial"/>
                <a:cs typeface="Arial"/>
              </a:rPr>
              <a:t>người dùng  </a:t>
            </a:r>
            <a:r>
              <a:rPr sz="2000" spc="-5" dirty="0">
                <a:latin typeface="Arial"/>
                <a:cs typeface="Arial"/>
              </a:rPr>
              <a:t>hiểu) về các hoạt động và các kết luận của hệ </a:t>
            </a:r>
            <a:r>
              <a:rPr sz="2000" spc="-10" dirty="0">
                <a:latin typeface="Arial"/>
                <a:cs typeface="Arial"/>
              </a:rPr>
              <a:t>thống?</a:t>
            </a:r>
            <a:endParaRPr sz="2000">
              <a:latin typeface="Arial"/>
              <a:cs typeface="Arial"/>
            </a:endParaRPr>
          </a:p>
        </p:txBody>
      </p:sp>
      <p:grpSp>
        <p:nvGrpSpPr>
          <p:cNvPr id="8" name="object 8"/>
          <p:cNvGrpSpPr/>
          <p:nvPr/>
        </p:nvGrpSpPr>
        <p:grpSpPr>
          <a:xfrm>
            <a:off x="457200" y="6332220"/>
            <a:ext cx="9144000" cy="982980"/>
            <a:chOff x="457200" y="6332220"/>
            <a:chExt cx="9144000" cy="982980"/>
          </a:xfrm>
        </p:grpSpPr>
        <p:sp>
          <p:nvSpPr>
            <p:cNvPr id="9" name="object 9"/>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21861D98-01EB-459F-ABBA-C11404030990}"/>
              </a:ext>
            </a:extLst>
          </p:cNvPr>
          <p:cNvSpPr>
            <a:spLocks noGrp="1"/>
          </p:cNvSpPr>
          <p:nvPr>
            <p:ph type="title"/>
          </p:nvPr>
        </p:nvSpPr>
        <p:spPr/>
        <p:txBody>
          <a:bodyPr/>
          <a:lstStyle/>
          <a:p>
            <a:r>
              <a:rPr lang="en-US" b="0" spc="-5">
                <a:latin typeface="Verdana"/>
                <a:cs typeface="Verdana"/>
              </a:rPr>
              <a:t>Biểu diễn </a:t>
            </a:r>
            <a:r>
              <a:rPr lang="en-US" b="0">
                <a:latin typeface="Verdana"/>
                <a:cs typeface="Verdana"/>
              </a:rPr>
              <a:t>tri </a:t>
            </a:r>
            <a:r>
              <a:rPr lang="en-US" b="0" spc="-5">
                <a:latin typeface="Verdana"/>
                <a:cs typeface="Verdana"/>
              </a:rPr>
              <a:t>thức</a:t>
            </a:r>
            <a:endParaRPr lang="en-US" b="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5" name="object 5"/>
          <p:cNvSpPr txBox="1"/>
          <p:nvPr/>
        </p:nvSpPr>
        <p:spPr>
          <a:xfrm>
            <a:off x="929639" y="1777999"/>
            <a:ext cx="8106409" cy="4269105"/>
          </a:xfrm>
          <a:prstGeom prst="rect">
            <a:avLst/>
          </a:prstGeom>
        </p:spPr>
        <p:txBody>
          <a:bodyPr vert="horz" wrap="square" lIns="0" tIns="12700" rIns="0" bIns="0" rtlCol="0">
            <a:spAutoFit/>
          </a:bodyPr>
          <a:lstStyle/>
          <a:p>
            <a:pPr marL="361950" marR="288290" indent="-286385">
              <a:lnSpc>
                <a:spcPct val="100000"/>
              </a:lnSpc>
              <a:spcBef>
                <a:spcPts val="100"/>
              </a:spcBef>
              <a:buClr>
                <a:srgbClr val="CC9A00"/>
              </a:buClr>
              <a:buSzPct val="63636"/>
              <a:buFont typeface="Wingdings"/>
              <a:buChar char=""/>
              <a:tabLst>
                <a:tab pos="361315" algn="l"/>
                <a:tab pos="361950" algn="l"/>
              </a:tabLst>
            </a:pPr>
            <a:r>
              <a:rPr sz="2200" spc="-5" dirty="0">
                <a:latin typeface="Arial"/>
                <a:cs typeface="Arial"/>
              </a:rPr>
              <a:t>Biểu diễn tri </a:t>
            </a:r>
            <a:r>
              <a:rPr sz="2200" dirty="0">
                <a:latin typeface="Arial"/>
                <a:cs typeface="Arial"/>
              </a:rPr>
              <a:t>thức </a:t>
            </a:r>
            <a:r>
              <a:rPr sz="2200" spc="-5" dirty="0">
                <a:latin typeface="Arial"/>
                <a:cs typeface="Arial"/>
              </a:rPr>
              <a:t>bằng </a:t>
            </a:r>
            <a:r>
              <a:rPr sz="2200" dirty="0">
                <a:latin typeface="Arial"/>
                <a:cs typeface="Arial"/>
              </a:rPr>
              <a:t>các </a:t>
            </a:r>
            <a:r>
              <a:rPr sz="2200" spc="-5" dirty="0">
                <a:latin typeface="Arial"/>
                <a:cs typeface="Arial"/>
              </a:rPr>
              <a:t>luật </a:t>
            </a:r>
            <a:r>
              <a:rPr sz="2200" dirty="0">
                <a:latin typeface="Arial"/>
                <a:cs typeface="Arial"/>
              </a:rPr>
              <a:t>(rules) là cách </a:t>
            </a:r>
            <a:r>
              <a:rPr sz="2200" spc="-5" dirty="0">
                <a:latin typeface="Arial"/>
                <a:cs typeface="Arial"/>
              </a:rPr>
              <a:t>biểu diễn phổ  biến nhất trong </a:t>
            </a:r>
            <a:r>
              <a:rPr sz="2200" dirty="0">
                <a:latin typeface="Arial"/>
                <a:cs typeface="Arial"/>
              </a:rPr>
              <a:t>các </a:t>
            </a:r>
            <a:r>
              <a:rPr sz="2200" spc="-5" dirty="0">
                <a:latin typeface="Arial"/>
                <a:cs typeface="Arial"/>
              </a:rPr>
              <a:t>hệ </a:t>
            </a:r>
            <a:r>
              <a:rPr sz="2200" dirty="0">
                <a:latin typeface="Arial"/>
                <a:cs typeface="Arial"/>
              </a:rPr>
              <a:t>cơ sở tri</a:t>
            </a:r>
            <a:r>
              <a:rPr sz="2200" spc="-5" dirty="0">
                <a:latin typeface="Arial"/>
                <a:cs typeface="Arial"/>
              </a:rPr>
              <a:t> thức</a:t>
            </a:r>
            <a:endParaRPr sz="2200">
              <a:latin typeface="Arial"/>
              <a:cs typeface="Arial"/>
            </a:endParaRPr>
          </a:p>
          <a:p>
            <a:pPr marL="688340" lvl="1" indent="-286385">
              <a:lnSpc>
                <a:spcPct val="100000"/>
              </a:lnSpc>
              <a:spcBef>
                <a:spcPts val="445"/>
              </a:spcBef>
              <a:buClr>
                <a:srgbClr val="3B822F"/>
              </a:buClr>
              <a:buSzPct val="58333"/>
              <a:buFont typeface="Wingdings"/>
              <a:buChar char=""/>
              <a:tabLst>
                <a:tab pos="688340" algn="l"/>
                <a:tab pos="688975" algn="l"/>
              </a:tabLst>
            </a:pPr>
            <a:r>
              <a:rPr sz="1800" dirty="0">
                <a:latin typeface="Arial"/>
                <a:cs typeface="Arial"/>
              </a:rPr>
              <a:t>Một luật chứa đựng (biểu </a:t>
            </a:r>
            <a:r>
              <a:rPr sz="1800" spc="-5" dirty="0">
                <a:latin typeface="Arial"/>
                <a:cs typeface="Arial"/>
              </a:rPr>
              <a:t>diễn) tri thức </a:t>
            </a:r>
            <a:r>
              <a:rPr sz="1800" dirty="0">
                <a:latin typeface="Arial"/>
                <a:cs typeface="Arial"/>
              </a:rPr>
              <a:t>về việc giải quyết một </a:t>
            </a:r>
            <a:r>
              <a:rPr sz="1800" spc="-5" dirty="0">
                <a:latin typeface="Arial"/>
                <a:cs typeface="Arial"/>
              </a:rPr>
              <a:t>vấn </a:t>
            </a:r>
            <a:r>
              <a:rPr sz="1800" dirty="0">
                <a:latin typeface="Arial"/>
                <a:cs typeface="Arial"/>
              </a:rPr>
              <a:t>đề</a:t>
            </a:r>
            <a:r>
              <a:rPr sz="1800" spc="-145" dirty="0">
                <a:latin typeface="Arial"/>
                <a:cs typeface="Arial"/>
              </a:rPr>
              <a:t> </a:t>
            </a:r>
            <a:r>
              <a:rPr sz="1800" dirty="0">
                <a:latin typeface="Arial"/>
                <a:cs typeface="Arial"/>
              </a:rPr>
              <a:t>nào</a:t>
            </a:r>
            <a:endParaRPr sz="1800">
              <a:latin typeface="Arial"/>
              <a:cs typeface="Arial"/>
            </a:endParaRPr>
          </a:p>
          <a:p>
            <a:pPr marL="688340">
              <a:lnSpc>
                <a:spcPct val="100000"/>
              </a:lnSpc>
            </a:pPr>
            <a:r>
              <a:rPr sz="1800" dirty="0">
                <a:latin typeface="Arial"/>
                <a:cs typeface="Arial"/>
              </a:rPr>
              <a:t>đó</a:t>
            </a:r>
            <a:endParaRPr sz="1800">
              <a:latin typeface="Arial"/>
              <a:cs typeface="Arial"/>
            </a:endParaRPr>
          </a:p>
          <a:p>
            <a:pPr marL="688340" lvl="1" indent="-286385">
              <a:lnSpc>
                <a:spcPct val="100000"/>
              </a:lnSpc>
              <a:spcBef>
                <a:spcPts val="430"/>
              </a:spcBef>
              <a:buClr>
                <a:srgbClr val="3B822F"/>
              </a:buClr>
              <a:buSzPct val="58333"/>
              <a:buFont typeface="Wingdings"/>
              <a:buChar char=""/>
              <a:tabLst>
                <a:tab pos="688340" algn="l"/>
                <a:tab pos="688975" algn="l"/>
              </a:tabLst>
            </a:pPr>
            <a:r>
              <a:rPr sz="1800" dirty="0">
                <a:latin typeface="Arial"/>
                <a:cs typeface="Arial"/>
              </a:rPr>
              <a:t>Các luật được </a:t>
            </a:r>
            <a:r>
              <a:rPr sz="1800" spc="-5" dirty="0">
                <a:latin typeface="Arial"/>
                <a:cs typeface="Arial"/>
              </a:rPr>
              <a:t>tạo </a:t>
            </a:r>
            <a:r>
              <a:rPr sz="1800" dirty="0">
                <a:latin typeface="Arial"/>
                <a:cs typeface="Arial"/>
              </a:rPr>
              <a:t>nên khá dễ dàng, </a:t>
            </a:r>
            <a:r>
              <a:rPr sz="1800" spc="-5" dirty="0">
                <a:latin typeface="Arial"/>
                <a:cs typeface="Arial"/>
              </a:rPr>
              <a:t>và </a:t>
            </a:r>
            <a:r>
              <a:rPr sz="1800" dirty="0">
                <a:latin typeface="Arial"/>
                <a:cs typeface="Arial"/>
              </a:rPr>
              <a:t>dễ</a:t>
            </a:r>
            <a:r>
              <a:rPr sz="1800" spc="-95" dirty="0">
                <a:latin typeface="Arial"/>
                <a:cs typeface="Arial"/>
              </a:rPr>
              <a:t> </a:t>
            </a:r>
            <a:r>
              <a:rPr sz="1800" dirty="0">
                <a:latin typeface="Arial"/>
                <a:cs typeface="Arial"/>
              </a:rPr>
              <a:t>hiểu</a:t>
            </a:r>
            <a:endParaRPr sz="1800">
              <a:latin typeface="Arial"/>
              <a:cs typeface="Arial"/>
            </a:endParaRPr>
          </a:p>
          <a:p>
            <a:pPr marL="361950" indent="-285750">
              <a:lnSpc>
                <a:spcPct val="100000"/>
              </a:lnSpc>
              <a:spcBef>
                <a:spcPts val="1190"/>
              </a:spcBef>
              <a:buClr>
                <a:srgbClr val="CC9A00"/>
              </a:buClr>
              <a:buSzPct val="63636"/>
              <a:buFont typeface="Wingdings"/>
              <a:buChar char=""/>
              <a:tabLst>
                <a:tab pos="361315" algn="l"/>
                <a:tab pos="361950" algn="l"/>
              </a:tabLst>
            </a:pPr>
            <a:r>
              <a:rPr sz="2200" spc="-5" dirty="0">
                <a:latin typeface="Arial"/>
                <a:cs typeface="Arial"/>
              </a:rPr>
              <a:t>Một luật </a:t>
            </a:r>
            <a:r>
              <a:rPr sz="2200" dirty="0">
                <a:latin typeface="Arial"/>
                <a:cs typeface="Arial"/>
              </a:rPr>
              <a:t>được </a:t>
            </a:r>
            <a:r>
              <a:rPr sz="2200" spc="-5" dirty="0">
                <a:latin typeface="Arial"/>
                <a:cs typeface="Arial"/>
              </a:rPr>
              <a:t>biểu diễn </a:t>
            </a:r>
            <a:r>
              <a:rPr sz="2200" dirty="0">
                <a:latin typeface="Arial"/>
                <a:cs typeface="Arial"/>
              </a:rPr>
              <a:t>ở</a:t>
            </a:r>
            <a:r>
              <a:rPr sz="2200" spc="-15" dirty="0">
                <a:latin typeface="Arial"/>
                <a:cs typeface="Arial"/>
              </a:rPr>
              <a:t> </a:t>
            </a:r>
            <a:r>
              <a:rPr sz="2200" spc="-5" dirty="0">
                <a:latin typeface="Arial"/>
                <a:cs typeface="Arial"/>
              </a:rPr>
              <a:t>dạng:</a:t>
            </a:r>
            <a:endParaRPr sz="2200">
              <a:latin typeface="Arial"/>
              <a:cs typeface="Arial"/>
            </a:endParaRPr>
          </a:p>
          <a:p>
            <a:pPr marL="1419225">
              <a:lnSpc>
                <a:spcPct val="100000"/>
              </a:lnSpc>
              <a:spcBef>
                <a:spcPts val="1200"/>
              </a:spcBef>
              <a:tabLst>
                <a:tab pos="1823720" algn="l"/>
              </a:tabLst>
            </a:pPr>
            <a:r>
              <a:rPr sz="2200" b="1" dirty="0">
                <a:latin typeface="Arial"/>
                <a:cs typeface="Arial"/>
              </a:rPr>
              <a:t>IF	A</a:t>
            </a:r>
            <a:r>
              <a:rPr sz="2175" b="1" baseline="-21072" dirty="0">
                <a:latin typeface="Arial"/>
                <a:cs typeface="Arial"/>
              </a:rPr>
              <a:t>1 </a:t>
            </a:r>
            <a:r>
              <a:rPr sz="2200" b="1" spc="-5" dirty="0">
                <a:latin typeface="Arial"/>
                <a:cs typeface="Arial"/>
              </a:rPr>
              <a:t>AND </a:t>
            </a:r>
            <a:r>
              <a:rPr sz="2200" b="1" dirty="0">
                <a:latin typeface="Arial"/>
                <a:cs typeface="Arial"/>
              </a:rPr>
              <a:t>A</a:t>
            </a:r>
            <a:r>
              <a:rPr sz="2175" b="1" baseline="-21072" dirty="0">
                <a:latin typeface="Arial"/>
                <a:cs typeface="Arial"/>
              </a:rPr>
              <a:t>2 </a:t>
            </a:r>
            <a:r>
              <a:rPr sz="2200" b="1" spc="-5" dirty="0">
                <a:latin typeface="Arial"/>
                <a:cs typeface="Arial"/>
              </a:rPr>
              <a:t>AND </a:t>
            </a:r>
            <a:r>
              <a:rPr sz="2200" b="1" dirty="0">
                <a:latin typeface="Arial"/>
                <a:cs typeface="Arial"/>
              </a:rPr>
              <a:t>… </a:t>
            </a:r>
            <a:r>
              <a:rPr sz="2200" b="1" spc="-5" dirty="0">
                <a:latin typeface="Arial"/>
                <a:cs typeface="Arial"/>
              </a:rPr>
              <a:t>AND </a:t>
            </a:r>
            <a:r>
              <a:rPr sz="2200" b="1" spc="5" dirty="0">
                <a:latin typeface="Arial"/>
                <a:cs typeface="Arial"/>
              </a:rPr>
              <a:t>A</a:t>
            </a:r>
            <a:r>
              <a:rPr sz="2175" b="1" spc="7" baseline="-21072" dirty="0">
                <a:latin typeface="Arial"/>
                <a:cs typeface="Arial"/>
              </a:rPr>
              <a:t>n </a:t>
            </a:r>
            <a:r>
              <a:rPr sz="2200" b="1" spc="-5" dirty="0">
                <a:latin typeface="Arial"/>
                <a:cs typeface="Arial"/>
              </a:rPr>
              <a:t>THEN</a:t>
            </a:r>
            <a:r>
              <a:rPr sz="2200" b="1" spc="575" dirty="0">
                <a:latin typeface="Arial"/>
                <a:cs typeface="Arial"/>
              </a:rPr>
              <a:t> </a:t>
            </a:r>
            <a:r>
              <a:rPr sz="2200" b="1" dirty="0">
                <a:latin typeface="Arial"/>
                <a:cs typeface="Arial"/>
              </a:rPr>
              <a:t>B</a:t>
            </a:r>
            <a:endParaRPr sz="2200">
              <a:latin typeface="Arial"/>
              <a:cs typeface="Arial"/>
            </a:endParaRPr>
          </a:p>
          <a:p>
            <a:pPr marL="361950" indent="-285750">
              <a:lnSpc>
                <a:spcPct val="100000"/>
              </a:lnSpc>
              <a:spcBef>
                <a:spcPts val="1200"/>
              </a:spcBef>
              <a:buClr>
                <a:srgbClr val="CC9A00"/>
              </a:buClr>
              <a:buSzPct val="63636"/>
              <a:buFont typeface="Wingdings"/>
              <a:buChar char=""/>
              <a:tabLst>
                <a:tab pos="361315" algn="l"/>
                <a:tab pos="361950" algn="l"/>
              </a:tabLst>
            </a:pPr>
            <a:r>
              <a:rPr sz="2200" b="1" dirty="0">
                <a:latin typeface="Arial"/>
                <a:cs typeface="Arial"/>
              </a:rPr>
              <a:t>A</a:t>
            </a:r>
            <a:r>
              <a:rPr sz="2175" b="1" baseline="-21072" dirty="0">
                <a:latin typeface="Arial"/>
                <a:cs typeface="Arial"/>
              </a:rPr>
              <a:t>i</a:t>
            </a:r>
            <a:endParaRPr sz="2175" baseline="-21072">
              <a:latin typeface="Arial"/>
              <a:cs typeface="Arial"/>
            </a:endParaRPr>
          </a:p>
          <a:p>
            <a:pPr marL="688340" lvl="1" indent="-286385">
              <a:lnSpc>
                <a:spcPct val="100000"/>
              </a:lnSpc>
              <a:spcBef>
                <a:spcPts val="610"/>
              </a:spcBef>
              <a:buClr>
                <a:srgbClr val="3B822F"/>
              </a:buClr>
              <a:buSzPct val="58333"/>
              <a:buFont typeface="Wingdings"/>
              <a:buChar char=""/>
              <a:tabLst>
                <a:tab pos="688340" algn="l"/>
                <a:tab pos="688975" algn="l"/>
              </a:tabLst>
            </a:pPr>
            <a:r>
              <a:rPr sz="1800" dirty="0">
                <a:latin typeface="Arial"/>
                <a:cs typeface="Arial"/>
              </a:rPr>
              <a:t>Là các </a:t>
            </a:r>
            <a:r>
              <a:rPr sz="1800" b="1" spc="-5" dirty="0">
                <a:latin typeface="Arial"/>
                <a:cs typeface="Arial"/>
              </a:rPr>
              <a:t>điều kiện (conditions, antecedents,</a:t>
            </a:r>
            <a:r>
              <a:rPr sz="1800" b="1" spc="-20" dirty="0">
                <a:latin typeface="Arial"/>
                <a:cs typeface="Arial"/>
              </a:rPr>
              <a:t> </a:t>
            </a:r>
            <a:r>
              <a:rPr sz="1800" b="1" spc="-5" dirty="0">
                <a:latin typeface="Arial"/>
                <a:cs typeface="Arial"/>
              </a:rPr>
              <a:t>premises)</a:t>
            </a:r>
            <a:endParaRPr sz="1800">
              <a:latin typeface="Arial"/>
              <a:cs typeface="Arial"/>
            </a:endParaRPr>
          </a:p>
          <a:p>
            <a:pPr marL="361950" indent="-285750">
              <a:lnSpc>
                <a:spcPct val="100000"/>
              </a:lnSpc>
              <a:spcBef>
                <a:spcPts val="1190"/>
              </a:spcBef>
              <a:buClr>
                <a:srgbClr val="CC9A00"/>
              </a:buClr>
              <a:buSzPct val="63636"/>
              <a:buFont typeface="Wingdings"/>
              <a:buChar char=""/>
              <a:tabLst>
                <a:tab pos="361315" algn="l"/>
                <a:tab pos="361950" algn="l"/>
              </a:tabLst>
            </a:pPr>
            <a:r>
              <a:rPr sz="2200" b="1" dirty="0">
                <a:latin typeface="Arial"/>
                <a:cs typeface="Arial"/>
              </a:rPr>
              <a:t>B</a:t>
            </a:r>
            <a:endParaRPr sz="2200">
              <a:latin typeface="Arial"/>
              <a:cs typeface="Arial"/>
            </a:endParaRPr>
          </a:p>
          <a:p>
            <a:pPr marL="688340" lvl="1" indent="-286385">
              <a:lnSpc>
                <a:spcPct val="100000"/>
              </a:lnSpc>
              <a:spcBef>
                <a:spcPts val="509"/>
              </a:spcBef>
              <a:buClr>
                <a:srgbClr val="3B822F"/>
              </a:buClr>
              <a:buSzPct val="58333"/>
              <a:buFont typeface="Wingdings"/>
              <a:buChar char=""/>
              <a:tabLst>
                <a:tab pos="688340" algn="l"/>
                <a:tab pos="688975" algn="l"/>
              </a:tabLst>
            </a:pPr>
            <a:r>
              <a:rPr sz="1800" dirty="0">
                <a:latin typeface="Arial"/>
                <a:cs typeface="Arial"/>
              </a:rPr>
              <a:t>Là </a:t>
            </a:r>
            <a:r>
              <a:rPr sz="1800" b="1" dirty="0">
                <a:latin typeface="Arial"/>
                <a:cs typeface="Arial"/>
              </a:rPr>
              <a:t>kết </a:t>
            </a:r>
            <a:r>
              <a:rPr sz="1800" b="1" spc="-5" dirty="0">
                <a:latin typeface="Arial"/>
                <a:cs typeface="Arial"/>
              </a:rPr>
              <a:t>luận (conclusion, consequence,</a:t>
            </a:r>
            <a:r>
              <a:rPr sz="1800" b="1" spc="-10" dirty="0">
                <a:latin typeface="Arial"/>
                <a:cs typeface="Arial"/>
              </a:rPr>
              <a:t> </a:t>
            </a:r>
            <a:r>
              <a:rPr sz="1800" b="1" spc="-5" dirty="0">
                <a:latin typeface="Arial"/>
                <a:cs typeface="Arial"/>
              </a:rPr>
              <a:t>action)</a:t>
            </a:r>
            <a:endParaRPr sz="1800">
              <a:latin typeface="Arial"/>
              <a:cs typeface="Arial"/>
            </a:endParaRPr>
          </a:p>
        </p:txBody>
      </p:sp>
      <p:sp>
        <p:nvSpPr>
          <p:cNvPr id="6" name="object 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0" name="Title 9">
            <a:extLst>
              <a:ext uri="{FF2B5EF4-FFF2-40B4-BE49-F238E27FC236}">
                <a16:creationId xmlns:a16="http://schemas.microsoft.com/office/drawing/2014/main" id="{108D05DE-27F0-45D4-B1E8-E0CE7356F4CB}"/>
              </a:ext>
            </a:extLst>
          </p:cNvPr>
          <p:cNvSpPr>
            <a:spLocks noGrp="1"/>
          </p:cNvSpPr>
          <p:nvPr>
            <p:ph type="title"/>
          </p:nvPr>
        </p:nvSpPr>
        <p:spPr/>
        <p:txBody>
          <a:bodyPr/>
          <a:lstStyle/>
          <a:p>
            <a:r>
              <a:rPr lang="en-US" sz="3600" b="0" spc="-5">
                <a:latin typeface="Verdana"/>
                <a:cs typeface="Verdana"/>
              </a:rPr>
              <a:t>Biểu diễn </a:t>
            </a:r>
            <a:r>
              <a:rPr lang="en-US" sz="3600" b="0">
                <a:latin typeface="Verdana"/>
                <a:cs typeface="Verdana"/>
              </a:rPr>
              <a:t>tri </a:t>
            </a:r>
            <a:r>
              <a:rPr lang="en-US" sz="3600" b="0" spc="-5">
                <a:latin typeface="Verdana"/>
                <a:cs typeface="Verdana"/>
              </a:rPr>
              <a:t>thức </a:t>
            </a:r>
            <a:r>
              <a:rPr lang="en-US" sz="3600" b="0">
                <a:latin typeface="Verdana"/>
                <a:cs typeface="Verdana"/>
              </a:rPr>
              <a:t>bằng </a:t>
            </a:r>
            <a:r>
              <a:rPr lang="en-US" sz="3600" b="0" spc="-5">
                <a:latin typeface="Verdana"/>
                <a:cs typeface="Verdana"/>
              </a:rPr>
              <a:t>luật</a:t>
            </a:r>
            <a:endParaRPr lang="en-US" b="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a:t>
            </a:fld>
            <a:endParaRPr spc="-40" dirty="0"/>
          </a:p>
        </p:txBody>
      </p:sp>
      <p:sp>
        <p:nvSpPr>
          <p:cNvPr id="3" name="object 3"/>
          <p:cNvSpPr/>
          <p:nvPr/>
        </p:nvSpPr>
        <p:spPr>
          <a:xfrm>
            <a:off x="457200" y="2415539"/>
            <a:ext cx="9144000" cy="2937510"/>
          </a:xfrm>
          <a:custGeom>
            <a:avLst/>
            <a:gdLst/>
            <a:ahLst/>
            <a:cxnLst/>
            <a:rect l="l" t="t" r="r" b="b"/>
            <a:pathLst>
              <a:path w="9144000" h="2937510">
                <a:moveTo>
                  <a:pt x="9144000" y="0"/>
                </a:moveTo>
                <a:lnTo>
                  <a:pt x="0" y="0"/>
                </a:lnTo>
                <a:lnTo>
                  <a:pt x="0" y="979170"/>
                </a:lnTo>
                <a:lnTo>
                  <a:pt x="0" y="1958340"/>
                </a:lnTo>
                <a:lnTo>
                  <a:pt x="0" y="293751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942339" y="1702181"/>
            <a:ext cx="8094345" cy="4933315"/>
          </a:xfrm>
          <a:prstGeom prst="rect">
            <a:avLst/>
          </a:prstGeom>
        </p:spPr>
        <p:txBody>
          <a:bodyPr vert="horz" wrap="square" lIns="0" tIns="87630" rIns="0" bIns="0" rtlCol="0">
            <a:spAutoFit/>
          </a:bodyPr>
          <a:lstStyle/>
          <a:p>
            <a:pPr marL="349250" indent="-285750">
              <a:lnSpc>
                <a:spcPct val="100000"/>
              </a:lnSpc>
              <a:spcBef>
                <a:spcPts val="690"/>
              </a:spcBef>
              <a:buClr>
                <a:srgbClr val="CC9A00"/>
              </a:buClr>
              <a:buSzPct val="64583"/>
              <a:buFont typeface="Wingdings"/>
              <a:buChar char=""/>
              <a:tabLst>
                <a:tab pos="348615" algn="l"/>
                <a:tab pos="349250" algn="l"/>
              </a:tabLst>
            </a:pPr>
            <a:r>
              <a:rPr sz="2400" spc="-5" dirty="0">
                <a:latin typeface="Arial"/>
                <a:cs typeface="Arial"/>
              </a:rPr>
              <a:t>Mệnh đề điều kiện của một</a:t>
            </a:r>
            <a:r>
              <a:rPr sz="2400" spc="40" dirty="0">
                <a:latin typeface="Arial"/>
                <a:cs typeface="Arial"/>
              </a:rPr>
              <a:t> </a:t>
            </a:r>
            <a:r>
              <a:rPr sz="2400" spc="-5" dirty="0">
                <a:latin typeface="Arial"/>
                <a:cs typeface="Arial"/>
              </a:rPr>
              <a:t>luật</a:t>
            </a:r>
            <a:endParaRPr sz="2400">
              <a:latin typeface="Arial"/>
              <a:cs typeface="Arial"/>
            </a:endParaRPr>
          </a:p>
          <a:p>
            <a:pPr marL="675640" lvl="1" indent="-286385">
              <a:lnSpc>
                <a:spcPct val="100000"/>
              </a:lnSpc>
              <a:spcBef>
                <a:spcPts val="490"/>
              </a:spcBef>
              <a:buClr>
                <a:srgbClr val="3B822F"/>
              </a:buClr>
              <a:buSzPct val="60000"/>
              <a:buFont typeface="Wingdings"/>
              <a:buChar char=""/>
              <a:tabLst>
                <a:tab pos="675640" algn="l"/>
                <a:tab pos="676275" algn="l"/>
              </a:tabLst>
            </a:pPr>
            <a:r>
              <a:rPr sz="2000" spc="-10" dirty="0">
                <a:latin typeface="Arial"/>
                <a:cs typeface="Arial"/>
              </a:rPr>
              <a:t>Không </a:t>
            </a:r>
            <a:r>
              <a:rPr sz="2000" spc="-5" dirty="0">
                <a:latin typeface="Arial"/>
                <a:cs typeface="Arial"/>
              </a:rPr>
              <a:t>cần sử dụng toán tử logic OR</a:t>
            </a:r>
            <a:endParaRPr sz="2000">
              <a:latin typeface="Arial"/>
              <a:cs typeface="Arial"/>
            </a:endParaRPr>
          </a:p>
          <a:p>
            <a:pPr marL="675640" marR="210185" lvl="1" indent="-286385">
              <a:lnSpc>
                <a:spcPct val="100000"/>
              </a:lnSpc>
              <a:spcBef>
                <a:spcPts val="480"/>
              </a:spcBef>
              <a:buClr>
                <a:srgbClr val="3B822F"/>
              </a:buClr>
              <a:buSzPct val="60000"/>
              <a:buFont typeface="Wingdings"/>
              <a:buChar char=""/>
              <a:tabLst>
                <a:tab pos="675640" algn="l"/>
                <a:tab pos="676275" algn="l"/>
              </a:tabLst>
            </a:pPr>
            <a:r>
              <a:rPr sz="2000" spc="-5" dirty="0">
                <a:latin typeface="Arial"/>
                <a:cs typeface="Arial"/>
              </a:rPr>
              <a:t>Một luật với toán tử logic OR trong </a:t>
            </a:r>
            <a:r>
              <a:rPr sz="2000" spc="-10" dirty="0">
                <a:latin typeface="Arial"/>
                <a:cs typeface="Arial"/>
              </a:rPr>
              <a:t>mệnh </a:t>
            </a:r>
            <a:r>
              <a:rPr sz="2000" spc="-5" dirty="0">
                <a:latin typeface="Arial"/>
                <a:cs typeface="Arial"/>
              </a:rPr>
              <a:t>đề điều kiện, thì sẽ  được chuyển thành một tập các luật tương ứng không chứa</a:t>
            </a:r>
            <a:r>
              <a:rPr sz="2000" spc="-30" dirty="0">
                <a:latin typeface="Arial"/>
                <a:cs typeface="Arial"/>
              </a:rPr>
              <a:t> </a:t>
            </a:r>
            <a:r>
              <a:rPr sz="2000" spc="-10" dirty="0">
                <a:latin typeface="Arial"/>
                <a:cs typeface="Arial"/>
              </a:rPr>
              <a:t>OR</a:t>
            </a:r>
            <a:endParaRPr sz="2000">
              <a:latin typeface="Arial"/>
              <a:cs typeface="Arial"/>
            </a:endParaRPr>
          </a:p>
          <a:p>
            <a:pPr marL="675640" marR="274320" lvl="1" indent="-285750">
              <a:lnSpc>
                <a:spcPct val="100000"/>
              </a:lnSpc>
              <a:spcBef>
                <a:spcPts val="345"/>
              </a:spcBef>
              <a:buClr>
                <a:srgbClr val="3B822F"/>
              </a:buClr>
              <a:buSzPct val="60000"/>
              <a:buFont typeface="Wingdings"/>
              <a:buChar char=""/>
              <a:tabLst>
                <a:tab pos="675640" algn="l"/>
                <a:tab pos="676275" algn="l"/>
                <a:tab pos="1081405" algn="l"/>
                <a:tab pos="1477645" algn="l"/>
                <a:tab pos="3394710" algn="l"/>
                <a:tab pos="3435985" algn="l"/>
              </a:tabLst>
            </a:pPr>
            <a:r>
              <a:rPr sz="2000" spc="-5" dirty="0">
                <a:latin typeface="Arial"/>
                <a:cs typeface="Arial"/>
              </a:rPr>
              <a:t>Ví</a:t>
            </a:r>
            <a:r>
              <a:rPr sz="2000" spc="-15" dirty="0">
                <a:latin typeface="Arial"/>
                <a:cs typeface="Arial"/>
              </a:rPr>
              <a:t> </a:t>
            </a:r>
            <a:r>
              <a:rPr sz="2000" spc="-5" dirty="0">
                <a:latin typeface="Arial"/>
                <a:cs typeface="Arial"/>
              </a:rPr>
              <a:t>dụ:	Luật</a:t>
            </a:r>
            <a:r>
              <a:rPr sz="2000" spc="-10" dirty="0">
                <a:latin typeface="Arial"/>
                <a:cs typeface="Arial"/>
              </a:rPr>
              <a:t> </a:t>
            </a:r>
            <a:r>
              <a:rPr sz="2000" spc="-5" dirty="0">
                <a:latin typeface="Arial"/>
                <a:cs typeface="Arial"/>
              </a:rPr>
              <a:t>(</a:t>
            </a:r>
            <a:r>
              <a:rPr sz="2000" spc="-5" dirty="0">
                <a:latin typeface="Courier New"/>
                <a:cs typeface="Courier New"/>
              </a:rPr>
              <a:t>IF</a:t>
            </a:r>
            <a:r>
              <a:rPr sz="2000" spc="5" dirty="0">
                <a:latin typeface="Courier New"/>
                <a:cs typeface="Courier New"/>
              </a:rPr>
              <a:t> A</a:t>
            </a:r>
            <a:r>
              <a:rPr sz="1950" spc="7" baseline="-21367" dirty="0">
                <a:latin typeface="Courier New"/>
                <a:cs typeface="Courier New"/>
              </a:rPr>
              <a:t>1</a:t>
            </a:r>
            <a:r>
              <a:rPr sz="2000" spc="5" dirty="0">
                <a:latin typeface="Symbol"/>
                <a:cs typeface="Symbol"/>
              </a:rPr>
              <a:t></a:t>
            </a:r>
            <a:r>
              <a:rPr sz="2000" spc="5" dirty="0">
                <a:latin typeface="Courier New"/>
                <a:cs typeface="Courier New"/>
              </a:rPr>
              <a:t>A</a:t>
            </a:r>
            <a:r>
              <a:rPr sz="1950" spc="7" baseline="-21367" dirty="0">
                <a:latin typeface="Courier New"/>
                <a:cs typeface="Courier New"/>
              </a:rPr>
              <a:t>2	</a:t>
            </a:r>
            <a:r>
              <a:rPr sz="2000" spc="-5" dirty="0">
                <a:latin typeface="Courier New"/>
                <a:cs typeface="Courier New"/>
              </a:rPr>
              <a:t>THEN B</a:t>
            </a:r>
            <a:r>
              <a:rPr sz="2000" spc="-5" dirty="0">
                <a:latin typeface="Arial"/>
                <a:cs typeface="Arial"/>
              </a:rPr>
              <a:t>) được chuyển thành 2 luật (</a:t>
            </a:r>
            <a:r>
              <a:rPr sz="2000" spc="-5" dirty="0">
                <a:latin typeface="Courier New"/>
                <a:cs typeface="Courier New"/>
              </a:rPr>
              <a:t>IF  </a:t>
            </a:r>
            <a:r>
              <a:rPr sz="2000" spc="5" dirty="0">
                <a:latin typeface="Courier New"/>
                <a:cs typeface="Courier New"/>
              </a:rPr>
              <a:t>A</a:t>
            </a:r>
            <a:r>
              <a:rPr sz="1950" spc="7" baseline="-21367" dirty="0">
                <a:latin typeface="Courier New"/>
                <a:cs typeface="Courier New"/>
              </a:rPr>
              <a:t>1	</a:t>
            </a:r>
            <a:r>
              <a:rPr sz="2000" spc="-5" dirty="0">
                <a:latin typeface="Courier New"/>
                <a:cs typeface="Courier New"/>
              </a:rPr>
              <a:t>THEN B</a:t>
            </a:r>
            <a:r>
              <a:rPr sz="2000" spc="-5" dirty="0">
                <a:latin typeface="Arial"/>
                <a:cs typeface="Arial"/>
              </a:rPr>
              <a:t>) và</a:t>
            </a:r>
            <a:r>
              <a:rPr sz="2000" spc="20" dirty="0">
                <a:latin typeface="Arial"/>
                <a:cs typeface="Arial"/>
              </a:rPr>
              <a:t> </a:t>
            </a:r>
            <a:r>
              <a:rPr sz="2000" spc="-5" dirty="0">
                <a:latin typeface="Arial"/>
                <a:cs typeface="Arial"/>
              </a:rPr>
              <a:t>(</a:t>
            </a:r>
            <a:r>
              <a:rPr sz="2000" spc="-5" dirty="0">
                <a:latin typeface="Courier New"/>
                <a:cs typeface="Courier New"/>
              </a:rPr>
              <a:t>IF</a:t>
            </a:r>
            <a:r>
              <a:rPr sz="2000" spc="20" dirty="0">
                <a:latin typeface="Courier New"/>
                <a:cs typeface="Courier New"/>
              </a:rPr>
              <a:t> </a:t>
            </a:r>
            <a:r>
              <a:rPr sz="2000" spc="5" dirty="0">
                <a:latin typeface="Courier New"/>
                <a:cs typeface="Courier New"/>
              </a:rPr>
              <a:t>A</a:t>
            </a:r>
            <a:r>
              <a:rPr sz="1950" spc="7" baseline="-21367" dirty="0">
                <a:latin typeface="Courier New"/>
                <a:cs typeface="Courier New"/>
              </a:rPr>
              <a:t>2		</a:t>
            </a:r>
            <a:r>
              <a:rPr sz="2000" spc="-5" dirty="0">
                <a:latin typeface="Courier New"/>
                <a:cs typeface="Courier New"/>
              </a:rPr>
              <a:t>THEN B</a:t>
            </a:r>
            <a:r>
              <a:rPr sz="2000" spc="-5" dirty="0">
                <a:latin typeface="Arial"/>
                <a:cs typeface="Arial"/>
              </a:rPr>
              <a:t>)</a:t>
            </a:r>
            <a:endParaRPr sz="2000">
              <a:latin typeface="Arial"/>
              <a:cs typeface="Arial"/>
            </a:endParaRPr>
          </a:p>
          <a:p>
            <a:pPr marL="349250" indent="-285750">
              <a:lnSpc>
                <a:spcPct val="100000"/>
              </a:lnSpc>
              <a:spcBef>
                <a:spcPts val="1925"/>
              </a:spcBef>
              <a:buClr>
                <a:srgbClr val="CC9A00"/>
              </a:buClr>
              <a:buSzPct val="64583"/>
              <a:buFont typeface="Wingdings"/>
              <a:buChar char=""/>
              <a:tabLst>
                <a:tab pos="348615" algn="l"/>
                <a:tab pos="349250" algn="l"/>
              </a:tabLst>
            </a:pPr>
            <a:r>
              <a:rPr sz="2400" spc="-5" dirty="0">
                <a:latin typeface="Arial"/>
                <a:cs typeface="Arial"/>
              </a:rPr>
              <a:t>Mệnh đề kết luận của một</a:t>
            </a:r>
            <a:r>
              <a:rPr sz="2400" spc="20" dirty="0">
                <a:latin typeface="Arial"/>
                <a:cs typeface="Arial"/>
              </a:rPr>
              <a:t> </a:t>
            </a:r>
            <a:r>
              <a:rPr sz="2400" spc="-5" dirty="0">
                <a:latin typeface="Arial"/>
                <a:cs typeface="Arial"/>
              </a:rPr>
              <a:t>luật</a:t>
            </a:r>
            <a:endParaRPr sz="2400">
              <a:latin typeface="Arial"/>
              <a:cs typeface="Arial"/>
            </a:endParaRPr>
          </a:p>
          <a:p>
            <a:pPr marL="675640" lvl="1" indent="-286385">
              <a:lnSpc>
                <a:spcPct val="100000"/>
              </a:lnSpc>
              <a:spcBef>
                <a:spcPts val="490"/>
              </a:spcBef>
              <a:buClr>
                <a:srgbClr val="3B822F"/>
              </a:buClr>
              <a:buSzPct val="60000"/>
              <a:buFont typeface="Wingdings"/>
              <a:buChar char=""/>
              <a:tabLst>
                <a:tab pos="675640" algn="l"/>
                <a:tab pos="676275" algn="l"/>
              </a:tabLst>
            </a:pPr>
            <a:r>
              <a:rPr sz="2000" spc="-10" dirty="0">
                <a:latin typeface="Arial"/>
                <a:cs typeface="Arial"/>
              </a:rPr>
              <a:t>Không </a:t>
            </a:r>
            <a:r>
              <a:rPr sz="2000" spc="-5" dirty="0">
                <a:latin typeface="Arial"/>
                <a:cs typeface="Arial"/>
              </a:rPr>
              <a:t>cần sử dụng toán tử logic</a:t>
            </a:r>
            <a:r>
              <a:rPr sz="2000" spc="-10" dirty="0">
                <a:latin typeface="Arial"/>
                <a:cs typeface="Arial"/>
              </a:rPr>
              <a:t> </a:t>
            </a:r>
            <a:r>
              <a:rPr sz="2000" spc="-5" dirty="0">
                <a:latin typeface="Arial"/>
                <a:cs typeface="Arial"/>
              </a:rPr>
              <a:t>AND</a:t>
            </a:r>
            <a:endParaRPr sz="2000">
              <a:latin typeface="Arial"/>
              <a:cs typeface="Arial"/>
            </a:endParaRPr>
          </a:p>
          <a:p>
            <a:pPr marL="675640" marR="55880" lvl="1" indent="-285750">
              <a:lnSpc>
                <a:spcPct val="100000"/>
              </a:lnSpc>
              <a:spcBef>
                <a:spcPts val="480"/>
              </a:spcBef>
              <a:buClr>
                <a:srgbClr val="3B822F"/>
              </a:buClr>
              <a:buSzPct val="60000"/>
              <a:buFont typeface="Wingdings"/>
              <a:buChar char=""/>
              <a:tabLst>
                <a:tab pos="675640" algn="l"/>
                <a:tab pos="676275" algn="l"/>
              </a:tabLst>
            </a:pPr>
            <a:r>
              <a:rPr sz="2000" spc="-5" dirty="0">
                <a:latin typeface="Arial"/>
                <a:cs typeface="Arial"/>
              </a:rPr>
              <a:t>Một luật với toán tử logic AND trong mệnh đề kết luận, thì sẽ  được chuyển thành một tập các luật tương ứng </a:t>
            </a:r>
            <a:r>
              <a:rPr sz="2000" spc="-10" dirty="0">
                <a:latin typeface="Arial"/>
                <a:cs typeface="Arial"/>
              </a:rPr>
              <a:t>không </a:t>
            </a:r>
            <a:r>
              <a:rPr sz="2000" spc="-5" dirty="0">
                <a:latin typeface="Arial"/>
                <a:cs typeface="Arial"/>
              </a:rPr>
              <a:t>chứa</a:t>
            </a:r>
            <a:r>
              <a:rPr sz="2000" spc="-35" dirty="0">
                <a:latin typeface="Arial"/>
                <a:cs typeface="Arial"/>
              </a:rPr>
              <a:t> </a:t>
            </a:r>
            <a:r>
              <a:rPr sz="2000" spc="-10" dirty="0">
                <a:latin typeface="Arial"/>
                <a:cs typeface="Arial"/>
              </a:rPr>
              <a:t>AND</a:t>
            </a:r>
            <a:endParaRPr sz="2000">
              <a:latin typeface="Arial"/>
              <a:cs typeface="Arial"/>
            </a:endParaRPr>
          </a:p>
          <a:p>
            <a:pPr marL="675640" lvl="1" indent="-286385">
              <a:lnSpc>
                <a:spcPts val="2395"/>
              </a:lnSpc>
              <a:spcBef>
                <a:spcPts val="345"/>
              </a:spcBef>
              <a:buClr>
                <a:srgbClr val="3B822F"/>
              </a:buClr>
              <a:buSzPct val="60000"/>
              <a:buFont typeface="Wingdings"/>
              <a:buChar char=""/>
              <a:tabLst>
                <a:tab pos="675640" algn="l"/>
                <a:tab pos="676275" algn="l"/>
                <a:tab pos="1477645" algn="l"/>
              </a:tabLst>
            </a:pPr>
            <a:r>
              <a:rPr sz="2000" spc="-5" dirty="0">
                <a:latin typeface="Arial"/>
                <a:cs typeface="Arial"/>
              </a:rPr>
              <a:t>Ví</a:t>
            </a:r>
            <a:r>
              <a:rPr sz="2000" spc="-10" dirty="0">
                <a:latin typeface="Arial"/>
                <a:cs typeface="Arial"/>
              </a:rPr>
              <a:t> </a:t>
            </a:r>
            <a:r>
              <a:rPr sz="2000" spc="-5" dirty="0">
                <a:latin typeface="Arial"/>
                <a:cs typeface="Arial"/>
              </a:rPr>
              <a:t>dụ:	Luật (</a:t>
            </a:r>
            <a:r>
              <a:rPr sz="2000" spc="-5" dirty="0">
                <a:latin typeface="Courier New"/>
                <a:cs typeface="Courier New"/>
              </a:rPr>
              <a:t>IF … THEN </a:t>
            </a:r>
            <a:r>
              <a:rPr sz="2000" dirty="0">
                <a:latin typeface="Courier New"/>
                <a:cs typeface="Courier New"/>
              </a:rPr>
              <a:t>B</a:t>
            </a:r>
            <a:r>
              <a:rPr sz="1950" baseline="-21367" dirty="0">
                <a:latin typeface="Courier New"/>
                <a:cs typeface="Courier New"/>
              </a:rPr>
              <a:t>1</a:t>
            </a:r>
            <a:r>
              <a:rPr sz="2000" dirty="0">
                <a:latin typeface="Symbol"/>
                <a:cs typeface="Symbol"/>
              </a:rPr>
              <a:t></a:t>
            </a:r>
            <a:r>
              <a:rPr sz="2000" dirty="0">
                <a:latin typeface="Courier New"/>
                <a:cs typeface="Courier New"/>
              </a:rPr>
              <a:t>B</a:t>
            </a:r>
            <a:r>
              <a:rPr sz="1950" baseline="-21367" dirty="0">
                <a:latin typeface="Courier New"/>
                <a:cs typeface="Courier New"/>
              </a:rPr>
              <a:t>2</a:t>
            </a:r>
            <a:r>
              <a:rPr sz="2000" dirty="0">
                <a:latin typeface="Arial"/>
                <a:cs typeface="Arial"/>
              </a:rPr>
              <a:t>) </a:t>
            </a:r>
            <a:r>
              <a:rPr sz="2000" spc="-5" dirty="0">
                <a:latin typeface="Arial"/>
                <a:cs typeface="Arial"/>
              </a:rPr>
              <a:t>được chuyển thành 2 luật</a:t>
            </a:r>
            <a:r>
              <a:rPr sz="2000" spc="-10" dirty="0">
                <a:latin typeface="Arial"/>
                <a:cs typeface="Arial"/>
              </a:rPr>
              <a:t> </a:t>
            </a:r>
            <a:r>
              <a:rPr sz="2000" spc="-5" dirty="0">
                <a:latin typeface="Arial"/>
                <a:cs typeface="Arial"/>
              </a:rPr>
              <a:t>(</a:t>
            </a:r>
            <a:r>
              <a:rPr sz="2000" spc="-5" dirty="0">
                <a:latin typeface="Courier New"/>
                <a:cs typeface="Courier New"/>
              </a:rPr>
              <a:t>IF</a:t>
            </a:r>
            <a:endParaRPr sz="2000">
              <a:latin typeface="Courier New"/>
              <a:cs typeface="Courier New"/>
            </a:endParaRPr>
          </a:p>
          <a:p>
            <a:pPr marL="675640">
              <a:lnSpc>
                <a:spcPts val="2395"/>
              </a:lnSpc>
            </a:pPr>
            <a:r>
              <a:rPr sz="2000" spc="-5" dirty="0">
                <a:latin typeface="Courier New"/>
                <a:cs typeface="Courier New"/>
              </a:rPr>
              <a:t>… THEN </a:t>
            </a:r>
            <a:r>
              <a:rPr sz="2000" dirty="0">
                <a:latin typeface="Courier New"/>
                <a:cs typeface="Courier New"/>
              </a:rPr>
              <a:t>B</a:t>
            </a:r>
            <a:r>
              <a:rPr sz="1950" baseline="-21367" dirty="0">
                <a:latin typeface="Courier New"/>
                <a:cs typeface="Courier New"/>
              </a:rPr>
              <a:t>1</a:t>
            </a:r>
            <a:r>
              <a:rPr sz="2000" dirty="0">
                <a:latin typeface="Arial"/>
                <a:cs typeface="Arial"/>
              </a:rPr>
              <a:t>) </a:t>
            </a:r>
            <a:r>
              <a:rPr sz="2000" spc="-5" dirty="0">
                <a:latin typeface="Arial"/>
                <a:cs typeface="Arial"/>
              </a:rPr>
              <a:t>and (</a:t>
            </a:r>
            <a:r>
              <a:rPr sz="2000" spc="-5" dirty="0">
                <a:latin typeface="Courier New"/>
                <a:cs typeface="Courier New"/>
              </a:rPr>
              <a:t>IF … THEN </a:t>
            </a:r>
            <a:r>
              <a:rPr sz="2000" dirty="0">
                <a:latin typeface="Courier New"/>
                <a:cs typeface="Courier New"/>
              </a:rPr>
              <a:t>B</a:t>
            </a:r>
            <a:r>
              <a:rPr sz="1950" baseline="-21367" dirty="0">
                <a:latin typeface="Courier New"/>
                <a:cs typeface="Courier New"/>
              </a:rPr>
              <a:t>2</a:t>
            </a:r>
            <a:r>
              <a:rPr sz="2000" dirty="0">
                <a:latin typeface="Arial"/>
                <a:cs typeface="Arial"/>
              </a:rPr>
              <a:t>)</a:t>
            </a:r>
            <a:endParaRPr sz="2000">
              <a:latin typeface="Arial"/>
              <a:cs typeface="Arial"/>
            </a:endParaRPr>
          </a:p>
          <a:p>
            <a:pPr marL="675640" lvl="1" indent="-286385">
              <a:lnSpc>
                <a:spcPct val="100000"/>
              </a:lnSpc>
              <a:spcBef>
                <a:spcPts val="1340"/>
              </a:spcBef>
              <a:buClr>
                <a:srgbClr val="3B822F"/>
              </a:buClr>
              <a:buSzPct val="60000"/>
              <a:buFont typeface="Wingdings"/>
              <a:buChar char=""/>
              <a:tabLst>
                <a:tab pos="675640" algn="l"/>
                <a:tab pos="676275" algn="l"/>
              </a:tabLst>
            </a:pPr>
            <a:r>
              <a:rPr sz="2000" spc="-10" dirty="0">
                <a:latin typeface="Arial"/>
                <a:cs typeface="Arial"/>
              </a:rPr>
              <a:t>Không </a:t>
            </a:r>
            <a:r>
              <a:rPr sz="2000" spc="-5" dirty="0">
                <a:latin typeface="Arial"/>
                <a:cs typeface="Arial"/>
              </a:rPr>
              <a:t>cho phép sử dụng toán tử</a:t>
            </a:r>
            <a:r>
              <a:rPr sz="2000" spc="-10" dirty="0">
                <a:latin typeface="Arial"/>
                <a:cs typeface="Arial"/>
              </a:rPr>
              <a:t> OR!</a:t>
            </a:r>
            <a:endParaRPr sz="20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6BE26B2F-10C5-4717-87BB-32817248E2F6}"/>
              </a:ext>
            </a:extLst>
          </p:cNvPr>
          <p:cNvSpPr>
            <a:spLocks noGrp="1"/>
          </p:cNvSpPr>
          <p:nvPr>
            <p:ph type="title"/>
          </p:nvPr>
        </p:nvSpPr>
        <p:spPr/>
        <p:txBody>
          <a:bodyPr/>
          <a:lstStyle/>
          <a:p>
            <a:r>
              <a:rPr lang="en-US" sz="3600" b="0" spc="-5">
                <a:latin typeface="Verdana"/>
                <a:cs typeface="Verdana"/>
              </a:rPr>
              <a:t>Biểu diễn </a:t>
            </a:r>
            <a:r>
              <a:rPr lang="en-US" sz="3600" b="0">
                <a:latin typeface="Verdana"/>
                <a:cs typeface="Verdana"/>
              </a:rPr>
              <a:t>tri </a:t>
            </a:r>
            <a:r>
              <a:rPr lang="en-US" sz="3600" b="0" spc="-5">
                <a:latin typeface="Verdana"/>
                <a:cs typeface="Verdana"/>
              </a:rPr>
              <a:t>thức </a:t>
            </a:r>
            <a:r>
              <a:rPr lang="en-US" sz="3600" b="0">
                <a:latin typeface="Verdana"/>
                <a:cs typeface="Verdana"/>
              </a:rPr>
              <a:t>bằng </a:t>
            </a:r>
            <a:r>
              <a:rPr lang="en-US" sz="3600" b="0" spc="-5">
                <a:latin typeface="Verdana"/>
                <a:cs typeface="Verdana"/>
              </a:rPr>
              <a:t>luật</a:t>
            </a:r>
            <a:endParaRPr lang="en-US" b="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9</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647305" cy="4643120"/>
          </a:xfrm>
          <a:prstGeom prst="rect">
            <a:avLst/>
          </a:prstGeom>
        </p:spPr>
        <p:txBody>
          <a:bodyPr vert="horz" wrap="square" lIns="0" tIns="12700" rIns="0" bIns="0" rtlCol="0">
            <a:spAutoFit/>
          </a:bodyPr>
          <a:lstStyle/>
          <a:p>
            <a:pPr marL="298450" marR="10160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Các kiểu luật khác nhau để biểu diễn các kiểu tri thức  khác</a:t>
            </a:r>
            <a:r>
              <a:rPr sz="2400" spc="-10" dirty="0">
                <a:latin typeface="Arial"/>
                <a:cs typeface="Arial"/>
              </a:rPr>
              <a:t> </a:t>
            </a:r>
            <a:r>
              <a:rPr sz="2400" spc="-5" dirty="0">
                <a:latin typeface="Arial"/>
                <a:cs typeface="Arial"/>
              </a:rPr>
              <a:t>nhau</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Quan hệ liên</a:t>
            </a:r>
            <a:r>
              <a:rPr sz="2400" spc="15" dirty="0">
                <a:latin typeface="Arial"/>
                <a:cs typeface="Arial"/>
              </a:rPr>
              <a:t> </a:t>
            </a:r>
            <a:r>
              <a:rPr sz="2400" spc="-5" dirty="0">
                <a:latin typeface="Arial"/>
                <a:cs typeface="Arial"/>
              </a:rPr>
              <a:t>kết</a:t>
            </a:r>
            <a:endParaRPr sz="2400">
              <a:latin typeface="Arial"/>
              <a:cs typeface="Arial"/>
            </a:endParaRPr>
          </a:p>
          <a:p>
            <a:pPr marL="624840" lvl="1" indent="-286385">
              <a:lnSpc>
                <a:spcPct val="100000"/>
              </a:lnSpc>
              <a:spcBef>
                <a:spcPts val="309"/>
              </a:spcBef>
              <a:buClr>
                <a:srgbClr val="3B822F"/>
              </a:buClr>
              <a:buSzPct val="60000"/>
              <a:buFont typeface="Wingdings"/>
              <a:buChar char=""/>
              <a:tabLst>
                <a:tab pos="624840" algn="l"/>
                <a:tab pos="625475" algn="l"/>
              </a:tabLst>
            </a:pPr>
            <a:r>
              <a:rPr sz="2000" spc="-5" dirty="0">
                <a:latin typeface="Courier New"/>
                <a:cs typeface="Courier New"/>
              </a:rPr>
              <a:t>IF addressAt(x, Hospital) THEN heathIs(x,</a:t>
            </a:r>
            <a:r>
              <a:rPr sz="2000" spc="65" dirty="0">
                <a:latin typeface="Courier New"/>
                <a:cs typeface="Courier New"/>
              </a:rPr>
              <a:t> </a:t>
            </a:r>
            <a:r>
              <a:rPr sz="2000" spc="-5" dirty="0">
                <a:latin typeface="Courier New"/>
                <a:cs typeface="Courier New"/>
              </a:rPr>
              <a:t>Bad)</a:t>
            </a:r>
            <a:endParaRPr sz="2000">
              <a:latin typeface="Courier New"/>
              <a:cs typeface="Courier New"/>
            </a:endParaRPr>
          </a:p>
          <a:p>
            <a:pPr marL="298450" indent="-285750">
              <a:lnSpc>
                <a:spcPct val="100000"/>
              </a:lnSpc>
              <a:spcBef>
                <a:spcPts val="745"/>
              </a:spcBef>
              <a:buClr>
                <a:srgbClr val="CC9A00"/>
              </a:buClr>
              <a:buSzPct val="64583"/>
              <a:buFont typeface="Wingdings"/>
              <a:buChar char=""/>
              <a:tabLst>
                <a:tab pos="297815" algn="l"/>
                <a:tab pos="298450" algn="l"/>
              </a:tabLst>
            </a:pPr>
            <a:r>
              <a:rPr sz="2400" spc="-5" dirty="0">
                <a:latin typeface="Arial"/>
                <a:cs typeface="Arial"/>
              </a:rPr>
              <a:t>Quan hệ nguyên nhân (kết</a:t>
            </a:r>
            <a:r>
              <a:rPr sz="2400" spc="35" dirty="0">
                <a:latin typeface="Arial"/>
                <a:cs typeface="Arial"/>
              </a:rPr>
              <a:t> </a:t>
            </a:r>
            <a:r>
              <a:rPr sz="2400" spc="-5" dirty="0">
                <a:latin typeface="Arial"/>
                <a:cs typeface="Arial"/>
              </a:rPr>
              <a:t>quả)</a:t>
            </a:r>
            <a:endParaRPr sz="2400">
              <a:latin typeface="Arial"/>
              <a:cs typeface="Arial"/>
            </a:endParaRPr>
          </a:p>
          <a:p>
            <a:pPr marL="624840" marR="461645" lvl="1" indent="-285750">
              <a:lnSpc>
                <a:spcPct val="100000"/>
              </a:lnSpc>
              <a:spcBef>
                <a:spcPts val="310"/>
              </a:spcBef>
              <a:buClr>
                <a:srgbClr val="3B822F"/>
              </a:buClr>
              <a:buSzPct val="60000"/>
              <a:buFont typeface="Wingdings"/>
              <a:buChar char=""/>
              <a:tabLst>
                <a:tab pos="624840" algn="l"/>
                <a:tab pos="625475" algn="l"/>
              </a:tabLst>
            </a:pPr>
            <a:r>
              <a:rPr sz="2000" spc="-5" dirty="0">
                <a:latin typeface="Courier New"/>
                <a:cs typeface="Courier New"/>
              </a:rPr>
              <a:t>IF diseaseType(x, Infection) THEN tempIs(x,  High)</a:t>
            </a:r>
            <a:endParaRPr sz="2000">
              <a:latin typeface="Courier New"/>
              <a:cs typeface="Courier New"/>
            </a:endParaRPr>
          </a:p>
          <a:p>
            <a:pPr marL="298450" indent="-285750">
              <a:lnSpc>
                <a:spcPct val="100000"/>
              </a:lnSpc>
              <a:spcBef>
                <a:spcPts val="745"/>
              </a:spcBef>
              <a:buClr>
                <a:srgbClr val="CC9A00"/>
              </a:buClr>
              <a:buSzPct val="64583"/>
              <a:buFont typeface="Wingdings"/>
              <a:buChar char=""/>
              <a:tabLst>
                <a:tab pos="297815" algn="l"/>
                <a:tab pos="298450" algn="l"/>
              </a:tabLst>
            </a:pPr>
            <a:r>
              <a:rPr sz="2400" spc="-5" dirty="0">
                <a:latin typeface="Arial"/>
                <a:cs typeface="Arial"/>
              </a:rPr>
              <a:t>Tình huống và hành động (gợi</a:t>
            </a:r>
            <a:r>
              <a:rPr sz="2400" spc="45" dirty="0">
                <a:latin typeface="Arial"/>
                <a:cs typeface="Arial"/>
              </a:rPr>
              <a:t> </a:t>
            </a:r>
            <a:r>
              <a:rPr sz="2400" dirty="0">
                <a:latin typeface="Arial"/>
                <a:cs typeface="Arial"/>
              </a:rPr>
              <a:t>ý)</a:t>
            </a:r>
            <a:endParaRPr sz="2400">
              <a:latin typeface="Arial"/>
              <a:cs typeface="Arial"/>
            </a:endParaRPr>
          </a:p>
          <a:p>
            <a:pPr marL="624840" marR="1985645" lvl="1" indent="-285750">
              <a:lnSpc>
                <a:spcPct val="100000"/>
              </a:lnSpc>
              <a:spcBef>
                <a:spcPts val="310"/>
              </a:spcBef>
              <a:buClr>
                <a:srgbClr val="3B822F"/>
              </a:buClr>
              <a:buSzPct val="60000"/>
              <a:buFont typeface="Wingdings"/>
              <a:buChar char=""/>
              <a:tabLst>
                <a:tab pos="624840" algn="l"/>
                <a:tab pos="625475" algn="l"/>
              </a:tabLst>
            </a:pPr>
            <a:r>
              <a:rPr sz="2000" spc="-5" dirty="0">
                <a:latin typeface="Courier New"/>
                <a:cs typeface="Courier New"/>
              </a:rPr>
              <a:t>IF diseaseType(x, Infection) THEN  takeMedicine(x, Antibiotic)</a:t>
            </a:r>
            <a:endParaRPr sz="2000">
              <a:latin typeface="Courier New"/>
              <a:cs typeface="Courier New"/>
            </a:endParaRPr>
          </a:p>
          <a:p>
            <a:pPr marL="298450" indent="-285750">
              <a:lnSpc>
                <a:spcPct val="100000"/>
              </a:lnSpc>
              <a:spcBef>
                <a:spcPts val="745"/>
              </a:spcBef>
              <a:buClr>
                <a:srgbClr val="CC9A00"/>
              </a:buClr>
              <a:buSzPct val="64583"/>
              <a:buFont typeface="Wingdings"/>
              <a:buChar char=""/>
              <a:tabLst>
                <a:tab pos="297815" algn="l"/>
                <a:tab pos="298450" algn="l"/>
              </a:tabLst>
            </a:pPr>
            <a:r>
              <a:rPr sz="2400" spc="-5" dirty="0">
                <a:latin typeface="Arial"/>
                <a:cs typeface="Arial"/>
              </a:rPr>
              <a:t>Quan hệ</a:t>
            </a:r>
            <a:r>
              <a:rPr sz="2400" dirty="0">
                <a:latin typeface="Arial"/>
                <a:cs typeface="Arial"/>
              </a:rPr>
              <a:t> </a:t>
            </a:r>
            <a:r>
              <a:rPr sz="2400" spc="-5" dirty="0">
                <a:latin typeface="Arial"/>
                <a:cs typeface="Arial"/>
              </a:rPr>
              <a:t>logic</a:t>
            </a:r>
            <a:endParaRPr sz="2400">
              <a:latin typeface="Arial"/>
              <a:cs typeface="Arial"/>
            </a:endParaRPr>
          </a:p>
          <a:p>
            <a:pPr marL="624840" lvl="1" indent="-286385">
              <a:lnSpc>
                <a:spcPct val="100000"/>
              </a:lnSpc>
              <a:spcBef>
                <a:spcPts val="310"/>
              </a:spcBef>
              <a:buClr>
                <a:srgbClr val="3B822F"/>
              </a:buClr>
              <a:buSzPct val="60000"/>
              <a:buFont typeface="Wingdings"/>
              <a:buChar char=""/>
              <a:tabLst>
                <a:tab pos="624840" algn="l"/>
                <a:tab pos="625475" algn="l"/>
              </a:tabLst>
            </a:pPr>
            <a:r>
              <a:rPr sz="2000" spc="-5" dirty="0">
                <a:latin typeface="Courier New"/>
                <a:cs typeface="Courier New"/>
              </a:rPr>
              <a:t>IF tempGreater(x, 37) THEN</a:t>
            </a:r>
            <a:r>
              <a:rPr sz="2000" spc="20" dirty="0">
                <a:latin typeface="Courier New"/>
                <a:cs typeface="Courier New"/>
              </a:rPr>
              <a:t> </a:t>
            </a:r>
            <a:r>
              <a:rPr sz="2000" spc="-5" dirty="0">
                <a:latin typeface="Courier New"/>
                <a:cs typeface="Courier New"/>
              </a:rPr>
              <a:t>isFever(x)</a:t>
            </a:r>
            <a:endParaRPr sz="2000">
              <a:latin typeface="Courier New"/>
              <a:cs typeface="Courier New"/>
            </a:endParaRPr>
          </a:p>
        </p:txBody>
      </p:sp>
      <p:grpSp>
        <p:nvGrpSpPr>
          <p:cNvPr id="8" name="object 8"/>
          <p:cNvGrpSpPr/>
          <p:nvPr/>
        </p:nvGrpSpPr>
        <p:grpSpPr>
          <a:xfrm>
            <a:off x="457200" y="6332220"/>
            <a:ext cx="9144000" cy="982980"/>
            <a:chOff x="457200" y="6332220"/>
            <a:chExt cx="9144000" cy="982980"/>
          </a:xfrm>
        </p:grpSpPr>
        <p:sp>
          <p:nvSpPr>
            <p:cNvPr id="9" name="object 9"/>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E7CADE11-E41A-4B5E-8C8A-86775DA8AC52}"/>
              </a:ext>
            </a:extLst>
          </p:cNvPr>
          <p:cNvSpPr>
            <a:spLocks noGrp="1"/>
          </p:cNvSpPr>
          <p:nvPr>
            <p:ph type="title"/>
          </p:nvPr>
        </p:nvSpPr>
        <p:spPr/>
        <p:txBody>
          <a:bodyPr/>
          <a:lstStyle/>
          <a:p>
            <a:r>
              <a:rPr lang="en-US" b="0" spc="-5">
                <a:latin typeface="Verdana"/>
                <a:cs typeface="Verdana"/>
              </a:rPr>
              <a:t>Các </a:t>
            </a:r>
            <a:r>
              <a:rPr lang="en-US" b="0">
                <a:latin typeface="Verdana"/>
                <a:cs typeface="Verdana"/>
              </a:rPr>
              <a:t>kiểu</a:t>
            </a:r>
            <a:r>
              <a:rPr lang="en-US" b="0" spc="-90">
                <a:latin typeface="Verdana"/>
                <a:cs typeface="Verdana"/>
              </a:rPr>
              <a:t> </a:t>
            </a:r>
            <a:r>
              <a:rPr lang="en-US" b="0" spc="-5">
                <a:latin typeface="Verdana"/>
                <a:cs typeface="Verdana"/>
              </a:rPr>
              <a:t>luật</a:t>
            </a:r>
            <a:endParaRPr lang="en-US" b="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1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33" name="object 33"/>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4" name="object 34"/>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10</a:t>
            </a:fld>
            <a:endParaRPr spc="-40" dirty="0"/>
          </a:p>
        </p:txBody>
      </p:sp>
      <p:grpSp>
        <p:nvGrpSpPr>
          <p:cNvPr id="3" name="object 3"/>
          <p:cNvGrpSpPr/>
          <p:nvPr/>
        </p:nvGrpSpPr>
        <p:grpSpPr>
          <a:xfrm>
            <a:off x="457200" y="1436369"/>
            <a:ext cx="9144000" cy="1944370"/>
            <a:chOff x="457200" y="1436369"/>
            <a:chExt cx="9144000" cy="194437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1062228" y="1976627"/>
              <a:ext cx="8120380" cy="1403985"/>
            </a:xfrm>
            <a:custGeom>
              <a:avLst/>
              <a:gdLst/>
              <a:ahLst/>
              <a:cxnLst/>
              <a:rect l="l" t="t" r="r" b="b"/>
              <a:pathLst>
                <a:path w="8120380" h="1403985">
                  <a:moveTo>
                    <a:pt x="8119872" y="0"/>
                  </a:moveTo>
                  <a:lnTo>
                    <a:pt x="0" y="0"/>
                  </a:lnTo>
                  <a:lnTo>
                    <a:pt x="0" y="438912"/>
                  </a:lnTo>
                  <a:lnTo>
                    <a:pt x="4572" y="438912"/>
                  </a:lnTo>
                  <a:lnTo>
                    <a:pt x="9893" y="438912"/>
                  </a:lnTo>
                  <a:lnTo>
                    <a:pt x="9893" y="9906"/>
                  </a:lnTo>
                  <a:lnTo>
                    <a:pt x="8110728" y="9906"/>
                  </a:lnTo>
                  <a:lnTo>
                    <a:pt x="8110728" y="438912"/>
                  </a:lnTo>
                  <a:lnTo>
                    <a:pt x="8110728" y="1393698"/>
                  </a:lnTo>
                  <a:lnTo>
                    <a:pt x="9906" y="1393698"/>
                  </a:lnTo>
                  <a:lnTo>
                    <a:pt x="9906" y="438924"/>
                  </a:lnTo>
                  <a:lnTo>
                    <a:pt x="0" y="438924"/>
                  </a:lnTo>
                  <a:lnTo>
                    <a:pt x="0" y="1403604"/>
                  </a:lnTo>
                  <a:lnTo>
                    <a:pt x="4559" y="1403604"/>
                  </a:lnTo>
                  <a:lnTo>
                    <a:pt x="9893" y="1403604"/>
                  </a:lnTo>
                  <a:lnTo>
                    <a:pt x="8110728" y="1403604"/>
                  </a:lnTo>
                  <a:lnTo>
                    <a:pt x="8115300" y="1403604"/>
                  </a:lnTo>
                  <a:lnTo>
                    <a:pt x="8119872" y="1403604"/>
                  </a:lnTo>
                  <a:lnTo>
                    <a:pt x="8119872" y="438912"/>
                  </a:lnTo>
                  <a:lnTo>
                    <a:pt x="8119872" y="0"/>
                  </a:lnTo>
                  <a:close/>
                </a:path>
              </a:pathLst>
            </a:custGeom>
            <a:solidFill>
              <a:srgbClr val="0D0D0D"/>
            </a:solidFill>
          </p:spPr>
          <p:txBody>
            <a:bodyPr wrap="square" lIns="0" tIns="0" rIns="0" bIns="0" rtlCol="0"/>
            <a:lstStyle/>
            <a:p>
              <a:endParaRPr/>
            </a:p>
          </p:txBody>
        </p:sp>
      </p:grpSp>
      <p:sp>
        <p:nvSpPr>
          <p:cNvPr id="7" name="object 7"/>
          <p:cNvSpPr txBox="1"/>
          <p:nvPr/>
        </p:nvSpPr>
        <p:spPr>
          <a:xfrm>
            <a:off x="1144777" y="1854200"/>
            <a:ext cx="7626350" cy="1305560"/>
          </a:xfrm>
          <a:prstGeom prst="rect">
            <a:avLst/>
          </a:prstGeom>
        </p:spPr>
        <p:txBody>
          <a:bodyPr vert="horz" wrap="square" lIns="0" tIns="165100" rIns="0" bIns="0" rtlCol="0">
            <a:spAutoFit/>
          </a:bodyPr>
          <a:lstStyle/>
          <a:p>
            <a:pPr marL="189865" indent="-177800">
              <a:lnSpc>
                <a:spcPct val="100000"/>
              </a:lnSpc>
              <a:spcBef>
                <a:spcPts val="1300"/>
              </a:spcBef>
              <a:buClr>
                <a:srgbClr val="CC9A00"/>
              </a:buClr>
              <a:buSzPct val="63888"/>
              <a:buFont typeface="Wingdings"/>
              <a:buChar char=""/>
              <a:tabLst>
                <a:tab pos="190500" algn="l"/>
              </a:tabLst>
            </a:pPr>
            <a:r>
              <a:rPr sz="1800" dirty="0">
                <a:solidFill>
                  <a:srgbClr val="0D0D0D"/>
                </a:solidFill>
                <a:latin typeface="Arial"/>
                <a:cs typeface="Arial"/>
              </a:rPr>
              <a:t>IF (Shape=long) </a:t>
            </a:r>
            <a:r>
              <a:rPr sz="1800" b="1" dirty="0">
                <a:solidFill>
                  <a:srgbClr val="0D0D0D"/>
                </a:solidFill>
                <a:latin typeface="Arial"/>
                <a:cs typeface="Arial"/>
              </a:rPr>
              <a:t>AND </a:t>
            </a:r>
            <a:r>
              <a:rPr sz="1800" dirty="0">
                <a:solidFill>
                  <a:srgbClr val="0D0D0D"/>
                </a:solidFill>
                <a:latin typeface="Arial"/>
                <a:cs typeface="Arial"/>
              </a:rPr>
              <a:t>(Color=(green </a:t>
            </a:r>
            <a:r>
              <a:rPr sz="1800" b="1" spc="-5" dirty="0">
                <a:solidFill>
                  <a:srgbClr val="0D0D0D"/>
                </a:solidFill>
                <a:latin typeface="Arial"/>
                <a:cs typeface="Arial"/>
              </a:rPr>
              <a:t>OR </a:t>
            </a:r>
            <a:r>
              <a:rPr sz="1800" dirty="0">
                <a:solidFill>
                  <a:srgbClr val="0D0D0D"/>
                </a:solidFill>
                <a:latin typeface="Arial"/>
                <a:cs typeface="Arial"/>
              </a:rPr>
              <a:t>yellow)) THEN</a:t>
            </a:r>
            <a:r>
              <a:rPr sz="1800" spc="355" dirty="0">
                <a:solidFill>
                  <a:srgbClr val="0D0D0D"/>
                </a:solidFill>
                <a:latin typeface="Arial"/>
                <a:cs typeface="Arial"/>
              </a:rPr>
              <a:t> </a:t>
            </a:r>
            <a:r>
              <a:rPr sz="1800" dirty="0">
                <a:solidFill>
                  <a:srgbClr val="0D0D0D"/>
                </a:solidFill>
                <a:latin typeface="Arial"/>
                <a:cs typeface="Arial"/>
              </a:rPr>
              <a:t>(Fruit=banana)</a:t>
            </a:r>
            <a:endParaRPr sz="1800">
              <a:latin typeface="Arial"/>
              <a:cs typeface="Arial"/>
            </a:endParaRPr>
          </a:p>
          <a:p>
            <a:pPr marL="189865" indent="-177800">
              <a:lnSpc>
                <a:spcPct val="100000"/>
              </a:lnSpc>
              <a:spcBef>
                <a:spcPts val="1200"/>
              </a:spcBef>
              <a:buClr>
                <a:srgbClr val="CC9A00"/>
              </a:buClr>
              <a:buSzPct val="63888"/>
              <a:buFont typeface="Wingdings"/>
              <a:buChar char=""/>
              <a:tabLst>
                <a:tab pos="190500" algn="l"/>
              </a:tabLst>
            </a:pPr>
            <a:r>
              <a:rPr sz="1800" dirty="0">
                <a:solidFill>
                  <a:srgbClr val="0D0D0D"/>
                </a:solidFill>
                <a:latin typeface="Arial"/>
                <a:cs typeface="Arial"/>
              </a:rPr>
              <a:t>IF (Shape=(round </a:t>
            </a:r>
            <a:r>
              <a:rPr sz="1800" b="1" spc="-5" dirty="0">
                <a:solidFill>
                  <a:srgbClr val="0D0D0D"/>
                </a:solidFill>
                <a:latin typeface="Arial"/>
                <a:cs typeface="Arial"/>
              </a:rPr>
              <a:t>OR </a:t>
            </a:r>
            <a:r>
              <a:rPr sz="1800" dirty="0">
                <a:solidFill>
                  <a:srgbClr val="0D0D0D"/>
                </a:solidFill>
                <a:latin typeface="Arial"/>
                <a:cs typeface="Arial"/>
              </a:rPr>
              <a:t>oblong)) </a:t>
            </a:r>
            <a:r>
              <a:rPr sz="1800" b="1" dirty="0">
                <a:solidFill>
                  <a:srgbClr val="0D0D0D"/>
                </a:solidFill>
                <a:latin typeface="Arial"/>
                <a:cs typeface="Arial"/>
              </a:rPr>
              <a:t>AND </a:t>
            </a:r>
            <a:r>
              <a:rPr sz="1800" dirty="0">
                <a:solidFill>
                  <a:srgbClr val="0D0D0D"/>
                </a:solidFill>
                <a:latin typeface="Arial"/>
                <a:cs typeface="Arial"/>
              </a:rPr>
              <a:t>(Diam &gt; </a:t>
            </a:r>
            <a:r>
              <a:rPr sz="1800" spc="-5" dirty="0">
                <a:solidFill>
                  <a:srgbClr val="0D0D0D"/>
                </a:solidFill>
                <a:latin typeface="Arial"/>
                <a:cs typeface="Arial"/>
              </a:rPr>
              <a:t>4) </a:t>
            </a:r>
            <a:r>
              <a:rPr sz="1800" dirty="0">
                <a:solidFill>
                  <a:srgbClr val="0D0D0D"/>
                </a:solidFill>
                <a:latin typeface="Arial"/>
                <a:cs typeface="Arial"/>
              </a:rPr>
              <a:t>THEN</a:t>
            </a:r>
            <a:r>
              <a:rPr sz="1800" spc="360" dirty="0">
                <a:solidFill>
                  <a:srgbClr val="0D0D0D"/>
                </a:solidFill>
                <a:latin typeface="Arial"/>
                <a:cs typeface="Arial"/>
              </a:rPr>
              <a:t> </a:t>
            </a:r>
            <a:r>
              <a:rPr sz="1800" dirty="0">
                <a:solidFill>
                  <a:srgbClr val="0D0D0D"/>
                </a:solidFill>
                <a:latin typeface="Arial"/>
                <a:cs typeface="Arial"/>
              </a:rPr>
              <a:t>(Fruitclass=vine)</a:t>
            </a:r>
            <a:endParaRPr sz="1800">
              <a:latin typeface="Arial"/>
              <a:cs typeface="Arial"/>
            </a:endParaRPr>
          </a:p>
          <a:p>
            <a:pPr marL="189865" indent="-177800">
              <a:lnSpc>
                <a:spcPct val="100000"/>
              </a:lnSpc>
              <a:spcBef>
                <a:spcPts val="1200"/>
              </a:spcBef>
              <a:buClr>
                <a:srgbClr val="CC9A00"/>
              </a:buClr>
              <a:buSzPct val="63888"/>
              <a:buFont typeface="Wingdings"/>
              <a:buChar char=""/>
              <a:tabLst>
                <a:tab pos="190500" algn="l"/>
                <a:tab pos="5116830" algn="l"/>
              </a:tabLst>
            </a:pPr>
            <a:r>
              <a:rPr sz="1800" dirty="0">
                <a:solidFill>
                  <a:srgbClr val="0D0D0D"/>
                </a:solidFill>
                <a:latin typeface="Arial"/>
                <a:cs typeface="Arial"/>
              </a:rPr>
              <a:t>IF  (Fruitclass=vine) </a:t>
            </a:r>
            <a:r>
              <a:rPr sz="1800" b="1" dirty="0">
                <a:solidFill>
                  <a:srgbClr val="0D0D0D"/>
                </a:solidFill>
                <a:latin typeface="Arial"/>
                <a:cs typeface="Arial"/>
              </a:rPr>
              <a:t>AND</a:t>
            </a:r>
            <a:r>
              <a:rPr sz="1800" b="1" spc="-30" dirty="0">
                <a:solidFill>
                  <a:srgbClr val="0D0D0D"/>
                </a:solidFill>
                <a:latin typeface="Arial"/>
                <a:cs typeface="Arial"/>
              </a:rPr>
              <a:t> </a:t>
            </a:r>
            <a:r>
              <a:rPr sz="1800" dirty="0">
                <a:solidFill>
                  <a:srgbClr val="0D0D0D"/>
                </a:solidFill>
                <a:latin typeface="Arial"/>
                <a:cs typeface="Arial"/>
              </a:rPr>
              <a:t>(Color=green)</a:t>
            </a:r>
            <a:r>
              <a:rPr sz="1800" spc="484" dirty="0">
                <a:solidFill>
                  <a:srgbClr val="0D0D0D"/>
                </a:solidFill>
                <a:latin typeface="Arial"/>
                <a:cs typeface="Arial"/>
              </a:rPr>
              <a:t> </a:t>
            </a:r>
            <a:r>
              <a:rPr sz="1800" dirty="0">
                <a:solidFill>
                  <a:srgbClr val="0D0D0D"/>
                </a:solidFill>
                <a:latin typeface="Arial"/>
                <a:cs typeface="Arial"/>
              </a:rPr>
              <a:t>THEN	(Fruit=watermelon)</a:t>
            </a:r>
            <a:endParaRPr sz="1800">
              <a:latin typeface="Arial"/>
              <a:cs typeface="Arial"/>
            </a:endParaRPr>
          </a:p>
        </p:txBody>
      </p:sp>
      <p:sp>
        <p:nvSpPr>
          <p:cNvPr id="8" name="object 8"/>
          <p:cNvSpPr txBox="1"/>
          <p:nvPr/>
        </p:nvSpPr>
        <p:spPr>
          <a:xfrm>
            <a:off x="2821177" y="3738626"/>
            <a:ext cx="13265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Shape=long</a:t>
            </a:r>
            <a:endParaRPr sz="1800">
              <a:latin typeface="Arial"/>
              <a:cs typeface="Arial"/>
            </a:endParaRPr>
          </a:p>
        </p:txBody>
      </p:sp>
      <p:sp>
        <p:nvSpPr>
          <p:cNvPr id="9" name="object 9"/>
          <p:cNvSpPr txBox="1"/>
          <p:nvPr/>
        </p:nvSpPr>
        <p:spPr>
          <a:xfrm>
            <a:off x="7396226" y="3759200"/>
            <a:ext cx="159321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Fruit </a:t>
            </a:r>
            <a:r>
              <a:rPr sz="1800" b="1" dirty="0">
                <a:latin typeface="Arial"/>
                <a:cs typeface="Arial"/>
              </a:rPr>
              <a:t>=</a:t>
            </a:r>
            <a:r>
              <a:rPr sz="1800" b="1" spc="-90" dirty="0">
                <a:latin typeface="Arial"/>
                <a:cs typeface="Arial"/>
              </a:rPr>
              <a:t> </a:t>
            </a:r>
            <a:r>
              <a:rPr sz="1800" b="1" spc="-5" dirty="0">
                <a:latin typeface="Arial"/>
                <a:cs typeface="Arial"/>
              </a:rPr>
              <a:t>banana</a:t>
            </a:r>
            <a:endParaRPr sz="1800">
              <a:latin typeface="Arial"/>
              <a:cs typeface="Arial"/>
            </a:endParaRPr>
          </a:p>
        </p:txBody>
      </p:sp>
      <p:grpSp>
        <p:nvGrpSpPr>
          <p:cNvPr id="10" name="object 10"/>
          <p:cNvGrpSpPr/>
          <p:nvPr/>
        </p:nvGrpSpPr>
        <p:grpSpPr>
          <a:xfrm>
            <a:off x="4221479" y="3848790"/>
            <a:ext cx="3097530" cy="525145"/>
            <a:chOff x="4221479" y="3848790"/>
            <a:chExt cx="3097530" cy="525145"/>
          </a:xfrm>
        </p:grpSpPr>
        <p:sp>
          <p:nvSpPr>
            <p:cNvPr id="11" name="object 11"/>
            <p:cNvSpPr/>
            <p:nvPr/>
          </p:nvSpPr>
          <p:spPr>
            <a:xfrm>
              <a:off x="4221480" y="3921251"/>
              <a:ext cx="3097530" cy="452755"/>
            </a:xfrm>
            <a:custGeom>
              <a:avLst/>
              <a:gdLst/>
              <a:ahLst/>
              <a:cxnLst/>
              <a:rect l="l" t="t" r="r" b="b"/>
              <a:pathLst>
                <a:path w="3097529" h="452754">
                  <a:moveTo>
                    <a:pt x="3097530" y="0"/>
                  </a:moveTo>
                  <a:lnTo>
                    <a:pt x="0" y="0"/>
                  </a:lnTo>
                  <a:lnTo>
                    <a:pt x="0" y="25908"/>
                  </a:lnTo>
                  <a:lnTo>
                    <a:pt x="2975076" y="25908"/>
                  </a:lnTo>
                  <a:lnTo>
                    <a:pt x="2227326" y="433578"/>
                  </a:lnTo>
                  <a:lnTo>
                    <a:pt x="2195538" y="452628"/>
                  </a:lnTo>
                  <a:lnTo>
                    <a:pt x="2204707" y="452628"/>
                  </a:lnTo>
                  <a:lnTo>
                    <a:pt x="2237829" y="452628"/>
                  </a:lnTo>
                  <a:lnTo>
                    <a:pt x="2238489" y="452628"/>
                  </a:lnTo>
                  <a:lnTo>
                    <a:pt x="2240457" y="452628"/>
                  </a:lnTo>
                  <a:lnTo>
                    <a:pt x="2245106" y="452628"/>
                  </a:lnTo>
                  <a:lnTo>
                    <a:pt x="3029191" y="25908"/>
                  </a:lnTo>
                  <a:lnTo>
                    <a:pt x="3097530" y="25908"/>
                  </a:lnTo>
                  <a:lnTo>
                    <a:pt x="3097530" y="0"/>
                  </a:lnTo>
                  <a:close/>
                </a:path>
              </a:pathLst>
            </a:custGeom>
            <a:solidFill>
              <a:srgbClr val="000000"/>
            </a:solidFill>
          </p:spPr>
          <p:txBody>
            <a:bodyPr wrap="square" lIns="0" tIns="0" rIns="0" bIns="0" rtlCol="0"/>
            <a:lstStyle/>
            <a:p>
              <a:endParaRPr/>
            </a:p>
          </p:txBody>
        </p:sp>
        <p:sp>
          <p:nvSpPr>
            <p:cNvPr id="12" name="object 12"/>
            <p:cNvSpPr/>
            <p:nvPr/>
          </p:nvSpPr>
          <p:spPr>
            <a:xfrm>
              <a:off x="7161275" y="3848790"/>
              <a:ext cx="152400" cy="151542"/>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6375653" y="4286988"/>
              <a:ext cx="152400" cy="86891"/>
            </a:xfrm>
            <a:prstGeom prst="rect">
              <a:avLst/>
            </a:prstGeom>
            <a:blipFill>
              <a:blip r:embed="rId3" cstate="print"/>
              <a:stretch>
                <a:fillRect/>
              </a:stretch>
            </a:blipFill>
          </p:spPr>
          <p:txBody>
            <a:bodyPr wrap="square" lIns="0" tIns="0" rIns="0" bIns="0" rtlCol="0"/>
            <a:lstStyle/>
            <a:p>
              <a:endParaRPr/>
            </a:p>
          </p:txBody>
        </p:sp>
        <p:sp>
          <p:nvSpPr>
            <p:cNvPr id="14" name="object 14"/>
            <p:cNvSpPr/>
            <p:nvPr/>
          </p:nvSpPr>
          <p:spPr>
            <a:xfrm>
              <a:off x="4288535" y="4281678"/>
              <a:ext cx="196215" cy="92710"/>
            </a:xfrm>
            <a:custGeom>
              <a:avLst/>
              <a:gdLst/>
              <a:ahLst/>
              <a:cxnLst/>
              <a:rect l="l" t="t" r="r" b="b"/>
              <a:pathLst>
                <a:path w="196214" h="92710">
                  <a:moveTo>
                    <a:pt x="195694" y="92201"/>
                  </a:moveTo>
                  <a:lnTo>
                    <a:pt x="11429" y="0"/>
                  </a:lnTo>
                  <a:lnTo>
                    <a:pt x="0" y="22860"/>
                  </a:lnTo>
                  <a:lnTo>
                    <a:pt x="138579" y="92201"/>
                  </a:lnTo>
                  <a:lnTo>
                    <a:pt x="195694" y="92201"/>
                  </a:lnTo>
                  <a:close/>
                </a:path>
              </a:pathLst>
            </a:custGeom>
            <a:solidFill>
              <a:srgbClr val="000000"/>
            </a:solidFill>
          </p:spPr>
          <p:txBody>
            <a:bodyPr wrap="square" lIns="0" tIns="0" rIns="0" bIns="0" rtlCol="0"/>
            <a:lstStyle/>
            <a:p>
              <a:endParaRPr/>
            </a:p>
          </p:txBody>
        </p:sp>
      </p:grpSp>
      <p:sp>
        <p:nvSpPr>
          <p:cNvPr id="15" name="object 15"/>
          <p:cNvSpPr/>
          <p:nvPr/>
        </p:nvSpPr>
        <p:spPr>
          <a:xfrm>
            <a:off x="1054608" y="4102793"/>
            <a:ext cx="151637" cy="151491"/>
          </a:xfrm>
          <a:prstGeom prst="rect">
            <a:avLst/>
          </a:prstGeom>
          <a:blipFill>
            <a:blip r:embed="rId4" cstate="print"/>
            <a:stretch>
              <a:fillRect/>
            </a:stretch>
          </a:blipFill>
        </p:spPr>
        <p:txBody>
          <a:bodyPr wrap="square" lIns="0" tIns="0" rIns="0" bIns="0" rtlCol="0"/>
          <a:lstStyle/>
          <a:p>
            <a:endParaRPr/>
          </a:p>
        </p:txBody>
      </p:sp>
      <p:sp>
        <p:nvSpPr>
          <p:cNvPr id="16" name="object 16"/>
          <p:cNvSpPr txBox="1"/>
          <p:nvPr/>
        </p:nvSpPr>
        <p:spPr>
          <a:xfrm>
            <a:off x="1297939" y="3989323"/>
            <a:ext cx="2938780" cy="509270"/>
          </a:xfrm>
          <a:prstGeom prst="rect">
            <a:avLst/>
          </a:prstGeom>
        </p:spPr>
        <p:txBody>
          <a:bodyPr vert="horz" wrap="square" lIns="0" tIns="12700" rIns="0" bIns="0" rtlCol="0">
            <a:spAutoFit/>
          </a:bodyPr>
          <a:lstStyle/>
          <a:p>
            <a:pPr marL="12700">
              <a:lnSpc>
                <a:spcPts val="1905"/>
              </a:lnSpc>
              <a:spcBef>
                <a:spcPts val="100"/>
              </a:spcBef>
            </a:pPr>
            <a:r>
              <a:rPr sz="1800" dirty="0">
                <a:latin typeface="Arial"/>
                <a:cs typeface="Arial"/>
              </a:rPr>
              <a:t>AND</a:t>
            </a:r>
            <a:endParaRPr sz="1800">
              <a:latin typeface="Arial"/>
              <a:cs typeface="Arial"/>
            </a:endParaRPr>
          </a:p>
          <a:p>
            <a:pPr marL="1459230">
              <a:lnSpc>
                <a:spcPts val="1905"/>
              </a:lnSpc>
            </a:pPr>
            <a:r>
              <a:rPr sz="1800" b="1" spc="-5" dirty="0">
                <a:latin typeface="Arial"/>
                <a:cs typeface="Arial"/>
              </a:rPr>
              <a:t>Shape=round</a:t>
            </a:r>
            <a:endParaRPr sz="1800">
              <a:latin typeface="Arial"/>
              <a:cs typeface="Arial"/>
            </a:endParaRPr>
          </a:p>
        </p:txBody>
      </p:sp>
      <p:sp>
        <p:nvSpPr>
          <p:cNvPr id="18" name="object 18"/>
          <p:cNvSpPr txBox="1"/>
          <p:nvPr/>
        </p:nvSpPr>
        <p:spPr>
          <a:xfrm>
            <a:off x="6603745" y="4894579"/>
            <a:ext cx="182245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Fruitclass =</a:t>
            </a:r>
            <a:r>
              <a:rPr sz="1800" b="1" spc="-100" dirty="0">
                <a:latin typeface="Arial"/>
                <a:cs typeface="Arial"/>
              </a:rPr>
              <a:t> </a:t>
            </a:r>
            <a:r>
              <a:rPr sz="1800" b="1" spc="-5" dirty="0">
                <a:latin typeface="Arial"/>
                <a:cs typeface="Arial"/>
              </a:rPr>
              <a:t>vine</a:t>
            </a:r>
            <a:endParaRPr sz="1800">
              <a:latin typeface="Arial"/>
              <a:cs typeface="Arial"/>
            </a:endParaRPr>
          </a:p>
        </p:txBody>
      </p:sp>
      <p:grpSp>
        <p:nvGrpSpPr>
          <p:cNvPr id="19" name="object 19"/>
          <p:cNvGrpSpPr/>
          <p:nvPr/>
        </p:nvGrpSpPr>
        <p:grpSpPr>
          <a:xfrm>
            <a:off x="457200" y="4373879"/>
            <a:ext cx="9144000" cy="1958339"/>
            <a:chOff x="457200" y="4373879"/>
            <a:chExt cx="9144000" cy="1958339"/>
          </a:xfrm>
        </p:grpSpPr>
        <p:sp>
          <p:nvSpPr>
            <p:cNvPr id="20" name="object 20"/>
            <p:cNvSpPr/>
            <p:nvPr/>
          </p:nvSpPr>
          <p:spPr>
            <a:xfrm>
              <a:off x="4005072" y="4373879"/>
              <a:ext cx="2796540" cy="979169"/>
            </a:xfrm>
            <a:custGeom>
              <a:avLst/>
              <a:gdLst/>
              <a:ahLst/>
              <a:cxnLst/>
              <a:rect l="l" t="t" r="r" b="b"/>
              <a:pathLst>
                <a:path w="2796540" h="979170">
                  <a:moveTo>
                    <a:pt x="1226058" y="411480"/>
                  </a:moveTo>
                  <a:lnTo>
                    <a:pt x="361188" y="411480"/>
                  </a:lnTo>
                  <a:lnTo>
                    <a:pt x="361188" y="436638"/>
                  </a:lnTo>
                  <a:lnTo>
                    <a:pt x="1226058" y="436638"/>
                  </a:lnTo>
                  <a:lnTo>
                    <a:pt x="1226058" y="411480"/>
                  </a:lnTo>
                  <a:close/>
                </a:path>
                <a:path w="2796540" h="979170">
                  <a:moveTo>
                    <a:pt x="1303020" y="412242"/>
                  </a:moveTo>
                  <a:lnTo>
                    <a:pt x="479158" y="0"/>
                  </a:lnTo>
                  <a:lnTo>
                    <a:pt x="422033" y="0"/>
                  </a:lnTo>
                  <a:lnTo>
                    <a:pt x="1291590" y="435102"/>
                  </a:lnTo>
                  <a:lnTo>
                    <a:pt x="1303020" y="412242"/>
                  </a:lnTo>
                  <a:close/>
                </a:path>
                <a:path w="2796540" h="979170">
                  <a:moveTo>
                    <a:pt x="2458212" y="1524"/>
                  </a:moveTo>
                  <a:lnTo>
                    <a:pt x="2456865" y="0"/>
                  </a:lnTo>
                  <a:lnTo>
                    <a:pt x="2454897" y="0"/>
                  </a:lnTo>
                  <a:lnTo>
                    <a:pt x="2421115" y="0"/>
                  </a:lnTo>
                  <a:lnTo>
                    <a:pt x="2411946" y="0"/>
                  </a:lnTo>
                  <a:lnTo>
                    <a:pt x="2328316" y="50139"/>
                  </a:lnTo>
                  <a:lnTo>
                    <a:pt x="2328316" y="79997"/>
                  </a:lnTo>
                  <a:lnTo>
                    <a:pt x="1767281" y="563651"/>
                  </a:lnTo>
                  <a:lnTo>
                    <a:pt x="1745526" y="555282"/>
                  </a:lnTo>
                  <a:lnTo>
                    <a:pt x="1745526" y="582422"/>
                  </a:lnTo>
                  <a:lnTo>
                    <a:pt x="1496898" y="796759"/>
                  </a:lnTo>
                  <a:lnTo>
                    <a:pt x="1112901" y="808558"/>
                  </a:lnTo>
                  <a:lnTo>
                    <a:pt x="1590001" y="522566"/>
                  </a:lnTo>
                  <a:lnTo>
                    <a:pt x="1745526" y="582422"/>
                  </a:lnTo>
                  <a:lnTo>
                    <a:pt x="1745526" y="555282"/>
                  </a:lnTo>
                  <a:lnTo>
                    <a:pt x="1617573" y="506044"/>
                  </a:lnTo>
                  <a:lnTo>
                    <a:pt x="2328316" y="79997"/>
                  </a:lnTo>
                  <a:lnTo>
                    <a:pt x="2328316" y="50139"/>
                  </a:lnTo>
                  <a:lnTo>
                    <a:pt x="1587233" y="494360"/>
                  </a:lnTo>
                  <a:lnTo>
                    <a:pt x="1373886" y="412242"/>
                  </a:lnTo>
                  <a:lnTo>
                    <a:pt x="1364742" y="435864"/>
                  </a:lnTo>
                  <a:lnTo>
                    <a:pt x="1559661" y="510895"/>
                  </a:lnTo>
                  <a:lnTo>
                    <a:pt x="1060386" y="810183"/>
                  </a:lnTo>
                  <a:lnTo>
                    <a:pt x="0" y="842772"/>
                  </a:lnTo>
                  <a:lnTo>
                    <a:pt x="762" y="868680"/>
                  </a:lnTo>
                  <a:lnTo>
                    <a:pt x="1015377" y="837158"/>
                  </a:lnTo>
                  <a:lnTo>
                    <a:pt x="778459" y="979170"/>
                  </a:lnTo>
                  <a:lnTo>
                    <a:pt x="828281" y="979170"/>
                  </a:lnTo>
                  <a:lnTo>
                    <a:pt x="1067917" y="835520"/>
                  </a:lnTo>
                  <a:lnTo>
                    <a:pt x="1466291" y="823150"/>
                  </a:lnTo>
                  <a:lnTo>
                    <a:pt x="1285303" y="979170"/>
                  </a:lnTo>
                  <a:lnTo>
                    <a:pt x="1324165" y="979170"/>
                  </a:lnTo>
                  <a:lnTo>
                    <a:pt x="1506601" y="821893"/>
                  </a:lnTo>
                  <a:lnTo>
                    <a:pt x="2305812" y="797052"/>
                  </a:lnTo>
                  <a:lnTo>
                    <a:pt x="2305456" y="785393"/>
                  </a:lnTo>
                  <a:lnTo>
                    <a:pt x="2310384" y="772668"/>
                  </a:lnTo>
                  <a:lnTo>
                    <a:pt x="2242845" y="746683"/>
                  </a:lnTo>
                  <a:lnTo>
                    <a:pt x="2242845" y="773823"/>
                  </a:lnTo>
                  <a:lnTo>
                    <a:pt x="1537195" y="795515"/>
                  </a:lnTo>
                  <a:lnTo>
                    <a:pt x="1772386" y="592759"/>
                  </a:lnTo>
                  <a:lnTo>
                    <a:pt x="2242845" y="773823"/>
                  </a:lnTo>
                  <a:lnTo>
                    <a:pt x="2242845" y="746683"/>
                  </a:lnTo>
                  <a:lnTo>
                    <a:pt x="1794154" y="574001"/>
                  </a:lnTo>
                  <a:lnTo>
                    <a:pt x="2455875" y="3530"/>
                  </a:lnTo>
                  <a:lnTo>
                    <a:pt x="2456688" y="3048"/>
                  </a:lnTo>
                  <a:lnTo>
                    <a:pt x="2456599" y="2921"/>
                  </a:lnTo>
                  <a:lnTo>
                    <a:pt x="2458212" y="1524"/>
                  </a:lnTo>
                  <a:close/>
                </a:path>
                <a:path w="2796540" h="979170">
                  <a:moveTo>
                    <a:pt x="2796133" y="979170"/>
                  </a:moveTo>
                  <a:lnTo>
                    <a:pt x="2382774" y="772668"/>
                  </a:lnTo>
                  <a:lnTo>
                    <a:pt x="2371344" y="795528"/>
                  </a:lnTo>
                  <a:lnTo>
                    <a:pt x="2738945" y="979170"/>
                  </a:lnTo>
                  <a:lnTo>
                    <a:pt x="2796133" y="979170"/>
                  </a:lnTo>
                  <a:close/>
                </a:path>
              </a:pathLst>
            </a:custGeom>
            <a:solidFill>
              <a:srgbClr val="000000"/>
            </a:solidFill>
          </p:spPr>
          <p:txBody>
            <a:bodyPr wrap="square" lIns="0" tIns="0" rIns="0" bIns="0" rtlCol="0"/>
            <a:lstStyle/>
            <a:p>
              <a:endParaRPr/>
            </a:p>
          </p:txBody>
        </p:sp>
        <p:sp>
          <p:nvSpPr>
            <p:cNvPr id="21" name="object 21"/>
            <p:cNvSpPr/>
            <p:nvPr/>
          </p:nvSpPr>
          <p:spPr>
            <a:xfrm>
              <a:off x="6297929" y="5072781"/>
              <a:ext cx="151637" cy="151392"/>
            </a:xfrm>
            <a:prstGeom prst="rect">
              <a:avLst/>
            </a:prstGeom>
            <a:blipFill>
              <a:blip r:embed="rId5" cstate="print"/>
              <a:stretch>
                <a:fillRect/>
              </a:stretch>
            </a:blipFill>
          </p:spPr>
          <p:txBody>
            <a:bodyPr wrap="square" lIns="0" tIns="0" rIns="0" bIns="0" rtlCol="0"/>
            <a:lstStyle/>
            <a:p>
              <a:endParaRPr/>
            </a:p>
          </p:txBody>
        </p:sp>
        <p:sp>
          <p:nvSpPr>
            <p:cNvPr id="22" name="object 22"/>
            <p:cNvSpPr/>
            <p:nvPr/>
          </p:nvSpPr>
          <p:spPr>
            <a:xfrm>
              <a:off x="5225034" y="4723552"/>
              <a:ext cx="151637" cy="151436"/>
            </a:xfrm>
            <a:prstGeom prst="rect">
              <a:avLst/>
            </a:prstGeom>
            <a:blipFill>
              <a:blip r:embed="rId6" cstate="print"/>
              <a:stretch>
                <a:fillRect/>
              </a:stretch>
            </a:blipFill>
          </p:spPr>
          <p:txBody>
            <a:bodyPr wrap="square" lIns="0" tIns="0" rIns="0" bIns="0" rtlCol="0"/>
            <a:lstStyle/>
            <a:p>
              <a:endParaRPr/>
            </a:p>
          </p:txBody>
        </p:sp>
        <p:sp>
          <p:nvSpPr>
            <p:cNvPr id="23" name="object 23"/>
            <p:cNvSpPr/>
            <p:nvPr/>
          </p:nvSpPr>
          <p:spPr>
            <a:xfrm>
              <a:off x="6377540" y="4373879"/>
              <a:ext cx="147460" cy="64518"/>
            </a:xfrm>
            <a:prstGeom prst="rect">
              <a:avLst/>
            </a:prstGeom>
            <a:blipFill>
              <a:blip r:embed="rId7" cstate="print"/>
              <a:stretch>
                <a:fillRect/>
              </a:stretch>
            </a:blipFill>
          </p:spPr>
          <p:txBody>
            <a:bodyPr wrap="square" lIns="0" tIns="0" rIns="0" bIns="0" rtlCol="0"/>
            <a:lstStyle/>
            <a:p>
              <a:endParaRPr/>
            </a:p>
          </p:txBody>
        </p:sp>
        <p:sp>
          <p:nvSpPr>
            <p:cNvPr id="24" name="object 24"/>
            <p:cNvSpPr/>
            <p:nvPr/>
          </p:nvSpPr>
          <p:spPr>
            <a:xfrm>
              <a:off x="1060704" y="4718732"/>
              <a:ext cx="152400" cy="151476"/>
            </a:xfrm>
            <a:prstGeom prst="rect">
              <a:avLst/>
            </a:prstGeom>
            <a:blipFill>
              <a:blip r:embed="rId8" cstate="print"/>
              <a:stretch>
                <a:fillRect/>
              </a:stretch>
            </a:blipFill>
          </p:spPr>
          <p:txBody>
            <a:bodyPr wrap="square" lIns="0" tIns="0" rIns="0" bIns="0" rtlCol="0"/>
            <a:lstStyle/>
            <a:p>
              <a:endParaRPr/>
            </a:p>
          </p:txBody>
        </p:sp>
        <p:sp>
          <p:nvSpPr>
            <p:cNvPr id="25" name="object 25"/>
            <p:cNvSpPr/>
            <p:nvPr/>
          </p:nvSpPr>
          <p:spPr>
            <a:xfrm>
              <a:off x="457200" y="535304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grpSp>
      <p:sp>
        <p:nvSpPr>
          <p:cNvPr id="26" name="object 26"/>
          <p:cNvSpPr txBox="1"/>
          <p:nvPr/>
        </p:nvSpPr>
        <p:spPr>
          <a:xfrm>
            <a:off x="1297939" y="4598923"/>
            <a:ext cx="3683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OR</a:t>
            </a:r>
            <a:endParaRPr sz="1800">
              <a:latin typeface="Arial"/>
              <a:cs typeface="Arial"/>
            </a:endParaRPr>
          </a:p>
        </p:txBody>
      </p:sp>
      <p:sp>
        <p:nvSpPr>
          <p:cNvPr id="27" name="object 27"/>
          <p:cNvSpPr txBox="1"/>
          <p:nvPr/>
        </p:nvSpPr>
        <p:spPr>
          <a:xfrm>
            <a:off x="2744977" y="4661407"/>
            <a:ext cx="1605915" cy="1685289"/>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Shape=oblong</a:t>
            </a:r>
            <a:endParaRPr sz="1800">
              <a:latin typeface="Arial"/>
              <a:cs typeface="Arial"/>
            </a:endParaRPr>
          </a:p>
          <a:p>
            <a:pPr marL="165100" marR="5080">
              <a:lnSpc>
                <a:spcPct val="168300"/>
              </a:lnSpc>
            </a:pPr>
            <a:r>
              <a:rPr sz="1800" b="1" dirty="0">
                <a:latin typeface="Arial"/>
                <a:cs typeface="Arial"/>
              </a:rPr>
              <a:t>Diam &gt; 4  </a:t>
            </a:r>
            <a:r>
              <a:rPr sz="1800" b="1" spc="-5" dirty="0">
                <a:latin typeface="Arial"/>
                <a:cs typeface="Arial"/>
              </a:rPr>
              <a:t>Color=green  Color=</a:t>
            </a:r>
            <a:r>
              <a:rPr sz="1800" b="1" dirty="0">
                <a:latin typeface="Arial"/>
                <a:cs typeface="Arial"/>
              </a:rPr>
              <a:t>y</a:t>
            </a:r>
            <a:r>
              <a:rPr sz="1800" b="1" spc="-5" dirty="0">
                <a:latin typeface="Arial"/>
                <a:cs typeface="Arial"/>
              </a:rPr>
              <a:t>ellow</a:t>
            </a:r>
            <a:endParaRPr sz="1800">
              <a:latin typeface="Arial"/>
              <a:cs typeface="Arial"/>
            </a:endParaRPr>
          </a:p>
        </p:txBody>
      </p:sp>
      <p:sp>
        <p:nvSpPr>
          <p:cNvPr id="28" name="object 28"/>
          <p:cNvSpPr txBox="1"/>
          <p:nvPr/>
        </p:nvSpPr>
        <p:spPr>
          <a:xfrm>
            <a:off x="7164585" y="5687067"/>
            <a:ext cx="206375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Fruit =</a:t>
            </a:r>
            <a:r>
              <a:rPr sz="1800" b="1" spc="-100" dirty="0">
                <a:latin typeface="Arial"/>
                <a:cs typeface="Arial"/>
              </a:rPr>
              <a:t> </a:t>
            </a:r>
            <a:r>
              <a:rPr sz="1800" b="1" spc="-5" dirty="0">
                <a:latin typeface="Arial"/>
                <a:cs typeface="Arial"/>
              </a:rPr>
              <a:t>watermelon</a:t>
            </a:r>
            <a:endParaRPr sz="1800">
              <a:latin typeface="Arial"/>
              <a:cs typeface="Arial"/>
            </a:endParaRPr>
          </a:p>
        </p:txBody>
      </p:sp>
      <p:grpSp>
        <p:nvGrpSpPr>
          <p:cNvPr id="29" name="object 29"/>
          <p:cNvGrpSpPr/>
          <p:nvPr/>
        </p:nvGrpSpPr>
        <p:grpSpPr>
          <a:xfrm>
            <a:off x="4287773" y="5353050"/>
            <a:ext cx="3099435" cy="822960"/>
            <a:chOff x="4287773" y="5353050"/>
            <a:chExt cx="3099435" cy="822960"/>
          </a:xfrm>
        </p:grpSpPr>
        <p:sp>
          <p:nvSpPr>
            <p:cNvPr id="30" name="object 30"/>
            <p:cNvSpPr/>
            <p:nvPr/>
          </p:nvSpPr>
          <p:spPr>
            <a:xfrm>
              <a:off x="4287774" y="5353049"/>
              <a:ext cx="2965450" cy="822960"/>
            </a:xfrm>
            <a:custGeom>
              <a:avLst/>
              <a:gdLst/>
              <a:ahLst/>
              <a:cxnLst/>
              <a:rect l="l" t="t" r="r" b="b"/>
              <a:pathLst>
                <a:path w="2965450" h="822960">
                  <a:moveTo>
                    <a:pt x="545579" y="0"/>
                  </a:moveTo>
                  <a:lnTo>
                    <a:pt x="495757" y="0"/>
                  </a:lnTo>
                  <a:lnTo>
                    <a:pt x="0" y="297180"/>
                  </a:lnTo>
                  <a:lnTo>
                    <a:pt x="12954" y="319278"/>
                  </a:lnTo>
                  <a:lnTo>
                    <a:pt x="545579" y="0"/>
                  </a:lnTo>
                  <a:close/>
                </a:path>
                <a:path w="2965450" h="822960">
                  <a:moveTo>
                    <a:pt x="2959608" y="320802"/>
                  </a:moveTo>
                  <a:lnTo>
                    <a:pt x="2958846" y="295656"/>
                  </a:lnTo>
                  <a:lnTo>
                    <a:pt x="631634" y="353314"/>
                  </a:lnTo>
                  <a:lnTo>
                    <a:pt x="1041463" y="0"/>
                  </a:lnTo>
                  <a:lnTo>
                    <a:pt x="1002601" y="0"/>
                  </a:lnTo>
                  <a:lnTo>
                    <a:pt x="591616" y="354304"/>
                  </a:lnTo>
                  <a:lnTo>
                    <a:pt x="6096" y="368808"/>
                  </a:lnTo>
                  <a:lnTo>
                    <a:pt x="6858" y="393954"/>
                  </a:lnTo>
                  <a:lnTo>
                    <a:pt x="561568" y="380212"/>
                  </a:lnTo>
                  <a:lnTo>
                    <a:pt x="70104" y="803910"/>
                  </a:lnTo>
                  <a:lnTo>
                    <a:pt x="86868" y="822960"/>
                  </a:lnTo>
                  <a:lnTo>
                    <a:pt x="601573" y="379222"/>
                  </a:lnTo>
                  <a:lnTo>
                    <a:pt x="2959608" y="320802"/>
                  </a:lnTo>
                  <a:close/>
                </a:path>
                <a:path w="2965450" h="822960">
                  <a:moveTo>
                    <a:pt x="2964942" y="225552"/>
                  </a:moveTo>
                  <a:lnTo>
                    <a:pt x="2513431" y="0"/>
                  </a:lnTo>
                  <a:lnTo>
                    <a:pt x="2456243" y="0"/>
                  </a:lnTo>
                  <a:lnTo>
                    <a:pt x="2953512" y="248412"/>
                  </a:lnTo>
                  <a:lnTo>
                    <a:pt x="2964942" y="225552"/>
                  </a:lnTo>
                  <a:close/>
                </a:path>
              </a:pathLst>
            </a:custGeom>
            <a:solidFill>
              <a:srgbClr val="000000"/>
            </a:solidFill>
          </p:spPr>
          <p:txBody>
            <a:bodyPr wrap="square" lIns="0" tIns="0" rIns="0" bIns="0" rtlCol="0"/>
            <a:lstStyle/>
            <a:p>
              <a:endParaRPr/>
            </a:p>
          </p:txBody>
        </p:sp>
        <p:sp>
          <p:nvSpPr>
            <p:cNvPr id="31" name="object 31"/>
            <p:cNvSpPr/>
            <p:nvPr/>
          </p:nvSpPr>
          <p:spPr>
            <a:xfrm>
              <a:off x="7234427" y="5577568"/>
              <a:ext cx="152400" cy="151629"/>
            </a:xfrm>
            <a:prstGeom prst="rect">
              <a:avLst/>
            </a:prstGeom>
            <a:blipFill>
              <a:blip r:embed="rId9" cstate="print"/>
              <a:stretch>
                <a:fillRect/>
              </a:stretch>
            </a:blipFill>
          </p:spPr>
          <p:txBody>
            <a:bodyPr wrap="square" lIns="0" tIns="0" rIns="0" bIns="0" rtlCol="0"/>
            <a:lstStyle/>
            <a:p>
              <a:endParaRPr/>
            </a:p>
          </p:txBody>
        </p:sp>
      </p:grpSp>
      <p:sp>
        <p:nvSpPr>
          <p:cNvPr id="32" name="object 32"/>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36" name="Title 35">
            <a:extLst>
              <a:ext uri="{FF2B5EF4-FFF2-40B4-BE49-F238E27FC236}">
                <a16:creationId xmlns:a16="http://schemas.microsoft.com/office/drawing/2014/main" id="{6E934F0A-0FC1-400B-8D74-67CC8913EFD6}"/>
              </a:ext>
            </a:extLst>
          </p:cNvPr>
          <p:cNvSpPr>
            <a:spLocks noGrp="1"/>
          </p:cNvSpPr>
          <p:nvPr>
            <p:ph type="title"/>
          </p:nvPr>
        </p:nvSpPr>
        <p:spPr/>
        <p:txBody>
          <a:bodyPr/>
          <a:lstStyle/>
          <a:p>
            <a:r>
              <a:rPr lang="en-US" b="0" spc="-5">
                <a:latin typeface="Verdana"/>
                <a:cs typeface="Verdana"/>
              </a:rPr>
              <a:t>Đồ thị </a:t>
            </a:r>
            <a:r>
              <a:rPr lang="en-US" b="0">
                <a:latin typeface="Verdana"/>
                <a:cs typeface="Verdana"/>
              </a:rPr>
              <a:t>AND/OR</a:t>
            </a:r>
            <a:r>
              <a:rPr lang="en-US" b="0" spc="-90">
                <a:latin typeface="Verdana"/>
                <a:cs typeface="Verdana"/>
              </a:rPr>
              <a:t> </a:t>
            </a:r>
            <a:r>
              <a:rPr lang="en-US" b="0" spc="-5">
                <a:latin typeface="Verdana"/>
                <a:cs typeface="Verdana"/>
              </a:rPr>
              <a:t>(1)</a:t>
            </a:r>
            <a:endParaRPr lang="en-US"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11</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77238"/>
            <a:ext cx="7665720" cy="369951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 pos="1059180" algn="l"/>
                <a:tab pos="3389629" algn="l"/>
              </a:tabLst>
            </a:pPr>
            <a:r>
              <a:rPr sz="2400" spc="-5" dirty="0">
                <a:solidFill>
                  <a:srgbClr val="0D0D0D"/>
                </a:solidFill>
                <a:latin typeface="Arial"/>
                <a:cs typeface="Arial"/>
              </a:rPr>
              <a:t>Luật	</a:t>
            </a:r>
            <a:r>
              <a:rPr sz="2400" i="1" spc="-5" dirty="0">
                <a:solidFill>
                  <a:srgbClr val="0D0D0D"/>
                </a:solidFill>
                <a:latin typeface="Arial"/>
                <a:cs typeface="Arial"/>
              </a:rPr>
              <a:t>IF (Shape=long) </a:t>
            </a:r>
            <a:r>
              <a:rPr sz="2400" b="1" i="1" dirty="0">
                <a:solidFill>
                  <a:srgbClr val="0D0D0D"/>
                </a:solidFill>
                <a:latin typeface="Arial"/>
                <a:cs typeface="Arial"/>
              </a:rPr>
              <a:t>AND </a:t>
            </a:r>
            <a:r>
              <a:rPr sz="2400" i="1" dirty="0">
                <a:solidFill>
                  <a:srgbClr val="0D0D0D"/>
                </a:solidFill>
                <a:latin typeface="Arial"/>
                <a:cs typeface="Arial"/>
              </a:rPr>
              <a:t>(Color=(green </a:t>
            </a:r>
            <a:r>
              <a:rPr sz="2400" b="1" i="1" spc="-5" dirty="0">
                <a:solidFill>
                  <a:srgbClr val="0D0D0D"/>
                </a:solidFill>
                <a:latin typeface="Arial"/>
                <a:cs typeface="Arial"/>
              </a:rPr>
              <a:t>OR </a:t>
            </a:r>
            <a:r>
              <a:rPr sz="2400" i="1" spc="-5" dirty="0">
                <a:solidFill>
                  <a:srgbClr val="0D0D0D"/>
                </a:solidFill>
                <a:latin typeface="Arial"/>
                <a:cs typeface="Arial"/>
              </a:rPr>
              <a:t>yellow))  THEN</a:t>
            </a:r>
            <a:r>
              <a:rPr sz="2400" i="1" dirty="0">
                <a:solidFill>
                  <a:srgbClr val="0D0D0D"/>
                </a:solidFill>
                <a:latin typeface="Arial"/>
                <a:cs typeface="Arial"/>
              </a:rPr>
              <a:t> </a:t>
            </a:r>
            <a:r>
              <a:rPr sz="2400" i="1" spc="-5" dirty="0">
                <a:solidFill>
                  <a:srgbClr val="0D0D0D"/>
                </a:solidFill>
                <a:latin typeface="Arial"/>
                <a:cs typeface="Arial"/>
              </a:rPr>
              <a:t>(Fruit=banana)	</a:t>
            </a:r>
            <a:r>
              <a:rPr sz="2400" spc="-5" dirty="0">
                <a:solidFill>
                  <a:srgbClr val="0D0D0D"/>
                </a:solidFill>
                <a:latin typeface="Arial"/>
                <a:cs typeface="Arial"/>
              </a:rPr>
              <a:t>được tạo nên bởi các</a:t>
            </a:r>
            <a:r>
              <a:rPr sz="2400" spc="25" dirty="0">
                <a:solidFill>
                  <a:srgbClr val="0D0D0D"/>
                </a:solidFill>
                <a:latin typeface="Arial"/>
                <a:cs typeface="Arial"/>
              </a:rPr>
              <a:t> </a:t>
            </a:r>
            <a:r>
              <a:rPr sz="2400" spc="-5" dirty="0">
                <a:solidFill>
                  <a:srgbClr val="0D0D0D"/>
                </a:solidFill>
                <a:latin typeface="Arial"/>
                <a:cs typeface="Arial"/>
              </a:rPr>
              <a:t>luật:</a:t>
            </a:r>
            <a:endParaRPr sz="2400">
              <a:latin typeface="Arial"/>
              <a:cs typeface="Arial"/>
            </a:endParaRPr>
          </a:p>
          <a:p>
            <a:pPr marL="624840" lvl="1" indent="-286385">
              <a:lnSpc>
                <a:spcPct val="100000"/>
              </a:lnSpc>
              <a:spcBef>
                <a:spcPts val="1210"/>
              </a:spcBef>
              <a:buClr>
                <a:srgbClr val="3B822F"/>
              </a:buClr>
              <a:buSzPct val="60000"/>
              <a:buFont typeface="Wingdings"/>
              <a:buChar char=""/>
              <a:tabLst>
                <a:tab pos="624840" algn="l"/>
                <a:tab pos="625475" algn="l"/>
              </a:tabLst>
            </a:pPr>
            <a:r>
              <a:rPr sz="2000" spc="-5" dirty="0">
                <a:solidFill>
                  <a:srgbClr val="0D0D0D"/>
                </a:solidFill>
                <a:latin typeface="Arial"/>
                <a:cs typeface="Arial"/>
              </a:rPr>
              <a:t>IF </a:t>
            </a:r>
            <a:r>
              <a:rPr sz="2000" spc="-10" dirty="0">
                <a:solidFill>
                  <a:srgbClr val="0D0D0D"/>
                </a:solidFill>
                <a:latin typeface="Arial"/>
                <a:cs typeface="Arial"/>
              </a:rPr>
              <a:t>(Shape=long) </a:t>
            </a:r>
            <a:r>
              <a:rPr sz="2000" b="1" spc="-5" dirty="0">
                <a:solidFill>
                  <a:srgbClr val="0D0D0D"/>
                </a:solidFill>
                <a:latin typeface="Arial"/>
                <a:cs typeface="Arial"/>
              </a:rPr>
              <a:t>AND </a:t>
            </a:r>
            <a:r>
              <a:rPr sz="2000" spc="-10" dirty="0">
                <a:solidFill>
                  <a:srgbClr val="0D0D0D"/>
                </a:solidFill>
                <a:latin typeface="Arial"/>
                <a:cs typeface="Arial"/>
              </a:rPr>
              <a:t>(Color=green) THEN</a:t>
            </a:r>
            <a:r>
              <a:rPr sz="2000" spc="165" dirty="0">
                <a:solidFill>
                  <a:srgbClr val="0D0D0D"/>
                </a:solidFill>
                <a:latin typeface="Arial"/>
                <a:cs typeface="Arial"/>
              </a:rPr>
              <a:t> </a:t>
            </a:r>
            <a:r>
              <a:rPr sz="2000" spc="-10" dirty="0">
                <a:solidFill>
                  <a:srgbClr val="0D0D0D"/>
                </a:solidFill>
                <a:latin typeface="Arial"/>
                <a:cs typeface="Arial"/>
              </a:rPr>
              <a:t>(Fruit=banana)</a:t>
            </a:r>
            <a:endParaRPr sz="2000">
              <a:latin typeface="Arial"/>
              <a:cs typeface="Arial"/>
            </a:endParaRPr>
          </a:p>
          <a:p>
            <a:pPr marL="624840" lvl="1" indent="-286385">
              <a:lnSpc>
                <a:spcPct val="100000"/>
              </a:lnSpc>
              <a:spcBef>
                <a:spcPts val="1200"/>
              </a:spcBef>
              <a:buClr>
                <a:srgbClr val="3B822F"/>
              </a:buClr>
              <a:buSzPct val="60000"/>
              <a:buFont typeface="Wingdings"/>
              <a:buChar char=""/>
              <a:tabLst>
                <a:tab pos="624840" algn="l"/>
                <a:tab pos="625475" algn="l"/>
              </a:tabLst>
            </a:pPr>
            <a:r>
              <a:rPr sz="2000" spc="-5" dirty="0">
                <a:solidFill>
                  <a:srgbClr val="0D0D0D"/>
                </a:solidFill>
                <a:latin typeface="Arial"/>
                <a:cs typeface="Arial"/>
              </a:rPr>
              <a:t>IF </a:t>
            </a:r>
            <a:r>
              <a:rPr sz="2000" spc="-10" dirty="0">
                <a:solidFill>
                  <a:srgbClr val="0D0D0D"/>
                </a:solidFill>
                <a:latin typeface="Arial"/>
                <a:cs typeface="Arial"/>
              </a:rPr>
              <a:t>(Shape=long) </a:t>
            </a:r>
            <a:r>
              <a:rPr sz="2000" spc="-5" dirty="0">
                <a:solidFill>
                  <a:srgbClr val="0D0D0D"/>
                </a:solidFill>
                <a:latin typeface="Arial"/>
                <a:cs typeface="Arial"/>
              </a:rPr>
              <a:t>AND (Color=yellow) THEN</a:t>
            </a:r>
            <a:r>
              <a:rPr sz="2000" spc="145" dirty="0">
                <a:solidFill>
                  <a:srgbClr val="0D0D0D"/>
                </a:solidFill>
                <a:latin typeface="Arial"/>
                <a:cs typeface="Arial"/>
              </a:rPr>
              <a:t> </a:t>
            </a:r>
            <a:r>
              <a:rPr sz="2000" spc="-10" dirty="0">
                <a:solidFill>
                  <a:srgbClr val="0D0D0D"/>
                </a:solidFill>
                <a:latin typeface="Arial"/>
                <a:cs typeface="Arial"/>
              </a:rPr>
              <a:t>(Fruit=banana)</a:t>
            </a:r>
            <a:endParaRPr sz="2000">
              <a:latin typeface="Arial"/>
              <a:cs typeface="Arial"/>
            </a:endParaRPr>
          </a:p>
          <a:p>
            <a:pPr lvl="1">
              <a:lnSpc>
                <a:spcPct val="100000"/>
              </a:lnSpc>
              <a:buClr>
                <a:srgbClr val="3B822F"/>
              </a:buClr>
              <a:buFont typeface="Wingdings"/>
              <a:buChar char=""/>
            </a:pPr>
            <a:endParaRPr sz="2600">
              <a:latin typeface="Arial"/>
              <a:cs typeface="Arial"/>
            </a:endParaRPr>
          </a:p>
          <a:p>
            <a:pPr marL="298450" marR="192405" indent="-285750">
              <a:lnSpc>
                <a:spcPct val="100000"/>
              </a:lnSpc>
              <a:buClr>
                <a:srgbClr val="CC9A00"/>
              </a:buClr>
              <a:buSzPct val="64583"/>
              <a:buFont typeface="Wingdings"/>
              <a:buChar char=""/>
              <a:tabLst>
                <a:tab pos="297815" algn="l"/>
                <a:tab pos="298450" algn="l"/>
                <a:tab pos="1059180" algn="l"/>
                <a:tab pos="1296035" algn="l"/>
                <a:tab pos="3710304" algn="l"/>
              </a:tabLst>
            </a:pPr>
            <a:r>
              <a:rPr sz="2400" spc="-5" dirty="0">
                <a:solidFill>
                  <a:srgbClr val="0D0D0D"/>
                </a:solidFill>
                <a:latin typeface="Arial"/>
                <a:cs typeface="Arial"/>
              </a:rPr>
              <a:t>Luật	</a:t>
            </a:r>
            <a:r>
              <a:rPr sz="2400" i="1" spc="-5" dirty="0">
                <a:solidFill>
                  <a:srgbClr val="0D0D0D"/>
                </a:solidFill>
                <a:latin typeface="Arial"/>
                <a:cs typeface="Arial"/>
              </a:rPr>
              <a:t>IF (Shape=(round </a:t>
            </a:r>
            <a:r>
              <a:rPr sz="2400" b="1" i="1" spc="-5" dirty="0">
                <a:solidFill>
                  <a:srgbClr val="0D0D0D"/>
                </a:solidFill>
                <a:latin typeface="Arial"/>
                <a:cs typeface="Arial"/>
              </a:rPr>
              <a:t>OR </a:t>
            </a:r>
            <a:r>
              <a:rPr sz="2400" i="1" spc="-5" dirty="0">
                <a:solidFill>
                  <a:srgbClr val="0D0D0D"/>
                </a:solidFill>
                <a:latin typeface="Arial"/>
                <a:cs typeface="Arial"/>
              </a:rPr>
              <a:t>oblong)) </a:t>
            </a:r>
            <a:r>
              <a:rPr sz="2400" b="1" i="1" dirty="0">
                <a:solidFill>
                  <a:srgbClr val="0D0D0D"/>
                </a:solidFill>
                <a:latin typeface="Arial"/>
                <a:cs typeface="Arial"/>
              </a:rPr>
              <a:t>AND </a:t>
            </a:r>
            <a:r>
              <a:rPr sz="2400" i="1" spc="-5" dirty="0">
                <a:solidFill>
                  <a:srgbClr val="0D0D0D"/>
                </a:solidFill>
                <a:latin typeface="Arial"/>
                <a:cs typeface="Arial"/>
              </a:rPr>
              <a:t>(Diam </a:t>
            </a:r>
            <a:r>
              <a:rPr sz="2400" i="1" dirty="0">
                <a:solidFill>
                  <a:srgbClr val="0D0D0D"/>
                </a:solidFill>
                <a:latin typeface="Arial"/>
                <a:cs typeface="Arial"/>
              </a:rPr>
              <a:t>&gt; </a:t>
            </a:r>
            <a:r>
              <a:rPr sz="2400" i="1" spc="-5" dirty="0">
                <a:solidFill>
                  <a:srgbClr val="0D0D0D"/>
                </a:solidFill>
                <a:latin typeface="Arial"/>
                <a:cs typeface="Arial"/>
              </a:rPr>
              <a:t>4)  </a:t>
            </a:r>
            <a:r>
              <a:rPr sz="2400" i="1" dirty="0">
                <a:solidFill>
                  <a:srgbClr val="0D0D0D"/>
                </a:solidFill>
                <a:latin typeface="Arial"/>
                <a:cs typeface="Arial"/>
              </a:rPr>
              <a:t>THEN	</a:t>
            </a:r>
            <a:r>
              <a:rPr sz="2400" i="1" spc="-5" dirty="0">
                <a:solidFill>
                  <a:srgbClr val="0D0D0D"/>
                </a:solidFill>
                <a:latin typeface="Arial"/>
                <a:cs typeface="Arial"/>
              </a:rPr>
              <a:t>(Fruitclass=vine)	</a:t>
            </a:r>
            <a:r>
              <a:rPr sz="2400" spc="-5" dirty="0">
                <a:solidFill>
                  <a:srgbClr val="0D0D0D"/>
                </a:solidFill>
                <a:latin typeface="Arial"/>
                <a:cs typeface="Arial"/>
              </a:rPr>
              <a:t>được tạo nên bởi các luật:</a:t>
            </a:r>
            <a:endParaRPr sz="2400">
              <a:latin typeface="Arial"/>
              <a:cs typeface="Arial"/>
            </a:endParaRPr>
          </a:p>
          <a:p>
            <a:pPr marL="624840" lvl="1" indent="-286385">
              <a:lnSpc>
                <a:spcPct val="100000"/>
              </a:lnSpc>
              <a:spcBef>
                <a:spcPts val="1210"/>
              </a:spcBef>
              <a:buClr>
                <a:srgbClr val="3B822F"/>
              </a:buClr>
              <a:buSzPct val="60000"/>
              <a:buFont typeface="Wingdings"/>
              <a:buChar char=""/>
              <a:tabLst>
                <a:tab pos="624840" algn="l"/>
                <a:tab pos="625475" algn="l"/>
              </a:tabLst>
            </a:pPr>
            <a:r>
              <a:rPr sz="2000" spc="-5" dirty="0">
                <a:latin typeface="Arial"/>
                <a:cs typeface="Arial"/>
              </a:rPr>
              <a:t>IF </a:t>
            </a:r>
            <a:r>
              <a:rPr sz="2000" spc="-10" dirty="0">
                <a:latin typeface="Arial"/>
                <a:cs typeface="Arial"/>
              </a:rPr>
              <a:t>(Shape=round) </a:t>
            </a:r>
            <a:r>
              <a:rPr sz="2000" b="1" spc="-5" dirty="0">
                <a:latin typeface="Arial"/>
                <a:cs typeface="Arial"/>
              </a:rPr>
              <a:t>AND </a:t>
            </a:r>
            <a:r>
              <a:rPr sz="2000" spc="-5" dirty="0">
                <a:latin typeface="Arial"/>
                <a:cs typeface="Arial"/>
              </a:rPr>
              <a:t>(Diam &gt; 4) THEN</a:t>
            </a:r>
            <a:r>
              <a:rPr sz="2000" spc="114" dirty="0">
                <a:latin typeface="Arial"/>
                <a:cs typeface="Arial"/>
              </a:rPr>
              <a:t> </a:t>
            </a:r>
            <a:r>
              <a:rPr sz="2000" spc="-5" dirty="0">
                <a:latin typeface="Arial"/>
                <a:cs typeface="Arial"/>
              </a:rPr>
              <a:t>(Fruitclass=vine)</a:t>
            </a:r>
            <a:endParaRPr sz="2000">
              <a:latin typeface="Arial"/>
              <a:cs typeface="Arial"/>
            </a:endParaRPr>
          </a:p>
          <a:p>
            <a:pPr marL="624840" lvl="1" indent="-286385">
              <a:lnSpc>
                <a:spcPct val="100000"/>
              </a:lnSpc>
              <a:spcBef>
                <a:spcPts val="1200"/>
              </a:spcBef>
              <a:buClr>
                <a:srgbClr val="3B822F"/>
              </a:buClr>
              <a:buSzPct val="60000"/>
              <a:buFont typeface="Wingdings"/>
              <a:buChar char=""/>
              <a:tabLst>
                <a:tab pos="624840" algn="l"/>
                <a:tab pos="625475" algn="l"/>
              </a:tabLst>
            </a:pPr>
            <a:r>
              <a:rPr sz="2000" spc="-5" dirty="0">
                <a:latin typeface="Arial"/>
                <a:cs typeface="Arial"/>
              </a:rPr>
              <a:t>IF </a:t>
            </a:r>
            <a:r>
              <a:rPr sz="2000" spc="-10" dirty="0">
                <a:latin typeface="Arial"/>
                <a:cs typeface="Arial"/>
              </a:rPr>
              <a:t>(Shape=oblong) </a:t>
            </a:r>
            <a:r>
              <a:rPr sz="2000" b="1" spc="-5" dirty="0">
                <a:latin typeface="Arial"/>
                <a:cs typeface="Arial"/>
              </a:rPr>
              <a:t>AND </a:t>
            </a:r>
            <a:r>
              <a:rPr sz="2000" spc="-5" dirty="0">
                <a:latin typeface="Arial"/>
                <a:cs typeface="Arial"/>
              </a:rPr>
              <a:t>(Diam &gt; 4) THEN</a:t>
            </a:r>
            <a:r>
              <a:rPr sz="2000" spc="65" dirty="0">
                <a:latin typeface="Arial"/>
                <a:cs typeface="Arial"/>
              </a:rPr>
              <a:t> </a:t>
            </a:r>
            <a:r>
              <a:rPr sz="2000" spc="-5" dirty="0">
                <a:latin typeface="Arial"/>
                <a:cs typeface="Arial"/>
              </a:rPr>
              <a:t>(Fruitclass=vine)</a:t>
            </a:r>
            <a:endParaRPr sz="20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60F5F146-2715-49A0-9DE3-696284BB76F9}"/>
              </a:ext>
            </a:extLst>
          </p:cNvPr>
          <p:cNvSpPr>
            <a:spLocks noGrp="1"/>
          </p:cNvSpPr>
          <p:nvPr>
            <p:ph type="title"/>
          </p:nvPr>
        </p:nvSpPr>
        <p:spPr/>
        <p:txBody>
          <a:bodyPr/>
          <a:lstStyle/>
          <a:p>
            <a:r>
              <a:rPr lang="en-US" b="0" spc="-5">
                <a:latin typeface="Verdana"/>
                <a:cs typeface="Verdana"/>
              </a:rPr>
              <a:t>Đồ thị </a:t>
            </a:r>
            <a:r>
              <a:rPr lang="en-US" b="0">
                <a:latin typeface="Verdana"/>
                <a:cs typeface="Verdana"/>
              </a:rPr>
              <a:t>AND/OR</a:t>
            </a:r>
            <a:r>
              <a:rPr lang="en-US" b="0" spc="-90">
                <a:latin typeface="Verdana"/>
                <a:cs typeface="Verdana"/>
              </a:rPr>
              <a:t> </a:t>
            </a:r>
            <a:r>
              <a:rPr lang="en-US" b="0" spc="-5">
                <a:latin typeface="Verdana"/>
                <a:cs typeface="Verdana"/>
              </a:rPr>
              <a:t>(2)</a:t>
            </a:r>
            <a:endParaRPr lang="en-US" b="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12</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55039" y="1702181"/>
            <a:ext cx="7994015" cy="4872355"/>
          </a:xfrm>
          <a:prstGeom prst="rect">
            <a:avLst/>
          </a:prstGeom>
        </p:spPr>
        <p:txBody>
          <a:bodyPr vert="horz" wrap="square" lIns="0" tIns="87630" rIns="0" bIns="0" rtlCol="0">
            <a:spAutoFit/>
          </a:bodyPr>
          <a:lstStyle/>
          <a:p>
            <a:pPr marL="336550" indent="-286385">
              <a:lnSpc>
                <a:spcPct val="100000"/>
              </a:lnSpc>
              <a:spcBef>
                <a:spcPts val="690"/>
              </a:spcBef>
              <a:buClr>
                <a:srgbClr val="CC9A00"/>
              </a:buClr>
              <a:buSzPct val="64583"/>
              <a:buFont typeface="Wingdings"/>
              <a:buChar char=""/>
              <a:tabLst>
                <a:tab pos="335915" algn="l"/>
                <a:tab pos="336550" algn="l"/>
              </a:tabLst>
            </a:pPr>
            <a:r>
              <a:rPr sz="2400" spc="-5" dirty="0">
                <a:latin typeface="Arial"/>
                <a:cs typeface="Arial"/>
              </a:rPr>
              <a:t>Các luật </a:t>
            </a:r>
            <a:r>
              <a:rPr sz="2400" dirty="0">
                <a:latin typeface="Arial"/>
                <a:cs typeface="Arial"/>
              </a:rPr>
              <a:t>có </a:t>
            </a:r>
            <a:r>
              <a:rPr sz="2400" spc="-5" dirty="0">
                <a:latin typeface="Arial"/>
                <a:cs typeface="Arial"/>
              </a:rPr>
              <a:t>chứa các vòng</a:t>
            </a:r>
            <a:r>
              <a:rPr sz="2400" spc="30" dirty="0">
                <a:latin typeface="Arial"/>
                <a:cs typeface="Arial"/>
              </a:rPr>
              <a:t> </a:t>
            </a:r>
            <a:r>
              <a:rPr sz="2400" spc="-5" dirty="0">
                <a:latin typeface="Arial"/>
                <a:cs typeface="Arial"/>
              </a:rPr>
              <a:t>lặp</a:t>
            </a:r>
            <a:endParaRPr sz="2400">
              <a:latin typeface="Arial"/>
              <a:cs typeface="Arial"/>
            </a:endParaRPr>
          </a:p>
          <a:p>
            <a:pPr marL="662940" lvl="1" indent="-286385">
              <a:lnSpc>
                <a:spcPct val="100000"/>
              </a:lnSpc>
              <a:spcBef>
                <a:spcPts val="490"/>
              </a:spcBef>
              <a:buClr>
                <a:srgbClr val="3B822F"/>
              </a:buClr>
              <a:buSzPct val="60000"/>
              <a:buFont typeface="Wingdings"/>
              <a:buChar char=""/>
              <a:tabLst>
                <a:tab pos="662940" algn="l"/>
                <a:tab pos="663575" algn="l"/>
              </a:tabLst>
            </a:pPr>
            <a:r>
              <a:rPr sz="2000" spc="-5" dirty="0">
                <a:latin typeface="Arial"/>
                <a:cs typeface="Arial"/>
              </a:rPr>
              <a:t>IF A THEN</a:t>
            </a:r>
            <a:r>
              <a:rPr sz="2000" dirty="0">
                <a:latin typeface="Arial"/>
                <a:cs typeface="Arial"/>
              </a:rPr>
              <a:t> </a:t>
            </a:r>
            <a:r>
              <a:rPr sz="2000" spc="-5" dirty="0">
                <a:latin typeface="Arial"/>
                <a:cs typeface="Arial"/>
              </a:rPr>
              <a:t>A</a:t>
            </a:r>
            <a:endParaRPr sz="2000">
              <a:latin typeface="Arial"/>
              <a:cs typeface="Arial"/>
            </a:endParaRPr>
          </a:p>
          <a:p>
            <a:pPr marL="662940" lvl="1" indent="-286385">
              <a:lnSpc>
                <a:spcPct val="100000"/>
              </a:lnSpc>
              <a:spcBef>
                <a:spcPts val="480"/>
              </a:spcBef>
              <a:buClr>
                <a:srgbClr val="3B822F"/>
              </a:buClr>
              <a:buSzPct val="60000"/>
              <a:buFont typeface="Wingdings"/>
              <a:buChar char=""/>
              <a:tabLst>
                <a:tab pos="662940" algn="l"/>
                <a:tab pos="663575" algn="l"/>
                <a:tab pos="2425065" algn="l"/>
                <a:tab pos="4118610" algn="l"/>
              </a:tabLst>
            </a:pPr>
            <a:r>
              <a:rPr sz="2000" spc="-5" dirty="0">
                <a:latin typeface="Arial"/>
                <a:cs typeface="Arial"/>
              </a:rPr>
              <a:t>{IF A THEN</a:t>
            </a:r>
            <a:r>
              <a:rPr sz="2000" spc="25" dirty="0">
                <a:latin typeface="Arial"/>
                <a:cs typeface="Arial"/>
              </a:rPr>
              <a:t> </a:t>
            </a:r>
            <a:r>
              <a:rPr sz="2000" spc="-5" dirty="0">
                <a:latin typeface="Arial"/>
                <a:cs typeface="Arial"/>
              </a:rPr>
              <a:t>B,	IF B</a:t>
            </a:r>
            <a:r>
              <a:rPr sz="2000" dirty="0">
                <a:latin typeface="Arial"/>
                <a:cs typeface="Arial"/>
              </a:rPr>
              <a:t> </a:t>
            </a:r>
            <a:r>
              <a:rPr sz="2000" spc="-5" dirty="0">
                <a:latin typeface="Arial"/>
                <a:cs typeface="Arial"/>
              </a:rPr>
              <a:t>THEN</a:t>
            </a:r>
            <a:r>
              <a:rPr sz="2000" spc="25" dirty="0">
                <a:latin typeface="Arial"/>
                <a:cs typeface="Arial"/>
              </a:rPr>
              <a:t> </a:t>
            </a:r>
            <a:r>
              <a:rPr sz="2000" spc="-5" dirty="0">
                <a:latin typeface="Arial"/>
                <a:cs typeface="Arial"/>
              </a:rPr>
              <a:t>C,	IF C THEN </a:t>
            </a:r>
            <a:r>
              <a:rPr sz="2000" spc="-10" dirty="0">
                <a:latin typeface="Arial"/>
                <a:cs typeface="Arial"/>
              </a:rPr>
              <a:t>A}</a:t>
            </a:r>
            <a:endParaRPr sz="2000">
              <a:latin typeface="Arial"/>
              <a:cs typeface="Arial"/>
            </a:endParaRPr>
          </a:p>
          <a:p>
            <a:pPr marL="336550" indent="-286385">
              <a:lnSpc>
                <a:spcPct val="100000"/>
              </a:lnSpc>
              <a:spcBef>
                <a:spcPts val="1190"/>
              </a:spcBef>
              <a:buClr>
                <a:srgbClr val="CC9A00"/>
              </a:buClr>
              <a:buSzPct val="64583"/>
              <a:buFont typeface="Wingdings"/>
              <a:buChar char=""/>
              <a:tabLst>
                <a:tab pos="335915" algn="l"/>
                <a:tab pos="336550" algn="l"/>
              </a:tabLst>
            </a:pPr>
            <a:r>
              <a:rPr sz="2400" spc="-5" dirty="0">
                <a:latin typeface="Arial"/>
                <a:cs typeface="Arial"/>
              </a:rPr>
              <a:t>Các luật </a:t>
            </a:r>
            <a:r>
              <a:rPr sz="2400" dirty="0">
                <a:latin typeface="Arial"/>
                <a:cs typeface="Arial"/>
              </a:rPr>
              <a:t>có </a:t>
            </a:r>
            <a:r>
              <a:rPr sz="2400" spc="-5" dirty="0">
                <a:latin typeface="Arial"/>
                <a:cs typeface="Arial"/>
              </a:rPr>
              <a:t>chứa mâu</a:t>
            </a:r>
            <a:r>
              <a:rPr sz="2400" spc="20" dirty="0">
                <a:latin typeface="Arial"/>
                <a:cs typeface="Arial"/>
              </a:rPr>
              <a:t> </a:t>
            </a:r>
            <a:r>
              <a:rPr sz="2400" spc="-5" dirty="0">
                <a:latin typeface="Arial"/>
                <a:cs typeface="Arial"/>
              </a:rPr>
              <a:t>thuẫn</a:t>
            </a:r>
            <a:endParaRPr sz="2400">
              <a:latin typeface="Arial"/>
              <a:cs typeface="Arial"/>
            </a:endParaRPr>
          </a:p>
          <a:p>
            <a:pPr marL="662940" lvl="1" indent="-286385">
              <a:lnSpc>
                <a:spcPct val="100000"/>
              </a:lnSpc>
              <a:spcBef>
                <a:spcPts val="495"/>
              </a:spcBef>
              <a:buClr>
                <a:srgbClr val="3B822F"/>
              </a:buClr>
              <a:buSzPct val="60000"/>
              <a:buFont typeface="Wingdings"/>
              <a:buChar char=""/>
              <a:tabLst>
                <a:tab pos="662940" algn="l"/>
                <a:tab pos="663575" algn="l"/>
                <a:tab pos="2425065" algn="l"/>
                <a:tab pos="4118610" algn="l"/>
              </a:tabLst>
            </a:pPr>
            <a:r>
              <a:rPr sz="2000" spc="-5" dirty="0">
                <a:latin typeface="Arial"/>
                <a:cs typeface="Arial"/>
              </a:rPr>
              <a:t>{IF A THEN</a:t>
            </a:r>
            <a:r>
              <a:rPr sz="2000" spc="25" dirty="0">
                <a:latin typeface="Arial"/>
                <a:cs typeface="Arial"/>
              </a:rPr>
              <a:t> </a:t>
            </a:r>
            <a:r>
              <a:rPr sz="2000" spc="-5" dirty="0">
                <a:latin typeface="Arial"/>
                <a:cs typeface="Arial"/>
              </a:rPr>
              <a:t>B,	IF B</a:t>
            </a:r>
            <a:r>
              <a:rPr sz="2000" dirty="0">
                <a:latin typeface="Arial"/>
                <a:cs typeface="Arial"/>
              </a:rPr>
              <a:t> </a:t>
            </a:r>
            <a:r>
              <a:rPr sz="2000" spc="-5" dirty="0">
                <a:latin typeface="Arial"/>
                <a:cs typeface="Arial"/>
              </a:rPr>
              <a:t>THEN</a:t>
            </a:r>
            <a:r>
              <a:rPr sz="2000" spc="25" dirty="0">
                <a:latin typeface="Arial"/>
                <a:cs typeface="Arial"/>
              </a:rPr>
              <a:t> </a:t>
            </a:r>
            <a:r>
              <a:rPr sz="2000" spc="-5" dirty="0">
                <a:latin typeface="Arial"/>
                <a:cs typeface="Arial"/>
              </a:rPr>
              <a:t>C,	IF A AND D THEN</a:t>
            </a:r>
            <a:r>
              <a:rPr sz="2000" spc="10" dirty="0">
                <a:latin typeface="Arial"/>
                <a:cs typeface="Arial"/>
              </a:rPr>
              <a:t> </a:t>
            </a:r>
            <a:r>
              <a:rPr sz="2000" spc="-10" dirty="0">
                <a:latin typeface="Symbol"/>
                <a:cs typeface="Symbol"/>
              </a:rPr>
              <a:t></a:t>
            </a:r>
            <a:r>
              <a:rPr sz="2000" spc="-10" dirty="0">
                <a:latin typeface="Arial"/>
                <a:cs typeface="Arial"/>
              </a:rPr>
              <a:t>C}</a:t>
            </a:r>
            <a:endParaRPr sz="2000">
              <a:latin typeface="Arial"/>
              <a:cs typeface="Arial"/>
            </a:endParaRPr>
          </a:p>
          <a:p>
            <a:pPr marL="336550" indent="-286385">
              <a:lnSpc>
                <a:spcPct val="100000"/>
              </a:lnSpc>
              <a:spcBef>
                <a:spcPts val="1185"/>
              </a:spcBef>
              <a:buClr>
                <a:srgbClr val="CC9A00"/>
              </a:buClr>
              <a:buSzPct val="64583"/>
              <a:buFont typeface="Wingdings"/>
              <a:buChar char=""/>
              <a:tabLst>
                <a:tab pos="335915" algn="l"/>
                <a:tab pos="336550" algn="l"/>
              </a:tabLst>
            </a:pPr>
            <a:r>
              <a:rPr sz="2400" spc="-5" dirty="0">
                <a:latin typeface="Arial"/>
                <a:cs typeface="Arial"/>
              </a:rPr>
              <a:t>Các kết luận không thể suy ra được (từ các luật hiện</a:t>
            </a:r>
            <a:r>
              <a:rPr sz="2400" spc="45" dirty="0">
                <a:latin typeface="Arial"/>
                <a:cs typeface="Arial"/>
              </a:rPr>
              <a:t> </a:t>
            </a:r>
            <a:r>
              <a:rPr sz="2400" spc="-5" dirty="0">
                <a:latin typeface="Arial"/>
                <a:cs typeface="Arial"/>
              </a:rPr>
              <a:t>có)</a:t>
            </a:r>
            <a:endParaRPr sz="2400">
              <a:latin typeface="Arial"/>
              <a:cs typeface="Arial"/>
            </a:endParaRPr>
          </a:p>
          <a:p>
            <a:pPr marL="336550" indent="-285750">
              <a:lnSpc>
                <a:spcPct val="100000"/>
              </a:lnSpc>
              <a:spcBef>
                <a:spcPts val="1200"/>
              </a:spcBef>
              <a:buClr>
                <a:srgbClr val="CC9A00"/>
              </a:buClr>
              <a:buSzPct val="64583"/>
              <a:buFont typeface="Wingdings"/>
              <a:buChar char=""/>
              <a:tabLst>
                <a:tab pos="335915" algn="l"/>
                <a:tab pos="336550" algn="l"/>
              </a:tabLst>
            </a:pPr>
            <a:r>
              <a:rPr sz="2400" spc="-5" dirty="0">
                <a:latin typeface="Arial"/>
                <a:cs typeface="Arial"/>
              </a:rPr>
              <a:t>Khó khăn trong việc thay đổi (cập nhật) </a:t>
            </a:r>
            <a:r>
              <a:rPr sz="2400" spc="-10" dirty="0">
                <a:latin typeface="Arial"/>
                <a:cs typeface="Arial"/>
              </a:rPr>
              <a:t>cơ </a:t>
            </a:r>
            <a:r>
              <a:rPr sz="2400" spc="-5" dirty="0">
                <a:latin typeface="Arial"/>
                <a:cs typeface="Arial"/>
              </a:rPr>
              <a:t>sở </a:t>
            </a:r>
            <a:r>
              <a:rPr sz="2400" dirty="0">
                <a:latin typeface="Arial"/>
                <a:cs typeface="Arial"/>
              </a:rPr>
              <a:t>tri</a:t>
            </a:r>
            <a:r>
              <a:rPr sz="2400" spc="50" dirty="0">
                <a:latin typeface="Arial"/>
                <a:cs typeface="Arial"/>
              </a:rPr>
              <a:t> </a:t>
            </a:r>
            <a:r>
              <a:rPr sz="2400" spc="-5" dirty="0">
                <a:latin typeface="Arial"/>
                <a:cs typeface="Arial"/>
              </a:rPr>
              <a:t>thức</a:t>
            </a:r>
            <a:endParaRPr sz="2400">
              <a:latin typeface="Arial"/>
              <a:cs typeface="Arial"/>
            </a:endParaRPr>
          </a:p>
          <a:p>
            <a:pPr marL="662940" marR="434975" lvl="1" indent="-285750">
              <a:lnSpc>
                <a:spcPct val="100000"/>
              </a:lnSpc>
              <a:spcBef>
                <a:spcPts val="610"/>
              </a:spcBef>
              <a:buClr>
                <a:srgbClr val="3B822F"/>
              </a:buClr>
              <a:buSzPct val="60000"/>
              <a:buFont typeface="Wingdings"/>
              <a:buChar char=""/>
              <a:tabLst>
                <a:tab pos="662940" algn="l"/>
                <a:tab pos="663575" algn="l"/>
                <a:tab pos="2784475" algn="l"/>
                <a:tab pos="4733290" algn="l"/>
                <a:tab pos="6992620" algn="l"/>
              </a:tabLst>
            </a:pPr>
            <a:r>
              <a:rPr sz="2000" spc="-5" dirty="0">
                <a:latin typeface="Arial"/>
                <a:cs typeface="Arial"/>
              </a:rPr>
              <a:t>Cơ sở tri</a:t>
            </a:r>
            <a:r>
              <a:rPr sz="2000" spc="15" dirty="0">
                <a:latin typeface="Arial"/>
                <a:cs typeface="Arial"/>
              </a:rPr>
              <a:t> </a:t>
            </a:r>
            <a:r>
              <a:rPr sz="2000" spc="-5" dirty="0">
                <a:latin typeface="Arial"/>
                <a:cs typeface="Arial"/>
              </a:rPr>
              <a:t>thức cũ:	{IF </a:t>
            </a:r>
            <a:r>
              <a:rPr sz="2000" spc="5" dirty="0">
                <a:latin typeface="Arial"/>
                <a:cs typeface="Arial"/>
              </a:rPr>
              <a:t>A</a:t>
            </a:r>
            <a:r>
              <a:rPr sz="1950" spc="7" baseline="-21367" dirty="0">
                <a:latin typeface="Arial"/>
                <a:cs typeface="Arial"/>
              </a:rPr>
              <a:t>1</a:t>
            </a:r>
            <a:r>
              <a:rPr sz="1950" spc="277" baseline="-21367" dirty="0">
                <a:latin typeface="Arial"/>
                <a:cs typeface="Arial"/>
              </a:rPr>
              <a:t> </a:t>
            </a:r>
            <a:r>
              <a:rPr sz="2000" spc="-5" dirty="0">
                <a:latin typeface="Arial"/>
                <a:cs typeface="Arial"/>
              </a:rPr>
              <a:t>THEN</a:t>
            </a:r>
            <a:r>
              <a:rPr sz="2000" spc="25" dirty="0">
                <a:latin typeface="Arial"/>
                <a:cs typeface="Arial"/>
              </a:rPr>
              <a:t> </a:t>
            </a:r>
            <a:r>
              <a:rPr sz="2000" dirty="0">
                <a:latin typeface="Arial"/>
                <a:cs typeface="Arial"/>
              </a:rPr>
              <a:t>B</a:t>
            </a:r>
            <a:r>
              <a:rPr sz="1950" baseline="-21367" dirty="0">
                <a:latin typeface="Arial"/>
                <a:cs typeface="Arial"/>
              </a:rPr>
              <a:t>1</a:t>
            </a:r>
            <a:r>
              <a:rPr sz="2000" dirty="0">
                <a:latin typeface="Arial"/>
                <a:cs typeface="Arial"/>
              </a:rPr>
              <a:t>,	</a:t>
            </a:r>
            <a:r>
              <a:rPr sz="2000" spc="-5" dirty="0">
                <a:latin typeface="Arial"/>
                <a:cs typeface="Arial"/>
              </a:rPr>
              <a:t>IF </a:t>
            </a:r>
            <a:r>
              <a:rPr sz="2000" dirty="0">
                <a:latin typeface="Arial"/>
                <a:cs typeface="Arial"/>
              </a:rPr>
              <a:t>A</a:t>
            </a:r>
            <a:r>
              <a:rPr sz="1950" baseline="-21367" dirty="0">
                <a:latin typeface="Arial"/>
                <a:cs typeface="Arial"/>
              </a:rPr>
              <a:t>2  </a:t>
            </a:r>
            <a:r>
              <a:rPr sz="2000" spc="-5" dirty="0">
                <a:latin typeface="Arial"/>
                <a:cs typeface="Arial"/>
              </a:rPr>
              <a:t>THEN</a:t>
            </a:r>
            <a:r>
              <a:rPr sz="2000" spc="-135" dirty="0">
                <a:latin typeface="Arial"/>
                <a:cs typeface="Arial"/>
              </a:rPr>
              <a:t> </a:t>
            </a:r>
            <a:r>
              <a:rPr sz="2000" dirty="0">
                <a:latin typeface="Arial"/>
                <a:cs typeface="Arial"/>
              </a:rPr>
              <a:t>B</a:t>
            </a:r>
            <a:r>
              <a:rPr sz="1950" baseline="-21367" dirty="0">
                <a:latin typeface="Arial"/>
                <a:cs typeface="Arial"/>
              </a:rPr>
              <a:t>2</a:t>
            </a:r>
            <a:r>
              <a:rPr sz="2000" dirty="0">
                <a:latin typeface="Arial"/>
                <a:cs typeface="Arial"/>
              </a:rPr>
              <a:t>, </a:t>
            </a:r>
            <a:r>
              <a:rPr sz="2000" spc="-5" dirty="0">
                <a:latin typeface="Arial"/>
                <a:cs typeface="Arial"/>
              </a:rPr>
              <a:t>…,	IF</a:t>
            </a:r>
            <a:r>
              <a:rPr sz="2000" spc="-90" dirty="0">
                <a:latin typeface="Arial"/>
                <a:cs typeface="Arial"/>
              </a:rPr>
              <a:t> </a:t>
            </a:r>
            <a:r>
              <a:rPr sz="2000" dirty="0">
                <a:latin typeface="Arial"/>
                <a:cs typeface="Arial"/>
              </a:rPr>
              <a:t>A</a:t>
            </a:r>
            <a:r>
              <a:rPr sz="1950" baseline="-21367" dirty="0">
                <a:latin typeface="Arial"/>
                <a:cs typeface="Arial"/>
              </a:rPr>
              <a:t>n </a:t>
            </a:r>
            <a:r>
              <a:rPr sz="1300" dirty="0">
                <a:latin typeface="Arial"/>
                <a:cs typeface="Arial"/>
              </a:rPr>
              <a:t> </a:t>
            </a:r>
            <a:r>
              <a:rPr sz="2000" spc="-10" dirty="0">
                <a:latin typeface="Arial"/>
                <a:cs typeface="Arial"/>
              </a:rPr>
              <a:t>THEN</a:t>
            </a:r>
            <a:r>
              <a:rPr sz="2000" spc="10" dirty="0">
                <a:latin typeface="Arial"/>
                <a:cs typeface="Arial"/>
              </a:rPr>
              <a:t> </a:t>
            </a:r>
            <a:r>
              <a:rPr sz="2000" dirty="0">
                <a:latin typeface="Arial"/>
                <a:cs typeface="Arial"/>
              </a:rPr>
              <a:t>B</a:t>
            </a:r>
            <a:r>
              <a:rPr sz="1950" baseline="-21367" dirty="0">
                <a:latin typeface="Arial"/>
                <a:cs typeface="Arial"/>
              </a:rPr>
              <a:t>n</a:t>
            </a:r>
            <a:r>
              <a:rPr sz="2000" dirty="0">
                <a:latin typeface="Arial"/>
                <a:cs typeface="Arial"/>
              </a:rPr>
              <a:t>}</a:t>
            </a:r>
            <a:endParaRPr sz="2000">
              <a:latin typeface="Arial"/>
              <a:cs typeface="Arial"/>
            </a:endParaRPr>
          </a:p>
          <a:p>
            <a:pPr marL="662940" lvl="1" indent="-286385">
              <a:lnSpc>
                <a:spcPct val="100000"/>
              </a:lnSpc>
              <a:spcBef>
                <a:spcPts val="600"/>
              </a:spcBef>
              <a:buClr>
                <a:srgbClr val="3B822F"/>
              </a:buClr>
              <a:buSzPct val="60000"/>
              <a:buFont typeface="Wingdings"/>
              <a:buChar char=""/>
              <a:tabLst>
                <a:tab pos="662940" algn="l"/>
                <a:tab pos="663575" algn="l"/>
                <a:tab pos="4217035" algn="l"/>
              </a:tabLst>
            </a:pPr>
            <a:r>
              <a:rPr sz="2000" spc="-5" dirty="0">
                <a:latin typeface="Arial"/>
                <a:cs typeface="Arial"/>
              </a:rPr>
              <a:t>Cần bổ sung thêm điều</a:t>
            </a:r>
            <a:r>
              <a:rPr sz="2000" spc="25" dirty="0">
                <a:latin typeface="Arial"/>
                <a:cs typeface="Arial"/>
              </a:rPr>
              <a:t> </a:t>
            </a:r>
            <a:r>
              <a:rPr sz="2000" spc="-5" dirty="0">
                <a:latin typeface="Arial"/>
                <a:cs typeface="Arial"/>
              </a:rPr>
              <a:t>kiện</a:t>
            </a:r>
            <a:r>
              <a:rPr sz="2000" spc="10" dirty="0">
                <a:latin typeface="Arial"/>
                <a:cs typeface="Arial"/>
              </a:rPr>
              <a:t> </a:t>
            </a:r>
            <a:r>
              <a:rPr sz="2000" i="1" spc="-5" dirty="0">
                <a:latin typeface="Arial"/>
                <a:cs typeface="Arial"/>
              </a:rPr>
              <a:t>C	</a:t>
            </a:r>
            <a:r>
              <a:rPr sz="2000" spc="-5" dirty="0">
                <a:latin typeface="Arial"/>
                <a:cs typeface="Arial"/>
              </a:rPr>
              <a:t>vào tất cả các</a:t>
            </a:r>
            <a:r>
              <a:rPr sz="2000" spc="-40" dirty="0">
                <a:latin typeface="Arial"/>
                <a:cs typeface="Arial"/>
              </a:rPr>
              <a:t> </a:t>
            </a:r>
            <a:r>
              <a:rPr sz="2000" spc="-5" dirty="0">
                <a:latin typeface="Arial"/>
                <a:cs typeface="Arial"/>
              </a:rPr>
              <a:t>luật</a:t>
            </a:r>
            <a:endParaRPr sz="2000">
              <a:latin typeface="Arial"/>
              <a:cs typeface="Arial"/>
            </a:endParaRPr>
          </a:p>
          <a:p>
            <a:pPr marL="662940" marR="43180" lvl="1" indent="-285750">
              <a:lnSpc>
                <a:spcPct val="100000"/>
              </a:lnSpc>
              <a:spcBef>
                <a:spcPts val="600"/>
              </a:spcBef>
              <a:buClr>
                <a:srgbClr val="3B822F"/>
              </a:buClr>
              <a:buSzPct val="60000"/>
              <a:buFont typeface="Wingdings"/>
              <a:buChar char=""/>
              <a:tabLst>
                <a:tab pos="662940" algn="l"/>
                <a:tab pos="663575" algn="l"/>
                <a:tab pos="1530350" algn="l"/>
                <a:tab pos="2950210" algn="l"/>
                <a:tab pos="5761990" algn="l"/>
              </a:tabLst>
            </a:pPr>
            <a:r>
              <a:rPr sz="2000" spc="-5" dirty="0">
                <a:latin typeface="Arial"/>
                <a:cs typeface="Arial"/>
              </a:rPr>
              <a:t>Cơ sở tri</a:t>
            </a:r>
            <a:r>
              <a:rPr sz="2000" spc="15" dirty="0">
                <a:latin typeface="Arial"/>
                <a:cs typeface="Arial"/>
              </a:rPr>
              <a:t> </a:t>
            </a:r>
            <a:r>
              <a:rPr sz="2000" spc="-5" dirty="0">
                <a:latin typeface="Arial"/>
                <a:cs typeface="Arial"/>
              </a:rPr>
              <a:t>thức</a:t>
            </a:r>
            <a:r>
              <a:rPr sz="2000" spc="-10" dirty="0">
                <a:latin typeface="Arial"/>
                <a:cs typeface="Arial"/>
              </a:rPr>
              <a:t> </a:t>
            </a:r>
            <a:r>
              <a:rPr sz="2000" spc="-5" dirty="0">
                <a:latin typeface="Arial"/>
                <a:cs typeface="Arial"/>
              </a:rPr>
              <a:t>mới:	{IF </a:t>
            </a:r>
            <a:r>
              <a:rPr sz="2000" spc="5" dirty="0">
                <a:latin typeface="Arial"/>
                <a:cs typeface="Arial"/>
              </a:rPr>
              <a:t>A</a:t>
            </a:r>
            <a:r>
              <a:rPr sz="1950" spc="7" baseline="-21367" dirty="0">
                <a:latin typeface="Arial"/>
                <a:cs typeface="Arial"/>
              </a:rPr>
              <a:t>1  </a:t>
            </a:r>
            <a:r>
              <a:rPr sz="2000" spc="-5" dirty="0">
                <a:latin typeface="Arial"/>
                <a:cs typeface="Arial"/>
              </a:rPr>
              <a:t>AND C</a:t>
            </a:r>
            <a:r>
              <a:rPr sz="2000" spc="-150" dirty="0">
                <a:latin typeface="Arial"/>
                <a:cs typeface="Arial"/>
              </a:rPr>
              <a:t> </a:t>
            </a:r>
            <a:r>
              <a:rPr sz="2000" spc="-10" dirty="0">
                <a:latin typeface="Arial"/>
                <a:cs typeface="Arial"/>
              </a:rPr>
              <a:t>THEN</a:t>
            </a:r>
            <a:r>
              <a:rPr sz="2000" spc="15" dirty="0">
                <a:latin typeface="Arial"/>
                <a:cs typeface="Arial"/>
              </a:rPr>
              <a:t> </a:t>
            </a:r>
            <a:r>
              <a:rPr sz="2000" dirty="0">
                <a:latin typeface="Arial"/>
                <a:cs typeface="Arial"/>
              </a:rPr>
              <a:t>B</a:t>
            </a:r>
            <a:r>
              <a:rPr sz="1950" baseline="-21367" dirty="0">
                <a:latin typeface="Arial"/>
                <a:cs typeface="Arial"/>
              </a:rPr>
              <a:t>1</a:t>
            </a:r>
            <a:r>
              <a:rPr sz="2000" dirty="0">
                <a:latin typeface="Arial"/>
                <a:cs typeface="Arial"/>
              </a:rPr>
              <a:t>,	</a:t>
            </a:r>
            <a:r>
              <a:rPr sz="2000" spc="-5" dirty="0">
                <a:latin typeface="Arial"/>
                <a:cs typeface="Arial"/>
              </a:rPr>
              <a:t>IF </a:t>
            </a:r>
            <a:r>
              <a:rPr sz="2000" dirty="0">
                <a:latin typeface="Arial"/>
                <a:cs typeface="Arial"/>
              </a:rPr>
              <a:t>A</a:t>
            </a:r>
            <a:r>
              <a:rPr sz="1950" baseline="-21367" dirty="0">
                <a:latin typeface="Arial"/>
                <a:cs typeface="Arial"/>
              </a:rPr>
              <a:t>2 </a:t>
            </a:r>
            <a:r>
              <a:rPr sz="2000" spc="-5" dirty="0">
                <a:latin typeface="Arial"/>
                <a:cs typeface="Arial"/>
              </a:rPr>
              <a:t>AND C </a:t>
            </a:r>
            <a:r>
              <a:rPr sz="2000" spc="-10" dirty="0">
                <a:latin typeface="Arial"/>
                <a:cs typeface="Arial"/>
              </a:rPr>
              <a:t>THEN  </a:t>
            </a:r>
            <a:r>
              <a:rPr sz="2000" dirty="0">
                <a:latin typeface="Arial"/>
                <a:cs typeface="Arial"/>
              </a:rPr>
              <a:t>B</a:t>
            </a:r>
            <a:r>
              <a:rPr sz="1950" baseline="-21367" dirty="0">
                <a:latin typeface="Arial"/>
                <a:cs typeface="Arial"/>
              </a:rPr>
              <a:t>2</a:t>
            </a:r>
            <a:r>
              <a:rPr sz="2000" dirty="0">
                <a:latin typeface="Arial"/>
                <a:cs typeface="Arial"/>
              </a:rPr>
              <a:t>,</a:t>
            </a:r>
            <a:r>
              <a:rPr sz="2000" spc="-15" dirty="0">
                <a:latin typeface="Arial"/>
                <a:cs typeface="Arial"/>
              </a:rPr>
              <a:t> </a:t>
            </a:r>
            <a:r>
              <a:rPr sz="2000" spc="-5" dirty="0">
                <a:latin typeface="Arial"/>
                <a:cs typeface="Arial"/>
              </a:rPr>
              <a:t>…,	IF </a:t>
            </a:r>
            <a:r>
              <a:rPr sz="2000" spc="5" dirty="0">
                <a:latin typeface="Arial"/>
                <a:cs typeface="Arial"/>
              </a:rPr>
              <a:t>A</a:t>
            </a:r>
            <a:r>
              <a:rPr sz="1950" spc="7" baseline="-21367" dirty="0">
                <a:latin typeface="Arial"/>
                <a:cs typeface="Arial"/>
              </a:rPr>
              <a:t>n </a:t>
            </a:r>
            <a:r>
              <a:rPr sz="2000" spc="-5" dirty="0">
                <a:latin typeface="Arial"/>
                <a:cs typeface="Arial"/>
              </a:rPr>
              <a:t>AND C THEN</a:t>
            </a:r>
            <a:r>
              <a:rPr sz="2000" spc="-165" dirty="0">
                <a:latin typeface="Arial"/>
                <a:cs typeface="Arial"/>
              </a:rPr>
              <a:t> </a:t>
            </a:r>
            <a:r>
              <a:rPr sz="2000" dirty="0">
                <a:latin typeface="Arial"/>
                <a:cs typeface="Arial"/>
              </a:rPr>
              <a:t>B</a:t>
            </a:r>
            <a:r>
              <a:rPr sz="1950" baseline="-21367" dirty="0">
                <a:latin typeface="Arial"/>
                <a:cs typeface="Arial"/>
              </a:rPr>
              <a:t>n</a:t>
            </a:r>
            <a:r>
              <a:rPr sz="2000" dirty="0">
                <a:latin typeface="Arial"/>
                <a:cs typeface="Arial"/>
              </a:rPr>
              <a: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CC76D0A0-7F1C-4394-A49E-AB044A878586}"/>
              </a:ext>
            </a:extLst>
          </p:cNvPr>
          <p:cNvSpPr>
            <a:spLocks noGrp="1"/>
          </p:cNvSpPr>
          <p:nvPr>
            <p:ph type="title"/>
          </p:nvPr>
        </p:nvSpPr>
        <p:spPr/>
        <p:txBody>
          <a:bodyPr/>
          <a:lstStyle/>
          <a:p>
            <a:r>
              <a:rPr lang="en-US" b="0" spc="-5">
                <a:latin typeface="Verdana"/>
                <a:cs typeface="Verdana"/>
              </a:rPr>
              <a:t>Các vấn đề với biểu diễn</a:t>
            </a:r>
            <a:r>
              <a:rPr lang="en-US" b="0" spc="-25">
                <a:latin typeface="Verdana"/>
                <a:cs typeface="Verdana"/>
              </a:rPr>
              <a:t> </a:t>
            </a:r>
            <a:r>
              <a:rPr lang="en-US" b="0" spc="-5">
                <a:latin typeface="Verdana"/>
                <a:cs typeface="Verdana"/>
              </a:rPr>
              <a:t>luật</a:t>
            </a:r>
            <a:endParaRPr lang="en-US" b="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13</a:t>
            </a:fld>
            <a:endParaRPr spc="-40" dirty="0"/>
          </a:p>
        </p:txBody>
      </p:sp>
      <p:grpSp>
        <p:nvGrpSpPr>
          <p:cNvPr id="3" name="object 3"/>
          <p:cNvGrpSpPr/>
          <p:nvPr/>
        </p:nvGrpSpPr>
        <p:grpSpPr>
          <a:xfrm>
            <a:off x="457200" y="2415539"/>
            <a:ext cx="9144000" cy="4899660"/>
            <a:chOff x="457200" y="2415539"/>
            <a:chExt cx="9144000" cy="4899660"/>
          </a:xfrm>
        </p:grpSpPr>
        <p:sp>
          <p:nvSpPr>
            <p:cNvPr id="4" name="object 4"/>
            <p:cNvSpPr/>
            <p:nvPr/>
          </p:nvSpPr>
          <p:spPr>
            <a:xfrm>
              <a:off x="457200" y="2415539"/>
              <a:ext cx="9144000" cy="4899660"/>
            </a:xfrm>
            <a:custGeom>
              <a:avLst/>
              <a:gdLst/>
              <a:ahLst/>
              <a:cxnLst/>
              <a:rect l="l" t="t" r="r" b="b"/>
              <a:pathLst>
                <a:path w="9144000" h="4899659">
                  <a:moveTo>
                    <a:pt x="9144000" y="0"/>
                  </a:moveTo>
                  <a:lnTo>
                    <a:pt x="0" y="0"/>
                  </a:lnTo>
                  <a:lnTo>
                    <a:pt x="0" y="979170"/>
                  </a:lnTo>
                  <a:lnTo>
                    <a:pt x="0" y="1958340"/>
                  </a:lnTo>
                  <a:lnTo>
                    <a:pt x="0" y="2937510"/>
                  </a:lnTo>
                  <a:lnTo>
                    <a:pt x="0" y="3916680"/>
                  </a:lnTo>
                  <a:lnTo>
                    <a:pt x="0" y="4899660"/>
                  </a:lnTo>
                  <a:lnTo>
                    <a:pt x="9144000" y="4899660"/>
                  </a:lnTo>
                  <a:lnTo>
                    <a:pt x="9144000" y="391668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5" name="object 5"/>
            <p:cNvSpPr/>
            <p:nvPr/>
          </p:nvSpPr>
          <p:spPr>
            <a:xfrm>
              <a:off x="914400" y="6696455"/>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6" name="object 6"/>
          <p:cNvSpPr txBox="1"/>
          <p:nvPr/>
        </p:nvSpPr>
        <p:spPr>
          <a:xfrm>
            <a:off x="942339" y="1702181"/>
            <a:ext cx="8161020" cy="4780915"/>
          </a:xfrm>
          <a:prstGeom prst="rect">
            <a:avLst/>
          </a:prstGeom>
        </p:spPr>
        <p:txBody>
          <a:bodyPr vert="horz" wrap="square" lIns="0" tIns="87630" rIns="0" bIns="0" rtlCol="0">
            <a:spAutoFit/>
          </a:bodyPr>
          <a:lstStyle/>
          <a:p>
            <a:pPr marL="349250" indent="-285750">
              <a:lnSpc>
                <a:spcPct val="100000"/>
              </a:lnSpc>
              <a:spcBef>
                <a:spcPts val="690"/>
              </a:spcBef>
              <a:buClr>
                <a:srgbClr val="CC9A00"/>
              </a:buClr>
              <a:buSzPct val="64583"/>
              <a:buFont typeface="Wingdings"/>
              <a:buChar char=""/>
              <a:tabLst>
                <a:tab pos="348615" algn="l"/>
                <a:tab pos="349250" algn="l"/>
              </a:tabLst>
            </a:pPr>
            <a:r>
              <a:rPr sz="2400" spc="-5" dirty="0">
                <a:latin typeface="Arial"/>
                <a:cs typeface="Arial"/>
              </a:rPr>
              <a:t>So khớp mẫu (Pattern</a:t>
            </a:r>
            <a:r>
              <a:rPr sz="2400" spc="10" dirty="0">
                <a:latin typeface="Arial"/>
                <a:cs typeface="Arial"/>
              </a:rPr>
              <a:t> </a:t>
            </a:r>
            <a:r>
              <a:rPr sz="2400" spc="-5" dirty="0">
                <a:latin typeface="Arial"/>
                <a:cs typeface="Arial"/>
              </a:rPr>
              <a:t>matching)</a:t>
            </a:r>
            <a:endParaRPr sz="2400">
              <a:latin typeface="Arial"/>
              <a:cs typeface="Arial"/>
            </a:endParaRPr>
          </a:p>
          <a:p>
            <a:pPr marL="675640" lvl="1" indent="-286385">
              <a:lnSpc>
                <a:spcPct val="100000"/>
              </a:lnSpc>
              <a:spcBef>
                <a:spcPts val="490"/>
              </a:spcBef>
              <a:buClr>
                <a:srgbClr val="3B822F"/>
              </a:buClr>
              <a:buSzPct val="60000"/>
              <a:buFont typeface="Wingdings"/>
              <a:buChar char=""/>
              <a:tabLst>
                <a:tab pos="675640" algn="l"/>
                <a:tab pos="676275" algn="l"/>
              </a:tabLst>
            </a:pPr>
            <a:r>
              <a:rPr sz="2000" spc="-5" dirty="0">
                <a:latin typeface="Arial"/>
                <a:cs typeface="Arial"/>
              </a:rPr>
              <a:t>Để kiểm tra một luật có thể được sử dụng (áp dụng) hay</a:t>
            </a:r>
            <a:r>
              <a:rPr sz="2000" spc="-20" dirty="0">
                <a:latin typeface="Arial"/>
                <a:cs typeface="Arial"/>
              </a:rPr>
              <a:t> </a:t>
            </a:r>
            <a:r>
              <a:rPr sz="2000" spc="-10" dirty="0">
                <a:latin typeface="Arial"/>
                <a:cs typeface="Arial"/>
              </a:rPr>
              <a:t>không</a:t>
            </a:r>
            <a:endParaRPr sz="2000">
              <a:latin typeface="Arial"/>
              <a:cs typeface="Arial"/>
            </a:endParaRPr>
          </a:p>
          <a:p>
            <a:pPr marL="675640" marR="55880" lvl="1" indent="-285750">
              <a:lnSpc>
                <a:spcPct val="101899"/>
              </a:lnSpc>
              <a:spcBef>
                <a:spcPts val="295"/>
              </a:spcBef>
              <a:buClr>
                <a:srgbClr val="3B822F"/>
              </a:buClr>
              <a:buSzPct val="60000"/>
              <a:buFont typeface="Wingdings"/>
              <a:buChar char=""/>
              <a:tabLst>
                <a:tab pos="675640" algn="l"/>
                <a:tab pos="676275" algn="l"/>
                <a:tab pos="1139825" algn="l"/>
                <a:tab pos="1477645" algn="l"/>
                <a:tab pos="2002155" algn="l"/>
                <a:tab pos="3018155" algn="l"/>
                <a:tab pos="4244975" algn="l"/>
                <a:tab pos="5107305" algn="l"/>
                <a:tab pos="6123305" algn="l"/>
                <a:tab pos="6350000" algn="l"/>
                <a:tab pos="7296784" algn="l"/>
                <a:tab pos="7364095" algn="l"/>
              </a:tabLst>
            </a:pPr>
            <a:r>
              <a:rPr sz="2000" spc="-5" dirty="0">
                <a:latin typeface="Arial"/>
                <a:cs typeface="Arial"/>
              </a:rPr>
              <a:t>Ví</a:t>
            </a:r>
            <a:r>
              <a:rPr sz="2000" spc="-10" dirty="0">
                <a:latin typeface="Arial"/>
                <a:cs typeface="Arial"/>
              </a:rPr>
              <a:t> </a:t>
            </a:r>
            <a:r>
              <a:rPr sz="2000" spc="-5" dirty="0">
                <a:latin typeface="Arial"/>
                <a:cs typeface="Arial"/>
              </a:rPr>
              <a:t>dụ:	Nếu cơ sở tri thức chứa đựng tập</a:t>
            </a:r>
            <a:r>
              <a:rPr sz="2000" spc="35" dirty="0">
                <a:latin typeface="Arial"/>
                <a:cs typeface="Arial"/>
              </a:rPr>
              <a:t> </a:t>
            </a:r>
            <a:r>
              <a:rPr sz="2000" spc="-5" dirty="0">
                <a:latin typeface="Arial"/>
                <a:cs typeface="Arial"/>
              </a:rPr>
              <a:t>các</a:t>
            </a:r>
            <a:r>
              <a:rPr sz="2000" dirty="0">
                <a:latin typeface="Arial"/>
                <a:cs typeface="Arial"/>
              </a:rPr>
              <a:t> </a:t>
            </a:r>
            <a:r>
              <a:rPr sz="2000" spc="-5" dirty="0">
                <a:latin typeface="Arial"/>
                <a:cs typeface="Arial"/>
              </a:rPr>
              <a:t>luật	{</a:t>
            </a:r>
            <a:r>
              <a:rPr sz="2000" spc="-5" dirty="0">
                <a:latin typeface="Courier New"/>
                <a:cs typeface="Courier New"/>
              </a:rPr>
              <a:t>IF</a:t>
            </a:r>
            <a:r>
              <a:rPr sz="2000" spc="-10" dirty="0">
                <a:latin typeface="Courier New"/>
                <a:cs typeface="Courier New"/>
              </a:rPr>
              <a:t> </a:t>
            </a:r>
            <a:r>
              <a:rPr sz="2000" spc="5" dirty="0">
                <a:latin typeface="Courier New"/>
                <a:cs typeface="Courier New"/>
              </a:rPr>
              <a:t>A</a:t>
            </a:r>
            <a:r>
              <a:rPr sz="1950" spc="7" baseline="-21367" dirty="0">
                <a:latin typeface="Courier New"/>
                <a:cs typeface="Courier New"/>
              </a:rPr>
              <a:t>1	</a:t>
            </a:r>
            <a:r>
              <a:rPr sz="2000" spc="-5" dirty="0">
                <a:latin typeface="Courier New"/>
                <a:cs typeface="Courier New"/>
              </a:rPr>
              <a:t>THEN  </a:t>
            </a:r>
            <a:r>
              <a:rPr sz="2000" dirty="0">
                <a:latin typeface="Courier New"/>
                <a:cs typeface="Courier New"/>
              </a:rPr>
              <a:t>B</a:t>
            </a:r>
            <a:r>
              <a:rPr sz="1950" baseline="-21367" dirty="0">
                <a:latin typeface="Courier New"/>
                <a:cs typeface="Courier New"/>
              </a:rPr>
              <a:t>1</a:t>
            </a:r>
            <a:r>
              <a:rPr sz="2000" dirty="0">
                <a:latin typeface="Arial"/>
                <a:cs typeface="Arial"/>
              </a:rPr>
              <a:t>,	</a:t>
            </a:r>
            <a:r>
              <a:rPr sz="2000" spc="-5" dirty="0">
                <a:latin typeface="Courier New"/>
                <a:cs typeface="Courier New"/>
              </a:rPr>
              <a:t>IF</a:t>
            </a:r>
            <a:r>
              <a:rPr sz="2000" dirty="0">
                <a:latin typeface="Courier New"/>
                <a:cs typeface="Courier New"/>
              </a:rPr>
              <a:t> </a:t>
            </a:r>
            <a:r>
              <a:rPr sz="2000" spc="5" dirty="0">
                <a:latin typeface="Courier New"/>
                <a:cs typeface="Courier New"/>
              </a:rPr>
              <a:t>A</a:t>
            </a:r>
            <a:r>
              <a:rPr sz="1950" spc="7" baseline="-21367" dirty="0">
                <a:latin typeface="Courier New"/>
                <a:cs typeface="Courier New"/>
              </a:rPr>
              <a:t>1	</a:t>
            </a:r>
            <a:r>
              <a:rPr sz="2000" spc="-5" dirty="0">
                <a:latin typeface="Courier New"/>
                <a:cs typeface="Courier New"/>
              </a:rPr>
              <a:t>AND</a:t>
            </a:r>
            <a:r>
              <a:rPr sz="2000" spc="10" dirty="0">
                <a:latin typeface="Courier New"/>
                <a:cs typeface="Courier New"/>
              </a:rPr>
              <a:t> </a:t>
            </a:r>
            <a:r>
              <a:rPr sz="2000" spc="5" dirty="0">
                <a:latin typeface="Courier New"/>
                <a:cs typeface="Courier New"/>
              </a:rPr>
              <a:t>A</a:t>
            </a:r>
            <a:r>
              <a:rPr sz="1950" spc="7" baseline="-21367" dirty="0">
                <a:latin typeface="Courier New"/>
                <a:cs typeface="Courier New"/>
              </a:rPr>
              <a:t>2	</a:t>
            </a:r>
            <a:r>
              <a:rPr sz="2000" spc="-5" dirty="0">
                <a:latin typeface="Courier New"/>
                <a:cs typeface="Courier New"/>
              </a:rPr>
              <a:t>THEN</a:t>
            </a:r>
            <a:r>
              <a:rPr sz="2000" spc="15" dirty="0">
                <a:latin typeface="Courier New"/>
                <a:cs typeface="Courier New"/>
              </a:rPr>
              <a:t> </a:t>
            </a:r>
            <a:r>
              <a:rPr sz="2000" dirty="0">
                <a:latin typeface="Courier New"/>
                <a:cs typeface="Courier New"/>
              </a:rPr>
              <a:t>B</a:t>
            </a:r>
            <a:r>
              <a:rPr sz="1950" baseline="-21367" dirty="0">
                <a:latin typeface="Courier New"/>
                <a:cs typeface="Courier New"/>
              </a:rPr>
              <a:t>2</a:t>
            </a:r>
            <a:r>
              <a:rPr sz="2000" dirty="0">
                <a:latin typeface="Arial"/>
                <a:cs typeface="Arial"/>
              </a:rPr>
              <a:t>,	</a:t>
            </a:r>
            <a:r>
              <a:rPr sz="2000" spc="-5" dirty="0">
                <a:latin typeface="Courier New"/>
                <a:cs typeface="Courier New"/>
              </a:rPr>
              <a:t>IF</a:t>
            </a:r>
            <a:r>
              <a:rPr sz="2000" spc="-10" dirty="0">
                <a:latin typeface="Courier New"/>
                <a:cs typeface="Courier New"/>
              </a:rPr>
              <a:t> </a:t>
            </a:r>
            <a:r>
              <a:rPr sz="2000" spc="5" dirty="0">
                <a:latin typeface="Courier New"/>
                <a:cs typeface="Courier New"/>
              </a:rPr>
              <a:t>A</a:t>
            </a:r>
            <a:r>
              <a:rPr sz="1950" spc="7" baseline="-21367" dirty="0">
                <a:latin typeface="Courier New"/>
                <a:cs typeface="Courier New"/>
              </a:rPr>
              <a:t>2	</a:t>
            </a:r>
            <a:r>
              <a:rPr sz="2000" spc="-5" dirty="0">
                <a:latin typeface="Courier New"/>
                <a:cs typeface="Courier New"/>
              </a:rPr>
              <a:t>AND</a:t>
            </a:r>
            <a:r>
              <a:rPr sz="2000" spc="10" dirty="0">
                <a:latin typeface="Courier New"/>
                <a:cs typeface="Courier New"/>
              </a:rPr>
              <a:t> </a:t>
            </a:r>
            <a:r>
              <a:rPr sz="2000" spc="5" dirty="0">
                <a:latin typeface="Courier New"/>
                <a:cs typeface="Courier New"/>
              </a:rPr>
              <a:t>A</a:t>
            </a:r>
            <a:r>
              <a:rPr sz="1950" spc="7" baseline="-21367" dirty="0">
                <a:latin typeface="Courier New"/>
                <a:cs typeface="Courier New"/>
              </a:rPr>
              <a:t>3	</a:t>
            </a:r>
            <a:r>
              <a:rPr sz="2000" spc="-5" dirty="0">
                <a:latin typeface="Courier New"/>
                <a:cs typeface="Courier New"/>
              </a:rPr>
              <a:t>THEN</a:t>
            </a:r>
            <a:r>
              <a:rPr sz="2000" spc="25" dirty="0">
                <a:latin typeface="Courier New"/>
                <a:cs typeface="Courier New"/>
              </a:rPr>
              <a:t> </a:t>
            </a:r>
            <a:r>
              <a:rPr sz="2000" dirty="0">
                <a:latin typeface="Courier New"/>
                <a:cs typeface="Courier New"/>
              </a:rPr>
              <a:t>B</a:t>
            </a:r>
            <a:r>
              <a:rPr sz="1950" baseline="-21367" dirty="0">
                <a:latin typeface="Courier New"/>
                <a:cs typeface="Courier New"/>
              </a:rPr>
              <a:t>3</a:t>
            </a:r>
            <a:r>
              <a:rPr sz="2000" dirty="0">
                <a:latin typeface="Arial"/>
                <a:cs typeface="Arial"/>
              </a:rPr>
              <a:t>}		</a:t>
            </a:r>
            <a:r>
              <a:rPr sz="2000" spc="-5" dirty="0">
                <a:latin typeface="Arial"/>
                <a:cs typeface="Arial"/>
              </a:rPr>
              <a:t>và</a:t>
            </a:r>
            <a:r>
              <a:rPr sz="2000" spc="-90" dirty="0">
                <a:latin typeface="Arial"/>
                <a:cs typeface="Arial"/>
              </a:rPr>
              <a:t> </a:t>
            </a:r>
            <a:r>
              <a:rPr sz="2000" spc="-5" dirty="0">
                <a:latin typeface="Arial"/>
                <a:cs typeface="Arial"/>
              </a:rPr>
              <a:t>các  sự kiện (được lưu trong bộ nhớ làm việc) bao gồm </a:t>
            </a:r>
            <a:r>
              <a:rPr sz="2000" spc="5" dirty="0">
                <a:latin typeface="Courier New"/>
                <a:cs typeface="Courier New"/>
              </a:rPr>
              <a:t>A</a:t>
            </a:r>
            <a:r>
              <a:rPr sz="1950" spc="7" baseline="-21367" dirty="0">
                <a:latin typeface="Courier New"/>
                <a:cs typeface="Courier New"/>
              </a:rPr>
              <a:t>1 </a:t>
            </a:r>
            <a:r>
              <a:rPr sz="2000" spc="-5" dirty="0">
                <a:latin typeface="Arial"/>
                <a:cs typeface="Arial"/>
              </a:rPr>
              <a:t>và </a:t>
            </a:r>
            <a:r>
              <a:rPr sz="2000" dirty="0">
                <a:latin typeface="Courier New"/>
                <a:cs typeface="Courier New"/>
              </a:rPr>
              <a:t>A</a:t>
            </a:r>
            <a:r>
              <a:rPr sz="1950" baseline="-21367" dirty="0">
                <a:latin typeface="Courier New"/>
                <a:cs typeface="Courier New"/>
              </a:rPr>
              <a:t>2</a:t>
            </a:r>
            <a:r>
              <a:rPr sz="2000" dirty="0">
                <a:latin typeface="Arial"/>
                <a:cs typeface="Arial"/>
              </a:rPr>
              <a:t>, </a:t>
            </a:r>
            <a:r>
              <a:rPr sz="2000" spc="-5" dirty="0">
                <a:latin typeface="Arial"/>
                <a:cs typeface="Arial"/>
              </a:rPr>
              <a:t>thì 2  luật đầu tiên có thể được sử</a:t>
            </a:r>
            <a:r>
              <a:rPr sz="2000" spc="-20" dirty="0">
                <a:latin typeface="Arial"/>
                <a:cs typeface="Arial"/>
              </a:rPr>
              <a:t> </a:t>
            </a:r>
            <a:r>
              <a:rPr sz="2000" spc="-10" dirty="0">
                <a:latin typeface="Arial"/>
                <a:cs typeface="Arial"/>
              </a:rPr>
              <a:t>dụng</a:t>
            </a:r>
            <a:endParaRPr sz="2000">
              <a:latin typeface="Arial"/>
              <a:cs typeface="Arial"/>
            </a:endParaRPr>
          </a:p>
          <a:p>
            <a:pPr marL="349250" indent="-285750">
              <a:lnSpc>
                <a:spcPct val="100000"/>
              </a:lnSpc>
              <a:spcBef>
                <a:spcPts val="1789"/>
              </a:spcBef>
              <a:buClr>
                <a:srgbClr val="CC9A00"/>
              </a:buClr>
              <a:buSzPct val="64583"/>
              <a:buFont typeface="Wingdings"/>
              <a:buChar char=""/>
              <a:tabLst>
                <a:tab pos="348615" algn="l"/>
                <a:tab pos="349250" algn="l"/>
              </a:tabLst>
            </a:pPr>
            <a:r>
              <a:rPr sz="2400" spc="-5" dirty="0">
                <a:latin typeface="Arial"/>
                <a:cs typeface="Arial"/>
              </a:rPr>
              <a:t>Chuỗi suy diễn (chuỗi áp dụng các</a:t>
            </a:r>
            <a:r>
              <a:rPr sz="2400" spc="60" dirty="0">
                <a:latin typeface="Arial"/>
                <a:cs typeface="Arial"/>
              </a:rPr>
              <a:t> </a:t>
            </a:r>
            <a:r>
              <a:rPr sz="2400" spc="-5" dirty="0">
                <a:latin typeface="Arial"/>
                <a:cs typeface="Arial"/>
              </a:rPr>
              <a:t>luật)</a:t>
            </a:r>
            <a:endParaRPr sz="2400">
              <a:latin typeface="Arial"/>
              <a:cs typeface="Arial"/>
            </a:endParaRPr>
          </a:p>
          <a:p>
            <a:pPr marL="675640" lvl="1" indent="-286385">
              <a:lnSpc>
                <a:spcPct val="100000"/>
              </a:lnSpc>
              <a:spcBef>
                <a:spcPts val="490"/>
              </a:spcBef>
              <a:buClr>
                <a:srgbClr val="3B822F"/>
              </a:buClr>
              <a:buSzPct val="60000"/>
              <a:buFont typeface="Wingdings"/>
              <a:buChar char=""/>
              <a:tabLst>
                <a:tab pos="675640" algn="l"/>
                <a:tab pos="676275" algn="l"/>
              </a:tabLst>
            </a:pPr>
            <a:r>
              <a:rPr sz="2000" spc="-5" dirty="0">
                <a:latin typeface="Arial"/>
                <a:cs typeface="Arial"/>
              </a:rPr>
              <a:t>Xác định trật tự áp dụng các luật trong quá trình suy</a:t>
            </a:r>
            <a:r>
              <a:rPr sz="2000" spc="-35" dirty="0">
                <a:latin typeface="Arial"/>
                <a:cs typeface="Arial"/>
              </a:rPr>
              <a:t> </a:t>
            </a:r>
            <a:r>
              <a:rPr sz="2000" spc="-5" dirty="0">
                <a:latin typeface="Arial"/>
                <a:cs typeface="Arial"/>
              </a:rPr>
              <a:t>diễn</a:t>
            </a:r>
            <a:endParaRPr sz="2000">
              <a:latin typeface="Arial"/>
              <a:cs typeface="Arial"/>
            </a:endParaRPr>
          </a:p>
          <a:p>
            <a:pPr marL="675640" marR="57785" lvl="1" indent="-285750">
              <a:lnSpc>
                <a:spcPct val="100000"/>
              </a:lnSpc>
              <a:spcBef>
                <a:spcPts val="480"/>
              </a:spcBef>
              <a:buClr>
                <a:srgbClr val="3B822F"/>
              </a:buClr>
              <a:buSzPct val="60000"/>
              <a:buFont typeface="Wingdings"/>
              <a:buChar char=""/>
              <a:tabLst>
                <a:tab pos="675640" algn="l"/>
                <a:tab pos="676275" algn="l"/>
              </a:tabLst>
            </a:pPr>
            <a:r>
              <a:rPr sz="2000" spc="-5" dirty="0">
                <a:latin typeface="Arial"/>
                <a:cs typeface="Arial"/>
              </a:rPr>
              <a:t>Với một tập các luật và một tập các sự kiện (các giả thiết), các  luật nào nên được sử dụng, và theo trật tự nào, để đạt tới (suy ra)  một kết luật cần chứng</a:t>
            </a:r>
            <a:r>
              <a:rPr sz="2000" spc="-25" dirty="0">
                <a:latin typeface="Arial"/>
                <a:cs typeface="Arial"/>
              </a:rPr>
              <a:t> </a:t>
            </a:r>
            <a:r>
              <a:rPr sz="2000" spc="-10" dirty="0">
                <a:latin typeface="Arial"/>
                <a:cs typeface="Arial"/>
              </a:rPr>
              <a:t>minh?</a:t>
            </a:r>
            <a:endParaRPr sz="2000">
              <a:latin typeface="Arial"/>
              <a:cs typeface="Arial"/>
            </a:endParaRPr>
          </a:p>
          <a:p>
            <a:pPr marL="675640" lvl="1" indent="-286385">
              <a:lnSpc>
                <a:spcPct val="100000"/>
              </a:lnSpc>
              <a:spcBef>
                <a:spcPts val="480"/>
              </a:spcBef>
              <a:buClr>
                <a:srgbClr val="3B822F"/>
              </a:buClr>
              <a:buSzPct val="60000"/>
              <a:buFont typeface="Wingdings"/>
              <a:buChar char=""/>
              <a:tabLst>
                <a:tab pos="675640" algn="l"/>
                <a:tab pos="676275" algn="l"/>
                <a:tab pos="3310254" algn="l"/>
              </a:tabLst>
            </a:pPr>
            <a:r>
              <a:rPr sz="2000" spc="-5" dirty="0">
                <a:latin typeface="Arial"/>
                <a:cs typeface="Arial"/>
              </a:rPr>
              <a:t>2 chiến lược</a:t>
            </a:r>
            <a:r>
              <a:rPr sz="2000" spc="15" dirty="0">
                <a:latin typeface="Arial"/>
                <a:cs typeface="Arial"/>
              </a:rPr>
              <a:t> </a:t>
            </a:r>
            <a:r>
              <a:rPr sz="2000" spc="-5" dirty="0">
                <a:latin typeface="Arial"/>
                <a:cs typeface="Arial"/>
              </a:rPr>
              <a:t>suy diễn:	tiến (forward) vs. lùi</a:t>
            </a:r>
            <a:r>
              <a:rPr sz="2000" spc="-20" dirty="0">
                <a:latin typeface="Arial"/>
                <a:cs typeface="Arial"/>
              </a:rPr>
              <a:t> </a:t>
            </a:r>
            <a:r>
              <a:rPr sz="2000" spc="-5" dirty="0">
                <a:latin typeface="Arial"/>
                <a:cs typeface="Arial"/>
              </a:rPr>
              <a:t>(backward)</a:t>
            </a:r>
            <a:endParaRPr sz="2000">
              <a:latin typeface="Arial"/>
              <a:cs typeface="Arial"/>
            </a:endParaRPr>
          </a:p>
          <a:p>
            <a:pPr marL="675640" lvl="1" indent="-286385">
              <a:lnSpc>
                <a:spcPct val="100000"/>
              </a:lnSpc>
              <a:spcBef>
                <a:spcPts val="480"/>
              </a:spcBef>
              <a:buClr>
                <a:srgbClr val="3B822F"/>
              </a:buClr>
              <a:buSzPct val="60000"/>
              <a:buFont typeface="Wingdings"/>
              <a:buChar char=""/>
              <a:tabLst>
                <a:tab pos="675640" algn="l"/>
                <a:tab pos="676275" algn="l"/>
              </a:tabLst>
            </a:pPr>
            <a:r>
              <a:rPr sz="2000" spc="-5" dirty="0">
                <a:latin typeface="Arial"/>
                <a:cs typeface="Arial"/>
              </a:rPr>
              <a:t>2 chiến lược suy diễn này đã được trình bày trong bài</a:t>
            </a:r>
            <a:r>
              <a:rPr sz="2000" dirty="0">
                <a:latin typeface="Arial"/>
                <a:cs typeface="Arial"/>
              </a:rPr>
              <a:t> </a:t>
            </a:r>
            <a:r>
              <a:rPr sz="2000" spc="-5" dirty="0">
                <a:latin typeface="Arial"/>
                <a:cs typeface="Arial"/>
              </a:rPr>
              <a:t>trước!</a:t>
            </a:r>
            <a:endParaRPr sz="2000">
              <a:latin typeface="Arial"/>
              <a:cs typeface="Arial"/>
            </a:endParaRPr>
          </a:p>
        </p:txBody>
      </p:sp>
      <p:sp>
        <p:nvSpPr>
          <p:cNvPr id="10" name="Title 9">
            <a:extLst>
              <a:ext uri="{FF2B5EF4-FFF2-40B4-BE49-F238E27FC236}">
                <a16:creationId xmlns:a16="http://schemas.microsoft.com/office/drawing/2014/main" id="{F1299314-ABC1-49C3-86D1-53DE4EC69112}"/>
              </a:ext>
            </a:extLst>
          </p:cNvPr>
          <p:cNvSpPr>
            <a:spLocks noGrp="1"/>
          </p:cNvSpPr>
          <p:nvPr>
            <p:ph type="title"/>
          </p:nvPr>
        </p:nvSpPr>
        <p:spPr/>
        <p:txBody>
          <a:bodyPr/>
          <a:lstStyle/>
          <a:p>
            <a:r>
              <a:rPr lang="en-US" sz="4000" b="0" spc="-5">
                <a:latin typeface="Verdana"/>
                <a:cs typeface="Verdana"/>
              </a:rPr>
              <a:t>Sử dụng các luật </a:t>
            </a:r>
            <a:r>
              <a:rPr lang="en-US" sz="4000" b="0" spc="-10">
                <a:latin typeface="Verdana"/>
                <a:cs typeface="Verdana"/>
              </a:rPr>
              <a:t>trong </a:t>
            </a:r>
            <a:r>
              <a:rPr lang="en-US" sz="4000" b="0" spc="-5">
                <a:latin typeface="Verdana"/>
                <a:cs typeface="Verdana"/>
              </a:rPr>
              <a:t>suy</a:t>
            </a:r>
            <a:r>
              <a:rPr lang="en-US" sz="4000" b="0" spc="-10">
                <a:latin typeface="Verdana"/>
                <a:cs typeface="Verdana"/>
              </a:rPr>
              <a:t> </a:t>
            </a:r>
            <a:r>
              <a:rPr lang="en-US" sz="4000" b="0" spc="-5">
                <a:latin typeface="Verdana"/>
                <a:cs typeface="Verdana"/>
              </a:rPr>
              <a:t>diễn</a:t>
            </a:r>
            <a:endParaRPr lang="en-US" b="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14</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77238"/>
            <a:ext cx="8021320" cy="4536440"/>
          </a:xfrm>
          <a:prstGeom prst="rect">
            <a:avLst/>
          </a:prstGeom>
        </p:spPr>
        <p:txBody>
          <a:bodyPr vert="horz" wrap="square" lIns="0" tIns="12700" rIns="0" bIns="0" rtlCol="0">
            <a:spAutoFit/>
          </a:bodyPr>
          <a:lstStyle/>
          <a:p>
            <a:pPr marL="297815" marR="215265" indent="-285750" algn="just">
              <a:lnSpc>
                <a:spcPct val="100000"/>
              </a:lnSpc>
              <a:spcBef>
                <a:spcPts val="100"/>
              </a:spcBef>
              <a:buClr>
                <a:srgbClr val="CC9A00"/>
              </a:buClr>
              <a:buSzPct val="64583"/>
              <a:buFont typeface="Wingdings"/>
              <a:buChar char=""/>
              <a:tabLst>
                <a:tab pos="298450" algn="l"/>
              </a:tabLst>
            </a:pPr>
            <a:r>
              <a:rPr sz="2400" spc="-5" dirty="0">
                <a:latin typeface="Arial"/>
                <a:cs typeface="Arial"/>
              </a:rPr>
              <a:t>Một xung đột </a:t>
            </a:r>
            <a:r>
              <a:rPr sz="2400" dirty="0">
                <a:latin typeface="Arial"/>
                <a:cs typeface="Arial"/>
              </a:rPr>
              <a:t>(conflict) </a:t>
            </a:r>
            <a:r>
              <a:rPr sz="2400" spc="-10" dirty="0">
                <a:latin typeface="Arial"/>
                <a:cs typeface="Arial"/>
              </a:rPr>
              <a:t>xảy </a:t>
            </a:r>
            <a:r>
              <a:rPr sz="2400" spc="-5" dirty="0">
                <a:latin typeface="Arial"/>
                <a:cs typeface="Arial"/>
              </a:rPr>
              <a:t>ra khi có nhiều hơn một luật  có thể áp dụng được (phù hợp với các </a:t>
            </a:r>
            <a:r>
              <a:rPr sz="2400" dirty="0">
                <a:latin typeface="Arial"/>
                <a:cs typeface="Arial"/>
              </a:rPr>
              <a:t>sự </a:t>
            </a:r>
            <a:r>
              <a:rPr sz="2400" spc="-5" dirty="0">
                <a:latin typeface="Arial"/>
                <a:cs typeface="Arial"/>
              </a:rPr>
              <a:t>kiện trong bộ  nhớ làm</a:t>
            </a:r>
            <a:r>
              <a:rPr sz="2400" dirty="0">
                <a:latin typeface="Arial"/>
                <a:cs typeface="Arial"/>
              </a:rPr>
              <a:t> </a:t>
            </a:r>
            <a:r>
              <a:rPr sz="2400" spc="-5" dirty="0">
                <a:latin typeface="Arial"/>
                <a:cs typeface="Arial"/>
              </a:rPr>
              <a:t>việc)</a:t>
            </a:r>
            <a:endParaRPr sz="2400">
              <a:latin typeface="Arial"/>
              <a:cs typeface="Arial"/>
            </a:endParaRPr>
          </a:p>
          <a:p>
            <a:pPr marL="624840" lvl="1" indent="-286385">
              <a:lnSpc>
                <a:spcPct val="100000"/>
              </a:lnSpc>
              <a:spcBef>
                <a:spcPts val="1210"/>
              </a:spcBef>
              <a:buClr>
                <a:srgbClr val="3B822F"/>
              </a:buClr>
              <a:buSzPct val="60000"/>
              <a:buFont typeface="Wingdings"/>
              <a:buChar char=""/>
              <a:tabLst>
                <a:tab pos="624840" algn="l"/>
                <a:tab pos="625475" algn="l"/>
              </a:tabLst>
            </a:pPr>
            <a:r>
              <a:rPr sz="2000" spc="-5" dirty="0">
                <a:latin typeface="Arial"/>
                <a:cs typeface="Arial"/>
              </a:rPr>
              <a:t>Lưu ý, một xung đột không phải là một mâu thuẫn của tập</a:t>
            </a:r>
            <a:r>
              <a:rPr sz="2000" spc="-25" dirty="0">
                <a:latin typeface="Arial"/>
                <a:cs typeface="Arial"/>
              </a:rPr>
              <a:t> </a:t>
            </a:r>
            <a:r>
              <a:rPr sz="2000" spc="-5" dirty="0">
                <a:latin typeface="Arial"/>
                <a:cs typeface="Arial"/>
              </a:rPr>
              <a:t>luật</a:t>
            </a:r>
            <a:endParaRPr sz="2000">
              <a:latin typeface="Arial"/>
              <a:cs typeface="Arial"/>
            </a:endParaRPr>
          </a:p>
          <a:p>
            <a:pPr lvl="1">
              <a:lnSpc>
                <a:spcPct val="100000"/>
              </a:lnSpc>
              <a:buClr>
                <a:srgbClr val="3B822F"/>
              </a:buClr>
              <a:buFont typeface="Wingdings"/>
              <a:buChar char=""/>
            </a:pPr>
            <a:endParaRPr sz="2600">
              <a:latin typeface="Arial"/>
              <a:cs typeface="Arial"/>
            </a:endParaRPr>
          </a:p>
          <a:p>
            <a:pPr marL="297815" marR="5080" indent="-285750">
              <a:lnSpc>
                <a:spcPct val="100000"/>
              </a:lnSpc>
              <a:buClr>
                <a:srgbClr val="CC9A00"/>
              </a:buClr>
              <a:buSzPct val="64583"/>
              <a:buFont typeface="Wingdings"/>
              <a:buChar char=""/>
              <a:tabLst>
                <a:tab pos="297815" algn="l"/>
                <a:tab pos="298450" algn="l"/>
              </a:tabLst>
            </a:pPr>
            <a:r>
              <a:rPr sz="2400" spc="-5" dirty="0">
                <a:latin typeface="Arial"/>
                <a:cs typeface="Arial"/>
              </a:rPr>
              <a:t>Trong trường hợp xảy ra xung đột, cần một chiến lược  giải quyết xung đột (conflict resolution strategy </a:t>
            </a:r>
            <a:r>
              <a:rPr sz="2400" dirty="0">
                <a:latin typeface="Arial"/>
                <a:cs typeface="Arial"/>
              </a:rPr>
              <a:t>- CRS) </a:t>
            </a:r>
            <a:r>
              <a:rPr sz="2400" spc="-5" dirty="0">
                <a:latin typeface="Arial"/>
                <a:cs typeface="Arial"/>
              </a:rPr>
              <a:t>để  quyết định luật nào được (ưu tiên) áp</a:t>
            </a:r>
            <a:r>
              <a:rPr sz="2400" spc="65" dirty="0">
                <a:latin typeface="Arial"/>
                <a:cs typeface="Arial"/>
              </a:rPr>
              <a:t> </a:t>
            </a:r>
            <a:r>
              <a:rPr sz="2400" spc="-10" dirty="0">
                <a:latin typeface="Arial"/>
                <a:cs typeface="Arial"/>
              </a:rPr>
              <a:t>dụng</a:t>
            </a:r>
            <a:endParaRPr sz="2400">
              <a:latin typeface="Arial"/>
              <a:cs typeface="Arial"/>
            </a:endParaRPr>
          </a:p>
          <a:p>
            <a:pPr>
              <a:lnSpc>
                <a:spcPct val="100000"/>
              </a:lnSpc>
              <a:spcBef>
                <a:spcPts val="10"/>
              </a:spcBef>
              <a:buClr>
                <a:srgbClr val="CC9A00"/>
              </a:buClr>
              <a:buFont typeface="Wingdings"/>
              <a:buChar char=""/>
            </a:pPr>
            <a:endParaRPr sz="2600">
              <a:latin typeface="Arial"/>
              <a:cs typeface="Arial"/>
            </a:endParaRPr>
          </a:p>
          <a:p>
            <a:pPr marL="298450" marR="191770" indent="-285750">
              <a:lnSpc>
                <a:spcPct val="100000"/>
              </a:lnSpc>
              <a:buClr>
                <a:srgbClr val="CC9A00"/>
              </a:buClr>
              <a:buSzPct val="64583"/>
              <a:buFont typeface="Wingdings"/>
              <a:buChar char=""/>
              <a:tabLst>
                <a:tab pos="297815" algn="l"/>
                <a:tab pos="298450" algn="l"/>
              </a:tabLst>
            </a:pPr>
            <a:r>
              <a:rPr sz="2400" dirty="0">
                <a:latin typeface="Arial"/>
                <a:cs typeface="Arial"/>
              </a:rPr>
              <a:t>Sự lựa </a:t>
            </a:r>
            <a:r>
              <a:rPr sz="2400" spc="-5" dirty="0">
                <a:latin typeface="Arial"/>
                <a:cs typeface="Arial"/>
              </a:rPr>
              <a:t>chọn thích hợp một chiến lược giải quyết xung  đột có thể mang lại những cải thiện đáng </a:t>
            </a:r>
            <a:r>
              <a:rPr sz="2400" dirty="0">
                <a:latin typeface="Arial"/>
                <a:cs typeface="Arial"/>
              </a:rPr>
              <a:t>kể </a:t>
            </a:r>
            <a:r>
              <a:rPr sz="2400" spc="-5" dirty="0">
                <a:latin typeface="Arial"/>
                <a:cs typeface="Arial"/>
              </a:rPr>
              <a:t>đối với quá  trình suy diễn của hệ</a:t>
            </a:r>
            <a:r>
              <a:rPr sz="2400" spc="10" dirty="0">
                <a:latin typeface="Arial"/>
                <a:cs typeface="Arial"/>
              </a:rPr>
              <a:t> </a:t>
            </a:r>
            <a:r>
              <a:rPr sz="2400" spc="-5" dirty="0">
                <a:latin typeface="Arial"/>
                <a:cs typeface="Arial"/>
              </a:rPr>
              <a:t>thống</a:t>
            </a:r>
            <a:endParaRPr sz="24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C6EBD7F8-AA23-4803-B9D8-DAD504A8EF9C}"/>
              </a:ext>
            </a:extLst>
          </p:cNvPr>
          <p:cNvSpPr>
            <a:spLocks noGrp="1"/>
          </p:cNvSpPr>
          <p:nvPr>
            <p:ph type="title"/>
          </p:nvPr>
        </p:nvSpPr>
        <p:spPr/>
        <p:txBody>
          <a:bodyPr/>
          <a:lstStyle/>
          <a:p>
            <a:r>
              <a:rPr lang="en-US" b="0" spc="-5">
                <a:latin typeface="Verdana"/>
                <a:cs typeface="Verdana"/>
              </a:rPr>
              <a:t>Giải quyết xung</a:t>
            </a:r>
            <a:r>
              <a:rPr lang="en-US" b="0" spc="-55">
                <a:latin typeface="Verdana"/>
                <a:cs typeface="Verdana"/>
              </a:rPr>
              <a:t> </a:t>
            </a:r>
            <a:r>
              <a:rPr lang="en-US" b="0" spc="-5">
                <a:latin typeface="Verdana"/>
                <a:cs typeface="Verdana"/>
              </a:rPr>
              <a:t>đột</a:t>
            </a:r>
            <a:endParaRPr lang="en-US" b="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idx="1"/>
          </p:nvPr>
        </p:nvSpPr>
        <p:spPr>
          <a:xfrm>
            <a:off x="537845" y="1525694"/>
            <a:ext cx="8829040" cy="4406235"/>
          </a:xfrm>
          <a:prstGeom prst="rect">
            <a:avLst/>
          </a:prstGeom>
        </p:spPr>
        <p:txBody>
          <a:bodyPr vert="horz" wrap="square" lIns="0" tIns="248822" rIns="0" bIns="0" rtlCol="0">
            <a:spAutoFit/>
          </a:bodyPr>
          <a:lstStyle/>
          <a:p>
            <a:pPr marL="389255" marR="203200" indent="-285750">
              <a:lnSpc>
                <a:spcPct val="100000"/>
              </a:lnSpc>
              <a:spcBef>
                <a:spcPts val="100"/>
              </a:spcBef>
              <a:buClr>
                <a:srgbClr val="CC9A00"/>
              </a:buClr>
              <a:buSzPct val="64583"/>
              <a:buFont typeface="Wingdings"/>
              <a:buChar char=""/>
              <a:tabLst>
                <a:tab pos="389255" algn="l"/>
                <a:tab pos="389890" algn="l"/>
              </a:tabLst>
            </a:pPr>
            <a:r>
              <a:rPr sz="2400" spc="-5" dirty="0"/>
              <a:t>Áp dụng luật xuất hiện đầu tiên (theo thứ tự) trong cơ sở  tri</a:t>
            </a:r>
            <a:r>
              <a:rPr sz="2400" spc="-15" dirty="0"/>
              <a:t> </a:t>
            </a:r>
            <a:r>
              <a:rPr sz="2400" spc="-5" dirty="0"/>
              <a:t>thức</a:t>
            </a:r>
            <a:endParaRPr sz="2400"/>
          </a:p>
          <a:p>
            <a:pPr marL="389890" marR="297815" indent="-285750">
              <a:lnSpc>
                <a:spcPct val="100000"/>
              </a:lnSpc>
              <a:spcBef>
                <a:spcPts val="575"/>
              </a:spcBef>
              <a:buClr>
                <a:srgbClr val="CC9A00"/>
              </a:buClr>
              <a:buSzPct val="64583"/>
              <a:buFont typeface="Wingdings"/>
              <a:buChar char=""/>
              <a:tabLst>
                <a:tab pos="389255" algn="l"/>
                <a:tab pos="389890" algn="l"/>
              </a:tabLst>
            </a:pPr>
            <a:r>
              <a:rPr sz="2400" spc="-5" dirty="0"/>
              <a:t>Không áp dụng các luật sinh ra các kết quả (sự kiện) đã  có trong bộ nhớ làm</a:t>
            </a:r>
            <a:r>
              <a:rPr sz="2400" spc="20" dirty="0"/>
              <a:t> </a:t>
            </a:r>
            <a:r>
              <a:rPr sz="2400" spc="-5" dirty="0"/>
              <a:t>việc</a:t>
            </a:r>
            <a:endParaRPr sz="2400"/>
          </a:p>
          <a:p>
            <a:pPr marL="389890" indent="-286385">
              <a:lnSpc>
                <a:spcPct val="100000"/>
              </a:lnSpc>
              <a:spcBef>
                <a:spcPts val="575"/>
              </a:spcBef>
              <a:buClr>
                <a:srgbClr val="CC9A00"/>
              </a:buClr>
              <a:buSzPct val="64583"/>
              <a:buFont typeface="Wingdings"/>
              <a:buChar char=""/>
              <a:tabLst>
                <a:tab pos="389255" algn="l"/>
                <a:tab pos="389890" algn="l"/>
              </a:tabLst>
            </a:pPr>
            <a:r>
              <a:rPr sz="2400" spc="-5" dirty="0"/>
              <a:t>Áp dụng luật cụ thể nhất (luật có nhiều điều kiện</a:t>
            </a:r>
            <a:r>
              <a:rPr sz="2400" spc="75" dirty="0"/>
              <a:t> </a:t>
            </a:r>
            <a:r>
              <a:rPr sz="2400" spc="-5" dirty="0"/>
              <a:t>nhất)</a:t>
            </a:r>
            <a:endParaRPr sz="2400"/>
          </a:p>
          <a:p>
            <a:pPr marL="389890" marR="204470" indent="-285750">
              <a:lnSpc>
                <a:spcPct val="100000"/>
              </a:lnSpc>
              <a:spcBef>
                <a:spcPts val="575"/>
              </a:spcBef>
              <a:buClr>
                <a:srgbClr val="CC9A00"/>
              </a:buClr>
              <a:buSzPct val="64583"/>
              <a:buFont typeface="Wingdings"/>
              <a:buChar char=""/>
              <a:tabLst>
                <a:tab pos="389255" algn="l"/>
                <a:tab pos="389890" algn="l"/>
              </a:tabLst>
            </a:pPr>
            <a:r>
              <a:rPr sz="2400" spc="-5" dirty="0"/>
              <a:t>Áp dụng các luật phù hợp với các sự kiện được đưa vào  trong bộ nhớ làm việc gần thời điểm hiện tại</a:t>
            </a:r>
            <a:r>
              <a:rPr sz="2400" spc="75" dirty="0"/>
              <a:t> </a:t>
            </a:r>
            <a:r>
              <a:rPr sz="2400" spc="-5" dirty="0"/>
              <a:t>nhất</a:t>
            </a:r>
            <a:endParaRPr sz="2400"/>
          </a:p>
          <a:p>
            <a:pPr marL="389890" marR="212725" indent="-285750">
              <a:lnSpc>
                <a:spcPct val="100000"/>
              </a:lnSpc>
              <a:spcBef>
                <a:spcPts val="575"/>
              </a:spcBef>
              <a:buClr>
                <a:srgbClr val="CC9A00"/>
              </a:buClr>
              <a:buSzPct val="64583"/>
              <a:buFont typeface="Wingdings"/>
              <a:buChar char=""/>
              <a:tabLst>
                <a:tab pos="389255" algn="l"/>
                <a:tab pos="389890" algn="l"/>
              </a:tabLst>
            </a:pPr>
            <a:r>
              <a:rPr sz="2400" spc="-5" dirty="0"/>
              <a:t>Không áp dụng lại một luật, nếu nó vẫn sinh ra cùng một  tập các sự kiện (giống như lần áp dụng trước của</a:t>
            </a:r>
            <a:r>
              <a:rPr sz="2400" spc="70" dirty="0"/>
              <a:t> </a:t>
            </a:r>
            <a:r>
              <a:rPr sz="2400" spc="-5" dirty="0"/>
              <a:t>nó)</a:t>
            </a:r>
            <a:endParaRPr sz="2400"/>
          </a:p>
          <a:p>
            <a:pPr marL="389890" indent="-285750">
              <a:lnSpc>
                <a:spcPct val="100000"/>
              </a:lnSpc>
              <a:spcBef>
                <a:spcPts val="580"/>
              </a:spcBef>
              <a:buClr>
                <a:srgbClr val="CC9A00"/>
              </a:buClr>
              <a:buSzPct val="64583"/>
              <a:buFont typeface="Wingdings"/>
              <a:buChar char=""/>
              <a:tabLst>
                <a:tab pos="389255" algn="l"/>
                <a:tab pos="389890" algn="l"/>
              </a:tabLst>
            </a:pPr>
            <a:r>
              <a:rPr sz="2400" spc="-5" dirty="0"/>
              <a:t>Áp dụng luật có độ </a:t>
            </a:r>
            <a:r>
              <a:rPr sz="2400" dirty="0"/>
              <a:t>tin </a:t>
            </a:r>
            <a:r>
              <a:rPr sz="2400" spc="-5" dirty="0"/>
              <a:t>cậy (chắc chắn) cao</a:t>
            </a:r>
            <a:r>
              <a:rPr sz="2400" spc="55" dirty="0"/>
              <a:t> </a:t>
            </a:r>
            <a:r>
              <a:rPr sz="2400" spc="-5" dirty="0"/>
              <a:t>nhất</a:t>
            </a:r>
            <a:endParaRPr sz="2400"/>
          </a:p>
          <a:p>
            <a:pPr marL="389890" indent="-285750">
              <a:lnSpc>
                <a:spcPct val="100000"/>
              </a:lnSpc>
              <a:spcBef>
                <a:spcPts val="575"/>
              </a:spcBef>
              <a:buClr>
                <a:srgbClr val="CC9A00"/>
              </a:buClr>
              <a:buSzPct val="64583"/>
              <a:buFont typeface="Wingdings"/>
              <a:buChar char=""/>
              <a:tabLst>
                <a:tab pos="389255" algn="l"/>
                <a:tab pos="389890" algn="l"/>
              </a:tabLst>
            </a:pPr>
            <a:r>
              <a:rPr lang="vi-VN" sz="2400" spc="-5"/>
              <a:t>Kết hợp của các chiến lược trên</a:t>
            </a:r>
            <a:endParaRPr sz="2400">
              <a:latin typeface="Arial"/>
              <a:cs typeface="Arial"/>
            </a:endParaRPr>
          </a:p>
        </p:txBody>
      </p:sp>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15</a:t>
            </a:fld>
            <a:endParaRPr spc="-40" dirty="0"/>
          </a:p>
        </p:txBody>
      </p:sp>
      <p:sp>
        <p:nvSpPr>
          <p:cNvPr id="9" name="Title 8">
            <a:extLst>
              <a:ext uri="{FF2B5EF4-FFF2-40B4-BE49-F238E27FC236}">
                <a16:creationId xmlns:a16="http://schemas.microsoft.com/office/drawing/2014/main" id="{9A478139-C707-479B-B9D4-7572318FF1CF}"/>
              </a:ext>
            </a:extLst>
          </p:cNvPr>
          <p:cNvSpPr>
            <a:spLocks noGrp="1"/>
          </p:cNvSpPr>
          <p:nvPr>
            <p:ph type="title"/>
          </p:nvPr>
        </p:nvSpPr>
        <p:spPr/>
        <p:txBody>
          <a:bodyPr/>
          <a:lstStyle/>
          <a:p>
            <a:r>
              <a:rPr lang="vi-VN" sz="3600" b="0" spc="-5">
                <a:latin typeface="Verdana"/>
                <a:cs typeface="Verdana"/>
              </a:rPr>
              <a:t>Chiến lược</a:t>
            </a:r>
            <a:r>
              <a:rPr lang="vi-VN" sz="3600" b="0" spc="40">
                <a:latin typeface="Verdana"/>
                <a:cs typeface="Verdana"/>
              </a:rPr>
              <a:t> </a:t>
            </a:r>
            <a:r>
              <a:rPr lang="vi-VN" sz="3600" b="0" spc="-5">
                <a:latin typeface="Verdana"/>
                <a:cs typeface="Verdana"/>
              </a:rPr>
              <a:t>giải</a:t>
            </a:r>
            <a:r>
              <a:rPr lang="vi-VN" sz="3600" b="0" spc="5">
                <a:latin typeface="Verdana"/>
                <a:cs typeface="Verdana"/>
              </a:rPr>
              <a:t> </a:t>
            </a:r>
            <a:r>
              <a:rPr lang="vi-VN" sz="3600" b="0">
                <a:latin typeface="Verdana"/>
                <a:cs typeface="Verdana"/>
              </a:rPr>
              <a:t>quyết</a:t>
            </a:r>
            <a:r>
              <a:rPr lang="en-US" sz="3600" b="0">
                <a:latin typeface="Verdana"/>
                <a:cs typeface="Verdana"/>
              </a:rPr>
              <a:t> </a:t>
            </a:r>
            <a:r>
              <a:rPr lang="vi-VN" sz="3600" b="0">
                <a:latin typeface="Verdana"/>
                <a:cs typeface="Verdana"/>
              </a:rPr>
              <a:t>xung</a:t>
            </a:r>
            <a:r>
              <a:rPr lang="vi-VN" sz="3600" b="0" spc="-45">
                <a:latin typeface="Verdana"/>
                <a:cs typeface="Verdana"/>
              </a:rPr>
              <a:t> </a:t>
            </a:r>
            <a:r>
              <a:rPr lang="vi-VN" sz="3600" b="0">
                <a:latin typeface="Verdana"/>
                <a:cs typeface="Verdana"/>
              </a:rPr>
              <a:t>đột</a:t>
            </a:r>
            <a:endParaRPr lang="en-US"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9058656" y="685800"/>
            <a:ext cx="19050" cy="750570"/>
          </a:xfrm>
          <a:custGeom>
            <a:avLst/>
            <a:gdLst/>
            <a:ahLst/>
            <a:cxnLst/>
            <a:rect l="l" t="t" r="r" b="b"/>
            <a:pathLst>
              <a:path w="19050" h="750569">
                <a:moveTo>
                  <a:pt x="19050" y="0"/>
                </a:moveTo>
                <a:lnTo>
                  <a:pt x="19050" y="750569"/>
                </a:lnTo>
                <a:lnTo>
                  <a:pt x="0" y="750569"/>
                </a:lnTo>
                <a:lnTo>
                  <a:pt x="0" y="0"/>
                </a:lnTo>
                <a:lnTo>
                  <a:pt x="19050" y="0"/>
                </a:lnTo>
                <a:close/>
              </a:path>
            </a:pathLst>
          </a:custGeom>
          <a:solidFill>
            <a:srgbClr val="CC9900"/>
          </a:solidFill>
        </p:spPr>
        <p:txBody>
          <a:bodyPr wrap="square" lIns="0" tIns="0" rIns="0" bIns="0" rtlCol="0"/>
          <a:lstStyle/>
          <a:p>
            <a:endParaRPr/>
          </a:p>
        </p:txBody>
      </p:sp>
      <p:sp>
        <p:nvSpPr>
          <p:cNvPr id="27" name="object 2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5" name="object 5"/>
          <p:cNvSpPr txBox="1"/>
          <p:nvPr/>
        </p:nvSpPr>
        <p:spPr>
          <a:xfrm>
            <a:off x="993139" y="1778762"/>
            <a:ext cx="7454265" cy="1137285"/>
          </a:xfrm>
          <a:prstGeom prst="rect">
            <a:avLst/>
          </a:prstGeom>
        </p:spPr>
        <p:txBody>
          <a:bodyPr vert="horz" wrap="square" lIns="0" tIns="12065" rIns="0" bIns="0" rtlCol="0">
            <a:spAutoFit/>
          </a:bodyPr>
          <a:lstStyle/>
          <a:p>
            <a:pPr marL="12700" marR="5080" indent="-635">
              <a:lnSpc>
                <a:spcPct val="100000"/>
              </a:lnSpc>
              <a:spcBef>
                <a:spcPts val="95"/>
              </a:spcBef>
            </a:pPr>
            <a:r>
              <a:rPr sz="2000" spc="-5" dirty="0">
                <a:latin typeface="Arial"/>
                <a:cs typeface="Arial"/>
              </a:rPr>
              <a:t>Kiến trúc điển hình của một hệ thống suy diễn dựa trên luật (Rule-  </a:t>
            </a:r>
            <a:r>
              <a:rPr sz="2000" spc="-10" dirty="0">
                <a:latin typeface="Arial"/>
                <a:cs typeface="Arial"/>
              </a:rPr>
              <a:t>based </a:t>
            </a:r>
            <a:r>
              <a:rPr sz="2000" spc="-5" dirty="0">
                <a:latin typeface="Arial"/>
                <a:cs typeface="Arial"/>
              </a:rPr>
              <a:t>system –</a:t>
            </a:r>
            <a:r>
              <a:rPr sz="2000" spc="-25" dirty="0">
                <a:latin typeface="Arial"/>
                <a:cs typeface="Arial"/>
              </a:rPr>
              <a:t> </a:t>
            </a:r>
            <a:r>
              <a:rPr sz="2000" spc="-5" dirty="0">
                <a:latin typeface="Arial"/>
                <a:cs typeface="Arial"/>
              </a:rPr>
              <a:t>RBS)</a:t>
            </a:r>
            <a:endParaRPr sz="2000">
              <a:latin typeface="Arial"/>
              <a:cs typeface="Arial"/>
            </a:endParaRPr>
          </a:p>
          <a:p>
            <a:pPr marR="440055" algn="ctr">
              <a:lnSpc>
                <a:spcPct val="100000"/>
              </a:lnSpc>
              <a:spcBef>
                <a:spcPts val="1795"/>
              </a:spcBef>
            </a:pPr>
            <a:r>
              <a:rPr sz="1800" dirty="0">
                <a:latin typeface="Arial"/>
                <a:cs typeface="Arial"/>
              </a:rPr>
              <a:t>Dữ liệu </a:t>
            </a:r>
            <a:r>
              <a:rPr sz="1800" spc="-5" dirty="0">
                <a:latin typeface="Arial"/>
                <a:cs typeface="Arial"/>
              </a:rPr>
              <a:t>quan </a:t>
            </a:r>
            <a:r>
              <a:rPr sz="1800" dirty="0">
                <a:latin typeface="Arial"/>
                <a:cs typeface="Arial"/>
              </a:rPr>
              <a:t>sát</a:t>
            </a:r>
            <a:r>
              <a:rPr sz="1800" spc="-40" dirty="0">
                <a:latin typeface="Arial"/>
                <a:cs typeface="Arial"/>
              </a:rPr>
              <a:t> </a:t>
            </a:r>
            <a:r>
              <a:rPr sz="1800" dirty="0">
                <a:latin typeface="Arial"/>
                <a:cs typeface="Arial"/>
              </a:rPr>
              <a:t>được</a:t>
            </a:r>
            <a:endParaRPr sz="1800">
              <a:latin typeface="Arial"/>
              <a:cs typeface="Arial"/>
            </a:endParaRPr>
          </a:p>
        </p:txBody>
      </p:sp>
      <p:sp>
        <p:nvSpPr>
          <p:cNvPr id="6" name="object 6"/>
          <p:cNvSpPr/>
          <p:nvPr/>
        </p:nvSpPr>
        <p:spPr>
          <a:xfrm>
            <a:off x="2098128" y="2975609"/>
            <a:ext cx="4650105" cy="1398270"/>
          </a:xfrm>
          <a:custGeom>
            <a:avLst/>
            <a:gdLst/>
            <a:ahLst/>
            <a:cxnLst/>
            <a:rect l="l" t="t" r="r" b="b"/>
            <a:pathLst>
              <a:path w="4650105" h="1398270">
                <a:moveTo>
                  <a:pt x="2435771" y="291846"/>
                </a:moveTo>
                <a:lnTo>
                  <a:pt x="2404529" y="291846"/>
                </a:lnTo>
                <a:lnTo>
                  <a:pt x="2404529" y="0"/>
                </a:lnTo>
                <a:lnTo>
                  <a:pt x="2391575" y="0"/>
                </a:lnTo>
                <a:lnTo>
                  <a:pt x="2391575" y="291846"/>
                </a:lnTo>
                <a:lnTo>
                  <a:pt x="2359571" y="291846"/>
                </a:lnTo>
                <a:lnTo>
                  <a:pt x="2391575" y="355866"/>
                </a:lnTo>
                <a:lnTo>
                  <a:pt x="2397671" y="368046"/>
                </a:lnTo>
                <a:lnTo>
                  <a:pt x="2404529" y="354330"/>
                </a:lnTo>
                <a:lnTo>
                  <a:pt x="2435771" y="291846"/>
                </a:lnTo>
                <a:close/>
              </a:path>
              <a:path w="4650105" h="1398270">
                <a:moveTo>
                  <a:pt x="3693071" y="374142"/>
                </a:moveTo>
                <a:lnTo>
                  <a:pt x="1102271" y="374142"/>
                </a:lnTo>
                <a:lnTo>
                  <a:pt x="1102271" y="419100"/>
                </a:lnTo>
                <a:lnTo>
                  <a:pt x="1102271" y="832942"/>
                </a:lnTo>
                <a:lnTo>
                  <a:pt x="1052766" y="833843"/>
                </a:lnTo>
                <a:lnTo>
                  <a:pt x="1003134" y="836180"/>
                </a:lnTo>
                <a:lnTo>
                  <a:pt x="953427" y="839901"/>
                </a:lnTo>
                <a:lnTo>
                  <a:pt x="903744" y="845032"/>
                </a:lnTo>
                <a:lnTo>
                  <a:pt x="854163" y="851636"/>
                </a:lnTo>
                <a:lnTo>
                  <a:pt x="804760" y="859713"/>
                </a:lnTo>
                <a:lnTo>
                  <a:pt x="755611" y="869315"/>
                </a:lnTo>
                <a:lnTo>
                  <a:pt x="706793" y="880478"/>
                </a:lnTo>
                <a:lnTo>
                  <a:pt x="658406" y="893216"/>
                </a:lnTo>
                <a:lnTo>
                  <a:pt x="610514" y="907580"/>
                </a:lnTo>
                <a:lnTo>
                  <a:pt x="563206" y="923582"/>
                </a:lnTo>
                <a:lnTo>
                  <a:pt x="516559" y="941273"/>
                </a:lnTo>
                <a:lnTo>
                  <a:pt x="470662" y="960691"/>
                </a:lnTo>
                <a:lnTo>
                  <a:pt x="425577" y="981849"/>
                </a:lnTo>
                <a:lnTo>
                  <a:pt x="381393" y="1004785"/>
                </a:lnTo>
                <a:lnTo>
                  <a:pt x="338201" y="1029538"/>
                </a:lnTo>
                <a:lnTo>
                  <a:pt x="296075" y="1056132"/>
                </a:lnTo>
                <a:lnTo>
                  <a:pt x="255841" y="1084186"/>
                </a:lnTo>
                <a:lnTo>
                  <a:pt x="216674" y="1114679"/>
                </a:lnTo>
                <a:lnTo>
                  <a:pt x="178943" y="1147508"/>
                </a:lnTo>
                <a:lnTo>
                  <a:pt x="143027" y="1182585"/>
                </a:lnTo>
                <a:lnTo>
                  <a:pt x="109296" y="1219796"/>
                </a:lnTo>
                <a:lnTo>
                  <a:pt x="78130" y="1259039"/>
                </a:lnTo>
                <a:lnTo>
                  <a:pt x="49911" y="1300226"/>
                </a:lnTo>
                <a:lnTo>
                  <a:pt x="25006" y="1343253"/>
                </a:lnTo>
                <a:lnTo>
                  <a:pt x="3797" y="1387995"/>
                </a:lnTo>
                <a:lnTo>
                  <a:pt x="0" y="1398270"/>
                </a:lnTo>
                <a:lnTo>
                  <a:pt x="13754" y="1398270"/>
                </a:lnTo>
                <a:lnTo>
                  <a:pt x="16205" y="1391729"/>
                </a:lnTo>
                <a:lnTo>
                  <a:pt x="36931" y="1348117"/>
                </a:lnTo>
                <a:lnTo>
                  <a:pt x="61188" y="1306258"/>
                </a:lnTo>
                <a:lnTo>
                  <a:pt x="88620" y="1266215"/>
                </a:lnTo>
                <a:lnTo>
                  <a:pt x="118910" y="1228026"/>
                </a:lnTo>
                <a:lnTo>
                  <a:pt x="151739" y="1191780"/>
                </a:lnTo>
                <a:lnTo>
                  <a:pt x="186778" y="1157516"/>
                </a:lnTo>
                <a:lnTo>
                  <a:pt x="223710" y="1125308"/>
                </a:lnTo>
                <a:lnTo>
                  <a:pt x="262191" y="1095235"/>
                </a:lnTo>
                <a:lnTo>
                  <a:pt x="301917" y="1067320"/>
                </a:lnTo>
                <a:lnTo>
                  <a:pt x="342557" y="1041654"/>
                </a:lnTo>
                <a:lnTo>
                  <a:pt x="385597" y="1017028"/>
                </a:lnTo>
                <a:lnTo>
                  <a:pt x="429602" y="994156"/>
                </a:lnTo>
                <a:lnTo>
                  <a:pt x="474472" y="973048"/>
                </a:lnTo>
                <a:lnTo>
                  <a:pt x="520141" y="953655"/>
                </a:lnTo>
                <a:lnTo>
                  <a:pt x="566534" y="935951"/>
                </a:lnTo>
                <a:lnTo>
                  <a:pt x="613575" y="919924"/>
                </a:lnTo>
                <a:lnTo>
                  <a:pt x="661187" y="905535"/>
                </a:lnTo>
                <a:lnTo>
                  <a:pt x="709295" y="892771"/>
                </a:lnTo>
                <a:lnTo>
                  <a:pt x="757821" y="881608"/>
                </a:lnTo>
                <a:lnTo>
                  <a:pt x="806704" y="871994"/>
                </a:lnTo>
                <a:lnTo>
                  <a:pt x="855853" y="863930"/>
                </a:lnTo>
                <a:lnTo>
                  <a:pt x="905192" y="857389"/>
                </a:lnTo>
                <a:lnTo>
                  <a:pt x="954659" y="852322"/>
                </a:lnTo>
                <a:lnTo>
                  <a:pt x="1004163" y="848728"/>
                </a:lnTo>
                <a:lnTo>
                  <a:pt x="1053655" y="846569"/>
                </a:lnTo>
                <a:lnTo>
                  <a:pt x="1102271" y="845883"/>
                </a:lnTo>
                <a:lnTo>
                  <a:pt x="1102271" y="1398270"/>
                </a:lnTo>
                <a:lnTo>
                  <a:pt x="1115225" y="1398270"/>
                </a:lnTo>
                <a:lnTo>
                  <a:pt x="1115225" y="419100"/>
                </a:lnTo>
                <a:lnTo>
                  <a:pt x="1115225" y="387096"/>
                </a:lnTo>
                <a:lnTo>
                  <a:pt x="3680879" y="387096"/>
                </a:lnTo>
                <a:lnTo>
                  <a:pt x="3680879" y="419100"/>
                </a:lnTo>
                <a:lnTo>
                  <a:pt x="3680879" y="1398270"/>
                </a:lnTo>
                <a:lnTo>
                  <a:pt x="3693071" y="1398270"/>
                </a:lnTo>
                <a:lnTo>
                  <a:pt x="3693071" y="839724"/>
                </a:lnTo>
                <a:lnTo>
                  <a:pt x="3693071" y="419100"/>
                </a:lnTo>
                <a:lnTo>
                  <a:pt x="3693071" y="374142"/>
                </a:lnTo>
                <a:close/>
              </a:path>
              <a:path w="4650105" h="1398270">
                <a:moveTo>
                  <a:pt x="4650079" y="1398270"/>
                </a:moveTo>
                <a:lnTo>
                  <a:pt x="4621936" y="1328381"/>
                </a:lnTo>
                <a:lnTo>
                  <a:pt x="4601426" y="1289075"/>
                </a:lnTo>
                <a:lnTo>
                  <a:pt x="4578375" y="1251267"/>
                </a:lnTo>
                <a:lnTo>
                  <a:pt x="4552924" y="1214983"/>
                </a:lnTo>
                <a:lnTo>
                  <a:pt x="4525226" y="1180236"/>
                </a:lnTo>
                <a:lnTo>
                  <a:pt x="4495393" y="1147038"/>
                </a:lnTo>
                <a:lnTo>
                  <a:pt x="4463580" y="1115428"/>
                </a:lnTo>
                <a:lnTo>
                  <a:pt x="4429938" y="1085392"/>
                </a:lnTo>
                <a:lnTo>
                  <a:pt x="4394606" y="1056970"/>
                </a:lnTo>
                <a:lnTo>
                  <a:pt x="4357713" y="1030173"/>
                </a:lnTo>
                <a:lnTo>
                  <a:pt x="4319397" y="1005014"/>
                </a:lnTo>
                <a:lnTo>
                  <a:pt x="4279824" y="981519"/>
                </a:lnTo>
                <a:lnTo>
                  <a:pt x="4239120" y="959700"/>
                </a:lnTo>
                <a:lnTo>
                  <a:pt x="4197413" y="939571"/>
                </a:lnTo>
                <a:lnTo>
                  <a:pt x="4154868" y="921143"/>
                </a:lnTo>
                <a:lnTo>
                  <a:pt x="4111612" y="904455"/>
                </a:lnTo>
                <a:lnTo>
                  <a:pt x="4067797" y="889508"/>
                </a:lnTo>
                <a:lnTo>
                  <a:pt x="4023550" y="876325"/>
                </a:lnTo>
                <a:lnTo>
                  <a:pt x="3979024" y="864908"/>
                </a:lnTo>
                <a:lnTo>
                  <a:pt x="3934358" y="855306"/>
                </a:lnTo>
                <a:lnTo>
                  <a:pt x="3889679" y="847509"/>
                </a:lnTo>
                <a:lnTo>
                  <a:pt x="3845153" y="841540"/>
                </a:lnTo>
                <a:lnTo>
                  <a:pt x="3800894" y="837412"/>
                </a:lnTo>
                <a:lnTo>
                  <a:pt x="3769830" y="835812"/>
                </a:lnTo>
                <a:lnTo>
                  <a:pt x="3770795" y="803910"/>
                </a:lnTo>
                <a:lnTo>
                  <a:pt x="3693071" y="839724"/>
                </a:lnTo>
                <a:lnTo>
                  <a:pt x="3750221" y="870331"/>
                </a:lnTo>
                <a:lnTo>
                  <a:pt x="3768509" y="880110"/>
                </a:lnTo>
                <a:lnTo>
                  <a:pt x="3769449" y="848741"/>
                </a:lnTo>
                <a:lnTo>
                  <a:pt x="3801021" y="850277"/>
                </a:lnTo>
                <a:lnTo>
                  <a:pt x="3846182" y="854430"/>
                </a:lnTo>
                <a:lnTo>
                  <a:pt x="3891648" y="860552"/>
                </a:lnTo>
                <a:lnTo>
                  <a:pt x="3937254" y="868629"/>
                </a:lnTo>
                <a:lnTo>
                  <a:pt x="3982847" y="878649"/>
                </a:lnTo>
                <a:lnTo>
                  <a:pt x="4028275" y="890574"/>
                </a:lnTo>
                <a:lnTo>
                  <a:pt x="4073372" y="904392"/>
                </a:lnTo>
                <a:lnTo>
                  <a:pt x="4118000" y="920076"/>
                </a:lnTo>
                <a:lnTo>
                  <a:pt x="4161993" y="937615"/>
                </a:lnTo>
                <a:lnTo>
                  <a:pt x="4205198" y="956995"/>
                </a:lnTo>
                <a:lnTo>
                  <a:pt x="4247464" y="978166"/>
                </a:lnTo>
                <a:lnTo>
                  <a:pt x="4288637" y="1001141"/>
                </a:lnTo>
                <a:lnTo>
                  <a:pt x="4328553" y="1025893"/>
                </a:lnTo>
                <a:lnTo>
                  <a:pt x="4367060" y="1052385"/>
                </a:lnTo>
                <a:lnTo>
                  <a:pt x="4404004" y="1080604"/>
                </a:lnTo>
                <a:lnTo>
                  <a:pt x="4439234" y="1110538"/>
                </a:lnTo>
                <a:lnTo>
                  <a:pt x="4472584" y="1142149"/>
                </a:lnTo>
                <a:lnTo>
                  <a:pt x="4503902" y="1175448"/>
                </a:lnTo>
                <a:lnTo>
                  <a:pt x="4533049" y="1210386"/>
                </a:lnTo>
                <a:lnTo>
                  <a:pt x="4559846" y="1246949"/>
                </a:lnTo>
                <a:lnTo>
                  <a:pt x="4584154" y="1285113"/>
                </a:lnTo>
                <a:lnTo>
                  <a:pt x="4605820" y="1324876"/>
                </a:lnTo>
                <a:lnTo>
                  <a:pt x="4624679" y="1366202"/>
                </a:lnTo>
                <a:lnTo>
                  <a:pt x="4636567" y="1398270"/>
                </a:lnTo>
                <a:lnTo>
                  <a:pt x="4650079" y="1398270"/>
                </a:lnTo>
                <a:close/>
              </a:path>
            </a:pathLst>
          </a:custGeom>
          <a:solidFill>
            <a:srgbClr val="000000"/>
          </a:solidFill>
        </p:spPr>
        <p:txBody>
          <a:bodyPr wrap="square" lIns="0" tIns="0" rIns="0" bIns="0" rtlCol="0"/>
          <a:lstStyle/>
          <a:p>
            <a:endParaRPr/>
          </a:p>
        </p:txBody>
      </p:sp>
      <p:sp>
        <p:nvSpPr>
          <p:cNvPr id="7" name="object 7"/>
          <p:cNvSpPr txBox="1"/>
          <p:nvPr/>
        </p:nvSpPr>
        <p:spPr>
          <a:xfrm>
            <a:off x="3795014" y="3449066"/>
            <a:ext cx="1326515" cy="879475"/>
          </a:xfrm>
          <a:prstGeom prst="rect">
            <a:avLst/>
          </a:prstGeom>
        </p:spPr>
        <p:txBody>
          <a:bodyPr vert="horz" wrap="square" lIns="0" tIns="12700" rIns="0" bIns="0" rtlCol="0">
            <a:spAutoFit/>
          </a:bodyPr>
          <a:lstStyle/>
          <a:p>
            <a:pPr marL="19050" marR="5080" indent="-6985">
              <a:lnSpc>
                <a:spcPct val="100000"/>
              </a:lnSpc>
              <a:spcBef>
                <a:spcPts val="100"/>
              </a:spcBef>
            </a:pPr>
            <a:r>
              <a:rPr sz="2800" spc="-50" dirty="0">
                <a:latin typeface="Arial"/>
                <a:cs typeface="Arial"/>
              </a:rPr>
              <a:t>W</a:t>
            </a:r>
            <a:r>
              <a:rPr sz="2800" dirty="0">
                <a:latin typeface="Arial"/>
                <a:cs typeface="Arial"/>
              </a:rPr>
              <a:t>orking  memory</a:t>
            </a:r>
            <a:endParaRPr sz="2800">
              <a:latin typeface="Arial"/>
              <a:cs typeface="Arial"/>
            </a:endParaRPr>
          </a:p>
        </p:txBody>
      </p:sp>
      <p:sp>
        <p:nvSpPr>
          <p:cNvPr id="8" name="object 8"/>
          <p:cNvSpPr txBox="1"/>
          <p:nvPr/>
        </p:nvSpPr>
        <p:spPr>
          <a:xfrm>
            <a:off x="6632702" y="3833876"/>
            <a:ext cx="95250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Cập</a:t>
            </a:r>
            <a:r>
              <a:rPr sz="1800" spc="-100" dirty="0">
                <a:latin typeface="Arial"/>
                <a:cs typeface="Arial"/>
              </a:rPr>
              <a:t> </a:t>
            </a:r>
            <a:r>
              <a:rPr sz="1800" dirty="0">
                <a:latin typeface="Arial"/>
                <a:cs typeface="Arial"/>
              </a:rPr>
              <a:t>nhật</a:t>
            </a:r>
            <a:endParaRPr sz="1800">
              <a:latin typeface="Arial"/>
              <a:cs typeface="Arial"/>
            </a:endParaRPr>
          </a:p>
        </p:txBody>
      </p:sp>
      <p:sp>
        <p:nvSpPr>
          <p:cNvPr id="9" name="object 9"/>
          <p:cNvSpPr txBox="1"/>
          <p:nvPr/>
        </p:nvSpPr>
        <p:spPr>
          <a:xfrm>
            <a:off x="1374902" y="3833876"/>
            <a:ext cx="9912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Lựa</a:t>
            </a:r>
            <a:r>
              <a:rPr sz="1800" spc="-100" dirty="0">
                <a:latin typeface="Arial"/>
                <a:cs typeface="Arial"/>
              </a:rPr>
              <a:t> </a:t>
            </a:r>
            <a:r>
              <a:rPr sz="1800" dirty="0">
                <a:latin typeface="Arial"/>
                <a:cs typeface="Arial"/>
              </a:rPr>
              <a:t>chọn</a:t>
            </a:r>
            <a:endParaRPr sz="1800">
              <a:latin typeface="Arial"/>
              <a:cs typeface="Arial"/>
            </a:endParaRPr>
          </a:p>
        </p:txBody>
      </p:sp>
      <p:sp>
        <p:nvSpPr>
          <p:cNvPr id="10" name="object 10"/>
          <p:cNvSpPr/>
          <p:nvPr/>
        </p:nvSpPr>
        <p:spPr>
          <a:xfrm>
            <a:off x="1143000" y="4568952"/>
            <a:ext cx="1981200" cy="784225"/>
          </a:xfrm>
          <a:custGeom>
            <a:avLst/>
            <a:gdLst/>
            <a:ahLst/>
            <a:cxnLst/>
            <a:rect l="l" t="t" r="r" b="b"/>
            <a:pathLst>
              <a:path w="1981200" h="784225">
                <a:moveTo>
                  <a:pt x="1981200" y="784098"/>
                </a:moveTo>
                <a:lnTo>
                  <a:pt x="1981200" y="0"/>
                </a:lnTo>
                <a:lnTo>
                  <a:pt x="0" y="0"/>
                </a:lnTo>
                <a:lnTo>
                  <a:pt x="0" y="784098"/>
                </a:lnTo>
                <a:lnTo>
                  <a:pt x="6858" y="784098"/>
                </a:lnTo>
                <a:lnTo>
                  <a:pt x="6858" y="12953"/>
                </a:lnTo>
                <a:lnTo>
                  <a:pt x="12953" y="6858"/>
                </a:lnTo>
                <a:lnTo>
                  <a:pt x="12953" y="12953"/>
                </a:lnTo>
                <a:lnTo>
                  <a:pt x="1969008" y="12953"/>
                </a:lnTo>
                <a:lnTo>
                  <a:pt x="1969008" y="6858"/>
                </a:lnTo>
                <a:lnTo>
                  <a:pt x="1975104" y="12953"/>
                </a:lnTo>
                <a:lnTo>
                  <a:pt x="1975104" y="784098"/>
                </a:lnTo>
                <a:lnTo>
                  <a:pt x="1981200" y="784098"/>
                </a:lnTo>
                <a:close/>
              </a:path>
              <a:path w="1981200" h="784225">
                <a:moveTo>
                  <a:pt x="12953" y="12953"/>
                </a:moveTo>
                <a:lnTo>
                  <a:pt x="12953" y="6858"/>
                </a:lnTo>
                <a:lnTo>
                  <a:pt x="6858" y="12953"/>
                </a:lnTo>
                <a:lnTo>
                  <a:pt x="12953" y="12953"/>
                </a:lnTo>
                <a:close/>
              </a:path>
              <a:path w="1981200" h="784225">
                <a:moveTo>
                  <a:pt x="12953" y="784098"/>
                </a:moveTo>
                <a:lnTo>
                  <a:pt x="12953" y="12953"/>
                </a:lnTo>
                <a:lnTo>
                  <a:pt x="6858" y="12953"/>
                </a:lnTo>
                <a:lnTo>
                  <a:pt x="6858" y="784098"/>
                </a:lnTo>
                <a:lnTo>
                  <a:pt x="12953" y="784098"/>
                </a:lnTo>
                <a:close/>
              </a:path>
              <a:path w="1981200" h="784225">
                <a:moveTo>
                  <a:pt x="1975104" y="12953"/>
                </a:moveTo>
                <a:lnTo>
                  <a:pt x="1969008" y="6858"/>
                </a:lnTo>
                <a:lnTo>
                  <a:pt x="1969008" y="12953"/>
                </a:lnTo>
                <a:lnTo>
                  <a:pt x="1975104" y="12953"/>
                </a:lnTo>
                <a:close/>
              </a:path>
              <a:path w="1981200" h="784225">
                <a:moveTo>
                  <a:pt x="1975104" y="784098"/>
                </a:moveTo>
                <a:lnTo>
                  <a:pt x="1975104" y="12953"/>
                </a:lnTo>
                <a:lnTo>
                  <a:pt x="1969008" y="12953"/>
                </a:lnTo>
                <a:lnTo>
                  <a:pt x="1969008" y="784098"/>
                </a:lnTo>
                <a:lnTo>
                  <a:pt x="1975104" y="784098"/>
                </a:lnTo>
                <a:close/>
              </a:path>
            </a:pathLst>
          </a:custGeom>
          <a:solidFill>
            <a:srgbClr val="000000"/>
          </a:solidFill>
        </p:spPr>
        <p:txBody>
          <a:bodyPr wrap="square" lIns="0" tIns="0" rIns="0" bIns="0" rtlCol="0"/>
          <a:lstStyle/>
          <a:p>
            <a:endParaRPr/>
          </a:p>
        </p:txBody>
      </p:sp>
      <p:sp>
        <p:nvSpPr>
          <p:cNvPr id="11" name="object 11"/>
          <p:cNvSpPr txBox="1"/>
          <p:nvPr/>
        </p:nvSpPr>
        <p:spPr>
          <a:xfrm>
            <a:off x="1755139" y="4820666"/>
            <a:ext cx="757555" cy="452755"/>
          </a:xfrm>
          <a:prstGeom prst="rect">
            <a:avLst/>
          </a:prstGeom>
        </p:spPr>
        <p:txBody>
          <a:bodyPr vert="horz" wrap="square" lIns="0" tIns="12700" rIns="0" bIns="0" rtlCol="0">
            <a:spAutoFit/>
          </a:bodyPr>
          <a:lstStyle/>
          <a:p>
            <a:pPr marL="12700">
              <a:lnSpc>
                <a:spcPct val="100000"/>
              </a:lnSpc>
              <a:spcBef>
                <a:spcPts val="100"/>
              </a:spcBef>
            </a:pPr>
            <a:r>
              <a:rPr sz="2800" spc="-5" dirty="0">
                <a:latin typeface="Arial"/>
                <a:cs typeface="Arial"/>
              </a:rPr>
              <a:t>Rule</a:t>
            </a:r>
            <a:endParaRPr sz="2800">
              <a:latin typeface="Arial"/>
              <a:cs typeface="Arial"/>
            </a:endParaRPr>
          </a:p>
        </p:txBody>
      </p:sp>
      <p:sp>
        <p:nvSpPr>
          <p:cNvPr id="12" name="object 12"/>
          <p:cNvSpPr/>
          <p:nvPr/>
        </p:nvSpPr>
        <p:spPr>
          <a:xfrm>
            <a:off x="5867400" y="4568952"/>
            <a:ext cx="1911985" cy="784225"/>
          </a:xfrm>
          <a:custGeom>
            <a:avLst/>
            <a:gdLst/>
            <a:ahLst/>
            <a:cxnLst/>
            <a:rect l="l" t="t" r="r" b="b"/>
            <a:pathLst>
              <a:path w="1911984" h="784225">
                <a:moveTo>
                  <a:pt x="1911857" y="784098"/>
                </a:moveTo>
                <a:lnTo>
                  <a:pt x="1911857" y="0"/>
                </a:lnTo>
                <a:lnTo>
                  <a:pt x="0" y="0"/>
                </a:lnTo>
                <a:lnTo>
                  <a:pt x="0" y="784098"/>
                </a:lnTo>
                <a:lnTo>
                  <a:pt x="6858" y="784098"/>
                </a:lnTo>
                <a:lnTo>
                  <a:pt x="6858" y="12954"/>
                </a:lnTo>
                <a:lnTo>
                  <a:pt x="12953" y="6858"/>
                </a:lnTo>
                <a:lnTo>
                  <a:pt x="12953" y="12954"/>
                </a:lnTo>
                <a:lnTo>
                  <a:pt x="1898903" y="12953"/>
                </a:lnTo>
                <a:lnTo>
                  <a:pt x="1898903" y="6858"/>
                </a:lnTo>
                <a:lnTo>
                  <a:pt x="1905000" y="12953"/>
                </a:lnTo>
                <a:lnTo>
                  <a:pt x="1905000" y="784098"/>
                </a:lnTo>
                <a:lnTo>
                  <a:pt x="1911857" y="784098"/>
                </a:lnTo>
                <a:close/>
              </a:path>
              <a:path w="1911984" h="784225">
                <a:moveTo>
                  <a:pt x="12953" y="12954"/>
                </a:moveTo>
                <a:lnTo>
                  <a:pt x="12953" y="6858"/>
                </a:lnTo>
                <a:lnTo>
                  <a:pt x="6858" y="12954"/>
                </a:lnTo>
                <a:lnTo>
                  <a:pt x="12953" y="12954"/>
                </a:lnTo>
                <a:close/>
              </a:path>
              <a:path w="1911984" h="784225">
                <a:moveTo>
                  <a:pt x="12953" y="784098"/>
                </a:moveTo>
                <a:lnTo>
                  <a:pt x="12953" y="12954"/>
                </a:lnTo>
                <a:lnTo>
                  <a:pt x="6858" y="12954"/>
                </a:lnTo>
                <a:lnTo>
                  <a:pt x="6858" y="784098"/>
                </a:lnTo>
                <a:lnTo>
                  <a:pt x="12953" y="784098"/>
                </a:lnTo>
                <a:close/>
              </a:path>
              <a:path w="1911984" h="784225">
                <a:moveTo>
                  <a:pt x="1905000" y="12953"/>
                </a:moveTo>
                <a:lnTo>
                  <a:pt x="1898903" y="6858"/>
                </a:lnTo>
                <a:lnTo>
                  <a:pt x="1898903" y="12953"/>
                </a:lnTo>
                <a:lnTo>
                  <a:pt x="1905000" y="12953"/>
                </a:lnTo>
                <a:close/>
              </a:path>
              <a:path w="1911984" h="784225">
                <a:moveTo>
                  <a:pt x="1905000" y="784098"/>
                </a:moveTo>
                <a:lnTo>
                  <a:pt x="1905000" y="12953"/>
                </a:lnTo>
                <a:lnTo>
                  <a:pt x="1898903" y="12953"/>
                </a:lnTo>
                <a:lnTo>
                  <a:pt x="1898903" y="784098"/>
                </a:lnTo>
                <a:lnTo>
                  <a:pt x="1905000" y="784098"/>
                </a:lnTo>
                <a:close/>
              </a:path>
            </a:pathLst>
          </a:custGeom>
          <a:solidFill>
            <a:srgbClr val="000000"/>
          </a:solidFill>
        </p:spPr>
        <p:txBody>
          <a:bodyPr wrap="square" lIns="0" tIns="0" rIns="0" bIns="0" rtlCol="0"/>
          <a:lstStyle/>
          <a:p>
            <a:endParaRPr/>
          </a:p>
        </p:txBody>
      </p:sp>
      <p:sp>
        <p:nvSpPr>
          <p:cNvPr id="13" name="object 13"/>
          <p:cNvSpPr txBox="1"/>
          <p:nvPr/>
        </p:nvSpPr>
        <p:spPr>
          <a:xfrm>
            <a:off x="5946902" y="5049266"/>
            <a:ext cx="167068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Interpreter</a:t>
            </a:r>
            <a:endParaRPr sz="2800">
              <a:latin typeface="Arial"/>
              <a:cs typeface="Arial"/>
            </a:endParaRPr>
          </a:p>
        </p:txBody>
      </p:sp>
      <p:grpSp>
        <p:nvGrpSpPr>
          <p:cNvPr id="14" name="object 14"/>
          <p:cNvGrpSpPr/>
          <p:nvPr/>
        </p:nvGrpSpPr>
        <p:grpSpPr>
          <a:xfrm>
            <a:off x="1143000" y="4373879"/>
            <a:ext cx="7684020" cy="1719580"/>
            <a:chOff x="1143000" y="4373879"/>
            <a:chExt cx="7684020" cy="1719580"/>
          </a:xfrm>
        </p:grpSpPr>
        <p:sp>
          <p:nvSpPr>
            <p:cNvPr id="15" name="object 15"/>
            <p:cNvSpPr/>
            <p:nvPr/>
          </p:nvSpPr>
          <p:spPr>
            <a:xfrm>
              <a:off x="3131058" y="4373879"/>
              <a:ext cx="2730500" cy="979169"/>
            </a:xfrm>
            <a:custGeom>
              <a:avLst/>
              <a:gdLst/>
              <a:ahLst/>
              <a:cxnLst/>
              <a:rect l="l" t="t" r="r" b="b"/>
              <a:pathLst>
                <a:path w="2730500" h="979170">
                  <a:moveTo>
                    <a:pt x="2660142" y="0"/>
                  </a:moveTo>
                  <a:lnTo>
                    <a:pt x="2647937" y="0"/>
                  </a:lnTo>
                  <a:lnTo>
                    <a:pt x="2647937" y="39624"/>
                  </a:lnTo>
                  <a:lnTo>
                    <a:pt x="82296" y="39624"/>
                  </a:lnTo>
                  <a:lnTo>
                    <a:pt x="82296" y="0"/>
                  </a:lnTo>
                  <a:lnTo>
                    <a:pt x="69342" y="0"/>
                  </a:lnTo>
                  <a:lnTo>
                    <a:pt x="69342" y="52578"/>
                  </a:lnTo>
                  <a:lnTo>
                    <a:pt x="76200" y="52578"/>
                  </a:lnTo>
                  <a:lnTo>
                    <a:pt x="82296" y="52578"/>
                  </a:lnTo>
                  <a:lnTo>
                    <a:pt x="2647937" y="52578"/>
                  </a:lnTo>
                  <a:lnTo>
                    <a:pt x="2654046" y="52578"/>
                  </a:lnTo>
                  <a:lnTo>
                    <a:pt x="2660142" y="52578"/>
                  </a:lnTo>
                  <a:lnTo>
                    <a:pt x="2660142" y="0"/>
                  </a:lnTo>
                  <a:close/>
                </a:path>
                <a:path w="2730500" h="979170">
                  <a:moveTo>
                    <a:pt x="2730246" y="957072"/>
                  </a:moveTo>
                  <a:lnTo>
                    <a:pt x="2654046" y="918972"/>
                  </a:lnTo>
                  <a:lnTo>
                    <a:pt x="2654046" y="950988"/>
                  </a:lnTo>
                  <a:lnTo>
                    <a:pt x="0" y="950988"/>
                  </a:lnTo>
                  <a:lnTo>
                    <a:pt x="0" y="963930"/>
                  </a:lnTo>
                  <a:lnTo>
                    <a:pt x="2654046" y="963930"/>
                  </a:lnTo>
                  <a:lnTo>
                    <a:pt x="2654046" y="979170"/>
                  </a:lnTo>
                  <a:lnTo>
                    <a:pt x="2666987" y="979170"/>
                  </a:lnTo>
                  <a:lnTo>
                    <a:pt x="2686037" y="979170"/>
                  </a:lnTo>
                  <a:lnTo>
                    <a:pt x="2730246" y="957072"/>
                  </a:lnTo>
                  <a:close/>
                </a:path>
              </a:pathLst>
            </a:custGeom>
            <a:solidFill>
              <a:srgbClr val="000000"/>
            </a:solidFill>
          </p:spPr>
          <p:txBody>
            <a:bodyPr wrap="square" lIns="0" tIns="0" rIns="0" bIns="0" rtlCol="0"/>
            <a:lstStyle/>
            <a:p>
              <a:endParaRPr/>
            </a:p>
          </p:txBody>
        </p:sp>
        <p:sp>
          <p:nvSpPr>
            <p:cNvPr id="16" name="object 16"/>
            <p:cNvSpPr/>
            <p:nvPr/>
          </p:nvSpPr>
          <p:spPr>
            <a:xfrm>
              <a:off x="2033777" y="4373879"/>
              <a:ext cx="78115" cy="196596"/>
            </a:xfrm>
            <a:prstGeom prst="rect">
              <a:avLst/>
            </a:prstGeom>
            <a:blipFill>
              <a:blip r:embed="rId2" cstate="print"/>
              <a:stretch>
                <a:fillRect/>
              </a:stretch>
            </a:blipFill>
          </p:spPr>
          <p:txBody>
            <a:bodyPr wrap="square" lIns="0" tIns="0" rIns="0" bIns="0" rtlCol="0"/>
            <a:lstStyle/>
            <a:p>
              <a:endParaRPr/>
            </a:p>
          </p:txBody>
        </p:sp>
        <p:sp>
          <p:nvSpPr>
            <p:cNvPr id="17" name="object 17"/>
            <p:cNvSpPr/>
            <p:nvPr/>
          </p:nvSpPr>
          <p:spPr>
            <a:xfrm>
              <a:off x="6734695" y="4373879"/>
              <a:ext cx="2092325" cy="979169"/>
            </a:xfrm>
            <a:custGeom>
              <a:avLst/>
              <a:gdLst/>
              <a:ahLst/>
              <a:cxnLst/>
              <a:rect l="l" t="t" r="r" b="b"/>
              <a:pathLst>
                <a:path w="2092325" h="979170">
                  <a:moveTo>
                    <a:pt x="47866" y="200406"/>
                  </a:moveTo>
                  <a:lnTo>
                    <a:pt x="47104" y="196596"/>
                  </a:lnTo>
                  <a:lnTo>
                    <a:pt x="44818" y="148628"/>
                  </a:lnTo>
                  <a:lnTo>
                    <a:pt x="39141" y="102057"/>
                  </a:lnTo>
                  <a:lnTo>
                    <a:pt x="30213" y="56896"/>
                  </a:lnTo>
                  <a:lnTo>
                    <a:pt x="18186" y="13182"/>
                  </a:lnTo>
                  <a:lnTo>
                    <a:pt x="13512" y="0"/>
                  </a:lnTo>
                  <a:lnTo>
                    <a:pt x="0" y="0"/>
                  </a:lnTo>
                  <a:lnTo>
                    <a:pt x="4000" y="10807"/>
                  </a:lnTo>
                  <a:lnTo>
                    <a:pt x="16789" y="55206"/>
                  </a:lnTo>
                  <a:lnTo>
                    <a:pt x="26301" y="101117"/>
                  </a:lnTo>
                  <a:lnTo>
                    <a:pt x="32397" y="148501"/>
                  </a:lnTo>
                  <a:lnTo>
                    <a:pt x="34912" y="197358"/>
                  </a:lnTo>
                  <a:lnTo>
                    <a:pt x="34912" y="200406"/>
                  </a:lnTo>
                  <a:lnTo>
                    <a:pt x="37960" y="203454"/>
                  </a:lnTo>
                  <a:lnTo>
                    <a:pt x="44818" y="203454"/>
                  </a:lnTo>
                  <a:lnTo>
                    <a:pt x="47866" y="200406"/>
                  </a:lnTo>
                  <a:close/>
                </a:path>
                <a:path w="2092325" h="979170">
                  <a:moveTo>
                    <a:pt x="2092312" y="957072"/>
                  </a:moveTo>
                  <a:lnTo>
                    <a:pt x="2016112" y="919734"/>
                  </a:lnTo>
                  <a:lnTo>
                    <a:pt x="2016112" y="951014"/>
                  </a:lnTo>
                  <a:lnTo>
                    <a:pt x="1037704" y="954024"/>
                  </a:lnTo>
                  <a:lnTo>
                    <a:pt x="1037704" y="966978"/>
                  </a:lnTo>
                  <a:lnTo>
                    <a:pt x="2016112" y="963968"/>
                  </a:lnTo>
                  <a:lnTo>
                    <a:pt x="2016112" y="979170"/>
                  </a:lnTo>
                  <a:lnTo>
                    <a:pt x="2028304" y="979170"/>
                  </a:lnTo>
                  <a:lnTo>
                    <a:pt x="2048979" y="979170"/>
                  </a:lnTo>
                  <a:lnTo>
                    <a:pt x="2092312" y="957072"/>
                  </a:lnTo>
                  <a:close/>
                </a:path>
              </a:pathLst>
            </a:custGeom>
            <a:solidFill>
              <a:srgbClr val="000000"/>
            </a:solidFill>
          </p:spPr>
          <p:txBody>
            <a:bodyPr wrap="square" lIns="0" tIns="0" rIns="0" bIns="0" rtlCol="0"/>
            <a:lstStyle/>
            <a:p>
              <a:endParaRPr/>
            </a:p>
          </p:txBody>
        </p:sp>
        <p:sp>
          <p:nvSpPr>
            <p:cNvPr id="19" name="object 19"/>
            <p:cNvSpPr/>
            <p:nvPr/>
          </p:nvSpPr>
          <p:spPr>
            <a:xfrm>
              <a:off x="1143000" y="5353049"/>
              <a:ext cx="1981200" cy="740410"/>
            </a:xfrm>
            <a:custGeom>
              <a:avLst/>
              <a:gdLst/>
              <a:ahLst/>
              <a:cxnLst/>
              <a:rect l="l" t="t" r="r" b="b"/>
              <a:pathLst>
                <a:path w="1981200" h="740410">
                  <a:moveTo>
                    <a:pt x="12953" y="727710"/>
                  </a:moveTo>
                  <a:lnTo>
                    <a:pt x="12953" y="0"/>
                  </a:lnTo>
                  <a:lnTo>
                    <a:pt x="0" y="0"/>
                  </a:lnTo>
                  <a:lnTo>
                    <a:pt x="0" y="739901"/>
                  </a:lnTo>
                  <a:lnTo>
                    <a:pt x="6858" y="739901"/>
                  </a:lnTo>
                  <a:lnTo>
                    <a:pt x="6858" y="727710"/>
                  </a:lnTo>
                  <a:lnTo>
                    <a:pt x="12953" y="727710"/>
                  </a:lnTo>
                  <a:close/>
                </a:path>
                <a:path w="1981200" h="740410">
                  <a:moveTo>
                    <a:pt x="1975104" y="727710"/>
                  </a:moveTo>
                  <a:lnTo>
                    <a:pt x="6858" y="727710"/>
                  </a:lnTo>
                  <a:lnTo>
                    <a:pt x="12953" y="733805"/>
                  </a:lnTo>
                  <a:lnTo>
                    <a:pt x="12953" y="739901"/>
                  </a:lnTo>
                  <a:lnTo>
                    <a:pt x="1969008" y="739901"/>
                  </a:lnTo>
                  <a:lnTo>
                    <a:pt x="1969008" y="733805"/>
                  </a:lnTo>
                  <a:lnTo>
                    <a:pt x="1975104" y="727710"/>
                  </a:lnTo>
                  <a:close/>
                </a:path>
                <a:path w="1981200" h="740410">
                  <a:moveTo>
                    <a:pt x="12953" y="739901"/>
                  </a:moveTo>
                  <a:lnTo>
                    <a:pt x="12953" y="733805"/>
                  </a:lnTo>
                  <a:lnTo>
                    <a:pt x="6858" y="727710"/>
                  </a:lnTo>
                  <a:lnTo>
                    <a:pt x="6858" y="739901"/>
                  </a:lnTo>
                  <a:lnTo>
                    <a:pt x="12953" y="739901"/>
                  </a:lnTo>
                  <a:close/>
                </a:path>
                <a:path w="1981200" h="740410">
                  <a:moveTo>
                    <a:pt x="1981200" y="739901"/>
                  </a:moveTo>
                  <a:lnTo>
                    <a:pt x="1981200" y="0"/>
                  </a:lnTo>
                  <a:lnTo>
                    <a:pt x="1969008" y="0"/>
                  </a:lnTo>
                  <a:lnTo>
                    <a:pt x="1969008" y="727710"/>
                  </a:lnTo>
                  <a:lnTo>
                    <a:pt x="1975104" y="727710"/>
                  </a:lnTo>
                  <a:lnTo>
                    <a:pt x="1975104" y="739901"/>
                  </a:lnTo>
                  <a:lnTo>
                    <a:pt x="1981200" y="739901"/>
                  </a:lnTo>
                  <a:close/>
                </a:path>
                <a:path w="1981200" h="740410">
                  <a:moveTo>
                    <a:pt x="1975104" y="739901"/>
                  </a:moveTo>
                  <a:lnTo>
                    <a:pt x="1975104" y="727710"/>
                  </a:lnTo>
                  <a:lnTo>
                    <a:pt x="1969008" y="733805"/>
                  </a:lnTo>
                  <a:lnTo>
                    <a:pt x="1969008" y="739901"/>
                  </a:lnTo>
                  <a:lnTo>
                    <a:pt x="1975104" y="739901"/>
                  </a:lnTo>
                  <a:close/>
                </a:path>
              </a:pathLst>
            </a:custGeom>
            <a:solidFill>
              <a:srgbClr val="000000"/>
            </a:solidFill>
          </p:spPr>
          <p:txBody>
            <a:bodyPr wrap="square" lIns="0" tIns="0" rIns="0" bIns="0" rtlCol="0"/>
            <a:lstStyle/>
            <a:p>
              <a:endParaRPr/>
            </a:p>
          </p:txBody>
        </p:sp>
      </p:grpSp>
      <p:sp>
        <p:nvSpPr>
          <p:cNvPr id="20" name="object 20"/>
          <p:cNvSpPr txBox="1"/>
          <p:nvPr/>
        </p:nvSpPr>
        <p:spPr>
          <a:xfrm>
            <a:off x="1477772" y="5247385"/>
            <a:ext cx="1311910"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Arial"/>
                <a:cs typeface="Arial"/>
              </a:rPr>
              <a:t>memory</a:t>
            </a:r>
            <a:endParaRPr sz="2800">
              <a:latin typeface="Arial"/>
              <a:cs typeface="Arial"/>
            </a:endParaRPr>
          </a:p>
        </p:txBody>
      </p:sp>
      <p:sp>
        <p:nvSpPr>
          <p:cNvPr id="21" name="object 21"/>
          <p:cNvSpPr/>
          <p:nvPr/>
        </p:nvSpPr>
        <p:spPr>
          <a:xfrm>
            <a:off x="5785104" y="5353050"/>
            <a:ext cx="1994535" cy="740410"/>
          </a:xfrm>
          <a:custGeom>
            <a:avLst/>
            <a:gdLst/>
            <a:ahLst/>
            <a:cxnLst/>
            <a:rect l="l" t="t" r="r" b="b"/>
            <a:pathLst>
              <a:path w="1994534" h="740410">
                <a:moveTo>
                  <a:pt x="31991" y="0"/>
                </a:moveTo>
                <a:lnTo>
                  <a:pt x="0" y="0"/>
                </a:lnTo>
                <a:lnTo>
                  <a:pt x="0" y="16002"/>
                </a:lnTo>
                <a:lnTo>
                  <a:pt x="31991" y="0"/>
                </a:lnTo>
                <a:close/>
              </a:path>
              <a:path w="1994534" h="740410">
                <a:moveTo>
                  <a:pt x="1994154" y="0"/>
                </a:moveTo>
                <a:lnTo>
                  <a:pt x="1981200" y="0"/>
                </a:lnTo>
                <a:lnTo>
                  <a:pt x="1981200" y="727710"/>
                </a:lnTo>
                <a:lnTo>
                  <a:pt x="95250" y="727710"/>
                </a:lnTo>
                <a:lnTo>
                  <a:pt x="95250" y="0"/>
                </a:lnTo>
                <a:lnTo>
                  <a:pt x="82296" y="0"/>
                </a:lnTo>
                <a:lnTo>
                  <a:pt x="82296" y="739902"/>
                </a:lnTo>
                <a:lnTo>
                  <a:pt x="89154" y="739902"/>
                </a:lnTo>
                <a:lnTo>
                  <a:pt x="95250" y="739902"/>
                </a:lnTo>
                <a:lnTo>
                  <a:pt x="1981200" y="739902"/>
                </a:lnTo>
                <a:lnTo>
                  <a:pt x="1987296" y="739902"/>
                </a:lnTo>
                <a:lnTo>
                  <a:pt x="1994154" y="739902"/>
                </a:lnTo>
                <a:lnTo>
                  <a:pt x="1994154" y="0"/>
                </a:lnTo>
                <a:close/>
              </a:path>
            </a:pathLst>
          </a:custGeom>
          <a:solidFill>
            <a:srgbClr val="000000"/>
          </a:solidFill>
        </p:spPr>
        <p:txBody>
          <a:bodyPr wrap="square" lIns="0" tIns="0" rIns="0" bIns="0" rtlCol="0"/>
          <a:lstStyle/>
          <a:p>
            <a:endParaRPr/>
          </a:p>
        </p:txBody>
      </p:sp>
      <p:sp>
        <p:nvSpPr>
          <p:cNvPr id="22" name="object 22"/>
          <p:cNvSpPr txBox="1"/>
          <p:nvPr/>
        </p:nvSpPr>
        <p:spPr>
          <a:xfrm>
            <a:off x="4056379" y="5357876"/>
            <a:ext cx="8769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Áp</a:t>
            </a:r>
            <a:r>
              <a:rPr sz="1800" spc="-90" dirty="0">
                <a:latin typeface="Arial"/>
                <a:cs typeface="Arial"/>
              </a:rPr>
              <a:t> </a:t>
            </a:r>
            <a:r>
              <a:rPr sz="1800" dirty="0">
                <a:latin typeface="Arial"/>
                <a:cs typeface="Arial"/>
              </a:rPr>
              <a:t>dụng</a:t>
            </a:r>
            <a:endParaRPr sz="1800">
              <a:latin typeface="Arial"/>
              <a:cs typeface="Arial"/>
            </a:endParaRPr>
          </a:p>
        </p:txBody>
      </p:sp>
      <p:sp>
        <p:nvSpPr>
          <p:cNvPr id="23" name="object 23"/>
          <p:cNvSpPr txBox="1"/>
          <p:nvPr/>
        </p:nvSpPr>
        <p:spPr>
          <a:xfrm>
            <a:off x="7926578" y="5359407"/>
            <a:ext cx="812800"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Kết</a:t>
            </a:r>
            <a:r>
              <a:rPr sz="1800" spc="-75" dirty="0">
                <a:latin typeface="Arial"/>
                <a:cs typeface="Arial"/>
              </a:rPr>
              <a:t> </a:t>
            </a:r>
            <a:r>
              <a:rPr sz="1800" spc="-5" dirty="0">
                <a:latin typeface="Arial"/>
                <a:cs typeface="Arial"/>
              </a:rPr>
              <a:t>quả</a:t>
            </a:r>
            <a:endParaRPr sz="1800">
              <a:latin typeface="Arial"/>
              <a:cs typeface="Arial"/>
            </a:endParaRPr>
          </a:p>
        </p:txBody>
      </p:sp>
      <p:sp>
        <p:nvSpPr>
          <p:cNvPr id="24" name="object 24"/>
          <p:cNvSpPr/>
          <p:nvPr/>
        </p:nvSpPr>
        <p:spPr>
          <a:xfrm>
            <a:off x="8750807" y="5353050"/>
            <a:ext cx="33020" cy="17145"/>
          </a:xfrm>
          <a:custGeom>
            <a:avLst/>
            <a:gdLst/>
            <a:ahLst/>
            <a:cxnLst/>
            <a:rect l="l" t="t" r="r" b="b"/>
            <a:pathLst>
              <a:path w="33020" h="17145">
                <a:moveTo>
                  <a:pt x="32870" y="0"/>
                </a:moveTo>
                <a:lnTo>
                  <a:pt x="0" y="0"/>
                </a:lnTo>
                <a:lnTo>
                  <a:pt x="0" y="16763"/>
                </a:lnTo>
                <a:lnTo>
                  <a:pt x="32870" y="0"/>
                </a:lnTo>
                <a:close/>
              </a:path>
            </a:pathLst>
          </a:custGeom>
          <a:solidFill>
            <a:srgbClr val="000000"/>
          </a:solidFill>
        </p:spPr>
        <p:txBody>
          <a:bodyPr wrap="square" lIns="0" tIns="0" rIns="0" bIns="0" rtlCol="0"/>
          <a:lstStyle/>
          <a:p>
            <a:endParaRPr/>
          </a:p>
        </p:txBody>
      </p:sp>
      <p:sp>
        <p:nvSpPr>
          <p:cNvPr id="25" name="object 2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6" name="object 26"/>
          <p:cNvSpPr txBox="1"/>
          <p:nvPr/>
        </p:nvSpPr>
        <p:spPr>
          <a:xfrm>
            <a:off x="916939" y="6353047"/>
            <a:ext cx="3910965" cy="238760"/>
          </a:xfrm>
          <a:prstGeom prst="rect">
            <a:avLst/>
          </a:prstGeom>
        </p:spPr>
        <p:txBody>
          <a:bodyPr vert="horz" wrap="square" lIns="0" tIns="12065" rIns="0" bIns="0" rtlCol="0">
            <a:spAutoFit/>
          </a:bodyPr>
          <a:lstStyle/>
          <a:p>
            <a:pPr marL="12700">
              <a:lnSpc>
                <a:spcPct val="100000"/>
              </a:lnSpc>
              <a:spcBef>
                <a:spcPts val="95"/>
              </a:spcBef>
            </a:pPr>
            <a:r>
              <a:rPr sz="1400" i="1" spc="-5" dirty="0">
                <a:latin typeface="Arial"/>
                <a:cs typeface="Arial"/>
                <a:hlinkClick r:id="rId3"/>
              </a:rPr>
              <a:t>(http://www.cwa.mdx.ac.uk/bis2040/johnlect.html)</a:t>
            </a:r>
            <a:endParaRPr sz="1400">
              <a:latin typeface="Arial"/>
              <a:cs typeface="Arial"/>
            </a:endParaRPr>
          </a:p>
        </p:txBody>
      </p:sp>
      <p:sp>
        <p:nvSpPr>
          <p:cNvPr id="28" name="object 28"/>
          <p:cNvSpPr txBox="1"/>
          <p:nvPr/>
        </p:nvSpPr>
        <p:spPr>
          <a:xfrm>
            <a:off x="8895080" y="6925795"/>
            <a:ext cx="168910" cy="196850"/>
          </a:xfrm>
          <a:prstGeom prst="rect">
            <a:avLst/>
          </a:prstGeom>
        </p:spPr>
        <p:txBody>
          <a:bodyPr vert="horz" wrap="square" lIns="0" tIns="0" rIns="0" bIns="0" rtlCol="0">
            <a:spAutoFit/>
          </a:bodyPr>
          <a:lstStyle/>
          <a:p>
            <a:pPr marL="12700">
              <a:lnSpc>
                <a:spcPts val="1375"/>
              </a:lnSpc>
            </a:pPr>
            <a:r>
              <a:rPr sz="1200" spc="-40" dirty="0">
                <a:latin typeface="Times New Roman"/>
                <a:cs typeface="Times New Roman"/>
              </a:rPr>
              <a:t>17</a:t>
            </a:r>
            <a:endParaRPr sz="1200">
              <a:latin typeface="Times New Roman"/>
              <a:cs typeface="Times New Roman"/>
            </a:endParaRPr>
          </a:p>
        </p:txBody>
      </p:sp>
      <p:sp>
        <p:nvSpPr>
          <p:cNvPr id="30" name="Title 29">
            <a:extLst>
              <a:ext uri="{FF2B5EF4-FFF2-40B4-BE49-F238E27FC236}">
                <a16:creationId xmlns:a16="http://schemas.microsoft.com/office/drawing/2014/main" id="{B2BEB506-A895-4E85-B014-1EBC985691A9}"/>
              </a:ext>
            </a:extLst>
          </p:cNvPr>
          <p:cNvSpPr>
            <a:spLocks noGrp="1"/>
          </p:cNvSpPr>
          <p:nvPr>
            <p:ph type="title"/>
          </p:nvPr>
        </p:nvSpPr>
        <p:spPr/>
        <p:txBody>
          <a:bodyPr>
            <a:normAutofit/>
          </a:bodyPr>
          <a:lstStyle/>
          <a:p>
            <a:r>
              <a:rPr lang="en-US" sz="3600" b="0">
                <a:latin typeface="Verdana"/>
                <a:cs typeface="Verdana"/>
              </a:rPr>
              <a:t>Hệ </a:t>
            </a:r>
            <a:r>
              <a:rPr lang="en-US" sz="3600" b="0" spc="-5">
                <a:latin typeface="Verdana"/>
                <a:cs typeface="Verdana"/>
              </a:rPr>
              <a:t>thống </a:t>
            </a:r>
            <a:r>
              <a:rPr lang="en-US" sz="3600" b="0">
                <a:latin typeface="Verdana"/>
                <a:cs typeface="Verdana"/>
              </a:rPr>
              <a:t>suy </a:t>
            </a:r>
            <a:r>
              <a:rPr lang="en-US" sz="3600" b="0" spc="-5">
                <a:latin typeface="Verdana"/>
                <a:cs typeface="Verdana"/>
              </a:rPr>
              <a:t>diễn dựa trên luật</a:t>
            </a:r>
            <a:r>
              <a:rPr lang="en-US" sz="3600" b="0" spc="-110">
                <a:latin typeface="Verdana"/>
                <a:cs typeface="Verdana"/>
              </a:rPr>
              <a:t> </a:t>
            </a:r>
            <a:r>
              <a:rPr lang="en-US" sz="3600" b="0" spc="-5">
                <a:latin typeface="Verdana"/>
                <a:cs typeface="Verdana"/>
              </a:rPr>
              <a:t>(1)</a:t>
            </a:r>
            <a:endParaRPr lang="en-US" sz="3600"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object 8"/>
          <p:cNvGrpSpPr/>
          <p:nvPr/>
        </p:nvGrpSpPr>
        <p:grpSpPr>
          <a:xfrm>
            <a:off x="457200" y="6332220"/>
            <a:ext cx="9144000" cy="982980"/>
            <a:chOff x="457200" y="6332220"/>
            <a:chExt cx="9144000" cy="982980"/>
          </a:xfrm>
        </p:grpSpPr>
        <p:sp>
          <p:nvSpPr>
            <p:cNvPr id="9" name="object 9"/>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2" name="object 2"/>
          <p:cNvSpPr/>
          <p:nvPr/>
        </p:nvSpPr>
        <p:spPr>
          <a:xfrm>
            <a:off x="9058656" y="685800"/>
            <a:ext cx="19050" cy="750570"/>
          </a:xfrm>
          <a:custGeom>
            <a:avLst/>
            <a:gdLst/>
            <a:ahLst/>
            <a:cxnLst/>
            <a:rect l="l" t="t" r="r" b="b"/>
            <a:pathLst>
              <a:path w="19050" h="750569">
                <a:moveTo>
                  <a:pt x="19050" y="0"/>
                </a:moveTo>
                <a:lnTo>
                  <a:pt x="19050" y="750569"/>
                </a:lnTo>
                <a:lnTo>
                  <a:pt x="0" y="750569"/>
                </a:lnTo>
                <a:lnTo>
                  <a:pt x="0" y="0"/>
                </a:lnTo>
                <a:lnTo>
                  <a:pt x="19050" y="0"/>
                </a:lnTo>
                <a:close/>
              </a:path>
            </a:pathLst>
          </a:custGeom>
          <a:solidFill>
            <a:srgbClr val="CC9900"/>
          </a:solidFill>
        </p:spPr>
        <p:txBody>
          <a:bodyPr wrap="square" lIns="0" tIns="0" rIns="0" bIns="0" rtlCol="0"/>
          <a:lstStyle/>
          <a:p>
            <a:endParaRPr/>
          </a:p>
        </p:txBody>
      </p:sp>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17</a:t>
            </a:fld>
            <a:endParaRPr spc="-40" dirty="0"/>
          </a:p>
        </p:txBody>
      </p:sp>
      <p:sp>
        <p:nvSpPr>
          <p:cNvPr id="5" name="object 5"/>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6" name="object 6"/>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7" name="object 7"/>
          <p:cNvSpPr txBox="1"/>
          <p:nvPr/>
        </p:nvSpPr>
        <p:spPr>
          <a:xfrm>
            <a:off x="993139" y="1702181"/>
            <a:ext cx="8010525" cy="4759325"/>
          </a:xfrm>
          <a:prstGeom prst="rect">
            <a:avLst/>
          </a:prstGeom>
        </p:spPr>
        <p:txBody>
          <a:bodyPr vert="horz" wrap="square" lIns="0" tIns="87630" rIns="0" bIns="0" rtlCol="0">
            <a:spAutoFit/>
          </a:bodyPr>
          <a:lstStyle/>
          <a:p>
            <a:pPr marL="298450" indent="-285750">
              <a:lnSpc>
                <a:spcPct val="100000"/>
              </a:lnSpc>
              <a:spcBef>
                <a:spcPts val="690"/>
              </a:spcBef>
              <a:buClr>
                <a:srgbClr val="CC9A00"/>
              </a:buClr>
              <a:buSzPct val="64583"/>
              <a:buFont typeface="Wingdings"/>
              <a:buChar char=""/>
              <a:tabLst>
                <a:tab pos="297815" algn="l"/>
                <a:tab pos="298450" algn="l"/>
              </a:tabLst>
            </a:pPr>
            <a:r>
              <a:rPr sz="2400" dirty="0">
                <a:latin typeface="Arial"/>
                <a:cs typeface="Arial"/>
              </a:rPr>
              <a:t>Bộ </a:t>
            </a:r>
            <a:r>
              <a:rPr sz="2400" spc="-5" dirty="0">
                <a:latin typeface="Arial"/>
                <a:cs typeface="Arial"/>
              </a:rPr>
              <a:t>nhớ </a:t>
            </a:r>
            <a:r>
              <a:rPr sz="2400" dirty="0">
                <a:latin typeface="Arial"/>
                <a:cs typeface="Arial"/>
              </a:rPr>
              <a:t>làm </a:t>
            </a:r>
            <a:r>
              <a:rPr sz="2400" spc="-5" dirty="0">
                <a:latin typeface="Arial"/>
                <a:cs typeface="Arial"/>
              </a:rPr>
              <a:t>việc (Working</a:t>
            </a:r>
            <a:r>
              <a:rPr sz="2400" spc="5" dirty="0">
                <a:latin typeface="Arial"/>
                <a:cs typeface="Arial"/>
              </a:rPr>
              <a:t> </a:t>
            </a:r>
            <a:r>
              <a:rPr sz="2400" spc="-5" dirty="0">
                <a:latin typeface="Arial"/>
                <a:cs typeface="Arial"/>
              </a:rPr>
              <a:t>memory)</a:t>
            </a:r>
            <a:endParaRPr sz="2400">
              <a:latin typeface="Arial"/>
              <a:cs typeface="Arial"/>
            </a:endParaRPr>
          </a:p>
          <a:p>
            <a:pPr marL="624840" lvl="1" indent="-286385">
              <a:lnSpc>
                <a:spcPct val="100000"/>
              </a:lnSpc>
              <a:spcBef>
                <a:spcPts val="490"/>
              </a:spcBef>
              <a:buClr>
                <a:srgbClr val="3B822F"/>
              </a:buClr>
              <a:buSzPct val="60000"/>
              <a:buFont typeface="Wingdings"/>
              <a:buChar char=""/>
              <a:tabLst>
                <a:tab pos="624840" algn="l"/>
                <a:tab pos="625475" algn="l"/>
              </a:tabLst>
            </a:pPr>
            <a:r>
              <a:rPr sz="2000" spc="-5" dirty="0">
                <a:latin typeface="Arial"/>
                <a:cs typeface="Arial"/>
              </a:rPr>
              <a:t>Lưu giữ các sự kiện (các giả thiết đúng, đã được chứng </a:t>
            </a:r>
            <a:r>
              <a:rPr sz="2000" spc="-10" dirty="0">
                <a:latin typeface="Arial"/>
                <a:cs typeface="Arial"/>
              </a:rPr>
              <a:t>minh)</a:t>
            </a:r>
            <a:endParaRPr sz="2000">
              <a:latin typeface="Arial"/>
              <a:cs typeface="Arial"/>
            </a:endParaRPr>
          </a:p>
          <a:p>
            <a:pPr marL="624840" marR="508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Các sự kiện này </a:t>
            </a:r>
            <a:r>
              <a:rPr sz="2000" dirty="0">
                <a:latin typeface="Arial"/>
                <a:cs typeface="Arial"/>
              </a:rPr>
              <a:t>sẽ </a:t>
            </a:r>
            <a:r>
              <a:rPr sz="2000" spc="-5" dirty="0">
                <a:latin typeface="Arial"/>
                <a:cs typeface="Arial"/>
              </a:rPr>
              <a:t>quyết định những luật nào được áp dụng (bởi  thành phần</a:t>
            </a:r>
            <a:r>
              <a:rPr sz="2000" spc="-10" dirty="0">
                <a:latin typeface="Arial"/>
                <a:cs typeface="Arial"/>
              </a:rPr>
              <a:t> </a:t>
            </a:r>
            <a:r>
              <a:rPr sz="2000" spc="-5" dirty="0">
                <a:latin typeface="Arial"/>
                <a:cs typeface="Arial"/>
              </a:rPr>
              <a:t>Interpreter)</a:t>
            </a:r>
            <a:endParaRPr sz="2000">
              <a:latin typeface="Arial"/>
              <a:cs typeface="Arial"/>
            </a:endParaRPr>
          </a:p>
          <a:p>
            <a:pPr marL="298450" indent="-285750">
              <a:lnSpc>
                <a:spcPct val="100000"/>
              </a:lnSpc>
              <a:spcBef>
                <a:spcPts val="565"/>
              </a:spcBef>
              <a:buClr>
                <a:srgbClr val="CC9A00"/>
              </a:buClr>
              <a:buSzPct val="64583"/>
              <a:buFont typeface="Wingdings"/>
              <a:buChar char=""/>
              <a:tabLst>
                <a:tab pos="297815" algn="l"/>
                <a:tab pos="298450" algn="l"/>
              </a:tabLst>
            </a:pPr>
            <a:r>
              <a:rPr sz="2400" dirty="0">
                <a:latin typeface="Arial"/>
                <a:cs typeface="Arial"/>
              </a:rPr>
              <a:t>Bộ </a:t>
            </a:r>
            <a:r>
              <a:rPr sz="2400" spc="-5" dirty="0">
                <a:latin typeface="Arial"/>
                <a:cs typeface="Arial"/>
              </a:rPr>
              <a:t>nhớ các luật (Rule</a:t>
            </a:r>
            <a:r>
              <a:rPr sz="2400" spc="5" dirty="0">
                <a:latin typeface="Arial"/>
                <a:cs typeface="Arial"/>
              </a:rPr>
              <a:t> </a:t>
            </a:r>
            <a:r>
              <a:rPr sz="2400" spc="-5" dirty="0">
                <a:latin typeface="Arial"/>
                <a:cs typeface="Arial"/>
              </a:rPr>
              <a:t>memory)</a:t>
            </a:r>
            <a:endParaRPr sz="2400">
              <a:latin typeface="Arial"/>
              <a:cs typeface="Arial"/>
            </a:endParaRPr>
          </a:p>
          <a:p>
            <a:pPr marL="624840" lvl="1" indent="-286385">
              <a:lnSpc>
                <a:spcPct val="100000"/>
              </a:lnSpc>
              <a:spcBef>
                <a:spcPts val="490"/>
              </a:spcBef>
              <a:buClr>
                <a:srgbClr val="3B822F"/>
              </a:buClr>
              <a:buSzPct val="60000"/>
              <a:buFont typeface="Wingdings"/>
              <a:buChar char=""/>
              <a:tabLst>
                <a:tab pos="624840" algn="l"/>
                <a:tab pos="625475" algn="l"/>
              </a:tabLst>
            </a:pPr>
            <a:r>
              <a:rPr sz="2000" spc="-10" dirty="0">
                <a:latin typeface="Arial"/>
                <a:cs typeface="Arial"/>
              </a:rPr>
              <a:t>Chính </a:t>
            </a:r>
            <a:r>
              <a:rPr sz="2000" spc="-5" dirty="0">
                <a:latin typeface="Arial"/>
                <a:cs typeface="Arial"/>
              </a:rPr>
              <a:t>là </a:t>
            </a:r>
            <a:r>
              <a:rPr sz="2000" dirty="0">
                <a:latin typeface="Arial"/>
                <a:cs typeface="Arial"/>
              </a:rPr>
              <a:t>cơ </a:t>
            </a:r>
            <a:r>
              <a:rPr sz="2000" spc="-5" dirty="0">
                <a:latin typeface="Arial"/>
                <a:cs typeface="Arial"/>
              </a:rPr>
              <a:t>sở tri thức của hệ</a:t>
            </a:r>
            <a:r>
              <a:rPr sz="2000" spc="-30" dirty="0">
                <a:latin typeface="Arial"/>
                <a:cs typeface="Arial"/>
              </a:rPr>
              <a:t> </a:t>
            </a:r>
            <a:r>
              <a:rPr sz="2000" spc="-5" dirty="0">
                <a:latin typeface="Arial"/>
                <a:cs typeface="Arial"/>
              </a:rPr>
              <a:t>thống</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Lưu giữ các luật có thể áp</a:t>
            </a:r>
            <a:r>
              <a:rPr sz="2000" spc="-30" dirty="0">
                <a:latin typeface="Arial"/>
                <a:cs typeface="Arial"/>
              </a:rPr>
              <a:t> </a:t>
            </a:r>
            <a:r>
              <a:rPr sz="2000" spc="-5" dirty="0">
                <a:latin typeface="Arial"/>
                <a:cs typeface="Arial"/>
              </a:rPr>
              <a:t>dụng</a:t>
            </a:r>
            <a:endParaRPr sz="2000">
              <a:latin typeface="Arial"/>
              <a:cs typeface="Arial"/>
            </a:endParaRPr>
          </a:p>
          <a:p>
            <a:pPr marL="298450" indent="-285750">
              <a:lnSpc>
                <a:spcPct val="100000"/>
              </a:lnSpc>
              <a:spcBef>
                <a:spcPts val="565"/>
              </a:spcBef>
              <a:buClr>
                <a:srgbClr val="CC9A00"/>
              </a:buClr>
              <a:buSzPct val="64583"/>
              <a:buFont typeface="Wingdings"/>
              <a:buChar char=""/>
              <a:tabLst>
                <a:tab pos="297815" algn="l"/>
                <a:tab pos="298450" algn="l"/>
              </a:tabLst>
            </a:pPr>
            <a:r>
              <a:rPr sz="2400" dirty="0">
                <a:latin typeface="Arial"/>
                <a:cs typeface="Arial"/>
              </a:rPr>
              <a:t>Bộ </a:t>
            </a:r>
            <a:r>
              <a:rPr sz="2400" spc="-5" dirty="0">
                <a:latin typeface="Arial"/>
                <a:cs typeface="Arial"/>
              </a:rPr>
              <a:t>diễn dịch</a:t>
            </a:r>
            <a:r>
              <a:rPr sz="2400" spc="10" dirty="0">
                <a:latin typeface="Arial"/>
                <a:cs typeface="Arial"/>
              </a:rPr>
              <a:t> </a:t>
            </a:r>
            <a:r>
              <a:rPr sz="2400" spc="-5" dirty="0">
                <a:latin typeface="Arial"/>
                <a:cs typeface="Arial"/>
              </a:rPr>
              <a:t>(Interpreter)</a:t>
            </a:r>
            <a:endParaRPr sz="2400">
              <a:latin typeface="Arial"/>
              <a:cs typeface="Arial"/>
            </a:endParaRPr>
          </a:p>
          <a:p>
            <a:pPr marL="624840" marR="328295" lvl="1" indent="-285750">
              <a:lnSpc>
                <a:spcPct val="100000"/>
              </a:lnSpc>
              <a:spcBef>
                <a:spcPts val="490"/>
              </a:spcBef>
              <a:buClr>
                <a:srgbClr val="3B822F"/>
              </a:buClr>
              <a:buSzPct val="60000"/>
              <a:buFont typeface="Wingdings"/>
              <a:buChar char=""/>
              <a:tabLst>
                <a:tab pos="624840" algn="l"/>
                <a:tab pos="625475" algn="l"/>
              </a:tabLst>
            </a:pPr>
            <a:r>
              <a:rPr sz="2000" spc="-5" dirty="0">
                <a:latin typeface="Arial"/>
                <a:cs typeface="Arial"/>
              </a:rPr>
              <a:t>Hệ thống bắt đầu bằng việc đưa một sự kiện (dữ liệu) phù hợp  vào bộ nhớ làm</a:t>
            </a:r>
            <a:r>
              <a:rPr sz="2000" spc="-10" dirty="0">
                <a:latin typeface="Arial"/>
                <a:cs typeface="Arial"/>
              </a:rPr>
              <a:t> </a:t>
            </a:r>
            <a:r>
              <a:rPr sz="2000" spc="-5" dirty="0">
                <a:latin typeface="Arial"/>
                <a:cs typeface="Arial"/>
              </a:rPr>
              <a:t>việc</a:t>
            </a:r>
            <a:endParaRPr sz="2000">
              <a:latin typeface="Arial"/>
              <a:cs typeface="Arial"/>
            </a:endParaRPr>
          </a:p>
          <a:p>
            <a:pPr marL="624840" marR="121285" lvl="1" indent="-285750">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Khi sự kiện (dữ liệu) trong </a:t>
            </a:r>
            <a:r>
              <a:rPr sz="2000" spc="-10" dirty="0">
                <a:latin typeface="Arial"/>
                <a:cs typeface="Arial"/>
              </a:rPr>
              <a:t>bộ </a:t>
            </a:r>
            <a:r>
              <a:rPr sz="2000" spc="-5" dirty="0">
                <a:latin typeface="Arial"/>
                <a:cs typeface="Arial"/>
              </a:rPr>
              <a:t>nhớ làm việc phù hợp với các điều  kiện của một luật trong </a:t>
            </a:r>
            <a:r>
              <a:rPr sz="2000" spc="-10" dirty="0">
                <a:latin typeface="Arial"/>
                <a:cs typeface="Arial"/>
              </a:rPr>
              <a:t>bộ </a:t>
            </a:r>
            <a:r>
              <a:rPr sz="2000" spc="-5" dirty="0">
                <a:latin typeface="Arial"/>
                <a:cs typeface="Arial"/>
              </a:rPr>
              <a:t>nhớ các luật, thì luật đó sẽ được </a:t>
            </a:r>
            <a:r>
              <a:rPr sz="2000" spc="-10" dirty="0">
                <a:latin typeface="Arial"/>
                <a:cs typeface="Arial"/>
              </a:rPr>
              <a:t>áp  dụng</a:t>
            </a:r>
            <a:endParaRPr sz="2000">
              <a:latin typeface="Arial"/>
              <a:cs typeface="Arial"/>
            </a:endParaRPr>
          </a:p>
        </p:txBody>
      </p:sp>
      <p:sp>
        <p:nvSpPr>
          <p:cNvPr id="14" name="Title 13">
            <a:extLst>
              <a:ext uri="{FF2B5EF4-FFF2-40B4-BE49-F238E27FC236}">
                <a16:creationId xmlns:a16="http://schemas.microsoft.com/office/drawing/2014/main" id="{F12F1C86-ED1F-4CA3-B1AE-D9499174E589}"/>
              </a:ext>
            </a:extLst>
          </p:cNvPr>
          <p:cNvSpPr>
            <a:spLocks noGrp="1"/>
          </p:cNvSpPr>
          <p:nvPr>
            <p:ph type="title"/>
          </p:nvPr>
        </p:nvSpPr>
        <p:spPr/>
        <p:txBody>
          <a:bodyPr>
            <a:normAutofit/>
          </a:bodyPr>
          <a:lstStyle/>
          <a:p>
            <a:r>
              <a:rPr lang="en-US" sz="3600" b="0">
                <a:latin typeface="Verdana"/>
                <a:cs typeface="Verdana"/>
              </a:rPr>
              <a:t>Hệ </a:t>
            </a:r>
            <a:r>
              <a:rPr lang="en-US" sz="3600" b="0" spc="-5">
                <a:latin typeface="Verdana"/>
                <a:cs typeface="Verdana"/>
              </a:rPr>
              <a:t>thống </a:t>
            </a:r>
            <a:r>
              <a:rPr lang="en-US" sz="3600" b="0">
                <a:latin typeface="Verdana"/>
                <a:cs typeface="Verdana"/>
              </a:rPr>
              <a:t>suy </a:t>
            </a:r>
            <a:r>
              <a:rPr lang="en-US" sz="3600" b="0" spc="-5">
                <a:latin typeface="Verdana"/>
                <a:cs typeface="Verdana"/>
              </a:rPr>
              <a:t>diễn dựa trên luật</a:t>
            </a:r>
            <a:r>
              <a:rPr lang="en-US" sz="3600" b="0" spc="-110">
                <a:latin typeface="Verdana"/>
                <a:cs typeface="Verdana"/>
              </a:rPr>
              <a:t> </a:t>
            </a:r>
            <a:r>
              <a:rPr lang="en-US" sz="3600" b="0" spc="-5">
                <a:latin typeface="Verdana"/>
                <a:cs typeface="Verdana"/>
              </a:rPr>
              <a:t>(2)</a:t>
            </a:r>
            <a:endParaRPr lang="en-US" sz="3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18</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683875"/>
            <a:ext cx="8000365" cy="3564254"/>
          </a:xfrm>
          <a:prstGeom prst="rect">
            <a:avLst/>
          </a:prstGeom>
        </p:spPr>
        <p:txBody>
          <a:bodyPr vert="horz" wrap="square" lIns="0" tIns="106045" rIns="0" bIns="0" rtlCol="0">
            <a:spAutoFit/>
          </a:bodyPr>
          <a:lstStyle/>
          <a:p>
            <a:pPr marL="298450" indent="-285750">
              <a:lnSpc>
                <a:spcPct val="100000"/>
              </a:lnSpc>
              <a:spcBef>
                <a:spcPts val="835"/>
              </a:spcBef>
              <a:buClr>
                <a:srgbClr val="CC9A00"/>
              </a:buClr>
              <a:buSzPct val="64583"/>
              <a:buFont typeface="Wingdings"/>
              <a:buChar char=""/>
              <a:tabLst>
                <a:tab pos="297815" algn="l"/>
                <a:tab pos="298450" algn="l"/>
              </a:tabLst>
            </a:pPr>
            <a:r>
              <a:rPr sz="2400" spc="-5" dirty="0">
                <a:latin typeface="Arial"/>
                <a:cs typeface="Arial"/>
              </a:rPr>
              <a:t>Cách biểu diễn (diễn đạt) phù</a:t>
            </a:r>
            <a:r>
              <a:rPr sz="2400" spc="55" dirty="0">
                <a:latin typeface="Arial"/>
                <a:cs typeface="Arial"/>
              </a:rPr>
              <a:t> </a:t>
            </a:r>
            <a:r>
              <a:rPr sz="2400" spc="-5" dirty="0">
                <a:latin typeface="Arial"/>
                <a:cs typeface="Arial"/>
              </a:rPr>
              <a:t>hợp</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Rất gần với cách diễn đạt trong ngôn ngữ tự</a:t>
            </a:r>
            <a:r>
              <a:rPr sz="2000" spc="-25" dirty="0">
                <a:latin typeface="Arial"/>
                <a:cs typeface="Arial"/>
              </a:rPr>
              <a:t> </a:t>
            </a:r>
            <a:r>
              <a:rPr sz="2000" spc="-10" dirty="0">
                <a:latin typeface="Arial"/>
                <a:cs typeface="Arial"/>
              </a:rPr>
              <a:t>nhiên</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Rất dễ dàng để diễn đạt các tri thức bởi các</a:t>
            </a:r>
            <a:r>
              <a:rPr sz="2000" spc="-15" dirty="0">
                <a:latin typeface="Arial"/>
                <a:cs typeface="Arial"/>
              </a:rPr>
              <a:t> </a:t>
            </a:r>
            <a:r>
              <a:rPr sz="2000" spc="-5" dirty="0">
                <a:latin typeface="Arial"/>
                <a:cs typeface="Arial"/>
              </a:rPr>
              <a:t>luật</a:t>
            </a:r>
            <a:endParaRPr sz="2000">
              <a:latin typeface="Arial"/>
              <a:cs typeface="Arial"/>
            </a:endParaRPr>
          </a:p>
          <a:p>
            <a:pPr lvl="1">
              <a:lnSpc>
                <a:spcPct val="100000"/>
              </a:lnSpc>
              <a:spcBef>
                <a:spcPts val="40"/>
              </a:spcBef>
              <a:buClr>
                <a:srgbClr val="3B822F"/>
              </a:buClr>
              <a:buFont typeface="Wingdings"/>
              <a:buChar char=""/>
            </a:pPr>
            <a:endParaRPr sz="2050">
              <a:latin typeface="Arial"/>
              <a:cs typeface="Arial"/>
            </a:endParaRPr>
          </a:p>
          <a:p>
            <a:pPr marL="298450" indent="-285750">
              <a:lnSpc>
                <a:spcPct val="100000"/>
              </a:lnSpc>
              <a:buClr>
                <a:srgbClr val="CC9A00"/>
              </a:buClr>
              <a:buSzPct val="63636"/>
              <a:buFont typeface="Wingdings"/>
              <a:buChar char=""/>
              <a:tabLst>
                <a:tab pos="297815" algn="l"/>
                <a:tab pos="298450" algn="l"/>
              </a:tabLst>
            </a:pPr>
            <a:r>
              <a:rPr sz="2200" spc="-5" dirty="0">
                <a:latin typeface="Arial"/>
                <a:cs typeface="Arial"/>
              </a:rPr>
              <a:t>Dễ</a:t>
            </a:r>
            <a:r>
              <a:rPr sz="2200" spc="-15" dirty="0">
                <a:latin typeface="Arial"/>
                <a:cs typeface="Arial"/>
              </a:rPr>
              <a:t> </a:t>
            </a:r>
            <a:r>
              <a:rPr sz="2200" spc="-5" dirty="0">
                <a:latin typeface="Arial"/>
                <a:cs typeface="Arial"/>
              </a:rPr>
              <a:t>hiểu</a:t>
            </a:r>
            <a:endParaRPr sz="2200">
              <a:latin typeface="Arial"/>
              <a:cs typeface="Arial"/>
            </a:endParaRPr>
          </a:p>
          <a:p>
            <a:pPr marL="624840" marR="120014"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Các luật dạng </a:t>
            </a:r>
            <a:r>
              <a:rPr sz="2000" spc="-10" dirty="0">
                <a:latin typeface="Arial"/>
                <a:cs typeface="Arial"/>
              </a:rPr>
              <a:t>IF-THEN </a:t>
            </a:r>
            <a:r>
              <a:rPr sz="2000" spc="-5" dirty="0">
                <a:latin typeface="Arial"/>
                <a:cs typeface="Arial"/>
              </a:rPr>
              <a:t>rất dễ hiểu (có lẽ là dễ hiểu nhất) đối với  </a:t>
            </a:r>
            <a:r>
              <a:rPr sz="2000" spc="-10" dirty="0">
                <a:latin typeface="Arial"/>
                <a:cs typeface="Arial"/>
              </a:rPr>
              <a:t>người </a:t>
            </a:r>
            <a:r>
              <a:rPr sz="2000" spc="-5" dirty="0">
                <a:latin typeface="Arial"/>
                <a:cs typeface="Arial"/>
              </a:rPr>
              <a:t>sử </a:t>
            </a:r>
            <a:r>
              <a:rPr sz="2000" spc="-10" dirty="0">
                <a:latin typeface="Arial"/>
                <a:cs typeface="Arial"/>
              </a:rPr>
              <a:t>dụng</a:t>
            </a:r>
            <a:endParaRPr sz="2000">
              <a:latin typeface="Arial"/>
              <a:cs typeface="Arial"/>
            </a:endParaRPr>
          </a:p>
          <a:p>
            <a:pPr marL="624840" marR="508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Trong </a:t>
            </a:r>
            <a:r>
              <a:rPr sz="2000" spc="-10" dirty="0">
                <a:latin typeface="Arial"/>
                <a:cs typeface="Arial"/>
              </a:rPr>
              <a:t>một </a:t>
            </a:r>
            <a:r>
              <a:rPr sz="2000" spc="-5" dirty="0">
                <a:latin typeface="Arial"/>
                <a:cs typeface="Arial"/>
              </a:rPr>
              <a:t>lĩnh vực (bài toán) cụ thể, cách biểu diễn bằng luật  giúp các chuyên gia trong lĩnh vực này có thể đánh giá và </a:t>
            </a:r>
            <a:r>
              <a:rPr sz="2000" dirty="0">
                <a:latin typeface="Arial"/>
                <a:cs typeface="Arial"/>
              </a:rPr>
              <a:t>cải </a:t>
            </a:r>
            <a:r>
              <a:rPr sz="2000" spc="-5" dirty="0">
                <a:latin typeface="Arial"/>
                <a:cs typeface="Arial"/>
              </a:rPr>
              <a:t>tiến  các</a:t>
            </a:r>
            <a:r>
              <a:rPr sz="2000" spc="-20" dirty="0">
                <a:latin typeface="Arial"/>
                <a:cs typeface="Arial"/>
              </a:rPr>
              <a:t> </a:t>
            </a:r>
            <a:r>
              <a:rPr sz="2000" spc="-5" dirty="0">
                <a:latin typeface="Arial"/>
                <a:cs typeface="Arial"/>
              </a:rPr>
              <a:t>luật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1769A9EA-214B-475E-AC78-57C59A6DFA3C}"/>
              </a:ext>
            </a:extLst>
          </p:cNvPr>
          <p:cNvSpPr>
            <a:spLocks noGrp="1"/>
          </p:cNvSpPr>
          <p:nvPr>
            <p:ph type="title"/>
          </p:nvPr>
        </p:nvSpPr>
        <p:spPr/>
        <p:txBody>
          <a:bodyPr/>
          <a:lstStyle/>
          <a:p>
            <a:r>
              <a:rPr lang="vi-VN" b="0" spc="-5">
                <a:latin typeface="Verdana"/>
                <a:cs typeface="Verdana"/>
              </a:rPr>
              <a:t>RBS </a:t>
            </a:r>
            <a:r>
              <a:rPr lang="vi-VN" b="0">
                <a:latin typeface="Verdana"/>
                <a:cs typeface="Verdana"/>
              </a:rPr>
              <a:t>– </a:t>
            </a:r>
            <a:r>
              <a:rPr lang="vi-VN" b="0" spc="-5">
                <a:latin typeface="Verdana"/>
                <a:cs typeface="Verdana"/>
              </a:rPr>
              <a:t>Ưu điểm</a:t>
            </a:r>
            <a:r>
              <a:rPr lang="vi-VN" b="0" spc="-75">
                <a:latin typeface="Verdana"/>
                <a:cs typeface="Verdana"/>
              </a:rPr>
              <a:t> </a:t>
            </a:r>
            <a:r>
              <a:rPr lang="vi-VN" b="0" spc="-5">
                <a:latin typeface="Verdana"/>
                <a:cs typeface="Verdana"/>
              </a:rPr>
              <a:t>(1)</a:t>
            </a:r>
            <a:endParaRPr lang="en-US" b="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19</a:t>
            </a:fld>
            <a:endParaRPr spc="-40" dirty="0"/>
          </a:p>
        </p:txBody>
      </p:sp>
      <p:grpSp>
        <p:nvGrpSpPr>
          <p:cNvPr id="3" name="object 3"/>
          <p:cNvGrpSpPr/>
          <p:nvPr/>
        </p:nvGrpSpPr>
        <p:grpSpPr>
          <a:xfrm>
            <a:off x="457200" y="1436369"/>
            <a:ext cx="9144000" cy="3916679"/>
            <a:chOff x="457200" y="1436369"/>
            <a:chExt cx="9144000" cy="391667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2937510"/>
            </a:xfrm>
            <a:custGeom>
              <a:avLst/>
              <a:gdLst/>
              <a:ahLst/>
              <a:cxnLst/>
              <a:rect l="l" t="t" r="r" b="b"/>
              <a:pathLst>
                <a:path w="9144000" h="2937510">
                  <a:moveTo>
                    <a:pt x="9144000" y="0"/>
                  </a:moveTo>
                  <a:lnTo>
                    <a:pt x="0" y="0"/>
                  </a:lnTo>
                  <a:lnTo>
                    <a:pt x="0" y="979170"/>
                  </a:lnTo>
                  <a:lnTo>
                    <a:pt x="0" y="1958340"/>
                  </a:lnTo>
                  <a:lnTo>
                    <a:pt x="0" y="293751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8047990" cy="4065270"/>
          </a:xfrm>
          <a:prstGeom prst="rect">
            <a:avLst/>
          </a:prstGeom>
        </p:spPr>
        <p:txBody>
          <a:bodyPr vert="horz" wrap="square" lIns="0" tIns="12700" rIns="0" bIns="0" rtlCol="0">
            <a:spAutoFit/>
          </a:bodyPr>
          <a:lstStyle/>
          <a:p>
            <a:pPr marL="298450" marR="158940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Một cách biểu diễn tri thức theo kiểu khai báo  (declarative)</a:t>
            </a:r>
            <a:endParaRPr sz="2400">
              <a:latin typeface="Arial"/>
              <a:cs typeface="Arial"/>
            </a:endParaRPr>
          </a:p>
          <a:p>
            <a:pPr marL="624840" marR="187325" lvl="1" indent="-285750">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Kỹ sư tri thức thu thập các tri thức (ở dạng các luật IF-THEN) </a:t>
            </a:r>
            <a:r>
              <a:rPr sz="2000" spc="-10" dirty="0">
                <a:latin typeface="Arial"/>
                <a:cs typeface="Arial"/>
              </a:rPr>
              <a:t>về  </a:t>
            </a:r>
            <a:r>
              <a:rPr sz="2000" spc="-5" dirty="0">
                <a:latin typeface="Arial"/>
                <a:cs typeface="Arial"/>
              </a:rPr>
              <a:t>một lĩnh vực cụ thể, và đưa </a:t>
            </a:r>
            <a:r>
              <a:rPr sz="2000" spc="-10" dirty="0">
                <a:latin typeface="Arial"/>
                <a:cs typeface="Arial"/>
              </a:rPr>
              <a:t>chúng </a:t>
            </a:r>
            <a:r>
              <a:rPr sz="2000" spc="-5" dirty="0">
                <a:latin typeface="Arial"/>
                <a:cs typeface="Arial"/>
              </a:rPr>
              <a:t>vào trong một cơ sở các luật  (rule</a:t>
            </a:r>
            <a:r>
              <a:rPr sz="2000" spc="-20" dirty="0">
                <a:latin typeface="Arial"/>
                <a:cs typeface="Arial"/>
              </a:rPr>
              <a:t> </a:t>
            </a:r>
            <a:r>
              <a:rPr sz="2000" spc="-10" dirty="0">
                <a:latin typeface="Arial"/>
                <a:cs typeface="Arial"/>
              </a:rPr>
              <a:t>base)</a:t>
            </a:r>
            <a:endParaRPr sz="2000">
              <a:latin typeface="Arial"/>
              <a:cs typeface="Arial"/>
            </a:endParaRPr>
          </a:p>
          <a:p>
            <a:pPr marL="624840" marR="5080" lvl="1" indent="-285750">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Kỹ sư tri thức (có thể) </a:t>
            </a:r>
            <a:r>
              <a:rPr sz="2000" spc="-10" dirty="0">
                <a:latin typeface="Arial"/>
                <a:cs typeface="Arial"/>
              </a:rPr>
              <a:t>không </a:t>
            </a:r>
            <a:r>
              <a:rPr sz="2000" spc="-5" dirty="0">
                <a:latin typeface="Arial"/>
                <a:cs typeface="Arial"/>
              </a:rPr>
              <a:t>cần phải quan tâm đến khi nào, </a:t>
            </a:r>
            <a:r>
              <a:rPr sz="2000" spc="-10" dirty="0">
                <a:latin typeface="Arial"/>
                <a:cs typeface="Arial"/>
              </a:rPr>
              <a:t>làm  </a:t>
            </a:r>
            <a:r>
              <a:rPr sz="2000" spc="-5" dirty="0">
                <a:latin typeface="Arial"/>
                <a:cs typeface="Arial"/>
              </a:rPr>
              <a:t>thế nào, và theo trật tự nào mà các luật được sử dụng – Hệ thống  sẽ tự động đảm nhận các nhiệm vụ</a:t>
            </a:r>
            <a:r>
              <a:rPr sz="2000" spc="-25" dirty="0">
                <a:latin typeface="Arial"/>
                <a:cs typeface="Arial"/>
              </a:rPr>
              <a:t> </a:t>
            </a:r>
            <a:r>
              <a:rPr sz="2000" spc="-10" dirty="0">
                <a:latin typeface="Arial"/>
                <a:cs typeface="Arial"/>
              </a:rPr>
              <a:t>này</a:t>
            </a:r>
            <a:endParaRPr sz="2000">
              <a:latin typeface="Arial"/>
              <a:cs typeface="Arial"/>
            </a:endParaRPr>
          </a:p>
          <a:p>
            <a:pPr lvl="1">
              <a:lnSpc>
                <a:spcPct val="100000"/>
              </a:lnSpc>
              <a:spcBef>
                <a:spcPts val="40"/>
              </a:spcBef>
              <a:buClr>
                <a:srgbClr val="3B822F"/>
              </a:buClr>
              <a:buFont typeface="Wingdings"/>
              <a:buChar char=""/>
            </a:pPr>
            <a:endParaRPr sz="2050">
              <a:latin typeface="Arial"/>
              <a:cs typeface="Arial"/>
            </a:endParaRPr>
          </a:p>
          <a:p>
            <a:pPr marL="298450" indent="-285750">
              <a:lnSpc>
                <a:spcPct val="100000"/>
              </a:lnSpc>
              <a:buClr>
                <a:srgbClr val="CC9A00"/>
              </a:buClr>
              <a:buSzPct val="63636"/>
              <a:buFont typeface="Wingdings"/>
              <a:buChar char=""/>
              <a:tabLst>
                <a:tab pos="297815" algn="l"/>
                <a:tab pos="298450" algn="l"/>
              </a:tabLst>
            </a:pPr>
            <a:r>
              <a:rPr sz="2200" spc="-5" dirty="0">
                <a:latin typeface="Arial"/>
                <a:cs typeface="Arial"/>
              </a:rPr>
              <a:t>Dễ dàng </a:t>
            </a:r>
            <a:r>
              <a:rPr sz="2200" dirty="0">
                <a:latin typeface="Arial"/>
                <a:cs typeface="Arial"/>
              </a:rPr>
              <a:t>mở </a:t>
            </a:r>
            <a:r>
              <a:rPr sz="2200" spc="-5" dirty="0">
                <a:latin typeface="Arial"/>
                <a:cs typeface="Arial"/>
              </a:rPr>
              <a:t>rộng </a:t>
            </a:r>
            <a:r>
              <a:rPr sz="2200" dirty="0">
                <a:latin typeface="Arial"/>
                <a:cs typeface="Arial"/>
              </a:rPr>
              <a:t>cơ sở tri</a:t>
            </a:r>
            <a:r>
              <a:rPr sz="2200" spc="-25" dirty="0">
                <a:latin typeface="Arial"/>
                <a:cs typeface="Arial"/>
              </a:rPr>
              <a:t> </a:t>
            </a:r>
            <a:r>
              <a:rPr sz="2200" spc="-5" dirty="0">
                <a:latin typeface="Arial"/>
                <a:cs typeface="Arial"/>
              </a:rPr>
              <a:t>thức</a:t>
            </a:r>
            <a:endParaRPr sz="2200">
              <a:latin typeface="Arial"/>
              <a:cs typeface="Arial"/>
            </a:endParaRPr>
          </a:p>
          <a:p>
            <a:pPr marL="624840" marR="441959" lvl="1" indent="-285750">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Chỉ việc bổ sung thêm các luật mới (các tri thức mới) vào cuối  của cơ sở các</a:t>
            </a:r>
            <a:r>
              <a:rPr sz="2000" spc="-30" dirty="0">
                <a:latin typeface="Arial"/>
                <a:cs typeface="Arial"/>
              </a:rPr>
              <a:t> </a:t>
            </a:r>
            <a:r>
              <a:rPr sz="2000" spc="-5" dirty="0">
                <a:latin typeface="Arial"/>
                <a:cs typeface="Arial"/>
              </a:rPr>
              <a:t>luật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A26E5DB0-E91A-47B0-B550-F93E0C400EF1}"/>
              </a:ext>
            </a:extLst>
          </p:cNvPr>
          <p:cNvSpPr>
            <a:spLocks noGrp="1"/>
          </p:cNvSpPr>
          <p:nvPr>
            <p:ph type="title"/>
          </p:nvPr>
        </p:nvSpPr>
        <p:spPr/>
        <p:txBody>
          <a:bodyPr/>
          <a:lstStyle/>
          <a:p>
            <a:r>
              <a:rPr lang="vi-VN" b="0" spc="-5">
                <a:latin typeface="Verdana"/>
                <a:cs typeface="Verdana"/>
              </a:rPr>
              <a:t>RBS </a:t>
            </a:r>
            <a:r>
              <a:rPr lang="vi-VN" b="0">
                <a:latin typeface="Verdana"/>
                <a:cs typeface="Verdana"/>
              </a:rPr>
              <a:t>– </a:t>
            </a:r>
            <a:r>
              <a:rPr lang="vi-VN" b="0" spc="-5">
                <a:latin typeface="Verdana"/>
                <a:cs typeface="Verdana"/>
              </a:rPr>
              <a:t>Ưu điểm</a:t>
            </a:r>
            <a:r>
              <a:rPr lang="vi-VN" b="0" spc="-75">
                <a:latin typeface="Verdana"/>
                <a:cs typeface="Verdana"/>
              </a:rPr>
              <a:t> </a:t>
            </a:r>
            <a:r>
              <a:rPr lang="vi-VN" b="0" spc="-5">
                <a:latin typeface="Verdana"/>
                <a:cs typeface="Verdana"/>
              </a:rPr>
              <a:t>(</a:t>
            </a:r>
            <a:r>
              <a:rPr lang="en-US" b="0" spc="-5">
                <a:latin typeface="Verdana"/>
                <a:cs typeface="Verdana"/>
              </a:rPr>
              <a:t>2</a:t>
            </a:r>
            <a:r>
              <a:rPr lang="vi-VN" b="0" spc="-5">
                <a:latin typeface="Verdana"/>
                <a:cs typeface="Verdana"/>
              </a:rPr>
              <a:t>)</a:t>
            </a:r>
            <a:endParaRPr lang="en-US" b="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20</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683875"/>
            <a:ext cx="7981315" cy="3884295"/>
          </a:xfrm>
          <a:prstGeom prst="rect">
            <a:avLst/>
          </a:prstGeom>
        </p:spPr>
        <p:txBody>
          <a:bodyPr vert="horz" wrap="square" lIns="0" tIns="106045" rIns="0" bIns="0" rtlCol="0">
            <a:spAutoFit/>
          </a:bodyPr>
          <a:lstStyle/>
          <a:p>
            <a:pPr marL="298450" indent="-285750">
              <a:lnSpc>
                <a:spcPct val="100000"/>
              </a:lnSpc>
              <a:spcBef>
                <a:spcPts val="835"/>
              </a:spcBef>
              <a:buClr>
                <a:srgbClr val="CC9A00"/>
              </a:buClr>
              <a:buSzPct val="64583"/>
              <a:buFont typeface="Wingdings"/>
              <a:buChar char=""/>
              <a:tabLst>
                <a:tab pos="297815" algn="l"/>
                <a:tab pos="298450" algn="l"/>
              </a:tabLst>
            </a:pPr>
            <a:r>
              <a:rPr sz="2400" spc="-5" dirty="0">
                <a:latin typeface="Arial"/>
                <a:cs typeface="Arial"/>
              </a:rPr>
              <a:t>Khả năng biểu diễn (diễn đạt) bị giới</a:t>
            </a:r>
            <a:r>
              <a:rPr sz="2400" spc="80" dirty="0">
                <a:latin typeface="Arial"/>
                <a:cs typeface="Arial"/>
              </a:rPr>
              <a:t> </a:t>
            </a:r>
            <a:r>
              <a:rPr sz="2400" spc="-5" dirty="0">
                <a:latin typeface="Arial"/>
                <a:cs typeface="Arial"/>
              </a:rPr>
              <a:t>hạn</a:t>
            </a:r>
            <a:endParaRPr sz="2400">
              <a:latin typeface="Arial"/>
              <a:cs typeface="Arial"/>
            </a:endParaRPr>
          </a:p>
          <a:p>
            <a:pPr marL="624840" marR="398780" lvl="1" indent="-285750">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Trong nhiều lĩnh vực bài toán thực tế, tri thức của lĩnh vực </a:t>
            </a:r>
            <a:r>
              <a:rPr sz="2000" spc="-10" dirty="0">
                <a:latin typeface="Arial"/>
                <a:cs typeface="Arial"/>
              </a:rPr>
              <a:t>bài  </a:t>
            </a:r>
            <a:r>
              <a:rPr sz="2000" spc="-5" dirty="0">
                <a:latin typeface="Arial"/>
                <a:cs typeface="Arial"/>
              </a:rPr>
              <a:t>toán đó </a:t>
            </a:r>
            <a:r>
              <a:rPr sz="2000" spc="-10" dirty="0">
                <a:latin typeface="Arial"/>
                <a:cs typeface="Arial"/>
              </a:rPr>
              <a:t>không </a:t>
            </a:r>
            <a:r>
              <a:rPr sz="2000" spc="-5" dirty="0">
                <a:latin typeface="Arial"/>
                <a:cs typeface="Arial"/>
              </a:rPr>
              <a:t>phù hợp với cách biểu diễn dạng</a:t>
            </a:r>
            <a:r>
              <a:rPr sz="2000" spc="25" dirty="0">
                <a:latin typeface="Arial"/>
                <a:cs typeface="Arial"/>
              </a:rPr>
              <a:t> </a:t>
            </a:r>
            <a:r>
              <a:rPr sz="2000" spc="-10" dirty="0">
                <a:latin typeface="Arial"/>
                <a:cs typeface="Arial"/>
              </a:rPr>
              <a:t>(IF-THEN)</a:t>
            </a:r>
            <a:endParaRPr sz="2000">
              <a:latin typeface="Arial"/>
              <a:cs typeface="Arial"/>
            </a:endParaRPr>
          </a:p>
          <a:p>
            <a:pPr lvl="1">
              <a:lnSpc>
                <a:spcPct val="100000"/>
              </a:lnSpc>
              <a:spcBef>
                <a:spcPts val="30"/>
              </a:spcBef>
              <a:buClr>
                <a:srgbClr val="3B822F"/>
              </a:buClr>
              <a:buFont typeface="Wingdings"/>
              <a:buChar char=""/>
            </a:pPr>
            <a:endParaRPr sz="2050">
              <a:latin typeface="Arial"/>
              <a:cs typeface="Arial"/>
            </a:endParaRPr>
          </a:p>
          <a:p>
            <a:pPr marL="298450" marR="5080" indent="-285750">
              <a:lnSpc>
                <a:spcPct val="100000"/>
              </a:lnSpc>
              <a:buClr>
                <a:srgbClr val="CC9A00"/>
              </a:buClr>
              <a:buSzPct val="64583"/>
              <a:buFont typeface="Wingdings"/>
              <a:buChar char=""/>
              <a:tabLst>
                <a:tab pos="297815" algn="l"/>
                <a:tab pos="298450" algn="l"/>
              </a:tabLst>
            </a:pPr>
            <a:r>
              <a:rPr sz="2400" dirty="0">
                <a:latin typeface="Arial"/>
                <a:cs typeface="Arial"/>
              </a:rPr>
              <a:t>Sự </a:t>
            </a:r>
            <a:r>
              <a:rPr sz="2400" spc="-5" dirty="0">
                <a:latin typeface="Arial"/>
                <a:cs typeface="Arial"/>
              </a:rPr>
              <a:t>tương tác giữa các luật </a:t>
            </a:r>
            <a:r>
              <a:rPr sz="2400" dirty="0">
                <a:latin typeface="Arial"/>
                <a:cs typeface="Arial"/>
              </a:rPr>
              <a:t>và </a:t>
            </a:r>
            <a:r>
              <a:rPr sz="2400" spc="-5" dirty="0">
                <a:latin typeface="Arial"/>
                <a:cs typeface="Arial"/>
              </a:rPr>
              <a:t>trật tự của các luật trong  </a:t>
            </a:r>
            <a:r>
              <a:rPr sz="2400" dirty="0">
                <a:latin typeface="Arial"/>
                <a:cs typeface="Arial"/>
              </a:rPr>
              <a:t>cơ </a:t>
            </a:r>
            <a:r>
              <a:rPr sz="2400" spc="-5" dirty="0">
                <a:latin typeface="Arial"/>
                <a:cs typeface="Arial"/>
              </a:rPr>
              <a:t>sở luật có thể gây ra các </a:t>
            </a:r>
            <a:r>
              <a:rPr sz="2400" spc="-10" dirty="0">
                <a:latin typeface="Arial"/>
                <a:cs typeface="Arial"/>
              </a:rPr>
              <a:t>hiệu </a:t>
            </a:r>
            <a:r>
              <a:rPr sz="2400" spc="-5" dirty="0">
                <a:latin typeface="Arial"/>
                <a:cs typeface="Arial"/>
              </a:rPr>
              <a:t>ứng không mong</a:t>
            </a:r>
            <a:r>
              <a:rPr sz="2400" spc="50" dirty="0">
                <a:latin typeface="Arial"/>
                <a:cs typeface="Arial"/>
              </a:rPr>
              <a:t> </a:t>
            </a:r>
            <a:r>
              <a:rPr sz="2400" spc="-5" dirty="0">
                <a:latin typeface="Arial"/>
                <a:cs typeface="Arial"/>
              </a:rPr>
              <a:t>muốn</a:t>
            </a:r>
            <a:endParaRPr sz="2400">
              <a:latin typeface="Arial"/>
              <a:cs typeface="Arial"/>
            </a:endParaRPr>
          </a:p>
          <a:p>
            <a:pPr marL="624840" marR="66675" lvl="1" indent="-285750">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Trong quá trình thiết kế </a:t>
            </a:r>
            <a:r>
              <a:rPr sz="2000" spc="-10" dirty="0">
                <a:latin typeface="Arial"/>
                <a:cs typeface="Arial"/>
              </a:rPr>
              <a:t>(design) </a:t>
            </a:r>
            <a:r>
              <a:rPr sz="2000" spc="-5" dirty="0">
                <a:latin typeface="Arial"/>
                <a:cs typeface="Arial"/>
              </a:rPr>
              <a:t>và bảo trì (maintenance )một cơ  sở luật, mỗi luật mới được đưa vào cần phải được cân nhắc  (kiểm tra) với các luật đã có </a:t>
            </a:r>
            <a:r>
              <a:rPr sz="2000" dirty="0">
                <a:latin typeface="Arial"/>
                <a:cs typeface="Arial"/>
              </a:rPr>
              <a:t>từ</a:t>
            </a:r>
            <a:r>
              <a:rPr sz="2000" spc="-30" dirty="0">
                <a:latin typeface="Arial"/>
                <a:cs typeface="Arial"/>
              </a:rPr>
              <a:t> </a:t>
            </a:r>
            <a:r>
              <a:rPr sz="2000" spc="-5" dirty="0">
                <a:latin typeface="Arial"/>
                <a:cs typeface="Arial"/>
              </a:rPr>
              <a:t>trước</a:t>
            </a:r>
            <a:endParaRPr sz="2000">
              <a:latin typeface="Arial"/>
              <a:cs typeface="Arial"/>
            </a:endParaRPr>
          </a:p>
          <a:p>
            <a:pPr marL="624840" marR="93980" lvl="1" indent="-285750">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Rất khó khăn và chi phí </a:t>
            </a:r>
            <a:r>
              <a:rPr sz="2000" dirty="0">
                <a:latin typeface="Arial"/>
                <a:cs typeface="Arial"/>
              </a:rPr>
              <a:t>tốn </a:t>
            </a:r>
            <a:r>
              <a:rPr sz="2000" spc="-5" dirty="0">
                <a:latin typeface="Arial"/>
                <a:cs typeface="Arial"/>
              </a:rPr>
              <a:t>kém để xem xét tất cả các tương tác  (interactions) có thể giữa các</a:t>
            </a:r>
            <a:r>
              <a:rPr sz="2000" spc="-30" dirty="0">
                <a:latin typeface="Arial"/>
                <a:cs typeface="Arial"/>
              </a:rPr>
              <a:t> </a:t>
            </a:r>
            <a:r>
              <a:rPr sz="2000" spc="-5" dirty="0">
                <a:latin typeface="Arial"/>
                <a:cs typeface="Arial"/>
              </a:rPr>
              <a:t>luật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300B3D65-8FA7-4B1C-AAC5-43F4080ACF5A}"/>
              </a:ext>
            </a:extLst>
          </p:cNvPr>
          <p:cNvSpPr>
            <a:spLocks noGrp="1"/>
          </p:cNvSpPr>
          <p:nvPr>
            <p:ph type="title"/>
          </p:nvPr>
        </p:nvSpPr>
        <p:spPr/>
        <p:txBody>
          <a:bodyPr/>
          <a:lstStyle/>
          <a:p>
            <a:r>
              <a:rPr lang="vi-VN" b="0" spc="-5">
                <a:latin typeface="Verdana"/>
                <a:cs typeface="Verdana"/>
              </a:rPr>
              <a:t>RBS </a:t>
            </a:r>
            <a:r>
              <a:rPr lang="vi-VN" b="0">
                <a:latin typeface="Verdana"/>
                <a:cs typeface="Verdana"/>
              </a:rPr>
              <a:t>– Nhược</a:t>
            </a:r>
            <a:r>
              <a:rPr lang="vi-VN" b="0" spc="-90">
                <a:latin typeface="Verdana"/>
                <a:cs typeface="Verdana"/>
              </a:rPr>
              <a:t> </a:t>
            </a:r>
            <a:r>
              <a:rPr lang="vi-VN" b="0" spc="-5">
                <a:latin typeface="Verdana"/>
                <a:cs typeface="Verdana"/>
              </a:rPr>
              <a:t>điểm</a:t>
            </a:r>
            <a:endParaRPr lang="en-US" b="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21</a:t>
            </a:fld>
            <a:endParaRPr spc="-40" dirty="0"/>
          </a:p>
        </p:txBody>
      </p:sp>
      <p:sp>
        <p:nvSpPr>
          <p:cNvPr id="3" name="object 3"/>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93139" y="1645412"/>
            <a:ext cx="8018780" cy="4578350"/>
          </a:xfrm>
          <a:prstGeom prst="rect">
            <a:avLst/>
          </a:prstGeom>
        </p:spPr>
        <p:txBody>
          <a:bodyPr vert="horz" wrap="square" lIns="0" tIns="144145" rIns="0" bIns="0" rtlCol="0">
            <a:spAutoFit/>
          </a:bodyPr>
          <a:lstStyle/>
          <a:p>
            <a:pPr marL="298450" indent="-285750">
              <a:lnSpc>
                <a:spcPct val="100000"/>
              </a:lnSpc>
              <a:spcBef>
                <a:spcPts val="1135"/>
              </a:spcBef>
              <a:buClr>
                <a:srgbClr val="CC9A00"/>
              </a:buClr>
              <a:buSzPct val="64583"/>
              <a:buFont typeface="Wingdings"/>
              <a:buChar char=""/>
              <a:tabLst>
                <a:tab pos="297815" algn="l"/>
                <a:tab pos="298450" algn="l"/>
              </a:tabLst>
            </a:pPr>
            <a:r>
              <a:rPr sz="2400" spc="-5" dirty="0">
                <a:latin typeface="Arial"/>
                <a:cs typeface="Arial"/>
              </a:rPr>
              <a:t>Làm thế nào để biểu diễn tri thức “Xe buýt màu</a:t>
            </a:r>
            <a:r>
              <a:rPr sz="2400" spc="40" dirty="0">
                <a:latin typeface="Arial"/>
                <a:cs typeface="Arial"/>
              </a:rPr>
              <a:t> </a:t>
            </a:r>
            <a:r>
              <a:rPr sz="2400" spc="-5" dirty="0">
                <a:latin typeface="Arial"/>
                <a:cs typeface="Arial"/>
              </a:rPr>
              <a:t>vàng”?</a:t>
            </a:r>
            <a:endParaRPr sz="2400">
              <a:latin typeface="Arial"/>
              <a:cs typeface="Arial"/>
            </a:endParaRPr>
          </a:p>
          <a:p>
            <a:pPr marL="298450" indent="-285750">
              <a:lnSpc>
                <a:spcPct val="100000"/>
              </a:lnSpc>
              <a:spcBef>
                <a:spcPts val="1040"/>
              </a:spcBef>
              <a:buClr>
                <a:srgbClr val="CC9A00"/>
              </a:buClr>
              <a:buSzPct val="64583"/>
              <a:buFont typeface="Wingdings"/>
              <a:buChar char=""/>
              <a:tabLst>
                <a:tab pos="297815" algn="l"/>
                <a:tab pos="298450" algn="l"/>
              </a:tabLst>
            </a:pPr>
            <a:r>
              <a:rPr sz="2400" spc="-5" dirty="0">
                <a:latin typeface="Arial"/>
                <a:cs typeface="Arial"/>
              </a:rPr>
              <a:t>Giải pháp thứ 1.</a:t>
            </a:r>
            <a:r>
              <a:rPr sz="2400" spc="15" dirty="0">
                <a:latin typeface="Arial"/>
                <a:cs typeface="Arial"/>
              </a:rPr>
              <a:t> </a:t>
            </a:r>
            <a:r>
              <a:rPr sz="2400" spc="-5" dirty="0">
                <a:latin typeface="Courier New"/>
                <a:cs typeface="Courier New"/>
              </a:rPr>
              <a:t>Yellow(bus)</a:t>
            </a:r>
            <a:endParaRPr sz="2400">
              <a:latin typeface="Courier New"/>
              <a:cs typeface="Courier New"/>
            </a:endParaRPr>
          </a:p>
          <a:p>
            <a:pPr marL="624840" lvl="1" indent="-286385">
              <a:lnSpc>
                <a:spcPct val="100000"/>
              </a:lnSpc>
              <a:spcBef>
                <a:spcPts val="650"/>
              </a:spcBef>
              <a:buClr>
                <a:srgbClr val="3B822F"/>
              </a:buClr>
              <a:buSzPct val="60000"/>
              <a:buFont typeface="Wingdings"/>
              <a:buChar char=""/>
              <a:tabLst>
                <a:tab pos="624840" algn="l"/>
                <a:tab pos="625475" algn="l"/>
              </a:tabLst>
            </a:pPr>
            <a:r>
              <a:rPr sz="2000" spc="-5" dirty="0">
                <a:latin typeface="Arial"/>
                <a:cs typeface="Arial"/>
              </a:rPr>
              <a:t>Câu hỏi “Cái gì là màu </a:t>
            </a:r>
            <a:r>
              <a:rPr sz="2000" spc="-10" dirty="0">
                <a:latin typeface="Arial"/>
                <a:cs typeface="Arial"/>
              </a:rPr>
              <a:t>vàng?” </a:t>
            </a:r>
            <a:r>
              <a:rPr sz="2000" spc="-5" dirty="0">
                <a:latin typeface="Arial"/>
                <a:cs typeface="Arial"/>
              </a:rPr>
              <a:t>có thể trả lời</a:t>
            </a:r>
            <a:r>
              <a:rPr sz="2000" dirty="0">
                <a:latin typeface="Arial"/>
                <a:cs typeface="Arial"/>
              </a:rPr>
              <a:t> </a:t>
            </a:r>
            <a:r>
              <a:rPr sz="2000" spc="-5" dirty="0">
                <a:latin typeface="Arial"/>
                <a:cs typeface="Arial"/>
              </a:rPr>
              <a:t>được</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Nhưng câu </a:t>
            </a:r>
            <a:r>
              <a:rPr sz="2000" spc="-10" dirty="0">
                <a:latin typeface="Arial"/>
                <a:cs typeface="Arial"/>
              </a:rPr>
              <a:t>hỏi </a:t>
            </a:r>
            <a:r>
              <a:rPr sz="2000" spc="-5" dirty="0">
                <a:latin typeface="Arial"/>
                <a:cs typeface="Arial"/>
              </a:rPr>
              <a:t>“Màu của xe buýt là gì?” thì không thể trả lời</a:t>
            </a:r>
            <a:r>
              <a:rPr sz="2000" dirty="0">
                <a:latin typeface="Arial"/>
                <a:cs typeface="Arial"/>
              </a:rPr>
              <a:t> </a:t>
            </a:r>
            <a:r>
              <a:rPr sz="2000" spc="-5" dirty="0">
                <a:latin typeface="Arial"/>
                <a:cs typeface="Arial"/>
              </a:rPr>
              <a:t>được</a:t>
            </a:r>
            <a:endParaRPr sz="2000">
              <a:latin typeface="Arial"/>
              <a:cs typeface="Arial"/>
            </a:endParaRPr>
          </a:p>
          <a:p>
            <a:pPr marL="298450" indent="-285750">
              <a:lnSpc>
                <a:spcPct val="100000"/>
              </a:lnSpc>
              <a:spcBef>
                <a:spcPts val="1030"/>
              </a:spcBef>
              <a:buClr>
                <a:srgbClr val="CC9A00"/>
              </a:buClr>
              <a:buSzPct val="64583"/>
              <a:buFont typeface="Wingdings"/>
              <a:buChar char=""/>
              <a:tabLst>
                <a:tab pos="297815" algn="l"/>
                <a:tab pos="298450" algn="l"/>
              </a:tabLst>
            </a:pPr>
            <a:r>
              <a:rPr sz="2400" spc="-5" dirty="0">
                <a:latin typeface="Arial"/>
                <a:cs typeface="Arial"/>
              </a:rPr>
              <a:t>Giải pháp thứ 2. </a:t>
            </a:r>
            <a:r>
              <a:rPr sz="2400" spc="-5" dirty="0">
                <a:latin typeface="Courier New"/>
                <a:cs typeface="Courier New"/>
              </a:rPr>
              <a:t>Color(bus,</a:t>
            </a:r>
            <a:r>
              <a:rPr sz="2400" spc="-15" dirty="0">
                <a:latin typeface="Courier New"/>
                <a:cs typeface="Courier New"/>
              </a:rPr>
              <a:t> </a:t>
            </a:r>
            <a:r>
              <a:rPr sz="2400" spc="-10" dirty="0">
                <a:latin typeface="Courier New"/>
                <a:cs typeface="Courier New"/>
              </a:rPr>
              <a:t>yellow)</a:t>
            </a:r>
            <a:endParaRPr sz="2400">
              <a:latin typeface="Courier New"/>
              <a:cs typeface="Courier New"/>
            </a:endParaRPr>
          </a:p>
          <a:p>
            <a:pPr marL="624840" lvl="1" indent="-286385">
              <a:lnSpc>
                <a:spcPct val="100000"/>
              </a:lnSpc>
              <a:spcBef>
                <a:spcPts val="650"/>
              </a:spcBef>
              <a:buClr>
                <a:srgbClr val="3B822F"/>
              </a:buClr>
              <a:buSzPct val="60000"/>
              <a:buFont typeface="Wingdings"/>
              <a:buChar char=""/>
              <a:tabLst>
                <a:tab pos="624840" algn="l"/>
                <a:tab pos="625475" algn="l"/>
              </a:tabLst>
            </a:pPr>
            <a:r>
              <a:rPr sz="2000" spc="-5" dirty="0">
                <a:latin typeface="Arial"/>
                <a:cs typeface="Arial"/>
              </a:rPr>
              <a:t>Câu hỏi “Cái gì là màu </a:t>
            </a:r>
            <a:r>
              <a:rPr sz="2000" spc="-10" dirty="0">
                <a:latin typeface="Arial"/>
                <a:cs typeface="Arial"/>
              </a:rPr>
              <a:t>vàng?” </a:t>
            </a:r>
            <a:r>
              <a:rPr sz="2000" spc="-5" dirty="0">
                <a:latin typeface="Arial"/>
                <a:cs typeface="Arial"/>
              </a:rPr>
              <a:t>có thể trả lời</a:t>
            </a:r>
            <a:r>
              <a:rPr sz="2000" dirty="0">
                <a:latin typeface="Arial"/>
                <a:cs typeface="Arial"/>
              </a:rPr>
              <a:t> </a:t>
            </a:r>
            <a:r>
              <a:rPr sz="2000" spc="-5" dirty="0">
                <a:latin typeface="Arial"/>
                <a:cs typeface="Arial"/>
              </a:rPr>
              <a:t>được</a:t>
            </a:r>
            <a:endParaRPr sz="2000">
              <a:latin typeface="Arial"/>
              <a:cs typeface="Arial"/>
            </a:endParaRPr>
          </a:p>
          <a:p>
            <a:pPr marL="62484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Câu hỏi “Màu của xe buýt là gì?” có </a:t>
            </a:r>
            <a:r>
              <a:rPr sz="2000" dirty="0">
                <a:latin typeface="Arial"/>
                <a:cs typeface="Arial"/>
              </a:rPr>
              <a:t>thể </a:t>
            </a:r>
            <a:r>
              <a:rPr sz="2000" spc="-5" dirty="0">
                <a:latin typeface="Arial"/>
                <a:cs typeface="Arial"/>
              </a:rPr>
              <a:t>trả lời</a:t>
            </a:r>
            <a:r>
              <a:rPr sz="2000" spc="-45" dirty="0">
                <a:latin typeface="Arial"/>
                <a:cs typeface="Arial"/>
              </a:rPr>
              <a:t> </a:t>
            </a:r>
            <a:r>
              <a:rPr sz="2000" spc="-5" dirty="0">
                <a:latin typeface="Arial"/>
                <a:cs typeface="Arial"/>
              </a:rPr>
              <a:t>được</a:t>
            </a:r>
            <a:endParaRPr sz="2000">
              <a:latin typeface="Arial"/>
              <a:cs typeface="Arial"/>
            </a:endParaRPr>
          </a:p>
          <a:p>
            <a:pPr marL="624840" marR="646430" lvl="1" indent="-286385">
              <a:lnSpc>
                <a:spcPct val="100000"/>
              </a:lnSpc>
              <a:spcBef>
                <a:spcPts val="480"/>
              </a:spcBef>
              <a:buClr>
                <a:srgbClr val="3B822F"/>
              </a:buClr>
              <a:buSzPct val="60000"/>
              <a:buFont typeface="Wingdings"/>
              <a:buChar char=""/>
              <a:tabLst>
                <a:tab pos="624840" algn="l"/>
                <a:tab pos="625475" algn="l"/>
              </a:tabLst>
            </a:pPr>
            <a:r>
              <a:rPr sz="2000" spc="-5" dirty="0">
                <a:latin typeface="Arial"/>
                <a:cs typeface="Arial"/>
              </a:rPr>
              <a:t>Nhưng câu hỏi </a:t>
            </a:r>
            <a:r>
              <a:rPr sz="2000" spc="-10" dirty="0">
                <a:latin typeface="Arial"/>
                <a:cs typeface="Arial"/>
              </a:rPr>
              <a:t>“Thuộc </a:t>
            </a:r>
            <a:r>
              <a:rPr sz="2000" spc="-5" dirty="0">
                <a:latin typeface="Arial"/>
                <a:cs typeface="Arial"/>
              </a:rPr>
              <a:t>tính nào của xe buýt có giá </a:t>
            </a:r>
            <a:r>
              <a:rPr sz="2000" dirty="0">
                <a:latin typeface="Arial"/>
                <a:cs typeface="Arial"/>
              </a:rPr>
              <a:t>trị </a:t>
            </a:r>
            <a:r>
              <a:rPr sz="2000" spc="-5" dirty="0">
                <a:latin typeface="Arial"/>
                <a:cs typeface="Arial"/>
              </a:rPr>
              <a:t>là </a:t>
            </a:r>
            <a:r>
              <a:rPr sz="2000" spc="-10" dirty="0">
                <a:latin typeface="Arial"/>
                <a:cs typeface="Arial"/>
              </a:rPr>
              <a:t>màu  </a:t>
            </a:r>
            <a:r>
              <a:rPr sz="2000" spc="-5" dirty="0">
                <a:latin typeface="Arial"/>
                <a:cs typeface="Arial"/>
              </a:rPr>
              <a:t>vàng?” thì không thể trả lời</a:t>
            </a:r>
            <a:r>
              <a:rPr sz="2000" spc="-35" dirty="0">
                <a:latin typeface="Arial"/>
                <a:cs typeface="Arial"/>
              </a:rPr>
              <a:t> </a:t>
            </a:r>
            <a:r>
              <a:rPr sz="2000" spc="-5" dirty="0">
                <a:latin typeface="Arial"/>
                <a:cs typeface="Arial"/>
              </a:rPr>
              <a:t>được</a:t>
            </a:r>
            <a:endParaRPr sz="2000">
              <a:latin typeface="Arial"/>
              <a:cs typeface="Arial"/>
            </a:endParaRPr>
          </a:p>
          <a:p>
            <a:pPr marL="298450" indent="-285750">
              <a:lnSpc>
                <a:spcPct val="100000"/>
              </a:lnSpc>
              <a:spcBef>
                <a:spcPts val="1030"/>
              </a:spcBef>
              <a:buClr>
                <a:srgbClr val="CC9A00"/>
              </a:buClr>
              <a:buSzPct val="64583"/>
              <a:buFont typeface="Wingdings"/>
              <a:buChar char=""/>
              <a:tabLst>
                <a:tab pos="297815" algn="l"/>
                <a:tab pos="298450" algn="l"/>
              </a:tabLst>
            </a:pPr>
            <a:r>
              <a:rPr sz="2400" spc="-5" dirty="0">
                <a:latin typeface="Arial"/>
                <a:cs typeface="Arial"/>
              </a:rPr>
              <a:t>Giải pháp thứ 3. </a:t>
            </a:r>
            <a:r>
              <a:rPr sz="2400" spc="-5" dirty="0">
                <a:latin typeface="Courier New"/>
                <a:cs typeface="Courier New"/>
              </a:rPr>
              <a:t>Prop(bus, color,</a:t>
            </a:r>
            <a:r>
              <a:rPr sz="2400" spc="-40" dirty="0">
                <a:latin typeface="Courier New"/>
                <a:cs typeface="Courier New"/>
              </a:rPr>
              <a:t> </a:t>
            </a:r>
            <a:r>
              <a:rPr sz="2400" spc="-10" dirty="0">
                <a:latin typeface="Courier New"/>
                <a:cs typeface="Courier New"/>
              </a:rPr>
              <a:t>yellow)</a:t>
            </a:r>
            <a:endParaRPr sz="2400">
              <a:latin typeface="Courier New"/>
              <a:cs typeface="Courier New"/>
            </a:endParaRPr>
          </a:p>
          <a:p>
            <a:pPr marL="624840" lvl="1" indent="-286385">
              <a:lnSpc>
                <a:spcPct val="100000"/>
              </a:lnSpc>
              <a:spcBef>
                <a:spcPts val="650"/>
              </a:spcBef>
              <a:buClr>
                <a:srgbClr val="3B822F"/>
              </a:buClr>
              <a:buSzPct val="60000"/>
              <a:buFont typeface="Wingdings"/>
              <a:buChar char=""/>
              <a:tabLst>
                <a:tab pos="624840" algn="l"/>
                <a:tab pos="625475" algn="l"/>
              </a:tabLst>
            </a:pPr>
            <a:r>
              <a:rPr sz="2000" spc="-5" dirty="0">
                <a:latin typeface="Arial"/>
                <a:cs typeface="Arial"/>
              </a:rPr>
              <a:t>Tất cả 3 câu hỏi trên đều có thể trả lời</a:t>
            </a:r>
            <a:r>
              <a:rPr sz="2000" spc="-35" dirty="0">
                <a:latin typeface="Arial"/>
                <a:cs typeface="Arial"/>
              </a:rPr>
              <a:t> </a:t>
            </a:r>
            <a:r>
              <a:rPr sz="2000" spc="-5" dirty="0">
                <a:latin typeface="Arial"/>
                <a:cs typeface="Arial"/>
              </a:rPr>
              <a:t>được</a:t>
            </a:r>
            <a:endParaRPr sz="20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2BA35FE0-4657-4177-AE92-F92792D5FD4C}"/>
              </a:ext>
            </a:extLst>
          </p:cNvPr>
          <p:cNvSpPr>
            <a:spLocks noGrp="1"/>
          </p:cNvSpPr>
          <p:nvPr>
            <p:ph type="title"/>
          </p:nvPr>
        </p:nvSpPr>
        <p:spPr/>
        <p:txBody>
          <a:bodyPr/>
          <a:lstStyle/>
          <a:p>
            <a:r>
              <a:rPr lang="en-US" sz="4000" b="0" spc="-5">
                <a:latin typeface="Verdana"/>
                <a:cs typeface="Verdana"/>
              </a:rPr>
              <a:t>Biểu diễn tri thức bằng khung</a:t>
            </a:r>
            <a:r>
              <a:rPr lang="en-US" sz="4000" b="0" spc="-55">
                <a:latin typeface="Verdana"/>
                <a:cs typeface="Verdana"/>
              </a:rPr>
              <a:t> </a:t>
            </a:r>
            <a:r>
              <a:rPr lang="en-US" sz="4000" b="0" spc="-10">
                <a:latin typeface="Verdana"/>
                <a:cs typeface="Verdana"/>
              </a:rPr>
              <a:t>(1)</a:t>
            </a:r>
            <a:endParaRPr lang="en-US" b="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object 1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7" name="object 1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22</a:t>
            </a:fld>
            <a:endParaRPr spc="-40" dirty="0"/>
          </a:p>
        </p:txBody>
      </p:sp>
      <p:sp>
        <p:nvSpPr>
          <p:cNvPr id="3" name="object 3"/>
          <p:cNvSpPr txBox="1"/>
          <p:nvPr/>
        </p:nvSpPr>
        <p:spPr>
          <a:xfrm>
            <a:off x="993139" y="1780286"/>
            <a:ext cx="5813425" cy="1575435"/>
          </a:xfrm>
          <a:prstGeom prst="rect">
            <a:avLst/>
          </a:prstGeom>
        </p:spPr>
        <p:txBody>
          <a:bodyPr vert="horz" wrap="square" lIns="0" tIns="85725" rIns="0" bIns="0" rtlCol="0">
            <a:spAutoFit/>
          </a:bodyPr>
          <a:lstStyle/>
          <a:p>
            <a:pPr marL="281940" indent="-269875">
              <a:lnSpc>
                <a:spcPct val="100000"/>
              </a:lnSpc>
              <a:spcBef>
                <a:spcPts val="675"/>
              </a:spcBef>
              <a:buClr>
                <a:srgbClr val="CC9A00"/>
              </a:buClr>
              <a:buSzPct val="64583"/>
              <a:buFont typeface="Wingdings"/>
              <a:buChar char=""/>
              <a:tabLst>
                <a:tab pos="282575" algn="l"/>
              </a:tabLst>
            </a:pPr>
            <a:r>
              <a:rPr sz="2400" spc="-5" dirty="0">
                <a:latin typeface="Arial"/>
                <a:cs typeface="Arial"/>
              </a:rPr>
              <a:t>Một đối tượng được biểu diễn</a:t>
            </a:r>
            <a:r>
              <a:rPr sz="2400" spc="35" dirty="0">
                <a:latin typeface="Arial"/>
                <a:cs typeface="Arial"/>
              </a:rPr>
              <a:t> </a:t>
            </a:r>
            <a:r>
              <a:rPr sz="2400" spc="-5" dirty="0">
                <a:latin typeface="Arial"/>
                <a:cs typeface="Arial"/>
              </a:rPr>
              <a:t>bởi:</a:t>
            </a:r>
            <a:endParaRPr sz="2400">
              <a:latin typeface="Arial"/>
              <a:cs typeface="Arial"/>
            </a:endParaRPr>
          </a:p>
          <a:p>
            <a:pPr marL="638175">
              <a:lnSpc>
                <a:spcPct val="100000"/>
              </a:lnSpc>
              <a:spcBef>
                <a:spcPts val="575"/>
              </a:spcBef>
            </a:pPr>
            <a:r>
              <a:rPr sz="2400" b="1" spc="-5" dirty="0">
                <a:latin typeface="Arial"/>
                <a:cs typeface="Arial"/>
              </a:rPr>
              <a:t>(Object, Property,</a:t>
            </a:r>
            <a:r>
              <a:rPr sz="2400" b="1" spc="-15" dirty="0">
                <a:latin typeface="Arial"/>
                <a:cs typeface="Arial"/>
              </a:rPr>
              <a:t> </a:t>
            </a:r>
            <a:r>
              <a:rPr sz="2400" b="1" spc="-5" dirty="0">
                <a:latin typeface="Arial"/>
                <a:cs typeface="Arial"/>
              </a:rPr>
              <a:t>Value)</a:t>
            </a:r>
            <a:endParaRPr sz="2400">
              <a:latin typeface="Arial"/>
              <a:cs typeface="Arial"/>
            </a:endParaRPr>
          </a:p>
          <a:p>
            <a:pPr marL="608965" marR="5080" lvl="1" indent="-269875">
              <a:lnSpc>
                <a:spcPct val="100000"/>
              </a:lnSpc>
              <a:spcBef>
                <a:spcPts val="490"/>
              </a:spcBef>
              <a:buClr>
                <a:srgbClr val="3B822F"/>
              </a:buClr>
              <a:buSzPct val="60000"/>
              <a:buFont typeface="Wingdings"/>
              <a:buChar char=""/>
              <a:tabLst>
                <a:tab pos="608965" algn="l"/>
                <a:tab pos="609600" algn="l"/>
                <a:tab pos="5122545" algn="l"/>
              </a:tabLst>
            </a:pPr>
            <a:r>
              <a:rPr sz="2000" spc="-5" dirty="0">
                <a:latin typeface="Arial"/>
                <a:cs typeface="Arial"/>
              </a:rPr>
              <a:t>Được gọi là cách biểu diễn bằng</a:t>
            </a:r>
            <a:r>
              <a:rPr sz="2000" spc="50" dirty="0">
                <a:latin typeface="Arial"/>
                <a:cs typeface="Arial"/>
              </a:rPr>
              <a:t> </a:t>
            </a:r>
            <a:r>
              <a:rPr sz="2000" spc="-5" dirty="0">
                <a:latin typeface="Arial"/>
                <a:cs typeface="Arial"/>
              </a:rPr>
              <a:t>bộ</a:t>
            </a:r>
            <a:r>
              <a:rPr sz="2000" spc="5" dirty="0">
                <a:latin typeface="Arial"/>
                <a:cs typeface="Arial"/>
              </a:rPr>
              <a:t> </a:t>
            </a:r>
            <a:r>
              <a:rPr sz="2000" spc="-5" dirty="0">
                <a:latin typeface="Arial"/>
                <a:cs typeface="Arial"/>
              </a:rPr>
              <a:t>ba	</a:t>
            </a:r>
            <a:r>
              <a:rPr sz="2000" i="1" spc="-5" dirty="0">
                <a:latin typeface="Arial"/>
                <a:cs typeface="Arial"/>
              </a:rPr>
              <a:t>đối  tượng-thuộc tính-giá trị</a:t>
            </a:r>
            <a:r>
              <a:rPr sz="2000" i="1" spc="5" dirty="0">
                <a:latin typeface="Arial"/>
                <a:cs typeface="Arial"/>
              </a:rPr>
              <a:t> </a:t>
            </a:r>
            <a:r>
              <a:rPr sz="2000" i="1" spc="-5" dirty="0">
                <a:latin typeface="Arial"/>
                <a:cs typeface="Arial"/>
              </a:rPr>
              <a:t>(object-property-value)</a:t>
            </a:r>
            <a:endParaRPr sz="2000">
              <a:latin typeface="Arial"/>
              <a:cs typeface="Arial"/>
            </a:endParaRPr>
          </a:p>
        </p:txBody>
      </p:sp>
      <p:sp>
        <p:nvSpPr>
          <p:cNvPr id="4" name="object 4"/>
          <p:cNvSpPr txBox="1"/>
          <p:nvPr/>
        </p:nvSpPr>
        <p:spPr>
          <a:xfrm>
            <a:off x="967739" y="3558032"/>
            <a:ext cx="5875020" cy="1824355"/>
          </a:xfrm>
          <a:prstGeom prst="rect">
            <a:avLst/>
          </a:prstGeom>
        </p:spPr>
        <p:txBody>
          <a:bodyPr vert="horz" wrap="square" lIns="0" tIns="12700" rIns="0" bIns="0" rtlCol="0">
            <a:spAutoFit/>
          </a:bodyPr>
          <a:lstStyle/>
          <a:p>
            <a:pPr marL="307340" marR="30480" indent="-269875">
              <a:lnSpc>
                <a:spcPct val="100000"/>
              </a:lnSpc>
              <a:spcBef>
                <a:spcPts val="100"/>
              </a:spcBef>
              <a:buClr>
                <a:srgbClr val="CC9A00"/>
              </a:buClr>
              <a:buSzPct val="63636"/>
              <a:buFont typeface="Wingdings"/>
              <a:buChar char=""/>
              <a:tabLst>
                <a:tab pos="307340" algn="l"/>
                <a:tab pos="307975" algn="l"/>
              </a:tabLst>
            </a:pPr>
            <a:r>
              <a:rPr sz="2200" spc="-5" dirty="0">
                <a:latin typeface="Arial"/>
                <a:cs typeface="Arial"/>
              </a:rPr>
              <a:t>Nếu chúng ta gộp nhiều thuộc </a:t>
            </a:r>
            <a:r>
              <a:rPr sz="2200" dirty="0">
                <a:latin typeface="Arial"/>
                <a:cs typeface="Arial"/>
              </a:rPr>
              <a:t>tính </a:t>
            </a:r>
            <a:r>
              <a:rPr sz="2200" spc="-5" dirty="0">
                <a:latin typeface="Arial"/>
                <a:cs typeface="Arial"/>
              </a:rPr>
              <a:t>của cùng  một kiểu đối </a:t>
            </a:r>
            <a:r>
              <a:rPr sz="2200" dirty="0">
                <a:latin typeface="Arial"/>
                <a:cs typeface="Arial"/>
              </a:rPr>
              <a:t>tượng </a:t>
            </a:r>
            <a:r>
              <a:rPr sz="2200" spc="-5" dirty="0">
                <a:latin typeface="Arial"/>
                <a:cs typeface="Arial"/>
              </a:rPr>
              <a:t>thành một cấu trúc, thì  </a:t>
            </a:r>
            <a:r>
              <a:rPr sz="2200" dirty="0">
                <a:latin typeface="Arial"/>
                <a:cs typeface="Arial"/>
              </a:rPr>
              <a:t>chúng ta có cách </a:t>
            </a:r>
            <a:r>
              <a:rPr sz="2200" spc="-5" dirty="0">
                <a:latin typeface="Arial"/>
                <a:cs typeface="Arial"/>
              </a:rPr>
              <a:t>biểu diễn hướng đối tượng  </a:t>
            </a:r>
            <a:r>
              <a:rPr sz="2200" dirty="0">
                <a:latin typeface="Arial"/>
                <a:cs typeface="Arial"/>
              </a:rPr>
              <a:t>(object-centered representation)</a:t>
            </a:r>
            <a:endParaRPr sz="2200">
              <a:latin typeface="Arial"/>
              <a:cs typeface="Arial"/>
            </a:endParaRPr>
          </a:p>
          <a:p>
            <a:pPr marL="1110615">
              <a:lnSpc>
                <a:spcPct val="100000"/>
              </a:lnSpc>
              <a:spcBef>
                <a:spcPts val="1205"/>
              </a:spcBef>
            </a:pPr>
            <a:r>
              <a:rPr sz="2000" i="1" spc="-5" dirty="0">
                <a:latin typeface="Arial"/>
                <a:cs typeface="Arial"/>
              </a:rPr>
              <a:t>Prop(Object, Property</a:t>
            </a:r>
            <a:r>
              <a:rPr sz="1950" i="1" spc="-7" baseline="-21367" dirty="0">
                <a:latin typeface="Arial"/>
                <a:cs typeface="Arial"/>
              </a:rPr>
              <a:t>1</a:t>
            </a:r>
            <a:r>
              <a:rPr sz="2000" i="1" spc="-5" dirty="0">
                <a:latin typeface="Arial"/>
                <a:cs typeface="Arial"/>
              </a:rPr>
              <a:t>,</a:t>
            </a:r>
            <a:r>
              <a:rPr sz="2000" i="1" spc="-35" dirty="0">
                <a:latin typeface="Arial"/>
                <a:cs typeface="Arial"/>
              </a:rPr>
              <a:t> </a:t>
            </a:r>
            <a:r>
              <a:rPr sz="2000" i="1" spc="-5" dirty="0">
                <a:latin typeface="Arial"/>
                <a:cs typeface="Arial"/>
              </a:rPr>
              <a:t>Value</a:t>
            </a:r>
            <a:r>
              <a:rPr sz="1950" i="1" spc="-7" baseline="-21367" dirty="0">
                <a:latin typeface="Arial"/>
                <a:cs typeface="Arial"/>
              </a:rPr>
              <a:t>1</a:t>
            </a:r>
            <a:r>
              <a:rPr sz="2000" i="1" spc="-5" dirty="0">
                <a:latin typeface="Arial"/>
                <a:cs typeface="Arial"/>
              </a:rPr>
              <a:t>)</a:t>
            </a:r>
            <a:endParaRPr sz="2000">
              <a:latin typeface="Arial"/>
              <a:cs typeface="Arial"/>
            </a:endParaRPr>
          </a:p>
        </p:txBody>
      </p:sp>
      <p:grpSp>
        <p:nvGrpSpPr>
          <p:cNvPr id="5" name="object 5"/>
          <p:cNvGrpSpPr/>
          <p:nvPr/>
        </p:nvGrpSpPr>
        <p:grpSpPr>
          <a:xfrm>
            <a:off x="457200" y="4564379"/>
            <a:ext cx="9144000" cy="1767839"/>
            <a:chOff x="457200" y="4564379"/>
            <a:chExt cx="9144000" cy="1767839"/>
          </a:xfrm>
        </p:grpSpPr>
        <p:sp>
          <p:nvSpPr>
            <p:cNvPr id="6" name="object 6"/>
            <p:cNvSpPr/>
            <p:nvPr/>
          </p:nvSpPr>
          <p:spPr>
            <a:xfrm>
              <a:off x="7459980" y="4564379"/>
              <a:ext cx="1388110" cy="788670"/>
            </a:xfrm>
            <a:custGeom>
              <a:avLst/>
              <a:gdLst/>
              <a:ahLst/>
              <a:cxnLst/>
              <a:rect l="l" t="t" r="r" b="b"/>
              <a:pathLst>
                <a:path w="1388109" h="788670">
                  <a:moveTo>
                    <a:pt x="1387602" y="788670"/>
                  </a:moveTo>
                  <a:lnTo>
                    <a:pt x="1387602" y="3810"/>
                  </a:lnTo>
                  <a:lnTo>
                    <a:pt x="1383792" y="0"/>
                  </a:lnTo>
                  <a:lnTo>
                    <a:pt x="3810" y="0"/>
                  </a:lnTo>
                  <a:lnTo>
                    <a:pt x="0" y="3810"/>
                  </a:lnTo>
                  <a:lnTo>
                    <a:pt x="0" y="788670"/>
                  </a:lnTo>
                  <a:lnTo>
                    <a:pt x="7620" y="788670"/>
                  </a:lnTo>
                  <a:lnTo>
                    <a:pt x="7620" y="16002"/>
                  </a:lnTo>
                  <a:lnTo>
                    <a:pt x="16001" y="7620"/>
                  </a:lnTo>
                  <a:lnTo>
                    <a:pt x="16001" y="16002"/>
                  </a:lnTo>
                  <a:lnTo>
                    <a:pt x="1371600" y="16002"/>
                  </a:lnTo>
                  <a:lnTo>
                    <a:pt x="1371600" y="7620"/>
                  </a:lnTo>
                  <a:lnTo>
                    <a:pt x="1379220" y="16002"/>
                  </a:lnTo>
                  <a:lnTo>
                    <a:pt x="1379220" y="788670"/>
                  </a:lnTo>
                  <a:lnTo>
                    <a:pt x="1387602" y="788670"/>
                  </a:lnTo>
                  <a:close/>
                </a:path>
                <a:path w="1388109" h="788670">
                  <a:moveTo>
                    <a:pt x="16001" y="16002"/>
                  </a:moveTo>
                  <a:lnTo>
                    <a:pt x="16001" y="7620"/>
                  </a:lnTo>
                  <a:lnTo>
                    <a:pt x="7620" y="16002"/>
                  </a:lnTo>
                  <a:lnTo>
                    <a:pt x="16001" y="16002"/>
                  </a:lnTo>
                  <a:close/>
                </a:path>
                <a:path w="1388109" h="788670">
                  <a:moveTo>
                    <a:pt x="16001" y="788670"/>
                  </a:moveTo>
                  <a:lnTo>
                    <a:pt x="16001" y="16002"/>
                  </a:lnTo>
                  <a:lnTo>
                    <a:pt x="7620" y="16002"/>
                  </a:lnTo>
                  <a:lnTo>
                    <a:pt x="7620" y="788670"/>
                  </a:lnTo>
                  <a:lnTo>
                    <a:pt x="16001" y="788670"/>
                  </a:lnTo>
                  <a:close/>
                </a:path>
                <a:path w="1388109" h="788670">
                  <a:moveTo>
                    <a:pt x="1379220" y="16002"/>
                  </a:moveTo>
                  <a:lnTo>
                    <a:pt x="1371600" y="7620"/>
                  </a:lnTo>
                  <a:lnTo>
                    <a:pt x="1371600" y="16002"/>
                  </a:lnTo>
                  <a:lnTo>
                    <a:pt x="1379220" y="16002"/>
                  </a:lnTo>
                  <a:close/>
                </a:path>
                <a:path w="1388109" h="788670">
                  <a:moveTo>
                    <a:pt x="1379220" y="788670"/>
                  </a:moveTo>
                  <a:lnTo>
                    <a:pt x="1379220" y="16002"/>
                  </a:lnTo>
                  <a:lnTo>
                    <a:pt x="1371600" y="16002"/>
                  </a:lnTo>
                  <a:lnTo>
                    <a:pt x="1371600" y="788670"/>
                  </a:lnTo>
                  <a:lnTo>
                    <a:pt x="1379220" y="788670"/>
                  </a:lnTo>
                  <a:close/>
                </a:path>
              </a:pathLst>
            </a:custGeom>
            <a:solidFill>
              <a:srgbClr val="0D0D0D"/>
            </a:solidFill>
          </p:spPr>
          <p:txBody>
            <a:bodyPr wrap="square" lIns="0" tIns="0" rIns="0" bIns="0" rtlCol="0"/>
            <a:lstStyle/>
            <a:p>
              <a:endParaRPr/>
            </a:p>
          </p:txBody>
        </p:sp>
        <p:sp>
          <p:nvSpPr>
            <p:cNvPr id="7" name="object 7"/>
            <p:cNvSpPr/>
            <p:nvPr/>
          </p:nvSpPr>
          <p:spPr>
            <a:xfrm>
              <a:off x="457200" y="535304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p:nvPr/>
          </p:nvSpPr>
          <p:spPr>
            <a:xfrm>
              <a:off x="7459980" y="5353049"/>
              <a:ext cx="1388110" cy="581660"/>
            </a:xfrm>
            <a:custGeom>
              <a:avLst/>
              <a:gdLst/>
              <a:ahLst/>
              <a:cxnLst/>
              <a:rect l="l" t="t" r="r" b="b"/>
              <a:pathLst>
                <a:path w="1388109" h="581660">
                  <a:moveTo>
                    <a:pt x="16001" y="565403"/>
                  </a:moveTo>
                  <a:lnTo>
                    <a:pt x="16001" y="0"/>
                  </a:lnTo>
                  <a:lnTo>
                    <a:pt x="0" y="0"/>
                  </a:lnTo>
                  <a:lnTo>
                    <a:pt x="0" y="577596"/>
                  </a:lnTo>
                  <a:lnTo>
                    <a:pt x="3810" y="581405"/>
                  </a:lnTo>
                  <a:lnTo>
                    <a:pt x="7620" y="581405"/>
                  </a:lnTo>
                  <a:lnTo>
                    <a:pt x="7620" y="565403"/>
                  </a:lnTo>
                  <a:lnTo>
                    <a:pt x="16001" y="565403"/>
                  </a:lnTo>
                  <a:close/>
                </a:path>
                <a:path w="1388109" h="581660">
                  <a:moveTo>
                    <a:pt x="1379220" y="565403"/>
                  </a:moveTo>
                  <a:lnTo>
                    <a:pt x="7620" y="565403"/>
                  </a:lnTo>
                  <a:lnTo>
                    <a:pt x="16001" y="573786"/>
                  </a:lnTo>
                  <a:lnTo>
                    <a:pt x="16001" y="581405"/>
                  </a:lnTo>
                  <a:lnTo>
                    <a:pt x="1371600" y="581405"/>
                  </a:lnTo>
                  <a:lnTo>
                    <a:pt x="1371600" y="573786"/>
                  </a:lnTo>
                  <a:lnTo>
                    <a:pt x="1379220" y="565403"/>
                  </a:lnTo>
                  <a:close/>
                </a:path>
                <a:path w="1388109" h="581660">
                  <a:moveTo>
                    <a:pt x="16001" y="581405"/>
                  </a:moveTo>
                  <a:lnTo>
                    <a:pt x="16001" y="573786"/>
                  </a:lnTo>
                  <a:lnTo>
                    <a:pt x="7620" y="565403"/>
                  </a:lnTo>
                  <a:lnTo>
                    <a:pt x="7620" y="581405"/>
                  </a:lnTo>
                  <a:lnTo>
                    <a:pt x="16001" y="581405"/>
                  </a:lnTo>
                  <a:close/>
                </a:path>
                <a:path w="1388109" h="581660">
                  <a:moveTo>
                    <a:pt x="1387602" y="577596"/>
                  </a:moveTo>
                  <a:lnTo>
                    <a:pt x="1387602" y="0"/>
                  </a:lnTo>
                  <a:lnTo>
                    <a:pt x="1371600" y="0"/>
                  </a:lnTo>
                  <a:lnTo>
                    <a:pt x="1371600" y="565403"/>
                  </a:lnTo>
                  <a:lnTo>
                    <a:pt x="1379220" y="565403"/>
                  </a:lnTo>
                  <a:lnTo>
                    <a:pt x="1379220" y="581405"/>
                  </a:lnTo>
                  <a:lnTo>
                    <a:pt x="1383792" y="581405"/>
                  </a:lnTo>
                  <a:lnTo>
                    <a:pt x="1387602" y="577596"/>
                  </a:lnTo>
                  <a:close/>
                </a:path>
                <a:path w="1388109" h="581660">
                  <a:moveTo>
                    <a:pt x="1379220" y="581405"/>
                  </a:moveTo>
                  <a:lnTo>
                    <a:pt x="1379220" y="565403"/>
                  </a:lnTo>
                  <a:lnTo>
                    <a:pt x="1371600" y="573786"/>
                  </a:lnTo>
                  <a:lnTo>
                    <a:pt x="1371600" y="581405"/>
                  </a:lnTo>
                  <a:lnTo>
                    <a:pt x="1379220" y="581405"/>
                  </a:lnTo>
                  <a:close/>
                </a:path>
              </a:pathLst>
            </a:custGeom>
            <a:solidFill>
              <a:srgbClr val="0D0D0D"/>
            </a:solidFill>
          </p:spPr>
          <p:txBody>
            <a:bodyPr wrap="square" lIns="0" tIns="0" rIns="0" bIns="0" rtlCol="0"/>
            <a:lstStyle/>
            <a:p>
              <a:endParaRPr/>
            </a:p>
          </p:txBody>
        </p:sp>
      </p:grpSp>
      <p:sp>
        <p:nvSpPr>
          <p:cNvPr id="9" name="object 9"/>
          <p:cNvSpPr txBox="1"/>
          <p:nvPr/>
        </p:nvSpPr>
        <p:spPr>
          <a:xfrm>
            <a:off x="7520940" y="4111244"/>
            <a:ext cx="1025525" cy="1412240"/>
          </a:xfrm>
          <a:prstGeom prst="rect">
            <a:avLst/>
          </a:prstGeom>
        </p:spPr>
        <p:txBody>
          <a:bodyPr vert="horz" wrap="square" lIns="0" tIns="27940" rIns="0" bIns="0" rtlCol="0">
            <a:spAutoFit/>
          </a:bodyPr>
          <a:lstStyle/>
          <a:p>
            <a:pPr marL="38100" marR="30480" indent="152400">
              <a:lnSpc>
                <a:spcPct val="133300"/>
              </a:lnSpc>
              <a:spcBef>
                <a:spcPts val="220"/>
              </a:spcBef>
            </a:pPr>
            <a:r>
              <a:rPr sz="1800" b="1" spc="-5" dirty="0">
                <a:latin typeface="Arial"/>
                <a:cs typeface="Arial"/>
              </a:rPr>
              <a:t>Object  </a:t>
            </a:r>
            <a:r>
              <a:rPr sz="1800" spc="-5" dirty="0">
                <a:latin typeface="Arial"/>
                <a:cs typeface="Arial"/>
              </a:rPr>
              <a:t>Propert</a:t>
            </a:r>
            <a:r>
              <a:rPr sz="1800" dirty="0">
                <a:latin typeface="Arial"/>
                <a:cs typeface="Arial"/>
              </a:rPr>
              <a:t>y</a:t>
            </a:r>
            <a:r>
              <a:rPr sz="1800" baseline="-20833" dirty="0">
                <a:latin typeface="Arial"/>
                <a:cs typeface="Arial"/>
              </a:rPr>
              <a:t>1  </a:t>
            </a:r>
            <a:r>
              <a:rPr sz="1800" spc="-5" dirty="0">
                <a:latin typeface="Arial"/>
                <a:cs typeface="Arial"/>
              </a:rPr>
              <a:t>Propert</a:t>
            </a:r>
            <a:r>
              <a:rPr sz="1800" dirty="0">
                <a:latin typeface="Arial"/>
                <a:cs typeface="Arial"/>
              </a:rPr>
              <a:t>y</a:t>
            </a:r>
            <a:r>
              <a:rPr sz="1800" baseline="-20833" dirty="0">
                <a:latin typeface="Arial"/>
                <a:cs typeface="Arial"/>
              </a:rPr>
              <a:t>2</a:t>
            </a:r>
            <a:endParaRPr sz="1800" baseline="-20833">
              <a:latin typeface="Arial"/>
              <a:cs typeface="Arial"/>
            </a:endParaRPr>
          </a:p>
          <a:p>
            <a:pPr marL="38100">
              <a:lnSpc>
                <a:spcPct val="100000"/>
              </a:lnSpc>
            </a:pPr>
            <a:r>
              <a:rPr sz="1800" dirty="0">
                <a:latin typeface="Arial"/>
                <a:cs typeface="Arial"/>
              </a:rPr>
              <a:t>. .</a:t>
            </a:r>
            <a:r>
              <a:rPr sz="1800" spc="-30" dirty="0">
                <a:latin typeface="Arial"/>
                <a:cs typeface="Arial"/>
              </a:rPr>
              <a:t> </a:t>
            </a:r>
            <a:r>
              <a:rPr sz="1800" dirty="0">
                <a:latin typeface="Arial"/>
                <a:cs typeface="Arial"/>
              </a:rPr>
              <a:t>.</a:t>
            </a:r>
            <a:endParaRPr sz="1800">
              <a:latin typeface="Arial"/>
              <a:cs typeface="Arial"/>
            </a:endParaRPr>
          </a:p>
        </p:txBody>
      </p:sp>
      <p:sp>
        <p:nvSpPr>
          <p:cNvPr id="10" name="object 10"/>
          <p:cNvSpPr txBox="1"/>
          <p:nvPr/>
        </p:nvSpPr>
        <p:spPr>
          <a:xfrm>
            <a:off x="7546340" y="5574276"/>
            <a:ext cx="889635" cy="299720"/>
          </a:xfrm>
          <a:prstGeom prst="rect">
            <a:avLst/>
          </a:prstGeom>
        </p:spPr>
        <p:txBody>
          <a:bodyPr vert="horz" wrap="square" lIns="0" tIns="12700" rIns="0" bIns="0" rtlCol="0">
            <a:spAutoFit/>
          </a:bodyPr>
          <a:lstStyle/>
          <a:p>
            <a:pPr marL="12700">
              <a:lnSpc>
                <a:spcPct val="100000"/>
              </a:lnSpc>
              <a:spcBef>
                <a:spcPts val="100"/>
              </a:spcBef>
            </a:pPr>
            <a:r>
              <a:rPr sz="1800" spc="-5" dirty="0">
                <a:latin typeface="Arial"/>
                <a:cs typeface="Arial"/>
              </a:rPr>
              <a:t>Property</a:t>
            </a:r>
            <a:endParaRPr sz="1800">
              <a:latin typeface="Arial"/>
              <a:cs typeface="Arial"/>
            </a:endParaRPr>
          </a:p>
        </p:txBody>
      </p:sp>
      <p:sp>
        <p:nvSpPr>
          <p:cNvPr id="11" name="object 11"/>
          <p:cNvSpPr txBox="1"/>
          <p:nvPr/>
        </p:nvSpPr>
        <p:spPr>
          <a:xfrm>
            <a:off x="8410447" y="5706871"/>
            <a:ext cx="110489"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Arial"/>
                <a:cs typeface="Arial"/>
              </a:rPr>
              <a:t>n</a:t>
            </a:r>
            <a:endParaRPr sz="1200">
              <a:latin typeface="Arial"/>
              <a:cs typeface="Arial"/>
            </a:endParaRPr>
          </a:p>
        </p:txBody>
      </p:sp>
      <p:grpSp>
        <p:nvGrpSpPr>
          <p:cNvPr id="12" name="object 12"/>
          <p:cNvGrpSpPr/>
          <p:nvPr/>
        </p:nvGrpSpPr>
        <p:grpSpPr>
          <a:xfrm>
            <a:off x="457200" y="6332220"/>
            <a:ext cx="9144000" cy="982980"/>
            <a:chOff x="457200" y="6332220"/>
            <a:chExt cx="9144000" cy="982980"/>
          </a:xfrm>
        </p:grpSpPr>
        <p:sp>
          <p:nvSpPr>
            <p:cNvPr id="13" name="object 13"/>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4" name="object 14"/>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5" name="object 15"/>
          <p:cNvSpPr txBox="1"/>
          <p:nvPr/>
        </p:nvSpPr>
        <p:spPr>
          <a:xfrm>
            <a:off x="2040635" y="5356819"/>
            <a:ext cx="3588385" cy="1122680"/>
          </a:xfrm>
          <a:prstGeom prst="rect">
            <a:avLst/>
          </a:prstGeom>
        </p:spPr>
        <p:txBody>
          <a:bodyPr vert="horz" wrap="square" lIns="0" tIns="73660" rIns="0" bIns="0" rtlCol="0">
            <a:spAutoFit/>
          </a:bodyPr>
          <a:lstStyle/>
          <a:p>
            <a:pPr marL="38100">
              <a:lnSpc>
                <a:spcPct val="100000"/>
              </a:lnSpc>
              <a:spcBef>
                <a:spcPts val="580"/>
              </a:spcBef>
            </a:pPr>
            <a:r>
              <a:rPr sz="2000" i="1" spc="-5" dirty="0">
                <a:latin typeface="Arial"/>
                <a:cs typeface="Arial"/>
              </a:rPr>
              <a:t>Prop(Object, </a:t>
            </a:r>
            <a:r>
              <a:rPr sz="2000" i="1" dirty="0">
                <a:latin typeface="Arial"/>
                <a:cs typeface="Arial"/>
              </a:rPr>
              <a:t>Property</a:t>
            </a:r>
            <a:r>
              <a:rPr sz="1950" i="1" baseline="-21367" dirty="0">
                <a:latin typeface="Arial"/>
                <a:cs typeface="Arial"/>
              </a:rPr>
              <a:t>2</a:t>
            </a:r>
            <a:r>
              <a:rPr sz="2000" i="1" dirty="0">
                <a:latin typeface="Arial"/>
                <a:cs typeface="Arial"/>
              </a:rPr>
              <a:t>,</a:t>
            </a:r>
            <a:r>
              <a:rPr sz="2000" i="1" spc="-85" dirty="0">
                <a:latin typeface="Arial"/>
                <a:cs typeface="Arial"/>
              </a:rPr>
              <a:t> </a:t>
            </a:r>
            <a:r>
              <a:rPr sz="2000" i="1" dirty="0">
                <a:latin typeface="Arial"/>
                <a:cs typeface="Arial"/>
              </a:rPr>
              <a:t>Value</a:t>
            </a:r>
            <a:r>
              <a:rPr sz="1950" i="1" baseline="-21367" dirty="0">
                <a:latin typeface="Arial"/>
                <a:cs typeface="Arial"/>
              </a:rPr>
              <a:t>2</a:t>
            </a:r>
            <a:r>
              <a:rPr sz="2000" i="1" dirty="0">
                <a:latin typeface="Arial"/>
                <a:cs typeface="Arial"/>
              </a:rPr>
              <a:t>)</a:t>
            </a:r>
            <a:endParaRPr sz="2000">
              <a:latin typeface="Arial"/>
              <a:cs typeface="Arial"/>
            </a:endParaRPr>
          </a:p>
          <a:p>
            <a:pPr marL="38100">
              <a:lnSpc>
                <a:spcPct val="100000"/>
              </a:lnSpc>
              <a:spcBef>
                <a:spcPts val="480"/>
              </a:spcBef>
            </a:pPr>
            <a:r>
              <a:rPr sz="2000" i="1" spc="-5" dirty="0">
                <a:latin typeface="Arial"/>
                <a:cs typeface="Arial"/>
              </a:rPr>
              <a:t>…</a:t>
            </a:r>
            <a:endParaRPr sz="2000">
              <a:latin typeface="Arial"/>
              <a:cs typeface="Arial"/>
            </a:endParaRPr>
          </a:p>
          <a:p>
            <a:pPr marL="38100">
              <a:lnSpc>
                <a:spcPct val="100000"/>
              </a:lnSpc>
              <a:spcBef>
                <a:spcPts val="480"/>
              </a:spcBef>
            </a:pPr>
            <a:r>
              <a:rPr sz="2000" i="1" spc="-5" dirty="0">
                <a:latin typeface="Arial"/>
                <a:cs typeface="Arial"/>
              </a:rPr>
              <a:t>Prop(Object, </a:t>
            </a:r>
            <a:r>
              <a:rPr sz="2000" i="1" dirty="0">
                <a:latin typeface="Arial"/>
                <a:cs typeface="Arial"/>
              </a:rPr>
              <a:t>Property</a:t>
            </a:r>
            <a:r>
              <a:rPr sz="1950" i="1" baseline="-21367" dirty="0">
                <a:latin typeface="Arial"/>
                <a:cs typeface="Arial"/>
              </a:rPr>
              <a:t>n</a:t>
            </a:r>
            <a:r>
              <a:rPr sz="2000" i="1" dirty="0">
                <a:latin typeface="Arial"/>
                <a:cs typeface="Arial"/>
              </a:rPr>
              <a:t>,</a:t>
            </a:r>
            <a:r>
              <a:rPr sz="2000" i="1" spc="-65" dirty="0">
                <a:latin typeface="Arial"/>
                <a:cs typeface="Arial"/>
              </a:rPr>
              <a:t> </a:t>
            </a:r>
            <a:r>
              <a:rPr sz="2000" i="1" spc="-5" dirty="0">
                <a:latin typeface="Arial"/>
                <a:cs typeface="Arial"/>
              </a:rPr>
              <a:t>Value</a:t>
            </a:r>
            <a:r>
              <a:rPr sz="1950" i="1" spc="-7" baseline="-21367" dirty="0">
                <a:latin typeface="Arial"/>
                <a:cs typeface="Arial"/>
              </a:rPr>
              <a:t>n</a:t>
            </a:r>
            <a:r>
              <a:rPr sz="2000" i="1" spc="-5" dirty="0">
                <a:latin typeface="Arial"/>
                <a:cs typeface="Arial"/>
              </a:rPr>
              <a:t>)</a:t>
            </a:r>
            <a:endParaRPr sz="2000">
              <a:latin typeface="Arial"/>
              <a:cs typeface="Arial"/>
            </a:endParaRPr>
          </a:p>
        </p:txBody>
      </p:sp>
      <p:sp>
        <p:nvSpPr>
          <p:cNvPr id="19" name="Title 18">
            <a:extLst>
              <a:ext uri="{FF2B5EF4-FFF2-40B4-BE49-F238E27FC236}">
                <a16:creationId xmlns:a16="http://schemas.microsoft.com/office/drawing/2014/main" id="{BFAE465E-E558-4C54-902A-30D4F48DBCCE}"/>
              </a:ext>
            </a:extLst>
          </p:cNvPr>
          <p:cNvSpPr>
            <a:spLocks noGrp="1"/>
          </p:cNvSpPr>
          <p:nvPr>
            <p:ph type="title"/>
          </p:nvPr>
        </p:nvSpPr>
        <p:spPr/>
        <p:txBody>
          <a:bodyPr/>
          <a:lstStyle/>
          <a:p>
            <a:r>
              <a:rPr lang="en-US" sz="4000" b="0" spc="-5">
                <a:latin typeface="Verdana"/>
                <a:cs typeface="Verdana"/>
              </a:rPr>
              <a:t>Biểu diễn tri thức bằng khung</a:t>
            </a:r>
            <a:r>
              <a:rPr lang="en-US" sz="4000" b="0" spc="-55">
                <a:latin typeface="Verdana"/>
                <a:cs typeface="Verdana"/>
              </a:rPr>
              <a:t> </a:t>
            </a:r>
            <a:r>
              <a:rPr lang="en-US" sz="4000" b="0" spc="-10">
                <a:latin typeface="Verdana"/>
                <a:cs typeface="Verdana"/>
              </a:rPr>
              <a:t>(2)</a:t>
            </a:r>
            <a:endParaRPr lang="en-US" b="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23</a:t>
            </a:fld>
            <a:endParaRPr spc="-40" dirty="0"/>
          </a:p>
        </p:txBody>
      </p:sp>
      <p:grpSp>
        <p:nvGrpSpPr>
          <p:cNvPr id="3" name="object 3"/>
          <p:cNvGrpSpPr/>
          <p:nvPr/>
        </p:nvGrpSpPr>
        <p:grpSpPr>
          <a:xfrm>
            <a:off x="457200" y="1436369"/>
            <a:ext cx="9144000" cy="4895850"/>
            <a:chOff x="457200" y="1436369"/>
            <a:chExt cx="9144000" cy="489585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3916679"/>
            </a:xfrm>
            <a:custGeom>
              <a:avLst/>
              <a:gdLst/>
              <a:ahLst/>
              <a:cxnLst/>
              <a:rect l="l" t="t" r="r" b="b"/>
              <a:pathLst>
                <a:path w="9144000" h="3916679">
                  <a:moveTo>
                    <a:pt x="9144000" y="0"/>
                  </a:moveTo>
                  <a:lnTo>
                    <a:pt x="0" y="0"/>
                  </a:lnTo>
                  <a:lnTo>
                    <a:pt x="0" y="979170"/>
                  </a:lnTo>
                  <a:lnTo>
                    <a:pt x="0" y="1958340"/>
                  </a:lnTo>
                  <a:lnTo>
                    <a:pt x="0" y="2937510"/>
                  </a:lnTo>
                  <a:lnTo>
                    <a:pt x="0" y="3916680"/>
                  </a:lnTo>
                  <a:lnTo>
                    <a:pt x="9144000" y="391668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823834" cy="400431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Cách biểu diễn bằng bộ ba </a:t>
            </a:r>
            <a:r>
              <a:rPr sz="2400" i="1" spc="-5" dirty="0">
                <a:latin typeface="Arial"/>
                <a:cs typeface="Arial"/>
              </a:rPr>
              <a:t>object-property-value </a:t>
            </a:r>
            <a:r>
              <a:rPr sz="2400" dirty="0">
                <a:latin typeface="Arial"/>
                <a:cs typeface="Arial"/>
              </a:rPr>
              <a:t>là </a:t>
            </a:r>
            <a:r>
              <a:rPr sz="2400" spc="-5" dirty="0">
                <a:latin typeface="Arial"/>
                <a:cs typeface="Arial"/>
              </a:rPr>
              <a:t>một  cách tự nhiên để biểu diễn các đối</a:t>
            </a:r>
            <a:r>
              <a:rPr sz="2400" spc="60" dirty="0">
                <a:latin typeface="Arial"/>
                <a:cs typeface="Arial"/>
              </a:rPr>
              <a:t> </a:t>
            </a:r>
            <a:r>
              <a:rPr sz="2400" spc="-5" dirty="0">
                <a:latin typeface="Arial"/>
                <a:cs typeface="Arial"/>
              </a:rPr>
              <a:t>tượng</a:t>
            </a:r>
            <a:endParaRPr sz="2400">
              <a:latin typeface="Arial"/>
              <a:cs typeface="Arial"/>
            </a:endParaRPr>
          </a:p>
          <a:p>
            <a:pPr marL="298450" indent="-285750">
              <a:lnSpc>
                <a:spcPct val="100000"/>
              </a:lnSpc>
              <a:spcBef>
                <a:spcPts val="1800"/>
              </a:spcBef>
              <a:buClr>
                <a:srgbClr val="CC9A00"/>
              </a:buClr>
              <a:buSzPct val="64583"/>
              <a:buFont typeface="Wingdings"/>
              <a:buChar char=""/>
              <a:tabLst>
                <a:tab pos="297815" algn="l"/>
                <a:tab pos="298450" algn="l"/>
              </a:tabLst>
            </a:pPr>
            <a:r>
              <a:rPr sz="2400" spc="-5" dirty="0">
                <a:latin typeface="Arial"/>
                <a:cs typeface="Arial"/>
              </a:rPr>
              <a:t>Các đối tượng </a:t>
            </a:r>
            <a:r>
              <a:rPr sz="2400" dirty="0">
                <a:latin typeface="Arial"/>
                <a:cs typeface="Arial"/>
              </a:rPr>
              <a:t>cụ </a:t>
            </a:r>
            <a:r>
              <a:rPr sz="2400" spc="-5" dirty="0">
                <a:latin typeface="Arial"/>
                <a:cs typeface="Arial"/>
              </a:rPr>
              <a:t>thể (Physical</a:t>
            </a:r>
            <a:r>
              <a:rPr sz="2400" spc="20" dirty="0">
                <a:latin typeface="Arial"/>
                <a:cs typeface="Arial"/>
              </a:rPr>
              <a:t> </a:t>
            </a:r>
            <a:r>
              <a:rPr sz="2400" spc="-5" dirty="0">
                <a:latin typeface="Arial"/>
                <a:cs typeface="Arial"/>
              </a:rPr>
              <a:t>objects)</a:t>
            </a:r>
            <a:endParaRPr sz="2400">
              <a:latin typeface="Arial"/>
              <a:cs typeface="Arial"/>
            </a:endParaRPr>
          </a:p>
          <a:p>
            <a:pPr marL="624840" marR="189865" lvl="1" indent="-285750">
              <a:lnSpc>
                <a:spcPct val="100000"/>
              </a:lnSpc>
              <a:spcBef>
                <a:spcPts val="610"/>
              </a:spcBef>
              <a:buClr>
                <a:srgbClr val="3B822F"/>
              </a:buClr>
              <a:buSzPct val="60000"/>
              <a:buFont typeface="Wingdings"/>
              <a:buChar char=""/>
              <a:tabLst>
                <a:tab pos="624840" algn="l"/>
                <a:tab pos="625475" algn="l"/>
                <a:tab pos="1426845" algn="l"/>
              </a:tabLst>
            </a:pPr>
            <a:r>
              <a:rPr sz="2000" spc="-5" dirty="0">
                <a:latin typeface="Arial"/>
                <a:cs typeface="Arial"/>
              </a:rPr>
              <a:t>Ví</a:t>
            </a:r>
            <a:r>
              <a:rPr sz="2000" spc="-15" dirty="0">
                <a:latin typeface="Arial"/>
                <a:cs typeface="Arial"/>
              </a:rPr>
              <a:t> </a:t>
            </a:r>
            <a:r>
              <a:rPr sz="2000" spc="-5" dirty="0">
                <a:latin typeface="Arial"/>
                <a:cs typeface="Arial"/>
              </a:rPr>
              <a:t>dụ:	Một </a:t>
            </a:r>
            <a:r>
              <a:rPr sz="2000" i="1" spc="-5" dirty="0">
                <a:latin typeface="Arial"/>
                <a:cs typeface="Arial"/>
              </a:rPr>
              <a:t>cái bàn </a:t>
            </a:r>
            <a:r>
              <a:rPr sz="2000" spc="-5" dirty="0">
                <a:latin typeface="Arial"/>
                <a:cs typeface="Arial"/>
              </a:rPr>
              <a:t>có các thuộc tính chất liệu bề mặt, số ngăn  kéo, độ rộng, độ dài, độ cao, màu sắc,</a:t>
            </a:r>
            <a:r>
              <a:rPr sz="2000" spc="-35" dirty="0">
                <a:latin typeface="Arial"/>
                <a:cs typeface="Arial"/>
              </a:rPr>
              <a:t> </a:t>
            </a:r>
            <a:r>
              <a:rPr sz="2000" spc="-5" dirty="0">
                <a:latin typeface="Arial"/>
                <a:cs typeface="Arial"/>
              </a:rPr>
              <a:t>...</a:t>
            </a:r>
            <a:endParaRPr sz="2000">
              <a:latin typeface="Arial"/>
              <a:cs typeface="Arial"/>
            </a:endParaRPr>
          </a:p>
          <a:p>
            <a:pPr marL="298450" indent="-285750">
              <a:lnSpc>
                <a:spcPct val="100000"/>
              </a:lnSpc>
              <a:spcBef>
                <a:spcPts val="1790"/>
              </a:spcBef>
              <a:buClr>
                <a:srgbClr val="CC9A00"/>
              </a:buClr>
              <a:buSzPct val="64583"/>
              <a:buFont typeface="Wingdings"/>
              <a:buChar char=""/>
              <a:tabLst>
                <a:tab pos="297815" algn="l"/>
                <a:tab pos="298450" algn="l"/>
              </a:tabLst>
            </a:pPr>
            <a:r>
              <a:rPr sz="2400" spc="-5" dirty="0">
                <a:latin typeface="Arial"/>
                <a:cs typeface="Arial"/>
              </a:rPr>
              <a:t>Các tình huống</a:t>
            </a:r>
            <a:r>
              <a:rPr sz="2400" spc="5" dirty="0">
                <a:latin typeface="Arial"/>
                <a:cs typeface="Arial"/>
              </a:rPr>
              <a:t> </a:t>
            </a:r>
            <a:r>
              <a:rPr sz="2400" spc="-5" dirty="0">
                <a:latin typeface="Arial"/>
                <a:cs typeface="Arial"/>
              </a:rPr>
              <a:t>(Situations)</a:t>
            </a:r>
            <a:endParaRPr sz="2400">
              <a:latin typeface="Arial"/>
              <a:cs typeface="Arial"/>
            </a:endParaRPr>
          </a:p>
          <a:p>
            <a:pPr marL="624840" marR="281940" lvl="1" indent="-286385">
              <a:lnSpc>
                <a:spcPct val="100000"/>
              </a:lnSpc>
              <a:spcBef>
                <a:spcPts val="610"/>
              </a:spcBef>
              <a:buClr>
                <a:srgbClr val="3B822F"/>
              </a:buClr>
              <a:buSzPct val="60000"/>
              <a:buFont typeface="Wingdings"/>
              <a:buChar char=""/>
              <a:tabLst>
                <a:tab pos="624840" algn="l"/>
                <a:tab pos="625475" algn="l"/>
                <a:tab pos="1426845" algn="l"/>
              </a:tabLst>
            </a:pPr>
            <a:r>
              <a:rPr sz="2000" spc="-5" dirty="0">
                <a:latin typeface="Arial"/>
                <a:cs typeface="Arial"/>
              </a:rPr>
              <a:t>Ví</a:t>
            </a:r>
            <a:r>
              <a:rPr sz="2000" spc="-10" dirty="0">
                <a:latin typeface="Arial"/>
                <a:cs typeface="Arial"/>
              </a:rPr>
              <a:t> </a:t>
            </a:r>
            <a:r>
              <a:rPr sz="2000" spc="-5" dirty="0">
                <a:latin typeface="Arial"/>
                <a:cs typeface="Arial"/>
              </a:rPr>
              <a:t>dụ:	Một </a:t>
            </a:r>
            <a:r>
              <a:rPr sz="2000" i="1" spc="-5" dirty="0">
                <a:latin typeface="Arial"/>
                <a:cs typeface="Arial"/>
              </a:rPr>
              <a:t>lớp học </a:t>
            </a:r>
            <a:r>
              <a:rPr sz="2000" spc="-5" dirty="0">
                <a:latin typeface="Arial"/>
                <a:cs typeface="Arial"/>
              </a:rPr>
              <a:t>có các thuộc tính mã số </a:t>
            </a:r>
            <a:r>
              <a:rPr sz="2000" spc="-10" dirty="0">
                <a:latin typeface="Arial"/>
                <a:cs typeface="Arial"/>
              </a:rPr>
              <a:t>phòng </a:t>
            </a:r>
            <a:r>
              <a:rPr sz="2000" spc="-5" dirty="0">
                <a:latin typeface="Arial"/>
                <a:cs typeface="Arial"/>
              </a:rPr>
              <a:t>học, </a:t>
            </a:r>
            <a:r>
              <a:rPr sz="2000" spc="-10" dirty="0">
                <a:latin typeface="Arial"/>
                <a:cs typeface="Arial"/>
              </a:rPr>
              <a:t>danh  </a:t>
            </a:r>
            <a:r>
              <a:rPr sz="2000" spc="-5" dirty="0">
                <a:latin typeface="Arial"/>
                <a:cs typeface="Arial"/>
              </a:rPr>
              <a:t>sách sinh viên tham </a:t>
            </a:r>
            <a:r>
              <a:rPr sz="2000" dirty="0">
                <a:latin typeface="Arial"/>
                <a:cs typeface="Arial"/>
              </a:rPr>
              <a:t>dự, </a:t>
            </a:r>
            <a:r>
              <a:rPr sz="2000" spc="-5" dirty="0">
                <a:latin typeface="Arial"/>
                <a:cs typeface="Arial"/>
              </a:rPr>
              <a:t>giáo viên, ngày học, thời gian học,</a:t>
            </a:r>
            <a:r>
              <a:rPr sz="2000" spc="-55" dirty="0">
                <a:latin typeface="Arial"/>
                <a:cs typeface="Arial"/>
              </a:rPr>
              <a:t> </a:t>
            </a:r>
            <a:r>
              <a:rPr sz="2000" spc="-5" dirty="0">
                <a:latin typeface="Arial"/>
                <a:cs typeface="Arial"/>
              </a:rPr>
              <a:t>...</a:t>
            </a:r>
            <a:endParaRPr sz="2000">
              <a:latin typeface="Arial"/>
              <a:cs typeface="Arial"/>
            </a:endParaRPr>
          </a:p>
          <a:p>
            <a:pPr marL="624840" marR="80010" lvl="1" indent="-286385">
              <a:lnSpc>
                <a:spcPct val="100000"/>
              </a:lnSpc>
              <a:spcBef>
                <a:spcPts val="600"/>
              </a:spcBef>
              <a:buClr>
                <a:srgbClr val="3B822F"/>
              </a:buClr>
              <a:buSzPct val="60000"/>
              <a:buFont typeface="Wingdings"/>
              <a:buChar char=""/>
              <a:tabLst>
                <a:tab pos="624840" algn="l"/>
                <a:tab pos="625475" algn="l"/>
                <a:tab pos="1426845" algn="l"/>
              </a:tabLst>
            </a:pPr>
            <a:r>
              <a:rPr sz="2000" spc="-5" dirty="0">
                <a:latin typeface="Arial"/>
                <a:cs typeface="Arial"/>
              </a:rPr>
              <a:t>Ví</a:t>
            </a:r>
            <a:r>
              <a:rPr sz="2000" spc="-15" dirty="0">
                <a:latin typeface="Arial"/>
                <a:cs typeface="Arial"/>
              </a:rPr>
              <a:t> </a:t>
            </a:r>
            <a:r>
              <a:rPr sz="2000" spc="-5" dirty="0">
                <a:latin typeface="Arial"/>
                <a:cs typeface="Arial"/>
              </a:rPr>
              <a:t>dụ:	Một </a:t>
            </a:r>
            <a:r>
              <a:rPr sz="2000" i="1" spc="-5" dirty="0">
                <a:latin typeface="Arial"/>
                <a:cs typeface="Arial"/>
              </a:rPr>
              <a:t>chuyến đi nghỉ mát </a:t>
            </a:r>
            <a:r>
              <a:rPr sz="2000" spc="-5" dirty="0">
                <a:latin typeface="Arial"/>
                <a:cs typeface="Arial"/>
              </a:rPr>
              <a:t>có các thuộc tính nơi khởi hành,  nơi đến, phương tiện di chuyển, </a:t>
            </a:r>
            <a:r>
              <a:rPr sz="2000" spc="-10" dirty="0">
                <a:latin typeface="Arial"/>
                <a:cs typeface="Arial"/>
              </a:rPr>
              <a:t>phòng </a:t>
            </a:r>
            <a:r>
              <a:rPr sz="2000" spc="-5" dirty="0">
                <a:latin typeface="Arial"/>
                <a:cs typeface="Arial"/>
              </a:rPr>
              <a:t>nghỉ,</a:t>
            </a:r>
            <a:r>
              <a:rPr sz="2000" spc="10" dirty="0">
                <a:latin typeface="Arial"/>
                <a:cs typeface="Arial"/>
              </a:rPr>
              <a:t> </a:t>
            </a:r>
            <a:r>
              <a:rPr sz="2000" spc="-5" dirty="0">
                <a:latin typeface="Arial"/>
                <a:cs typeface="Arial"/>
              </a:rPr>
              <a:t>…</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B27716F7-D4BD-4D54-8746-C9AB61C36F94}"/>
              </a:ext>
            </a:extLst>
          </p:cNvPr>
          <p:cNvSpPr>
            <a:spLocks noGrp="1"/>
          </p:cNvSpPr>
          <p:nvPr>
            <p:ph type="title"/>
          </p:nvPr>
        </p:nvSpPr>
        <p:spPr/>
        <p:txBody>
          <a:bodyPr/>
          <a:lstStyle/>
          <a:p>
            <a:r>
              <a:rPr lang="vi-VN" b="0" spc="-5">
                <a:latin typeface="Verdana"/>
                <a:cs typeface="Verdana"/>
              </a:rPr>
              <a:t>Biểu diễn hướng đối</a:t>
            </a:r>
            <a:r>
              <a:rPr lang="vi-VN" b="0" spc="-50">
                <a:latin typeface="Verdana"/>
                <a:cs typeface="Verdana"/>
              </a:rPr>
              <a:t> </a:t>
            </a:r>
            <a:r>
              <a:rPr lang="vi-VN" b="0">
                <a:latin typeface="Verdana"/>
                <a:cs typeface="Verdana"/>
              </a:rPr>
              <a:t>tượng</a:t>
            </a:r>
            <a:endParaRPr lang="en-US" b="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24</a:t>
            </a:fld>
            <a:endParaRPr spc="-40" dirty="0"/>
          </a:p>
        </p:txBody>
      </p:sp>
      <p:grpSp>
        <p:nvGrpSpPr>
          <p:cNvPr id="3" name="object 3"/>
          <p:cNvGrpSpPr/>
          <p:nvPr/>
        </p:nvGrpSpPr>
        <p:grpSpPr>
          <a:xfrm>
            <a:off x="457200" y="1436369"/>
            <a:ext cx="9144000" cy="3916679"/>
            <a:chOff x="457200" y="1436369"/>
            <a:chExt cx="9144000" cy="391667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2937510"/>
            </a:xfrm>
            <a:custGeom>
              <a:avLst/>
              <a:gdLst/>
              <a:ahLst/>
              <a:cxnLst/>
              <a:rect l="l" t="t" r="r" b="b"/>
              <a:pathLst>
                <a:path w="9144000" h="2937510">
                  <a:moveTo>
                    <a:pt x="9144000" y="0"/>
                  </a:moveTo>
                  <a:lnTo>
                    <a:pt x="0" y="0"/>
                  </a:lnTo>
                  <a:lnTo>
                    <a:pt x="0" y="979170"/>
                  </a:lnTo>
                  <a:lnTo>
                    <a:pt x="0" y="1958340"/>
                  </a:lnTo>
                  <a:lnTo>
                    <a:pt x="0" y="293751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8013065" cy="4766310"/>
          </a:xfrm>
          <a:prstGeom prst="rect">
            <a:avLst/>
          </a:prstGeom>
        </p:spPr>
        <p:txBody>
          <a:bodyPr vert="horz" wrap="square" lIns="0" tIns="12700" rIns="0" bIns="0" rtlCol="0">
            <a:spAutoFit/>
          </a:bodyPr>
          <a:lstStyle/>
          <a:p>
            <a:pPr marL="298450" marR="1097280" indent="-285750">
              <a:lnSpc>
                <a:spcPct val="100000"/>
              </a:lnSpc>
              <a:spcBef>
                <a:spcPts val="100"/>
              </a:spcBef>
              <a:buClr>
                <a:srgbClr val="CC9A00"/>
              </a:buClr>
              <a:buSzPct val="64583"/>
              <a:buFont typeface="Wingdings"/>
              <a:buChar char=""/>
              <a:tabLst>
                <a:tab pos="297815" algn="l"/>
                <a:tab pos="298450" algn="l"/>
                <a:tab pos="2754630" algn="l"/>
              </a:tabLst>
            </a:pPr>
            <a:r>
              <a:rPr sz="2400" spc="-5" dirty="0">
                <a:latin typeface="Arial"/>
                <a:cs typeface="Arial"/>
              </a:rPr>
              <a:t>Có </a:t>
            </a:r>
            <a:r>
              <a:rPr sz="2400" dirty="0">
                <a:latin typeface="Arial"/>
                <a:cs typeface="Arial"/>
              </a:rPr>
              <a:t>2 </a:t>
            </a:r>
            <a:r>
              <a:rPr sz="2400" spc="-5" dirty="0">
                <a:latin typeface="Arial"/>
                <a:cs typeface="Arial"/>
              </a:rPr>
              <a:t>kiểu</a:t>
            </a:r>
            <a:r>
              <a:rPr sz="2400" spc="15" dirty="0">
                <a:latin typeface="Arial"/>
                <a:cs typeface="Arial"/>
              </a:rPr>
              <a:t> </a:t>
            </a:r>
            <a:r>
              <a:rPr sz="2400" spc="-5" dirty="0">
                <a:latin typeface="Arial"/>
                <a:cs typeface="Arial"/>
              </a:rPr>
              <a:t>khung:	</a:t>
            </a:r>
            <a:r>
              <a:rPr sz="2400" dirty="0">
                <a:latin typeface="Arial"/>
                <a:cs typeface="Arial"/>
              </a:rPr>
              <a:t>cụ </a:t>
            </a:r>
            <a:r>
              <a:rPr sz="2400" spc="-5" dirty="0">
                <a:latin typeface="Arial"/>
                <a:cs typeface="Arial"/>
              </a:rPr>
              <a:t>thể </a:t>
            </a:r>
            <a:r>
              <a:rPr sz="2400" dirty="0">
                <a:latin typeface="Arial"/>
                <a:cs typeface="Arial"/>
              </a:rPr>
              <a:t>(individual) và </a:t>
            </a:r>
            <a:r>
              <a:rPr sz="2400" spc="-5" dirty="0">
                <a:latin typeface="Arial"/>
                <a:cs typeface="Arial"/>
              </a:rPr>
              <a:t>tổng</a:t>
            </a:r>
            <a:r>
              <a:rPr sz="2400" spc="-75" dirty="0">
                <a:latin typeface="Arial"/>
                <a:cs typeface="Arial"/>
              </a:rPr>
              <a:t> </a:t>
            </a:r>
            <a:r>
              <a:rPr sz="2400" spc="-5" dirty="0">
                <a:latin typeface="Arial"/>
                <a:cs typeface="Arial"/>
              </a:rPr>
              <a:t>quát  (generic)</a:t>
            </a:r>
            <a:endParaRPr sz="2400">
              <a:latin typeface="Arial"/>
              <a:cs typeface="Arial"/>
            </a:endParaRPr>
          </a:p>
          <a:p>
            <a:pPr marL="298450" marR="5080" indent="-285750">
              <a:lnSpc>
                <a:spcPct val="100000"/>
              </a:lnSpc>
              <a:spcBef>
                <a:spcPts val="1800"/>
              </a:spcBef>
              <a:buClr>
                <a:srgbClr val="CC9A00"/>
              </a:buClr>
              <a:buSzPct val="64583"/>
              <a:buFont typeface="Wingdings"/>
              <a:buChar char=""/>
              <a:tabLst>
                <a:tab pos="297815" algn="l"/>
                <a:tab pos="298450" algn="l"/>
              </a:tabLst>
            </a:pPr>
            <a:r>
              <a:rPr sz="2400" b="1" spc="-5" dirty="0">
                <a:latin typeface="Arial"/>
                <a:cs typeface="Arial"/>
              </a:rPr>
              <a:t>Khung </a:t>
            </a:r>
            <a:r>
              <a:rPr sz="2400" b="1" dirty="0">
                <a:latin typeface="Arial"/>
                <a:cs typeface="Arial"/>
              </a:rPr>
              <a:t>cụ </a:t>
            </a:r>
            <a:r>
              <a:rPr sz="2400" b="1" spc="-5" dirty="0">
                <a:latin typeface="Arial"/>
                <a:cs typeface="Arial"/>
              </a:rPr>
              <a:t>thể (Individual frames)</a:t>
            </a:r>
            <a:r>
              <a:rPr sz="2400" spc="-5" dirty="0">
                <a:latin typeface="Arial"/>
                <a:cs typeface="Arial"/>
              </a:rPr>
              <a:t>. </a:t>
            </a:r>
            <a:r>
              <a:rPr sz="2400" dirty="0">
                <a:latin typeface="Arial"/>
                <a:cs typeface="Arial"/>
              </a:rPr>
              <a:t>Để </a:t>
            </a:r>
            <a:r>
              <a:rPr sz="2400" spc="-5" dirty="0">
                <a:latin typeface="Arial"/>
                <a:cs typeface="Arial"/>
              </a:rPr>
              <a:t>biểu diễn một đối  tượng </a:t>
            </a:r>
            <a:r>
              <a:rPr sz="2400" dirty="0">
                <a:latin typeface="Arial"/>
                <a:cs typeface="Arial"/>
              </a:rPr>
              <a:t>cụ </a:t>
            </a:r>
            <a:r>
              <a:rPr sz="2400" spc="-5" dirty="0">
                <a:latin typeface="Arial"/>
                <a:cs typeface="Arial"/>
              </a:rPr>
              <a:t>thể, chẳng hạn như một người </a:t>
            </a:r>
            <a:r>
              <a:rPr sz="2400" dirty="0">
                <a:latin typeface="Arial"/>
                <a:cs typeface="Arial"/>
              </a:rPr>
              <a:t>cụ </a:t>
            </a:r>
            <a:r>
              <a:rPr sz="2400" spc="-5" dirty="0">
                <a:latin typeface="Arial"/>
                <a:cs typeface="Arial"/>
              </a:rPr>
              <a:t>thể, một  chuyến đi nghỉ mát cụ thể,</a:t>
            </a:r>
            <a:r>
              <a:rPr sz="2400" spc="20" dirty="0">
                <a:latin typeface="Arial"/>
                <a:cs typeface="Arial"/>
              </a:rPr>
              <a:t> </a:t>
            </a:r>
            <a:r>
              <a:rPr sz="2400" spc="-5" dirty="0">
                <a:latin typeface="Arial"/>
                <a:cs typeface="Arial"/>
              </a:rPr>
              <a:t>...</a:t>
            </a:r>
            <a:endParaRPr sz="2400">
              <a:latin typeface="Arial"/>
              <a:cs typeface="Arial"/>
            </a:endParaRPr>
          </a:p>
          <a:p>
            <a:pPr marL="298450" marR="290195" indent="-285750">
              <a:lnSpc>
                <a:spcPct val="100000"/>
              </a:lnSpc>
              <a:spcBef>
                <a:spcPts val="1800"/>
              </a:spcBef>
              <a:buClr>
                <a:srgbClr val="CC9A00"/>
              </a:buClr>
              <a:buSzPct val="64583"/>
              <a:buFont typeface="Wingdings"/>
              <a:buChar char=""/>
              <a:tabLst>
                <a:tab pos="297815" algn="l"/>
                <a:tab pos="298450" algn="l"/>
              </a:tabLst>
            </a:pPr>
            <a:r>
              <a:rPr sz="2400" b="1" spc="-5" dirty="0">
                <a:latin typeface="Arial"/>
                <a:cs typeface="Arial"/>
              </a:rPr>
              <a:t>Khung tổng quát (Generic frames)</a:t>
            </a:r>
            <a:r>
              <a:rPr sz="2400" spc="-5" dirty="0">
                <a:latin typeface="Arial"/>
                <a:cs typeface="Arial"/>
              </a:rPr>
              <a:t>. </a:t>
            </a:r>
            <a:r>
              <a:rPr sz="2400" dirty="0">
                <a:latin typeface="Arial"/>
                <a:cs typeface="Arial"/>
              </a:rPr>
              <a:t>Để </a:t>
            </a:r>
            <a:r>
              <a:rPr sz="2400" spc="-5" dirty="0">
                <a:latin typeface="Arial"/>
                <a:cs typeface="Arial"/>
              </a:rPr>
              <a:t>biểu diễn một  lớp (loại) các đối tượng, chẳng hạn như các sinh viên,  các chuyến đi nghỉ mát,</a:t>
            </a:r>
            <a:r>
              <a:rPr sz="2400" spc="20" dirty="0">
                <a:latin typeface="Arial"/>
                <a:cs typeface="Arial"/>
              </a:rPr>
              <a:t> </a:t>
            </a:r>
            <a:r>
              <a:rPr sz="2400" spc="-5" dirty="0">
                <a:latin typeface="Arial"/>
                <a:cs typeface="Arial"/>
              </a:rPr>
              <a:t>...</a:t>
            </a:r>
            <a:endParaRPr sz="2400">
              <a:latin typeface="Arial"/>
              <a:cs typeface="Arial"/>
            </a:endParaRPr>
          </a:p>
          <a:p>
            <a:pPr marL="298450" indent="-285750">
              <a:lnSpc>
                <a:spcPct val="100000"/>
              </a:lnSpc>
              <a:spcBef>
                <a:spcPts val="1800"/>
              </a:spcBef>
              <a:buClr>
                <a:srgbClr val="CC9A00"/>
              </a:buClr>
              <a:buSzPct val="64583"/>
              <a:buFont typeface="Wingdings"/>
              <a:buChar char=""/>
              <a:tabLst>
                <a:tab pos="297815" algn="l"/>
                <a:tab pos="298450" algn="l"/>
              </a:tabLst>
            </a:pPr>
            <a:r>
              <a:rPr sz="2400" dirty="0">
                <a:latin typeface="Arial"/>
                <a:cs typeface="Arial"/>
              </a:rPr>
              <a:t>Ví</a:t>
            </a:r>
            <a:r>
              <a:rPr sz="2400" spc="-20" dirty="0">
                <a:latin typeface="Arial"/>
                <a:cs typeface="Arial"/>
              </a:rPr>
              <a:t> </a:t>
            </a:r>
            <a:r>
              <a:rPr sz="2400" spc="-5" dirty="0">
                <a:latin typeface="Arial"/>
                <a:cs typeface="Arial"/>
              </a:rPr>
              <a:t>dụ</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10" dirty="0">
                <a:latin typeface="Arial"/>
                <a:cs typeface="Arial"/>
              </a:rPr>
              <a:t>Khung </a:t>
            </a:r>
            <a:r>
              <a:rPr sz="2000" spc="-5" dirty="0">
                <a:latin typeface="Arial"/>
                <a:cs typeface="Arial"/>
              </a:rPr>
              <a:t>tổng quát:</a:t>
            </a:r>
            <a:r>
              <a:rPr sz="2000" spc="-15" dirty="0">
                <a:latin typeface="Arial"/>
                <a:cs typeface="Arial"/>
              </a:rPr>
              <a:t> </a:t>
            </a:r>
            <a:r>
              <a:rPr sz="2000" spc="-5" dirty="0">
                <a:latin typeface="Arial"/>
                <a:cs typeface="Arial"/>
              </a:rPr>
              <a:t>Europian_City</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10" dirty="0">
                <a:latin typeface="Arial"/>
                <a:cs typeface="Arial"/>
              </a:rPr>
              <a:t>Khung </a:t>
            </a:r>
            <a:r>
              <a:rPr sz="2000" spc="-5" dirty="0">
                <a:latin typeface="Arial"/>
                <a:cs typeface="Arial"/>
              </a:rPr>
              <a:t>cụ thể:</a:t>
            </a:r>
            <a:r>
              <a:rPr sz="2000" spc="-10" dirty="0">
                <a:latin typeface="Arial"/>
                <a:cs typeface="Arial"/>
              </a:rPr>
              <a:t> </a:t>
            </a:r>
            <a:r>
              <a:rPr sz="2000" spc="-5" dirty="0">
                <a:latin typeface="Arial"/>
                <a:cs typeface="Arial"/>
              </a:rPr>
              <a:t>City_Paris</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8611988B-AD7E-401C-8F5A-DC0AA26A0A84}"/>
              </a:ext>
            </a:extLst>
          </p:cNvPr>
          <p:cNvSpPr>
            <a:spLocks noGrp="1"/>
          </p:cNvSpPr>
          <p:nvPr>
            <p:ph type="title"/>
          </p:nvPr>
        </p:nvSpPr>
        <p:spPr/>
        <p:txBody>
          <a:bodyPr/>
          <a:lstStyle/>
          <a:p>
            <a:r>
              <a:rPr lang="en-US" b="0" spc="-5">
                <a:latin typeface="Verdana"/>
                <a:cs typeface="Verdana"/>
              </a:rPr>
              <a:t>Khung (Frame)</a:t>
            </a:r>
            <a:endParaRPr lang="en-US" b="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22" name="object 2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3" name="object 2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25</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853438"/>
            <a:ext cx="7572375" cy="1717039"/>
          </a:xfrm>
          <a:prstGeom prst="rect">
            <a:avLst/>
          </a:prstGeom>
        </p:spPr>
        <p:txBody>
          <a:bodyPr vert="horz" wrap="square" lIns="0" tIns="12700" rIns="0" bIns="0" rtlCol="0">
            <a:spAutoFit/>
          </a:bodyPr>
          <a:lstStyle/>
          <a:p>
            <a:pPr marL="298450" marR="20002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Một khung được biểu diễn bằng một danh sách định  danh các thuộc tính được gọi </a:t>
            </a:r>
            <a:r>
              <a:rPr sz="2400" dirty="0">
                <a:latin typeface="Arial"/>
                <a:cs typeface="Arial"/>
              </a:rPr>
              <a:t>là </a:t>
            </a:r>
            <a:r>
              <a:rPr sz="2400" spc="-5" dirty="0">
                <a:latin typeface="Arial"/>
                <a:cs typeface="Arial"/>
              </a:rPr>
              <a:t>các</a:t>
            </a:r>
            <a:r>
              <a:rPr sz="2400" spc="30" dirty="0">
                <a:latin typeface="Arial"/>
                <a:cs typeface="Arial"/>
              </a:rPr>
              <a:t> </a:t>
            </a:r>
            <a:r>
              <a:rPr sz="2400" b="1" spc="-5" dirty="0">
                <a:latin typeface="Arial"/>
                <a:cs typeface="Arial"/>
              </a:rPr>
              <a:t>slots</a:t>
            </a:r>
            <a:endParaRPr sz="2400">
              <a:latin typeface="Arial"/>
              <a:cs typeface="Arial"/>
            </a:endParaRPr>
          </a:p>
          <a:p>
            <a:pPr marL="298450" marR="5080" indent="-285750">
              <a:lnSpc>
                <a:spcPct val="100000"/>
              </a:lnSpc>
              <a:spcBef>
                <a:spcPts val="1800"/>
              </a:spcBef>
              <a:buClr>
                <a:srgbClr val="CC9A00"/>
              </a:buClr>
              <a:buSzPct val="64583"/>
              <a:buFont typeface="Wingdings"/>
              <a:buChar char=""/>
              <a:tabLst>
                <a:tab pos="297815" algn="l"/>
                <a:tab pos="298450" algn="l"/>
              </a:tabLst>
            </a:pPr>
            <a:r>
              <a:rPr sz="2400" dirty="0">
                <a:latin typeface="Arial"/>
                <a:cs typeface="Arial"/>
              </a:rPr>
              <a:t>Giá </a:t>
            </a:r>
            <a:r>
              <a:rPr sz="2400" spc="-5" dirty="0">
                <a:latin typeface="Arial"/>
                <a:cs typeface="Arial"/>
              </a:rPr>
              <a:t>trị gán cho một thuộc tính được gọi </a:t>
            </a:r>
            <a:r>
              <a:rPr sz="2400" dirty="0">
                <a:latin typeface="Arial"/>
                <a:cs typeface="Arial"/>
              </a:rPr>
              <a:t>là </a:t>
            </a:r>
            <a:r>
              <a:rPr sz="2400" b="1" spc="-5" dirty="0">
                <a:latin typeface="Arial"/>
                <a:cs typeface="Arial"/>
              </a:rPr>
              <a:t>filler of the  slot</a:t>
            </a:r>
            <a:endParaRPr sz="2400">
              <a:latin typeface="Arial"/>
              <a:cs typeface="Arial"/>
            </a:endParaRPr>
          </a:p>
        </p:txBody>
      </p:sp>
      <p:sp>
        <p:nvSpPr>
          <p:cNvPr id="8" name="object 8"/>
          <p:cNvSpPr txBox="1"/>
          <p:nvPr/>
        </p:nvSpPr>
        <p:spPr>
          <a:xfrm>
            <a:off x="2430272" y="3926078"/>
            <a:ext cx="1769110"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a:cs typeface="Arial"/>
              </a:rPr>
              <a:t>(</a:t>
            </a:r>
            <a:r>
              <a:rPr sz="2400" i="1" spc="-5" dirty="0">
                <a:latin typeface="Arial"/>
                <a:cs typeface="Arial"/>
              </a:rPr>
              <a:t>frame-name</a:t>
            </a:r>
            <a:endParaRPr sz="2400">
              <a:latin typeface="Arial"/>
              <a:cs typeface="Arial"/>
            </a:endParaRPr>
          </a:p>
        </p:txBody>
      </p:sp>
      <p:sp>
        <p:nvSpPr>
          <p:cNvPr id="9" name="object 9"/>
          <p:cNvSpPr txBox="1"/>
          <p:nvPr/>
        </p:nvSpPr>
        <p:spPr>
          <a:xfrm>
            <a:off x="6936740" y="3989323"/>
            <a:ext cx="15373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Tên </a:t>
            </a:r>
            <a:r>
              <a:rPr sz="1800" spc="-5" dirty="0">
                <a:latin typeface="Arial"/>
                <a:cs typeface="Arial"/>
              </a:rPr>
              <a:t>của</a:t>
            </a:r>
            <a:r>
              <a:rPr sz="1800" spc="-100" dirty="0">
                <a:latin typeface="Arial"/>
                <a:cs typeface="Arial"/>
              </a:rPr>
              <a:t> </a:t>
            </a:r>
            <a:r>
              <a:rPr sz="1800" dirty="0">
                <a:latin typeface="Arial"/>
                <a:cs typeface="Arial"/>
              </a:rPr>
              <a:t>khung</a:t>
            </a:r>
            <a:endParaRPr sz="1800">
              <a:latin typeface="Arial"/>
              <a:cs typeface="Arial"/>
            </a:endParaRPr>
          </a:p>
        </p:txBody>
      </p:sp>
      <p:sp>
        <p:nvSpPr>
          <p:cNvPr id="10" name="object 10"/>
          <p:cNvSpPr/>
          <p:nvPr/>
        </p:nvSpPr>
        <p:spPr>
          <a:xfrm>
            <a:off x="4572000" y="4153661"/>
            <a:ext cx="2286000" cy="76200"/>
          </a:xfrm>
          <a:custGeom>
            <a:avLst/>
            <a:gdLst/>
            <a:ahLst/>
            <a:cxnLst/>
            <a:rect l="l" t="t" r="r" b="b"/>
            <a:pathLst>
              <a:path w="2286000" h="76200">
                <a:moveTo>
                  <a:pt x="127253" y="29727"/>
                </a:moveTo>
                <a:lnTo>
                  <a:pt x="127253" y="0"/>
                </a:lnTo>
                <a:lnTo>
                  <a:pt x="0" y="37337"/>
                </a:lnTo>
                <a:lnTo>
                  <a:pt x="114300" y="72243"/>
                </a:lnTo>
                <a:lnTo>
                  <a:pt x="114300" y="29717"/>
                </a:lnTo>
                <a:lnTo>
                  <a:pt x="127253" y="29727"/>
                </a:lnTo>
                <a:close/>
              </a:path>
              <a:path w="2286000" h="76200">
                <a:moveTo>
                  <a:pt x="2286000" y="47243"/>
                </a:moveTo>
                <a:lnTo>
                  <a:pt x="2286000" y="31241"/>
                </a:lnTo>
                <a:lnTo>
                  <a:pt x="114300" y="29717"/>
                </a:lnTo>
                <a:lnTo>
                  <a:pt x="114300" y="45720"/>
                </a:lnTo>
                <a:lnTo>
                  <a:pt x="2286000" y="47243"/>
                </a:lnTo>
                <a:close/>
              </a:path>
              <a:path w="2286000" h="76200">
                <a:moveTo>
                  <a:pt x="127253" y="76200"/>
                </a:moveTo>
                <a:lnTo>
                  <a:pt x="127253" y="45729"/>
                </a:lnTo>
                <a:lnTo>
                  <a:pt x="114300" y="45720"/>
                </a:lnTo>
                <a:lnTo>
                  <a:pt x="114300" y="72243"/>
                </a:lnTo>
                <a:lnTo>
                  <a:pt x="127253" y="76200"/>
                </a:lnTo>
                <a:close/>
              </a:path>
            </a:pathLst>
          </a:custGeom>
          <a:solidFill>
            <a:srgbClr val="0D0D0D"/>
          </a:solidFill>
        </p:spPr>
        <p:txBody>
          <a:bodyPr wrap="square" lIns="0" tIns="0" rIns="0" bIns="0" rtlCol="0"/>
          <a:lstStyle/>
          <a:p>
            <a:endParaRPr/>
          </a:p>
        </p:txBody>
      </p:sp>
      <p:sp>
        <p:nvSpPr>
          <p:cNvPr id="11" name="object 11"/>
          <p:cNvSpPr txBox="1"/>
          <p:nvPr/>
        </p:nvSpPr>
        <p:spPr>
          <a:xfrm>
            <a:off x="4369890" y="4291838"/>
            <a:ext cx="930910" cy="903605"/>
          </a:xfrm>
          <a:prstGeom prst="rect">
            <a:avLst/>
          </a:prstGeom>
        </p:spPr>
        <p:txBody>
          <a:bodyPr vert="horz" wrap="square" lIns="0" tIns="12700" rIns="0" bIns="0" rtlCol="0">
            <a:spAutoFit/>
          </a:bodyPr>
          <a:lstStyle/>
          <a:p>
            <a:pPr marL="12700" marR="5080">
              <a:lnSpc>
                <a:spcPct val="120000"/>
              </a:lnSpc>
              <a:spcBef>
                <a:spcPts val="100"/>
              </a:spcBef>
            </a:pPr>
            <a:r>
              <a:rPr sz="2400" i="1" spc="-5" dirty="0">
                <a:latin typeface="Arial"/>
                <a:cs typeface="Arial"/>
              </a:rPr>
              <a:t>filler</a:t>
            </a:r>
            <a:r>
              <a:rPr sz="2400" i="1" spc="-10" dirty="0">
                <a:latin typeface="Arial"/>
                <a:cs typeface="Arial"/>
              </a:rPr>
              <a:t>1</a:t>
            </a:r>
            <a:r>
              <a:rPr sz="2400" dirty="0">
                <a:latin typeface="Arial"/>
                <a:cs typeface="Arial"/>
              </a:rPr>
              <a:t>&gt;  </a:t>
            </a:r>
            <a:r>
              <a:rPr sz="2400" i="1" spc="-5" dirty="0">
                <a:latin typeface="Arial"/>
                <a:cs typeface="Arial"/>
              </a:rPr>
              <a:t>filler2</a:t>
            </a:r>
            <a:r>
              <a:rPr sz="2400" dirty="0">
                <a:latin typeface="Arial"/>
                <a:cs typeface="Arial"/>
              </a:rPr>
              <a:t>&gt;</a:t>
            </a:r>
            <a:endParaRPr sz="2400">
              <a:latin typeface="Arial"/>
              <a:cs typeface="Arial"/>
            </a:endParaRPr>
          </a:p>
        </p:txBody>
      </p:sp>
      <p:sp>
        <p:nvSpPr>
          <p:cNvPr id="12" name="object 12"/>
          <p:cNvSpPr/>
          <p:nvPr/>
        </p:nvSpPr>
        <p:spPr>
          <a:xfrm>
            <a:off x="4876800" y="4800600"/>
            <a:ext cx="1122680" cy="552450"/>
          </a:xfrm>
          <a:custGeom>
            <a:avLst/>
            <a:gdLst/>
            <a:ahLst/>
            <a:cxnLst/>
            <a:rect l="l" t="t" r="r" b="b"/>
            <a:pathLst>
              <a:path w="1122679" h="552450">
                <a:moveTo>
                  <a:pt x="628027" y="552450"/>
                </a:moveTo>
                <a:lnTo>
                  <a:pt x="124358" y="408698"/>
                </a:lnTo>
                <a:lnTo>
                  <a:pt x="132588" y="379476"/>
                </a:lnTo>
                <a:lnTo>
                  <a:pt x="0" y="381000"/>
                </a:lnTo>
                <a:lnTo>
                  <a:pt x="108204" y="450202"/>
                </a:lnTo>
                <a:lnTo>
                  <a:pt x="112014" y="452628"/>
                </a:lnTo>
                <a:lnTo>
                  <a:pt x="120053" y="424014"/>
                </a:lnTo>
                <a:lnTo>
                  <a:pt x="570293" y="552450"/>
                </a:lnTo>
                <a:lnTo>
                  <a:pt x="628027" y="552450"/>
                </a:lnTo>
                <a:close/>
              </a:path>
              <a:path w="1122679" h="552450">
                <a:moveTo>
                  <a:pt x="1122426" y="552450"/>
                </a:moveTo>
                <a:lnTo>
                  <a:pt x="266598" y="57619"/>
                </a:lnTo>
                <a:lnTo>
                  <a:pt x="281940" y="31242"/>
                </a:lnTo>
                <a:lnTo>
                  <a:pt x="152400" y="0"/>
                </a:lnTo>
                <a:lnTo>
                  <a:pt x="243840" y="96774"/>
                </a:lnTo>
                <a:lnTo>
                  <a:pt x="247650" y="90220"/>
                </a:lnTo>
                <a:lnTo>
                  <a:pt x="258711" y="71183"/>
                </a:lnTo>
                <a:lnTo>
                  <a:pt x="1090599" y="552450"/>
                </a:lnTo>
                <a:lnTo>
                  <a:pt x="1122426" y="552450"/>
                </a:lnTo>
                <a:close/>
              </a:path>
            </a:pathLst>
          </a:custGeom>
          <a:solidFill>
            <a:srgbClr val="0D0D0D"/>
          </a:solidFill>
        </p:spPr>
        <p:txBody>
          <a:bodyPr wrap="square" lIns="0" tIns="0" rIns="0" bIns="0" rtlCol="0"/>
          <a:lstStyle/>
          <a:p>
            <a:endParaRPr/>
          </a:p>
        </p:txBody>
      </p:sp>
      <p:grpSp>
        <p:nvGrpSpPr>
          <p:cNvPr id="13" name="object 13"/>
          <p:cNvGrpSpPr/>
          <p:nvPr/>
        </p:nvGrpSpPr>
        <p:grpSpPr>
          <a:xfrm>
            <a:off x="3657600" y="4800600"/>
            <a:ext cx="612140" cy="552450"/>
            <a:chOff x="3657600" y="4800600"/>
            <a:chExt cx="612140" cy="552450"/>
          </a:xfrm>
        </p:grpSpPr>
        <p:sp>
          <p:nvSpPr>
            <p:cNvPr id="14" name="object 14"/>
            <p:cNvSpPr/>
            <p:nvPr/>
          </p:nvSpPr>
          <p:spPr>
            <a:xfrm>
              <a:off x="3810000" y="4800600"/>
              <a:ext cx="459740" cy="552450"/>
            </a:xfrm>
            <a:custGeom>
              <a:avLst/>
              <a:gdLst/>
              <a:ahLst/>
              <a:cxnLst/>
              <a:rect l="l" t="t" r="r" b="b"/>
              <a:pathLst>
                <a:path w="459739" h="552450">
                  <a:moveTo>
                    <a:pt x="109727" y="74675"/>
                  </a:moveTo>
                  <a:lnTo>
                    <a:pt x="0" y="0"/>
                  </a:lnTo>
                  <a:lnTo>
                    <a:pt x="51053" y="122682"/>
                  </a:lnTo>
                  <a:lnTo>
                    <a:pt x="66294" y="110212"/>
                  </a:lnTo>
                  <a:lnTo>
                    <a:pt x="66294" y="93725"/>
                  </a:lnTo>
                  <a:lnTo>
                    <a:pt x="78486" y="83820"/>
                  </a:lnTo>
                  <a:lnTo>
                    <a:pt x="86499" y="93680"/>
                  </a:lnTo>
                  <a:lnTo>
                    <a:pt x="109727" y="74675"/>
                  </a:lnTo>
                  <a:close/>
                </a:path>
                <a:path w="459739" h="552450">
                  <a:moveTo>
                    <a:pt x="86499" y="93680"/>
                  </a:moveTo>
                  <a:lnTo>
                    <a:pt x="78486" y="83820"/>
                  </a:lnTo>
                  <a:lnTo>
                    <a:pt x="66294" y="93725"/>
                  </a:lnTo>
                  <a:lnTo>
                    <a:pt x="74337" y="103631"/>
                  </a:lnTo>
                  <a:lnTo>
                    <a:pt x="86499" y="93680"/>
                  </a:lnTo>
                  <a:close/>
                </a:path>
                <a:path w="459739" h="552450">
                  <a:moveTo>
                    <a:pt x="74337" y="103631"/>
                  </a:moveTo>
                  <a:lnTo>
                    <a:pt x="66294" y="93725"/>
                  </a:lnTo>
                  <a:lnTo>
                    <a:pt x="66294" y="110212"/>
                  </a:lnTo>
                  <a:lnTo>
                    <a:pt x="74337" y="103631"/>
                  </a:lnTo>
                  <a:close/>
                </a:path>
                <a:path w="459739" h="552450">
                  <a:moveTo>
                    <a:pt x="459326" y="552450"/>
                  </a:moveTo>
                  <a:lnTo>
                    <a:pt x="86499" y="93680"/>
                  </a:lnTo>
                  <a:lnTo>
                    <a:pt x="74337" y="103631"/>
                  </a:lnTo>
                  <a:lnTo>
                    <a:pt x="438775" y="552450"/>
                  </a:lnTo>
                  <a:lnTo>
                    <a:pt x="459326" y="552450"/>
                  </a:lnTo>
                  <a:close/>
                </a:path>
              </a:pathLst>
            </a:custGeom>
            <a:solidFill>
              <a:srgbClr val="0D0D0D"/>
            </a:solidFill>
          </p:spPr>
          <p:txBody>
            <a:bodyPr wrap="square" lIns="0" tIns="0" rIns="0" bIns="0" rtlCol="0"/>
            <a:lstStyle/>
            <a:p>
              <a:endParaRPr/>
            </a:p>
          </p:txBody>
        </p:sp>
        <p:sp>
          <p:nvSpPr>
            <p:cNvPr id="15" name="object 15"/>
            <p:cNvSpPr/>
            <p:nvPr/>
          </p:nvSpPr>
          <p:spPr>
            <a:xfrm>
              <a:off x="3657600" y="5181600"/>
              <a:ext cx="247204" cy="171450"/>
            </a:xfrm>
            <a:prstGeom prst="rect">
              <a:avLst/>
            </a:prstGeom>
            <a:blipFill>
              <a:blip r:embed="rId2" cstate="print"/>
              <a:stretch>
                <a:fillRect/>
              </a:stretch>
            </a:blipFill>
          </p:spPr>
          <p:txBody>
            <a:bodyPr wrap="square" lIns="0" tIns="0" rIns="0" bIns="0" rtlCol="0"/>
            <a:lstStyle/>
            <a:p>
              <a:endParaRPr/>
            </a:p>
          </p:txBody>
        </p:sp>
      </p:grpSp>
      <p:sp>
        <p:nvSpPr>
          <p:cNvPr id="16" name="object 16"/>
          <p:cNvSpPr txBox="1"/>
          <p:nvPr/>
        </p:nvSpPr>
        <p:spPr>
          <a:xfrm>
            <a:off x="2430272" y="4291838"/>
            <a:ext cx="1710055" cy="1342390"/>
          </a:xfrm>
          <a:prstGeom prst="rect">
            <a:avLst/>
          </a:prstGeom>
        </p:spPr>
        <p:txBody>
          <a:bodyPr vert="horz" wrap="square" lIns="0" tIns="85725" rIns="0" bIns="0" rtlCol="0">
            <a:spAutoFit/>
          </a:bodyPr>
          <a:lstStyle/>
          <a:p>
            <a:pPr marL="12700">
              <a:lnSpc>
                <a:spcPct val="100000"/>
              </a:lnSpc>
              <a:spcBef>
                <a:spcPts val="675"/>
              </a:spcBef>
            </a:pPr>
            <a:r>
              <a:rPr sz="2400" dirty="0">
                <a:latin typeface="Arial"/>
                <a:cs typeface="Arial"/>
              </a:rPr>
              <a:t>&lt;</a:t>
            </a:r>
            <a:r>
              <a:rPr sz="2400" i="1" spc="-5" dirty="0">
                <a:latin typeface="Arial"/>
                <a:cs typeface="Arial"/>
              </a:rPr>
              <a:t>slot-name1</a:t>
            </a:r>
            <a:endParaRPr sz="2400">
              <a:latin typeface="Arial"/>
              <a:cs typeface="Arial"/>
            </a:endParaRPr>
          </a:p>
          <a:p>
            <a:pPr marL="12700">
              <a:lnSpc>
                <a:spcPct val="100000"/>
              </a:lnSpc>
              <a:spcBef>
                <a:spcPts val="575"/>
              </a:spcBef>
            </a:pPr>
            <a:r>
              <a:rPr sz="2400" dirty="0">
                <a:latin typeface="Arial"/>
                <a:cs typeface="Arial"/>
              </a:rPr>
              <a:t>&lt;</a:t>
            </a:r>
            <a:r>
              <a:rPr sz="2400" i="1" spc="-5" dirty="0">
                <a:latin typeface="Arial"/>
                <a:cs typeface="Arial"/>
              </a:rPr>
              <a:t>slot-name2</a:t>
            </a:r>
            <a:endParaRPr sz="2400">
              <a:latin typeface="Arial"/>
              <a:cs typeface="Arial"/>
            </a:endParaRPr>
          </a:p>
          <a:p>
            <a:pPr marL="12700">
              <a:lnSpc>
                <a:spcPct val="100000"/>
              </a:lnSpc>
              <a:spcBef>
                <a:spcPts val="575"/>
              </a:spcBef>
            </a:pPr>
            <a:r>
              <a:rPr sz="2400" dirty="0">
                <a:latin typeface="Arial"/>
                <a:cs typeface="Arial"/>
              </a:rPr>
              <a:t>…)</a:t>
            </a:r>
            <a:endParaRPr sz="2400">
              <a:latin typeface="Arial"/>
              <a:cs typeface="Arial"/>
            </a:endParaRPr>
          </a:p>
        </p:txBody>
      </p:sp>
      <p:sp>
        <p:nvSpPr>
          <p:cNvPr id="17" name="object 17"/>
          <p:cNvSpPr txBox="1"/>
          <p:nvPr/>
        </p:nvSpPr>
        <p:spPr>
          <a:xfrm>
            <a:off x="4574540" y="5971285"/>
            <a:ext cx="53403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Slots</a:t>
            </a:r>
            <a:endParaRPr sz="1800">
              <a:latin typeface="Arial"/>
              <a:cs typeface="Arial"/>
            </a:endParaRPr>
          </a:p>
        </p:txBody>
      </p:sp>
      <p:sp>
        <p:nvSpPr>
          <p:cNvPr id="18" name="object 18"/>
          <p:cNvSpPr txBox="1"/>
          <p:nvPr/>
        </p:nvSpPr>
        <p:spPr>
          <a:xfrm>
            <a:off x="6479532" y="5590278"/>
            <a:ext cx="56007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Arial"/>
                <a:cs typeface="Arial"/>
              </a:rPr>
              <a:t>fillers</a:t>
            </a:r>
            <a:endParaRPr sz="1800">
              <a:latin typeface="Arial"/>
              <a:cs typeface="Arial"/>
            </a:endParaRPr>
          </a:p>
        </p:txBody>
      </p:sp>
      <p:sp>
        <p:nvSpPr>
          <p:cNvPr id="19" name="object 19"/>
          <p:cNvSpPr/>
          <p:nvPr/>
        </p:nvSpPr>
        <p:spPr>
          <a:xfrm>
            <a:off x="5447093" y="5353050"/>
            <a:ext cx="1035050" cy="293370"/>
          </a:xfrm>
          <a:custGeom>
            <a:avLst/>
            <a:gdLst/>
            <a:ahLst/>
            <a:cxnLst/>
            <a:rect l="l" t="t" r="r" b="b"/>
            <a:pathLst>
              <a:path w="1035050" h="293370">
                <a:moveTo>
                  <a:pt x="1034478" y="278892"/>
                </a:moveTo>
                <a:lnTo>
                  <a:pt x="552132" y="0"/>
                </a:lnTo>
                <a:lnTo>
                  <a:pt x="520306" y="0"/>
                </a:lnTo>
                <a:lnTo>
                  <a:pt x="970762" y="260604"/>
                </a:lnTo>
                <a:lnTo>
                  <a:pt x="57734" y="0"/>
                </a:lnTo>
                <a:lnTo>
                  <a:pt x="0" y="0"/>
                </a:lnTo>
                <a:lnTo>
                  <a:pt x="1028382" y="293370"/>
                </a:lnTo>
                <a:lnTo>
                  <a:pt x="1030287" y="285750"/>
                </a:lnTo>
                <a:lnTo>
                  <a:pt x="1034478" y="278892"/>
                </a:lnTo>
                <a:close/>
              </a:path>
            </a:pathLst>
          </a:custGeom>
          <a:solidFill>
            <a:srgbClr val="0D0D0D"/>
          </a:solidFill>
        </p:spPr>
        <p:txBody>
          <a:bodyPr wrap="square" lIns="0" tIns="0" rIns="0" bIns="0" rtlCol="0"/>
          <a:lstStyle/>
          <a:p>
            <a:endParaRPr/>
          </a:p>
        </p:txBody>
      </p:sp>
      <p:sp>
        <p:nvSpPr>
          <p:cNvPr id="20" name="object 20"/>
          <p:cNvSpPr/>
          <p:nvPr/>
        </p:nvSpPr>
        <p:spPr>
          <a:xfrm>
            <a:off x="3877221" y="5353050"/>
            <a:ext cx="930275" cy="673735"/>
          </a:xfrm>
          <a:custGeom>
            <a:avLst/>
            <a:gdLst/>
            <a:ahLst/>
            <a:cxnLst/>
            <a:rect l="l" t="t" r="r" b="b"/>
            <a:pathLst>
              <a:path w="930275" h="673735">
                <a:moveTo>
                  <a:pt x="930236" y="662178"/>
                </a:moveTo>
                <a:lnTo>
                  <a:pt x="392099" y="0"/>
                </a:lnTo>
                <a:lnTo>
                  <a:pt x="371551" y="0"/>
                </a:lnTo>
                <a:lnTo>
                  <a:pt x="877531" y="623138"/>
                </a:lnTo>
                <a:lnTo>
                  <a:pt x="27571" y="0"/>
                </a:lnTo>
                <a:lnTo>
                  <a:pt x="0" y="0"/>
                </a:lnTo>
                <a:lnTo>
                  <a:pt x="918806" y="673608"/>
                </a:lnTo>
                <a:lnTo>
                  <a:pt x="923759" y="667131"/>
                </a:lnTo>
                <a:lnTo>
                  <a:pt x="930236" y="662178"/>
                </a:lnTo>
                <a:close/>
              </a:path>
            </a:pathLst>
          </a:custGeom>
          <a:solidFill>
            <a:srgbClr val="0D0D0D"/>
          </a:solidFill>
        </p:spPr>
        <p:txBody>
          <a:bodyPr wrap="square" lIns="0" tIns="0" rIns="0" bIns="0" rtlCol="0"/>
          <a:lstStyle/>
          <a:p>
            <a:endParaRPr/>
          </a:p>
        </p:txBody>
      </p:sp>
      <p:sp>
        <p:nvSpPr>
          <p:cNvPr id="21" name="object 2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5" name="Title 24">
            <a:extLst>
              <a:ext uri="{FF2B5EF4-FFF2-40B4-BE49-F238E27FC236}">
                <a16:creationId xmlns:a16="http://schemas.microsoft.com/office/drawing/2014/main" id="{725FD0B3-E9FA-4815-82C5-9771547FCDF6}"/>
              </a:ext>
            </a:extLst>
          </p:cNvPr>
          <p:cNvSpPr>
            <a:spLocks noGrp="1"/>
          </p:cNvSpPr>
          <p:nvPr>
            <p:ph type="title"/>
          </p:nvPr>
        </p:nvSpPr>
        <p:spPr/>
        <p:txBody>
          <a:bodyPr/>
          <a:lstStyle/>
          <a:p>
            <a:r>
              <a:rPr lang="en-US" b="0" spc="-5">
                <a:latin typeface="Verdana"/>
                <a:cs typeface="Verdana"/>
              </a:rPr>
              <a:t>Biểu diễn của một</a:t>
            </a:r>
            <a:r>
              <a:rPr lang="en-US" b="0" spc="-30">
                <a:latin typeface="Verdana"/>
                <a:cs typeface="Verdana"/>
              </a:rPr>
              <a:t> </a:t>
            </a:r>
            <a:r>
              <a:rPr lang="en-US" b="0" spc="-5">
                <a:latin typeface="Verdana"/>
                <a:cs typeface="Verdana"/>
              </a:rPr>
              <a:t>khung</a:t>
            </a:r>
            <a:endParaRPr lang="en-US" b="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26</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77238"/>
            <a:ext cx="7780020" cy="4080510"/>
          </a:xfrm>
          <a:prstGeom prst="rect">
            <a:avLst/>
          </a:prstGeom>
        </p:spPr>
        <p:txBody>
          <a:bodyPr vert="horz" wrap="square" lIns="0" tIns="12700" rIns="0" bIns="0" rtlCol="0">
            <a:spAutoFit/>
          </a:bodyPr>
          <a:lstStyle/>
          <a:p>
            <a:pPr marL="297815" marR="50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Một khung đơn </a:t>
            </a:r>
            <a:r>
              <a:rPr sz="2400" dirty="0">
                <a:latin typeface="Arial"/>
                <a:cs typeface="Arial"/>
              </a:rPr>
              <a:t>(individual frame) có </a:t>
            </a:r>
            <a:r>
              <a:rPr sz="2400" spc="-10" dirty="0">
                <a:latin typeface="Arial"/>
                <a:cs typeface="Arial"/>
              </a:rPr>
              <a:t>một </a:t>
            </a:r>
            <a:r>
              <a:rPr sz="2400" spc="-5" dirty="0">
                <a:latin typeface="Arial"/>
                <a:cs typeface="Arial"/>
              </a:rPr>
              <a:t>thuộc tính đặc  biệt </a:t>
            </a:r>
            <a:r>
              <a:rPr sz="2400" dirty="0">
                <a:latin typeface="Arial"/>
                <a:cs typeface="Arial"/>
              </a:rPr>
              <a:t>có </a:t>
            </a:r>
            <a:r>
              <a:rPr sz="2400" spc="-5" dirty="0">
                <a:latin typeface="Arial"/>
                <a:cs typeface="Arial"/>
              </a:rPr>
              <a:t>tên </a:t>
            </a:r>
            <a:r>
              <a:rPr sz="2400" dirty="0">
                <a:latin typeface="Arial"/>
                <a:cs typeface="Arial"/>
              </a:rPr>
              <a:t>là </a:t>
            </a:r>
            <a:r>
              <a:rPr sz="2400" b="1" spc="-5" dirty="0">
                <a:latin typeface="Arial"/>
                <a:cs typeface="Arial"/>
              </a:rPr>
              <a:t>INSTANCE-OF</a:t>
            </a:r>
            <a:r>
              <a:rPr sz="2400" spc="-5" dirty="0">
                <a:latin typeface="Arial"/>
                <a:cs typeface="Arial"/>
              </a:rPr>
              <a:t>, và giá trị của thuộc tính  đặc biệt này là </a:t>
            </a:r>
            <a:r>
              <a:rPr sz="2400" dirty="0">
                <a:latin typeface="Arial"/>
                <a:cs typeface="Arial"/>
              </a:rPr>
              <a:t>tên </a:t>
            </a:r>
            <a:r>
              <a:rPr sz="2400" spc="-5" dirty="0">
                <a:latin typeface="Arial"/>
                <a:cs typeface="Arial"/>
              </a:rPr>
              <a:t>của một khung tổng quát (generic  frame)</a:t>
            </a:r>
            <a:endParaRPr sz="2400">
              <a:latin typeface="Arial"/>
              <a:cs typeface="Arial"/>
            </a:endParaRPr>
          </a:p>
          <a:p>
            <a:pPr marL="298450" indent="-285750">
              <a:lnSpc>
                <a:spcPct val="100000"/>
              </a:lnSpc>
              <a:spcBef>
                <a:spcPts val="2400"/>
              </a:spcBef>
              <a:buClr>
                <a:srgbClr val="CC9A00"/>
              </a:buClr>
              <a:buSzPct val="64583"/>
              <a:buFont typeface="Wingdings"/>
              <a:buChar char=""/>
              <a:tabLst>
                <a:tab pos="297815" algn="l"/>
                <a:tab pos="298450" algn="l"/>
              </a:tabLst>
            </a:pPr>
            <a:r>
              <a:rPr sz="2400" dirty="0">
                <a:latin typeface="Arial"/>
                <a:cs typeface="Arial"/>
              </a:rPr>
              <a:t>Ví</a:t>
            </a:r>
            <a:r>
              <a:rPr sz="2400" spc="-20" dirty="0">
                <a:latin typeface="Arial"/>
                <a:cs typeface="Arial"/>
              </a:rPr>
              <a:t> </a:t>
            </a:r>
            <a:r>
              <a:rPr sz="2400" spc="-5" dirty="0">
                <a:latin typeface="Arial"/>
                <a:cs typeface="Arial"/>
              </a:rPr>
              <a:t>dụ</a:t>
            </a:r>
            <a:endParaRPr sz="2400">
              <a:latin typeface="Arial"/>
              <a:cs typeface="Arial"/>
            </a:endParaRPr>
          </a:p>
          <a:p>
            <a:pPr marL="1089025">
              <a:lnSpc>
                <a:spcPct val="100000"/>
              </a:lnSpc>
              <a:spcBef>
                <a:spcPts val="1210"/>
              </a:spcBef>
              <a:tabLst>
                <a:tab pos="2754630" algn="l"/>
              </a:tabLst>
            </a:pPr>
            <a:r>
              <a:rPr sz="2000" spc="-5" dirty="0">
                <a:latin typeface="Arial"/>
                <a:cs typeface="Arial"/>
              </a:rPr>
              <a:t>(toronto	% </a:t>
            </a:r>
            <a:r>
              <a:rPr sz="2000" dirty="0">
                <a:latin typeface="Arial"/>
                <a:cs typeface="Arial"/>
              </a:rPr>
              <a:t>sử </a:t>
            </a:r>
            <a:r>
              <a:rPr sz="2000" spc="-5" dirty="0">
                <a:latin typeface="Arial"/>
                <a:cs typeface="Arial"/>
              </a:rPr>
              <a:t>dụng chữ thường cho các khung</a:t>
            </a:r>
            <a:r>
              <a:rPr sz="2000" spc="-45" dirty="0">
                <a:latin typeface="Arial"/>
                <a:cs typeface="Arial"/>
              </a:rPr>
              <a:t> </a:t>
            </a:r>
            <a:r>
              <a:rPr sz="2000" spc="-5" dirty="0">
                <a:latin typeface="Arial"/>
                <a:cs typeface="Arial"/>
              </a:rPr>
              <a:t>đơn</a:t>
            </a:r>
            <a:endParaRPr sz="2000">
              <a:latin typeface="Arial"/>
              <a:cs typeface="Arial"/>
            </a:endParaRPr>
          </a:p>
          <a:p>
            <a:pPr marL="1089025">
              <a:lnSpc>
                <a:spcPct val="100000"/>
              </a:lnSpc>
              <a:spcBef>
                <a:spcPts val="480"/>
              </a:spcBef>
            </a:pPr>
            <a:r>
              <a:rPr sz="2000" spc="-5" dirty="0">
                <a:latin typeface="Arial"/>
                <a:cs typeface="Arial"/>
              </a:rPr>
              <a:t>&lt;:</a:t>
            </a:r>
            <a:r>
              <a:rPr sz="2000" b="1" spc="-5" dirty="0">
                <a:latin typeface="Arial"/>
                <a:cs typeface="Arial"/>
              </a:rPr>
              <a:t>INSTANCE-OF</a:t>
            </a:r>
            <a:r>
              <a:rPr sz="2000" b="1" dirty="0">
                <a:latin typeface="Arial"/>
                <a:cs typeface="Arial"/>
              </a:rPr>
              <a:t> </a:t>
            </a:r>
            <a:r>
              <a:rPr sz="2000" spc="-5" dirty="0">
                <a:latin typeface="Arial"/>
                <a:cs typeface="Arial"/>
              </a:rPr>
              <a:t>CanadianCity&gt;</a:t>
            </a:r>
            <a:endParaRPr sz="2000">
              <a:latin typeface="Arial"/>
              <a:cs typeface="Arial"/>
            </a:endParaRPr>
          </a:p>
          <a:p>
            <a:pPr marL="1089025">
              <a:lnSpc>
                <a:spcPct val="100000"/>
              </a:lnSpc>
              <a:spcBef>
                <a:spcPts val="480"/>
              </a:spcBef>
            </a:pPr>
            <a:r>
              <a:rPr sz="2000" spc="-10" dirty="0">
                <a:latin typeface="Arial"/>
                <a:cs typeface="Arial"/>
              </a:rPr>
              <a:t>&lt;:Province</a:t>
            </a:r>
            <a:r>
              <a:rPr sz="2000" spc="-35" dirty="0">
                <a:latin typeface="Arial"/>
                <a:cs typeface="Arial"/>
              </a:rPr>
              <a:t> </a:t>
            </a:r>
            <a:r>
              <a:rPr sz="2000" spc="-10" dirty="0">
                <a:latin typeface="Arial"/>
                <a:cs typeface="Arial"/>
              </a:rPr>
              <a:t>ontario&gt;</a:t>
            </a:r>
            <a:endParaRPr sz="2000">
              <a:latin typeface="Arial"/>
              <a:cs typeface="Arial"/>
            </a:endParaRPr>
          </a:p>
          <a:p>
            <a:pPr marL="1089025">
              <a:lnSpc>
                <a:spcPct val="100000"/>
              </a:lnSpc>
              <a:spcBef>
                <a:spcPts val="480"/>
              </a:spcBef>
            </a:pPr>
            <a:r>
              <a:rPr sz="2000" spc="-10" dirty="0">
                <a:latin typeface="Arial"/>
                <a:cs typeface="Arial"/>
              </a:rPr>
              <a:t>&lt;:Population</a:t>
            </a:r>
            <a:r>
              <a:rPr sz="2000" spc="-25" dirty="0">
                <a:latin typeface="Arial"/>
                <a:cs typeface="Arial"/>
              </a:rPr>
              <a:t> </a:t>
            </a:r>
            <a:r>
              <a:rPr sz="2000" spc="-10" dirty="0">
                <a:latin typeface="Arial"/>
                <a:cs typeface="Arial"/>
              </a:rPr>
              <a:t>4.5M&gt;</a:t>
            </a:r>
            <a:endParaRPr sz="2000">
              <a:latin typeface="Arial"/>
              <a:cs typeface="Arial"/>
            </a:endParaRPr>
          </a:p>
          <a:p>
            <a:pPr marL="1089025">
              <a:lnSpc>
                <a:spcPct val="100000"/>
              </a:lnSpc>
              <a:spcBef>
                <a:spcPts val="480"/>
              </a:spcBef>
            </a:pPr>
            <a:r>
              <a:rPr sz="2000" spc="-5" dirty="0">
                <a:latin typeface="Arial"/>
                <a:cs typeface="Arial"/>
              </a:rPr>
              <a:t>…)</a:t>
            </a:r>
            <a:endParaRPr sz="20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A8BFC5A1-2AF0-4697-BC5F-5712F96BAE7E}"/>
              </a:ext>
            </a:extLst>
          </p:cNvPr>
          <p:cNvSpPr>
            <a:spLocks noGrp="1"/>
          </p:cNvSpPr>
          <p:nvPr>
            <p:ph type="title"/>
          </p:nvPr>
        </p:nvSpPr>
        <p:spPr/>
        <p:txBody>
          <a:bodyPr/>
          <a:lstStyle/>
          <a:p>
            <a:r>
              <a:rPr lang="vi-VN" b="0" spc="-5">
                <a:latin typeface="Verdana"/>
                <a:cs typeface="Verdana"/>
              </a:rPr>
              <a:t>Khung</a:t>
            </a:r>
            <a:r>
              <a:rPr lang="vi-VN" b="0" spc="-65">
                <a:latin typeface="Verdana"/>
                <a:cs typeface="Verdana"/>
              </a:rPr>
              <a:t> </a:t>
            </a:r>
            <a:r>
              <a:rPr lang="vi-VN" b="0" spc="-5">
                <a:latin typeface="Verdana"/>
                <a:cs typeface="Verdana"/>
              </a:rPr>
              <a:t>đơn</a:t>
            </a:r>
            <a:endParaRPr lang="en-US" b="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27</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729220" cy="1793239"/>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Một khung tổng quát (generic frames) </a:t>
            </a:r>
            <a:r>
              <a:rPr sz="2400" u="heavy" spc="-5" dirty="0">
                <a:uFill>
                  <a:solidFill>
                    <a:srgbClr val="000000"/>
                  </a:solidFill>
                </a:uFill>
                <a:latin typeface="Arial"/>
                <a:cs typeface="Arial"/>
              </a:rPr>
              <a:t>có </a:t>
            </a:r>
            <a:r>
              <a:rPr sz="2400" u="heavy" spc="-10" dirty="0">
                <a:uFill>
                  <a:solidFill>
                    <a:srgbClr val="000000"/>
                  </a:solidFill>
                </a:uFill>
                <a:latin typeface="Arial"/>
                <a:cs typeface="Arial"/>
              </a:rPr>
              <a:t>thể</a:t>
            </a:r>
            <a:r>
              <a:rPr sz="2400" spc="-10" dirty="0">
                <a:latin typeface="Arial"/>
                <a:cs typeface="Arial"/>
              </a:rPr>
              <a:t> </a:t>
            </a:r>
            <a:r>
              <a:rPr sz="2400" dirty="0">
                <a:latin typeface="Arial"/>
                <a:cs typeface="Arial"/>
              </a:rPr>
              <a:t>có </a:t>
            </a:r>
            <a:r>
              <a:rPr sz="2400" spc="-5" dirty="0">
                <a:latin typeface="Arial"/>
                <a:cs typeface="Arial"/>
              </a:rPr>
              <a:t>một  thuộc tính đặc biệt </a:t>
            </a:r>
            <a:r>
              <a:rPr sz="2400" dirty="0">
                <a:latin typeface="Arial"/>
                <a:cs typeface="Arial"/>
              </a:rPr>
              <a:t>là </a:t>
            </a:r>
            <a:r>
              <a:rPr sz="2400" b="1" spc="-5" dirty="0">
                <a:latin typeface="Arial"/>
                <a:cs typeface="Arial"/>
              </a:rPr>
              <a:t>IS-A </a:t>
            </a:r>
            <a:r>
              <a:rPr sz="2400" spc="-5" dirty="0">
                <a:latin typeface="Arial"/>
                <a:cs typeface="Arial"/>
              </a:rPr>
              <a:t>mà giá trị của thuộc tính đặc  biệt này là tên của một khung tổng quát</a:t>
            </a:r>
            <a:r>
              <a:rPr sz="2400" spc="45" dirty="0">
                <a:latin typeface="Arial"/>
                <a:cs typeface="Arial"/>
              </a:rPr>
              <a:t> </a:t>
            </a:r>
            <a:r>
              <a:rPr sz="2400" spc="-5" dirty="0">
                <a:latin typeface="Arial"/>
                <a:cs typeface="Arial"/>
              </a:rPr>
              <a:t>khác</a:t>
            </a:r>
            <a:endParaRPr sz="2400">
              <a:latin typeface="Arial"/>
              <a:cs typeface="Arial"/>
            </a:endParaRPr>
          </a:p>
          <a:p>
            <a:pPr marL="298450" indent="-285750">
              <a:lnSpc>
                <a:spcPct val="100000"/>
              </a:lnSpc>
              <a:spcBef>
                <a:spcPts val="2400"/>
              </a:spcBef>
              <a:buClr>
                <a:srgbClr val="CC9A00"/>
              </a:buClr>
              <a:buSzPct val="64583"/>
              <a:buFont typeface="Wingdings"/>
              <a:buChar char=""/>
              <a:tabLst>
                <a:tab pos="297815" algn="l"/>
                <a:tab pos="298450" algn="l"/>
              </a:tabLst>
            </a:pPr>
            <a:r>
              <a:rPr sz="2400" dirty="0">
                <a:latin typeface="Arial"/>
                <a:cs typeface="Arial"/>
              </a:rPr>
              <a:t>Ví</a:t>
            </a:r>
            <a:r>
              <a:rPr sz="2400" spc="-20" dirty="0">
                <a:latin typeface="Arial"/>
                <a:cs typeface="Arial"/>
              </a:rPr>
              <a:t> </a:t>
            </a:r>
            <a:r>
              <a:rPr sz="2400" spc="-5" dirty="0">
                <a:latin typeface="Arial"/>
                <a:cs typeface="Arial"/>
              </a:rPr>
              <a:t>dụ</a:t>
            </a:r>
            <a:endParaRPr sz="2400">
              <a:latin typeface="Arial"/>
              <a:cs typeface="Arial"/>
            </a:endParaRPr>
          </a:p>
        </p:txBody>
      </p:sp>
      <p:sp>
        <p:nvSpPr>
          <p:cNvPr id="8" name="object 8"/>
          <p:cNvSpPr txBox="1"/>
          <p:nvPr/>
        </p:nvSpPr>
        <p:spPr>
          <a:xfrm>
            <a:off x="4650740" y="3775201"/>
            <a:ext cx="4175760"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a:cs typeface="Arial"/>
              </a:rPr>
              <a:t>% sử dụng tên bắt đầu chữ hoa cho khung tổng</a:t>
            </a:r>
            <a:r>
              <a:rPr sz="1400" spc="-55" dirty="0">
                <a:latin typeface="Arial"/>
                <a:cs typeface="Arial"/>
              </a:rPr>
              <a:t> </a:t>
            </a:r>
            <a:r>
              <a:rPr sz="1400" spc="-5" dirty="0">
                <a:latin typeface="Arial"/>
                <a:cs typeface="Arial"/>
              </a:rPr>
              <a:t>quát</a:t>
            </a:r>
            <a:endParaRPr sz="1400">
              <a:latin typeface="Arial"/>
              <a:cs typeface="Arial"/>
            </a:endParaRPr>
          </a:p>
        </p:txBody>
      </p:sp>
      <p:sp>
        <p:nvSpPr>
          <p:cNvPr id="9" name="object 9"/>
          <p:cNvSpPr txBox="1"/>
          <p:nvPr/>
        </p:nvSpPr>
        <p:spPr>
          <a:xfrm>
            <a:off x="2155189" y="3637736"/>
            <a:ext cx="1633855" cy="756920"/>
          </a:xfrm>
          <a:prstGeom prst="rect">
            <a:avLst/>
          </a:prstGeom>
        </p:spPr>
        <p:txBody>
          <a:bodyPr vert="horz" wrap="square" lIns="0" tIns="73660" rIns="0" bIns="0" rtlCol="0">
            <a:spAutoFit/>
          </a:bodyPr>
          <a:lstStyle/>
          <a:p>
            <a:pPr marL="12700">
              <a:lnSpc>
                <a:spcPct val="100000"/>
              </a:lnSpc>
              <a:spcBef>
                <a:spcPts val="580"/>
              </a:spcBef>
            </a:pPr>
            <a:r>
              <a:rPr sz="2000" spc="-5" dirty="0">
                <a:latin typeface="Arial"/>
                <a:cs typeface="Arial"/>
              </a:rPr>
              <a:t>(CanadianCity</a:t>
            </a:r>
            <a:endParaRPr sz="2000">
              <a:latin typeface="Arial"/>
              <a:cs typeface="Arial"/>
            </a:endParaRPr>
          </a:p>
          <a:p>
            <a:pPr marL="12700">
              <a:lnSpc>
                <a:spcPct val="100000"/>
              </a:lnSpc>
              <a:spcBef>
                <a:spcPts val="480"/>
              </a:spcBef>
            </a:pPr>
            <a:r>
              <a:rPr sz="2000" spc="-5" dirty="0">
                <a:latin typeface="Arial"/>
                <a:cs typeface="Arial"/>
              </a:rPr>
              <a:t>&lt;:</a:t>
            </a:r>
            <a:r>
              <a:rPr sz="2000" b="1" spc="-5" dirty="0">
                <a:latin typeface="Arial"/>
                <a:cs typeface="Arial"/>
              </a:rPr>
              <a:t>IS-A</a:t>
            </a:r>
            <a:r>
              <a:rPr sz="2000" b="1" spc="-40" dirty="0">
                <a:latin typeface="Arial"/>
                <a:cs typeface="Arial"/>
              </a:rPr>
              <a:t> </a:t>
            </a:r>
            <a:r>
              <a:rPr sz="2000" spc="-5" dirty="0">
                <a:latin typeface="Arial"/>
                <a:cs typeface="Arial"/>
              </a:rPr>
              <a:t>City&gt;</a:t>
            </a:r>
            <a:endParaRPr sz="2000">
              <a:latin typeface="Arial"/>
              <a:cs typeface="Arial"/>
            </a:endParaRPr>
          </a:p>
        </p:txBody>
      </p:sp>
      <p:sp>
        <p:nvSpPr>
          <p:cNvPr id="10" name="object 10"/>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11" name="object 11"/>
          <p:cNvSpPr txBox="1"/>
          <p:nvPr/>
        </p:nvSpPr>
        <p:spPr>
          <a:xfrm>
            <a:off x="2155189" y="4369267"/>
            <a:ext cx="3522345" cy="1122680"/>
          </a:xfrm>
          <a:prstGeom prst="rect">
            <a:avLst/>
          </a:prstGeom>
        </p:spPr>
        <p:txBody>
          <a:bodyPr vert="horz" wrap="square" lIns="0" tIns="73660" rIns="0" bIns="0" rtlCol="0">
            <a:spAutoFit/>
          </a:bodyPr>
          <a:lstStyle/>
          <a:p>
            <a:pPr marL="12700">
              <a:lnSpc>
                <a:spcPct val="100000"/>
              </a:lnSpc>
              <a:spcBef>
                <a:spcPts val="580"/>
              </a:spcBef>
            </a:pPr>
            <a:r>
              <a:rPr sz="2000" spc="-10" dirty="0">
                <a:latin typeface="Arial"/>
                <a:cs typeface="Arial"/>
              </a:rPr>
              <a:t>&lt;:Province</a:t>
            </a:r>
            <a:r>
              <a:rPr sz="2000" spc="5" dirty="0">
                <a:latin typeface="Arial"/>
                <a:cs typeface="Arial"/>
              </a:rPr>
              <a:t> </a:t>
            </a:r>
            <a:r>
              <a:rPr sz="2000" spc="-10" dirty="0">
                <a:latin typeface="Arial"/>
                <a:cs typeface="Arial"/>
              </a:rPr>
              <a:t>CanadianProvince&gt;</a:t>
            </a:r>
            <a:endParaRPr sz="2000">
              <a:latin typeface="Arial"/>
              <a:cs typeface="Arial"/>
            </a:endParaRPr>
          </a:p>
          <a:p>
            <a:pPr marL="12700">
              <a:lnSpc>
                <a:spcPct val="100000"/>
              </a:lnSpc>
              <a:spcBef>
                <a:spcPts val="480"/>
              </a:spcBef>
            </a:pPr>
            <a:r>
              <a:rPr sz="2000" spc="-10" dirty="0">
                <a:latin typeface="Arial"/>
                <a:cs typeface="Arial"/>
              </a:rPr>
              <a:t>&lt;:Country</a:t>
            </a:r>
            <a:r>
              <a:rPr sz="2000" spc="-25" dirty="0">
                <a:latin typeface="Arial"/>
                <a:cs typeface="Arial"/>
              </a:rPr>
              <a:t> </a:t>
            </a:r>
            <a:r>
              <a:rPr sz="2000" spc="-10" dirty="0">
                <a:latin typeface="Arial"/>
                <a:cs typeface="Arial"/>
              </a:rPr>
              <a:t>canada&gt;</a:t>
            </a:r>
            <a:endParaRPr sz="2000">
              <a:latin typeface="Arial"/>
              <a:cs typeface="Arial"/>
            </a:endParaRPr>
          </a:p>
          <a:p>
            <a:pPr marL="12700">
              <a:lnSpc>
                <a:spcPct val="100000"/>
              </a:lnSpc>
              <a:spcBef>
                <a:spcPts val="480"/>
              </a:spcBef>
            </a:pPr>
            <a:r>
              <a:rPr sz="2000" spc="-5" dirty="0">
                <a:latin typeface="Arial"/>
                <a:cs typeface="Arial"/>
              </a:rPr>
              <a:t>…)</a:t>
            </a:r>
            <a:endParaRPr sz="2000">
              <a:latin typeface="Arial"/>
              <a:cs typeface="Arial"/>
            </a:endParaRPr>
          </a:p>
        </p:txBody>
      </p:sp>
      <p:sp>
        <p:nvSpPr>
          <p:cNvPr id="12" name="object 12"/>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6" name="Title 15">
            <a:extLst>
              <a:ext uri="{FF2B5EF4-FFF2-40B4-BE49-F238E27FC236}">
                <a16:creationId xmlns:a16="http://schemas.microsoft.com/office/drawing/2014/main" id="{F52DA8D6-C0DE-4A32-B317-69ABE0BFD43A}"/>
              </a:ext>
            </a:extLst>
          </p:cNvPr>
          <p:cNvSpPr>
            <a:spLocks noGrp="1"/>
          </p:cNvSpPr>
          <p:nvPr>
            <p:ph type="title"/>
          </p:nvPr>
        </p:nvSpPr>
        <p:spPr/>
        <p:txBody>
          <a:bodyPr/>
          <a:lstStyle/>
          <a:p>
            <a:r>
              <a:rPr lang="en-US" b="0" spc="-5">
                <a:latin typeface="Verdana"/>
                <a:cs typeface="Verdana"/>
              </a:rPr>
              <a:t>Khung tổng</a:t>
            </a:r>
            <a:r>
              <a:rPr lang="en-US" b="0" spc="-65">
                <a:latin typeface="Verdana"/>
                <a:cs typeface="Verdana"/>
              </a:rPr>
              <a:t> </a:t>
            </a:r>
            <a:r>
              <a:rPr lang="en-US" b="0" spc="-5">
                <a:latin typeface="Verdana"/>
                <a:cs typeface="Verdana"/>
              </a:rPr>
              <a:t>quát</a:t>
            </a:r>
            <a:endParaRPr lang="en-US" b="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1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28</a:t>
            </a:fld>
            <a:endParaRPr spc="-40" dirty="0"/>
          </a:p>
        </p:txBody>
      </p:sp>
      <p:grpSp>
        <p:nvGrpSpPr>
          <p:cNvPr id="3" name="object 3"/>
          <p:cNvGrpSpPr/>
          <p:nvPr/>
        </p:nvGrpSpPr>
        <p:grpSpPr>
          <a:xfrm>
            <a:off x="457200" y="1436369"/>
            <a:ext cx="9144000" cy="3916679"/>
            <a:chOff x="457200" y="1436369"/>
            <a:chExt cx="9144000" cy="391667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2937510"/>
            </a:xfrm>
            <a:custGeom>
              <a:avLst/>
              <a:gdLst/>
              <a:ahLst/>
              <a:cxnLst/>
              <a:rect l="l" t="t" r="r" b="b"/>
              <a:pathLst>
                <a:path w="9144000" h="2937510">
                  <a:moveTo>
                    <a:pt x="9144000" y="0"/>
                  </a:moveTo>
                  <a:lnTo>
                    <a:pt x="0" y="0"/>
                  </a:lnTo>
                  <a:lnTo>
                    <a:pt x="0" y="979170"/>
                  </a:lnTo>
                  <a:lnTo>
                    <a:pt x="0" y="1958340"/>
                  </a:lnTo>
                  <a:lnTo>
                    <a:pt x="0" y="293751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795259" cy="2998470"/>
          </a:xfrm>
          <a:prstGeom prst="rect">
            <a:avLst/>
          </a:prstGeom>
        </p:spPr>
        <p:txBody>
          <a:bodyPr vert="horz" wrap="square" lIns="0" tIns="12700" rIns="0" bIns="0" rtlCol="0">
            <a:spAutoFit/>
          </a:bodyPr>
          <a:lstStyle/>
          <a:p>
            <a:pPr marL="298450" marR="5080" indent="-285750" algn="just">
              <a:lnSpc>
                <a:spcPct val="100000"/>
              </a:lnSpc>
              <a:spcBef>
                <a:spcPts val="100"/>
              </a:spcBef>
              <a:buClr>
                <a:srgbClr val="CC9A00"/>
              </a:buClr>
              <a:buSzPct val="64583"/>
              <a:buFont typeface="Wingdings"/>
              <a:buChar char=""/>
              <a:tabLst>
                <a:tab pos="298450" algn="l"/>
              </a:tabLst>
            </a:pPr>
            <a:r>
              <a:rPr sz="2400" spc="-5" dirty="0">
                <a:latin typeface="Arial"/>
                <a:cs typeface="Arial"/>
              </a:rPr>
              <a:t>Các thuộc tính (slots) trong các khung tổng quát có thể  được gắn (liên kết) với các thủ tục để thực hiện </a:t>
            </a:r>
            <a:r>
              <a:rPr sz="2400" dirty="0">
                <a:latin typeface="Arial"/>
                <a:cs typeface="Arial"/>
              </a:rPr>
              <a:t>và </a:t>
            </a:r>
            <a:r>
              <a:rPr sz="2400" spc="-5" dirty="0">
                <a:latin typeface="Arial"/>
                <a:cs typeface="Arial"/>
              </a:rPr>
              <a:t>điều  khiển việc suy</a:t>
            </a:r>
            <a:r>
              <a:rPr sz="2400" spc="10" dirty="0">
                <a:latin typeface="Arial"/>
                <a:cs typeface="Arial"/>
              </a:rPr>
              <a:t> </a:t>
            </a:r>
            <a:r>
              <a:rPr sz="2400" spc="-5" dirty="0">
                <a:latin typeface="Arial"/>
                <a:cs typeface="Arial"/>
              </a:rPr>
              <a:t>diễn</a:t>
            </a:r>
            <a:endParaRPr sz="2400">
              <a:latin typeface="Arial"/>
              <a:cs typeface="Arial"/>
            </a:endParaRPr>
          </a:p>
          <a:p>
            <a:pPr marL="298450" indent="-285750">
              <a:lnSpc>
                <a:spcPct val="100000"/>
              </a:lnSpc>
              <a:spcBef>
                <a:spcPts val="1800"/>
              </a:spcBef>
              <a:buClr>
                <a:srgbClr val="CC9A00"/>
              </a:buClr>
              <a:buSzPct val="64583"/>
              <a:buFont typeface="Wingdings"/>
              <a:buChar char=""/>
              <a:tabLst>
                <a:tab pos="297815" algn="l"/>
                <a:tab pos="298450" algn="l"/>
              </a:tabLst>
            </a:pPr>
            <a:r>
              <a:rPr sz="2400" dirty="0">
                <a:latin typeface="Arial"/>
                <a:cs typeface="Arial"/>
              </a:rPr>
              <a:t>Có 2 </a:t>
            </a:r>
            <a:r>
              <a:rPr sz="2400" spc="-5" dirty="0">
                <a:latin typeface="Arial"/>
                <a:cs typeface="Arial"/>
              </a:rPr>
              <a:t>kiểu thủ tục: </a:t>
            </a:r>
            <a:r>
              <a:rPr sz="2400" b="1" spc="-5" dirty="0">
                <a:latin typeface="Arial"/>
                <a:cs typeface="Arial"/>
              </a:rPr>
              <a:t>IF-NEEDED </a:t>
            </a:r>
            <a:r>
              <a:rPr sz="2400" dirty="0">
                <a:latin typeface="Arial"/>
                <a:cs typeface="Arial"/>
              </a:rPr>
              <a:t>và</a:t>
            </a:r>
            <a:r>
              <a:rPr sz="2400" spc="-5" dirty="0">
                <a:latin typeface="Arial"/>
                <a:cs typeface="Arial"/>
              </a:rPr>
              <a:t> </a:t>
            </a:r>
            <a:r>
              <a:rPr sz="2400" b="1" spc="-5" dirty="0">
                <a:latin typeface="Arial"/>
                <a:cs typeface="Arial"/>
              </a:rPr>
              <a:t>IF-ADDED</a:t>
            </a:r>
            <a:endParaRPr sz="2400">
              <a:latin typeface="Arial"/>
              <a:cs typeface="Arial"/>
            </a:endParaRPr>
          </a:p>
          <a:p>
            <a:pPr marL="298450" indent="-285750">
              <a:lnSpc>
                <a:spcPct val="100000"/>
              </a:lnSpc>
              <a:spcBef>
                <a:spcPts val="1800"/>
              </a:spcBef>
              <a:buClr>
                <a:srgbClr val="CC9A00"/>
              </a:buClr>
              <a:buSzPct val="64583"/>
              <a:buFont typeface="Wingdings"/>
              <a:buChar char=""/>
              <a:tabLst>
                <a:tab pos="297815" algn="l"/>
                <a:tab pos="298450" algn="l"/>
              </a:tabLst>
            </a:pPr>
            <a:r>
              <a:rPr sz="2400" spc="-5" dirty="0">
                <a:latin typeface="Arial"/>
                <a:cs typeface="Arial"/>
              </a:rPr>
              <a:t>Thủ tục</a:t>
            </a:r>
            <a:r>
              <a:rPr sz="2400" spc="-10" dirty="0">
                <a:latin typeface="Arial"/>
                <a:cs typeface="Arial"/>
              </a:rPr>
              <a:t> </a:t>
            </a:r>
            <a:r>
              <a:rPr sz="2400" b="1" dirty="0">
                <a:latin typeface="Arial"/>
                <a:cs typeface="Arial"/>
              </a:rPr>
              <a:t>IF-NEEDED</a:t>
            </a:r>
            <a:endParaRPr sz="2400">
              <a:latin typeface="Arial"/>
              <a:cs typeface="Arial"/>
            </a:endParaRPr>
          </a:p>
          <a:p>
            <a:pPr marL="624840" marR="31115" lvl="1" indent="-285750">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Được thực hiện khi </a:t>
            </a:r>
            <a:r>
              <a:rPr sz="2000" spc="-10" dirty="0">
                <a:latin typeface="Arial"/>
                <a:cs typeface="Arial"/>
              </a:rPr>
              <a:t>không </a:t>
            </a:r>
            <a:r>
              <a:rPr sz="2000" spc="-5" dirty="0">
                <a:latin typeface="Arial"/>
                <a:cs typeface="Arial"/>
              </a:rPr>
              <a:t>có giá trị cần thiết được gán cho một  thuộc tính (no slot</a:t>
            </a:r>
            <a:r>
              <a:rPr sz="2000" spc="-45" dirty="0">
                <a:latin typeface="Arial"/>
                <a:cs typeface="Arial"/>
              </a:rPr>
              <a:t> </a:t>
            </a:r>
            <a:r>
              <a:rPr sz="2000" spc="-5" dirty="0">
                <a:latin typeface="Arial"/>
                <a:cs typeface="Arial"/>
              </a:rPr>
              <a:t>filler)</a:t>
            </a:r>
            <a:endParaRPr sz="2000">
              <a:latin typeface="Arial"/>
              <a:cs typeface="Arial"/>
            </a:endParaRPr>
          </a:p>
        </p:txBody>
      </p:sp>
      <p:sp>
        <p:nvSpPr>
          <p:cNvPr id="8" name="object 8"/>
          <p:cNvSpPr txBox="1"/>
          <p:nvPr/>
        </p:nvSpPr>
        <p:spPr>
          <a:xfrm>
            <a:off x="1320038" y="4826761"/>
            <a:ext cx="972819" cy="330200"/>
          </a:xfrm>
          <a:prstGeom prst="rect">
            <a:avLst/>
          </a:prstGeom>
        </p:spPr>
        <p:txBody>
          <a:bodyPr vert="horz" wrap="square" lIns="0" tIns="12065" rIns="0" bIns="0" rtlCol="0">
            <a:spAutoFit/>
          </a:bodyPr>
          <a:lstStyle/>
          <a:p>
            <a:pPr marL="298450" indent="-285750">
              <a:lnSpc>
                <a:spcPct val="100000"/>
              </a:lnSpc>
              <a:spcBef>
                <a:spcPts val="95"/>
              </a:spcBef>
              <a:buClr>
                <a:srgbClr val="3B822F"/>
              </a:buClr>
              <a:buSzPct val="60000"/>
              <a:buFont typeface="Wingdings"/>
              <a:buChar char=""/>
              <a:tabLst>
                <a:tab pos="297815" algn="l"/>
                <a:tab pos="298450" algn="l"/>
              </a:tabLst>
            </a:pPr>
            <a:r>
              <a:rPr sz="2000" spc="-5" dirty="0">
                <a:latin typeface="Arial"/>
                <a:cs typeface="Arial"/>
              </a:rPr>
              <a:t>Ví</a:t>
            </a:r>
            <a:r>
              <a:rPr sz="2000" spc="-95" dirty="0">
                <a:latin typeface="Arial"/>
                <a:cs typeface="Arial"/>
              </a:rPr>
              <a:t> </a:t>
            </a:r>
            <a:r>
              <a:rPr sz="2000" spc="-5" dirty="0">
                <a:latin typeface="Arial"/>
                <a:cs typeface="Arial"/>
              </a:rPr>
              <a:t>dụ:</a:t>
            </a:r>
            <a:endParaRPr sz="2000">
              <a:latin typeface="Arial"/>
              <a:cs typeface="Arial"/>
            </a:endParaRPr>
          </a:p>
        </p:txBody>
      </p:sp>
      <p:sp>
        <p:nvSpPr>
          <p:cNvPr id="9" name="object 9"/>
          <p:cNvSpPr txBox="1"/>
          <p:nvPr/>
        </p:nvSpPr>
        <p:spPr>
          <a:xfrm>
            <a:off x="2821992" y="4765497"/>
            <a:ext cx="5471160" cy="756920"/>
          </a:xfrm>
          <a:prstGeom prst="rect">
            <a:avLst/>
          </a:prstGeom>
        </p:spPr>
        <p:txBody>
          <a:bodyPr vert="horz" wrap="square" lIns="0" tIns="73660" rIns="0" bIns="0" rtlCol="0">
            <a:spAutoFit/>
          </a:bodyPr>
          <a:lstStyle/>
          <a:p>
            <a:pPr marL="12700">
              <a:lnSpc>
                <a:spcPct val="100000"/>
              </a:lnSpc>
              <a:spcBef>
                <a:spcPts val="580"/>
              </a:spcBef>
            </a:pPr>
            <a:r>
              <a:rPr sz="2000" spc="-10" dirty="0">
                <a:latin typeface="Arial"/>
                <a:cs typeface="Arial"/>
              </a:rPr>
              <a:t>(Table</a:t>
            </a:r>
            <a:endParaRPr sz="2000">
              <a:latin typeface="Arial"/>
              <a:cs typeface="Arial"/>
            </a:endParaRPr>
          </a:p>
          <a:p>
            <a:pPr marL="152400">
              <a:lnSpc>
                <a:spcPct val="100000"/>
              </a:lnSpc>
              <a:spcBef>
                <a:spcPts val="480"/>
              </a:spcBef>
            </a:pPr>
            <a:r>
              <a:rPr sz="2000" spc="-10" dirty="0">
                <a:latin typeface="Arial"/>
                <a:cs typeface="Arial"/>
              </a:rPr>
              <a:t>&lt;:Clearance </a:t>
            </a:r>
            <a:r>
              <a:rPr sz="2000" spc="-5" dirty="0">
                <a:latin typeface="Arial"/>
                <a:cs typeface="Arial"/>
              </a:rPr>
              <a:t>[</a:t>
            </a:r>
            <a:r>
              <a:rPr sz="2000" b="1" spc="-5" dirty="0">
                <a:latin typeface="Arial"/>
                <a:cs typeface="Arial"/>
              </a:rPr>
              <a:t>IF-NEEDED</a:t>
            </a:r>
            <a:r>
              <a:rPr sz="2000" b="1" spc="75" dirty="0">
                <a:latin typeface="Arial"/>
                <a:cs typeface="Arial"/>
              </a:rPr>
              <a:t> </a:t>
            </a:r>
            <a:r>
              <a:rPr sz="2000" spc="-10" dirty="0">
                <a:latin typeface="Arial"/>
                <a:cs typeface="Arial"/>
              </a:rPr>
              <a:t>computeClearance]&gt;</a:t>
            </a:r>
            <a:endParaRPr sz="2000">
              <a:latin typeface="Arial"/>
              <a:cs typeface="Arial"/>
            </a:endParaRPr>
          </a:p>
        </p:txBody>
      </p:sp>
      <p:sp>
        <p:nvSpPr>
          <p:cNvPr id="10" name="object 10"/>
          <p:cNvSpPr txBox="1"/>
          <p:nvPr/>
        </p:nvSpPr>
        <p:spPr>
          <a:xfrm>
            <a:off x="1888489" y="5405577"/>
            <a:ext cx="6917690" cy="1244600"/>
          </a:xfrm>
          <a:prstGeom prst="rect">
            <a:avLst/>
          </a:prstGeom>
        </p:spPr>
        <p:txBody>
          <a:bodyPr vert="horz" wrap="square" lIns="0" tIns="165100" rIns="0" bIns="0" rtlCol="0">
            <a:spAutoFit/>
          </a:bodyPr>
          <a:lstStyle/>
          <a:p>
            <a:pPr marL="1085850">
              <a:lnSpc>
                <a:spcPct val="100000"/>
              </a:lnSpc>
              <a:spcBef>
                <a:spcPts val="1300"/>
              </a:spcBef>
            </a:pPr>
            <a:r>
              <a:rPr sz="2000" spc="-5" dirty="0">
                <a:latin typeface="Arial"/>
                <a:cs typeface="Arial"/>
              </a:rPr>
              <a:t>…)</a:t>
            </a:r>
            <a:endParaRPr sz="2000">
              <a:latin typeface="Arial"/>
              <a:cs typeface="Arial"/>
            </a:endParaRPr>
          </a:p>
          <a:p>
            <a:pPr marL="12700">
              <a:lnSpc>
                <a:spcPct val="100000"/>
              </a:lnSpc>
              <a:spcBef>
                <a:spcPts val="1200"/>
              </a:spcBef>
            </a:pPr>
            <a:r>
              <a:rPr sz="2000" i="1" spc="-10" dirty="0">
                <a:latin typeface="Arial"/>
                <a:cs typeface="Arial"/>
              </a:rPr>
              <a:t>computeClearance </a:t>
            </a:r>
            <a:r>
              <a:rPr sz="2000" spc="-5" dirty="0">
                <a:latin typeface="Arial"/>
                <a:cs typeface="Arial"/>
              </a:rPr>
              <a:t>là một thủ tục để tính toán (xác định)</a:t>
            </a:r>
            <a:r>
              <a:rPr sz="2000" spc="30" dirty="0">
                <a:latin typeface="Arial"/>
                <a:cs typeface="Arial"/>
              </a:rPr>
              <a:t> </a:t>
            </a:r>
            <a:r>
              <a:rPr sz="2000" spc="-5" dirty="0">
                <a:latin typeface="Arial"/>
                <a:cs typeface="Arial"/>
              </a:rPr>
              <a:t>mức</a:t>
            </a:r>
            <a:endParaRPr sz="2000">
              <a:latin typeface="Arial"/>
              <a:cs typeface="Arial"/>
            </a:endParaRPr>
          </a:p>
          <a:p>
            <a:pPr marL="12700">
              <a:lnSpc>
                <a:spcPct val="100000"/>
              </a:lnSpc>
            </a:pPr>
            <a:r>
              <a:rPr sz="2000" spc="-5" dirty="0">
                <a:latin typeface="Arial"/>
                <a:cs typeface="Arial"/>
              </a:rPr>
              <a:t>độ sạch sẽ của cái</a:t>
            </a:r>
            <a:r>
              <a:rPr sz="2000" spc="-20" dirty="0">
                <a:latin typeface="Arial"/>
                <a:cs typeface="Arial"/>
              </a:rPr>
              <a:t> </a:t>
            </a:r>
            <a:r>
              <a:rPr sz="2000" spc="-10" dirty="0">
                <a:latin typeface="Arial"/>
                <a:cs typeface="Arial"/>
              </a:rPr>
              <a:t>bàn</a:t>
            </a:r>
            <a:endParaRPr sz="2000">
              <a:latin typeface="Arial"/>
              <a:cs typeface="Arial"/>
            </a:endParaRPr>
          </a:p>
        </p:txBody>
      </p:sp>
      <p:sp>
        <p:nvSpPr>
          <p:cNvPr id="11" name="object 1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5" name="Title 14">
            <a:extLst>
              <a:ext uri="{FF2B5EF4-FFF2-40B4-BE49-F238E27FC236}">
                <a16:creationId xmlns:a16="http://schemas.microsoft.com/office/drawing/2014/main" id="{F6F3AFAF-D81C-42D4-AA85-81AFF642CAAD}"/>
              </a:ext>
            </a:extLst>
          </p:cNvPr>
          <p:cNvSpPr>
            <a:spLocks noGrp="1"/>
          </p:cNvSpPr>
          <p:nvPr>
            <p:ph type="title"/>
          </p:nvPr>
        </p:nvSpPr>
        <p:spPr/>
        <p:txBody>
          <a:bodyPr/>
          <a:lstStyle/>
          <a:p>
            <a:r>
              <a:rPr lang="en-US" b="0" spc="-5">
                <a:latin typeface="Verdana"/>
                <a:cs typeface="Verdana"/>
              </a:rPr>
              <a:t>Suy diễn với khung</a:t>
            </a:r>
            <a:r>
              <a:rPr lang="en-US" b="0" spc="-35">
                <a:latin typeface="Verdana"/>
                <a:cs typeface="Verdana"/>
              </a:rPr>
              <a:t> </a:t>
            </a:r>
            <a:r>
              <a:rPr lang="en-US" b="0" spc="-5">
                <a:latin typeface="Verdana"/>
                <a:cs typeface="Verdana"/>
              </a:rPr>
              <a:t>(1)</a:t>
            </a:r>
            <a:endParaRPr lang="en-US" b="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13" name="object 13"/>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4" name="object 14"/>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29</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592344"/>
            <a:ext cx="7879080" cy="1949450"/>
          </a:xfrm>
          <a:prstGeom prst="rect">
            <a:avLst/>
          </a:prstGeom>
        </p:spPr>
        <p:txBody>
          <a:bodyPr vert="horz" wrap="square" lIns="0" tIns="197485" rIns="0" bIns="0" rtlCol="0">
            <a:spAutoFit/>
          </a:bodyPr>
          <a:lstStyle/>
          <a:p>
            <a:pPr marL="298450" indent="-285750">
              <a:lnSpc>
                <a:spcPct val="100000"/>
              </a:lnSpc>
              <a:spcBef>
                <a:spcPts val="1555"/>
              </a:spcBef>
              <a:buClr>
                <a:srgbClr val="CC9A00"/>
              </a:buClr>
              <a:buSzPct val="64583"/>
              <a:buFont typeface="Wingdings"/>
              <a:buChar char=""/>
              <a:tabLst>
                <a:tab pos="297815" algn="l"/>
                <a:tab pos="298450" algn="l"/>
              </a:tabLst>
            </a:pPr>
            <a:r>
              <a:rPr sz="2400" spc="-5" dirty="0">
                <a:latin typeface="Arial"/>
                <a:cs typeface="Arial"/>
              </a:rPr>
              <a:t>Thủ tục</a:t>
            </a:r>
            <a:r>
              <a:rPr sz="2400" spc="-10" dirty="0">
                <a:latin typeface="Arial"/>
                <a:cs typeface="Arial"/>
              </a:rPr>
              <a:t> </a:t>
            </a:r>
            <a:r>
              <a:rPr sz="2400" b="1" dirty="0">
                <a:latin typeface="Arial"/>
                <a:cs typeface="Arial"/>
              </a:rPr>
              <a:t>IF-ADDED</a:t>
            </a:r>
            <a:endParaRPr sz="2400">
              <a:latin typeface="Arial"/>
              <a:cs typeface="Arial"/>
            </a:endParaRPr>
          </a:p>
          <a:p>
            <a:pPr marL="624840" marR="5080" lvl="1" indent="-285750">
              <a:lnSpc>
                <a:spcPct val="100000"/>
              </a:lnSpc>
              <a:spcBef>
                <a:spcPts val="1210"/>
              </a:spcBef>
              <a:buClr>
                <a:srgbClr val="3B822F"/>
              </a:buClr>
              <a:buSzPct val="60000"/>
              <a:buFont typeface="Wingdings"/>
              <a:buChar char=""/>
              <a:tabLst>
                <a:tab pos="624840" algn="l"/>
                <a:tab pos="625475" algn="l"/>
              </a:tabLst>
            </a:pPr>
            <a:r>
              <a:rPr sz="2000" spc="-5" dirty="0">
                <a:latin typeface="Arial"/>
                <a:cs typeface="Arial"/>
              </a:rPr>
              <a:t>Được thực hiện khi một thuộc tính được gán giá trị, để cho phép  </a:t>
            </a:r>
            <a:r>
              <a:rPr sz="2000" i="1" spc="-5" dirty="0">
                <a:latin typeface="Arial"/>
                <a:cs typeface="Arial"/>
              </a:rPr>
              <a:t>lan truyền ảnh </a:t>
            </a:r>
            <a:r>
              <a:rPr sz="2000" i="1" spc="-10" dirty="0">
                <a:latin typeface="Arial"/>
                <a:cs typeface="Arial"/>
              </a:rPr>
              <a:t>hưởng </a:t>
            </a:r>
            <a:r>
              <a:rPr sz="2000" i="1" spc="-5" dirty="0">
                <a:latin typeface="Arial"/>
                <a:cs typeface="Arial"/>
              </a:rPr>
              <a:t>của việc gán giá trị của thuộc tính </a:t>
            </a:r>
            <a:r>
              <a:rPr sz="2000" spc="-5" dirty="0">
                <a:latin typeface="Arial"/>
                <a:cs typeface="Arial"/>
              </a:rPr>
              <a:t>đó đối  với các khung khác (ví dụ, để đảm bảo các ràng buộc trong </a:t>
            </a:r>
            <a:r>
              <a:rPr sz="2000" spc="-10" dirty="0">
                <a:latin typeface="Arial"/>
                <a:cs typeface="Arial"/>
              </a:rPr>
              <a:t>bài  </a:t>
            </a:r>
            <a:r>
              <a:rPr sz="2000" spc="-5" dirty="0">
                <a:latin typeface="Arial"/>
                <a:cs typeface="Arial"/>
              </a:rPr>
              <a:t>toán)</a:t>
            </a:r>
            <a:endParaRPr sz="2000">
              <a:latin typeface="Arial"/>
              <a:cs typeface="Arial"/>
            </a:endParaRPr>
          </a:p>
        </p:txBody>
      </p:sp>
      <p:sp>
        <p:nvSpPr>
          <p:cNvPr id="8" name="object 8"/>
          <p:cNvSpPr txBox="1"/>
          <p:nvPr/>
        </p:nvSpPr>
        <p:spPr>
          <a:xfrm>
            <a:off x="1320038" y="3668521"/>
            <a:ext cx="972819" cy="330200"/>
          </a:xfrm>
          <a:prstGeom prst="rect">
            <a:avLst/>
          </a:prstGeom>
        </p:spPr>
        <p:txBody>
          <a:bodyPr vert="horz" wrap="square" lIns="0" tIns="12065" rIns="0" bIns="0" rtlCol="0">
            <a:spAutoFit/>
          </a:bodyPr>
          <a:lstStyle/>
          <a:p>
            <a:pPr marL="298450" indent="-285750">
              <a:lnSpc>
                <a:spcPct val="100000"/>
              </a:lnSpc>
              <a:spcBef>
                <a:spcPts val="95"/>
              </a:spcBef>
              <a:buClr>
                <a:srgbClr val="3B822F"/>
              </a:buClr>
              <a:buSzPct val="60000"/>
              <a:buFont typeface="Wingdings"/>
              <a:buChar char=""/>
              <a:tabLst>
                <a:tab pos="297815" algn="l"/>
                <a:tab pos="298450" algn="l"/>
              </a:tabLst>
            </a:pPr>
            <a:r>
              <a:rPr sz="2000" spc="-5" dirty="0">
                <a:latin typeface="Arial"/>
                <a:cs typeface="Arial"/>
              </a:rPr>
              <a:t>Ví</a:t>
            </a:r>
            <a:r>
              <a:rPr sz="2000" spc="-95" dirty="0">
                <a:latin typeface="Arial"/>
                <a:cs typeface="Arial"/>
              </a:rPr>
              <a:t> </a:t>
            </a:r>
            <a:r>
              <a:rPr sz="2000" spc="-5" dirty="0">
                <a:latin typeface="Arial"/>
                <a:cs typeface="Arial"/>
              </a:rPr>
              <a:t>dụ:</a:t>
            </a:r>
            <a:endParaRPr sz="2000">
              <a:latin typeface="Arial"/>
              <a:cs typeface="Arial"/>
            </a:endParaRPr>
          </a:p>
        </p:txBody>
      </p:sp>
      <p:sp>
        <p:nvSpPr>
          <p:cNvPr id="9" name="object 9"/>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10" name="object 10"/>
          <p:cNvSpPr txBox="1"/>
          <p:nvPr/>
        </p:nvSpPr>
        <p:spPr>
          <a:xfrm>
            <a:off x="2821992" y="3515817"/>
            <a:ext cx="4904740" cy="1854200"/>
          </a:xfrm>
          <a:prstGeom prst="rect">
            <a:avLst/>
          </a:prstGeom>
        </p:spPr>
        <p:txBody>
          <a:bodyPr vert="horz" wrap="square" lIns="0" tIns="165100" rIns="0" bIns="0" rtlCol="0">
            <a:spAutoFit/>
          </a:bodyPr>
          <a:lstStyle/>
          <a:p>
            <a:pPr marL="12700">
              <a:lnSpc>
                <a:spcPct val="100000"/>
              </a:lnSpc>
              <a:spcBef>
                <a:spcPts val="1300"/>
              </a:spcBef>
            </a:pPr>
            <a:r>
              <a:rPr sz="2000" spc="-5" dirty="0">
                <a:latin typeface="Arial"/>
                <a:cs typeface="Arial"/>
              </a:rPr>
              <a:t>(Lecture</a:t>
            </a:r>
            <a:endParaRPr sz="2000">
              <a:latin typeface="Arial"/>
              <a:cs typeface="Arial"/>
            </a:endParaRPr>
          </a:p>
          <a:p>
            <a:pPr marL="152400">
              <a:lnSpc>
                <a:spcPct val="100000"/>
              </a:lnSpc>
              <a:spcBef>
                <a:spcPts val="1200"/>
              </a:spcBef>
            </a:pPr>
            <a:r>
              <a:rPr sz="2000" spc="-10" dirty="0">
                <a:latin typeface="Arial"/>
                <a:cs typeface="Arial"/>
              </a:rPr>
              <a:t>&lt;:DayOfWeek</a:t>
            </a:r>
            <a:r>
              <a:rPr sz="2000" spc="-25" dirty="0">
                <a:latin typeface="Arial"/>
                <a:cs typeface="Arial"/>
              </a:rPr>
              <a:t> </a:t>
            </a:r>
            <a:r>
              <a:rPr sz="2000" spc="-5" dirty="0">
                <a:latin typeface="Arial"/>
                <a:cs typeface="Arial"/>
              </a:rPr>
              <a:t>WeekDay&gt;</a:t>
            </a:r>
            <a:endParaRPr sz="2000">
              <a:latin typeface="Arial"/>
              <a:cs typeface="Arial"/>
            </a:endParaRPr>
          </a:p>
          <a:p>
            <a:pPr marL="152400">
              <a:lnSpc>
                <a:spcPct val="100000"/>
              </a:lnSpc>
              <a:spcBef>
                <a:spcPts val="1200"/>
              </a:spcBef>
            </a:pPr>
            <a:r>
              <a:rPr sz="2000" spc="-10" dirty="0">
                <a:latin typeface="Arial"/>
                <a:cs typeface="Arial"/>
              </a:rPr>
              <a:t>&lt;:Date </a:t>
            </a:r>
            <a:r>
              <a:rPr sz="2000" spc="-5" dirty="0">
                <a:latin typeface="Arial"/>
                <a:cs typeface="Arial"/>
              </a:rPr>
              <a:t>[</a:t>
            </a:r>
            <a:r>
              <a:rPr sz="2000" b="1" spc="-5" dirty="0">
                <a:latin typeface="Arial"/>
                <a:cs typeface="Arial"/>
              </a:rPr>
              <a:t>IF-ADDED</a:t>
            </a:r>
            <a:r>
              <a:rPr sz="2000" b="1" spc="25" dirty="0">
                <a:latin typeface="Arial"/>
                <a:cs typeface="Arial"/>
              </a:rPr>
              <a:t> </a:t>
            </a:r>
            <a:r>
              <a:rPr sz="2000" spc="-5" dirty="0">
                <a:latin typeface="Arial"/>
                <a:cs typeface="Arial"/>
              </a:rPr>
              <a:t>computeDayOfWeek]&gt;</a:t>
            </a:r>
            <a:endParaRPr sz="2000">
              <a:latin typeface="Arial"/>
              <a:cs typeface="Arial"/>
            </a:endParaRPr>
          </a:p>
          <a:p>
            <a:pPr marL="152400">
              <a:lnSpc>
                <a:spcPct val="100000"/>
              </a:lnSpc>
              <a:spcBef>
                <a:spcPts val="1200"/>
              </a:spcBef>
            </a:pPr>
            <a:r>
              <a:rPr sz="2000" spc="-5" dirty="0">
                <a:latin typeface="Arial"/>
                <a:cs typeface="Arial"/>
              </a:rPr>
              <a:t>…)</a:t>
            </a:r>
            <a:endParaRPr sz="2000">
              <a:latin typeface="Arial"/>
              <a:cs typeface="Arial"/>
            </a:endParaRPr>
          </a:p>
        </p:txBody>
      </p:sp>
      <p:sp>
        <p:nvSpPr>
          <p:cNvPr id="11" name="object 11"/>
          <p:cNvSpPr txBox="1"/>
          <p:nvPr/>
        </p:nvSpPr>
        <p:spPr>
          <a:xfrm>
            <a:off x="1888489" y="5573521"/>
            <a:ext cx="6898640" cy="635000"/>
          </a:xfrm>
          <a:prstGeom prst="rect">
            <a:avLst/>
          </a:prstGeom>
        </p:spPr>
        <p:txBody>
          <a:bodyPr vert="horz" wrap="square" lIns="0" tIns="12065" rIns="0" bIns="0" rtlCol="0">
            <a:spAutoFit/>
          </a:bodyPr>
          <a:lstStyle/>
          <a:p>
            <a:pPr marL="12700" marR="5080">
              <a:lnSpc>
                <a:spcPct val="100000"/>
              </a:lnSpc>
              <a:spcBef>
                <a:spcPts val="95"/>
              </a:spcBef>
              <a:tabLst>
                <a:tab pos="3999229" algn="l"/>
              </a:tabLst>
            </a:pPr>
            <a:r>
              <a:rPr sz="2000" spc="-5" dirty="0">
                <a:latin typeface="Arial"/>
                <a:cs typeface="Arial"/>
              </a:rPr>
              <a:t>Giá trị của thuộc</a:t>
            </a:r>
            <a:r>
              <a:rPr sz="2000" spc="25" dirty="0">
                <a:latin typeface="Arial"/>
                <a:cs typeface="Arial"/>
              </a:rPr>
              <a:t> </a:t>
            </a:r>
            <a:r>
              <a:rPr sz="2000" spc="-5" dirty="0">
                <a:latin typeface="Arial"/>
                <a:cs typeface="Arial"/>
              </a:rPr>
              <a:t>tính</a:t>
            </a:r>
            <a:r>
              <a:rPr sz="2000" spc="-10" dirty="0">
                <a:latin typeface="Arial"/>
                <a:cs typeface="Arial"/>
              </a:rPr>
              <a:t> </a:t>
            </a:r>
            <a:r>
              <a:rPr sz="2000" i="1" spc="-5" dirty="0">
                <a:latin typeface="Arial"/>
                <a:cs typeface="Arial"/>
              </a:rPr>
              <a:t>:DayOfWeek	</a:t>
            </a:r>
            <a:r>
              <a:rPr sz="2000" spc="-5" dirty="0">
                <a:latin typeface="Arial"/>
                <a:cs typeface="Arial"/>
              </a:rPr>
              <a:t>sẽ được tính toán (lại)</a:t>
            </a:r>
            <a:r>
              <a:rPr sz="2000" spc="-75" dirty="0">
                <a:latin typeface="Arial"/>
                <a:cs typeface="Arial"/>
              </a:rPr>
              <a:t> </a:t>
            </a:r>
            <a:r>
              <a:rPr sz="2000" spc="-5" dirty="0">
                <a:latin typeface="Arial"/>
                <a:cs typeface="Arial"/>
              </a:rPr>
              <a:t>khi  thuộc tính </a:t>
            </a:r>
            <a:r>
              <a:rPr sz="2000" i="1" spc="-5" dirty="0">
                <a:latin typeface="Arial"/>
                <a:cs typeface="Arial"/>
              </a:rPr>
              <a:t>:Date </a:t>
            </a:r>
            <a:r>
              <a:rPr sz="2000" spc="-5" dirty="0">
                <a:latin typeface="Arial"/>
                <a:cs typeface="Arial"/>
              </a:rPr>
              <a:t>được gán giá</a:t>
            </a:r>
            <a:r>
              <a:rPr sz="2000" spc="-30" dirty="0">
                <a:latin typeface="Arial"/>
                <a:cs typeface="Arial"/>
              </a:rPr>
              <a:t> </a:t>
            </a:r>
            <a:r>
              <a:rPr sz="2000" spc="-5" dirty="0">
                <a:latin typeface="Arial"/>
                <a:cs typeface="Arial"/>
              </a:rPr>
              <a:t>trị</a:t>
            </a:r>
            <a:endParaRPr sz="2000">
              <a:latin typeface="Arial"/>
              <a:cs typeface="Arial"/>
            </a:endParaRPr>
          </a:p>
        </p:txBody>
      </p:sp>
      <p:sp>
        <p:nvSpPr>
          <p:cNvPr id="12" name="object 12"/>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6" name="Title 15">
            <a:extLst>
              <a:ext uri="{FF2B5EF4-FFF2-40B4-BE49-F238E27FC236}">
                <a16:creationId xmlns:a16="http://schemas.microsoft.com/office/drawing/2014/main" id="{F0996FBD-D310-4752-AA2A-3452AE39DFD8}"/>
              </a:ext>
            </a:extLst>
          </p:cNvPr>
          <p:cNvSpPr>
            <a:spLocks noGrp="1"/>
          </p:cNvSpPr>
          <p:nvPr>
            <p:ph type="title"/>
          </p:nvPr>
        </p:nvSpPr>
        <p:spPr/>
        <p:txBody>
          <a:bodyPr/>
          <a:lstStyle/>
          <a:p>
            <a:r>
              <a:rPr lang="en-US" b="0" spc="-5">
                <a:latin typeface="Verdana"/>
                <a:cs typeface="Verdana"/>
              </a:rPr>
              <a:t>Suy diễn với khung</a:t>
            </a:r>
            <a:r>
              <a:rPr lang="en-US" b="0" spc="-35">
                <a:latin typeface="Verdana"/>
                <a:cs typeface="Verdana"/>
              </a:rPr>
              <a:t> </a:t>
            </a:r>
            <a:r>
              <a:rPr lang="en-US" b="0" spc="-5">
                <a:latin typeface="Verdana"/>
                <a:cs typeface="Verdana"/>
              </a:rPr>
              <a:t>(2)</a:t>
            </a:r>
            <a:endParaRPr lang="en-US" b="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object 9"/>
          <p:cNvGrpSpPr/>
          <p:nvPr/>
        </p:nvGrpSpPr>
        <p:grpSpPr>
          <a:xfrm>
            <a:off x="457200" y="6332220"/>
            <a:ext cx="9144000" cy="982980"/>
            <a:chOff x="457200" y="6332220"/>
            <a:chExt cx="9144000" cy="982980"/>
          </a:xfrm>
        </p:grpSpPr>
        <p:sp>
          <p:nvSpPr>
            <p:cNvPr id="10" name="object 10"/>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1" name="object 1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2" name="object 1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30</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02181"/>
            <a:ext cx="7991475" cy="4791710"/>
          </a:xfrm>
          <a:prstGeom prst="rect">
            <a:avLst/>
          </a:prstGeom>
        </p:spPr>
        <p:txBody>
          <a:bodyPr vert="horz" wrap="square" lIns="0" tIns="87630" rIns="0" bIns="0" rtlCol="0">
            <a:spAutoFit/>
          </a:bodyPr>
          <a:lstStyle/>
          <a:p>
            <a:pPr marL="298450" indent="-285750">
              <a:lnSpc>
                <a:spcPct val="100000"/>
              </a:lnSpc>
              <a:spcBef>
                <a:spcPts val="690"/>
              </a:spcBef>
              <a:buClr>
                <a:srgbClr val="CC9A00"/>
              </a:buClr>
              <a:buSzPct val="64583"/>
              <a:buFont typeface="Wingdings"/>
              <a:buChar char=""/>
              <a:tabLst>
                <a:tab pos="297815" algn="l"/>
                <a:tab pos="298450" algn="l"/>
              </a:tabLst>
            </a:pPr>
            <a:r>
              <a:rPr sz="2400" spc="-5" dirty="0">
                <a:latin typeface="Arial"/>
                <a:cs typeface="Arial"/>
              </a:rPr>
              <a:t>Hãy xét khung tổng quát (generic frame) sau</a:t>
            </a:r>
            <a:r>
              <a:rPr sz="2400" spc="45" dirty="0">
                <a:latin typeface="Arial"/>
                <a:cs typeface="Arial"/>
              </a:rPr>
              <a:t> </a:t>
            </a:r>
            <a:r>
              <a:rPr sz="2400" spc="-5" dirty="0">
                <a:latin typeface="Arial"/>
                <a:cs typeface="Arial"/>
              </a:rPr>
              <a:t>đây</a:t>
            </a:r>
            <a:endParaRPr sz="2400">
              <a:latin typeface="Arial"/>
              <a:cs typeface="Arial"/>
            </a:endParaRPr>
          </a:p>
          <a:p>
            <a:pPr marL="1174115">
              <a:lnSpc>
                <a:spcPct val="100000"/>
              </a:lnSpc>
              <a:spcBef>
                <a:spcPts val="490"/>
              </a:spcBef>
            </a:pPr>
            <a:r>
              <a:rPr sz="2000" spc="-5" dirty="0">
                <a:latin typeface="Arial"/>
                <a:cs typeface="Arial"/>
              </a:rPr>
              <a:t>(CanadianCity</a:t>
            </a:r>
            <a:endParaRPr sz="2000">
              <a:latin typeface="Arial"/>
              <a:cs typeface="Arial"/>
            </a:endParaRPr>
          </a:p>
          <a:p>
            <a:pPr marL="1269365">
              <a:lnSpc>
                <a:spcPct val="100000"/>
              </a:lnSpc>
              <a:spcBef>
                <a:spcPts val="480"/>
              </a:spcBef>
            </a:pPr>
            <a:r>
              <a:rPr sz="2000" spc="-5" dirty="0">
                <a:latin typeface="Arial"/>
                <a:cs typeface="Arial"/>
              </a:rPr>
              <a:t>&lt;:</a:t>
            </a:r>
            <a:r>
              <a:rPr sz="2000" b="1" spc="-5" dirty="0">
                <a:latin typeface="Arial"/>
                <a:cs typeface="Arial"/>
              </a:rPr>
              <a:t>IS-A</a:t>
            </a:r>
            <a:r>
              <a:rPr sz="2000" b="1" spc="-25" dirty="0">
                <a:latin typeface="Arial"/>
                <a:cs typeface="Arial"/>
              </a:rPr>
              <a:t> </a:t>
            </a:r>
            <a:r>
              <a:rPr sz="2000" spc="-5" dirty="0">
                <a:latin typeface="Arial"/>
                <a:cs typeface="Arial"/>
              </a:rPr>
              <a:t>City&gt;</a:t>
            </a:r>
            <a:endParaRPr sz="2000">
              <a:latin typeface="Arial"/>
              <a:cs typeface="Arial"/>
            </a:endParaRPr>
          </a:p>
          <a:p>
            <a:pPr marL="1270000">
              <a:lnSpc>
                <a:spcPct val="100000"/>
              </a:lnSpc>
              <a:spcBef>
                <a:spcPts val="480"/>
              </a:spcBef>
            </a:pPr>
            <a:r>
              <a:rPr sz="2000" spc="-10" dirty="0">
                <a:latin typeface="Arial"/>
                <a:cs typeface="Arial"/>
              </a:rPr>
              <a:t>&lt;:Province CanadianProvince&gt;</a:t>
            </a:r>
            <a:endParaRPr sz="2000">
              <a:latin typeface="Arial"/>
              <a:cs typeface="Arial"/>
            </a:endParaRPr>
          </a:p>
          <a:p>
            <a:pPr marL="1270000">
              <a:lnSpc>
                <a:spcPct val="100000"/>
              </a:lnSpc>
              <a:spcBef>
                <a:spcPts val="480"/>
              </a:spcBef>
            </a:pPr>
            <a:r>
              <a:rPr sz="2000" spc="-5" dirty="0">
                <a:latin typeface="Arial"/>
                <a:cs typeface="Arial"/>
              </a:rPr>
              <a:t>&lt;:Country</a:t>
            </a:r>
            <a:r>
              <a:rPr sz="2000" spc="-20" dirty="0">
                <a:latin typeface="Arial"/>
                <a:cs typeface="Arial"/>
              </a:rPr>
              <a:t> </a:t>
            </a:r>
            <a:r>
              <a:rPr sz="2000" spc="-5" dirty="0">
                <a:latin typeface="Arial"/>
                <a:cs typeface="Arial"/>
              </a:rPr>
              <a:t>canada&gt;</a:t>
            </a:r>
            <a:endParaRPr sz="2000">
              <a:latin typeface="Arial"/>
              <a:cs typeface="Arial"/>
            </a:endParaRPr>
          </a:p>
          <a:p>
            <a:pPr marL="1269365">
              <a:lnSpc>
                <a:spcPct val="100000"/>
              </a:lnSpc>
              <a:spcBef>
                <a:spcPts val="480"/>
              </a:spcBef>
            </a:pPr>
            <a:r>
              <a:rPr sz="2000" spc="-5" dirty="0">
                <a:latin typeface="Arial"/>
                <a:cs typeface="Arial"/>
              </a:rPr>
              <a:t>…)</a:t>
            </a:r>
            <a:endParaRPr sz="2000">
              <a:latin typeface="Arial"/>
              <a:cs typeface="Arial"/>
            </a:endParaRPr>
          </a:p>
          <a:p>
            <a:pPr marL="298450" indent="-285750">
              <a:lnSpc>
                <a:spcPct val="100000"/>
              </a:lnSpc>
              <a:spcBef>
                <a:spcPts val="565"/>
              </a:spcBef>
              <a:buClr>
                <a:srgbClr val="CC9A00"/>
              </a:buClr>
              <a:buSzPct val="64583"/>
              <a:buFont typeface="Wingdings"/>
              <a:buChar char=""/>
              <a:tabLst>
                <a:tab pos="297815" algn="l"/>
                <a:tab pos="298450" algn="l"/>
              </a:tabLst>
            </a:pPr>
            <a:r>
              <a:rPr sz="2400" spc="-5" dirty="0">
                <a:latin typeface="Arial"/>
                <a:cs typeface="Arial"/>
              </a:rPr>
              <a:t>Hãy xét khung </a:t>
            </a:r>
            <a:r>
              <a:rPr sz="2400" dirty="0">
                <a:latin typeface="Arial"/>
                <a:cs typeface="Arial"/>
              </a:rPr>
              <a:t>cụ </a:t>
            </a:r>
            <a:r>
              <a:rPr sz="2400" spc="-5" dirty="0">
                <a:latin typeface="Arial"/>
                <a:cs typeface="Arial"/>
              </a:rPr>
              <a:t>thể (individual </a:t>
            </a:r>
            <a:r>
              <a:rPr sz="2400" dirty="0">
                <a:latin typeface="Arial"/>
                <a:cs typeface="Arial"/>
              </a:rPr>
              <a:t>frame) sau</a:t>
            </a:r>
            <a:r>
              <a:rPr sz="2400" spc="10" dirty="0">
                <a:latin typeface="Arial"/>
                <a:cs typeface="Arial"/>
              </a:rPr>
              <a:t> </a:t>
            </a:r>
            <a:r>
              <a:rPr sz="2400" spc="-5" dirty="0">
                <a:latin typeface="Arial"/>
                <a:cs typeface="Arial"/>
              </a:rPr>
              <a:t>đây</a:t>
            </a:r>
            <a:endParaRPr sz="2400">
              <a:latin typeface="Arial"/>
              <a:cs typeface="Arial"/>
            </a:endParaRPr>
          </a:p>
          <a:p>
            <a:pPr marL="1174750">
              <a:lnSpc>
                <a:spcPct val="100000"/>
              </a:lnSpc>
              <a:spcBef>
                <a:spcPts val="490"/>
              </a:spcBef>
            </a:pPr>
            <a:r>
              <a:rPr sz="2000" spc="-5" dirty="0">
                <a:latin typeface="Arial"/>
                <a:cs typeface="Arial"/>
              </a:rPr>
              <a:t>(city134</a:t>
            </a:r>
            <a:endParaRPr sz="2000">
              <a:latin typeface="Arial"/>
              <a:cs typeface="Arial"/>
            </a:endParaRPr>
          </a:p>
          <a:p>
            <a:pPr marL="1270000">
              <a:lnSpc>
                <a:spcPct val="100000"/>
              </a:lnSpc>
              <a:spcBef>
                <a:spcPts val="480"/>
              </a:spcBef>
            </a:pPr>
            <a:r>
              <a:rPr sz="2000" spc="-5" dirty="0">
                <a:latin typeface="Arial"/>
                <a:cs typeface="Arial"/>
              </a:rPr>
              <a:t>&lt;:</a:t>
            </a:r>
            <a:r>
              <a:rPr sz="2000" b="1" spc="-5" dirty="0">
                <a:latin typeface="Arial"/>
                <a:cs typeface="Arial"/>
              </a:rPr>
              <a:t>INSTANCE-OF</a:t>
            </a:r>
            <a:r>
              <a:rPr sz="2000" b="1" dirty="0">
                <a:latin typeface="Arial"/>
                <a:cs typeface="Arial"/>
              </a:rPr>
              <a:t> </a:t>
            </a:r>
            <a:r>
              <a:rPr sz="2000" spc="-5" dirty="0">
                <a:latin typeface="Arial"/>
                <a:cs typeface="Arial"/>
              </a:rPr>
              <a:t>CanadianCity&gt;</a:t>
            </a:r>
            <a:endParaRPr sz="2000">
              <a:latin typeface="Arial"/>
              <a:cs typeface="Arial"/>
            </a:endParaRPr>
          </a:p>
          <a:p>
            <a:pPr marL="1270000">
              <a:lnSpc>
                <a:spcPct val="100000"/>
              </a:lnSpc>
              <a:spcBef>
                <a:spcPts val="480"/>
              </a:spcBef>
            </a:pPr>
            <a:r>
              <a:rPr sz="2000" spc="-5" dirty="0">
                <a:latin typeface="Arial"/>
                <a:cs typeface="Arial"/>
              </a:rPr>
              <a:t>…)</a:t>
            </a:r>
            <a:endParaRPr sz="2000">
              <a:latin typeface="Arial"/>
              <a:cs typeface="Arial"/>
            </a:endParaRPr>
          </a:p>
          <a:p>
            <a:pPr marL="298450" indent="-285750">
              <a:lnSpc>
                <a:spcPct val="100000"/>
              </a:lnSpc>
              <a:spcBef>
                <a:spcPts val="1630"/>
              </a:spcBef>
              <a:buClr>
                <a:srgbClr val="CC9A00"/>
              </a:buClr>
              <a:buSzPct val="64583"/>
              <a:buFont typeface="Wingdings"/>
              <a:buChar char=""/>
              <a:tabLst>
                <a:tab pos="297815" algn="l"/>
                <a:tab pos="298450" algn="l"/>
              </a:tabLst>
            </a:pPr>
            <a:r>
              <a:rPr sz="2400" spc="-5" dirty="0">
                <a:latin typeface="Arial"/>
                <a:cs typeface="Arial"/>
              </a:rPr>
              <a:t>Đối với khung </a:t>
            </a:r>
            <a:r>
              <a:rPr sz="2400" spc="-5" dirty="0">
                <a:latin typeface="Courier New"/>
                <a:cs typeface="Courier New"/>
              </a:rPr>
              <a:t>city134</a:t>
            </a:r>
            <a:r>
              <a:rPr sz="2400" spc="-5" dirty="0">
                <a:latin typeface="Arial"/>
                <a:cs typeface="Arial"/>
              </a:rPr>
              <a:t>, giá trị (mặc định) cho thuộc</a:t>
            </a:r>
            <a:r>
              <a:rPr sz="2400" spc="35" dirty="0">
                <a:latin typeface="Arial"/>
                <a:cs typeface="Arial"/>
              </a:rPr>
              <a:t> </a:t>
            </a:r>
            <a:r>
              <a:rPr sz="2400" spc="-5" dirty="0">
                <a:latin typeface="Arial"/>
                <a:cs typeface="Arial"/>
              </a:rPr>
              <a:t>tính</a:t>
            </a:r>
            <a:endParaRPr sz="2400">
              <a:latin typeface="Arial"/>
              <a:cs typeface="Arial"/>
            </a:endParaRPr>
          </a:p>
          <a:p>
            <a:pPr marL="298450">
              <a:lnSpc>
                <a:spcPct val="100000"/>
              </a:lnSpc>
              <a:spcBef>
                <a:spcPts val="160"/>
              </a:spcBef>
            </a:pPr>
            <a:r>
              <a:rPr sz="2400" i="1" spc="-5" dirty="0">
                <a:latin typeface="Arial"/>
                <a:cs typeface="Arial"/>
              </a:rPr>
              <a:t>:Country </a:t>
            </a:r>
            <a:r>
              <a:rPr sz="2400" dirty="0">
                <a:latin typeface="Arial"/>
                <a:cs typeface="Arial"/>
              </a:rPr>
              <a:t>là </a:t>
            </a:r>
            <a:r>
              <a:rPr sz="2400" spc="-5" dirty="0">
                <a:latin typeface="Arial"/>
                <a:cs typeface="Arial"/>
              </a:rPr>
              <a:t>canada</a:t>
            </a:r>
            <a:endParaRPr sz="2400">
              <a:latin typeface="Arial"/>
              <a:cs typeface="Arial"/>
            </a:endParaRPr>
          </a:p>
        </p:txBody>
      </p:sp>
      <p:sp>
        <p:nvSpPr>
          <p:cNvPr id="15" name="Title 14">
            <a:extLst>
              <a:ext uri="{FF2B5EF4-FFF2-40B4-BE49-F238E27FC236}">
                <a16:creationId xmlns:a16="http://schemas.microsoft.com/office/drawing/2014/main" id="{B230F1D5-0C43-4387-8CA2-B029C2A1BBBA}"/>
              </a:ext>
            </a:extLst>
          </p:cNvPr>
          <p:cNvSpPr>
            <a:spLocks noGrp="1"/>
          </p:cNvSpPr>
          <p:nvPr>
            <p:ph type="title"/>
          </p:nvPr>
        </p:nvSpPr>
        <p:spPr/>
        <p:txBody>
          <a:bodyPr/>
          <a:lstStyle/>
          <a:p>
            <a:r>
              <a:rPr lang="en-US" b="0" spc="-5">
                <a:latin typeface="Verdana"/>
                <a:cs typeface="Verdana"/>
              </a:rPr>
              <a:t>Khung </a:t>
            </a:r>
            <a:r>
              <a:rPr lang="en-US" b="0">
                <a:latin typeface="Verdana"/>
                <a:cs typeface="Verdana"/>
              </a:rPr>
              <a:t>– </a:t>
            </a:r>
            <a:r>
              <a:rPr lang="en-US" b="0" spc="-5">
                <a:latin typeface="Verdana"/>
                <a:cs typeface="Verdana"/>
              </a:rPr>
              <a:t>Giá trị mặc định</a:t>
            </a:r>
            <a:r>
              <a:rPr lang="en-US" b="0" spc="-20">
                <a:latin typeface="Verdana"/>
                <a:cs typeface="Verdana"/>
              </a:rPr>
              <a:t> </a:t>
            </a:r>
            <a:r>
              <a:rPr lang="en-US" b="0" spc="-5">
                <a:latin typeface="Verdana"/>
                <a:cs typeface="Verdana"/>
              </a:rPr>
              <a:t>(1)</a:t>
            </a:r>
            <a:endParaRPr lang="en-US" b="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31</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7" name="object 7"/>
          <p:cNvSpPr txBox="1"/>
          <p:nvPr/>
        </p:nvSpPr>
        <p:spPr>
          <a:xfrm>
            <a:off x="993139" y="1592344"/>
            <a:ext cx="7618095" cy="3533140"/>
          </a:xfrm>
          <a:prstGeom prst="rect">
            <a:avLst/>
          </a:prstGeom>
        </p:spPr>
        <p:txBody>
          <a:bodyPr vert="horz" wrap="square" lIns="0" tIns="197485" rIns="0" bIns="0" rtlCol="0">
            <a:spAutoFit/>
          </a:bodyPr>
          <a:lstStyle/>
          <a:p>
            <a:pPr marL="298450" indent="-285750">
              <a:lnSpc>
                <a:spcPct val="100000"/>
              </a:lnSpc>
              <a:spcBef>
                <a:spcPts val="1555"/>
              </a:spcBef>
              <a:buClr>
                <a:srgbClr val="CC9A00"/>
              </a:buClr>
              <a:buSzPct val="64583"/>
              <a:buFont typeface="Wingdings"/>
              <a:buChar char=""/>
              <a:tabLst>
                <a:tab pos="297815" algn="l"/>
                <a:tab pos="298450" algn="l"/>
              </a:tabLst>
            </a:pPr>
            <a:r>
              <a:rPr sz="2400" spc="-5" dirty="0">
                <a:latin typeface="Arial"/>
                <a:cs typeface="Arial"/>
              </a:rPr>
              <a:t>Hãy xét khung </a:t>
            </a:r>
            <a:r>
              <a:rPr sz="2400" dirty="0">
                <a:latin typeface="Arial"/>
                <a:cs typeface="Arial"/>
              </a:rPr>
              <a:t>cụ </a:t>
            </a:r>
            <a:r>
              <a:rPr sz="2400" spc="-5" dirty="0">
                <a:latin typeface="Arial"/>
                <a:cs typeface="Arial"/>
              </a:rPr>
              <a:t>thể (individual </a:t>
            </a:r>
            <a:r>
              <a:rPr sz="2400" dirty="0">
                <a:latin typeface="Arial"/>
                <a:cs typeface="Arial"/>
              </a:rPr>
              <a:t>frame) </a:t>
            </a:r>
            <a:r>
              <a:rPr sz="2400" spc="-5" dirty="0">
                <a:latin typeface="Arial"/>
                <a:cs typeface="Arial"/>
              </a:rPr>
              <a:t>sau</a:t>
            </a:r>
            <a:r>
              <a:rPr sz="2400" spc="5" dirty="0">
                <a:latin typeface="Arial"/>
                <a:cs typeface="Arial"/>
              </a:rPr>
              <a:t> </a:t>
            </a:r>
            <a:r>
              <a:rPr sz="2400" spc="-5" dirty="0">
                <a:latin typeface="Arial"/>
                <a:cs typeface="Arial"/>
              </a:rPr>
              <a:t>đây</a:t>
            </a:r>
            <a:endParaRPr sz="2400">
              <a:latin typeface="Arial"/>
              <a:cs typeface="Arial"/>
            </a:endParaRPr>
          </a:p>
          <a:p>
            <a:pPr marL="1536065">
              <a:lnSpc>
                <a:spcPct val="100000"/>
              </a:lnSpc>
              <a:spcBef>
                <a:spcPts val="1210"/>
              </a:spcBef>
            </a:pPr>
            <a:r>
              <a:rPr sz="2000" spc="-5" dirty="0">
                <a:latin typeface="Arial"/>
                <a:cs typeface="Arial"/>
              </a:rPr>
              <a:t>(city135</a:t>
            </a:r>
            <a:endParaRPr sz="2000">
              <a:latin typeface="Arial"/>
              <a:cs typeface="Arial"/>
            </a:endParaRPr>
          </a:p>
          <a:p>
            <a:pPr marL="1631314">
              <a:lnSpc>
                <a:spcPct val="100000"/>
              </a:lnSpc>
              <a:spcBef>
                <a:spcPts val="480"/>
              </a:spcBef>
            </a:pPr>
            <a:r>
              <a:rPr sz="2000" spc="-5" dirty="0">
                <a:latin typeface="Arial"/>
                <a:cs typeface="Arial"/>
              </a:rPr>
              <a:t>&lt;:</a:t>
            </a:r>
            <a:r>
              <a:rPr sz="2000" b="1" spc="-5" dirty="0">
                <a:latin typeface="Arial"/>
                <a:cs typeface="Arial"/>
              </a:rPr>
              <a:t>INSTANCE-OF</a:t>
            </a:r>
            <a:r>
              <a:rPr sz="2000" b="1" dirty="0">
                <a:latin typeface="Arial"/>
                <a:cs typeface="Arial"/>
              </a:rPr>
              <a:t> </a:t>
            </a:r>
            <a:r>
              <a:rPr sz="2000" spc="-5" dirty="0">
                <a:latin typeface="Arial"/>
                <a:cs typeface="Arial"/>
              </a:rPr>
              <a:t>CanadianCity&gt;</a:t>
            </a:r>
            <a:endParaRPr sz="2000">
              <a:latin typeface="Arial"/>
              <a:cs typeface="Arial"/>
            </a:endParaRPr>
          </a:p>
          <a:p>
            <a:pPr marL="1631314">
              <a:lnSpc>
                <a:spcPct val="100000"/>
              </a:lnSpc>
              <a:spcBef>
                <a:spcPts val="480"/>
              </a:spcBef>
            </a:pPr>
            <a:r>
              <a:rPr sz="2000" spc="-10" dirty="0">
                <a:latin typeface="Arial"/>
                <a:cs typeface="Arial"/>
              </a:rPr>
              <a:t>&lt;:Country</a:t>
            </a:r>
            <a:r>
              <a:rPr sz="2000" spc="-25" dirty="0">
                <a:latin typeface="Arial"/>
                <a:cs typeface="Arial"/>
              </a:rPr>
              <a:t> </a:t>
            </a:r>
            <a:r>
              <a:rPr sz="2000" spc="-10" dirty="0">
                <a:latin typeface="Arial"/>
                <a:cs typeface="Arial"/>
              </a:rPr>
              <a:t>holland&gt;</a:t>
            </a:r>
            <a:endParaRPr sz="2000">
              <a:latin typeface="Arial"/>
              <a:cs typeface="Arial"/>
            </a:endParaRPr>
          </a:p>
          <a:p>
            <a:pPr marL="1631950">
              <a:lnSpc>
                <a:spcPct val="100000"/>
              </a:lnSpc>
              <a:spcBef>
                <a:spcPts val="480"/>
              </a:spcBef>
            </a:pPr>
            <a:r>
              <a:rPr sz="2000" spc="-5" dirty="0">
                <a:latin typeface="Arial"/>
                <a:cs typeface="Arial"/>
              </a:rPr>
              <a:t>…)</a:t>
            </a:r>
            <a:endParaRPr sz="2000">
              <a:latin typeface="Arial"/>
              <a:cs typeface="Arial"/>
            </a:endParaRPr>
          </a:p>
          <a:p>
            <a:pPr>
              <a:lnSpc>
                <a:spcPct val="100000"/>
              </a:lnSpc>
              <a:spcBef>
                <a:spcPts val="40"/>
              </a:spcBef>
            </a:pPr>
            <a:endParaRPr sz="1900">
              <a:latin typeface="Arial"/>
              <a:cs typeface="Arial"/>
            </a:endParaRPr>
          </a:p>
          <a:p>
            <a:pPr marL="298450" indent="-285750">
              <a:lnSpc>
                <a:spcPct val="100000"/>
              </a:lnSpc>
              <a:spcBef>
                <a:spcPts val="5"/>
              </a:spcBef>
              <a:buClr>
                <a:srgbClr val="CC9A00"/>
              </a:buClr>
              <a:buSzPct val="64583"/>
              <a:buFont typeface="Wingdings"/>
              <a:buChar char=""/>
              <a:tabLst>
                <a:tab pos="297815" algn="l"/>
                <a:tab pos="298450" algn="l"/>
              </a:tabLst>
            </a:pPr>
            <a:r>
              <a:rPr sz="2400" spc="-5" dirty="0">
                <a:latin typeface="Arial"/>
                <a:cs typeface="Arial"/>
              </a:rPr>
              <a:t>Đối với khung </a:t>
            </a:r>
            <a:r>
              <a:rPr sz="2400" spc="-5" dirty="0">
                <a:latin typeface="Courier New"/>
                <a:cs typeface="Courier New"/>
              </a:rPr>
              <a:t>city135</a:t>
            </a:r>
            <a:r>
              <a:rPr sz="2400" spc="-5" dirty="0">
                <a:latin typeface="Arial"/>
                <a:cs typeface="Arial"/>
              </a:rPr>
              <a:t>, thì giá trị cho thuộc</a:t>
            </a:r>
            <a:r>
              <a:rPr sz="2400" spc="15" dirty="0">
                <a:latin typeface="Arial"/>
                <a:cs typeface="Arial"/>
              </a:rPr>
              <a:t> </a:t>
            </a:r>
            <a:r>
              <a:rPr sz="2400" spc="-5" dirty="0">
                <a:latin typeface="Arial"/>
                <a:cs typeface="Arial"/>
              </a:rPr>
              <a:t>tính</a:t>
            </a:r>
            <a:endParaRPr sz="2400">
              <a:latin typeface="Arial"/>
              <a:cs typeface="Arial"/>
            </a:endParaRPr>
          </a:p>
          <a:p>
            <a:pPr marL="297815" marR="5080">
              <a:lnSpc>
                <a:spcPct val="100000"/>
              </a:lnSpc>
              <a:spcBef>
                <a:spcPts val="160"/>
              </a:spcBef>
            </a:pPr>
            <a:r>
              <a:rPr sz="2400" i="1" spc="-5" dirty="0">
                <a:latin typeface="Arial"/>
                <a:cs typeface="Arial"/>
              </a:rPr>
              <a:t>:Country </a:t>
            </a:r>
            <a:r>
              <a:rPr sz="2400" dirty="0">
                <a:latin typeface="Arial"/>
                <a:cs typeface="Arial"/>
              </a:rPr>
              <a:t>là holland </a:t>
            </a:r>
            <a:r>
              <a:rPr sz="2400" spc="-5" dirty="0">
                <a:latin typeface="Arial"/>
                <a:cs typeface="Arial"/>
              </a:rPr>
              <a:t>(chứ không phải </a:t>
            </a:r>
            <a:r>
              <a:rPr sz="2400" dirty="0">
                <a:latin typeface="Arial"/>
                <a:cs typeface="Arial"/>
              </a:rPr>
              <a:t>là </a:t>
            </a:r>
            <a:r>
              <a:rPr sz="2400" spc="-5" dirty="0">
                <a:latin typeface="Arial"/>
                <a:cs typeface="Arial"/>
              </a:rPr>
              <a:t>giá trị mặc định  canada)</a:t>
            </a:r>
            <a:endParaRPr sz="24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7BE5FAC3-0A15-4B47-9D6C-796EDB1AF7BC}"/>
              </a:ext>
            </a:extLst>
          </p:cNvPr>
          <p:cNvSpPr>
            <a:spLocks noGrp="1"/>
          </p:cNvSpPr>
          <p:nvPr>
            <p:ph type="title"/>
          </p:nvPr>
        </p:nvSpPr>
        <p:spPr/>
        <p:txBody>
          <a:bodyPr/>
          <a:lstStyle/>
          <a:p>
            <a:r>
              <a:rPr lang="en-US" b="0" spc="-5">
                <a:latin typeface="Verdana"/>
                <a:cs typeface="Verdana"/>
              </a:rPr>
              <a:t>Khung </a:t>
            </a:r>
            <a:r>
              <a:rPr lang="en-US" b="0">
                <a:latin typeface="Verdana"/>
                <a:cs typeface="Verdana"/>
              </a:rPr>
              <a:t>– </a:t>
            </a:r>
            <a:r>
              <a:rPr lang="en-US" b="0" spc="-5">
                <a:latin typeface="Verdana"/>
                <a:cs typeface="Verdana"/>
              </a:rPr>
              <a:t>Giá trị mặc định</a:t>
            </a:r>
            <a:r>
              <a:rPr lang="en-US" b="0" spc="-20">
                <a:latin typeface="Verdana"/>
                <a:cs typeface="Verdana"/>
              </a:rPr>
              <a:t> </a:t>
            </a:r>
            <a:r>
              <a:rPr lang="en-US" b="0" spc="-5">
                <a:latin typeface="Verdana"/>
                <a:cs typeface="Verdana"/>
              </a:rPr>
              <a:t>(2)</a:t>
            </a:r>
            <a:endParaRPr lang="en-US" b="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32</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830820" cy="1793239"/>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Các thủ tục </a:t>
            </a:r>
            <a:r>
              <a:rPr sz="2400" dirty="0">
                <a:latin typeface="Arial"/>
                <a:cs typeface="Arial"/>
              </a:rPr>
              <a:t>và </a:t>
            </a:r>
            <a:r>
              <a:rPr sz="2400" spc="-5" dirty="0">
                <a:latin typeface="Arial"/>
                <a:cs typeface="Arial"/>
              </a:rPr>
              <a:t>các giá trị thuộc tính của một khung tổng  quát hơn </a:t>
            </a:r>
            <a:r>
              <a:rPr sz="2400" dirty="0">
                <a:latin typeface="Arial"/>
                <a:cs typeface="Arial"/>
              </a:rPr>
              <a:t>sẽ </a:t>
            </a:r>
            <a:r>
              <a:rPr sz="2400" spc="-5" dirty="0">
                <a:latin typeface="Arial"/>
                <a:cs typeface="Arial"/>
              </a:rPr>
              <a:t>được áp dụng (kế thừa) bởi một khung </a:t>
            </a:r>
            <a:r>
              <a:rPr sz="2400" dirty="0">
                <a:latin typeface="Arial"/>
                <a:cs typeface="Arial"/>
              </a:rPr>
              <a:t>cụ  </a:t>
            </a:r>
            <a:r>
              <a:rPr sz="2400" spc="-5" dirty="0">
                <a:latin typeface="Arial"/>
                <a:cs typeface="Arial"/>
              </a:rPr>
              <a:t>thể hơn, thông qua cơ chế </a:t>
            </a:r>
            <a:r>
              <a:rPr sz="2400" dirty="0">
                <a:latin typeface="Arial"/>
                <a:cs typeface="Arial"/>
              </a:rPr>
              <a:t>kế</a:t>
            </a:r>
            <a:r>
              <a:rPr sz="2400" spc="20" dirty="0">
                <a:latin typeface="Arial"/>
                <a:cs typeface="Arial"/>
              </a:rPr>
              <a:t> </a:t>
            </a:r>
            <a:r>
              <a:rPr sz="2400" spc="-5" dirty="0">
                <a:latin typeface="Arial"/>
                <a:cs typeface="Arial"/>
              </a:rPr>
              <a:t>thừa</a:t>
            </a:r>
            <a:endParaRPr sz="2400">
              <a:latin typeface="Arial"/>
              <a:cs typeface="Arial"/>
            </a:endParaRPr>
          </a:p>
          <a:p>
            <a:pPr marL="298450" indent="-285750">
              <a:lnSpc>
                <a:spcPct val="100000"/>
              </a:lnSpc>
              <a:spcBef>
                <a:spcPts val="2400"/>
              </a:spcBef>
              <a:buClr>
                <a:srgbClr val="CC9A00"/>
              </a:buClr>
              <a:buSzPct val="64583"/>
              <a:buFont typeface="Wingdings"/>
              <a:buChar char=""/>
              <a:tabLst>
                <a:tab pos="297815" algn="l"/>
                <a:tab pos="298450" algn="l"/>
              </a:tabLst>
            </a:pPr>
            <a:r>
              <a:rPr sz="2400" dirty="0">
                <a:latin typeface="Arial"/>
                <a:cs typeface="Arial"/>
              </a:rPr>
              <a:t>Ví</a:t>
            </a:r>
            <a:r>
              <a:rPr sz="2400" spc="-20" dirty="0">
                <a:latin typeface="Arial"/>
                <a:cs typeface="Arial"/>
              </a:rPr>
              <a:t> </a:t>
            </a:r>
            <a:r>
              <a:rPr sz="2400" spc="-5" dirty="0">
                <a:latin typeface="Arial"/>
                <a:cs typeface="Arial"/>
              </a:rPr>
              <a:t>dụ</a:t>
            </a:r>
            <a:endParaRPr sz="2400">
              <a:latin typeface="Arial"/>
              <a:cs typeface="Arial"/>
            </a:endParaRPr>
          </a:p>
        </p:txBody>
      </p:sp>
      <p:sp>
        <p:nvSpPr>
          <p:cNvPr id="8" name="object 8"/>
          <p:cNvSpPr txBox="1"/>
          <p:nvPr/>
        </p:nvSpPr>
        <p:spPr>
          <a:xfrm>
            <a:off x="2155189" y="3637747"/>
            <a:ext cx="1602740" cy="756920"/>
          </a:xfrm>
          <a:prstGeom prst="rect">
            <a:avLst/>
          </a:prstGeom>
        </p:spPr>
        <p:txBody>
          <a:bodyPr vert="horz" wrap="square" lIns="0" tIns="73660" rIns="0" bIns="0" rtlCol="0">
            <a:spAutoFit/>
          </a:bodyPr>
          <a:lstStyle/>
          <a:p>
            <a:pPr marL="12700">
              <a:lnSpc>
                <a:spcPct val="100000"/>
              </a:lnSpc>
              <a:spcBef>
                <a:spcPts val="580"/>
              </a:spcBef>
            </a:pPr>
            <a:r>
              <a:rPr sz="2000" spc="-10" dirty="0">
                <a:latin typeface="Arial"/>
                <a:cs typeface="Arial"/>
              </a:rPr>
              <a:t>(CoffeeTable</a:t>
            </a:r>
            <a:endParaRPr sz="2000">
              <a:latin typeface="Arial"/>
              <a:cs typeface="Arial"/>
            </a:endParaRPr>
          </a:p>
          <a:p>
            <a:pPr marL="12700">
              <a:lnSpc>
                <a:spcPct val="100000"/>
              </a:lnSpc>
              <a:spcBef>
                <a:spcPts val="480"/>
              </a:spcBef>
            </a:pPr>
            <a:r>
              <a:rPr sz="2000" spc="-5" dirty="0">
                <a:latin typeface="Arial"/>
                <a:cs typeface="Arial"/>
              </a:rPr>
              <a:t>&lt;:</a:t>
            </a:r>
            <a:r>
              <a:rPr sz="2000" b="1" spc="-5" dirty="0">
                <a:latin typeface="Arial"/>
                <a:cs typeface="Arial"/>
              </a:rPr>
              <a:t>IS-A</a:t>
            </a:r>
            <a:r>
              <a:rPr sz="2000" b="1" spc="-80" dirty="0">
                <a:latin typeface="Arial"/>
                <a:cs typeface="Arial"/>
              </a:rPr>
              <a:t> </a:t>
            </a:r>
            <a:r>
              <a:rPr sz="2000" spc="-10" dirty="0">
                <a:latin typeface="Arial"/>
                <a:cs typeface="Arial"/>
              </a:rPr>
              <a:t>Table&gt;</a:t>
            </a:r>
            <a:endParaRPr sz="2000">
              <a:latin typeface="Arial"/>
              <a:cs typeface="Arial"/>
            </a:endParaRPr>
          </a:p>
        </p:txBody>
      </p:sp>
      <p:sp>
        <p:nvSpPr>
          <p:cNvPr id="9" name="object 9"/>
          <p:cNvSpPr txBox="1"/>
          <p:nvPr/>
        </p:nvSpPr>
        <p:spPr>
          <a:xfrm>
            <a:off x="2155189" y="4277817"/>
            <a:ext cx="2675890" cy="1671320"/>
          </a:xfrm>
          <a:prstGeom prst="rect">
            <a:avLst/>
          </a:prstGeom>
        </p:spPr>
        <p:txBody>
          <a:bodyPr vert="horz" wrap="square" lIns="0" tIns="165100" rIns="0" bIns="0" rtlCol="0">
            <a:spAutoFit/>
          </a:bodyPr>
          <a:lstStyle/>
          <a:p>
            <a:pPr marL="12700">
              <a:lnSpc>
                <a:spcPct val="100000"/>
              </a:lnSpc>
              <a:spcBef>
                <a:spcPts val="1300"/>
              </a:spcBef>
            </a:pPr>
            <a:r>
              <a:rPr sz="2000" spc="-5" dirty="0">
                <a:latin typeface="Arial"/>
                <a:cs typeface="Arial"/>
              </a:rPr>
              <a:t>...)</a:t>
            </a:r>
            <a:endParaRPr sz="2000">
              <a:latin typeface="Arial"/>
              <a:cs typeface="Arial"/>
            </a:endParaRPr>
          </a:p>
          <a:p>
            <a:pPr marL="12700">
              <a:lnSpc>
                <a:spcPct val="100000"/>
              </a:lnSpc>
              <a:spcBef>
                <a:spcPts val="1200"/>
              </a:spcBef>
            </a:pPr>
            <a:r>
              <a:rPr sz="2000" spc="-10" dirty="0">
                <a:latin typeface="Arial"/>
                <a:cs typeface="Arial"/>
              </a:rPr>
              <a:t>(MahoganyCoffeeTable</a:t>
            </a:r>
            <a:endParaRPr sz="2000">
              <a:latin typeface="Arial"/>
              <a:cs typeface="Arial"/>
            </a:endParaRPr>
          </a:p>
          <a:p>
            <a:pPr marL="12700">
              <a:lnSpc>
                <a:spcPct val="100000"/>
              </a:lnSpc>
              <a:spcBef>
                <a:spcPts val="480"/>
              </a:spcBef>
            </a:pPr>
            <a:r>
              <a:rPr sz="2000" spc="-5" dirty="0">
                <a:latin typeface="Arial"/>
                <a:cs typeface="Arial"/>
              </a:rPr>
              <a:t>&lt;:</a:t>
            </a:r>
            <a:r>
              <a:rPr sz="2000" b="1" spc="-5" dirty="0">
                <a:latin typeface="Arial"/>
                <a:cs typeface="Arial"/>
              </a:rPr>
              <a:t>IS-A</a:t>
            </a:r>
            <a:r>
              <a:rPr sz="2000" b="1" spc="-35" dirty="0">
                <a:latin typeface="Arial"/>
                <a:cs typeface="Arial"/>
              </a:rPr>
              <a:t> </a:t>
            </a:r>
            <a:r>
              <a:rPr sz="2000" spc="-5" dirty="0">
                <a:latin typeface="Arial"/>
                <a:cs typeface="Arial"/>
              </a:rPr>
              <a:t>CoffeeTable&gt;</a:t>
            </a:r>
            <a:endParaRPr sz="2000">
              <a:latin typeface="Arial"/>
              <a:cs typeface="Arial"/>
            </a:endParaRPr>
          </a:p>
          <a:p>
            <a:pPr marL="12700">
              <a:lnSpc>
                <a:spcPct val="100000"/>
              </a:lnSpc>
              <a:spcBef>
                <a:spcPts val="480"/>
              </a:spcBef>
            </a:pPr>
            <a:r>
              <a:rPr sz="2000" spc="-5" dirty="0">
                <a:latin typeface="Arial"/>
                <a:cs typeface="Arial"/>
              </a:rPr>
              <a:t>...)</a:t>
            </a:r>
            <a:endParaRPr sz="2000">
              <a:latin typeface="Arial"/>
              <a:cs typeface="Arial"/>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4" name="Title 13">
            <a:extLst>
              <a:ext uri="{FF2B5EF4-FFF2-40B4-BE49-F238E27FC236}">
                <a16:creationId xmlns:a16="http://schemas.microsoft.com/office/drawing/2014/main" id="{7790B4DF-CFB4-4D35-9C71-FD8C8914680C}"/>
              </a:ext>
            </a:extLst>
          </p:cNvPr>
          <p:cNvSpPr>
            <a:spLocks noGrp="1"/>
          </p:cNvSpPr>
          <p:nvPr>
            <p:ph type="title"/>
          </p:nvPr>
        </p:nvSpPr>
        <p:spPr/>
        <p:txBody>
          <a:bodyPr/>
          <a:lstStyle/>
          <a:p>
            <a:r>
              <a:rPr lang="en-US" b="0" spc="-5">
                <a:latin typeface="Verdana"/>
                <a:cs typeface="Verdana"/>
              </a:rPr>
              <a:t>Khung </a:t>
            </a:r>
            <a:r>
              <a:rPr lang="en-US" b="0">
                <a:latin typeface="Verdana"/>
                <a:cs typeface="Verdana"/>
              </a:rPr>
              <a:t>– </a:t>
            </a:r>
            <a:r>
              <a:rPr lang="en-US" b="0" spc="-5">
                <a:latin typeface="Verdana"/>
                <a:cs typeface="Verdana"/>
              </a:rPr>
              <a:t>Tính </a:t>
            </a:r>
            <a:r>
              <a:rPr lang="en-US" b="0">
                <a:latin typeface="Verdana"/>
                <a:cs typeface="Verdana"/>
              </a:rPr>
              <a:t>kế </a:t>
            </a:r>
            <a:r>
              <a:rPr lang="en-US" b="0" spc="-5">
                <a:latin typeface="Verdana"/>
                <a:cs typeface="Verdana"/>
              </a:rPr>
              <a:t>thừa</a:t>
            </a:r>
            <a:r>
              <a:rPr lang="en-US" b="0" spc="-30">
                <a:latin typeface="Verdana"/>
                <a:cs typeface="Verdana"/>
              </a:rPr>
              <a:t> </a:t>
            </a:r>
            <a:r>
              <a:rPr lang="en-US" b="0" spc="-5">
                <a:latin typeface="Verdana"/>
                <a:cs typeface="Verdana"/>
              </a:rPr>
              <a:t>(1)</a:t>
            </a:r>
            <a:endParaRPr lang="en-US" b="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33</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665003"/>
            <a:ext cx="5093335" cy="4909185"/>
          </a:xfrm>
          <a:prstGeom prst="rect">
            <a:avLst/>
          </a:prstGeom>
        </p:spPr>
        <p:txBody>
          <a:bodyPr vert="horz" wrap="square" lIns="0" tIns="123189" rIns="0" bIns="0" rtlCol="0">
            <a:spAutoFit/>
          </a:bodyPr>
          <a:lstStyle/>
          <a:p>
            <a:pPr marL="298450" indent="-285750">
              <a:lnSpc>
                <a:spcPct val="100000"/>
              </a:lnSpc>
              <a:spcBef>
                <a:spcPts val="969"/>
              </a:spcBef>
              <a:buClr>
                <a:srgbClr val="CC9A00"/>
              </a:buClr>
              <a:buSzPct val="64285"/>
              <a:buFont typeface="Wingdings"/>
              <a:buChar char=""/>
              <a:tabLst>
                <a:tab pos="298450" algn="l"/>
              </a:tabLst>
            </a:pPr>
            <a:r>
              <a:rPr sz="2800" spc="-5" dirty="0">
                <a:latin typeface="Arial"/>
                <a:cs typeface="Arial"/>
              </a:rPr>
              <a:t>Ví</a:t>
            </a:r>
            <a:r>
              <a:rPr sz="2800" spc="-20" dirty="0">
                <a:latin typeface="Arial"/>
                <a:cs typeface="Arial"/>
              </a:rPr>
              <a:t> </a:t>
            </a:r>
            <a:r>
              <a:rPr sz="2800" dirty="0">
                <a:latin typeface="Arial"/>
                <a:cs typeface="Arial"/>
              </a:rPr>
              <a:t>dụ</a:t>
            </a:r>
            <a:endParaRPr sz="2800">
              <a:latin typeface="Arial"/>
              <a:cs typeface="Arial"/>
            </a:endParaRPr>
          </a:p>
          <a:p>
            <a:pPr marL="1174115">
              <a:lnSpc>
                <a:spcPct val="100000"/>
              </a:lnSpc>
              <a:spcBef>
                <a:spcPts val="620"/>
              </a:spcBef>
            </a:pPr>
            <a:r>
              <a:rPr sz="2000" spc="-10" dirty="0">
                <a:latin typeface="Arial"/>
                <a:cs typeface="Arial"/>
              </a:rPr>
              <a:t>(Elephant</a:t>
            </a:r>
            <a:endParaRPr sz="2000">
              <a:latin typeface="Arial"/>
              <a:cs typeface="Arial"/>
            </a:endParaRPr>
          </a:p>
          <a:p>
            <a:pPr marL="1269365">
              <a:lnSpc>
                <a:spcPct val="100000"/>
              </a:lnSpc>
              <a:spcBef>
                <a:spcPts val="600"/>
              </a:spcBef>
            </a:pPr>
            <a:r>
              <a:rPr sz="2000" spc="-5" dirty="0">
                <a:latin typeface="Arial"/>
                <a:cs typeface="Arial"/>
              </a:rPr>
              <a:t>&lt;:</a:t>
            </a:r>
            <a:r>
              <a:rPr sz="2000" b="1" spc="-5" dirty="0">
                <a:latin typeface="Arial"/>
                <a:cs typeface="Arial"/>
              </a:rPr>
              <a:t>IS-A</a:t>
            </a:r>
            <a:r>
              <a:rPr sz="2000" b="1" spc="-25" dirty="0">
                <a:latin typeface="Arial"/>
                <a:cs typeface="Arial"/>
              </a:rPr>
              <a:t> </a:t>
            </a:r>
            <a:r>
              <a:rPr sz="2000" spc="-10" dirty="0">
                <a:latin typeface="Arial"/>
                <a:cs typeface="Arial"/>
              </a:rPr>
              <a:t>Mammal&gt;</a:t>
            </a:r>
            <a:endParaRPr sz="2000">
              <a:latin typeface="Arial"/>
              <a:cs typeface="Arial"/>
            </a:endParaRPr>
          </a:p>
          <a:p>
            <a:pPr marL="1270000">
              <a:lnSpc>
                <a:spcPct val="100000"/>
              </a:lnSpc>
              <a:spcBef>
                <a:spcPts val="600"/>
              </a:spcBef>
            </a:pPr>
            <a:r>
              <a:rPr sz="2000" spc="-10" dirty="0">
                <a:latin typeface="Arial"/>
                <a:cs typeface="Arial"/>
              </a:rPr>
              <a:t>&lt;:Colour gray&gt;</a:t>
            </a:r>
            <a:endParaRPr sz="2000">
              <a:latin typeface="Arial"/>
              <a:cs typeface="Arial"/>
            </a:endParaRPr>
          </a:p>
          <a:p>
            <a:pPr marL="1270000">
              <a:lnSpc>
                <a:spcPct val="100000"/>
              </a:lnSpc>
              <a:spcBef>
                <a:spcPts val="600"/>
              </a:spcBef>
            </a:pPr>
            <a:r>
              <a:rPr sz="2000" spc="-5" dirty="0">
                <a:latin typeface="Arial"/>
                <a:cs typeface="Arial"/>
              </a:rPr>
              <a:t>...)</a:t>
            </a:r>
            <a:endParaRPr sz="2000">
              <a:latin typeface="Arial"/>
              <a:cs typeface="Arial"/>
            </a:endParaRPr>
          </a:p>
          <a:p>
            <a:pPr marL="1174115">
              <a:lnSpc>
                <a:spcPct val="100000"/>
              </a:lnSpc>
              <a:spcBef>
                <a:spcPts val="1200"/>
              </a:spcBef>
            </a:pPr>
            <a:r>
              <a:rPr sz="2000" spc="-5" dirty="0">
                <a:latin typeface="Arial"/>
                <a:cs typeface="Arial"/>
              </a:rPr>
              <a:t>(RoyalElephant</a:t>
            </a:r>
            <a:endParaRPr sz="2000">
              <a:latin typeface="Arial"/>
              <a:cs typeface="Arial"/>
            </a:endParaRPr>
          </a:p>
          <a:p>
            <a:pPr marL="1270000">
              <a:lnSpc>
                <a:spcPct val="100000"/>
              </a:lnSpc>
              <a:spcBef>
                <a:spcPts val="600"/>
              </a:spcBef>
            </a:pPr>
            <a:r>
              <a:rPr sz="2000" spc="-5" dirty="0">
                <a:latin typeface="Arial"/>
                <a:cs typeface="Arial"/>
              </a:rPr>
              <a:t>&lt;:</a:t>
            </a:r>
            <a:r>
              <a:rPr sz="2000" b="1" spc="-5" dirty="0">
                <a:latin typeface="Arial"/>
                <a:cs typeface="Arial"/>
              </a:rPr>
              <a:t>IS-A</a:t>
            </a:r>
            <a:r>
              <a:rPr sz="2000" b="1" spc="-25" dirty="0">
                <a:latin typeface="Arial"/>
                <a:cs typeface="Arial"/>
              </a:rPr>
              <a:t> </a:t>
            </a:r>
            <a:r>
              <a:rPr sz="2000" spc="-5" dirty="0">
                <a:latin typeface="Arial"/>
                <a:cs typeface="Arial"/>
              </a:rPr>
              <a:t>Elephant&gt;</a:t>
            </a:r>
            <a:endParaRPr sz="2000">
              <a:latin typeface="Arial"/>
              <a:cs typeface="Arial"/>
            </a:endParaRPr>
          </a:p>
          <a:p>
            <a:pPr marL="1269365">
              <a:lnSpc>
                <a:spcPct val="100000"/>
              </a:lnSpc>
              <a:spcBef>
                <a:spcPts val="600"/>
              </a:spcBef>
            </a:pPr>
            <a:r>
              <a:rPr sz="2000" spc="-10" dirty="0">
                <a:latin typeface="Arial"/>
                <a:cs typeface="Arial"/>
              </a:rPr>
              <a:t>&lt;:Colour white&gt;</a:t>
            </a:r>
            <a:endParaRPr sz="2000">
              <a:latin typeface="Arial"/>
              <a:cs typeface="Arial"/>
            </a:endParaRPr>
          </a:p>
          <a:p>
            <a:pPr marL="1269365">
              <a:lnSpc>
                <a:spcPct val="100000"/>
              </a:lnSpc>
              <a:spcBef>
                <a:spcPts val="600"/>
              </a:spcBef>
            </a:pPr>
            <a:r>
              <a:rPr sz="2000" spc="-5" dirty="0">
                <a:latin typeface="Arial"/>
                <a:cs typeface="Arial"/>
              </a:rPr>
              <a:t>…)</a:t>
            </a:r>
            <a:endParaRPr sz="2000">
              <a:latin typeface="Arial"/>
              <a:cs typeface="Arial"/>
            </a:endParaRPr>
          </a:p>
          <a:p>
            <a:pPr marL="1174750">
              <a:lnSpc>
                <a:spcPct val="100000"/>
              </a:lnSpc>
              <a:spcBef>
                <a:spcPts val="1200"/>
              </a:spcBef>
            </a:pPr>
            <a:r>
              <a:rPr sz="2000" spc="-5" dirty="0">
                <a:latin typeface="Arial"/>
                <a:cs typeface="Arial"/>
              </a:rPr>
              <a:t>(clyde</a:t>
            </a:r>
            <a:endParaRPr sz="2000">
              <a:latin typeface="Arial"/>
              <a:cs typeface="Arial"/>
            </a:endParaRPr>
          </a:p>
          <a:p>
            <a:pPr marL="1270000">
              <a:lnSpc>
                <a:spcPct val="100000"/>
              </a:lnSpc>
              <a:spcBef>
                <a:spcPts val="600"/>
              </a:spcBef>
            </a:pPr>
            <a:r>
              <a:rPr sz="2000" spc="-5" dirty="0">
                <a:latin typeface="Arial"/>
                <a:cs typeface="Arial"/>
              </a:rPr>
              <a:t>&lt;:INSTANCE-OF</a:t>
            </a:r>
            <a:r>
              <a:rPr sz="2000" spc="20" dirty="0">
                <a:latin typeface="Arial"/>
                <a:cs typeface="Arial"/>
              </a:rPr>
              <a:t> </a:t>
            </a:r>
            <a:r>
              <a:rPr sz="2000" spc="-10" dirty="0">
                <a:latin typeface="Arial"/>
                <a:cs typeface="Arial"/>
              </a:rPr>
              <a:t>RoyalElephant&gt;</a:t>
            </a:r>
            <a:endParaRPr sz="2000">
              <a:latin typeface="Arial"/>
              <a:cs typeface="Arial"/>
            </a:endParaRPr>
          </a:p>
          <a:p>
            <a:pPr marL="1270000">
              <a:lnSpc>
                <a:spcPct val="100000"/>
              </a:lnSpc>
              <a:spcBef>
                <a:spcPts val="600"/>
              </a:spcBef>
            </a:pPr>
            <a:r>
              <a:rPr sz="2000" spc="-5" dirty="0">
                <a:latin typeface="Arial"/>
                <a:cs typeface="Arial"/>
              </a:rPr>
              <a:t>…)</a:t>
            </a:r>
            <a:endParaRPr sz="2000">
              <a:latin typeface="Arial"/>
              <a:cs typeface="Arial"/>
            </a:endParaRPr>
          </a:p>
        </p:txBody>
      </p:sp>
      <p:sp>
        <p:nvSpPr>
          <p:cNvPr id="7" name="object 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1" name="Title 10">
            <a:extLst>
              <a:ext uri="{FF2B5EF4-FFF2-40B4-BE49-F238E27FC236}">
                <a16:creationId xmlns:a16="http://schemas.microsoft.com/office/drawing/2014/main" id="{C97732B1-8201-40EC-8B16-510D8FE7AE4E}"/>
              </a:ext>
            </a:extLst>
          </p:cNvPr>
          <p:cNvSpPr>
            <a:spLocks noGrp="1"/>
          </p:cNvSpPr>
          <p:nvPr>
            <p:ph type="title"/>
          </p:nvPr>
        </p:nvSpPr>
        <p:spPr/>
        <p:txBody>
          <a:bodyPr/>
          <a:lstStyle/>
          <a:p>
            <a:r>
              <a:rPr lang="en-US" b="0" spc="-5">
                <a:latin typeface="Verdana"/>
                <a:cs typeface="Verdana"/>
              </a:rPr>
              <a:t>Khung </a:t>
            </a:r>
            <a:r>
              <a:rPr lang="en-US" b="0">
                <a:latin typeface="Verdana"/>
                <a:cs typeface="Verdana"/>
              </a:rPr>
              <a:t>– </a:t>
            </a:r>
            <a:r>
              <a:rPr lang="en-US" b="0" spc="-5">
                <a:latin typeface="Verdana"/>
                <a:cs typeface="Verdana"/>
              </a:rPr>
              <a:t>Tính </a:t>
            </a:r>
            <a:r>
              <a:rPr lang="en-US" b="0">
                <a:latin typeface="Verdana"/>
                <a:cs typeface="Verdana"/>
              </a:rPr>
              <a:t>kế </a:t>
            </a:r>
            <a:r>
              <a:rPr lang="en-US" b="0" spc="-5">
                <a:latin typeface="Verdana"/>
                <a:cs typeface="Verdana"/>
              </a:rPr>
              <a:t>thừa</a:t>
            </a:r>
            <a:r>
              <a:rPr lang="en-US" b="0" spc="-30">
                <a:latin typeface="Verdana"/>
                <a:cs typeface="Verdana"/>
              </a:rPr>
              <a:t> </a:t>
            </a:r>
            <a:r>
              <a:rPr lang="en-US" b="0" spc="-5">
                <a:latin typeface="Verdana"/>
                <a:cs typeface="Verdana"/>
              </a:rPr>
              <a:t>(2)</a:t>
            </a:r>
            <a:endParaRPr lang="en-US" b="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34</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339470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nvGrpSpPr>
          <p:cNvPr id="7" name="object 7"/>
          <p:cNvGrpSpPr/>
          <p:nvPr/>
        </p:nvGrpSpPr>
        <p:grpSpPr>
          <a:xfrm>
            <a:off x="457200" y="6332220"/>
            <a:ext cx="9144000" cy="982980"/>
            <a:chOff x="457200" y="6332220"/>
            <a:chExt cx="9144000" cy="982980"/>
          </a:xfrm>
        </p:grpSpPr>
        <p:sp>
          <p:nvSpPr>
            <p:cNvPr id="8" name="object 8"/>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0" name="object 10"/>
          <p:cNvSpPr txBox="1"/>
          <p:nvPr/>
        </p:nvSpPr>
        <p:spPr>
          <a:xfrm>
            <a:off x="993139" y="1701799"/>
            <a:ext cx="8047355" cy="4719955"/>
          </a:xfrm>
          <a:prstGeom prst="rect">
            <a:avLst/>
          </a:prstGeom>
        </p:spPr>
        <p:txBody>
          <a:bodyPr vert="horz" wrap="square" lIns="0" tIns="12700" rIns="0" bIns="0" rtlCol="0">
            <a:spAutoFit/>
          </a:bodyPr>
          <a:lstStyle/>
          <a:p>
            <a:pPr marL="298450" marR="217170" indent="-286385">
              <a:lnSpc>
                <a:spcPct val="100000"/>
              </a:lnSpc>
              <a:spcBef>
                <a:spcPts val="100"/>
              </a:spcBef>
              <a:buClr>
                <a:srgbClr val="CC9A00"/>
              </a:buClr>
              <a:buSzPct val="63636"/>
              <a:buFont typeface="Wingdings"/>
              <a:buChar char=""/>
              <a:tabLst>
                <a:tab pos="297815" algn="l"/>
                <a:tab pos="298450" algn="l"/>
              </a:tabLst>
            </a:pPr>
            <a:r>
              <a:rPr sz="2200" dirty="0">
                <a:latin typeface="Arial"/>
                <a:cs typeface="Arial"/>
              </a:rPr>
              <a:t>Quá trình suy </a:t>
            </a:r>
            <a:r>
              <a:rPr sz="2200" spc="-5" dirty="0">
                <a:latin typeface="Arial"/>
                <a:cs typeface="Arial"/>
              </a:rPr>
              <a:t>diễn </a:t>
            </a:r>
            <a:r>
              <a:rPr sz="2200" dirty="0">
                <a:latin typeface="Arial"/>
                <a:cs typeface="Arial"/>
              </a:rPr>
              <a:t>trong </a:t>
            </a:r>
            <a:r>
              <a:rPr sz="2200" spc="-5" dirty="0">
                <a:latin typeface="Arial"/>
                <a:cs typeface="Arial"/>
              </a:rPr>
              <a:t>phương pháp biểu diễn bằng khung  </a:t>
            </a:r>
            <a:r>
              <a:rPr sz="2200" dirty="0">
                <a:latin typeface="Arial"/>
                <a:cs typeface="Arial"/>
              </a:rPr>
              <a:t>sẽ </a:t>
            </a:r>
            <a:r>
              <a:rPr sz="2200" spc="-5" dirty="0">
                <a:latin typeface="Arial"/>
                <a:cs typeface="Arial"/>
              </a:rPr>
              <a:t>diễn ra như </a:t>
            </a:r>
            <a:r>
              <a:rPr sz="2200" dirty="0">
                <a:latin typeface="Arial"/>
                <a:cs typeface="Arial"/>
              </a:rPr>
              <a:t>sau</a:t>
            </a:r>
            <a:endParaRPr sz="2200">
              <a:latin typeface="Arial"/>
              <a:cs typeface="Arial"/>
            </a:endParaRPr>
          </a:p>
          <a:p>
            <a:pPr marL="796290" marR="5080" lvl="1" indent="-241300">
              <a:lnSpc>
                <a:spcPct val="100000"/>
              </a:lnSpc>
              <a:spcBef>
                <a:spcPts val="605"/>
              </a:spcBef>
              <a:buClr>
                <a:srgbClr val="3B822F"/>
              </a:buClr>
              <a:buSzPct val="90000"/>
              <a:buAutoNum type="arabicPeriod"/>
              <a:tabLst>
                <a:tab pos="796925" algn="l"/>
              </a:tabLst>
            </a:pPr>
            <a:r>
              <a:rPr sz="2000" spc="-10" dirty="0">
                <a:latin typeface="Arial"/>
                <a:cs typeface="Arial"/>
              </a:rPr>
              <a:t>Người </a:t>
            </a:r>
            <a:r>
              <a:rPr sz="2000" spc="-5" dirty="0">
                <a:latin typeface="Arial"/>
                <a:cs typeface="Arial"/>
              </a:rPr>
              <a:t>dùng khởi tạo một khung (tương </a:t>
            </a:r>
            <a:r>
              <a:rPr sz="2000" spc="-10" dirty="0">
                <a:latin typeface="Arial"/>
                <a:cs typeface="Arial"/>
              </a:rPr>
              <a:t>đương </a:t>
            </a:r>
            <a:r>
              <a:rPr sz="2000" spc="-5" dirty="0">
                <a:latin typeface="Arial"/>
                <a:cs typeface="Arial"/>
              </a:rPr>
              <a:t>với việc khai </a:t>
            </a:r>
            <a:r>
              <a:rPr sz="2000" spc="-10" dirty="0">
                <a:latin typeface="Arial"/>
                <a:cs typeface="Arial"/>
              </a:rPr>
              <a:t>báo  </a:t>
            </a:r>
            <a:r>
              <a:rPr sz="2000" spc="-5" dirty="0">
                <a:latin typeface="Arial"/>
                <a:cs typeface="Arial"/>
              </a:rPr>
              <a:t>sự tồn tại của một đối tượng hay một tình</a:t>
            </a:r>
            <a:r>
              <a:rPr sz="2000" spc="-55" dirty="0">
                <a:latin typeface="Arial"/>
                <a:cs typeface="Arial"/>
              </a:rPr>
              <a:t> </a:t>
            </a:r>
            <a:r>
              <a:rPr sz="2000" spc="-10" dirty="0">
                <a:latin typeface="Arial"/>
                <a:cs typeface="Arial"/>
              </a:rPr>
              <a:t>huống)</a:t>
            </a:r>
            <a:endParaRPr sz="2000">
              <a:latin typeface="Arial"/>
              <a:cs typeface="Arial"/>
            </a:endParaRPr>
          </a:p>
          <a:p>
            <a:pPr marL="796290" marR="410845" lvl="1" indent="-241300">
              <a:lnSpc>
                <a:spcPct val="100000"/>
              </a:lnSpc>
              <a:spcBef>
                <a:spcPts val="600"/>
              </a:spcBef>
              <a:buClr>
                <a:srgbClr val="3B822F"/>
              </a:buClr>
              <a:buSzPct val="90000"/>
              <a:buAutoNum type="arabicPeriod"/>
              <a:tabLst>
                <a:tab pos="796925" algn="l"/>
              </a:tabLst>
            </a:pPr>
            <a:r>
              <a:rPr sz="2000" spc="-5" dirty="0">
                <a:latin typeface="Arial"/>
                <a:cs typeface="Arial"/>
              </a:rPr>
              <a:t>Các giá trị của các thuộc tính sẽ được kế thừa (từ các </a:t>
            </a:r>
            <a:r>
              <a:rPr sz="2000" spc="-10" dirty="0">
                <a:latin typeface="Arial"/>
                <a:cs typeface="Arial"/>
              </a:rPr>
              <a:t>khung  </a:t>
            </a:r>
            <a:r>
              <a:rPr sz="2000" spc="-5" dirty="0">
                <a:latin typeface="Arial"/>
                <a:cs typeface="Arial"/>
              </a:rPr>
              <a:t>tổng quát</a:t>
            </a:r>
            <a:r>
              <a:rPr sz="2000" spc="-30" dirty="0">
                <a:latin typeface="Arial"/>
                <a:cs typeface="Arial"/>
              </a:rPr>
              <a:t> </a:t>
            </a:r>
            <a:r>
              <a:rPr sz="2000" spc="-5" dirty="0">
                <a:latin typeface="Arial"/>
                <a:cs typeface="Arial"/>
              </a:rPr>
              <a:t>hơn)</a:t>
            </a:r>
            <a:endParaRPr sz="2000">
              <a:latin typeface="Arial"/>
              <a:cs typeface="Arial"/>
            </a:endParaRPr>
          </a:p>
          <a:p>
            <a:pPr marL="796290" marR="334010" lvl="1" indent="-241300" algn="just">
              <a:lnSpc>
                <a:spcPct val="100000"/>
              </a:lnSpc>
              <a:spcBef>
                <a:spcPts val="600"/>
              </a:spcBef>
              <a:buClr>
                <a:srgbClr val="3B822F"/>
              </a:buClr>
              <a:buSzPct val="90000"/>
              <a:buAutoNum type="arabicPeriod"/>
              <a:tabLst>
                <a:tab pos="796925" algn="l"/>
              </a:tabLst>
            </a:pPr>
            <a:r>
              <a:rPr sz="2000" spc="-5" dirty="0">
                <a:latin typeface="Arial"/>
                <a:cs typeface="Arial"/>
              </a:rPr>
              <a:t>Các thủ tục IF-ADDED </a:t>
            </a:r>
            <a:r>
              <a:rPr sz="2000" spc="-10" dirty="0">
                <a:latin typeface="Arial"/>
                <a:cs typeface="Arial"/>
              </a:rPr>
              <a:t>sẽ </a:t>
            </a:r>
            <a:r>
              <a:rPr sz="2000" spc="-5" dirty="0">
                <a:latin typeface="Arial"/>
                <a:cs typeface="Arial"/>
              </a:rPr>
              <a:t>được thực hiện. Việc này có thể sẽ  dẫn đến việc khởi tạo của các khung khác, và việc gán giá trị  của các thuộc</a:t>
            </a:r>
            <a:r>
              <a:rPr sz="2000" spc="-25" dirty="0">
                <a:latin typeface="Arial"/>
                <a:cs typeface="Arial"/>
              </a:rPr>
              <a:t> </a:t>
            </a:r>
            <a:r>
              <a:rPr sz="2000" spc="-5" dirty="0">
                <a:latin typeface="Arial"/>
                <a:cs typeface="Arial"/>
              </a:rPr>
              <a:t>tính</a:t>
            </a:r>
            <a:endParaRPr sz="2000">
              <a:latin typeface="Arial"/>
              <a:cs typeface="Arial"/>
            </a:endParaRPr>
          </a:p>
          <a:p>
            <a:pPr marL="298450" marR="93980" indent="-285750">
              <a:lnSpc>
                <a:spcPct val="100000"/>
              </a:lnSpc>
              <a:spcBef>
                <a:spcPts val="1795"/>
              </a:spcBef>
              <a:buClr>
                <a:srgbClr val="CC9A00"/>
              </a:buClr>
              <a:buSzPct val="63636"/>
              <a:buFont typeface="Wingdings"/>
              <a:buChar char=""/>
              <a:tabLst>
                <a:tab pos="297815" algn="l"/>
                <a:tab pos="298450" algn="l"/>
              </a:tabLst>
            </a:pPr>
            <a:r>
              <a:rPr sz="2200" spc="-5" dirty="0">
                <a:latin typeface="Arial"/>
                <a:cs typeface="Arial"/>
              </a:rPr>
              <a:t>Nếu </a:t>
            </a:r>
            <a:r>
              <a:rPr sz="2200" dirty="0">
                <a:latin typeface="Arial"/>
                <a:cs typeface="Arial"/>
              </a:rPr>
              <a:t>người </a:t>
            </a:r>
            <a:r>
              <a:rPr sz="2200" spc="-5" dirty="0">
                <a:latin typeface="Arial"/>
                <a:cs typeface="Arial"/>
              </a:rPr>
              <a:t>dùng hoặc một thủ tục </a:t>
            </a:r>
            <a:r>
              <a:rPr sz="2200" dirty="0">
                <a:latin typeface="Arial"/>
                <a:cs typeface="Arial"/>
              </a:rPr>
              <a:t>yêu </a:t>
            </a:r>
            <a:r>
              <a:rPr sz="2200" spc="-5" dirty="0">
                <a:latin typeface="Arial"/>
                <a:cs typeface="Arial"/>
              </a:rPr>
              <a:t>cầu việc gán giá </a:t>
            </a:r>
            <a:r>
              <a:rPr sz="2200" dirty="0">
                <a:latin typeface="Arial"/>
                <a:cs typeface="Arial"/>
              </a:rPr>
              <a:t>trị cho  </a:t>
            </a:r>
            <a:r>
              <a:rPr sz="2200" spc="-5" dirty="0">
                <a:latin typeface="Arial"/>
                <a:cs typeface="Arial"/>
              </a:rPr>
              <a:t>một thuộc </a:t>
            </a:r>
            <a:r>
              <a:rPr sz="2200" dirty="0">
                <a:latin typeface="Arial"/>
                <a:cs typeface="Arial"/>
              </a:rPr>
              <a:t>tính,</a:t>
            </a:r>
            <a:r>
              <a:rPr sz="2200" spc="5" dirty="0">
                <a:latin typeface="Arial"/>
                <a:cs typeface="Arial"/>
              </a:rPr>
              <a:t> </a:t>
            </a:r>
            <a:r>
              <a:rPr sz="2200" dirty="0">
                <a:latin typeface="Arial"/>
                <a:cs typeface="Arial"/>
              </a:rPr>
              <a:t>thì:</a:t>
            </a:r>
            <a:endParaRPr sz="2200">
              <a:latin typeface="Arial"/>
              <a:cs typeface="Arial"/>
            </a:endParaRPr>
          </a:p>
          <a:p>
            <a:pPr marL="796290" indent="-241300">
              <a:lnSpc>
                <a:spcPct val="100000"/>
              </a:lnSpc>
              <a:spcBef>
                <a:spcPts val="605"/>
              </a:spcBef>
              <a:buClr>
                <a:srgbClr val="3B822F"/>
              </a:buClr>
              <a:buSzPct val="65000"/>
              <a:buFont typeface="Wingdings"/>
              <a:buChar char=""/>
              <a:tabLst>
                <a:tab pos="796925" algn="l"/>
              </a:tabLst>
            </a:pPr>
            <a:r>
              <a:rPr sz="2000" spc="-5" dirty="0">
                <a:latin typeface="Arial"/>
                <a:cs typeface="Arial"/>
              </a:rPr>
              <a:t>Nếu có giá trị cho thuộc tính, thì giá trị đó sẽ được</a:t>
            </a:r>
            <a:r>
              <a:rPr sz="2000" spc="-45" dirty="0">
                <a:latin typeface="Arial"/>
                <a:cs typeface="Arial"/>
              </a:rPr>
              <a:t> </a:t>
            </a:r>
            <a:r>
              <a:rPr sz="2000" spc="-5" dirty="0">
                <a:latin typeface="Arial"/>
                <a:cs typeface="Arial"/>
              </a:rPr>
              <a:t>gán</a:t>
            </a:r>
            <a:endParaRPr sz="2000">
              <a:latin typeface="Arial"/>
              <a:cs typeface="Arial"/>
            </a:endParaRPr>
          </a:p>
          <a:p>
            <a:pPr marL="796290" indent="-241300">
              <a:lnSpc>
                <a:spcPct val="100000"/>
              </a:lnSpc>
              <a:spcBef>
                <a:spcPts val="600"/>
              </a:spcBef>
              <a:buClr>
                <a:srgbClr val="3B822F"/>
              </a:buClr>
              <a:buSzPct val="65000"/>
              <a:buFont typeface="Wingdings"/>
              <a:buChar char=""/>
              <a:tabLst>
                <a:tab pos="796925" algn="l"/>
              </a:tabLst>
            </a:pPr>
            <a:r>
              <a:rPr sz="2000" spc="-5" dirty="0">
                <a:latin typeface="Arial"/>
                <a:cs typeface="Arial"/>
              </a:rPr>
              <a:t>Nếu không, thủ tục IF-NEEDED sẽ được thực</a:t>
            </a:r>
            <a:r>
              <a:rPr sz="2000" spc="-10" dirty="0">
                <a:latin typeface="Arial"/>
                <a:cs typeface="Arial"/>
              </a:rPr>
              <a:t> </a:t>
            </a:r>
            <a:r>
              <a:rPr sz="2000" spc="-5" dirty="0">
                <a:latin typeface="Arial"/>
                <a:cs typeface="Arial"/>
              </a:rPr>
              <a:t>hiện</a:t>
            </a:r>
            <a:endParaRPr sz="2000">
              <a:latin typeface="Arial"/>
              <a:cs typeface="Arial"/>
            </a:endParaRPr>
          </a:p>
        </p:txBody>
      </p:sp>
      <p:sp>
        <p:nvSpPr>
          <p:cNvPr id="14" name="Title 13">
            <a:extLst>
              <a:ext uri="{FF2B5EF4-FFF2-40B4-BE49-F238E27FC236}">
                <a16:creationId xmlns:a16="http://schemas.microsoft.com/office/drawing/2014/main" id="{258548E6-E52A-42BF-8525-252F4A14C02D}"/>
              </a:ext>
            </a:extLst>
          </p:cNvPr>
          <p:cNvSpPr>
            <a:spLocks noGrp="1"/>
          </p:cNvSpPr>
          <p:nvPr>
            <p:ph type="title"/>
          </p:nvPr>
        </p:nvSpPr>
        <p:spPr/>
        <p:txBody>
          <a:bodyPr/>
          <a:lstStyle/>
          <a:p>
            <a:r>
              <a:rPr lang="en-US" b="0" spc="-5">
                <a:latin typeface="Verdana"/>
                <a:cs typeface="Verdana"/>
              </a:rPr>
              <a:t>Khung </a:t>
            </a:r>
            <a:r>
              <a:rPr lang="en-US" b="0">
                <a:latin typeface="Verdana"/>
                <a:cs typeface="Verdana"/>
              </a:rPr>
              <a:t>– </a:t>
            </a:r>
            <a:r>
              <a:rPr lang="en-US" b="0" spc="-5">
                <a:latin typeface="Verdana"/>
                <a:cs typeface="Verdana"/>
              </a:rPr>
              <a:t>Suy</a:t>
            </a:r>
            <a:r>
              <a:rPr lang="en-US" b="0" spc="-35">
                <a:latin typeface="Verdana"/>
                <a:cs typeface="Verdana"/>
              </a:rPr>
              <a:t> </a:t>
            </a:r>
            <a:r>
              <a:rPr lang="en-US" b="0" spc="-5">
                <a:latin typeface="Verdana"/>
                <a:cs typeface="Verdana"/>
              </a:rPr>
              <a:t>diễn</a:t>
            </a:r>
            <a:endParaRPr lang="en-US" b="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35</a:t>
            </a:fld>
            <a:endParaRPr spc="-40" dirty="0"/>
          </a:p>
        </p:txBody>
      </p:sp>
      <p:sp>
        <p:nvSpPr>
          <p:cNvPr id="3" name="object 3"/>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93139" y="1778762"/>
            <a:ext cx="8063230" cy="4597400"/>
          </a:xfrm>
          <a:prstGeom prst="rect">
            <a:avLst/>
          </a:prstGeom>
        </p:spPr>
        <p:txBody>
          <a:bodyPr vert="horz" wrap="square" lIns="0" tIns="12065" rIns="0" bIns="0" rtlCol="0">
            <a:spAutoFit/>
          </a:bodyPr>
          <a:lstStyle/>
          <a:p>
            <a:pPr marL="298450" marR="5080" indent="-285750">
              <a:lnSpc>
                <a:spcPct val="100000"/>
              </a:lnSpc>
              <a:spcBef>
                <a:spcPts val="95"/>
              </a:spcBef>
              <a:buClr>
                <a:srgbClr val="CC9A00"/>
              </a:buClr>
              <a:buSzPct val="65000"/>
              <a:buFont typeface="Wingdings"/>
              <a:buChar char=""/>
              <a:tabLst>
                <a:tab pos="297815" algn="l"/>
                <a:tab pos="298450" algn="l"/>
              </a:tabLst>
            </a:pPr>
            <a:r>
              <a:rPr sz="2000" spc="-5" dirty="0">
                <a:latin typeface="Arial"/>
                <a:cs typeface="Arial"/>
              </a:rPr>
              <a:t>Kết hợp được cả tri thức khai báo (declarative knowledge) và tri thức  thủ tục (procedural knowledge) trong cùng </a:t>
            </a:r>
            <a:r>
              <a:rPr sz="2000" spc="-10" dirty="0">
                <a:latin typeface="Arial"/>
                <a:cs typeface="Arial"/>
              </a:rPr>
              <a:t>một </a:t>
            </a:r>
            <a:r>
              <a:rPr sz="2000" spc="-5" dirty="0">
                <a:latin typeface="Arial"/>
                <a:cs typeface="Arial"/>
              </a:rPr>
              <a:t>phương pháp biểu  diễn</a:t>
            </a:r>
            <a:endParaRPr sz="2000">
              <a:latin typeface="Arial"/>
              <a:cs typeface="Arial"/>
            </a:endParaRPr>
          </a:p>
          <a:p>
            <a:pPr marL="298450" marR="356870" indent="-285750">
              <a:lnSpc>
                <a:spcPct val="100000"/>
              </a:lnSpc>
              <a:spcBef>
                <a:spcPts val="1200"/>
              </a:spcBef>
              <a:buClr>
                <a:srgbClr val="CC9A00"/>
              </a:buClr>
              <a:buSzPct val="65000"/>
              <a:buFont typeface="Wingdings"/>
              <a:buChar char=""/>
              <a:tabLst>
                <a:tab pos="297815" algn="l"/>
                <a:tab pos="298450" algn="l"/>
              </a:tabLst>
            </a:pPr>
            <a:r>
              <a:rPr sz="2000" spc="-5" dirty="0">
                <a:latin typeface="Arial"/>
                <a:cs typeface="Arial"/>
              </a:rPr>
              <a:t>Các </a:t>
            </a:r>
            <a:r>
              <a:rPr sz="2000" spc="-10" dirty="0">
                <a:latin typeface="Arial"/>
                <a:cs typeface="Arial"/>
              </a:rPr>
              <a:t>khung </a:t>
            </a:r>
            <a:r>
              <a:rPr sz="2000" spc="-5" dirty="0">
                <a:latin typeface="Arial"/>
                <a:cs typeface="Arial"/>
              </a:rPr>
              <a:t>được tổ chức có cấu trúc phân cấp, cho phép </a:t>
            </a:r>
            <a:r>
              <a:rPr sz="2000" dirty="0">
                <a:latin typeface="Arial"/>
                <a:cs typeface="Arial"/>
              </a:rPr>
              <a:t>dễ </a:t>
            </a:r>
            <a:r>
              <a:rPr sz="2000" spc="-10" dirty="0">
                <a:latin typeface="Arial"/>
                <a:cs typeface="Arial"/>
              </a:rPr>
              <a:t>dàng  </a:t>
            </a:r>
            <a:r>
              <a:rPr sz="2000" spc="-5" dirty="0">
                <a:latin typeface="Arial"/>
                <a:cs typeface="Arial"/>
              </a:rPr>
              <a:t>phân loại (phân lớp) tri</a:t>
            </a:r>
            <a:r>
              <a:rPr sz="2000" spc="10" dirty="0">
                <a:latin typeface="Arial"/>
                <a:cs typeface="Arial"/>
              </a:rPr>
              <a:t> </a:t>
            </a:r>
            <a:r>
              <a:rPr sz="2000" spc="-5" dirty="0">
                <a:latin typeface="Arial"/>
                <a:cs typeface="Arial"/>
              </a:rPr>
              <a:t>thức</a:t>
            </a:r>
            <a:endParaRPr sz="2000">
              <a:latin typeface="Arial"/>
              <a:cs typeface="Arial"/>
            </a:endParaRPr>
          </a:p>
          <a:p>
            <a:pPr marL="298450" marR="19050" indent="-286385">
              <a:lnSpc>
                <a:spcPct val="100000"/>
              </a:lnSpc>
              <a:spcBef>
                <a:spcPts val="1200"/>
              </a:spcBef>
              <a:buClr>
                <a:srgbClr val="CC9A00"/>
              </a:buClr>
              <a:buSzPct val="65000"/>
              <a:buFont typeface="Wingdings"/>
              <a:buChar char=""/>
              <a:tabLst>
                <a:tab pos="297815" algn="l"/>
                <a:tab pos="298450" algn="l"/>
              </a:tabLst>
            </a:pPr>
            <a:r>
              <a:rPr sz="2000" spc="-5" dirty="0">
                <a:latin typeface="Arial"/>
                <a:cs typeface="Arial"/>
              </a:rPr>
              <a:t>Cấu trúc phân cấp các </a:t>
            </a:r>
            <a:r>
              <a:rPr sz="2000" spc="-10" dirty="0">
                <a:latin typeface="Arial"/>
                <a:cs typeface="Arial"/>
              </a:rPr>
              <a:t>khung </a:t>
            </a:r>
            <a:r>
              <a:rPr sz="2000" spc="-5" dirty="0">
                <a:latin typeface="Arial"/>
                <a:cs typeface="Arial"/>
              </a:rPr>
              <a:t>cho phép giảm bớt sự phức tạp (và chi  phí) trong quá trình xây dựng cơ sở tri</a:t>
            </a:r>
            <a:r>
              <a:rPr sz="2000" spc="-55" dirty="0">
                <a:latin typeface="Arial"/>
                <a:cs typeface="Arial"/>
              </a:rPr>
              <a:t> </a:t>
            </a:r>
            <a:r>
              <a:rPr sz="2000" spc="-5" dirty="0">
                <a:latin typeface="Arial"/>
                <a:cs typeface="Arial"/>
              </a:rPr>
              <a:t>thức</a:t>
            </a:r>
            <a:endParaRPr sz="2000">
              <a:latin typeface="Arial"/>
              <a:cs typeface="Arial"/>
            </a:endParaRPr>
          </a:p>
          <a:p>
            <a:pPr marL="298450" marR="147955" indent="-286385">
              <a:lnSpc>
                <a:spcPct val="100000"/>
              </a:lnSpc>
              <a:spcBef>
                <a:spcPts val="1200"/>
              </a:spcBef>
              <a:buClr>
                <a:srgbClr val="CC9A00"/>
              </a:buClr>
              <a:buSzPct val="65000"/>
              <a:buFont typeface="Wingdings"/>
              <a:buChar char=""/>
              <a:tabLst>
                <a:tab pos="297815" algn="l"/>
                <a:tab pos="298450" algn="l"/>
              </a:tabLst>
            </a:pPr>
            <a:r>
              <a:rPr sz="2000" spc="-5" dirty="0">
                <a:latin typeface="Arial"/>
                <a:cs typeface="Arial"/>
              </a:rPr>
              <a:t>Cho phép thiết lập các ràng buộc đối với các giá trị được gán cho  các thuộc tính (ví dụ: ràng buộc giá trị nhập vào phải nằm trong một  khoảng giá trị cụ</a:t>
            </a:r>
            <a:r>
              <a:rPr sz="2000" spc="-15" dirty="0">
                <a:latin typeface="Arial"/>
                <a:cs typeface="Arial"/>
              </a:rPr>
              <a:t> </a:t>
            </a:r>
            <a:r>
              <a:rPr sz="2000" spc="-5" dirty="0">
                <a:latin typeface="Arial"/>
                <a:cs typeface="Arial"/>
              </a:rPr>
              <a:t>thể)</a:t>
            </a:r>
            <a:endParaRPr sz="2000">
              <a:latin typeface="Arial"/>
              <a:cs typeface="Arial"/>
            </a:endParaRPr>
          </a:p>
          <a:p>
            <a:pPr marL="298450" marR="80645" indent="-286385">
              <a:lnSpc>
                <a:spcPct val="100000"/>
              </a:lnSpc>
              <a:spcBef>
                <a:spcPts val="1200"/>
              </a:spcBef>
              <a:buClr>
                <a:srgbClr val="CC9A00"/>
              </a:buClr>
              <a:buSzPct val="65000"/>
              <a:buFont typeface="Wingdings"/>
              <a:buChar char=""/>
              <a:tabLst>
                <a:tab pos="297815" algn="l"/>
                <a:tab pos="298450" algn="l"/>
              </a:tabLst>
            </a:pPr>
            <a:r>
              <a:rPr sz="2000" spc="-5" dirty="0">
                <a:latin typeface="Arial"/>
                <a:cs typeface="Arial"/>
              </a:rPr>
              <a:t>Cho phép lưu giữ các giá trị mặc định (sử dụng thuộc tính đặc biệt  IS-A, các giá trị của các thuộc tính của một khung tổng quát hơn  được sử dụng để gán cho các thuộc tính của một khung cụ thể</a:t>
            </a:r>
            <a:r>
              <a:rPr sz="2000" spc="-30" dirty="0">
                <a:latin typeface="Arial"/>
                <a:cs typeface="Arial"/>
              </a:rPr>
              <a:t> </a:t>
            </a:r>
            <a:r>
              <a:rPr sz="2000" spc="-5" dirty="0">
                <a:latin typeface="Arial"/>
                <a:cs typeface="Arial"/>
              </a:rPr>
              <a:t>hơn)</a:t>
            </a:r>
            <a:endParaRPr sz="2000">
              <a:latin typeface="Arial"/>
              <a:cs typeface="Arial"/>
            </a:endParaRPr>
          </a:p>
        </p:txBody>
      </p:sp>
      <p:grpSp>
        <p:nvGrpSpPr>
          <p:cNvPr id="5" name="object 5"/>
          <p:cNvGrpSpPr/>
          <p:nvPr/>
        </p:nvGrpSpPr>
        <p:grpSpPr>
          <a:xfrm>
            <a:off x="457200" y="6332220"/>
            <a:ext cx="9144000" cy="982980"/>
            <a:chOff x="457200" y="6332220"/>
            <a:chExt cx="9144000" cy="982980"/>
          </a:xfrm>
        </p:grpSpPr>
        <p:sp>
          <p:nvSpPr>
            <p:cNvPr id="6" name="object 6"/>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7" name="object 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1" name="Title 10">
            <a:extLst>
              <a:ext uri="{FF2B5EF4-FFF2-40B4-BE49-F238E27FC236}">
                <a16:creationId xmlns:a16="http://schemas.microsoft.com/office/drawing/2014/main" id="{1AD49EC3-A872-469E-92F1-23FC73D4BAA9}"/>
              </a:ext>
            </a:extLst>
          </p:cNvPr>
          <p:cNvSpPr>
            <a:spLocks noGrp="1"/>
          </p:cNvSpPr>
          <p:nvPr>
            <p:ph type="title"/>
          </p:nvPr>
        </p:nvSpPr>
        <p:spPr/>
        <p:txBody>
          <a:bodyPr/>
          <a:lstStyle/>
          <a:p>
            <a:r>
              <a:rPr lang="vi-VN" sz="4000" b="0" spc="-5">
                <a:latin typeface="Verdana"/>
                <a:cs typeface="Verdana"/>
              </a:rPr>
              <a:t>Biểu diễn bằng khung – Ưu</a:t>
            </a:r>
            <a:r>
              <a:rPr lang="vi-VN" sz="4000" b="0" spc="-90">
                <a:latin typeface="Verdana"/>
                <a:cs typeface="Verdana"/>
              </a:rPr>
              <a:t> </a:t>
            </a:r>
            <a:r>
              <a:rPr lang="vi-VN" sz="4000" b="0" spc="-5">
                <a:latin typeface="Verdana"/>
                <a:cs typeface="Verdana"/>
              </a:rPr>
              <a:t>điểm</a:t>
            </a:r>
            <a:endParaRPr lang="en-US"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36</a:t>
            </a:fld>
            <a:endParaRPr spc="-40" dirty="0"/>
          </a:p>
        </p:txBody>
      </p:sp>
      <p:sp>
        <p:nvSpPr>
          <p:cNvPr id="3" name="object 3"/>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4" name="object 4"/>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txBox="1"/>
          <p:nvPr/>
        </p:nvSpPr>
        <p:spPr>
          <a:xfrm>
            <a:off x="993139" y="1777238"/>
            <a:ext cx="8053070" cy="75692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Trong quá trình thiết kế cấu trúc phân cấp của các  khung, cần rất để </a:t>
            </a:r>
            <a:r>
              <a:rPr sz="2400" dirty="0">
                <a:latin typeface="Arial"/>
                <a:cs typeface="Arial"/>
              </a:rPr>
              <a:t>ý </a:t>
            </a:r>
            <a:r>
              <a:rPr sz="2400" spc="-5" dirty="0">
                <a:latin typeface="Arial"/>
                <a:cs typeface="Arial"/>
              </a:rPr>
              <a:t>đến </a:t>
            </a:r>
            <a:r>
              <a:rPr sz="2400" dirty="0">
                <a:latin typeface="Arial"/>
                <a:cs typeface="Arial"/>
              </a:rPr>
              <a:t>sự </a:t>
            </a:r>
            <a:r>
              <a:rPr sz="2400" spc="-5" dirty="0">
                <a:latin typeface="Arial"/>
                <a:cs typeface="Arial"/>
              </a:rPr>
              <a:t>hợp </a:t>
            </a:r>
            <a:r>
              <a:rPr sz="2400" dirty="0">
                <a:latin typeface="Arial"/>
                <a:cs typeface="Arial"/>
              </a:rPr>
              <a:t>lý </a:t>
            </a:r>
            <a:r>
              <a:rPr sz="2400" spc="-5" dirty="0">
                <a:latin typeface="Arial"/>
                <a:cs typeface="Arial"/>
              </a:rPr>
              <a:t>của việc phân loại</a:t>
            </a:r>
            <a:r>
              <a:rPr sz="2400" spc="35" dirty="0">
                <a:latin typeface="Arial"/>
                <a:cs typeface="Arial"/>
              </a:rPr>
              <a:t> </a:t>
            </a:r>
            <a:r>
              <a:rPr sz="2400" spc="-5" dirty="0">
                <a:latin typeface="Arial"/>
                <a:cs typeface="Arial"/>
              </a:rPr>
              <a:t>(các</a:t>
            </a:r>
            <a:endParaRPr sz="2400">
              <a:latin typeface="Arial"/>
              <a:cs typeface="Arial"/>
            </a:endParaRPr>
          </a:p>
        </p:txBody>
      </p:sp>
      <p:sp>
        <p:nvSpPr>
          <p:cNvPr id="6" name="object 6"/>
          <p:cNvSpPr/>
          <p:nvPr/>
        </p:nvSpPr>
        <p:spPr>
          <a:xfrm>
            <a:off x="457200" y="3394709"/>
            <a:ext cx="9144000" cy="2937510"/>
          </a:xfrm>
          <a:custGeom>
            <a:avLst/>
            <a:gdLst/>
            <a:ahLst/>
            <a:cxnLst/>
            <a:rect l="l" t="t" r="r" b="b"/>
            <a:pathLst>
              <a:path w="9144000" h="2937510">
                <a:moveTo>
                  <a:pt x="9144000" y="0"/>
                </a:moveTo>
                <a:lnTo>
                  <a:pt x="0" y="0"/>
                </a:lnTo>
                <a:lnTo>
                  <a:pt x="0" y="979170"/>
                </a:lnTo>
                <a:lnTo>
                  <a:pt x="0" y="1958340"/>
                </a:lnTo>
                <a:lnTo>
                  <a:pt x="0" y="293751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7" name="object 7"/>
          <p:cNvSpPr txBox="1"/>
          <p:nvPr/>
        </p:nvSpPr>
        <p:spPr>
          <a:xfrm>
            <a:off x="993139" y="2356358"/>
            <a:ext cx="7858125" cy="3774440"/>
          </a:xfrm>
          <a:prstGeom prst="rect">
            <a:avLst/>
          </a:prstGeom>
        </p:spPr>
        <p:txBody>
          <a:bodyPr vert="horz" wrap="square" lIns="0" tIns="165100" rIns="0" bIns="0" rtlCol="0">
            <a:spAutoFit/>
          </a:bodyPr>
          <a:lstStyle/>
          <a:p>
            <a:pPr marL="298450">
              <a:lnSpc>
                <a:spcPct val="100000"/>
              </a:lnSpc>
              <a:spcBef>
                <a:spcPts val="1300"/>
              </a:spcBef>
            </a:pPr>
            <a:r>
              <a:rPr sz="2400" spc="-5" dirty="0">
                <a:latin typeface="Arial"/>
                <a:cs typeface="Arial"/>
              </a:rPr>
              <a:t>khung)</a:t>
            </a:r>
            <a:endParaRPr sz="2400">
              <a:latin typeface="Arial"/>
              <a:cs typeface="Arial"/>
            </a:endParaRPr>
          </a:p>
          <a:p>
            <a:pPr marL="298450" marR="16383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Có thể gặp vấn đề </a:t>
            </a:r>
            <a:r>
              <a:rPr sz="2400" dirty="0">
                <a:latin typeface="Arial"/>
                <a:cs typeface="Arial"/>
              </a:rPr>
              <a:t>chi </a:t>
            </a:r>
            <a:r>
              <a:rPr sz="2400" spc="-5" dirty="0">
                <a:latin typeface="Arial"/>
                <a:cs typeface="Arial"/>
              </a:rPr>
              <a:t>phí cao cho việc thiết kế các thủ  tục (IF-ADDED và </a:t>
            </a:r>
            <a:r>
              <a:rPr sz="2400" dirty="0">
                <a:latin typeface="Arial"/>
                <a:cs typeface="Arial"/>
              </a:rPr>
              <a:t>IF-NEEDED) – </a:t>
            </a:r>
            <a:r>
              <a:rPr sz="2400" spc="-5" dirty="0">
                <a:latin typeface="Arial"/>
                <a:cs typeface="Arial"/>
              </a:rPr>
              <a:t>Quá nhiều công </a:t>
            </a:r>
            <a:r>
              <a:rPr sz="2400" dirty="0">
                <a:latin typeface="Arial"/>
                <a:cs typeface="Arial"/>
              </a:rPr>
              <a:t>sức  </a:t>
            </a:r>
            <a:r>
              <a:rPr sz="2400" spc="-5" dirty="0">
                <a:latin typeface="Arial"/>
                <a:cs typeface="Arial"/>
              </a:rPr>
              <a:t>dành cho việc thiết kế các thủ tục phù hợp, </a:t>
            </a:r>
            <a:r>
              <a:rPr sz="2400" dirty="0">
                <a:latin typeface="Arial"/>
                <a:cs typeface="Arial"/>
              </a:rPr>
              <a:t>thay </a:t>
            </a:r>
            <a:r>
              <a:rPr sz="2400" spc="-5" dirty="0">
                <a:latin typeface="Arial"/>
                <a:cs typeface="Arial"/>
              </a:rPr>
              <a:t>vì tập  trung vào việc kiểm tra cấu trúc </a:t>
            </a:r>
            <a:r>
              <a:rPr sz="2400" dirty="0">
                <a:latin typeface="Arial"/>
                <a:cs typeface="Arial"/>
              </a:rPr>
              <a:t>và </a:t>
            </a:r>
            <a:r>
              <a:rPr sz="2400" spc="-5" dirty="0">
                <a:latin typeface="Arial"/>
                <a:cs typeface="Arial"/>
              </a:rPr>
              <a:t>nội dung của các  khung</a:t>
            </a:r>
            <a:endParaRPr sz="2400">
              <a:latin typeface="Arial"/>
              <a:cs typeface="Arial"/>
            </a:endParaRPr>
          </a:p>
          <a:p>
            <a:pPr marL="298450" marR="5080" indent="-285750" algn="just">
              <a:lnSpc>
                <a:spcPct val="100000"/>
              </a:lnSpc>
              <a:spcBef>
                <a:spcPts val="1200"/>
              </a:spcBef>
              <a:buClr>
                <a:srgbClr val="CC9A00"/>
              </a:buClr>
              <a:buSzPct val="64583"/>
              <a:buFont typeface="Wingdings"/>
              <a:buChar char=""/>
              <a:tabLst>
                <a:tab pos="298450" algn="l"/>
              </a:tabLst>
            </a:pPr>
            <a:r>
              <a:rPr sz="2400" spc="-5" dirty="0">
                <a:latin typeface="Arial"/>
                <a:cs typeface="Arial"/>
              </a:rPr>
              <a:t>Quá trình khai thác các </a:t>
            </a:r>
            <a:r>
              <a:rPr sz="2400" spc="-10" dirty="0">
                <a:latin typeface="Arial"/>
                <a:cs typeface="Arial"/>
              </a:rPr>
              <a:t>khung </a:t>
            </a:r>
            <a:r>
              <a:rPr sz="2400" spc="-5" dirty="0">
                <a:latin typeface="Arial"/>
                <a:cs typeface="Arial"/>
              </a:rPr>
              <a:t>có thể không hiệu quả, </a:t>
            </a:r>
            <a:r>
              <a:rPr sz="2400" dirty="0">
                <a:latin typeface="Arial"/>
                <a:cs typeface="Arial"/>
              </a:rPr>
              <a:t>vì  </a:t>
            </a:r>
            <a:r>
              <a:rPr sz="2400" spc="-5" dirty="0">
                <a:latin typeface="Arial"/>
                <a:cs typeface="Arial"/>
              </a:rPr>
              <a:t>không có phương pháp hiệu quả để </a:t>
            </a:r>
            <a:r>
              <a:rPr sz="2400" dirty="0">
                <a:latin typeface="Arial"/>
                <a:cs typeface="Arial"/>
              </a:rPr>
              <a:t>lưu </a:t>
            </a:r>
            <a:r>
              <a:rPr sz="2400" spc="-5" dirty="0">
                <a:latin typeface="Arial"/>
                <a:cs typeface="Arial"/>
              </a:rPr>
              <a:t>trữ dữ liệu (của  các khung) trong máy</a:t>
            </a:r>
            <a:r>
              <a:rPr sz="2400" spc="25" dirty="0">
                <a:latin typeface="Arial"/>
                <a:cs typeface="Arial"/>
              </a:rPr>
              <a:t> </a:t>
            </a:r>
            <a:r>
              <a:rPr sz="2400" spc="-5" dirty="0">
                <a:latin typeface="Arial"/>
                <a:cs typeface="Arial"/>
              </a:rPr>
              <a:t>tính</a:t>
            </a:r>
            <a:endParaRPr sz="24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D0E488FE-FD45-4E2D-8FE1-FC6EB26E5E81}"/>
              </a:ext>
            </a:extLst>
          </p:cNvPr>
          <p:cNvSpPr>
            <a:spLocks noGrp="1"/>
          </p:cNvSpPr>
          <p:nvPr>
            <p:ph type="title"/>
          </p:nvPr>
        </p:nvSpPr>
        <p:spPr>
          <a:xfrm>
            <a:off x="537844" y="-98957"/>
            <a:ext cx="9901556" cy="1502305"/>
          </a:xfrm>
        </p:spPr>
        <p:txBody>
          <a:bodyPr/>
          <a:lstStyle/>
          <a:p>
            <a:r>
              <a:rPr lang="vi-VN" sz="4000" b="0" spc="-5">
                <a:latin typeface="Verdana"/>
                <a:cs typeface="Verdana"/>
              </a:rPr>
              <a:t>Biểu diễn bằng </a:t>
            </a:r>
            <a:r>
              <a:rPr lang="vi-VN" sz="4000" b="0">
                <a:latin typeface="Verdana"/>
                <a:cs typeface="Verdana"/>
              </a:rPr>
              <a:t>khung – </a:t>
            </a:r>
            <a:r>
              <a:rPr lang="vi-VN" sz="4000" b="0" spc="-5">
                <a:latin typeface="Verdana"/>
                <a:cs typeface="Verdana"/>
              </a:rPr>
              <a:t>Nhược</a:t>
            </a:r>
            <a:r>
              <a:rPr lang="vi-VN" sz="4000" b="0" spc="-120">
                <a:latin typeface="Verdana"/>
                <a:cs typeface="Verdana"/>
              </a:rPr>
              <a:t> </a:t>
            </a:r>
            <a:r>
              <a:rPr lang="vi-VN" sz="4000" b="0" spc="-5">
                <a:latin typeface="Verdana"/>
                <a:cs typeface="Verdana"/>
              </a:rPr>
              <a:t>điểm</a:t>
            </a:r>
            <a:endParaRPr lang="en-US" b="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37</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339470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7" name="object 7"/>
          <p:cNvSpPr txBox="1"/>
          <p:nvPr/>
        </p:nvSpPr>
        <p:spPr>
          <a:xfrm>
            <a:off x="993139" y="1778762"/>
            <a:ext cx="8021955" cy="4751070"/>
          </a:xfrm>
          <a:prstGeom prst="rect">
            <a:avLst/>
          </a:prstGeom>
        </p:spPr>
        <p:txBody>
          <a:bodyPr vert="horz" wrap="square" lIns="0" tIns="12065" rIns="0" bIns="0" rtlCol="0">
            <a:spAutoFit/>
          </a:bodyPr>
          <a:lstStyle/>
          <a:p>
            <a:pPr marL="298450" marR="5080" indent="-286385">
              <a:lnSpc>
                <a:spcPct val="100000"/>
              </a:lnSpc>
              <a:spcBef>
                <a:spcPts val="95"/>
              </a:spcBef>
              <a:buClr>
                <a:srgbClr val="CC9A00"/>
              </a:buClr>
              <a:buSzPct val="65000"/>
              <a:buFont typeface="Wingdings"/>
              <a:buChar char=""/>
              <a:tabLst>
                <a:tab pos="297815" algn="l"/>
                <a:tab pos="298450" algn="l"/>
                <a:tab pos="4852670" algn="l"/>
              </a:tabLst>
            </a:pPr>
            <a:r>
              <a:rPr sz="2000" b="1" spc="-10" dirty="0">
                <a:latin typeface="Arial"/>
                <a:cs typeface="Arial"/>
              </a:rPr>
              <a:t>Mạng </a:t>
            </a:r>
            <a:r>
              <a:rPr sz="2000" b="1" spc="-5" dirty="0">
                <a:latin typeface="Arial"/>
                <a:cs typeface="Arial"/>
              </a:rPr>
              <a:t>ngữ nghĩa</a:t>
            </a:r>
            <a:r>
              <a:rPr sz="2000" b="1" spc="75" dirty="0">
                <a:latin typeface="Arial"/>
                <a:cs typeface="Arial"/>
              </a:rPr>
              <a:t> </a:t>
            </a:r>
            <a:r>
              <a:rPr sz="2000" b="1" spc="-10" dirty="0">
                <a:latin typeface="Arial"/>
                <a:cs typeface="Arial"/>
              </a:rPr>
              <a:t>(Semantic</a:t>
            </a:r>
            <a:r>
              <a:rPr sz="2000" b="1" spc="15" dirty="0">
                <a:latin typeface="Arial"/>
                <a:cs typeface="Arial"/>
              </a:rPr>
              <a:t> </a:t>
            </a:r>
            <a:r>
              <a:rPr sz="2000" b="1" spc="-10" dirty="0">
                <a:latin typeface="Arial"/>
                <a:cs typeface="Arial"/>
              </a:rPr>
              <a:t>Network)	</a:t>
            </a:r>
            <a:r>
              <a:rPr sz="2000" spc="-5" dirty="0">
                <a:latin typeface="Arial"/>
                <a:cs typeface="Arial"/>
              </a:rPr>
              <a:t>được đề cử bởi Quillian vào  năm 1966 như là một mô hình biểu diễn bộ nhớ của con</a:t>
            </a:r>
            <a:r>
              <a:rPr sz="2000" spc="-20" dirty="0">
                <a:latin typeface="Arial"/>
                <a:cs typeface="Arial"/>
              </a:rPr>
              <a:t> </a:t>
            </a:r>
            <a:r>
              <a:rPr sz="2000" spc="-5" dirty="0">
                <a:latin typeface="Arial"/>
                <a:cs typeface="Arial"/>
              </a:rPr>
              <a:t>người</a:t>
            </a:r>
            <a:endParaRPr sz="2000">
              <a:latin typeface="Arial"/>
              <a:cs typeface="Arial"/>
            </a:endParaRPr>
          </a:p>
          <a:p>
            <a:pPr marL="298450" indent="-285750">
              <a:lnSpc>
                <a:spcPct val="100000"/>
              </a:lnSpc>
              <a:spcBef>
                <a:spcPts val="1200"/>
              </a:spcBef>
              <a:buClr>
                <a:srgbClr val="CC9A00"/>
              </a:buClr>
              <a:buSzPct val="63636"/>
              <a:buFont typeface="Wingdings"/>
              <a:buChar char=""/>
              <a:tabLst>
                <a:tab pos="297815" algn="l"/>
                <a:tab pos="298450" algn="l"/>
              </a:tabLst>
            </a:pPr>
            <a:r>
              <a:rPr sz="2200" spc="-5" dirty="0">
                <a:latin typeface="Arial"/>
                <a:cs typeface="Arial"/>
              </a:rPr>
              <a:t>Các động </a:t>
            </a:r>
            <a:r>
              <a:rPr sz="2200" dirty="0">
                <a:latin typeface="Arial"/>
                <a:cs typeface="Arial"/>
              </a:rPr>
              <a:t>cơ </a:t>
            </a:r>
            <a:r>
              <a:rPr sz="2200" spc="-5" dirty="0">
                <a:latin typeface="Arial"/>
                <a:cs typeface="Arial"/>
              </a:rPr>
              <a:t>thúc đẩy </a:t>
            </a:r>
            <a:r>
              <a:rPr sz="2200" dirty="0">
                <a:latin typeface="Arial"/>
                <a:cs typeface="Arial"/>
              </a:rPr>
              <a:t>sự </a:t>
            </a:r>
            <a:r>
              <a:rPr sz="2200" spc="-5" dirty="0">
                <a:latin typeface="Arial"/>
                <a:cs typeface="Arial"/>
              </a:rPr>
              <a:t>phát triển của mạng ngữ</a:t>
            </a:r>
            <a:r>
              <a:rPr sz="2200" spc="35" dirty="0">
                <a:latin typeface="Arial"/>
                <a:cs typeface="Arial"/>
              </a:rPr>
              <a:t> </a:t>
            </a:r>
            <a:r>
              <a:rPr sz="2200" spc="-5" dirty="0">
                <a:latin typeface="Arial"/>
                <a:cs typeface="Arial"/>
              </a:rPr>
              <a:t>nghĩa</a:t>
            </a:r>
            <a:endParaRPr sz="2200">
              <a:latin typeface="Arial"/>
              <a:cs typeface="Arial"/>
            </a:endParaRPr>
          </a:p>
          <a:p>
            <a:pPr marL="624840" marR="168275" lvl="1" indent="-285750">
              <a:lnSpc>
                <a:spcPct val="100000"/>
              </a:lnSpc>
              <a:spcBef>
                <a:spcPts val="610"/>
              </a:spcBef>
              <a:buClr>
                <a:srgbClr val="3B822F"/>
              </a:buClr>
              <a:buSzPct val="58333"/>
              <a:buFont typeface="Wingdings"/>
              <a:buChar char=""/>
              <a:tabLst>
                <a:tab pos="624840" algn="l"/>
                <a:tab pos="625475" algn="l"/>
              </a:tabLst>
            </a:pPr>
            <a:r>
              <a:rPr sz="1800" dirty="0">
                <a:latin typeface="Arial"/>
                <a:cs typeface="Arial"/>
              </a:rPr>
              <a:t>Để hiểu về cấu </a:t>
            </a:r>
            <a:r>
              <a:rPr sz="1800" spc="-5" dirty="0">
                <a:latin typeface="Arial"/>
                <a:cs typeface="Arial"/>
              </a:rPr>
              <a:t>trúc </a:t>
            </a:r>
            <a:r>
              <a:rPr sz="1800" dirty="0">
                <a:latin typeface="Arial"/>
                <a:cs typeface="Arial"/>
              </a:rPr>
              <a:t>của bộ nhớ con </a:t>
            </a:r>
            <a:r>
              <a:rPr sz="1800" spc="-5" dirty="0">
                <a:latin typeface="Arial"/>
                <a:cs typeface="Arial"/>
              </a:rPr>
              <a:t>người, </a:t>
            </a:r>
            <a:r>
              <a:rPr sz="1800" dirty="0">
                <a:latin typeface="Arial"/>
                <a:cs typeface="Arial"/>
              </a:rPr>
              <a:t>và việc sử dụng cấu </a:t>
            </a:r>
            <a:r>
              <a:rPr sz="1800" spc="-5" dirty="0">
                <a:latin typeface="Arial"/>
                <a:cs typeface="Arial"/>
              </a:rPr>
              <a:t>trúc</a:t>
            </a:r>
            <a:r>
              <a:rPr sz="1800" spc="-160" dirty="0">
                <a:latin typeface="Arial"/>
                <a:cs typeface="Arial"/>
              </a:rPr>
              <a:t> </a:t>
            </a:r>
            <a:r>
              <a:rPr sz="1800" dirty="0">
                <a:latin typeface="Arial"/>
                <a:cs typeface="Arial"/>
              </a:rPr>
              <a:t>bộ  nhớ này trong xử lý (hiểu) ngôn</a:t>
            </a:r>
            <a:r>
              <a:rPr sz="1800" spc="-80" dirty="0">
                <a:latin typeface="Arial"/>
                <a:cs typeface="Arial"/>
              </a:rPr>
              <a:t> </a:t>
            </a:r>
            <a:r>
              <a:rPr sz="1800" dirty="0">
                <a:latin typeface="Arial"/>
                <a:cs typeface="Arial"/>
              </a:rPr>
              <a:t>ngữ</a:t>
            </a:r>
            <a:endParaRPr sz="1800">
              <a:latin typeface="Arial"/>
              <a:cs typeface="Arial"/>
            </a:endParaRPr>
          </a:p>
          <a:p>
            <a:pPr marL="624840" marR="77470" lvl="1" indent="-286385">
              <a:lnSpc>
                <a:spcPct val="100000"/>
              </a:lnSpc>
              <a:spcBef>
                <a:spcPts val="600"/>
              </a:spcBef>
              <a:buClr>
                <a:srgbClr val="3B822F"/>
              </a:buClr>
              <a:buSzPct val="58333"/>
              <a:buFont typeface="Wingdings"/>
              <a:buChar char=""/>
              <a:tabLst>
                <a:tab pos="624840" algn="l"/>
                <a:tab pos="625475" algn="l"/>
              </a:tabLst>
            </a:pPr>
            <a:r>
              <a:rPr sz="1800" spc="-5" dirty="0">
                <a:latin typeface="Arial"/>
                <a:cs typeface="Arial"/>
              </a:rPr>
              <a:t>Kiểu </a:t>
            </a:r>
            <a:r>
              <a:rPr sz="1800" dirty="0">
                <a:latin typeface="Arial"/>
                <a:cs typeface="Arial"/>
              </a:rPr>
              <a:t>biểu diễn nào cho phép lưu giữ các ý </a:t>
            </a:r>
            <a:r>
              <a:rPr sz="1800" spc="-5" dirty="0">
                <a:latin typeface="Arial"/>
                <a:cs typeface="Arial"/>
              </a:rPr>
              <a:t>nghĩa </a:t>
            </a:r>
            <a:r>
              <a:rPr sz="1800" dirty="0">
                <a:latin typeface="Arial"/>
                <a:cs typeface="Arial"/>
              </a:rPr>
              <a:t>(meanings) </a:t>
            </a:r>
            <a:r>
              <a:rPr sz="1800" spc="-5" dirty="0">
                <a:latin typeface="Arial"/>
                <a:cs typeface="Arial"/>
              </a:rPr>
              <a:t>của các từ  </a:t>
            </a:r>
            <a:r>
              <a:rPr sz="1800" dirty="0">
                <a:latin typeface="Arial"/>
                <a:cs typeface="Arial"/>
              </a:rPr>
              <a:t>để </a:t>
            </a:r>
            <a:r>
              <a:rPr sz="1800" spc="-5" dirty="0">
                <a:latin typeface="Arial"/>
                <a:cs typeface="Arial"/>
              </a:rPr>
              <a:t>có thể </a:t>
            </a:r>
            <a:r>
              <a:rPr sz="1800" dirty="0">
                <a:latin typeface="Arial"/>
                <a:cs typeface="Arial"/>
              </a:rPr>
              <a:t>sử dụng lại các ngữ </a:t>
            </a:r>
            <a:r>
              <a:rPr sz="1800" spc="-5" dirty="0">
                <a:latin typeface="Arial"/>
                <a:cs typeface="Arial"/>
              </a:rPr>
              <a:t>nghĩa </a:t>
            </a:r>
            <a:r>
              <a:rPr sz="1800" dirty="0">
                <a:latin typeface="Arial"/>
                <a:cs typeface="Arial"/>
              </a:rPr>
              <a:t>này (như trong </a:t>
            </a:r>
            <a:r>
              <a:rPr sz="1800" spc="-5" dirty="0">
                <a:latin typeface="Arial"/>
                <a:cs typeface="Arial"/>
              </a:rPr>
              <a:t>bộ </a:t>
            </a:r>
            <a:r>
              <a:rPr sz="1800" dirty="0">
                <a:latin typeface="Arial"/>
                <a:cs typeface="Arial"/>
              </a:rPr>
              <a:t>nhớ con</a:t>
            </a:r>
            <a:r>
              <a:rPr sz="1800" spc="-165" dirty="0">
                <a:latin typeface="Arial"/>
                <a:cs typeface="Arial"/>
              </a:rPr>
              <a:t> </a:t>
            </a:r>
            <a:r>
              <a:rPr sz="1800" dirty="0">
                <a:latin typeface="Arial"/>
                <a:cs typeface="Arial"/>
              </a:rPr>
              <a:t>người)?</a:t>
            </a:r>
            <a:endParaRPr sz="1800">
              <a:latin typeface="Arial"/>
              <a:cs typeface="Arial"/>
            </a:endParaRPr>
          </a:p>
          <a:p>
            <a:pPr marL="624840" lvl="1" indent="-286385">
              <a:lnSpc>
                <a:spcPct val="100000"/>
              </a:lnSpc>
              <a:spcBef>
                <a:spcPts val="600"/>
              </a:spcBef>
              <a:buClr>
                <a:srgbClr val="3B822F"/>
              </a:buClr>
              <a:buSzPct val="58333"/>
              <a:buFont typeface="Wingdings"/>
              <a:buChar char=""/>
              <a:tabLst>
                <a:tab pos="624840" algn="l"/>
                <a:tab pos="625475" algn="l"/>
              </a:tabLst>
            </a:pPr>
            <a:r>
              <a:rPr sz="1800" spc="-5" dirty="0">
                <a:latin typeface="Arial"/>
                <a:cs typeface="Arial"/>
              </a:rPr>
              <a:t>Giả </a:t>
            </a:r>
            <a:r>
              <a:rPr sz="1800" dirty="0">
                <a:latin typeface="Arial"/>
                <a:cs typeface="Arial"/>
              </a:rPr>
              <a:t>sử rằng con người sử dụng cùng cấu trúc bộ nhớ cho các công</a:t>
            </a:r>
            <a:r>
              <a:rPr sz="1800" spc="-210" dirty="0">
                <a:latin typeface="Arial"/>
                <a:cs typeface="Arial"/>
              </a:rPr>
              <a:t> </a:t>
            </a:r>
            <a:r>
              <a:rPr sz="1800" dirty="0">
                <a:latin typeface="Arial"/>
                <a:cs typeface="Arial"/>
              </a:rPr>
              <a:t>việc</a:t>
            </a:r>
            <a:endParaRPr sz="1800">
              <a:latin typeface="Arial"/>
              <a:cs typeface="Arial"/>
            </a:endParaRPr>
          </a:p>
          <a:p>
            <a:pPr marL="298450" marR="92710" indent="-285750">
              <a:lnSpc>
                <a:spcPct val="100000"/>
              </a:lnSpc>
              <a:spcBef>
                <a:spcPts val="1789"/>
              </a:spcBef>
              <a:buClr>
                <a:srgbClr val="CC9A00"/>
              </a:buClr>
              <a:buSzPct val="65000"/>
              <a:buFont typeface="Wingdings"/>
              <a:buChar char=""/>
              <a:tabLst>
                <a:tab pos="297815" algn="l"/>
                <a:tab pos="298450" algn="l"/>
              </a:tabLst>
            </a:pPr>
            <a:r>
              <a:rPr sz="2000" spc="-5" dirty="0">
                <a:latin typeface="Arial"/>
                <a:cs typeface="Arial"/>
              </a:rPr>
              <a:t>Các chứng minh về tâm lý học đã chỉ ra rằng bộ nhớ của con người  sử dụng các liên kết trong việc xử lý (hiểu) các</a:t>
            </a:r>
            <a:r>
              <a:rPr sz="2000" spc="-20" dirty="0">
                <a:latin typeface="Arial"/>
                <a:cs typeface="Arial"/>
              </a:rPr>
              <a:t> </a:t>
            </a:r>
            <a:r>
              <a:rPr sz="2000" spc="-5" dirty="0">
                <a:latin typeface="Arial"/>
                <a:cs typeface="Arial"/>
              </a:rPr>
              <a:t>từ</a:t>
            </a:r>
            <a:endParaRPr sz="2000">
              <a:latin typeface="Arial"/>
              <a:cs typeface="Arial"/>
            </a:endParaRPr>
          </a:p>
          <a:p>
            <a:pPr marL="298450" indent="-285750">
              <a:lnSpc>
                <a:spcPct val="100000"/>
              </a:lnSpc>
              <a:spcBef>
                <a:spcPts val="1200"/>
              </a:spcBef>
              <a:buClr>
                <a:srgbClr val="CC9A00"/>
              </a:buClr>
              <a:buSzPct val="63636"/>
              <a:buFont typeface="Wingdings"/>
              <a:buChar char=""/>
              <a:tabLst>
                <a:tab pos="297815" algn="l"/>
                <a:tab pos="298450" algn="l"/>
              </a:tabLst>
            </a:pPr>
            <a:r>
              <a:rPr sz="2200" dirty="0">
                <a:latin typeface="Arial"/>
                <a:cs typeface="Arial"/>
              </a:rPr>
              <a:t>Yêu </a:t>
            </a:r>
            <a:r>
              <a:rPr sz="2200" spc="-5" dirty="0">
                <a:latin typeface="Arial"/>
                <a:cs typeface="Arial"/>
              </a:rPr>
              <a:t>cầu: cần biểu diễn định nghĩa </a:t>
            </a:r>
            <a:r>
              <a:rPr sz="2200" dirty="0">
                <a:latin typeface="Arial"/>
                <a:cs typeface="Arial"/>
              </a:rPr>
              <a:t>từ </a:t>
            </a:r>
            <a:r>
              <a:rPr sz="2200" spc="-5" dirty="0">
                <a:latin typeface="Arial"/>
                <a:cs typeface="Arial"/>
              </a:rPr>
              <a:t>điển của các </a:t>
            </a:r>
            <a:r>
              <a:rPr sz="2200" dirty="0">
                <a:latin typeface="Arial"/>
                <a:cs typeface="Arial"/>
              </a:rPr>
              <a:t>từ,</a:t>
            </a:r>
            <a:r>
              <a:rPr sz="2200" spc="15" dirty="0">
                <a:latin typeface="Arial"/>
                <a:cs typeface="Arial"/>
              </a:rPr>
              <a:t> </a:t>
            </a:r>
            <a:r>
              <a:rPr sz="2200" spc="-5" dirty="0">
                <a:latin typeface="Arial"/>
                <a:cs typeface="Arial"/>
              </a:rPr>
              <a:t>để</a:t>
            </a:r>
            <a:endParaRPr sz="2200">
              <a:latin typeface="Arial"/>
              <a:cs typeface="Arial"/>
            </a:endParaRPr>
          </a:p>
          <a:p>
            <a:pPr marL="681990" lvl="1" indent="-325755">
              <a:lnSpc>
                <a:spcPct val="100000"/>
              </a:lnSpc>
              <a:spcBef>
                <a:spcPts val="610"/>
              </a:spcBef>
              <a:buClr>
                <a:srgbClr val="3B822F"/>
              </a:buClr>
              <a:buSzPct val="58333"/>
              <a:buFont typeface="Wingdings"/>
              <a:buChar char=""/>
              <a:tabLst>
                <a:tab pos="681990" algn="l"/>
                <a:tab pos="682625" algn="l"/>
              </a:tabLst>
            </a:pPr>
            <a:r>
              <a:rPr sz="1800" dirty="0">
                <a:latin typeface="Arial"/>
                <a:cs typeface="Arial"/>
              </a:rPr>
              <a:t>So sánh và </a:t>
            </a:r>
            <a:r>
              <a:rPr sz="1800" spc="-5" dirty="0">
                <a:latin typeface="Arial"/>
                <a:cs typeface="Arial"/>
              </a:rPr>
              <a:t>phân </a:t>
            </a:r>
            <a:r>
              <a:rPr sz="1800" dirty="0">
                <a:latin typeface="Arial"/>
                <a:cs typeface="Arial"/>
              </a:rPr>
              <a:t>biệt ý </a:t>
            </a:r>
            <a:r>
              <a:rPr sz="1800" spc="-5" dirty="0">
                <a:latin typeface="Arial"/>
                <a:cs typeface="Arial"/>
              </a:rPr>
              <a:t>nghĩa </a:t>
            </a:r>
            <a:r>
              <a:rPr sz="1800" spc="120" dirty="0">
                <a:latin typeface="Arial"/>
                <a:cs typeface="Arial"/>
              </a:rPr>
              <a:t>của2</a:t>
            </a:r>
            <a:r>
              <a:rPr sz="1800" spc="-55" dirty="0">
                <a:latin typeface="Arial"/>
                <a:cs typeface="Arial"/>
              </a:rPr>
              <a:t> </a:t>
            </a:r>
            <a:r>
              <a:rPr sz="1800" spc="-5" dirty="0">
                <a:latin typeface="Arial"/>
                <a:cs typeface="Arial"/>
              </a:rPr>
              <a:t>từ</a:t>
            </a:r>
            <a:endParaRPr sz="1800">
              <a:latin typeface="Arial"/>
              <a:cs typeface="Arial"/>
            </a:endParaRPr>
          </a:p>
          <a:p>
            <a:pPr marL="681990" lvl="1" indent="-325755">
              <a:lnSpc>
                <a:spcPct val="100000"/>
              </a:lnSpc>
              <a:spcBef>
                <a:spcPts val="600"/>
              </a:spcBef>
              <a:buClr>
                <a:srgbClr val="3B822F"/>
              </a:buClr>
              <a:buSzPct val="58333"/>
              <a:buFont typeface="Wingdings"/>
              <a:buChar char=""/>
              <a:tabLst>
                <a:tab pos="681990" algn="l"/>
                <a:tab pos="682625" algn="l"/>
              </a:tabLst>
            </a:pPr>
            <a:r>
              <a:rPr sz="1800" spc="-5" dirty="0">
                <a:latin typeface="Arial"/>
                <a:cs typeface="Arial"/>
              </a:rPr>
              <a:t>Sinh </a:t>
            </a:r>
            <a:r>
              <a:rPr sz="1800" dirty="0">
                <a:latin typeface="Arial"/>
                <a:cs typeface="Arial"/>
              </a:rPr>
              <a:t>ra các </a:t>
            </a:r>
            <a:r>
              <a:rPr sz="1800" spc="-5" dirty="0">
                <a:latin typeface="Arial"/>
                <a:cs typeface="Arial"/>
              </a:rPr>
              <a:t>câu “tựa” </a:t>
            </a:r>
            <a:r>
              <a:rPr sz="1800" dirty="0">
                <a:latin typeface="Arial"/>
                <a:cs typeface="Arial"/>
              </a:rPr>
              <a:t>(gần giống) </a:t>
            </a:r>
            <a:r>
              <a:rPr sz="1800" spc="-5" dirty="0">
                <a:latin typeface="Arial"/>
                <a:cs typeface="Arial"/>
              </a:rPr>
              <a:t>tiếng Anh </a:t>
            </a:r>
            <a:r>
              <a:rPr sz="1800" dirty="0">
                <a:latin typeface="Arial"/>
                <a:cs typeface="Arial"/>
              </a:rPr>
              <a:t>để mô </a:t>
            </a:r>
            <a:r>
              <a:rPr sz="1800" spc="-5" dirty="0">
                <a:latin typeface="Arial"/>
                <a:cs typeface="Arial"/>
              </a:rPr>
              <a:t>tả </a:t>
            </a:r>
            <a:r>
              <a:rPr sz="1800" dirty="0">
                <a:latin typeface="Arial"/>
                <a:cs typeface="Arial"/>
              </a:rPr>
              <a:t>sự </a:t>
            </a:r>
            <a:r>
              <a:rPr sz="1800" spc="-5" dirty="0">
                <a:latin typeface="Arial"/>
                <a:cs typeface="Arial"/>
              </a:rPr>
              <a:t>so </a:t>
            </a:r>
            <a:r>
              <a:rPr sz="1800" dirty="0">
                <a:latin typeface="Arial"/>
                <a:cs typeface="Arial"/>
              </a:rPr>
              <a:t>sánh</a:t>
            </a:r>
            <a:r>
              <a:rPr sz="1800" spc="-90" dirty="0">
                <a:latin typeface="Arial"/>
                <a:cs typeface="Arial"/>
              </a:rPr>
              <a:t> </a:t>
            </a:r>
            <a:r>
              <a:rPr sz="1800" dirty="0">
                <a:latin typeface="Arial"/>
                <a:cs typeface="Arial"/>
              </a:rPr>
              <a:t>này</a:t>
            </a:r>
            <a:endParaRPr sz="18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B3288A6D-2926-4962-9E86-DFEAFAD98B92}"/>
              </a:ext>
            </a:extLst>
          </p:cNvPr>
          <p:cNvSpPr>
            <a:spLocks noGrp="1"/>
          </p:cNvSpPr>
          <p:nvPr>
            <p:ph type="title"/>
          </p:nvPr>
        </p:nvSpPr>
        <p:spPr/>
        <p:txBody>
          <a:bodyPr/>
          <a:lstStyle/>
          <a:p>
            <a:r>
              <a:rPr lang="en-US" b="0" spc="-5">
                <a:latin typeface="Verdana"/>
                <a:cs typeface="Verdana"/>
              </a:rPr>
              <a:t>Mạng ngữ nghĩa</a:t>
            </a:r>
            <a:r>
              <a:rPr lang="en-US" b="0" spc="-55">
                <a:latin typeface="Verdana"/>
                <a:cs typeface="Verdana"/>
              </a:rPr>
              <a:t> </a:t>
            </a:r>
            <a:r>
              <a:rPr lang="en-US" b="0" spc="-5">
                <a:latin typeface="Verdana"/>
                <a:cs typeface="Verdana"/>
              </a:rPr>
              <a:t>(1)</a:t>
            </a:r>
            <a:endParaRPr lang="en-US" b="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object 9"/>
          <p:cNvGrpSpPr/>
          <p:nvPr/>
        </p:nvGrpSpPr>
        <p:grpSpPr>
          <a:xfrm>
            <a:off x="457200" y="6332220"/>
            <a:ext cx="9144000" cy="982980"/>
            <a:chOff x="457200" y="6332220"/>
            <a:chExt cx="9144000" cy="982980"/>
          </a:xfrm>
        </p:grpSpPr>
        <p:sp>
          <p:nvSpPr>
            <p:cNvPr id="10" name="object 10"/>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1" name="object 1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2" name="object 1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3" name="object 1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38</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77999"/>
            <a:ext cx="8041640" cy="4658995"/>
          </a:xfrm>
          <a:prstGeom prst="rect">
            <a:avLst/>
          </a:prstGeom>
        </p:spPr>
        <p:txBody>
          <a:bodyPr vert="horz" wrap="square" lIns="0" tIns="12700" rIns="0" bIns="0" rtlCol="0">
            <a:spAutoFit/>
          </a:bodyPr>
          <a:lstStyle/>
          <a:p>
            <a:pPr marL="281940" marR="462915" indent="-269875">
              <a:lnSpc>
                <a:spcPct val="100000"/>
              </a:lnSpc>
              <a:spcBef>
                <a:spcPts val="100"/>
              </a:spcBef>
              <a:buClr>
                <a:srgbClr val="CC9A00"/>
              </a:buClr>
              <a:buSzPct val="63636"/>
              <a:buFont typeface="Wingdings"/>
              <a:buChar char=""/>
              <a:tabLst>
                <a:tab pos="281940" algn="l"/>
                <a:tab pos="282575" algn="l"/>
              </a:tabLst>
            </a:pPr>
            <a:r>
              <a:rPr sz="2200" spc="-5" dirty="0">
                <a:latin typeface="Arial"/>
                <a:cs typeface="Arial"/>
              </a:rPr>
              <a:t>Mạng ngữ nghĩa (Semantic Network </a:t>
            </a:r>
            <a:r>
              <a:rPr sz="2200" dirty="0">
                <a:latin typeface="Arial"/>
                <a:cs typeface="Arial"/>
              </a:rPr>
              <a:t>- </a:t>
            </a:r>
            <a:r>
              <a:rPr sz="2200" spc="-5" dirty="0">
                <a:latin typeface="Arial"/>
                <a:cs typeface="Arial"/>
              </a:rPr>
              <a:t>SN) là </a:t>
            </a:r>
            <a:r>
              <a:rPr sz="2200" dirty="0">
                <a:latin typeface="Arial"/>
                <a:cs typeface="Arial"/>
              </a:rPr>
              <a:t>phương </a:t>
            </a:r>
            <a:r>
              <a:rPr sz="2200" spc="-5" dirty="0">
                <a:latin typeface="Arial"/>
                <a:cs typeface="Arial"/>
              </a:rPr>
              <a:t>pháp  biểu diễn dựa </a:t>
            </a:r>
            <a:r>
              <a:rPr sz="2200" dirty="0">
                <a:latin typeface="Arial"/>
                <a:cs typeface="Arial"/>
              </a:rPr>
              <a:t>trên </a:t>
            </a:r>
            <a:r>
              <a:rPr sz="2200" spc="-5" dirty="0">
                <a:latin typeface="Arial"/>
                <a:cs typeface="Arial"/>
              </a:rPr>
              <a:t>đồ thị (graph-based</a:t>
            </a:r>
            <a:r>
              <a:rPr sz="2200" spc="50" dirty="0">
                <a:latin typeface="Arial"/>
                <a:cs typeface="Arial"/>
              </a:rPr>
              <a:t> </a:t>
            </a:r>
            <a:r>
              <a:rPr sz="2200" spc="-5" dirty="0">
                <a:latin typeface="Arial"/>
                <a:cs typeface="Arial"/>
              </a:rPr>
              <a:t>representation)</a:t>
            </a:r>
            <a:endParaRPr sz="2200">
              <a:latin typeface="Arial"/>
              <a:cs typeface="Arial"/>
            </a:endParaRPr>
          </a:p>
          <a:p>
            <a:pPr marL="281940" marR="5080" indent="-269875">
              <a:lnSpc>
                <a:spcPct val="100000"/>
              </a:lnSpc>
              <a:spcBef>
                <a:spcPts val="1800"/>
              </a:spcBef>
              <a:buClr>
                <a:srgbClr val="CC9A00"/>
              </a:buClr>
              <a:buSzPct val="63636"/>
              <a:buFont typeface="Wingdings"/>
              <a:buChar char=""/>
              <a:tabLst>
                <a:tab pos="281940" algn="l"/>
                <a:tab pos="282575" algn="l"/>
              </a:tabLst>
            </a:pPr>
            <a:r>
              <a:rPr sz="2200" spc="-5" dirty="0">
                <a:latin typeface="Arial"/>
                <a:cs typeface="Arial"/>
              </a:rPr>
              <a:t>Một mạng ngữ </a:t>
            </a:r>
            <a:r>
              <a:rPr sz="2200" dirty="0">
                <a:latin typeface="Arial"/>
                <a:cs typeface="Arial"/>
              </a:rPr>
              <a:t>nghĩa </a:t>
            </a:r>
            <a:r>
              <a:rPr sz="2200" spc="-5" dirty="0">
                <a:latin typeface="Arial"/>
                <a:cs typeface="Arial"/>
              </a:rPr>
              <a:t>bao gồm một tập </a:t>
            </a:r>
            <a:r>
              <a:rPr sz="2200" b="1" spc="-5" dirty="0">
                <a:latin typeface="Arial"/>
                <a:cs typeface="Arial"/>
              </a:rPr>
              <a:t>các </a:t>
            </a:r>
            <a:r>
              <a:rPr sz="2200" b="1" dirty="0">
                <a:latin typeface="Arial"/>
                <a:cs typeface="Arial"/>
              </a:rPr>
              <a:t>nút (nodes) </a:t>
            </a:r>
            <a:r>
              <a:rPr sz="2200" dirty="0">
                <a:latin typeface="Arial"/>
                <a:cs typeface="Arial"/>
              </a:rPr>
              <a:t>và  </a:t>
            </a:r>
            <a:r>
              <a:rPr sz="2200" b="1" spc="-5" dirty="0">
                <a:latin typeface="Arial"/>
                <a:cs typeface="Arial"/>
              </a:rPr>
              <a:t>các </a:t>
            </a:r>
            <a:r>
              <a:rPr sz="2200" b="1" dirty="0">
                <a:latin typeface="Arial"/>
                <a:cs typeface="Arial"/>
              </a:rPr>
              <a:t>liên </a:t>
            </a:r>
            <a:r>
              <a:rPr sz="2200" b="1" spc="-5" dirty="0">
                <a:latin typeface="Arial"/>
                <a:cs typeface="Arial"/>
              </a:rPr>
              <a:t>kết (links) </a:t>
            </a:r>
            <a:r>
              <a:rPr sz="2200" spc="-5" dirty="0">
                <a:latin typeface="Arial"/>
                <a:cs typeface="Arial"/>
              </a:rPr>
              <a:t>để biểu diễn định nghĩa của một khái niệm  (hoặc của một tập </a:t>
            </a:r>
            <a:r>
              <a:rPr sz="2200" dirty="0">
                <a:latin typeface="Arial"/>
                <a:cs typeface="Arial"/>
              </a:rPr>
              <a:t>các khái</a:t>
            </a:r>
            <a:r>
              <a:rPr sz="2200" spc="5" dirty="0">
                <a:latin typeface="Arial"/>
                <a:cs typeface="Arial"/>
              </a:rPr>
              <a:t> </a:t>
            </a:r>
            <a:r>
              <a:rPr sz="2200" dirty="0">
                <a:latin typeface="Arial"/>
                <a:cs typeface="Arial"/>
              </a:rPr>
              <a:t>niệm)</a:t>
            </a:r>
            <a:endParaRPr sz="2200">
              <a:latin typeface="Arial"/>
              <a:cs typeface="Arial"/>
            </a:endParaRPr>
          </a:p>
          <a:p>
            <a:pPr marL="608965" lvl="1" indent="-270510">
              <a:lnSpc>
                <a:spcPct val="100000"/>
              </a:lnSpc>
              <a:spcBef>
                <a:spcPts val="605"/>
              </a:spcBef>
              <a:buClr>
                <a:srgbClr val="3B822F"/>
              </a:buClr>
              <a:buSzPct val="60000"/>
              <a:buFont typeface="Wingdings"/>
              <a:buChar char=""/>
              <a:tabLst>
                <a:tab pos="608965" algn="l"/>
                <a:tab pos="609600" algn="l"/>
              </a:tabLst>
            </a:pPr>
            <a:r>
              <a:rPr sz="2000" spc="-5" dirty="0">
                <a:latin typeface="Arial"/>
                <a:cs typeface="Arial"/>
              </a:rPr>
              <a:t>Các nút biểu diễn các khái</a:t>
            </a:r>
            <a:r>
              <a:rPr sz="2000" spc="15" dirty="0">
                <a:latin typeface="Arial"/>
                <a:cs typeface="Arial"/>
              </a:rPr>
              <a:t> </a:t>
            </a:r>
            <a:r>
              <a:rPr sz="2000" spc="-5" dirty="0">
                <a:latin typeface="Arial"/>
                <a:cs typeface="Arial"/>
              </a:rPr>
              <a:t>niệm</a:t>
            </a:r>
            <a:endParaRPr sz="2000">
              <a:latin typeface="Arial"/>
              <a:cs typeface="Arial"/>
            </a:endParaRPr>
          </a:p>
          <a:p>
            <a:pPr marL="608965" marR="497205" lvl="1" indent="-269875">
              <a:lnSpc>
                <a:spcPct val="100000"/>
              </a:lnSpc>
              <a:spcBef>
                <a:spcPts val="600"/>
              </a:spcBef>
              <a:buClr>
                <a:srgbClr val="3B822F"/>
              </a:buClr>
              <a:buSzPct val="60000"/>
              <a:buFont typeface="Wingdings"/>
              <a:buChar char=""/>
              <a:tabLst>
                <a:tab pos="608965" algn="l"/>
                <a:tab pos="609600" algn="l"/>
              </a:tabLst>
            </a:pPr>
            <a:r>
              <a:rPr sz="2000" spc="-5" dirty="0">
                <a:latin typeface="Arial"/>
                <a:cs typeface="Arial"/>
              </a:rPr>
              <a:t>Các liên kết biểu diễn các mối quan hệ (liên hệ) giữa các </a:t>
            </a:r>
            <a:r>
              <a:rPr sz="2000" spc="-10" dirty="0">
                <a:latin typeface="Arial"/>
                <a:cs typeface="Arial"/>
              </a:rPr>
              <a:t>khái  </a:t>
            </a:r>
            <a:r>
              <a:rPr sz="2000" spc="-5" dirty="0">
                <a:latin typeface="Arial"/>
                <a:cs typeface="Arial"/>
              </a:rPr>
              <a:t>niệm</a:t>
            </a:r>
            <a:endParaRPr sz="2000">
              <a:latin typeface="Arial"/>
              <a:cs typeface="Arial"/>
            </a:endParaRPr>
          </a:p>
          <a:p>
            <a:pPr marL="281940" marR="673735" indent="-269875">
              <a:lnSpc>
                <a:spcPct val="100000"/>
              </a:lnSpc>
              <a:spcBef>
                <a:spcPts val="1795"/>
              </a:spcBef>
              <a:buClr>
                <a:srgbClr val="CC9A00"/>
              </a:buClr>
              <a:buSzPct val="63636"/>
              <a:buFont typeface="Wingdings"/>
              <a:buChar char=""/>
              <a:tabLst>
                <a:tab pos="281940" algn="l"/>
                <a:tab pos="282575" algn="l"/>
              </a:tabLst>
            </a:pPr>
            <a:r>
              <a:rPr sz="2200" dirty="0">
                <a:latin typeface="Arial"/>
                <a:cs typeface="Arial"/>
              </a:rPr>
              <a:t>Quá trình suy </a:t>
            </a:r>
            <a:r>
              <a:rPr sz="2200" spc="-5" dirty="0">
                <a:latin typeface="Arial"/>
                <a:cs typeface="Arial"/>
              </a:rPr>
              <a:t>diễn (reasoning/inference) </a:t>
            </a:r>
            <a:r>
              <a:rPr sz="2200" dirty="0">
                <a:latin typeface="Arial"/>
                <a:cs typeface="Arial"/>
              </a:rPr>
              <a:t>trong </a:t>
            </a:r>
            <a:r>
              <a:rPr sz="2200" spc="-5" dirty="0">
                <a:latin typeface="Arial"/>
                <a:cs typeface="Arial"/>
              </a:rPr>
              <a:t>mạng ngữ  nghĩa </a:t>
            </a:r>
            <a:r>
              <a:rPr sz="2200" dirty="0">
                <a:latin typeface="Arial"/>
                <a:cs typeface="Arial"/>
              </a:rPr>
              <a:t>được </a:t>
            </a:r>
            <a:r>
              <a:rPr sz="2200" spc="-5" dirty="0">
                <a:latin typeface="Arial"/>
                <a:cs typeface="Arial"/>
              </a:rPr>
              <a:t>thực hiện </a:t>
            </a:r>
            <a:r>
              <a:rPr sz="2200" dirty="0">
                <a:latin typeface="Arial"/>
                <a:cs typeface="Arial"/>
              </a:rPr>
              <a:t>thông </a:t>
            </a:r>
            <a:r>
              <a:rPr sz="2200" spc="-5" dirty="0">
                <a:latin typeface="Arial"/>
                <a:cs typeface="Arial"/>
              </a:rPr>
              <a:t>qua </a:t>
            </a:r>
            <a:r>
              <a:rPr sz="2200" dirty="0">
                <a:latin typeface="Arial"/>
                <a:cs typeface="Arial"/>
              </a:rPr>
              <a:t>cơ </a:t>
            </a:r>
            <a:r>
              <a:rPr sz="2200" spc="-5" dirty="0">
                <a:latin typeface="Arial"/>
                <a:cs typeface="Arial"/>
              </a:rPr>
              <a:t>chế lan</a:t>
            </a:r>
            <a:r>
              <a:rPr sz="2200" dirty="0">
                <a:latin typeface="Arial"/>
                <a:cs typeface="Arial"/>
              </a:rPr>
              <a:t> </a:t>
            </a:r>
            <a:r>
              <a:rPr sz="2200" spc="-5" dirty="0">
                <a:latin typeface="Arial"/>
                <a:cs typeface="Arial"/>
              </a:rPr>
              <a:t>truyền</a:t>
            </a:r>
            <a:endParaRPr sz="2200">
              <a:latin typeface="Arial"/>
              <a:cs typeface="Arial"/>
            </a:endParaRPr>
          </a:p>
          <a:p>
            <a:pPr marL="608965" lvl="1" indent="-270510">
              <a:lnSpc>
                <a:spcPct val="100000"/>
              </a:lnSpc>
              <a:spcBef>
                <a:spcPts val="605"/>
              </a:spcBef>
              <a:buClr>
                <a:srgbClr val="3B822F"/>
              </a:buClr>
              <a:buSzPct val="60000"/>
              <a:buFont typeface="Wingdings"/>
              <a:buChar char=""/>
              <a:tabLst>
                <a:tab pos="608965" algn="l"/>
                <a:tab pos="609600" algn="l"/>
              </a:tabLst>
            </a:pPr>
            <a:r>
              <a:rPr sz="2000" spc="-5" dirty="0">
                <a:latin typeface="Arial"/>
                <a:cs typeface="Arial"/>
              </a:rPr>
              <a:t>Tác động</a:t>
            </a:r>
            <a:r>
              <a:rPr sz="2000" spc="-45" dirty="0">
                <a:latin typeface="Arial"/>
                <a:cs typeface="Arial"/>
              </a:rPr>
              <a:t> </a:t>
            </a:r>
            <a:r>
              <a:rPr sz="2000" spc="-5" dirty="0">
                <a:latin typeface="Arial"/>
                <a:cs typeface="Arial"/>
              </a:rPr>
              <a:t>(Activation)</a:t>
            </a:r>
            <a:endParaRPr sz="2000">
              <a:latin typeface="Arial"/>
              <a:cs typeface="Arial"/>
            </a:endParaRPr>
          </a:p>
          <a:p>
            <a:pPr marL="608965" lvl="1" indent="-270510">
              <a:lnSpc>
                <a:spcPct val="100000"/>
              </a:lnSpc>
              <a:spcBef>
                <a:spcPts val="600"/>
              </a:spcBef>
              <a:buClr>
                <a:srgbClr val="3B822F"/>
              </a:buClr>
              <a:buSzPct val="60000"/>
              <a:buFont typeface="Wingdings"/>
              <a:buChar char=""/>
              <a:tabLst>
                <a:tab pos="608965" algn="l"/>
                <a:tab pos="609600" algn="l"/>
              </a:tabLst>
            </a:pPr>
            <a:r>
              <a:rPr sz="2000" spc="-5" dirty="0">
                <a:latin typeface="Arial"/>
                <a:cs typeface="Arial"/>
              </a:rPr>
              <a:t>Kế thừa</a:t>
            </a:r>
            <a:r>
              <a:rPr sz="2000" spc="-50" dirty="0">
                <a:latin typeface="Arial"/>
                <a:cs typeface="Arial"/>
              </a:rPr>
              <a:t> </a:t>
            </a:r>
            <a:r>
              <a:rPr sz="2000" spc="-5" dirty="0">
                <a:latin typeface="Arial"/>
                <a:cs typeface="Arial"/>
              </a:rPr>
              <a:t>(Inheritance)</a:t>
            </a:r>
            <a:endParaRPr sz="2000">
              <a:latin typeface="Arial"/>
              <a:cs typeface="Arial"/>
            </a:endParaRPr>
          </a:p>
        </p:txBody>
      </p:sp>
      <p:sp>
        <p:nvSpPr>
          <p:cNvPr id="15" name="Title 14">
            <a:extLst>
              <a:ext uri="{FF2B5EF4-FFF2-40B4-BE49-F238E27FC236}">
                <a16:creationId xmlns:a16="http://schemas.microsoft.com/office/drawing/2014/main" id="{40077DD0-C18C-432E-8166-16F868D0FD02}"/>
              </a:ext>
            </a:extLst>
          </p:cNvPr>
          <p:cNvSpPr>
            <a:spLocks noGrp="1"/>
          </p:cNvSpPr>
          <p:nvPr>
            <p:ph type="title"/>
          </p:nvPr>
        </p:nvSpPr>
        <p:spPr/>
        <p:txBody>
          <a:bodyPr/>
          <a:lstStyle/>
          <a:p>
            <a:r>
              <a:rPr lang="en-US" b="0" spc="-5">
                <a:latin typeface="Verdana"/>
                <a:cs typeface="Verdana"/>
              </a:rPr>
              <a:t>Mạng ngữ nghĩa</a:t>
            </a:r>
            <a:r>
              <a:rPr lang="en-US" b="0" spc="-55">
                <a:latin typeface="Verdana"/>
                <a:cs typeface="Verdana"/>
              </a:rPr>
              <a:t> </a:t>
            </a:r>
            <a:r>
              <a:rPr lang="en-US" b="0" spc="-5">
                <a:latin typeface="Verdana"/>
                <a:cs typeface="Verdana"/>
              </a:rPr>
              <a:t>(2)</a:t>
            </a:r>
            <a:endParaRPr lang="en-US" b="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39</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999"/>
            <a:ext cx="8204200" cy="4879340"/>
          </a:xfrm>
          <a:prstGeom prst="rect">
            <a:avLst/>
          </a:prstGeom>
        </p:spPr>
        <p:txBody>
          <a:bodyPr vert="horz" wrap="square" lIns="0" tIns="12700" rIns="0" bIns="0" rtlCol="0">
            <a:spAutoFit/>
          </a:bodyPr>
          <a:lstStyle/>
          <a:p>
            <a:pPr marL="281940" marR="180975" indent="-269875">
              <a:lnSpc>
                <a:spcPct val="100000"/>
              </a:lnSpc>
              <a:spcBef>
                <a:spcPts val="100"/>
              </a:spcBef>
              <a:buClr>
                <a:srgbClr val="CC9A00"/>
              </a:buClr>
              <a:buSzPct val="63636"/>
              <a:buFont typeface="Wingdings"/>
              <a:buChar char=""/>
              <a:tabLst>
                <a:tab pos="281940" algn="l"/>
                <a:tab pos="282575" algn="l"/>
              </a:tabLst>
            </a:pPr>
            <a:r>
              <a:rPr sz="2200" b="1" spc="-5" dirty="0">
                <a:latin typeface="Arial"/>
                <a:cs typeface="Arial"/>
              </a:rPr>
              <a:t>Các </a:t>
            </a:r>
            <a:r>
              <a:rPr sz="2200" b="1" dirty="0">
                <a:latin typeface="Arial"/>
                <a:cs typeface="Arial"/>
              </a:rPr>
              <a:t>nút (nodes) </a:t>
            </a:r>
            <a:r>
              <a:rPr sz="2200" spc="-5" dirty="0">
                <a:latin typeface="Arial"/>
                <a:cs typeface="Arial"/>
              </a:rPr>
              <a:t>biểu diễn </a:t>
            </a:r>
            <a:r>
              <a:rPr sz="2200" dirty="0">
                <a:latin typeface="Arial"/>
                <a:cs typeface="Arial"/>
              </a:rPr>
              <a:t>các </a:t>
            </a:r>
            <a:r>
              <a:rPr sz="2200" i="1" spc="-5" dirty="0">
                <a:latin typeface="Arial"/>
                <a:cs typeface="Arial"/>
              </a:rPr>
              <a:t>khái niệm </a:t>
            </a:r>
            <a:r>
              <a:rPr sz="2200" i="1" dirty="0">
                <a:latin typeface="Arial"/>
                <a:cs typeface="Arial"/>
              </a:rPr>
              <a:t>(concepts)</a:t>
            </a:r>
            <a:r>
              <a:rPr sz="2200" dirty="0">
                <a:latin typeface="Arial"/>
                <a:cs typeface="Arial"/>
              </a:rPr>
              <a:t>, </a:t>
            </a:r>
            <a:r>
              <a:rPr sz="2200" i="1" spc="-5" dirty="0">
                <a:latin typeface="Arial"/>
                <a:cs typeface="Arial"/>
              </a:rPr>
              <a:t>hành  động </a:t>
            </a:r>
            <a:r>
              <a:rPr sz="2200" i="1" dirty="0">
                <a:latin typeface="Arial"/>
                <a:cs typeface="Arial"/>
              </a:rPr>
              <a:t>(actions) </a:t>
            </a:r>
            <a:r>
              <a:rPr sz="2200" spc="-5" dirty="0">
                <a:latin typeface="Arial"/>
                <a:cs typeface="Arial"/>
              </a:rPr>
              <a:t>hoặc </a:t>
            </a:r>
            <a:r>
              <a:rPr sz="2200" i="1" spc="-5" dirty="0">
                <a:latin typeface="Arial"/>
                <a:cs typeface="Arial"/>
              </a:rPr>
              <a:t>đối </a:t>
            </a:r>
            <a:r>
              <a:rPr sz="2200" i="1" dirty="0">
                <a:latin typeface="Arial"/>
                <a:cs typeface="Arial"/>
              </a:rPr>
              <a:t>tượng </a:t>
            </a:r>
            <a:r>
              <a:rPr sz="2200" i="1" spc="-5" dirty="0">
                <a:latin typeface="Arial"/>
                <a:cs typeface="Arial"/>
              </a:rPr>
              <a:t>(objects) </a:t>
            </a:r>
            <a:r>
              <a:rPr sz="2200" spc="-5" dirty="0">
                <a:latin typeface="Arial"/>
                <a:cs typeface="Arial"/>
              </a:rPr>
              <a:t>trong lĩnh </a:t>
            </a:r>
            <a:r>
              <a:rPr sz="2200" dirty="0">
                <a:latin typeface="Arial"/>
                <a:cs typeface="Arial"/>
              </a:rPr>
              <a:t>vực </a:t>
            </a:r>
            <a:r>
              <a:rPr sz="2200" spc="-5" dirty="0">
                <a:latin typeface="Arial"/>
                <a:cs typeface="Arial"/>
              </a:rPr>
              <a:t>bài </a:t>
            </a:r>
            <a:r>
              <a:rPr sz="2200" dirty="0">
                <a:latin typeface="Arial"/>
                <a:cs typeface="Arial"/>
              </a:rPr>
              <a:t>toán  </a:t>
            </a:r>
            <a:r>
              <a:rPr sz="2200" spc="-5" dirty="0">
                <a:latin typeface="Arial"/>
                <a:cs typeface="Arial"/>
              </a:rPr>
              <a:t>đang </a:t>
            </a:r>
            <a:r>
              <a:rPr sz="2200" dirty="0">
                <a:latin typeface="Arial"/>
                <a:cs typeface="Arial"/>
              </a:rPr>
              <a:t>xét</a:t>
            </a:r>
            <a:endParaRPr sz="2200">
              <a:latin typeface="Arial"/>
              <a:cs typeface="Arial"/>
            </a:endParaRPr>
          </a:p>
          <a:p>
            <a:pPr marL="281940" marR="77470" indent="-269875">
              <a:lnSpc>
                <a:spcPct val="100000"/>
              </a:lnSpc>
              <a:spcBef>
                <a:spcPts val="530"/>
              </a:spcBef>
              <a:buClr>
                <a:srgbClr val="CC9A00"/>
              </a:buClr>
              <a:buSzPct val="63636"/>
              <a:buFont typeface="Wingdings"/>
              <a:buChar char=""/>
              <a:tabLst>
                <a:tab pos="281940" algn="l"/>
                <a:tab pos="282575" algn="l"/>
              </a:tabLst>
            </a:pPr>
            <a:r>
              <a:rPr sz="2200" b="1" spc="-5" dirty="0">
                <a:latin typeface="Arial"/>
                <a:cs typeface="Arial"/>
              </a:rPr>
              <a:t>Các </a:t>
            </a:r>
            <a:r>
              <a:rPr sz="2200" b="1" dirty="0">
                <a:latin typeface="Arial"/>
                <a:cs typeface="Arial"/>
              </a:rPr>
              <a:t>liên </a:t>
            </a:r>
            <a:r>
              <a:rPr sz="2200" b="1" spc="-5" dirty="0">
                <a:latin typeface="Arial"/>
                <a:cs typeface="Arial"/>
              </a:rPr>
              <a:t>kết (links) </a:t>
            </a:r>
            <a:r>
              <a:rPr sz="2200" spc="-5" dirty="0">
                <a:latin typeface="Arial"/>
                <a:cs typeface="Arial"/>
              </a:rPr>
              <a:t>là </a:t>
            </a:r>
            <a:r>
              <a:rPr sz="2200" dirty="0">
                <a:latin typeface="Arial"/>
                <a:cs typeface="Arial"/>
              </a:rPr>
              <a:t>các quan hệ được </a:t>
            </a:r>
            <a:r>
              <a:rPr sz="2200" spc="-5" dirty="0">
                <a:latin typeface="Arial"/>
                <a:cs typeface="Arial"/>
              </a:rPr>
              <a:t>gán nhãn </a:t>
            </a:r>
            <a:r>
              <a:rPr sz="2200" dirty="0">
                <a:latin typeface="Arial"/>
                <a:cs typeface="Arial"/>
              </a:rPr>
              <a:t>và có chiều  (directional </a:t>
            </a:r>
            <a:r>
              <a:rPr sz="2200" spc="-5" dirty="0">
                <a:latin typeface="Arial"/>
                <a:cs typeface="Arial"/>
              </a:rPr>
              <a:t>and labeled) </a:t>
            </a:r>
            <a:r>
              <a:rPr sz="2200" dirty="0">
                <a:latin typeface="Arial"/>
                <a:cs typeface="Arial"/>
              </a:rPr>
              <a:t>giữa </a:t>
            </a:r>
            <a:r>
              <a:rPr sz="2200" spc="-5" dirty="0">
                <a:latin typeface="Arial"/>
                <a:cs typeface="Arial"/>
              </a:rPr>
              <a:t>các</a:t>
            </a:r>
            <a:r>
              <a:rPr sz="2200" spc="-15" dirty="0">
                <a:latin typeface="Arial"/>
                <a:cs typeface="Arial"/>
              </a:rPr>
              <a:t> </a:t>
            </a:r>
            <a:r>
              <a:rPr sz="2200" spc="-5" dirty="0">
                <a:latin typeface="Arial"/>
                <a:cs typeface="Arial"/>
              </a:rPr>
              <a:t>nút</a:t>
            </a:r>
            <a:endParaRPr sz="2200">
              <a:latin typeface="Arial"/>
              <a:cs typeface="Arial"/>
            </a:endParaRPr>
          </a:p>
          <a:p>
            <a:pPr marL="281940" indent="-269875">
              <a:lnSpc>
                <a:spcPct val="100000"/>
              </a:lnSpc>
              <a:spcBef>
                <a:spcPts val="1200"/>
              </a:spcBef>
              <a:buClr>
                <a:srgbClr val="CC9A00"/>
              </a:buClr>
              <a:buSzPct val="63636"/>
              <a:buFont typeface="Wingdings"/>
              <a:buChar char=""/>
              <a:tabLst>
                <a:tab pos="281940" algn="l"/>
                <a:tab pos="282575" algn="l"/>
                <a:tab pos="2487930" algn="l"/>
              </a:tabLst>
            </a:pPr>
            <a:r>
              <a:rPr sz="2200" dirty="0">
                <a:latin typeface="Arial"/>
                <a:cs typeface="Arial"/>
              </a:rPr>
              <a:t>Hai </a:t>
            </a:r>
            <a:r>
              <a:rPr sz="2200" spc="-5" dirty="0">
                <a:latin typeface="Arial"/>
                <a:cs typeface="Arial"/>
              </a:rPr>
              <a:t>kiểu</a:t>
            </a:r>
            <a:r>
              <a:rPr sz="2200" dirty="0">
                <a:latin typeface="Arial"/>
                <a:cs typeface="Arial"/>
              </a:rPr>
              <a:t> </a:t>
            </a:r>
            <a:r>
              <a:rPr sz="2200" spc="-5" dirty="0">
                <a:latin typeface="Arial"/>
                <a:cs typeface="Arial"/>
              </a:rPr>
              <a:t>liên </a:t>
            </a:r>
            <a:r>
              <a:rPr sz="2200" dirty="0">
                <a:latin typeface="Arial"/>
                <a:cs typeface="Arial"/>
              </a:rPr>
              <a:t>kết:	</a:t>
            </a:r>
            <a:r>
              <a:rPr sz="2200" b="1" spc="-5" dirty="0">
                <a:latin typeface="Arial"/>
                <a:cs typeface="Arial"/>
              </a:rPr>
              <a:t>kế thừa </a:t>
            </a:r>
            <a:r>
              <a:rPr sz="2200" dirty="0">
                <a:latin typeface="Arial"/>
                <a:cs typeface="Arial"/>
              </a:rPr>
              <a:t>và </a:t>
            </a:r>
            <a:r>
              <a:rPr sz="2200" b="1" spc="-5" dirty="0">
                <a:latin typeface="Arial"/>
                <a:cs typeface="Arial"/>
              </a:rPr>
              <a:t>cụ</a:t>
            </a:r>
            <a:r>
              <a:rPr sz="2200" b="1" spc="20" dirty="0">
                <a:latin typeface="Arial"/>
                <a:cs typeface="Arial"/>
              </a:rPr>
              <a:t> </a:t>
            </a:r>
            <a:r>
              <a:rPr sz="2200" b="1" spc="-5" dirty="0">
                <a:latin typeface="Arial"/>
                <a:cs typeface="Arial"/>
              </a:rPr>
              <a:t>thể</a:t>
            </a:r>
            <a:endParaRPr sz="2200">
              <a:latin typeface="Arial"/>
              <a:cs typeface="Arial"/>
            </a:endParaRPr>
          </a:p>
          <a:p>
            <a:pPr marL="281940" indent="-269875">
              <a:lnSpc>
                <a:spcPct val="100000"/>
              </a:lnSpc>
              <a:spcBef>
                <a:spcPts val="1800"/>
              </a:spcBef>
              <a:buClr>
                <a:srgbClr val="CC9A00"/>
              </a:buClr>
              <a:buSzPct val="63636"/>
              <a:buFont typeface="Wingdings"/>
              <a:buChar char=""/>
              <a:tabLst>
                <a:tab pos="281940" algn="l"/>
                <a:tab pos="282575" algn="l"/>
              </a:tabLst>
            </a:pPr>
            <a:r>
              <a:rPr sz="2200" b="1" spc="-5" dirty="0">
                <a:latin typeface="Arial"/>
                <a:cs typeface="Arial"/>
              </a:rPr>
              <a:t>Liên kết kế thừa (Inheritance-oriented link) </a:t>
            </a:r>
            <a:r>
              <a:rPr sz="2200" spc="-5" dirty="0">
                <a:latin typeface="Arial"/>
                <a:cs typeface="Arial"/>
              </a:rPr>
              <a:t>biểu</a:t>
            </a:r>
            <a:r>
              <a:rPr sz="2200" spc="100" dirty="0">
                <a:latin typeface="Arial"/>
                <a:cs typeface="Arial"/>
              </a:rPr>
              <a:t> </a:t>
            </a:r>
            <a:r>
              <a:rPr sz="2200" spc="-5" dirty="0">
                <a:latin typeface="Arial"/>
                <a:cs typeface="Arial"/>
              </a:rPr>
              <a:t>diễn:</a:t>
            </a:r>
            <a:endParaRPr sz="2200">
              <a:latin typeface="Arial"/>
              <a:cs typeface="Arial"/>
            </a:endParaRPr>
          </a:p>
          <a:p>
            <a:pPr marL="608965" lvl="1" indent="-270510">
              <a:lnSpc>
                <a:spcPct val="100000"/>
              </a:lnSpc>
              <a:spcBef>
                <a:spcPts val="600"/>
              </a:spcBef>
              <a:buClr>
                <a:srgbClr val="3B822F"/>
              </a:buClr>
              <a:buSzPct val="60000"/>
              <a:buFont typeface="Wingdings"/>
              <a:buChar char=""/>
              <a:tabLst>
                <a:tab pos="608965" algn="l"/>
                <a:tab pos="609600" algn="l"/>
              </a:tabLst>
            </a:pPr>
            <a:r>
              <a:rPr sz="2000" spc="-5" dirty="0">
                <a:latin typeface="Arial"/>
                <a:cs typeface="Arial"/>
              </a:rPr>
              <a:t>Nút </a:t>
            </a:r>
            <a:r>
              <a:rPr sz="2000" i="1" spc="-5" dirty="0">
                <a:latin typeface="Arial"/>
                <a:cs typeface="Arial"/>
              </a:rPr>
              <a:t>A </a:t>
            </a:r>
            <a:r>
              <a:rPr sz="2000" spc="-5" dirty="0">
                <a:latin typeface="Arial"/>
                <a:cs typeface="Arial"/>
              </a:rPr>
              <a:t>là một lớp (loại) con của nút </a:t>
            </a:r>
            <a:r>
              <a:rPr sz="2000" i="1" spc="-5" dirty="0">
                <a:latin typeface="Arial"/>
                <a:cs typeface="Arial"/>
              </a:rPr>
              <a:t>B </a:t>
            </a:r>
            <a:r>
              <a:rPr sz="2000" spc="-5" dirty="0">
                <a:latin typeface="Arial"/>
                <a:cs typeface="Arial"/>
              </a:rPr>
              <a:t>(vd: liên kết</a:t>
            </a:r>
            <a:r>
              <a:rPr sz="2000" spc="-15" dirty="0">
                <a:latin typeface="Arial"/>
                <a:cs typeface="Arial"/>
              </a:rPr>
              <a:t> </a:t>
            </a:r>
            <a:r>
              <a:rPr sz="2000" i="1" spc="-5" dirty="0">
                <a:latin typeface="Arial"/>
                <a:cs typeface="Arial"/>
              </a:rPr>
              <a:t>IS-A</a:t>
            </a:r>
            <a:r>
              <a:rPr sz="2000" spc="-5" dirty="0">
                <a:latin typeface="Arial"/>
                <a:cs typeface="Arial"/>
              </a:rPr>
              <a:t>)</a:t>
            </a:r>
            <a:endParaRPr sz="2000">
              <a:latin typeface="Arial"/>
              <a:cs typeface="Arial"/>
            </a:endParaRPr>
          </a:p>
          <a:p>
            <a:pPr marL="608965" lvl="1" indent="-270510">
              <a:lnSpc>
                <a:spcPct val="100000"/>
              </a:lnSpc>
              <a:spcBef>
                <a:spcPts val="600"/>
              </a:spcBef>
              <a:buClr>
                <a:srgbClr val="3B822F"/>
              </a:buClr>
              <a:buSzPct val="60000"/>
              <a:buFont typeface="Wingdings"/>
              <a:buChar char=""/>
              <a:tabLst>
                <a:tab pos="608965" algn="l"/>
                <a:tab pos="609600" algn="l"/>
              </a:tabLst>
            </a:pPr>
            <a:r>
              <a:rPr sz="2000" spc="-5" dirty="0">
                <a:latin typeface="Arial"/>
                <a:cs typeface="Arial"/>
              </a:rPr>
              <a:t>Nút A là một ví dụ (instance) của nút </a:t>
            </a:r>
            <a:r>
              <a:rPr sz="2000" i="1" spc="-5" dirty="0">
                <a:latin typeface="Arial"/>
                <a:cs typeface="Arial"/>
              </a:rPr>
              <a:t>B </a:t>
            </a:r>
            <a:r>
              <a:rPr sz="2000" spc="-5" dirty="0">
                <a:latin typeface="Arial"/>
                <a:cs typeface="Arial"/>
              </a:rPr>
              <a:t>(vd: liên kết</a:t>
            </a:r>
            <a:r>
              <a:rPr sz="2000" spc="20" dirty="0">
                <a:latin typeface="Arial"/>
                <a:cs typeface="Arial"/>
              </a:rPr>
              <a:t> </a:t>
            </a:r>
            <a:r>
              <a:rPr sz="2000" i="1" spc="-5" dirty="0">
                <a:latin typeface="Arial"/>
                <a:cs typeface="Arial"/>
              </a:rPr>
              <a:t>INSTANCE-OF</a:t>
            </a:r>
            <a:r>
              <a:rPr sz="2000" spc="-5" dirty="0">
                <a:latin typeface="Arial"/>
                <a:cs typeface="Arial"/>
              </a:rPr>
              <a:t>)</a:t>
            </a:r>
            <a:endParaRPr sz="2000">
              <a:latin typeface="Arial"/>
              <a:cs typeface="Arial"/>
            </a:endParaRPr>
          </a:p>
          <a:p>
            <a:pPr marL="281940" indent="-269875">
              <a:lnSpc>
                <a:spcPct val="100000"/>
              </a:lnSpc>
              <a:spcBef>
                <a:spcPts val="1800"/>
              </a:spcBef>
              <a:buClr>
                <a:srgbClr val="CC9A00"/>
              </a:buClr>
              <a:buSzPct val="63636"/>
              <a:buFont typeface="Wingdings"/>
              <a:buChar char=""/>
              <a:tabLst>
                <a:tab pos="281940" algn="l"/>
                <a:tab pos="282575" algn="l"/>
              </a:tabLst>
            </a:pPr>
            <a:r>
              <a:rPr sz="2200" b="1" dirty="0">
                <a:latin typeface="Arial"/>
                <a:cs typeface="Arial"/>
              </a:rPr>
              <a:t>Liên </a:t>
            </a:r>
            <a:r>
              <a:rPr sz="2200" b="1" spc="-5" dirty="0">
                <a:latin typeface="Arial"/>
                <a:cs typeface="Arial"/>
              </a:rPr>
              <a:t>kết cụ thể (Domain-specific </a:t>
            </a:r>
            <a:r>
              <a:rPr sz="2200" b="1" dirty="0">
                <a:latin typeface="Arial"/>
                <a:cs typeface="Arial"/>
              </a:rPr>
              <a:t>link) </a:t>
            </a:r>
            <a:r>
              <a:rPr sz="2200" spc="-5" dirty="0">
                <a:latin typeface="Arial"/>
                <a:cs typeface="Arial"/>
              </a:rPr>
              <a:t>biểu</a:t>
            </a:r>
            <a:r>
              <a:rPr sz="2200" spc="65" dirty="0">
                <a:latin typeface="Arial"/>
                <a:cs typeface="Arial"/>
              </a:rPr>
              <a:t> </a:t>
            </a:r>
            <a:r>
              <a:rPr sz="2200" spc="-5" dirty="0">
                <a:latin typeface="Arial"/>
                <a:cs typeface="Arial"/>
              </a:rPr>
              <a:t>diễn:</a:t>
            </a:r>
            <a:endParaRPr sz="2200">
              <a:latin typeface="Arial"/>
              <a:cs typeface="Arial"/>
            </a:endParaRPr>
          </a:p>
          <a:p>
            <a:pPr marL="608965" lvl="1" indent="-270510">
              <a:lnSpc>
                <a:spcPct val="100000"/>
              </a:lnSpc>
              <a:spcBef>
                <a:spcPts val="600"/>
              </a:spcBef>
              <a:buClr>
                <a:srgbClr val="3B822F"/>
              </a:buClr>
              <a:buSzPct val="60000"/>
              <a:buFont typeface="Wingdings"/>
              <a:buChar char=""/>
              <a:tabLst>
                <a:tab pos="608965" algn="l"/>
                <a:tab pos="609600" algn="l"/>
              </a:tabLst>
            </a:pPr>
            <a:r>
              <a:rPr sz="2000" spc="-5" dirty="0">
                <a:latin typeface="Arial"/>
                <a:cs typeface="Arial"/>
              </a:rPr>
              <a:t>Nút A liên quan tới (có quan hệ với) nút</a:t>
            </a:r>
            <a:r>
              <a:rPr sz="2000" spc="-40" dirty="0">
                <a:latin typeface="Arial"/>
                <a:cs typeface="Arial"/>
              </a:rPr>
              <a:t> </a:t>
            </a:r>
            <a:r>
              <a:rPr sz="2000" i="1" spc="-5" dirty="0">
                <a:latin typeface="Arial"/>
                <a:cs typeface="Arial"/>
              </a:rPr>
              <a:t>B</a:t>
            </a:r>
            <a:endParaRPr sz="2000">
              <a:latin typeface="Arial"/>
              <a:cs typeface="Arial"/>
            </a:endParaRPr>
          </a:p>
          <a:p>
            <a:pPr marL="608965" lvl="1" indent="-270510">
              <a:lnSpc>
                <a:spcPct val="100000"/>
              </a:lnSpc>
              <a:spcBef>
                <a:spcPts val="610"/>
              </a:spcBef>
              <a:buClr>
                <a:srgbClr val="3B822F"/>
              </a:buClr>
              <a:buSzPct val="58333"/>
              <a:buFont typeface="Wingdings"/>
              <a:buChar char=""/>
              <a:tabLst>
                <a:tab pos="608965" algn="l"/>
                <a:tab pos="609600" algn="l"/>
                <a:tab pos="1395095" algn="l"/>
              </a:tabLst>
            </a:pPr>
            <a:r>
              <a:rPr sz="1800" spc="-5" dirty="0">
                <a:latin typeface="Arial"/>
                <a:cs typeface="Arial"/>
              </a:rPr>
              <a:t>Ví </a:t>
            </a:r>
            <a:r>
              <a:rPr sz="1800" dirty="0">
                <a:latin typeface="Arial"/>
                <a:cs typeface="Arial"/>
              </a:rPr>
              <a:t>dụ:	</a:t>
            </a:r>
            <a:r>
              <a:rPr sz="1800" i="1" spc="-5" dirty="0">
                <a:latin typeface="Arial"/>
                <a:cs typeface="Arial"/>
              </a:rPr>
              <a:t>HAS</a:t>
            </a:r>
            <a:r>
              <a:rPr sz="1800" spc="-5" dirty="0">
                <a:latin typeface="Arial"/>
                <a:cs typeface="Arial"/>
              </a:rPr>
              <a:t>, </a:t>
            </a:r>
            <a:r>
              <a:rPr sz="1800" i="1" dirty="0">
                <a:latin typeface="Arial"/>
                <a:cs typeface="Arial"/>
              </a:rPr>
              <a:t>CAN</a:t>
            </a:r>
            <a:r>
              <a:rPr sz="1800" dirty="0">
                <a:latin typeface="Arial"/>
                <a:cs typeface="Arial"/>
              </a:rPr>
              <a:t>, </a:t>
            </a:r>
            <a:r>
              <a:rPr sz="1800" i="1" dirty="0">
                <a:latin typeface="Arial"/>
                <a:cs typeface="Arial"/>
              </a:rPr>
              <a:t>HAS-PART</a:t>
            </a:r>
            <a:r>
              <a:rPr sz="1800" dirty="0">
                <a:latin typeface="Arial"/>
                <a:cs typeface="Arial"/>
              </a:rPr>
              <a:t>, </a:t>
            </a:r>
            <a:r>
              <a:rPr sz="1800" i="1" dirty="0">
                <a:latin typeface="Arial"/>
                <a:cs typeface="Arial"/>
              </a:rPr>
              <a:t>CAUSES</a:t>
            </a:r>
            <a:r>
              <a:rPr sz="1800" dirty="0">
                <a:latin typeface="Arial"/>
                <a:cs typeface="Arial"/>
              </a:rPr>
              <a:t>, </a:t>
            </a:r>
            <a:r>
              <a:rPr sz="1800" i="1" spc="-5" dirty="0">
                <a:latin typeface="Arial"/>
                <a:cs typeface="Arial"/>
              </a:rPr>
              <a:t>HAS-COLOR</a:t>
            </a:r>
            <a:r>
              <a:rPr sz="1800" spc="-5" dirty="0">
                <a:latin typeface="Arial"/>
                <a:cs typeface="Arial"/>
              </a:rPr>
              <a:t>,</a:t>
            </a:r>
            <a:r>
              <a:rPr sz="1800" spc="-90" dirty="0">
                <a:latin typeface="Arial"/>
                <a:cs typeface="Arial"/>
              </a:rPr>
              <a:t> </a:t>
            </a:r>
            <a:r>
              <a:rPr sz="1800" dirty="0">
                <a:latin typeface="Arial"/>
                <a:cs typeface="Arial"/>
              </a:rPr>
              <a:t>…</a:t>
            </a:r>
            <a:endParaRPr sz="18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3DAEBD15-E313-4EE8-BA73-028B1C04572D}"/>
              </a:ext>
            </a:extLst>
          </p:cNvPr>
          <p:cNvSpPr>
            <a:spLocks noGrp="1"/>
          </p:cNvSpPr>
          <p:nvPr>
            <p:ph type="title"/>
          </p:nvPr>
        </p:nvSpPr>
        <p:spPr/>
        <p:txBody>
          <a:bodyPr/>
          <a:lstStyle/>
          <a:p>
            <a:r>
              <a:rPr lang="en-US" b="0" spc="-5">
                <a:latin typeface="Verdana"/>
                <a:cs typeface="Verdana"/>
              </a:rPr>
              <a:t>Mạng ngữ nghĩa </a:t>
            </a:r>
            <a:r>
              <a:rPr lang="en-US" b="0">
                <a:latin typeface="Verdana"/>
                <a:cs typeface="Verdana"/>
              </a:rPr>
              <a:t>– Cú</a:t>
            </a:r>
            <a:r>
              <a:rPr lang="en-US" b="0" spc="-45">
                <a:latin typeface="Verdana"/>
                <a:cs typeface="Verdana"/>
              </a:rPr>
              <a:t> </a:t>
            </a:r>
            <a:r>
              <a:rPr lang="en-US" b="0" spc="-5">
                <a:latin typeface="Verdana"/>
                <a:cs typeface="Verdana"/>
              </a:rPr>
              <a:t>pháp</a:t>
            </a:r>
            <a:endParaRPr lang="en-US" b="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5"/>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7"/>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40</a:t>
            </a:fld>
            <a:endParaRPr spc="-40" dirty="0"/>
          </a:p>
        </p:txBody>
      </p:sp>
      <p:grpSp>
        <p:nvGrpSpPr>
          <p:cNvPr id="3" name="object 3"/>
          <p:cNvGrpSpPr/>
          <p:nvPr/>
        </p:nvGrpSpPr>
        <p:grpSpPr>
          <a:xfrm>
            <a:off x="457200" y="1436369"/>
            <a:ext cx="9144000" cy="5139690"/>
            <a:chOff x="457200" y="1436369"/>
            <a:chExt cx="9144000" cy="513969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2514600" y="1752600"/>
              <a:ext cx="4675632" cy="4823459"/>
            </a:xfrm>
            <a:prstGeom prst="rect">
              <a:avLst/>
            </a:prstGeom>
            <a:blipFill>
              <a:blip r:embed="rId2" cstate="print"/>
              <a:stretch>
                <a:fillRect/>
              </a:stretch>
            </a:blipFill>
          </p:spPr>
          <p:txBody>
            <a:bodyPr wrap="square" lIns="0" tIns="0" rIns="0" bIns="0" rtlCol="0"/>
            <a:lstStyle/>
            <a:p>
              <a:endParaRPr/>
            </a:p>
          </p:txBody>
        </p:sp>
      </p:grpSp>
      <p:sp>
        <p:nvSpPr>
          <p:cNvPr id="7" name="object 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8" name="object 8"/>
          <p:cNvSpPr txBox="1"/>
          <p:nvPr/>
        </p:nvSpPr>
        <p:spPr>
          <a:xfrm>
            <a:off x="6631940" y="6429247"/>
            <a:ext cx="2226310" cy="208279"/>
          </a:xfrm>
          <a:prstGeom prst="rect">
            <a:avLst/>
          </a:prstGeom>
        </p:spPr>
        <p:txBody>
          <a:bodyPr vert="horz" wrap="square" lIns="0" tIns="12700" rIns="0" bIns="0" rtlCol="0">
            <a:spAutoFit/>
          </a:bodyPr>
          <a:lstStyle/>
          <a:p>
            <a:pPr marL="12700">
              <a:lnSpc>
                <a:spcPct val="100000"/>
              </a:lnSpc>
              <a:spcBef>
                <a:spcPts val="100"/>
              </a:spcBef>
            </a:pPr>
            <a:r>
              <a:rPr sz="1200" spc="-5" dirty="0">
                <a:latin typeface="Arial"/>
                <a:cs typeface="Arial"/>
              </a:rPr>
              <a:t>(</a:t>
            </a:r>
            <a:r>
              <a:rPr sz="1200" i="1" spc="-5" dirty="0">
                <a:latin typeface="Arial"/>
                <a:cs typeface="Arial"/>
              </a:rPr>
              <a:t>B. L. </a:t>
            </a:r>
            <a:r>
              <a:rPr sz="1200" i="1" spc="-10" dirty="0">
                <a:latin typeface="Arial"/>
                <a:cs typeface="Arial"/>
              </a:rPr>
              <a:t>Vrusias, </a:t>
            </a:r>
            <a:r>
              <a:rPr sz="1200" i="1" spc="-5" dirty="0">
                <a:latin typeface="Arial"/>
                <a:cs typeface="Arial"/>
              </a:rPr>
              <a:t>course</a:t>
            </a:r>
            <a:r>
              <a:rPr sz="1200" i="1" spc="-75" dirty="0">
                <a:latin typeface="Arial"/>
                <a:cs typeface="Arial"/>
              </a:rPr>
              <a:t> </a:t>
            </a:r>
            <a:r>
              <a:rPr sz="1200" i="1" spc="-5" dirty="0">
                <a:latin typeface="Arial"/>
                <a:cs typeface="Arial"/>
              </a:rPr>
              <a:t>AI-CS289</a:t>
            </a:r>
            <a:r>
              <a:rPr sz="1200" spc="-5" dirty="0">
                <a:latin typeface="Arial"/>
                <a:cs typeface="Arial"/>
              </a:rPr>
              <a:t>)</a:t>
            </a:r>
            <a:endParaRPr sz="1200">
              <a:latin typeface="Arial"/>
              <a:cs typeface="Arial"/>
            </a:endParaRPr>
          </a:p>
        </p:txBody>
      </p:sp>
      <p:sp>
        <p:nvSpPr>
          <p:cNvPr id="13" name="Title 11">
            <a:extLst>
              <a:ext uri="{FF2B5EF4-FFF2-40B4-BE49-F238E27FC236}">
                <a16:creationId xmlns:a16="http://schemas.microsoft.com/office/drawing/2014/main" id="{41710BE0-1592-40B4-9820-004093E784F7}"/>
              </a:ext>
            </a:extLst>
          </p:cNvPr>
          <p:cNvSpPr>
            <a:spLocks noGrp="1"/>
          </p:cNvSpPr>
          <p:nvPr>
            <p:ph type="title"/>
          </p:nvPr>
        </p:nvSpPr>
        <p:spPr>
          <a:xfrm>
            <a:off x="537845" y="-98957"/>
            <a:ext cx="8829040" cy="1502305"/>
          </a:xfrm>
        </p:spPr>
        <p:txBody>
          <a:bodyPr/>
          <a:lstStyle/>
          <a:p>
            <a:r>
              <a:rPr lang="en-US" sz="3960" spc="-5">
                <a:solidFill>
                  <a:schemeClr val="bg1"/>
                </a:solidFill>
                <a:latin typeface="Verdana"/>
              </a:rPr>
              <a:t>Mạng ngữ nghĩa – Ví dụ</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object 125"/>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6" name="object 126"/>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41</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4105650" y="1671831"/>
            <a:ext cx="1093470" cy="428625"/>
          </a:xfrm>
          <a:prstGeom prst="rect">
            <a:avLst/>
          </a:prstGeom>
          <a:ln w="3175">
            <a:solidFill>
              <a:srgbClr val="000000"/>
            </a:solidFill>
          </a:ln>
        </p:spPr>
        <p:txBody>
          <a:bodyPr vert="horz" wrap="square" lIns="0" tIns="635" rIns="0" bIns="0" rtlCol="0">
            <a:spAutoFit/>
          </a:bodyPr>
          <a:lstStyle/>
          <a:p>
            <a:pPr>
              <a:lnSpc>
                <a:spcPct val="100000"/>
              </a:lnSpc>
              <a:spcBef>
                <a:spcPts val="5"/>
              </a:spcBef>
            </a:pPr>
            <a:endParaRPr sz="950">
              <a:latin typeface="Times New Roman"/>
              <a:cs typeface="Times New Roman"/>
            </a:endParaRPr>
          </a:p>
          <a:p>
            <a:pPr marL="199390">
              <a:lnSpc>
                <a:spcPct val="100000"/>
              </a:lnSpc>
              <a:spcBef>
                <a:spcPts val="5"/>
              </a:spcBef>
            </a:pPr>
            <a:r>
              <a:rPr sz="1100" b="1" spc="25" dirty="0">
                <a:latin typeface="Arial"/>
                <a:cs typeface="Arial"/>
              </a:rPr>
              <a:t>a </a:t>
            </a:r>
            <a:r>
              <a:rPr sz="1100" b="1" spc="15" dirty="0">
                <a:latin typeface="Arial"/>
                <a:cs typeface="Arial"/>
              </a:rPr>
              <a:t>n </a:t>
            </a:r>
            <a:r>
              <a:rPr sz="1100" b="1" spc="5" dirty="0">
                <a:latin typeface="Arial"/>
                <a:cs typeface="Arial"/>
              </a:rPr>
              <a:t>i </a:t>
            </a:r>
            <a:r>
              <a:rPr sz="1100" b="1" spc="20" dirty="0">
                <a:latin typeface="Arial"/>
                <a:cs typeface="Arial"/>
              </a:rPr>
              <a:t>m </a:t>
            </a:r>
            <a:r>
              <a:rPr sz="1100" b="1" spc="25" dirty="0">
                <a:latin typeface="Arial"/>
                <a:cs typeface="Arial"/>
              </a:rPr>
              <a:t>a</a:t>
            </a:r>
            <a:r>
              <a:rPr sz="1100" b="1" spc="30" dirty="0">
                <a:latin typeface="Arial"/>
                <a:cs typeface="Arial"/>
              </a:rPr>
              <a:t> </a:t>
            </a:r>
            <a:r>
              <a:rPr sz="1100" b="1" spc="5" dirty="0">
                <a:latin typeface="Arial"/>
                <a:cs typeface="Arial"/>
              </a:rPr>
              <a:t>l</a:t>
            </a:r>
            <a:r>
              <a:rPr sz="1100" b="1" spc="15" dirty="0">
                <a:latin typeface="Arial"/>
                <a:cs typeface="Arial"/>
              </a:rPr>
              <a:t> </a:t>
            </a:r>
            <a:endParaRPr sz="1100">
              <a:latin typeface="Arial"/>
              <a:cs typeface="Arial"/>
            </a:endParaRPr>
          </a:p>
        </p:txBody>
      </p:sp>
      <p:sp>
        <p:nvSpPr>
          <p:cNvPr id="7" name="object 7"/>
          <p:cNvSpPr txBox="1"/>
          <p:nvPr/>
        </p:nvSpPr>
        <p:spPr>
          <a:xfrm>
            <a:off x="6729992" y="1814317"/>
            <a:ext cx="1093470" cy="429259"/>
          </a:xfrm>
          <a:prstGeom prst="rect">
            <a:avLst/>
          </a:prstGeom>
          <a:ln w="3175">
            <a:solidFill>
              <a:srgbClr val="000000"/>
            </a:solidFill>
          </a:ln>
        </p:spPr>
        <p:txBody>
          <a:bodyPr vert="horz" wrap="square" lIns="0" tIns="635" rIns="0" bIns="0" rtlCol="0">
            <a:spAutoFit/>
          </a:bodyPr>
          <a:lstStyle/>
          <a:p>
            <a:pPr>
              <a:lnSpc>
                <a:spcPct val="100000"/>
              </a:lnSpc>
              <a:spcBef>
                <a:spcPts val="5"/>
              </a:spcBef>
            </a:pPr>
            <a:endParaRPr sz="950">
              <a:latin typeface="Times New Roman"/>
              <a:cs typeface="Times New Roman"/>
            </a:endParaRPr>
          </a:p>
          <a:p>
            <a:pPr marL="330835">
              <a:lnSpc>
                <a:spcPct val="100000"/>
              </a:lnSpc>
              <a:spcBef>
                <a:spcPts val="5"/>
              </a:spcBef>
            </a:pPr>
            <a:r>
              <a:rPr sz="1100" b="1" spc="30" dirty="0">
                <a:latin typeface="Arial"/>
                <a:cs typeface="Arial"/>
              </a:rPr>
              <a:t>s </a:t>
            </a:r>
            <a:r>
              <a:rPr sz="1100" b="1" spc="10" dirty="0">
                <a:latin typeface="Arial"/>
                <a:cs typeface="Arial"/>
              </a:rPr>
              <a:t>k </a:t>
            </a:r>
            <a:r>
              <a:rPr sz="1100" b="1" spc="5" dirty="0">
                <a:latin typeface="Arial"/>
                <a:cs typeface="Arial"/>
              </a:rPr>
              <a:t>i</a:t>
            </a:r>
            <a:r>
              <a:rPr sz="1100" b="1" spc="-190" dirty="0">
                <a:latin typeface="Arial"/>
                <a:cs typeface="Arial"/>
              </a:rPr>
              <a:t> </a:t>
            </a:r>
            <a:r>
              <a:rPr sz="1100" b="1" spc="15" dirty="0">
                <a:latin typeface="Arial"/>
                <a:cs typeface="Arial"/>
              </a:rPr>
              <a:t>n</a:t>
            </a:r>
            <a:endParaRPr sz="1100">
              <a:latin typeface="Arial"/>
              <a:cs typeface="Arial"/>
            </a:endParaRPr>
          </a:p>
        </p:txBody>
      </p:sp>
      <p:grpSp>
        <p:nvGrpSpPr>
          <p:cNvPr id="8" name="object 8"/>
          <p:cNvGrpSpPr/>
          <p:nvPr/>
        </p:nvGrpSpPr>
        <p:grpSpPr>
          <a:xfrm>
            <a:off x="3885688" y="2384554"/>
            <a:ext cx="2736215" cy="32384"/>
            <a:chOff x="3885688" y="2384554"/>
            <a:chExt cx="2736215" cy="32384"/>
          </a:xfrm>
        </p:grpSpPr>
        <p:sp>
          <p:nvSpPr>
            <p:cNvPr id="9" name="object 9"/>
            <p:cNvSpPr/>
            <p:nvPr/>
          </p:nvSpPr>
          <p:spPr>
            <a:xfrm>
              <a:off x="5526789" y="2385824"/>
              <a:ext cx="1093470" cy="29845"/>
            </a:xfrm>
            <a:custGeom>
              <a:avLst/>
              <a:gdLst/>
              <a:ahLst/>
              <a:cxnLst/>
              <a:rect l="l" t="t" r="r" b="b"/>
              <a:pathLst>
                <a:path w="1093470" h="29844">
                  <a:moveTo>
                    <a:pt x="0" y="0"/>
                  </a:moveTo>
                  <a:lnTo>
                    <a:pt x="1093471" y="0"/>
                  </a:lnTo>
                  <a:lnTo>
                    <a:pt x="1093471" y="29715"/>
                  </a:lnTo>
                  <a:lnTo>
                    <a:pt x="0" y="29715"/>
                  </a:lnTo>
                  <a:lnTo>
                    <a:pt x="0" y="0"/>
                  </a:lnTo>
                </a:path>
              </a:pathLst>
            </a:custGeom>
            <a:ln w="3175">
              <a:solidFill>
                <a:srgbClr val="000000"/>
              </a:solidFill>
            </a:ln>
          </p:spPr>
          <p:txBody>
            <a:bodyPr wrap="square" lIns="0" tIns="0" rIns="0" bIns="0" rtlCol="0"/>
            <a:lstStyle/>
            <a:p>
              <a:endParaRPr/>
            </a:p>
          </p:txBody>
        </p:sp>
        <p:sp>
          <p:nvSpPr>
            <p:cNvPr id="10" name="object 10"/>
            <p:cNvSpPr/>
            <p:nvPr/>
          </p:nvSpPr>
          <p:spPr>
            <a:xfrm>
              <a:off x="3886958" y="2385824"/>
              <a:ext cx="1093470" cy="29845"/>
            </a:xfrm>
            <a:custGeom>
              <a:avLst/>
              <a:gdLst/>
              <a:ahLst/>
              <a:cxnLst/>
              <a:rect l="l" t="t" r="r" b="b"/>
              <a:pathLst>
                <a:path w="1093470" h="29844">
                  <a:moveTo>
                    <a:pt x="0" y="0"/>
                  </a:moveTo>
                  <a:lnTo>
                    <a:pt x="1093471" y="0"/>
                  </a:lnTo>
                  <a:lnTo>
                    <a:pt x="1093471" y="29715"/>
                  </a:lnTo>
                  <a:lnTo>
                    <a:pt x="0" y="29715"/>
                  </a:lnTo>
                  <a:lnTo>
                    <a:pt x="0" y="0"/>
                  </a:lnTo>
                </a:path>
              </a:pathLst>
            </a:custGeom>
            <a:ln w="3175">
              <a:solidFill>
                <a:srgbClr val="000000"/>
              </a:solidFill>
            </a:ln>
          </p:spPr>
          <p:txBody>
            <a:bodyPr wrap="square" lIns="0" tIns="0" rIns="0" bIns="0" rtlCol="0"/>
            <a:lstStyle/>
            <a:p>
              <a:endParaRPr/>
            </a:p>
          </p:txBody>
        </p:sp>
      </p:grpSp>
      <p:sp>
        <p:nvSpPr>
          <p:cNvPr id="11" name="object 11"/>
          <p:cNvSpPr txBox="1"/>
          <p:nvPr/>
        </p:nvSpPr>
        <p:spPr>
          <a:xfrm>
            <a:off x="1477521" y="1957574"/>
            <a:ext cx="1097280" cy="428625"/>
          </a:xfrm>
          <a:prstGeom prst="rect">
            <a:avLst/>
          </a:prstGeom>
          <a:ln w="3175">
            <a:solidFill>
              <a:srgbClr val="000000"/>
            </a:solidFill>
          </a:ln>
        </p:spPr>
        <p:txBody>
          <a:bodyPr vert="horz" wrap="square" lIns="0" tIns="635" rIns="0" bIns="0" rtlCol="0">
            <a:spAutoFit/>
          </a:bodyPr>
          <a:lstStyle/>
          <a:p>
            <a:pPr>
              <a:lnSpc>
                <a:spcPct val="100000"/>
              </a:lnSpc>
              <a:spcBef>
                <a:spcPts val="5"/>
              </a:spcBef>
            </a:pPr>
            <a:endParaRPr sz="950">
              <a:latin typeface="Times New Roman"/>
              <a:cs typeface="Times New Roman"/>
            </a:endParaRPr>
          </a:p>
          <a:p>
            <a:pPr marL="259715">
              <a:lnSpc>
                <a:spcPct val="100000"/>
              </a:lnSpc>
              <a:spcBef>
                <a:spcPts val="5"/>
              </a:spcBef>
            </a:pPr>
            <a:r>
              <a:rPr sz="1100" b="1" spc="100" dirty="0">
                <a:latin typeface="Arial"/>
                <a:cs typeface="Arial"/>
              </a:rPr>
              <a:t>fl</a:t>
            </a:r>
            <a:r>
              <a:rPr sz="1100" b="1" spc="-204" dirty="0">
                <a:latin typeface="Arial"/>
                <a:cs typeface="Arial"/>
              </a:rPr>
              <a:t> </a:t>
            </a:r>
            <a:r>
              <a:rPr sz="1100" b="1" spc="10" dirty="0">
                <a:latin typeface="Arial"/>
                <a:cs typeface="Arial"/>
              </a:rPr>
              <a:t>y </a:t>
            </a:r>
            <a:r>
              <a:rPr sz="1100" b="1" spc="90" dirty="0">
                <a:latin typeface="Arial"/>
                <a:cs typeface="Arial"/>
              </a:rPr>
              <a:t>in </a:t>
            </a:r>
            <a:r>
              <a:rPr sz="1100" b="1" spc="15" dirty="0">
                <a:latin typeface="Arial"/>
                <a:cs typeface="Arial"/>
              </a:rPr>
              <a:t>g</a:t>
            </a:r>
            <a:endParaRPr sz="1100">
              <a:latin typeface="Arial"/>
              <a:cs typeface="Arial"/>
            </a:endParaRPr>
          </a:p>
        </p:txBody>
      </p:sp>
      <p:sp>
        <p:nvSpPr>
          <p:cNvPr id="12" name="object 12"/>
          <p:cNvSpPr txBox="1"/>
          <p:nvPr/>
        </p:nvSpPr>
        <p:spPr>
          <a:xfrm>
            <a:off x="5239003" y="1695179"/>
            <a:ext cx="963294" cy="161925"/>
          </a:xfrm>
          <a:prstGeom prst="rect">
            <a:avLst/>
          </a:prstGeom>
        </p:spPr>
        <p:txBody>
          <a:bodyPr vert="horz" wrap="square" lIns="0" tIns="11430" rIns="0" bIns="0" rtlCol="0">
            <a:spAutoFit/>
          </a:bodyPr>
          <a:lstStyle/>
          <a:p>
            <a:pPr marL="12700">
              <a:lnSpc>
                <a:spcPct val="100000"/>
              </a:lnSpc>
              <a:spcBef>
                <a:spcPts val="90"/>
              </a:spcBef>
            </a:pPr>
            <a:r>
              <a:rPr sz="900" b="1" spc="20" dirty="0">
                <a:latin typeface="Arial"/>
                <a:cs typeface="Arial"/>
              </a:rPr>
              <a:t>c </a:t>
            </a:r>
            <a:r>
              <a:rPr sz="900" b="1" spc="-5" dirty="0">
                <a:latin typeface="Arial"/>
                <a:cs typeface="Arial"/>
              </a:rPr>
              <a:t>o </a:t>
            </a:r>
            <a:r>
              <a:rPr sz="900" b="1" spc="20" dirty="0">
                <a:latin typeface="Arial"/>
                <a:cs typeface="Arial"/>
              </a:rPr>
              <a:t>v e </a:t>
            </a:r>
            <a:r>
              <a:rPr sz="900" b="1" spc="-5" dirty="0">
                <a:latin typeface="Arial"/>
                <a:cs typeface="Arial"/>
              </a:rPr>
              <a:t>r e d </a:t>
            </a:r>
            <a:r>
              <a:rPr sz="900" b="1" spc="20" dirty="0">
                <a:latin typeface="Arial"/>
                <a:cs typeface="Arial"/>
              </a:rPr>
              <a:t>_ </a:t>
            </a:r>
            <a:r>
              <a:rPr sz="900" b="1" spc="-5" dirty="0">
                <a:latin typeface="Arial"/>
                <a:cs typeface="Arial"/>
              </a:rPr>
              <a:t>b</a:t>
            </a:r>
            <a:r>
              <a:rPr sz="900" b="1" spc="-100" dirty="0">
                <a:latin typeface="Arial"/>
                <a:cs typeface="Arial"/>
              </a:rPr>
              <a:t> </a:t>
            </a:r>
            <a:r>
              <a:rPr sz="900" b="1" spc="-5" dirty="0">
                <a:latin typeface="Arial"/>
                <a:cs typeface="Arial"/>
              </a:rPr>
              <a:t>y</a:t>
            </a:r>
            <a:endParaRPr sz="900">
              <a:latin typeface="Arial"/>
              <a:cs typeface="Arial"/>
            </a:endParaRPr>
          </a:p>
        </p:txBody>
      </p:sp>
      <p:grpSp>
        <p:nvGrpSpPr>
          <p:cNvPr id="13" name="object 13"/>
          <p:cNvGrpSpPr/>
          <p:nvPr/>
        </p:nvGrpSpPr>
        <p:grpSpPr>
          <a:xfrm>
            <a:off x="4427594" y="1884681"/>
            <a:ext cx="2304415" cy="503555"/>
            <a:chOff x="4427594" y="1884681"/>
            <a:chExt cx="2304415" cy="503555"/>
          </a:xfrm>
        </p:grpSpPr>
        <p:sp>
          <p:nvSpPr>
            <p:cNvPr id="14" name="object 14"/>
            <p:cNvSpPr/>
            <p:nvPr/>
          </p:nvSpPr>
          <p:spPr>
            <a:xfrm>
              <a:off x="5199121" y="1885951"/>
              <a:ext cx="1530985" cy="142875"/>
            </a:xfrm>
            <a:custGeom>
              <a:avLst/>
              <a:gdLst/>
              <a:ahLst/>
              <a:cxnLst/>
              <a:rect l="l" t="t" r="r" b="b"/>
              <a:pathLst>
                <a:path w="1530984" h="142875">
                  <a:moveTo>
                    <a:pt x="0" y="0"/>
                  </a:moveTo>
                  <a:lnTo>
                    <a:pt x="150885" y="0"/>
                  </a:lnTo>
                  <a:lnTo>
                    <a:pt x="271270" y="4567"/>
                  </a:lnTo>
                  <a:lnTo>
                    <a:pt x="373379" y="9904"/>
                  </a:lnTo>
                  <a:lnTo>
                    <a:pt x="456443" y="14472"/>
                  </a:lnTo>
                  <a:lnTo>
                    <a:pt x="524264" y="22098"/>
                  </a:lnTo>
                  <a:lnTo>
                    <a:pt x="571518" y="30922"/>
                  </a:lnTo>
                  <a:lnTo>
                    <a:pt x="620760" y="42680"/>
                  </a:lnTo>
                  <a:lnTo>
                    <a:pt x="668806" y="56529"/>
                  </a:lnTo>
                  <a:lnTo>
                    <a:pt x="712471" y="71623"/>
                  </a:lnTo>
                  <a:lnTo>
                    <a:pt x="752872" y="88584"/>
                  </a:lnTo>
                  <a:lnTo>
                    <a:pt x="802816" y="101811"/>
                  </a:lnTo>
                  <a:lnTo>
                    <a:pt x="854831" y="112137"/>
                  </a:lnTo>
                  <a:lnTo>
                    <a:pt x="901447" y="120398"/>
                  </a:lnTo>
                  <a:lnTo>
                    <a:pt x="965465" y="128014"/>
                  </a:lnTo>
                  <a:lnTo>
                    <a:pt x="1051562" y="135630"/>
                  </a:lnTo>
                  <a:lnTo>
                    <a:pt x="1153672" y="137919"/>
                  </a:lnTo>
                  <a:lnTo>
                    <a:pt x="1274072" y="142496"/>
                  </a:lnTo>
                  <a:lnTo>
                    <a:pt x="1530870" y="142496"/>
                  </a:lnTo>
                </a:path>
              </a:pathLst>
            </a:custGeom>
            <a:ln w="3175">
              <a:solidFill>
                <a:srgbClr val="000000"/>
              </a:solidFill>
            </a:ln>
          </p:spPr>
          <p:txBody>
            <a:bodyPr wrap="square" lIns="0" tIns="0" rIns="0" bIns="0" rtlCol="0"/>
            <a:lstStyle/>
            <a:p>
              <a:endParaRPr/>
            </a:p>
          </p:txBody>
        </p:sp>
        <p:sp>
          <p:nvSpPr>
            <p:cNvPr id="15" name="object 15"/>
            <p:cNvSpPr/>
            <p:nvPr/>
          </p:nvSpPr>
          <p:spPr>
            <a:xfrm>
              <a:off x="6620261" y="2011676"/>
              <a:ext cx="109855" cy="36830"/>
            </a:xfrm>
            <a:custGeom>
              <a:avLst/>
              <a:gdLst/>
              <a:ahLst/>
              <a:cxnLst/>
              <a:rect l="l" t="t" r="r" b="b"/>
              <a:pathLst>
                <a:path w="109854" h="36830">
                  <a:moveTo>
                    <a:pt x="0" y="36581"/>
                  </a:moveTo>
                  <a:lnTo>
                    <a:pt x="0" y="0"/>
                  </a:lnTo>
                  <a:lnTo>
                    <a:pt x="109730" y="16771"/>
                  </a:lnTo>
                  <a:lnTo>
                    <a:pt x="0" y="36581"/>
                  </a:lnTo>
                  <a:close/>
                </a:path>
              </a:pathLst>
            </a:custGeom>
            <a:solidFill>
              <a:srgbClr val="000000"/>
            </a:solidFill>
          </p:spPr>
          <p:txBody>
            <a:bodyPr wrap="square" lIns="0" tIns="0" rIns="0" bIns="0" rtlCol="0"/>
            <a:lstStyle/>
            <a:p>
              <a:endParaRPr/>
            </a:p>
          </p:txBody>
        </p:sp>
        <p:sp>
          <p:nvSpPr>
            <p:cNvPr id="16" name="object 16"/>
            <p:cNvSpPr/>
            <p:nvPr/>
          </p:nvSpPr>
          <p:spPr>
            <a:xfrm>
              <a:off x="4924048" y="2011676"/>
              <a:ext cx="1805939" cy="374650"/>
            </a:xfrm>
            <a:custGeom>
              <a:avLst/>
              <a:gdLst/>
              <a:ahLst/>
              <a:cxnLst/>
              <a:rect l="l" t="t" r="r" b="b"/>
              <a:pathLst>
                <a:path w="1805940" h="374650">
                  <a:moveTo>
                    <a:pt x="1696212" y="0"/>
                  </a:moveTo>
                  <a:lnTo>
                    <a:pt x="1805942" y="16771"/>
                  </a:lnTo>
                  <a:lnTo>
                    <a:pt x="1696212" y="36581"/>
                  </a:lnTo>
                  <a:lnTo>
                    <a:pt x="1696212" y="0"/>
                  </a:lnTo>
                  <a:close/>
                </a:path>
                <a:path w="1805940" h="374650">
                  <a:moveTo>
                    <a:pt x="1149853" y="374147"/>
                  </a:moveTo>
                  <a:lnTo>
                    <a:pt x="1119368" y="334518"/>
                  </a:lnTo>
                  <a:lnTo>
                    <a:pt x="1078229" y="320045"/>
                  </a:lnTo>
                  <a:lnTo>
                    <a:pt x="1029453" y="307851"/>
                  </a:lnTo>
                  <a:lnTo>
                    <a:pt x="968498" y="297947"/>
                  </a:lnTo>
                  <a:lnTo>
                    <a:pt x="900677" y="290331"/>
                  </a:lnTo>
                  <a:lnTo>
                    <a:pt x="825234" y="283464"/>
                  </a:lnTo>
                  <a:lnTo>
                    <a:pt x="745988" y="275848"/>
                  </a:lnTo>
                  <a:lnTo>
                    <a:pt x="663694" y="273559"/>
                  </a:lnTo>
                  <a:lnTo>
                    <a:pt x="576828" y="268232"/>
                  </a:lnTo>
                  <a:lnTo>
                    <a:pt x="489961" y="263654"/>
                  </a:lnTo>
                  <a:lnTo>
                    <a:pt x="406897" y="258317"/>
                  </a:lnTo>
                  <a:lnTo>
                    <a:pt x="323849" y="256038"/>
                  </a:lnTo>
                  <a:lnTo>
                    <a:pt x="252224" y="248412"/>
                  </a:lnTo>
                  <a:lnTo>
                    <a:pt x="180584" y="238507"/>
                  </a:lnTo>
                  <a:lnTo>
                    <a:pt x="120384" y="228602"/>
                  </a:lnTo>
                  <a:lnTo>
                    <a:pt x="71624" y="216408"/>
                  </a:lnTo>
                  <a:lnTo>
                    <a:pt x="33517" y="201936"/>
                  </a:lnTo>
                  <a:lnTo>
                    <a:pt x="0" y="160028"/>
                  </a:lnTo>
                  <a:lnTo>
                    <a:pt x="0" y="88394"/>
                  </a:lnTo>
                </a:path>
              </a:pathLst>
            </a:custGeom>
            <a:ln w="3175">
              <a:solidFill>
                <a:srgbClr val="000000"/>
              </a:solidFill>
            </a:ln>
          </p:spPr>
          <p:txBody>
            <a:bodyPr wrap="square" lIns="0" tIns="0" rIns="0" bIns="0" rtlCol="0"/>
            <a:lstStyle/>
            <a:p>
              <a:endParaRPr/>
            </a:p>
          </p:txBody>
        </p:sp>
        <p:sp>
          <p:nvSpPr>
            <p:cNvPr id="17" name="object 17"/>
            <p:cNvSpPr/>
            <p:nvPr/>
          </p:nvSpPr>
          <p:spPr>
            <a:xfrm>
              <a:off x="4897382" y="2100071"/>
              <a:ext cx="56515" cy="71755"/>
            </a:xfrm>
            <a:custGeom>
              <a:avLst/>
              <a:gdLst/>
              <a:ahLst/>
              <a:cxnLst/>
              <a:rect l="l" t="t" r="r" b="b"/>
              <a:pathLst>
                <a:path w="56514" h="71755">
                  <a:moveTo>
                    <a:pt x="56381" y="71633"/>
                  </a:moveTo>
                  <a:lnTo>
                    <a:pt x="0" y="71633"/>
                  </a:lnTo>
                  <a:lnTo>
                    <a:pt x="26666" y="0"/>
                  </a:lnTo>
                  <a:lnTo>
                    <a:pt x="56381" y="71633"/>
                  </a:lnTo>
                  <a:close/>
                </a:path>
              </a:pathLst>
            </a:custGeom>
            <a:solidFill>
              <a:srgbClr val="000000"/>
            </a:solidFill>
          </p:spPr>
          <p:txBody>
            <a:bodyPr wrap="square" lIns="0" tIns="0" rIns="0" bIns="0" rtlCol="0"/>
            <a:lstStyle/>
            <a:p>
              <a:endParaRPr/>
            </a:p>
          </p:txBody>
        </p:sp>
        <p:sp>
          <p:nvSpPr>
            <p:cNvPr id="18" name="object 18"/>
            <p:cNvSpPr/>
            <p:nvPr/>
          </p:nvSpPr>
          <p:spPr>
            <a:xfrm>
              <a:off x="4429499" y="2100071"/>
              <a:ext cx="524510" cy="285750"/>
            </a:xfrm>
            <a:custGeom>
              <a:avLst/>
              <a:gdLst/>
              <a:ahLst/>
              <a:cxnLst/>
              <a:rect l="l" t="t" r="r" b="b"/>
              <a:pathLst>
                <a:path w="524510" h="285750">
                  <a:moveTo>
                    <a:pt x="467883" y="71633"/>
                  </a:moveTo>
                  <a:lnTo>
                    <a:pt x="494549" y="0"/>
                  </a:lnTo>
                  <a:lnTo>
                    <a:pt x="524264" y="71633"/>
                  </a:lnTo>
                  <a:lnTo>
                    <a:pt x="467883" y="71633"/>
                  </a:lnTo>
                  <a:close/>
                </a:path>
                <a:path w="524510" h="285750">
                  <a:moveTo>
                    <a:pt x="0" y="285753"/>
                  </a:moveTo>
                  <a:lnTo>
                    <a:pt x="10384" y="245108"/>
                  </a:lnTo>
                  <a:lnTo>
                    <a:pt x="38106" y="209552"/>
                  </a:lnTo>
                  <a:lnTo>
                    <a:pt x="67821" y="195069"/>
                  </a:lnTo>
                  <a:lnTo>
                    <a:pt x="79261" y="187453"/>
                  </a:lnTo>
                  <a:lnTo>
                    <a:pt x="98306" y="185164"/>
                  </a:lnTo>
                  <a:lnTo>
                    <a:pt x="113549" y="179837"/>
                  </a:lnTo>
                  <a:lnTo>
                    <a:pt x="132594" y="175259"/>
                  </a:lnTo>
                  <a:lnTo>
                    <a:pt x="143264" y="169922"/>
                  </a:lnTo>
                  <a:lnTo>
                    <a:pt x="158506" y="167643"/>
                  </a:lnTo>
                  <a:lnTo>
                    <a:pt x="173749" y="160017"/>
                  </a:lnTo>
                  <a:lnTo>
                    <a:pt x="188976" y="150112"/>
                  </a:lnTo>
                  <a:lnTo>
                    <a:pt x="215166" y="114788"/>
                  </a:lnTo>
                  <a:lnTo>
                    <a:pt x="222873" y="77816"/>
                  </a:lnTo>
                  <a:lnTo>
                    <a:pt x="222014" y="39463"/>
                  </a:lnTo>
                  <a:lnTo>
                    <a:pt x="222509" y="0"/>
                  </a:lnTo>
                </a:path>
              </a:pathLst>
            </a:custGeom>
            <a:ln w="3175">
              <a:solidFill>
                <a:srgbClr val="000000"/>
              </a:solidFill>
            </a:ln>
          </p:spPr>
          <p:txBody>
            <a:bodyPr wrap="square" lIns="0" tIns="0" rIns="0" bIns="0" rtlCol="0"/>
            <a:lstStyle/>
            <a:p>
              <a:endParaRPr/>
            </a:p>
          </p:txBody>
        </p:sp>
        <p:sp>
          <p:nvSpPr>
            <p:cNvPr id="19" name="object 19"/>
            <p:cNvSpPr/>
            <p:nvPr/>
          </p:nvSpPr>
          <p:spPr>
            <a:xfrm>
              <a:off x="4626096" y="2100071"/>
              <a:ext cx="52705" cy="71755"/>
            </a:xfrm>
            <a:custGeom>
              <a:avLst/>
              <a:gdLst/>
              <a:ahLst/>
              <a:cxnLst/>
              <a:rect l="l" t="t" r="r" b="b"/>
              <a:pathLst>
                <a:path w="52704" h="71755">
                  <a:moveTo>
                    <a:pt x="52578" y="71633"/>
                  </a:moveTo>
                  <a:lnTo>
                    <a:pt x="0" y="71633"/>
                  </a:lnTo>
                  <a:lnTo>
                    <a:pt x="25912" y="0"/>
                  </a:lnTo>
                  <a:lnTo>
                    <a:pt x="52578" y="71633"/>
                  </a:lnTo>
                  <a:close/>
                </a:path>
              </a:pathLst>
            </a:custGeom>
            <a:solidFill>
              <a:srgbClr val="000000"/>
            </a:solidFill>
          </p:spPr>
          <p:txBody>
            <a:bodyPr wrap="square" lIns="0" tIns="0" rIns="0" bIns="0" rtlCol="0"/>
            <a:lstStyle/>
            <a:p>
              <a:endParaRPr/>
            </a:p>
          </p:txBody>
        </p:sp>
        <p:sp>
          <p:nvSpPr>
            <p:cNvPr id="20" name="object 20"/>
            <p:cNvSpPr/>
            <p:nvPr/>
          </p:nvSpPr>
          <p:spPr>
            <a:xfrm>
              <a:off x="4626096" y="2100071"/>
              <a:ext cx="52705" cy="71755"/>
            </a:xfrm>
            <a:custGeom>
              <a:avLst/>
              <a:gdLst/>
              <a:ahLst/>
              <a:cxnLst/>
              <a:rect l="l" t="t" r="r" b="b"/>
              <a:pathLst>
                <a:path w="52704" h="71755">
                  <a:moveTo>
                    <a:pt x="0" y="71633"/>
                  </a:moveTo>
                  <a:lnTo>
                    <a:pt x="25912" y="0"/>
                  </a:lnTo>
                  <a:lnTo>
                    <a:pt x="52578" y="71633"/>
                  </a:lnTo>
                  <a:lnTo>
                    <a:pt x="0" y="71633"/>
                  </a:lnTo>
                  <a:close/>
                </a:path>
              </a:pathLst>
            </a:custGeom>
            <a:ln w="3313">
              <a:solidFill>
                <a:srgbClr val="000000"/>
              </a:solidFill>
            </a:ln>
          </p:spPr>
          <p:txBody>
            <a:bodyPr wrap="square" lIns="0" tIns="0" rIns="0" bIns="0" rtlCol="0"/>
            <a:lstStyle/>
            <a:p>
              <a:endParaRPr/>
            </a:p>
          </p:txBody>
        </p:sp>
      </p:grpSp>
      <p:sp>
        <p:nvSpPr>
          <p:cNvPr id="21" name="object 21"/>
          <p:cNvSpPr txBox="1"/>
          <p:nvPr/>
        </p:nvSpPr>
        <p:spPr>
          <a:xfrm>
            <a:off x="6113779" y="2195051"/>
            <a:ext cx="235585" cy="161925"/>
          </a:xfrm>
          <a:prstGeom prst="rect">
            <a:avLst/>
          </a:prstGeom>
        </p:spPr>
        <p:txBody>
          <a:bodyPr vert="horz" wrap="square" lIns="0" tIns="11430" rIns="0" bIns="0" rtlCol="0">
            <a:spAutoFit/>
          </a:bodyPr>
          <a:lstStyle/>
          <a:p>
            <a:pPr marL="12700">
              <a:lnSpc>
                <a:spcPct val="100000"/>
              </a:lnSpc>
              <a:spcBef>
                <a:spcPts val="90"/>
              </a:spcBef>
            </a:pPr>
            <a:r>
              <a:rPr sz="900" b="1" spc="60" dirty="0">
                <a:latin typeface="Arial"/>
                <a:cs typeface="Arial"/>
              </a:rPr>
              <a:t>is</a:t>
            </a:r>
            <a:r>
              <a:rPr sz="900" b="1" spc="-45" dirty="0">
                <a:latin typeface="Arial"/>
                <a:cs typeface="Arial"/>
              </a:rPr>
              <a:t> </a:t>
            </a:r>
            <a:r>
              <a:rPr sz="900" b="1" spc="-5" dirty="0">
                <a:latin typeface="Arial"/>
                <a:cs typeface="Arial"/>
              </a:rPr>
              <a:t>a</a:t>
            </a:r>
            <a:endParaRPr sz="900">
              <a:latin typeface="Arial"/>
              <a:cs typeface="Arial"/>
            </a:endParaRPr>
          </a:p>
        </p:txBody>
      </p:sp>
      <p:sp>
        <p:nvSpPr>
          <p:cNvPr id="22" name="object 22"/>
          <p:cNvSpPr txBox="1"/>
          <p:nvPr/>
        </p:nvSpPr>
        <p:spPr>
          <a:xfrm>
            <a:off x="4122673" y="2195051"/>
            <a:ext cx="235585" cy="161925"/>
          </a:xfrm>
          <a:prstGeom prst="rect">
            <a:avLst/>
          </a:prstGeom>
        </p:spPr>
        <p:txBody>
          <a:bodyPr vert="horz" wrap="square" lIns="0" tIns="11430" rIns="0" bIns="0" rtlCol="0">
            <a:spAutoFit/>
          </a:bodyPr>
          <a:lstStyle/>
          <a:p>
            <a:pPr marL="12700">
              <a:lnSpc>
                <a:spcPct val="100000"/>
              </a:lnSpc>
              <a:spcBef>
                <a:spcPts val="90"/>
              </a:spcBef>
            </a:pPr>
            <a:r>
              <a:rPr sz="900" b="1" spc="65" dirty="0">
                <a:latin typeface="Arial"/>
                <a:cs typeface="Arial"/>
              </a:rPr>
              <a:t>is</a:t>
            </a:r>
            <a:r>
              <a:rPr sz="900" b="1" spc="-50" dirty="0">
                <a:latin typeface="Arial"/>
                <a:cs typeface="Arial"/>
              </a:rPr>
              <a:t> </a:t>
            </a:r>
            <a:r>
              <a:rPr sz="900" b="1" spc="-5" dirty="0">
                <a:latin typeface="Arial"/>
                <a:cs typeface="Arial"/>
              </a:rPr>
              <a:t>a</a:t>
            </a:r>
            <a:endParaRPr sz="900">
              <a:latin typeface="Arial"/>
              <a:cs typeface="Arial"/>
            </a:endParaRPr>
          </a:p>
        </p:txBody>
      </p:sp>
      <p:sp>
        <p:nvSpPr>
          <p:cNvPr id="23" name="object 23"/>
          <p:cNvSpPr txBox="1"/>
          <p:nvPr/>
        </p:nvSpPr>
        <p:spPr>
          <a:xfrm>
            <a:off x="2614676" y="1980929"/>
            <a:ext cx="857250"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t</a:t>
            </a:r>
            <a:r>
              <a:rPr sz="900" b="1" spc="-114" dirty="0">
                <a:latin typeface="Arial"/>
                <a:cs typeface="Arial"/>
              </a:rPr>
              <a:t> </a:t>
            </a:r>
            <a:r>
              <a:rPr sz="900" b="1" spc="-5" dirty="0">
                <a:latin typeface="Arial"/>
                <a:cs typeface="Arial"/>
              </a:rPr>
              <a:t>r</a:t>
            </a:r>
            <a:r>
              <a:rPr sz="900" b="1" spc="-70" dirty="0">
                <a:latin typeface="Arial"/>
                <a:cs typeface="Arial"/>
              </a:rPr>
              <a:t> </a:t>
            </a:r>
            <a:r>
              <a:rPr sz="900" b="1" spc="20" dirty="0">
                <a:latin typeface="Arial"/>
                <a:cs typeface="Arial"/>
              </a:rPr>
              <a:t>a</a:t>
            </a:r>
            <a:r>
              <a:rPr sz="900" b="1" spc="-10" dirty="0">
                <a:latin typeface="Arial"/>
                <a:cs typeface="Arial"/>
              </a:rPr>
              <a:t> </a:t>
            </a:r>
            <a:r>
              <a:rPr sz="900" b="1" spc="20" dirty="0">
                <a:latin typeface="Arial"/>
                <a:cs typeface="Arial"/>
              </a:rPr>
              <a:t>v</a:t>
            </a:r>
            <a:r>
              <a:rPr sz="900" b="1" spc="-10" dirty="0">
                <a:latin typeface="Arial"/>
                <a:cs typeface="Arial"/>
              </a:rPr>
              <a:t> </a:t>
            </a:r>
            <a:r>
              <a:rPr sz="900" b="1" spc="-5" dirty="0">
                <a:latin typeface="Arial"/>
                <a:cs typeface="Arial"/>
              </a:rPr>
              <a:t>e</a:t>
            </a:r>
            <a:r>
              <a:rPr sz="900" b="1" spc="5" dirty="0">
                <a:latin typeface="Arial"/>
                <a:cs typeface="Arial"/>
              </a:rPr>
              <a:t> </a:t>
            </a:r>
            <a:r>
              <a:rPr sz="900" b="1" spc="-5" dirty="0">
                <a:latin typeface="Arial"/>
                <a:cs typeface="Arial"/>
              </a:rPr>
              <a:t>l</a:t>
            </a:r>
            <a:r>
              <a:rPr sz="900" b="1" spc="-114" dirty="0">
                <a:latin typeface="Arial"/>
                <a:cs typeface="Arial"/>
              </a:rPr>
              <a:t> </a:t>
            </a:r>
            <a:r>
              <a:rPr sz="900" b="1" spc="-5" dirty="0">
                <a:latin typeface="Arial"/>
                <a:cs typeface="Arial"/>
              </a:rPr>
              <a:t>s</a:t>
            </a:r>
            <a:r>
              <a:rPr sz="900" b="1" spc="10" dirty="0">
                <a:latin typeface="Arial"/>
                <a:cs typeface="Arial"/>
              </a:rPr>
              <a:t> </a:t>
            </a:r>
            <a:r>
              <a:rPr sz="900" b="1" spc="20" dirty="0">
                <a:latin typeface="Arial"/>
                <a:cs typeface="Arial"/>
              </a:rPr>
              <a:t>_</a:t>
            </a:r>
            <a:r>
              <a:rPr sz="900" b="1" spc="-10" dirty="0">
                <a:latin typeface="Arial"/>
                <a:cs typeface="Arial"/>
              </a:rPr>
              <a:t> </a:t>
            </a:r>
            <a:r>
              <a:rPr sz="900" b="1" spc="-5" dirty="0">
                <a:latin typeface="Arial"/>
                <a:cs typeface="Arial"/>
              </a:rPr>
              <a:t>b</a:t>
            </a:r>
            <a:r>
              <a:rPr sz="900" b="1" spc="20" dirty="0">
                <a:latin typeface="Arial"/>
                <a:cs typeface="Arial"/>
              </a:rPr>
              <a:t> </a:t>
            </a:r>
            <a:r>
              <a:rPr sz="900" b="1" spc="-5" dirty="0">
                <a:latin typeface="Arial"/>
                <a:cs typeface="Arial"/>
              </a:rPr>
              <a:t>y</a:t>
            </a:r>
            <a:endParaRPr sz="900">
              <a:latin typeface="Arial"/>
              <a:cs typeface="Arial"/>
            </a:endParaRPr>
          </a:p>
        </p:txBody>
      </p:sp>
      <p:grpSp>
        <p:nvGrpSpPr>
          <p:cNvPr id="24" name="object 24"/>
          <p:cNvGrpSpPr/>
          <p:nvPr/>
        </p:nvGrpSpPr>
        <p:grpSpPr>
          <a:xfrm>
            <a:off x="2573208" y="2152585"/>
            <a:ext cx="4048760" cy="666115"/>
            <a:chOff x="2573208" y="2152585"/>
            <a:chExt cx="4048760" cy="666115"/>
          </a:xfrm>
        </p:grpSpPr>
        <p:sp>
          <p:nvSpPr>
            <p:cNvPr id="25" name="object 25"/>
            <p:cNvSpPr/>
            <p:nvPr/>
          </p:nvSpPr>
          <p:spPr>
            <a:xfrm>
              <a:off x="2574795" y="2171704"/>
              <a:ext cx="808990" cy="243840"/>
            </a:xfrm>
            <a:custGeom>
              <a:avLst/>
              <a:gdLst/>
              <a:ahLst/>
              <a:cxnLst/>
              <a:rect l="l" t="t" r="r" b="b"/>
              <a:pathLst>
                <a:path w="808989" h="243839">
                  <a:moveTo>
                    <a:pt x="808758" y="243835"/>
                  </a:moveTo>
                  <a:lnTo>
                    <a:pt x="777220" y="224895"/>
                  </a:lnTo>
                  <a:lnTo>
                    <a:pt x="746258" y="198431"/>
                  </a:lnTo>
                  <a:lnTo>
                    <a:pt x="719930" y="170666"/>
                  </a:lnTo>
                  <a:lnTo>
                    <a:pt x="685804" y="137919"/>
                  </a:lnTo>
                  <a:lnTo>
                    <a:pt x="657635" y="110491"/>
                  </a:lnTo>
                  <a:lnTo>
                    <a:pt x="624432" y="86963"/>
                  </a:lnTo>
                  <a:lnTo>
                    <a:pt x="586776" y="67035"/>
                  </a:lnTo>
                  <a:lnTo>
                    <a:pt x="545252" y="50409"/>
                  </a:lnTo>
                  <a:lnTo>
                    <a:pt x="500443" y="36786"/>
                  </a:lnTo>
                  <a:lnTo>
                    <a:pt x="452932" y="25867"/>
                  </a:lnTo>
                  <a:lnTo>
                    <a:pt x="403302" y="17354"/>
                  </a:lnTo>
                  <a:lnTo>
                    <a:pt x="352137" y="10948"/>
                  </a:lnTo>
                  <a:lnTo>
                    <a:pt x="300021" y="6349"/>
                  </a:lnTo>
                  <a:lnTo>
                    <a:pt x="247536" y="3260"/>
                  </a:lnTo>
                  <a:lnTo>
                    <a:pt x="195266" y="1382"/>
                  </a:lnTo>
                  <a:lnTo>
                    <a:pt x="143793" y="415"/>
                  </a:lnTo>
                  <a:lnTo>
                    <a:pt x="93703" y="62"/>
                  </a:lnTo>
                  <a:lnTo>
                    <a:pt x="45577" y="23"/>
                  </a:lnTo>
                  <a:lnTo>
                    <a:pt x="0" y="0"/>
                  </a:lnTo>
                </a:path>
              </a:pathLst>
            </a:custGeom>
            <a:ln w="3175">
              <a:solidFill>
                <a:srgbClr val="000000"/>
              </a:solidFill>
            </a:ln>
          </p:spPr>
          <p:txBody>
            <a:bodyPr wrap="square" lIns="0" tIns="0" rIns="0" bIns="0" rtlCol="0"/>
            <a:lstStyle/>
            <a:p>
              <a:endParaRPr/>
            </a:p>
          </p:txBody>
        </p:sp>
        <p:sp>
          <p:nvSpPr>
            <p:cNvPr id="26" name="object 26"/>
            <p:cNvSpPr/>
            <p:nvPr/>
          </p:nvSpPr>
          <p:spPr>
            <a:xfrm>
              <a:off x="2574795" y="2154173"/>
              <a:ext cx="105410" cy="37465"/>
            </a:xfrm>
            <a:custGeom>
              <a:avLst/>
              <a:gdLst/>
              <a:ahLst/>
              <a:cxnLst/>
              <a:rect l="l" t="t" r="r" b="b"/>
              <a:pathLst>
                <a:path w="105410" h="37464">
                  <a:moveTo>
                    <a:pt x="105157" y="37340"/>
                  </a:moveTo>
                  <a:lnTo>
                    <a:pt x="0" y="17531"/>
                  </a:lnTo>
                  <a:lnTo>
                    <a:pt x="105157" y="0"/>
                  </a:lnTo>
                  <a:lnTo>
                    <a:pt x="105157" y="37340"/>
                  </a:lnTo>
                  <a:close/>
                </a:path>
              </a:pathLst>
            </a:custGeom>
            <a:solidFill>
              <a:srgbClr val="000000"/>
            </a:solidFill>
          </p:spPr>
          <p:txBody>
            <a:bodyPr wrap="square" lIns="0" tIns="0" rIns="0" bIns="0" rtlCol="0"/>
            <a:lstStyle/>
            <a:p>
              <a:endParaRPr/>
            </a:p>
          </p:txBody>
        </p:sp>
        <p:sp>
          <p:nvSpPr>
            <p:cNvPr id="27" name="object 27"/>
            <p:cNvSpPr/>
            <p:nvPr/>
          </p:nvSpPr>
          <p:spPr>
            <a:xfrm>
              <a:off x="2574795" y="2154173"/>
              <a:ext cx="105410" cy="37465"/>
            </a:xfrm>
            <a:custGeom>
              <a:avLst/>
              <a:gdLst/>
              <a:ahLst/>
              <a:cxnLst/>
              <a:rect l="l" t="t" r="r" b="b"/>
              <a:pathLst>
                <a:path w="105410" h="37464">
                  <a:moveTo>
                    <a:pt x="105157" y="37340"/>
                  </a:moveTo>
                  <a:lnTo>
                    <a:pt x="0" y="17531"/>
                  </a:lnTo>
                  <a:lnTo>
                    <a:pt x="105157" y="0"/>
                  </a:lnTo>
                  <a:lnTo>
                    <a:pt x="105157" y="37340"/>
                  </a:lnTo>
                  <a:close/>
                </a:path>
              </a:pathLst>
            </a:custGeom>
            <a:ln w="3175">
              <a:solidFill>
                <a:srgbClr val="000000"/>
              </a:solidFill>
            </a:ln>
          </p:spPr>
          <p:txBody>
            <a:bodyPr wrap="square" lIns="0" tIns="0" rIns="0" bIns="0" rtlCol="0"/>
            <a:lstStyle/>
            <a:p>
              <a:endParaRPr/>
            </a:p>
          </p:txBody>
        </p:sp>
        <p:sp>
          <p:nvSpPr>
            <p:cNvPr id="28" name="object 28"/>
            <p:cNvSpPr/>
            <p:nvPr/>
          </p:nvSpPr>
          <p:spPr>
            <a:xfrm>
              <a:off x="5526789" y="2415539"/>
              <a:ext cx="1093470" cy="401955"/>
            </a:xfrm>
            <a:custGeom>
              <a:avLst/>
              <a:gdLst/>
              <a:ahLst/>
              <a:cxnLst/>
              <a:rect l="l" t="t" r="r" b="b"/>
              <a:pathLst>
                <a:path w="1093470" h="401955">
                  <a:moveTo>
                    <a:pt x="0" y="0"/>
                  </a:moveTo>
                  <a:lnTo>
                    <a:pt x="1093471" y="0"/>
                  </a:lnTo>
                  <a:lnTo>
                    <a:pt x="1093471" y="401573"/>
                  </a:lnTo>
                  <a:lnTo>
                    <a:pt x="0" y="401573"/>
                  </a:lnTo>
                  <a:lnTo>
                    <a:pt x="0" y="0"/>
                  </a:lnTo>
                </a:path>
              </a:pathLst>
            </a:custGeom>
            <a:ln w="3175">
              <a:solidFill>
                <a:srgbClr val="000000"/>
              </a:solidFill>
            </a:ln>
          </p:spPr>
          <p:txBody>
            <a:bodyPr wrap="square" lIns="0" tIns="0" rIns="0" bIns="0" rtlCol="0"/>
            <a:lstStyle/>
            <a:p>
              <a:endParaRPr/>
            </a:p>
          </p:txBody>
        </p:sp>
      </p:grpSp>
      <p:sp>
        <p:nvSpPr>
          <p:cNvPr id="29" name="object 29"/>
          <p:cNvSpPr txBox="1"/>
          <p:nvPr/>
        </p:nvSpPr>
        <p:spPr>
          <a:xfrm>
            <a:off x="5528178" y="2509918"/>
            <a:ext cx="1090930" cy="196850"/>
          </a:xfrm>
          <a:prstGeom prst="rect">
            <a:avLst/>
          </a:prstGeom>
        </p:spPr>
        <p:txBody>
          <a:bodyPr vert="horz" wrap="square" lIns="0" tIns="15875" rIns="0" bIns="0" rtlCol="0">
            <a:spAutoFit/>
          </a:bodyPr>
          <a:lstStyle/>
          <a:p>
            <a:pPr marL="349885">
              <a:lnSpc>
                <a:spcPct val="100000"/>
              </a:lnSpc>
              <a:spcBef>
                <a:spcPts val="125"/>
              </a:spcBef>
            </a:pPr>
            <a:r>
              <a:rPr sz="1100" b="1" spc="100" dirty="0">
                <a:latin typeface="Arial"/>
                <a:cs typeface="Arial"/>
              </a:rPr>
              <a:t>fi</a:t>
            </a:r>
            <a:r>
              <a:rPr sz="1100" b="1" spc="-155" dirty="0">
                <a:latin typeface="Arial"/>
                <a:cs typeface="Arial"/>
              </a:rPr>
              <a:t> </a:t>
            </a:r>
            <a:r>
              <a:rPr sz="1100" b="1" spc="10" dirty="0">
                <a:latin typeface="Arial"/>
                <a:cs typeface="Arial"/>
              </a:rPr>
              <a:t>s </a:t>
            </a:r>
            <a:r>
              <a:rPr sz="1100" b="1" spc="15" dirty="0">
                <a:latin typeface="Arial"/>
                <a:cs typeface="Arial"/>
              </a:rPr>
              <a:t>h</a:t>
            </a:r>
            <a:endParaRPr sz="1100">
              <a:latin typeface="Arial"/>
              <a:cs typeface="Arial"/>
            </a:endParaRPr>
          </a:p>
        </p:txBody>
      </p:sp>
      <p:sp>
        <p:nvSpPr>
          <p:cNvPr id="30" name="object 30"/>
          <p:cNvSpPr/>
          <p:nvPr/>
        </p:nvSpPr>
        <p:spPr>
          <a:xfrm>
            <a:off x="6838952" y="2743200"/>
            <a:ext cx="1094740" cy="428625"/>
          </a:xfrm>
          <a:custGeom>
            <a:avLst/>
            <a:gdLst/>
            <a:ahLst/>
            <a:cxnLst/>
            <a:rect l="l" t="t" r="r" b="b"/>
            <a:pathLst>
              <a:path w="1094740" h="428625">
                <a:moveTo>
                  <a:pt x="0" y="0"/>
                </a:moveTo>
                <a:lnTo>
                  <a:pt x="1094226" y="0"/>
                </a:lnTo>
                <a:lnTo>
                  <a:pt x="1094226" y="428239"/>
                </a:lnTo>
                <a:lnTo>
                  <a:pt x="0" y="428239"/>
                </a:lnTo>
                <a:lnTo>
                  <a:pt x="0" y="0"/>
                </a:lnTo>
                <a:close/>
              </a:path>
            </a:pathLst>
          </a:custGeom>
          <a:ln w="3175">
            <a:solidFill>
              <a:srgbClr val="000000"/>
            </a:solidFill>
          </a:ln>
        </p:spPr>
        <p:txBody>
          <a:bodyPr wrap="square" lIns="0" tIns="0" rIns="0" bIns="0" rtlCol="0"/>
          <a:lstStyle/>
          <a:p>
            <a:endParaRPr/>
          </a:p>
        </p:txBody>
      </p:sp>
      <p:sp>
        <p:nvSpPr>
          <p:cNvPr id="31" name="object 31"/>
          <p:cNvSpPr txBox="1"/>
          <p:nvPr/>
        </p:nvSpPr>
        <p:spPr>
          <a:xfrm>
            <a:off x="6962647" y="2872469"/>
            <a:ext cx="840740"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s </a:t>
            </a:r>
            <a:r>
              <a:rPr sz="900" b="1" spc="-10" dirty="0">
                <a:latin typeface="Arial"/>
                <a:cs typeface="Arial"/>
              </a:rPr>
              <a:t>w </a:t>
            </a:r>
            <a:r>
              <a:rPr sz="900" b="1" spc="-5" dirty="0">
                <a:latin typeface="Arial"/>
                <a:cs typeface="Arial"/>
              </a:rPr>
              <a:t>i </a:t>
            </a:r>
            <a:r>
              <a:rPr sz="900" b="1" spc="160" dirty="0">
                <a:latin typeface="Arial"/>
                <a:cs typeface="Arial"/>
              </a:rPr>
              <a:t>m </a:t>
            </a:r>
            <a:r>
              <a:rPr sz="900" b="1" spc="-10" dirty="0">
                <a:latin typeface="Arial"/>
                <a:cs typeface="Arial"/>
              </a:rPr>
              <a:t>m </a:t>
            </a:r>
            <a:r>
              <a:rPr sz="900" b="1" spc="-5" dirty="0">
                <a:latin typeface="Arial"/>
                <a:cs typeface="Arial"/>
              </a:rPr>
              <a:t>i n</a:t>
            </a:r>
            <a:r>
              <a:rPr sz="900" b="1" spc="-90" dirty="0">
                <a:latin typeface="Arial"/>
                <a:cs typeface="Arial"/>
              </a:rPr>
              <a:t> </a:t>
            </a:r>
            <a:r>
              <a:rPr sz="900" b="1" spc="-5" dirty="0">
                <a:latin typeface="Arial"/>
                <a:cs typeface="Arial"/>
              </a:rPr>
              <a:t>g</a:t>
            </a:r>
            <a:endParaRPr sz="900">
              <a:latin typeface="Arial"/>
              <a:cs typeface="Arial"/>
            </a:endParaRPr>
          </a:p>
        </p:txBody>
      </p:sp>
      <p:sp>
        <p:nvSpPr>
          <p:cNvPr id="32" name="object 32"/>
          <p:cNvSpPr/>
          <p:nvPr/>
        </p:nvSpPr>
        <p:spPr>
          <a:xfrm>
            <a:off x="3886958" y="2415539"/>
            <a:ext cx="1093470" cy="401955"/>
          </a:xfrm>
          <a:custGeom>
            <a:avLst/>
            <a:gdLst/>
            <a:ahLst/>
            <a:cxnLst/>
            <a:rect l="l" t="t" r="r" b="b"/>
            <a:pathLst>
              <a:path w="1093470" h="401955">
                <a:moveTo>
                  <a:pt x="0" y="0"/>
                </a:moveTo>
                <a:lnTo>
                  <a:pt x="1093471" y="0"/>
                </a:lnTo>
                <a:lnTo>
                  <a:pt x="1093471" y="401573"/>
                </a:lnTo>
                <a:lnTo>
                  <a:pt x="0" y="401573"/>
                </a:lnTo>
                <a:lnTo>
                  <a:pt x="0" y="0"/>
                </a:lnTo>
              </a:path>
            </a:pathLst>
          </a:custGeom>
          <a:ln w="3175">
            <a:solidFill>
              <a:srgbClr val="000000"/>
            </a:solidFill>
          </a:ln>
        </p:spPr>
        <p:txBody>
          <a:bodyPr wrap="square" lIns="0" tIns="0" rIns="0" bIns="0" rtlCol="0"/>
          <a:lstStyle/>
          <a:p>
            <a:endParaRPr/>
          </a:p>
        </p:txBody>
      </p:sp>
      <p:sp>
        <p:nvSpPr>
          <p:cNvPr id="33" name="object 33"/>
          <p:cNvSpPr txBox="1"/>
          <p:nvPr/>
        </p:nvSpPr>
        <p:spPr>
          <a:xfrm>
            <a:off x="3888347" y="2509918"/>
            <a:ext cx="1090930" cy="196850"/>
          </a:xfrm>
          <a:prstGeom prst="rect">
            <a:avLst/>
          </a:prstGeom>
        </p:spPr>
        <p:txBody>
          <a:bodyPr vert="horz" wrap="square" lIns="0" tIns="15875" rIns="0" bIns="0" rtlCol="0">
            <a:spAutoFit/>
          </a:bodyPr>
          <a:lstStyle/>
          <a:p>
            <a:pPr marL="337185">
              <a:lnSpc>
                <a:spcPct val="100000"/>
              </a:lnSpc>
              <a:spcBef>
                <a:spcPts val="125"/>
              </a:spcBef>
            </a:pPr>
            <a:r>
              <a:rPr sz="1100" b="1" spc="15" dirty="0">
                <a:latin typeface="Arial"/>
                <a:cs typeface="Arial"/>
              </a:rPr>
              <a:t>b </a:t>
            </a:r>
            <a:r>
              <a:rPr sz="1100" b="1" spc="5" dirty="0">
                <a:latin typeface="Arial"/>
                <a:cs typeface="Arial"/>
              </a:rPr>
              <a:t>i r</a:t>
            </a:r>
            <a:r>
              <a:rPr sz="1100" b="1" spc="-200" dirty="0">
                <a:latin typeface="Arial"/>
                <a:cs typeface="Arial"/>
              </a:rPr>
              <a:t> </a:t>
            </a:r>
            <a:r>
              <a:rPr sz="1100" b="1" spc="15" dirty="0">
                <a:latin typeface="Arial"/>
                <a:cs typeface="Arial"/>
              </a:rPr>
              <a:t>d</a:t>
            </a:r>
            <a:endParaRPr sz="1100">
              <a:latin typeface="Arial"/>
              <a:cs typeface="Arial"/>
            </a:endParaRPr>
          </a:p>
        </p:txBody>
      </p:sp>
      <p:sp>
        <p:nvSpPr>
          <p:cNvPr id="34" name="object 34"/>
          <p:cNvSpPr/>
          <p:nvPr/>
        </p:nvSpPr>
        <p:spPr>
          <a:xfrm>
            <a:off x="1477521" y="2599944"/>
            <a:ext cx="1097280" cy="429259"/>
          </a:xfrm>
          <a:custGeom>
            <a:avLst/>
            <a:gdLst/>
            <a:ahLst/>
            <a:cxnLst/>
            <a:rect l="l" t="t" r="r" b="b"/>
            <a:pathLst>
              <a:path w="1097280" h="429260">
                <a:moveTo>
                  <a:pt x="0" y="0"/>
                </a:moveTo>
                <a:lnTo>
                  <a:pt x="1097274" y="0"/>
                </a:lnTo>
                <a:lnTo>
                  <a:pt x="1097274" y="429009"/>
                </a:lnTo>
                <a:lnTo>
                  <a:pt x="0" y="429009"/>
                </a:lnTo>
                <a:lnTo>
                  <a:pt x="0" y="0"/>
                </a:lnTo>
                <a:close/>
              </a:path>
            </a:pathLst>
          </a:custGeom>
          <a:ln w="3175">
            <a:solidFill>
              <a:srgbClr val="000000"/>
            </a:solidFill>
          </a:ln>
        </p:spPr>
        <p:txBody>
          <a:bodyPr wrap="square" lIns="0" tIns="0" rIns="0" bIns="0" rtlCol="0"/>
          <a:lstStyle/>
          <a:p>
            <a:endParaRPr/>
          </a:p>
        </p:txBody>
      </p:sp>
      <p:sp>
        <p:nvSpPr>
          <p:cNvPr id="35" name="object 35"/>
          <p:cNvSpPr txBox="1"/>
          <p:nvPr/>
        </p:nvSpPr>
        <p:spPr>
          <a:xfrm>
            <a:off x="1589024" y="2724040"/>
            <a:ext cx="829310" cy="196850"/>
          </a:xfrm>
          <a:prstGeom prst="rect">
            <a:avLst/>
          </a:prstGeom>
        </p:spPr>
        <p:txBody>
          <a:bodyPr vert="horz" wrap="square" lIns="0" tIns="15875" rIns="0" bIns="0" rtlCol="0">
            <a:spAutoFit/>
          </a:bodyPr>
          <a:lstStyle/>
          <a:p>
            <a:pPr marL="12700">
              <a:lnSpc>
                <a:spcPct val="100000"/>
              </a:lnSpc>
              <a:spcBef>
                <a:spcPts val="125"/>
              </a:spcBef>
            </a:pPr>
            <a:r>
              <a:rPr sz="1100" b="1" spc="100" dirty="0">
                <a:latin typeface="Arial"/>
                <a:cs typeface="Arial"/>
              </a:rPr>
              <a:t>fe</a:t>
            </a:r>
            <a:r>
              <a:rPr sz="1100" b="1" spc="-200" dirty="0">
                <a:latin typeface="Arial"/>
                <a:cs typeface="Arial"/>
              </a:rPr>
              <a:t> </a:t>
            </a:r>
            <a:r>
              <a:rPr sz="1100" b="1" spc="10" dirty="0">
                <a:latin typeface="Arial"/>
                <a:cs typeface="Arial"/>
              </a:rPr>
              <a:t>a </a:t>
            </a:r>
            <a:r>
              <a:rPr sz="1100" b="1" spc="5" dirty="0">
                <a:latin typeface="Arial"/>
                <a:cs typeface="Arial"/>
              </a:rPr>
              <a:t>t </a:t>
            </a:r>
            <a:r>
              <a:rPr sz="1100" b="1" spc="15" dirty="0">
                <a:latin typeface="Arial"/>
                <a:cs typeface="Arial"/>
              </a:rPr>
              <a:t>h </a:t>
            </a:r>
            <a:r>
              <a:rPr sz="1100" b="1" spc="10" dirty="0">
                <a:latin typeface="Arial"/>
                <a:cs typeface="Arial"/>
              </a:rPr>
              <a:t>e </a:t>
            </a:r>
            <a:r>
              <a:rPr sz="1100" b="1" spc="5" dirty="0">
                <a:latin typeface="Arial"/>
                <a:cs typeface="Arial"/>
              </a:rPr>
              <a:t>r </a:t>
            </a:r>
            <a:r>
              <a:rPr sz="1100" b="1" spc="10" dirty="0">
                <a:latin typeface="Arial"/>
                <a:cs typeface="Arial"/>
              </a:rPr>
              <a:t>s</a:t>
            </a:r>
            <a:endParaRPr sz="1100">
              <a:latin typeface="Arial"/>
              <a:cs typeface="Arial"/>
            </a:endParaRPr>
          </a:p>
        </p:txBody>
      </p:sp>
      <p:sp>
        <p:nvSpPr>
          <p:cNvPr id="36" name="object 36"/>
          <p:cNvSpPr txBox="1"/>
          <p:nvPr/>
        </p:nvSpPr>
        <p:spPr>
          <a:xfrm>
            <a:off x="6660895" y="2409173"/>
            <a:ext cx="857250"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t</a:t>
            </a:r>
            <a:r>
              <a:rPr sz="900" b="1" spc="-114" dirty="0">
                <a:latin typeface="Arial"/>
                <a:cs typeface="Arial"/>
              </a:rPr>
              <a:t> </a:t>
            </a:r>
            <a:r>
              <a:rPr sz="900" b="1" spc="-5" dirty="0">
                <a:latin typeface="Arial"/>
                <a:cs typeface="Arial"/>
              </a:rPr>
              <a:t>r</a:t>
            </a:r>
            <a:r>
              <a:rPr sz="900" b="1" spc="-70" dirty="0">
                <a:latin typeface="Arial"/>
                <a:cs typeface="Arial"/>
              </a:rPr>
              <a:t> </a:t>
            </a:r>
            <a:r>
              <a:rPr sz="900" b="1" spc="20" dirty="0">
                <a:latin typeface="Arial"/>
                <a:cs typeface="Arial"/>
              </a:rPr>
              <a:t>a</a:t>
            </a:r>
            <a:r>
              <a:rPr sz="900" b="1" spc="-10" dirty="0">
                <a:latin typeface="Arial"/>
                <a:cs typeface="Arial"/>
              </a:rPr>
              <a:t> </a:t>
            </a:r>
            <a:r>
              <a:rPr sz="900" b="1" spc="-5" dirty="0">
                <a:latin typeface="Arial"/>
                <a:cs typeface="Arial"/>
              </a:rPr>
              <a:t>v</a:t>
            </a:r>
            <a:r>
              <a:rPr sz="900" b="1" spc="10" dirty="0">
                <a:latin typeface="Arial"/>
                <a:cs typeface="Arial"/>
              </a:rPr>
              <a:t> </a:t>
            </a:r>
            <a:r>
              <a:rPr sz="900" b="1" spc="-5" dirty="0">
                <a:latin typeface="Arial"/>
                <a:cs typeface="Arial"/>
              </a:rPr>
              <a:t>e</a:t>
            </a:r>
            <a:r>
              <a:rPr sz="900" b="1" spc="10" dirty="0">
                <a:latin typeface="Arial"/>
                <a:cs typeface="Arial"/>
              </a:rPr>
              <a:t> </a:t>
            </a:r>
            <a:r>
              <a:rPr sz="900" b="1" spc="-5" dirty="0">
                <a:latin typeface="Arial"/>
                <a:cs typeface="Arial"/>
              </a:rPr>
              <a:t>l</a:t>
            </a:r>
            <a:r>
              <a:rPr sz="900" b="1" spc="-120" dirty="0">
                <a:latin typeface="Arial"/>
                <a:cs typeface="Arial"/>
              </a:rPr>
              <a:t> </a:t>
            </a:r>
            <a:r>
              <a:rPr sz="900" b="1" spc="20" dirty="0">
                <a:latin typeface="Arial"/>
                <a:cs typeface="Arial"/>
              </a:rPr>
              <a:t>s</a:t>
            </a:r>
            <a:r>
              <a:rPr sz="900" b="1" spc="-10" dirty="0">
                <a:latin typeface="Arial"/>
                <a:cs typeface="Arial"/>
              </a:rPr>
              <a:t> </a:t>
            </a:r>
            <a:r>
              <a:rPr sz="900" b="1" spc="20" dirty="0">
                <a:latin typeface="Arial"/>
                <a:cs typeface="Arial"/>
              </a:rPr>
              <a:t>_</a:t>
            </a:r>
            <a:r>
              <a:rPr sz="900" b="1" spc="-10" dirty="0">
                <a:latin typeface="Arial"/>
                <a:cs typeface="Arial"/>
              </a:rPr>
              <a:t> </a:t>
            </a:r>
            <a:r>
              <a:rPr sz="900" b="1" spc="-5" dirty="0">
                <a:latin typeface="Arial"/>
                <a:cs typeface="Arial"/>
              </a:rPr>
              <a:t>b</a:t>
            </a:r>
            <a:r>
              <a:rPr sz="900" b="1" spc="20" dirty="0">
                <a:latin typeface="Arial"/>
                <a:cs typeface="Arial"/>
              </a:rPr>
              <a:t> </a:t>
            </a:r>
            <a:r>
              <a:rPr sz="900" b="1" spc="-5" dirty="0">
                <a:latin typeface="Arial"/>
                <a:cs typeface="Arial"/>
              </a:rPr>
              <a:t>y</a:t>
            </a:r>
            <a:endParaRPr sz="900">
              <a:latin typeface="Arial"/>
              <a:cs typeface="Arial"/>
            </a:endParaRPr>
          </a:p>
        </p:txBody>
      </p:sp>
      <p:grpSp>
        <p:nvGrpSpPr>
          <p:cNvPr id="37" name="object 37"/>
          <p:cNvGrpSpPr/>
          <p:nvPr/>
        </p:nvGrpSpPr>
        <p:grpSpPr>
          <a:xfrm>
            <a:off x="6618673" y="2598356"/>
            <a:ext cx="796290" cy="147320"/>
            <a:chOff x="6618673" y="2598356"/>
            <a:chExt cx="796290" cy="147320"/>
          </a:xfrm>
        </p:grpSpPr>
        <p:sp>
          <p:nvSpPr>
            <p:cNvPr id="38" name="object 38"/>
            <p:cNvSpPr/>
            <p:nvPr/>
          </p:nvSpPr>
          <p:spPr>
            <a:xfrm>
              <a:off x="6620261" y="2599944"/>
              <a:ext cx="765810" cy="143510"/>
            </a:xfrm>
            <a:custGeom>
              <a:avLst/>
              <a:gdLst/>
              <a:ahLst/>
              <a:cxnLst/>
              <a:rect l="l" t="t" r="r" b="b"/>
              <a:pathLst>
                <a:path w="765809" h="143510">
                  <a:moveTo>
                    <a:pt x="0" y="0"/>
                  </a:moveTo>
                  <a:lnTo>
                    <a:pt x="51655" y="1769"/>
                  </a:lnTo>
                  <a:lnTo>
                    <a:pt x="103345" y="2805"/>
                  </a:lnTo>
                  <a:lnTo>
                    <a:pt x="155059" y="3344"/>
                  </a:lnTo>
                  <a:lnTo>
                    <a:pt x="206787" y="3628"/>
                  </a:lnTo>
                  <a:lnTo>
                    <a:pt x="258517" y="3895"/>
                  </a:lnTo>
                  <a:lnTo>
                    <a:pt x="310238" y="4385"/>
                  </a:lnTo>
                  <a:lnTo>
                    <a:pt x="361939" y="5337"/>
                  </a:lnTo>
                  <a:lnTo>
                    <a:pt x="419091" y="5337"/>
                  </a:lnTo>
                  <a:lnTo>
                    <a:pt x="471670" y="7615"/>
                  </a:lnTo>
                  <a:lnTo>
                    <a:pt x="520446" y="12953"/>
                  </a:lnTo>
                  <a:lnTo>
                    <a:pt x="558537" y="12953"/>
                  </a:lnTo>
                  <a:lnTo>
                    <a:pt x="599691" y="17531"/>
                  </a:lnTo>
                  <a:lnTo>
                    <a:pt x="634949" y="22125"/>
                  </a:lnTo>
                  <a:lnTo>
                    <a:pt x="664519" y="25757"/>
                  </a:lnTo>
                  <a:lnTo>
                    <a:pt x="693678" y="30798"/>
                  </a:lnTo>
                  <a:lnTo>
                    <a:pt x="727697" y="39619"/>
                  </a:lnTo>
                  <a:lnTo>
                    <a:pt x="742940" y="44956"/>
                  </a:lnTo>
                  <a:lnTo>
                    <a:pt x="750561" y="51813"/>
                  </a:lnTo>
                  <a:lnTo>
                    <a:pt x="762001" y="57150"/>
                  </a:lnTo>
                  <a:lnTo>
                    <a:pt x="765804" y="64007"/>
                  </a:lnTo>
                  <a:lnTo>
                    <a:pt x="765804" y="143256"/>
                  </a:lnTo>
                </a:path>
              </a:pathLst>
            </a:custGeom>
            <a:ln w="3175">
              <a:solidFill>
                <a:srgbClr val="000000"/>
              </a:solidFill>
            </a:ln>
          </p:spPr>
          <p:txBody>
            <a:bodyPr wrap="square" lIns="0" tIns="0" rIns="0" bIns="0" rtlCol="0"/>
            <a:lstStyle/>
            <a:p>
              <a:endParaRPr/>
            </a:p>
          </p:txBody>
        </p:sp>
        <p:sp>
          <p:nvSpPr>
            <p:cNvPr id="39" name="object 39"/>
            <p:cNvSpPr/>
            <p:nvPr/>
          </p:nvSpPr>
          <p:spPr>
            <a:xfrm>
              <a:off x="7363201" y="2671577"/>
              <a:ext cx="49530" cy="71755"/>
            </a:xfrm>
            <a:custGeom>
              <a:avLst/>
              <a:gdLst/>
              <a:ahLst/>
              <a:cxnLst/>
              <a:rect l="l" t="t" r="r" b="b"/>
              <a:pathLst>
                <a:path w="49529" h="71755">
                  <a:moveTo>
                    <a:pt x="22863" y="71623"/>
                  </a:moveTo>
                  <a:lnTo>
                    <a:pt x="0" y="0"/>
                  </a:lnTo>
                  <a:lnTo>
                    <a:pt x="49530" y="0"/>
                  </a:lnTo>
                  <a:lnTo>
                    <a:pt x="22863" y="71623"/>
                  </a:lnTo>
                  <a:close/>
                </a:path>
              </a:pathLst>
            </a:custGeom>
            <a:solidFill>
              <a:srgbClr val="000000"/>
            </a:solidFill>
          </p:spPr>
          <p:txBody>
            <a:bodyPr wrap="square" lIns="0" tIns="0" rIns="0" bIns="0" rtlCol="0"/>
            <a:lstStyle/>
            <a:p>
              <a:endParaRPr/>
            </a:p>
          </p:txBody>
        </p:sp>
        <p:sp>
          <p:nvSpPr>
            <p:cNvPr id="40" name="object 40"/>
            <p:cNvSpPr/>
            <p:nvPr/>
          </p:nvSpPr>
          <p:spPr>
            <a:xfrm>
              <a:off x="7363201" y="2671577"/>
              <a:ext cx="49530" cy="71755"/>
            </a:xfrm>
            <a:custGeom>
              <a:avLst/>
              <a:gdLst/>
              <a:ahLst/>
              <a:cxnLst/>
              <a:rect l="l" t="t" r="r" b="b"/>
              <a:pathLst>
                <a:path w="49529" h="71755">
                  <a:moveTo>
                    <a:pt x="49530" y="0"/>
                  </a:moveTo>
                  <a:lnTo>
                    <a:pt x="22863" y="71623"/>
                  </a:lnTo>
                  <a:lnTo>
                    <a:pt x="0" y="0"/>
                  </a:lnTo>
                  <a:lnTo>
                    <a:pt x="49530" y="0"/>
                  </a:lnTo>
                  <a:close/>
                </a:path>
              </a:pathLst>
            </a:custGeom>
            <a:ln w="3348">
              <a:solidFill>
                <a:srgbClr val="000000"/>
              </a:solidFill>
            </a:ln>
          </p:spPr>
          <p:txBody>
            <a:bodyPr wrap="square" lIns="0" tIns="0" rIns="0" bIns="0" rtlCol="0"/>
            <a:lstStyle/>
            <a:p>
              <a:endParaRPr/>
            </a:p>
          </p:txBody>
        </p:sp>
      </p:grpSp>
      <p:sp>
        <p:nvSpPr>
          <p:cNvPr id="41" name="object 41"/>
          <p:cNvSpPr txBox="1"/>
          <p:nvPr/>
        </p:nvSpPr>
        <p:spPr>
          <a:xfrm>
            <a:off x="2045461" y="3266423"/>
            <a:ext cx="235585" cy="161925"/>
          </a:xfrm>
          <a:prstGeom prst="rect">
            <a:avLst/>
          </a:prstGeom>
        </p:spPr>
        <p:txBody>
          <a:bodyPr vert="horz" wrap="square" lIns="0" tIns="11430" rIns="0" bIns="0" rtlCol="0">
            <a:spAutoFit/>
          </a:bodyPr>
          <a:lstStyle/>
          <a:p>
            <a:pPr marL="12700">
              <a:lnSpc>
                <a:spcPct val="100000"/>
              </a:lnSpc>
              <a:spcBef>
                <a:spcPts val="90"/>
              </a:spcBef>
            </a:pPr>
            <a:r>
              <a:rPr sz="900" b="1" spc="60" dirty="0">
                <a:latin typeface="Arial"/>
                <a:cs typeface="Arial"/>
              </a:rPr>
              <a:t>is</a:t>
            </a:r>
            <a:r>
              <a:rPr sz="900" b="1" spc="-45" dirty="0">
                <a:latin typeface="Arial"/>
                <a:cs typeface="Arial"/>
              </a:rPr>
              <a:t> </a:t>
            </a:r>
            <a:r>
              <a:rPr sz="900" b="1" spc="-5" dirty="0">
                <a:latin typeface="Arial"/>
                <a:cs typeface="Arial"/>
              </a:rPr>
              <a:t>a</a:t>
            </a:r>
            <a:endParaRPr sz="900">
              <a:latin typeface="Arial"/>
              <a:cs typeface="Arial"/>
            </a:endParaRPr>
          </a:p>
        </p:txBody>
      </p:sp>
      <p:grpSp>
        <p:nvGrpSpPr>
          <p:cNvPr id="42" name="object 42"/>
          <p:cNvGrpSpPr/>
          <p:nvPr/>
        </p:nvGrpSpPr>
        <p:grpSpPr>
          <a:xfrm>
            <a:off x="2369218" y="2815207"/>
            <a:ext cx="1682114" cy="581660"/>
            <a:chOff x="2369218" y="2815207"/>
            <a:chExt cx="1682114" cy="581660"/>
          </a:xfrm>
        </p:grpSpPr>
        <p:sp>
          <p:nvSpPr>
            <p:cNvPr id="43" name="object 43"/>
            <p:cNvSpPr/>
            <p:nvPr/>
          </p:nvSpPr>
          <p:spPr>
            <a:xfrm>
              <a:off x="2370806" y="2817112"/>
              <a:ext cx="1652270" cy="577850"/>
            </a:xfrm>
            <a:custGeom>
              <a:avLst/>
              <a:gdLst/>
              <a:ahLst/>
              <a:cxnLst/>
              <a:rect l="l" t="t" r="r" b="b"/>
              <a:pathLst>
                <a:path w="1652270" h="577850">
                  <a:moveTo>
                    <a:pt x="0" y="577597"/>
                  </a:moveTo>
                  <a:lnTo>
                    <a:pt x="30255" y="531876"/>
                  </a:lnTo>
                  <a:lnTo>
                    <a:pt x="86637" y="492257"/>
                  </a:lnTo>
                  <a:lnTo>
                    <a:pt x="158277" y="457964"/>
                  </a:lnTo>
                  <a:lnTo>
                    <a:pt x="241325" y="431298"/>
                  </a:lnTo>
                  <a:lnTo>
                    <a:pt x="293273" y="420548"/>
                  </a:lnTo>
                  <a:lnTo>
                    <a:pt x="345172" y="410944"/>
                  </a:lnTo>
                  <a:lnTo>
                    <a:pt x="397071" y="402355"/>
                  </a:lnTo>
                  <a:lnTo>
                    <a:pt x="449020" y="394649"/>
                  </a:lnTo>
                  <a:lnTo>
                    <a:pt x="501067" y="387694"/>
                  </a:lnTo>
                  <a:lnTo>
                    <a:pt x="553261" y="381357"/>
                  </a:lnTo>
                  <a:lnTo>
                    <a:pt x="605653" y="375507"/>
                  </a:lnTo>
                  <a:lnTo>
                    <a:pt x="658290" y="370011"/>
                  </a:lnTo>
                  <a:lnTo>
                    <a:pt x="711222" y="364737"/>
                  </a:lnTo>
                  <a:lnTo>
                    <a:pt x="764499" y="359553"/>
                  </a:lnTo>
                  <a:lnTo>
                    <a:pt x="818169" y="354327"/>
                  </a:lnTo>
                  <a:lnTo>
                    <a:pt x="869177" y="350003"/>
                  </a:lnTo>
                  <a:lnTo>
                    <a:pt x="920837" y="345778"/>
                  </a:lnTo>
                  <a:lnTo>
                    <a:pt x="972958" y="341470"/>
                  </a:lnTo>
                  <a:lnTo>
                    <a:pt x="1025354" y="336896"/>
                  </a:lnTo>
                  <a:lnTo>
                    <a:pt x="1077834" y="331875"/>
                  </a:lnTo>
                  <a:lnTo>
                    <a:pt x="1130210" y="326225"/>
                  </a:lnTo>
                  <a:lnTo>
                    <a:pt x="1182293" y="319763"/>
                  </a:lnTo>
                  <a:lnTo>
                    <a:pt x="1233894" y="312307"/>
                  </a:lnTo>
                  <a:lnTo>
                    <a:pt x="1284825" y="303675"/>
                  </a:lnTo>
                  <a:lnTo>
                    <a:pt x="1334895" y="293686"/>
                  </a:lnTo>
                  <a:lnTo>
                    <a:pt x="1383918" y="282156"/>
                  </a:lnTo>
                  <a:lnTo>
                    <a:pt x="1431703" y="268905"/>
                  </a:lnTo>
                  <a:lnTo>
                    <a:pt x="1478061" y="253749"/>
                  </a:lnTo>
                  <a:lnTo>
                    <a:pt x="1549685" y="219457"/>
                  </a:lnTo>
                  <a:lnTo>
                    <a:pt x="1606067" y="177548"/>
                  </a:lnTo>
                  <a:lnTo>
                    <a:pt x="1640355" y="130303"/>
                  </a:lnTo>
                  <a:lnTo>
                    <a:pt x="1651795" y="68584"/>
                  </a:lnTo>
                  <a:lnTo>
                    <a:pt x="1651795" y="0"/>
                  </a:lnTo>
                </a:path>
              </a:pathLst>
            </a:custGeom>
            <a:ln w="3175">
              <a:solidFill>
                <a:srgbClr val="000000"/>
              </a:solidFill>
            </a:ln>
          </p:spPr>
          <p:txBody>
            <a:bodyPr wrap="square" lIns="0" tIns="0" rIns="0" bIns="0" rtlCol="0"/>
            <a:lstStyle/>
            <a:p>
              <a:endParaRPr/>
            </a:p>
          </p:txBody>
        </p:sp>
        <p:sp>
          <p:nvSpPr>
            <p:cNvPr id="44" name="object 44"/>
            <p:cNvSpPr/>
            <p:nvPr/>
          </p:nvSpPr>
          <p:spPr>
            <a:xfrm>
              <a:off x="3992116" y="2817112"/>
              <a:ext cx="57150" cy="68580"/>
            </a:xfrm>
            <a:custGeom>
              <a:avLst/>
              <a:gdLst/>
              <a:ahLst/>
              <a:cxnLst/>
              <a:rect l="l" t="t" r="r" b="b"/>
              <a:pathLst>
                <a:path w="57150" h="68580">
                  <a:moveTo>
                    <a:pt x="57151" y="68584"/>
                  </a:moveTo>
                  <a:lnTo>
                    <a:pt x="0" y="68584"/>
                  </a:lnTo>
                  <a:lnTo>
                    <a:pt x="30485" y="0"/>
                  </a:lnTo>
                  <a:lnTo>
                    <a:pt x="57151" y="68584"/>
                  </a:lnTo>
                  <a:close/>
                </a:path>
              </a:pathLst>
            </a:custGeom>
            <a:solidFill>
              <a:srgbClr val="000000"/>
            </a:solidFill>
          </p:spPr>
          <p:txBody>
            <a:bodyPr wrap="square" lIns="0" tIns="0" rIns="0" bIns="0" rtlCol="0"/>
            <a:lstStyle/>
            <a:p>
              <a:endParaRPr/>
            </a:p>
          </p:txBody>
        </p:sp>
        <p:sp>
          <p:nvSpPr>
            <p:cNvPr id="45" name="object 45"/>
            <p:cNvSpPr/>
            <p:nvPr/>
          </p:nvSpPr>
          <p:spPr>
            <a:xfrm>
              <a:off x="3992116" y="2817112"/>
              <a:ext cx="57150" cy="68580"/>
            </a:xfrm>
            <a:custGeom>
              <a:avLst/>
              <a:gdLst/>
              <a:ahLst/>
              <a:cxnLst/>
              <a:rect l="l" t="t" r="r" b="b"/>
              <a:pathLst>
                <a:path w="57150" h="68580">
                  <a:moveTo>
                    <a:pt x="0" y="68584"/>
                  </a:moveTo>
                  <a:lnTo>
                    <a:pt x="30485" y="0"/>
                  </a:lnTo>
                  <a:lnTo>
                    <a:pt x="57151" y="68584"/>
                  </a:lnTo>
                  <a:lnTo>
                    <a:pt x="0" y="68584"/>
                  </a:lnTo>
                  <a:close/>
                </a:path>
              </a:pathLst>
            </a:custGeom>
            <a:ln w="3235">
              <a:solidFill>
                <a:srgbClr val="000000"/>
              </a:solidFill>
            </a:ln>
          </p:spPr>
          <p:txBody>
            <a:bodyPr wrap="square" lIns="0" tIns="0" rIns="0" bIns="0" rtlCol="0"/>
            <a:lstStyle/>
            <a:p>
              <a:endParaRPr/>
            </a:p>
          </p:txBody>
        </p:sp>
      </p:grpSp>
      <p:sp>
        <p:nvSpPr>
          <p:cNvPr id="46" name="object 46"/>
          <p:cNvSpPr txBox="1"/>
          <p:nvPr/>
        </p:nvSpPr>
        <p:spPr>
          <a:xfrm>
            <a:off x="3576320" y="3266423"/>
            <a:ext cx="235585" cy="161925"/>
          </a:xfrm>
          <a:prstGeom prst="rect">
            <a:avLst/>
          </a:prstGeom>
        </p:spPr>
        <p:txBody>
          <a:bodyPr vert="horz" wrap="square" lIns="0" tIns="11430" rIns="0" bIns="0" rtlCol="0">
            <a:spAutoFit/>
          </a:bodyPr>
          <a:lstStyle/>
          <a:p>
            <a:pPr marL="12700">
              <a:lnSpc>
                <a:spcPct val="100000"/>
              </a:lnSpc>
              <a:spcBef>
                <a:spcPts val="90"/>
              </a:spcBef>
            </a:pPr>
            <a:r>
              <a:rPr sz="900" b="1" spc="60" dirty="0">
                <a:latin typeface="Arial"/>
                <a:cs typeface="Arial"/>
              </a:rPr>
              <a:t>is</a:t>
            </a:r>
            <a:r>
              <a:rPr sz="900" b="1" spc="-45" dirty="0">
                <a:latin typeface="Arial"/>
                <a:cs typeface="Arial"/>
              </a:rPr>
              <a:t> </a:t>
            </a:r>
            <a:r>
              <a:rPr sz="900" b="1" spc="-5" dirty="0">
                <a:latin typeface="Arial"/>
                <a:cs typeface="Arial"/>
              </a:rPr>
              <a:t>a</a:t>
            </a:r>
            <a:endParaRPr sz="900">
              <a:latin typeface="Arial"/>
              <a:cs typeface="Arial"/>
            </a:endParaRPr>
          </a:p>
        </p:txBody>
      </p:sp>
      <p:grpSp>
        <p:nvGrpSpPr>
          <p:cNvPr id="47" name="object 47"/>
          <p:cNvGrpSpPr/>
          <p:nvPr/>
        </p:nvGrpSpPr>
        <p:grpSpPr>
          <a:xfrm>
            <a:off x="3887309" y="2815207"/>
            <a:ext cx="439420" cy="581660"/>
            <a:chOff x="3887309" y="2815207"/>
            <a:chExt cx="439420" cy="581660"/>
          </a:xfrm>
        </p:grpSpPr>
        <p:sp>
          <p:nvSpPr>
            <p:cNvPr id="48" name="object 48"/>
            <p:cNvSpPr/>
            <p:nvPr/>
          </p:nvSpPr>
          <p:spPr>
            <a:xfrm>
              <a:off x="3889214" y="2817112"/>
              <a:ext cx="408940" cy="577850"/>
            </a:xfrm>
            <a:custGeom>
              <a:avLst/>
              <a:gdLst/>
              <a:ahLst/>
              <a:cxnLst/>
              <a:rect l="l" t="t" r="r" b="b"/>
              <a:pathLst>
                <a:path w="408939" h="577850">
                  <a:moveTo>
                    <a:pt x="0" y="577597"/>
                  </a:moveTo>
                  <a:lnTo>
                    <a:pt x="15661" y="509846"/>
                  </a:lnTo>
                  <a:lnTo>
                    <a:pt x="35298" y="466731"/>
                  </a:lnTo>
                  <a:lnTo>
                    <a:pt x="61763" y="431298"/>
                  </a:lnTo>
                  <a:lnTo>
                    <a:pt x="93533" y="407251"/>
                  </a:lnTo>
                  <a:lnTo>
                    <a:pt x="160025" y="370881"/>
                  </a:lnTo>
                  <a:lnTo>
                    <a:pt x="201208" y="354327"/>
                  </a:lnTo>
                  <a:lnTo>
                    <a:pt x="242639" y="340886"/>
                  </a:lnTo>
                  <a:lnTo>
                    <a:pt x="281412" y="324350"/>
                  </a:lnTo>
                  <a:lnTo>
                    <a:pt x="315896" y="304324"/>
                  </a:lnTo>
                  <a:lnTo>
                    <a:pt x="374347" y="235240"/>
                  </a:lnTo>
                  <a:lnTo>
                    <a:pt x="393117" y="189662"/>
                  </a:lnTo>
                  <a:lnTo>
                    <a:pt x="403341" y="143514"/>
                  </a:lnTo>
                  <a:lnTo>
                    <a:pt x="407591" y="96631"/>
                  </a:lnTo>
                  <a:lnTo>
                    <a:pt x="408440" y="48848"/>
                  </a:lnTo>
                  <a:lnTo>
                    <a:pt x="408460" y="0"/>
                  </a:lnTo>
                </a:path>
              </a:pathLst>
            </a:custGeom>
            <a:ln w="3335">
              <a:solidFill>
                <a:srgbClr val="000000"/>
              </a:solidFill>
            </a:ln>
          </p:spPr>
          <p:txBody>
            <a:bodyPr wrap="square" lIns="0" tIns="0" rIns="0" bIns="0" rtlCol="0"/>
            <a:lstStyle/>
            <a:p>
              <a:endParaRPr/>
            </a:p>
          </p:txBody>
        </p:sp>
        <p:sp>
          <p:nvSpPr>
            <p:cNvPr id="49" name="object 49"/>
            <p:cNvSpPr/>
            <p:nvPr/>
          </p:nvSpPr>
          <p:spPr>
            <a:xfrm>
              <a:off x="4267959" y="2817112"/>
              <a:ext cx="56515" cy="68580"/>
            </a:xfrm>
            <a:custGeom>
              <a:avLst/>
              <a:gdLst/>
              <a:ahLst/>
              <a:cxnLst/>
              <a:rect l="l" t="t" r="r" b="b"/>
              <a:pathLst>
                <a:path w="56514" h="68580">
                  <a:moveTo>
                    <a:pt x="56397" y="68584"/>
                  </a:moveTo>
                  <a:lnTo>
                    <a:pt x="0" y="68584"/>
                  </a:lnTo>
                  <a:lnTo>
                    <a:pt x="29715" y="0"/>
                  </a:lnTo>
                  <a:lnTo>
                    <a:pt x="56397" y="68584"/>
                  </a:lnTo>
                  <a:close/>
                </a:path>
              </a:pathLst>
            </a:custGeom>
            <a:solidFill>
              <a:srgbClr val="000000"/>
            </a:solidFill>
          </p:spPr>
          <p:txBody>
            <a:bodyPr wrap="square" lIns="0" tIns="0" rIns="0" bIns="0" rtlCol="0"/>
            <a:lstStyle/>
            <a:p>
              <a:endParaRPr/>
            </a:p>
          </p:txBody>
        </p:sp>
        <p:sp>
          <p:nvSpPr>
            <p:cNvPr id="50" name="object 50"/>
            <p:cNvSpPr/>
            <p:nvPr/>
          </p:nvSpPr>
          <p:spPr>
            <a:xfrm>
              <a:off x="4267959" y="2817112"/>
              <a:ext cx="56515" cy="68580"/>
            </a:xfrm>
            <a:custGeom>
              <a:avLst/>
              <a:gdLst/>
              <a:ahLst/>
              <a:cxnLst/>
              <a:rect l="l" t="t" r="r" b="b"/>
              <a:pathLst>
                <a:path w="56514" h="68580">
                  <a:moveTo>
                    <a:pt x="0" y="68584"/>
                  </a:moveTo>
                  <a:lnTo>
                    <a:pt x="29715" y="0"/>
                  </a:lnTo>
                  <a:lnTo>
                    <a:pt x="56397" y="68584"/>
                  </a:lnTo>
                  <a:lnTo>
                    <a:pt x="0" y="68584"/>
                  </a:lnTo>
                  <a:close/>
                </a:path>
              </a:pathLst>
            </a:custGeom>
            <a:ln w="3243">
              <a:solidFill>
                <a:srgbClr val="000000"/>
              </a:solidFill>
            </a:ln>
          </p:spPr>
          <p:txBody>
            <a:bodyPr wrap="square" lIns="0" tIns="0" rIns="0" bIns="0" rtlCol="0"/>
            <a:lstStyle/>
            <a:p>
              <a:endParaRPr/>
            </a:p>
          </p:txBody>
        </p:sp>
      </p:grpSp>
      <p:sp>
        <p:nvSpPr>
          <p:cNvPr id="51" name="object 51"/>
          <p:cNvSpPr txBox="1"/>
          <p:nvPr/>
        </p:nvSpPr>
        <p:spPr>
          <a:xfrm>
            <a:off x="5567426" y="3266423"/>
            <a:ext cx="235585" cy="161925"/>
          </a:xfrm>
          <a:prstGeom prst="rect">
            <a:avLst/>
          </a:prstGeom>
        </p:spPr>
        <p:txBody>
          <a:bodyPr vert="horz" wrap="square" lIns="0" tIns="11430" rIns="0" bIns="0" rtlCol="0">
            <a:spAutoFit/>
          </a:bodyPr>
          <a:lstStyle/>
          <a:p>
            <a:pPr marL="12700">
              <a:lnSpc>
                <a:spcPct val="100000"/>
              </a:lnSpc>
              <a:spcBef>
                <a:spcPts val="90"/>
              </a:spcBef>
            </a:pPr>
            <a:r>
              <a:rPr sz="900" b="1" spc="60" dirty="0">
                <a:latin typeface="Arial"/>
                <a:cs typeface="Arial"/>
              </a:rPr>
              <a:t>is</a:t>
            </a:r>
            <a:r>
              <a:rPr sz="900" b="1" spc="-45" dirty="0">
                <a:latin typeface="Arial"/>
                <a:cs typeface="Arial"/>
              </a:rPr>
              <a:t> </a:t>
            </a:r>
            <a:r>
              <a:rPr sz="900" b="1" spc="-5" dirty="0">
                <a:latin typeface="Arial"/>
                <a:cs typeface="Arial"/>
              </a:rPr>
              <a:t>a</a:t>
            </a:r>
            <a:endParaRPr sz="900">
              <a:latin typeface="Arial"/>
              <a:cs typeface="Arial"/>
            </a:endParaRPr>
          </a:p>
        </p:txBody>
      </p:sp>
      <p:grpSp>
        <p:nvGrpSpPr>
          <p:cNvPr id="52" name="object 52"/>
          <p:cNvGrpSpPr/>
          <p:nvPr/>
        </p:nvGrpSpPr>
        <p:grpSpPr>
          <a:xfrm>
            <a:off x="4541143" y="2815207"/>
            <a:ext cx="977900" cy="581660"/>
            <a:chOff x="4541143" y="2815207"/>
            <a:chExt cx="977900" cy="581660"/>
          </a:xfrm>
        </p:grpSpPr>
        <p:sp>
          <p:nvSpPr>
            <p:cNvPr id="53" name="object 53"/>
            <p:cNvSpPr/>
            <p:nvPr/>
          </p:nvSpPr>
          <p:spPr>
            <a:xfrm>
              <a:off x="4568960" y="2817112"/>
              <a:ext cx="948055" cy="577850"/>
            </a:xfrm>
            <a:custGeom>
              <a:avLst/>
              <a:gdLst/>
              <a:ahLst/>
              <a:cxnLst/>
              <a:rect l="l" t="t" r="r" b="b"/>
              <a:pathLst>
                <a:path w="948054" h="577850">
                  <a:moveTo>
                    <a:pt x="948056" y="577597"/>
                  </a:moveTo>
                  <a:lnTo>
                    <a:pt x="931916" y="531876"/>
                  </a:lnTo>
                  <a:lnTo>
                    <a:pt x="901431" y="492257"/>
                  </a:lnTo>
                  <a:lnTo>
                    <a:pt x="860292" y="457964"/>
                  </a:lnTo>
                  <a:lnTo>
                    <a:pt x="818936" y="436445"/>
                  </a:lnTo>
                  <a:lnTo>
                    <a:pt x="774798" y="418599"/>
                  </a:lnTo>
                  <a:lnTo>
                    <a:pt x="728373" y="403813"/>
                  </a:lnTo>
                  <a:lnTo>
                    <a:pt x="680157" y="391473"/>
                  </a:lnTo>
                  <a:lnTo>
                    <a:pt x="630645" y="380968"/>
                  </a:lnTo>
                  <a:lnTo>
                    <a:pt x="580333" y="371684"/>
                  </a:lnTo>
                  <a:lnTo>
                    <a:pt x="529717" y="363008"/>
                  </a:lnTo>
                  <a:lnTo>
                    <a:pt x="479291" y="354327"/>
                  </a:lnTo>
                  <a:lnTo>
                    <a:pt x="426764" y="346617"/>
                  </a:lnTo>
                  <a:lnTo>
                    <a:pt x="375580" y="338946"/>
                  </a:lnTo>
                  <a:lnTo>
                    <a:pt x="325766" y="330599"/>
                  </a:lnTo>
                  <a:lnTo>
                    <a:pt x="277353" y="320863"/>
                  </a:lnTo>
                  <a:lnTo>
                    <a:pt x="230369" y="309023"/>
                  </a:lnTo>
                  <a:lnTo>
                    <a:pt x="184845" y="294367"/>
                  </a:lnTo>
                  <a:lnTo>
                    <a:pt x="140809" y="276181"/>
                  </a:lnTo>
                  <a:lnTo>
                    <a:pt x="98290" y="253749"/>
                  </a:lnTo>
                  <a:lnTo>
                    <a:pt x="57135" y="219457"/>
                  </a:lnTo>
                  <a:lnTo>
                    <a:pt x="30469" y="177548"/>
                  </a:lnTo>
                  <a:lnTo>
                    <a:pt x="7605" y="130303"/>
                  </a:lnTo>
                  <a:lnTo>
                    <a:pt x="0" y="68584"/>
                  </a:lnTo>
                  <a:lnTo>
                    <a:pt x="0" y="0"/>
                  </a:lnTo>
                </a:path>
              </a:pathLst>
            </a:custGeom>
            <a:ln w="3175">
              <a:solidFill>
                <a:srgbClr val="000000"/>
              </a:solidFill>
            </a:ln>
          </p:spPr>
          <p:txBody>
            <a:bodyPr wrap="square" lIns="0" tIns="0" rIns="0" bIns="0" rtlCol="0"/>
            <a:lstStyle/>
            <a:p>
              <a:endParaRPr/>
            </a:p>
          </p:txBody>
        </p:sp>
        <p:sp>
          <p:nvSpPr>
            <p:cNvPr id="54" name="object 54"/>
            <p:cNvSpPr/>
            <p:nvPr/>
          </p:nvSpPr>
          <p:spPr>
            <a:xfrm>
              <a:off x="4543048" y="2817112"/>
              <a:ext cx="56515" cy="68580"/>
            </a:xfrm>
            <a:custGeom>
              <a:avLst/>
              <a:gdLst/>
              <a:ahLst/>
              <a:cxnLst/>
              <a:rect l="l" t="t" r="r" b="b"/>
              <a:pathLst>
                <a:path w="56514" h="68580">
                  <a:moveTo>
                    <a:pt x="56381" y="68584"/>
                  </a:moveTo>
                  <a:lnTo>
                    <a:pt x="0" y="68584"/>
                  </a:lnTo>
                  <a:lnTo>
                    <a:pt x="25912" y="0"/>
                  </a:lnTo>
                  <a:lnTo>
                    <a:pt x="56381" y="68584"/>
                  </a:lnTo>
                  <a:close/>
                </a:path>
              </a:pathLst>
            </a:custGeom>
            <a:solidFill>
              <a:srgbClr val="000000"/>
            </a:solidFill>
          </p:spPr>
          <p:txBody>
            <a:bodyPr wrap="square" lIns="0" tIns="0" rIns="0" bIns="0" rtlCol="0"/>
            <a:lstStyle/>
            <a:p>
              <a:endParaRPr/>
            </a:p>
          </p:txBody>
        </p:sp>
        <p:sp>
          <p:nvSpPr>
            <p:cNvPr id="55" name="object 55"/>
            <p:cNvSpPr/>
            <p:nvPr/>
          </p:nvSpPr>
          <p:spPr>
            <a:xfrm>
              <a:off x="4543048" y="2817112"/>
              <a:ext cx="56515" cy="68580"/>
            </a:xfrm>
            <a:custGeom>
              <a:avLst/>
              <a:gdLst/>
              <a:ahLst/>
              <a:cxnLst/>
              <a:rect l="l" t="t" r="r" b="b"/>
              <a:pathLst>
                <a:path w="56514" h="68580">
                  <a:moveTo>
                    <a:pt x="0" y="68584"/>
                  </a:moveTo>
                  <a:lnTo>
                    <a:pt x="25912" y="0"/>
                  </a:lnTo>
                  <a:lnTo>
                    <a:pt x="56381" y="68584"/>
                  </a:lnTo>
                  <a:lnTo>
                    <a:pt x="0" y="68584"/>
                  </a:lnTo>
                  <a:close/>
                </a:path>
              </a:pathLst>
            </a:custGeom>
            <a:ln w="3243">
              <a:solidFill>
                <a:srgbClr val="000000"/>
              </a:solidFill>
            </a:ln>
          </p:spPr>
          <p:txBody>
            <a:bodyPr wrap="square" lIns="0" tIns="0" rIns="0" bIns="0" rtlCol="0"/>
            <a:lstStyle/>
            <a:p>
              <a:endParaRPr/>
            </a:p>
          </p:txBody>
        </p:sp>
      </p:grpSp>
      <p:sp>
        <p:nvSpPr>
          <p:cNvPr id="56" name="object 56"/>
          <p:cNvSpPr txBox="1"/>
          <p:nvPr/>
        </p:nvSpPr>
        <p:spPr>
          <a:xfrm>
            <a:off x="7098283" y="3266423"/>
            <a:ext cx="235585" cy="161925"/>
          </a:xfrm>
          <a:prstGeom prst="rect">
            <a:avLst/>
          </a:prstGeom>
        </p:spPr>
        <p:txBody>
          <a:bodyPr vert="horz" wrap="square" lIns="0" tIns="11430" rIns="0" bIns="0" rtlCol="0">
            <a:spAutoFit/>
          </a:bodyPr>
          <a:lstStyle/>
          <a:p>
            <a:pPr marL="12700">
              <a:lnSpc>
                <a:spcPct val="100000"/>
              </a:lnSpc>
              <a:spcBef>
                <a:spcPts val="90"/>
              </a:spcBef>
            </a:pPr>
            <a:r>
              <a:rPr sz="900" b="1" spc="60" dirty="0">
                <a:latin typeface="Arial"/>
                <a:cs typeface="Arial"/>
              </a:rPr>
              <a:t>is</a:t>
            </a:r>
            <a:r>
              <a:rPr sz="900" b="1" spc="-45" dirty="0">
                <a:latin typeface="Arial"/>
                <a:cs typeface="Arial"/>
              </a:rPr>
              <a:t> </a:t>
            </a:r>
            <a:r>
              <a:rPr sz="900" b="1" spc="-5" dirty="0">
                <a:latin typeface="Arial"/>
                <a:cs typeface="Arial"/>
              </a:rPr>
              <a:t>a</a:t>
            </a:r>
            <a:endParaRPr sz="900">
              <a:latin typeface="Arial"/>
              <a:cs typeface="Arial"/>
            </a:endParaRPr>
          </a:p>
        </p:txBody>
      </p:sp>
      <p:grpSp>
        <p:nvGrpSpPr>
          <p:cNvPr id="57" name="object 57"/>
          <p:cNvGrpSpPr/>
          <p:nvPr/>
        </p:nvGrpSpPr>
        <p:grpSpPr>
          <a:xfrm>
            <a:off x="4816216" y="2815207"/>
            <a:ext cx="2223770" cy="581660"/>
            <a:chOff x="4816216" y="2815207"/>
            <a:chExt cx="2223770" cy="581660"/>
          </a:xfrm>
        </p:grpSpPr>
        <p:sp>
          <p:nvSpPr>
            <p:cNvPr id="58" name="object 58"/>
            <p:cNvSpPr/>
            <p:nvPr/>
          </p:nvSpPr>
          <p:spPr>
            <a:xfrm>
              <a:off x="4844803" y="2817112"/>
              <a:ext cx="2193290" cy="577850"/>
            </a:xfrm>
            <a:custGeom>
              <a:avLst/>
              <a:gdLst/>
              <a:ahLst/>
              <a:cxnLst/>
              <a:rect l="l" t="t" r="r" b="b"/>
              <a:pathLst>
                <a:path w="2193290" h="577850">
                  <a:moveTo>
                    <a:pt x="2192990" y="577597"/>
                  </a:moveTo>
                  <a:lnTo>
                    <a:pt x="2152640" y="531876"/>
                  </a:lnTo>
                  <a:lnTo>
                    <a:pt x="2081015" y="492257"/>
                  </a:lnTo>
                  <a:lnTo>
                    <a:pt x="1987282" y="457964"/>
                  </a:lnTo>
                  <a:lnTo>
                    <a:pt x="1869945" y="431298"/>
                  </a:lnTo>
                  <a:lnTo>
                    <a:pt x="1820187" y="423268"/>
                  </a:lnTo>
                  <a:lnTo>
                    <a:pt x="1770163" y="415882"/>
                  </a:lnTo>
                  <a:lnTo>
                    <a:pt x="1719901" y="409086"/>
                  </a:lnTo>
                  <a:lnTo>
                    <a:pt x="1669431" y="402828"/>
                  </a:lnTo>
                  <a:lnTo>
                    <a:pt x="1618780" y="397055"/>
                  </a:lnTo>
                  <a:lnTo>
                    <a:pt x="1567979" y="391714"/>
                  </a:lnTo>
                  <a:lnTo>
                    <a:pt x="1517054" y="386751"/>
                  </a:lnTo>
                  <a:lnTo>
                    <a:pt x="1466036" y="382114"/>
                  </a:lnTo>
                  <a:lnTo>
                    <a:pt x="1414953" y="377750"/>
                  </a:lnTo>
                  <a:lnTo>
                    <a:pt x="1363834" y="373605"/>
                  </a:lnTo>
                  <a:lnTo>
                    <a:pt x="1312707" y="369628"/>
                  </a:lnTo>
                  <a:lnTo>
                    <a:pt x="1261601" y="365764"/>
                  </a:lnTo>
                  <a:lnTo>
                    <a:pt x="1210545" y="361962"/>
                  </a:lnTo>
                  <a:lnTo>
                    <a:pt x="1159568" y="358167"/>
                  </a:lnTo>
                  <a:lnTo>
                    <a:pt x="1108698" y="354327"/>
                  </a:lnTo>
                  <a:lnTo>
                    <a:pt x="1056878" y="350877"/>
                  </a:lnTo>
                  <a:lnTo>
                    <a:pt x="1004743" y="347596"/>
                  </a:lnTo>
                  <a:lnTo>
                    <a:pt x="952358" y="344388"/>
                  </a:lnTo>
                  <a:lnTo>
                    <a:pt x="899791" y="341159"/>
                  </a:lnTo>
                  <a:lnTo>
                    <a:pt x="847108" y="337812"/>
                  </a:lnTo>
                  <a:lnTo>
                    <a:pt x="794375" y="334252"/>
                  </a:lnTo>
                  <a:lnTo>
                    <a:pt x="741660" y="330384"/>
                  </a:lnTo>
                  <a:lnTo>
                    <a:pt x="689029" y="326113"/>
                  </a:lnTo>
                  <a:lnTo>
                    <a:pt x="636548" y="321342"/>
                  </a:lnTo>
                  <a:lnTo>
                    <a:pt x="584284" y="315976"/>
                  </a:lnTo>
                  <a:lnTo>
                    <a:pt x="532305" y="309920"/>
                  </a:lnTo>
                  <a:lnTo>
                    <a:pt x="480675" y="303079"/>
                  </a:lnTo>
                  <a:lnTo>
                    <a:pt x="429463" y="295357"/>
                  </a:lnTo>
                  <a:lnTo>
                    <a:pt x="378734" y="286658"/>
                  </a:lnTo>
                  <a:lnTo>
                    <a:pt x="328555" y="276888"/>
                  </a:lnTo>
                  <a:lnTo>
                    <a:pt x="278993" y="265950"/>
                  </a:lnTo>
                  <a:lnTo>
                    <a:pt x="230115" y="253749"/>
                  </a:lnTo>
                  <a:lnTo>
                    <a:pt x="131824" y="219457"/>
                  </a:lnTo>
                  <a:lnTo>
                    <a:pt x="60184" y="177548"/>
                  </a:lnTo>
                  <a:lnTo>
                    <a:pt x="14472" y="130303"/>
                  </a:lnTo>
                  <a:lnTo>
                    <a:pt x="0" y="68584"/>
                  </a:lnTo>
                  <a:lnTo>
                    <a:pt x="0" y="0"/>
                  </a:lnTo>
                </a:path>
              </a:pathLst>
            </a:custGeom>
            <a:ln w="3175">
              <a:solidFill>
                <a:srgbClr val="000000"/>
              </a:solidFill>
            </a:ln>
          </p:spPr>
          <p:txBody>
            <a:bodyPr wrap="square" lIns="0" tIns="0" rIns="0" bIns="0" rtlCol="0"/>
            <a:lstStyle/>
            <a:p>
              <a:endParaRPr/>
            </a:p>
          </p:txBody>
        </p:sp>
        <p:sp>
          <p:nvSpPr>
            <p:cNvPr id="59" name="object 59"/>
            <p:cNvSpPr/>
            <p:nvPr/>
          </p:nvSpPr>
          <p:spPr>
            <a:xfrm>
              <a:off x="4818121" y="2817112"/>
              <a:ext cx="52705" cy="68580"/>
            </a:xfrm>
            <a:custGeom>
              <a:avLst/>
              <a:gdLst/>
              <a:ahLst/>
              <a:cxnLst/>
              <a:rect l="l" t="t" r="r" b="b"/>
              <a:pathLst>
                <a:path w="52704" h="68580">
                  <a:moveTo>
                    <a:pt x="52578" y="68584"/>
                  </a:moveTo>
                  <a:lnTo>
                    <a:pt x="0" y="68584"/>
                  </a:lnTo>
                  <a:lnTo>
                    <a:pt x="26682" y="0"/>
                  </a:lnTo>
                  <a:lnTo>
                    <a:pt x="52578" y="68584"/>
                  </a:lnTo>
                  <a:close/>
                </a:path>
              </a:pathLst>
            </a:custGeom>
            <a:solidFill>
              <a:srgbClr val="000000"/>
            </a:solidFill>
          </p:spPr>
          <p:txBody>
            <a:bodyPr wrap="square" lIns="0" tIns="0" rIns="0" bIns="0" rtlCol="0"/>
            <a:lstStyle/>
            <a:p>
              <a:endParaRPr/>
            </a:p>
          </p:txBody>
        </p:sp>
        <p:sp>
          <p:nvSpPr>
            <p:cNvPr id="60" name="object 60"/>
            <p:cNvSpPr/>
            <p:nvPr/>
          </p:nvSpPr>
          <p:spPr>
            <a:xfrm>
              <a:off x="4818121" y="2817112"/>
              <a:ext cx="52705" cy="68580"/>
            </a:xfrm>
            <a:custGeom>
              <a:avLst/>
              <a:gdLst/>
              <a:ahLst/>
              <a:cxnLst/>
              <a:rect l="l" t="t" r="r" b="b"/>
              <a:pathLst>
                <a:path w="52704" h="68580">
                  <a:moveTo>
                    <a:pt x="0" y="68584"/>
                  </a:moveTo>
                  <a:lnTo>
                    <a:pt x="26682" y="0"/>
                  </a:lnTo>
                  <a:lnTo>
                    <a:pt x="52578" y="68584"/>
                  </a:lnTo>
                  <a:lnTo>
                    <a:pt x="0" y="68584"/>
                  </a:lnTo>
                  <a:close/>
                </a:path>
              </a:pathLst>
            </a:custGeom>
            <a:ln w="3287">
              <a:solidFill>
                <a:srgbClr val="000000"/>
              </a:solidFill>
            </a:ln>
          </p:spPr>
          <p:txBody>
            <a:bodyPr wrap="square" lIns="0" tIns="0" rIns="0" bIns="0" rtlCol="0"/>
            <a:lstStyle/>
            <a:p>
              <a:endParaRPr/>
            </a:p>
          </p:txBody>
        </p:sp>
      </p:grpSp>
      <p:sp>
        <p:nvSpPr>
          <p:cNvPr id="61" name="object 61"/>
          <p:cNvSpPr txBox="1"/>
          <p:nvPr/>
        </p:nvSpPr>
        <p:spPr>
          <a:xfrm>
            <a:off x="2614676" y="2830559"/>
            <a:ext cx="963294" cy="161925"/>
          </a:xfrm>
          <a:prstGeom prst="rect">
            <a:avLst/>
          </a:prstGeom>
        </p:spPr>
        <p:txBody>
          <a:bodyPr vert="horz" wrap="square" lIns="0" tIns="11430" rIns="0" bIns="0" rtlCol="0">
            <a:spAutoFit/>
          </a:bodyPr>
          <a:lstStyle/>
          <a:p>
            <a:pPr marL="12700">
              <a:lnSpc>
                <a:spcPct val="100000"/>
              </a:lnSpc>
              <a:spcBef>
                <a:spcPts val="90"/>
              </a:spcBef>
            </a:pPr>
            <a:r>
              <a:rPr sz="900" b="1" spc="20" dirty="0">
                <a:latin typeface="Arial"/>
                <a:cs typeface="Arial"/>
              </a:rPr>
              <a:t>c </a:t>
            </a:r>
            <a:r>
              <a:rPr sz="900" b="1" spc="-5" dirty="0">
                <a:latin typeface="Arial"/>
                <a:cs typeface="Arial"/>
              </a:rPr>
              <a:t>o </a:t>
            </a:r>
            <a:r>
              <a:rPr sz="900" b="1" spc="20" dirty="0">
                <a:latin typeface="Arial"/>
                <a:cs typeface="Arial"/>
              </a:rPr>
              <a:t>v </a:t>
            </a:r>
            <a:r>
              <a:rPr sz="900" b="1" spc="-5" dirty="0">
                <a:latin typeface="Arial"/>
                <a:cs typeface="Arial"/>
              </a:rPr>
              <a:t>e r e d _ b</a:t>
            </a:r>
            <a:r>
              <a:rPr sz="900" b="1" dirty="0">
                <a:latin typeface="Arial"/>
                <a:cs typeface="Arial"/>
              </a:rPr>
              <a:t> </a:t>
            </a:r>
            <a:r>
              <a:rPr sz="900" b="1" spc="-5" dirty="0">
                <a:latin typeface="Arial"/>
                <a:cs typeface="Arial"/>
              </a:rPr>
              <a:t>y</a:t>
            </a:r>
            <a:endParaRPr sz="900">
              <a:latin typeface="Arial"/>
              <a:cs typeface="Arial"/>
            </a:endParaRPr>
          </a:p>
        </p:txBody>
      </p:sp>
      <p:grpSp>
        <p:nvGrpSpPr>
          <p:cNvPr id="62" name="object 62"/>
          <p:cNvGrpSpPr/>
          <p:nvPr/>
        </p:nvGrpSpPr>
        <p:grpSpPr>
          <a:xfrm>
            <a:off x="457200" y="2414269"/>
            <a:ext cx="9144000" cy="1959610"/>
            <a:chOff x="457200" y="2414269"/>
            <a:chExt cx="9144000" cy="1959610"/>
          </a:xfrm>
        </p:grpSpPr>
        <p:sp>
          <p:nvSpPr>
            <p:cNvPr id="63" name="object 63"/>
            <p:cNvSpPr/>
            <p:nvPr/>
          </p:nvSpPr>
          <p:spPr>
            <a:xfrm>
              <a:off x="2574795" y="2708908"/>
              <a:ext cx="1312545" cy="108585"/>
            </a:xfrm>
            <a:custGeom>
              <a:avLst/>
              <a:gdLst/>
              <a:ahLst/>
              <a:cxnLst/>
              <a:rect l="l" t="t" r="r" b="b"/>
              <a:pathLst>
                <a:path w="1312545" h="108585">
                  <a:moveTo>
                    <a:pt x="1312163" y="0"/>
                  </a:moveTo>
                  <a:lnTo>
                    <a:pt x="1187205" y="0"/>
                  </a:lnTo>
                  <a:lnTo>
                    <a:pt x="1085850" y="4577"/>
                  </a:lnTo>
                  <a:lnTo>
                    <a:pt x="995181" y="6856"/>
                  </a:lnTo>
                  <a:lnTo>
                    <a:pt x="927359" y="12193"/>
                  </a:lnTo>
                  <a:lnTo>
                    <a:pt x="870962" y="16761"/>
                  </a:lnTo>
                  <a:lnTo>
                    <a:pt x="828471" y="23844"/>
                  </a:lnTo>
                  <a:lnTo>
                    <a:pt x="789253" y="31494"/>
                  </a:lnTo>
                  <a:lnTo>
                    <a:pt x="751267" y="41112"/>
                  </a:lnTo>
                  <a:lnTo>
                    <a:pt x="712471" y="54102"/>
                  </a:lnTo>
                  <a:lnTo>
                    <a:pt x="671259" y="65389"/>
                  </a:lnTo>
                  <a:lnTo>
                    <a:pt x="634433" y="75456"/>
                  </a:lnTo>
                  <a:lnTo>
                    <a:pt x="596049" y="83991"/>
                  </a:lnTo>
                  <a:lnTo>
                    <a:pt x="550161" y="90683"/>
                  </a:lnTo>
                  <a:lnTo>
                    <a:pt x="489961" y="96010"/>
                  </a:lnTo>
                  <a:lnTo>
                    <a:pt x="422155" y="100588"/>
                  </a:lnTo>
                  <a:lnTo>
                    <a:pt x="335288" y="102877"/>
                  </a:lnTo>
                  <a:lnTo>
                    <a:pt x="229361" y="108204"/>
                  </a:lnTo>
                  <a:lnTo>
                    <a:pt x="0" y="108204"/>
                  </a:lnTo>
                </a:path>
              </a:pathLst>
            </a:custGeom>
            <a:ln w="3175">
              <a:solidFill>
                <a:srgbClr val="000000"/>
              </a:solidFill>
            </a:ln>
          </p:spPr>
          <p:txBody>
            <a:bodyPr wrap="square" lIns="0" tIns="0" rIns="0" bIns="0" rtlCol="0"/>
            <a:lstStyle/>
            <a:p>
              <a:endParaRPr/>
            </a:p>
          </p:txBody>
        </p:sp>
        <p:sp>
          <p:nvSpPr>
            <p:cNvPr id="64" name="object 64"/>
            <p:cNvSpPr/>
            <p:nvPr/>
          </p:nvSpPr>
          <p:spPr>
            <a:xfrm>
              <a:off x="2574795" y="2799592"/>
              <a:ext cx="105410" cy="34290"/>
            </a:xfrm>
            <a:custGeom>
              <a:avLst/>
              <a:gdLst/>
              <a:ahLst/>
              <a:cxnLst/>
              <a:rect l="l" t="t" r="r" b="b"/>
              <a:pathLst>
                <a:path w="105410" h="34289">
                  <a:moveTo>
                    <a:pt x="105157" y="34282"/>
                  </a:moveTo>
                  <a:lnTo>
                    <a:pt x="0" y="15231"/>
                  </a:lnTo>
                  <a:lnTo>
                    <a:pt x="105157" y="0"/>
                  </a:lnTo>
                  <a:lnTo>
                    <a:pt x="105157" y="34282"/>
                  </a:lnTo>
                  <a:close/>
                </a:path>
              </a:pathLst>
            </a:custGeom>
            <a:solidFill>
              <a:srgbClr val="000000"/>
            </a:solidFill>
          </p:spPr>
          <p:txBody>
            <a:bodyPr wrap="square" lIns="0" tIns="0" rIns="0" bIns="0" rtlCol="0"/>
            <a:lstStyle/>
            <a:p>
              <a:endParaRPr/>
            </a:p>
          </p:txBody>
        </p:sp>
        <p:sp>
          <p:nvSpPr>
            <p:cNvPr id="65" name="object 65"/>
            <p:cNvSpPr/>
            <p:nvPr/>
          </p:nvSpPr>
          <p:spPr>
            <a:xfrm>
              <a:off x="2574795" y="2799592"/>
              <a:ext cx="105410" cy="34290"/>
            </a:xfrm>
            <a:custGeom>
              <a:avLst/>
              <a:gdLst/>
              <a:ahLst/>
              <a:cxnLst/>
              <a:rect l="l" t="t" r="r" b="b"/>
              <a:pathLst>
                <a:path w="105410" h="34289">
                  <a:moveTo>
                    <a:pt x="105157" y="34282"/>
                  </a:moveTo>
                  <a:lnTo>
                    <a:pt x="0" y="15231"/>
                  </a:lnTo>
                  <a:lnTo>
                    <a:pt x="105157" y="0"/>
                  </a:lnTo>
                  <a:lnTo>
                    <a:pt x="105157" y="34282"/>
                  </a:lnTo>
                  <a:close/>
                </a:path>
              </a:pathLst>
            </a:custGeom>
            <a:ln w="3175">
              <a:solidFill>
                <a:srgbClr val="000000"/>
              </a:solidFill>
            </a:ln>
          </p:spPr>
          <p:txBody>
            <a:bodyPr wrap="square" lIns="0" tIns="0" rIns="0" bIns="0" rtlCol="0"/>
            <a:lstStyle/>
            <a:p>
              <a:endParaRPr/>
            </a:p>
          </p:txBody>
        </p:sp>
        <p:sp>
          <p:nvSpPr>
            <p:cNvPr id="66" name="object 66"/>
            <p:cNvSpPr/>
            <p:nvPr/>
          </p:nvSpPr>
          <p:spPr>
            <a:xfrm>
              <a:off x="3383554" y="2415539"/>
              <a:ext cx="503555" cy="78740"/>
            </a:xfrm>
            <a:custGeom>
              <a:avLst/>
              <a:gdLst/>
              <a:ahLst/>
              <a:cxnLst/>
              <a:rect l="l" t="t" r="r" b="b"/>
              <a:pathLst>
                <a:path w="503554" h="78739">
                  <a:moveTo>
                    <a:pt x="503404" y="78489"/>
                  </a:moveTo>
                  <a:lnTo>
                    <a:pt x="378447" y="76200"/>
                  </a:lnTo>
                  <a:lnTo>
                    <a:pt x="277092" y="71632"/>
                  </a:lnTo>
                  <a:lnTo>
                    <a:pt x="186422" y="59438"/>
                  </a:lnTo>
                  <a:lnTo>
                    <a:pt x="118601" y="46485"/>
                  </a:lnTo>
                  <a:lnTo>
                    <a:pt x="62203" y="29713"/>
                  </a:lnTo>
                  <a:lnTo>
                    <a:pt x="16491" y="9904"/>
                  </a:lnTo>
                  <a:lnTo>
                    <a:pt x="0" y="0"/>
                  </a:lnTo>
                </a:path>
              </a:pathLst>
            </a:custGeom>
            <a:ln w="3175">
              <a:solidFill>
                <a:srgbClr val="000000"/>
              </a:solidFill>
            </a:ln>
          </p:spPr>
          <p:txBody>
            <a:bodyPr wrap="square" lIns="0" tIns="0" rIns="0" bIns="0" rtlCol="0"/>
            <a:lstStyle/>
            <a:p>
              <a:endParaRPr/>
            </a:p>
          </p:txBody>
        </p:sp>
        <p:sp>
          <p:nvSpPr>
            <p:cNvPr id="67" name="object 67"/>
            <p:cNvSpPr/>
            <p:nvPr/>
          </p:nvSpPr>
          <p:spPr>
            <a:xfrm>
              <a:off x="457200" y="3394710"/>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68" name="object 68"/>
            <p:cNvSpPr/>
            <p:nvPr/>
          </p:nvSpPr>
          <p:spPr>
            <a:xfrm>
              <a:off x="3336043" y="3457194"/>
              <a:ext cx="1093470" cy="431800"/>
            </a:xfrm>
            <a:custGeom>
              <a:avLst/>
              <a:gdLst/>
              <a:ahLst/>
              <a:cxnLst/>
              <a:rect l="l" t="t" r="r" b="b"/>
              <a:pathLst>
                <a:path w="1093470" h="431800">
                  <a:moveTo>
                    <a:pt x="0" y="0"/>
                  </a:moveTo>
                  <a:lnTo>
                    <a:pt x="1093471" y="0"/>
                  </a:lnTo>
                  <a:lnTo>
                    <a:pt x="1093471" y="431288"/>
                  </a:lnTo>
                  <a:lnTo>
                    <a:pt x="0" y="431288"/>
                  </a:lnTo>
                  <a:lnTo>
                    <a:pt x="0" y="0"/>
                  </a:lnTo>
                  <a:close/>
                </a:path>
              </a:pathLst>
            </a:custGeom>
            <a:ln w="3175">
              <a:solidFill>
                <a:srgbClr val="000000"/>
              </a:solidFill>
            </a:ln>
          </p:spPr>
          <p:txBody>
            <a:bodyPr wrap="square" lIns="0" tIns="0" rIns="0" bIns="0" rtlCol="0"/>
            <a:lstStyle/>
            <a:p>
              <a:endParaRPr/>
            </a:p>
          </p:txBody>
        </p:sp>
      </p:grpSp>
      <p:sp>
        <p:nvSpPr>
          <p:cNvPr id="69" name="object 69"/>
          <p:cNvSpPr txBox="1"/>
          <p:nvPr/>
        </p:nvSpPr>
        <p:spPr>
          <a:xfrm>
            <a:off x="3448303" y="3583576"/>
            <a:ext cx="821690" cy="196850"/>
          </a:xfrm>
          <a:prstGeom prst="rect">
            <a:avLst/>
          </a:prstGeom>
        </p:spPr>
        <p:txBody>
          <a:bodyPr vert="horz" wrap="square" lIns="0" tIns="15875" rIns="0" bIns="0" rtlCol="0">
            <a:spAutoFit/>
          </a:bodyPr>
          <a:lstStyle/>
          <a:p>
            <a:pPr marL="12700">
              <a:lnSpc>
                <a:spcPct val="100000"/>
              </a:lnSpc>
              <a:spcBef>
                <a:spcPts val="125"/>
              </a:spcBef>
            </a:pPr>
            <a:r>
              <a:rPr sz="1100" b="1" spc="15" dirty="0">
                <a:latin typeface="Arial"/>
                <a:cs typeface="Arial"/>
              </a:rPr>
              <a:t>p </a:t>
            </a:r>
            <a:r>
              <a:rPr sz="1100" b="1" spc="25" dirty="0">
                <a:latin typeface="Arial"/>
                <a:cs typeface="Arial"/>
              </a:rPr>
              <a:t>e </a:t>
            </a:r>
            <a:r>
              <a:rPr sz="1100" b="1" spc="15" dirty="0">
                <a:latin typeface="Arial"/>
                <a:cs typeface="Arial"/>
              </a:rPr>
              <a:t>n g u </a:t>
            </a:r>
            <a:r>
              <a:rPr sz="1100" b="1" spc="5" dirty="0">
                <a:latin typeface="Arial"/>
                <a:cs typeface="Arial"/>
              </a:rPr>
              <a:t>i</a:t>
            </a:r>
            <a:r>
              <a:rPr sz="1100" b="1" spc="-135" dirty="0">
                <a:latin typeface="Arial"/>
                <a:cs typeface="Arial"/>
              </a:rPr>
              <a:t> </a:t>
            </a:r>
            <a:r>
              <a:rPr sz="1100" b="1" spc="15" dirty="0">
                <a:latin typeface="Arial"/>
                <a:cs typeface="Arial"/>
              </a:rPr>
              <a:t>n</a:t>
            </a:r>
            <a:endParaRPr sz="1100">
              <a:latin typeface="Arial"/>
              <a:cs typeface="Arial"/>
            </a:endParaRPr>
          </a:p>
        </p:txBody>
      </p:sp>
      <p:sp>
        <p:nvSpPr>
          <p:cNvPr id="70" name="object 70"/>
          <p:cNvSpPr txBox="1"/>
          <p:nvPr/>
        </p:nvSpPr>
        <p:spPr>
          <a:xfrm>
            <a:off x="4980430" y="3457194"/>
            <a:ext cx="1093470" cy="431800"/>
          </a:xfrm>
          <a:prstGeom prst="rect">
            <a:avLst/>
          </a:prstGeom>
          <a:ln w="3175">
            <a:solidFill>
              <a:srgbClr val="000000"/>
            </a:solidFill>
          </a:ln>
        </p:spPr>
        <p:txBody>
          <a:bodyPr vert="horz" wrap="square" lIns="0" tIns="3175" rIns="0" bIns="0" rtlCol="0">
            <a:spAutoFit/>
          </a:bodyPr>
          <a:lstStyle/>
          <a:p>
            <a:pPr>
              <a:lnSpc>
                <a:spcPct val="100000"/>
              </a:lnSpc>
              <a:spcBef>
                <a:spcPts val="25"/>
              </a:spcBef>
            </a:pPr>
            <a:endParaRPr sz="950">
              <a:latin typeface="Times New Roman"/>
              <a:cs typeface="Times New Roman"/>
            </a:endParaRPr>
          </a:p>
          <a:p>
            <a:pPr marL="195580">
              <a:lnSpc>
                <a:spcPct val="100000"/>
              </a:lnSpc>
            </a:pPr>
            <a:r>
              <a:rPr sz="1100" b="1" spc="30" dirty="0">
                <a:latin typeface="Arial"/>
                <a:cs typeface="Arial"/>
              </a:rPr>
              <a:t>c </a:t>
            </a:r>
            <a:r>
              <a:rPr sz="1100" b="1" spc="10" dirty="0">
                <a:latin typeface="Arial"/>
                <a:cs typeface="Arial"/>
              </a:rPr>
              <a:t>a </a:t>
            </a:r>
            <a:r>
              <a:rPr sz="1100" b="1" spc="15" dirty="0">
                <a:latin typeface="Arial"/>
                <a:cs typeface="Arial"/>
              </a:rPr>
              <a:t>n </a:t>
            </a:r>
            <a:r>
              <a:rPr sz="1100" b="1" spc="10" dirty="0">
                <a:latin typeface="Arial"/>
                <a:cs typeface="Arial"/>
              </a:rPr>
              <a:t>a </a:t>
            </a:r>
            <a:r>
              <a:rPr sz="1100" b="1" spc="5" dirty="0">
                <a:latin typeface="Arial"/>
                <a:cs typeface="Arial"/>
              </a:rPr>
              <a:t>r</a:t>
            </a:r>
            <a:r>
              <a:rPr sz="1100" b="1" spc="-90" dirty="0">
                <a:latin typeface="Arial"/>
                <a:cs typeface="Arial"/>
              </a:rPr>
              <a:t> </a:t>
            </a:r>
            <a:r>
              <a:rPr sz="1100" b="1" spc="10" dirty="0">
                <a:latin typeface="Arial"/>
                <a:cs typeface="Arial"/>
              </a:rPr>
              <a:t>y</a:t>
            </a:r>
            <a:endParaRPr sz="1100">
              <a:latin typeface="Arial"/>
              <a:cs typeface="Arial"/>
            </a:endParaRPr>
          </a:p>
        </p:txBody>
      </p:sp>
      <p:sp>
        <p:nvSpPr>
          <p:cNvPr id="71" name="object 71"/>
          <p:cNvSpPr txBox="1"/>
          <p:nvPr/>
        </p:nvSpPr>
        <p:spPr>
          <a:xfrm>
            <a:off x="6511284" y="3457194"/>
            <a:ext cx="1097280" cy="431800"/>
          </a:xfrm>
          <a:prstGeom prst="rect">
            <a:avLst/>
          </a:prstGeom>
          <a:ln w="3175">
            <a:solidFill>
              <a:srgbClr val="000000"/>
            </a:solidFill>
          </a:ln>
        </p:spPr>
        <p:txBody>
          <a:bodyPr vert="horz" wrap="square" lIns="0" tIns="3175" rIns="0" bIns="0" rtlCol="0">
            <a:spAutoFit/>
          </a:bodyPr>
          <a:lstStyle/>
          <a:p>
            <a:pPr>
              <a:lnSpc>
                <a:spcPct val="100000"/>
              </a:lnSpc>
              <a:spcBef>
                <a:spcPts val="25"/>
              </a:spcBef>
            </a:pPr>
            <a:endParaRPr sz="950">
              <a:latin typeface="Times New Roman"/>
              <a:cs typeface="Times New Roman"/>
            </a:endParaRPr>
          </a:p>
          <a:p>
            <a:pPr marL="274955">
              <a:lnSpc>
                <a:spcPct val="100000"/>
              </a:lnSpc>
            </a:pPr>
            <a:r>
              <a:rPr sz="1100" b="1" spc="5" dirty="0">
                <a:latin typeface="Arial"/>
                <a:cs typeface="Arial"/>
              </a:rPr>
              <a:t>r </a:t>
            </a:r>
            <a:r>
              <a:rPr sz="1100" b="1" spc="60" dirty="0">
                <a:latin typeface="Arial"/>
                <a:cs typeface="Arial"/>
              </a:rPr>
              <a:t>o</a:t>
            </a:r>
            <a:r>
              <a:rPr sz="1100" b="1" spc="-210" dirty="0">
                <a:latin typeface="Arial"/>
                <a:cs typeface="Arial"/>
              </a:rPr>
              <a:t> </a:t>
            </a:r>
            <a:r>
              <a:rPr sz="1100" b="1" spc="15" dirty="0">
                <a:latin typeface="Arial"/>
                <a:cs typeface="Arial"/>
              </a:rPr>
              <a:t>b </a:t>
            </a:r>
            <a:r>
              <a:rPr sz="1100" b="1" spc="5" dirty="0">
                <a:latin typeface="Arial"/>
                <a:cs typeface="Arial"/>
              </a:rPr>
              <a:t>i </a:t>
            </a:r>
            <a:r>
              <a:rPr sz="1100" b="1" spc="15" dirty="0">
                <a:latin typeface="Arial"/>
                <a:cs typeface="Arial"/>
              </a:rPr>
              <a:t>n</a:t>
            </a:r>
            <a:endParaRPr sz="1100">
              <a:latin typeface="Arial"/>
              <a:cs typeface="Arial"/>
            </a:endParaRPr>
          </a:p>
        </p:txBody>
      </p:sp>
      <p:grpSp>
        <p:nvGrpSpPr>
          <p:cNvPr id="72" name="object 72"/>
          <p:cNvGrpSpPr/>
          <p:nvPr/>
        </p:nvGrpSpPr>
        <p:grpSpPr>
          <a:xfrm>
            <a:off x="2354199" y="3392804"/>
            <a:ext cx="4705350" cy="982980"/>
            <a:chOff x="2354199" y="3392804"/>
            <a:chExt cx="4705350" cy="982980"/>
          </a:xfrm>
        </p:grpSpPr>
        <p:sp>
          <p:nvSpPr>
            <p:cNvPr id="73" name="object 73"/>
            <p:cNvSpPr/>
            <p:nvPr/>
          </p:nvSpPr>
          <p:spPr>
            <a:xfrm>
              <a:off x="5855211" y="4245869"/>
              <a:ext cx="1093470" cy="128270"/>
            </a:xfrm>
            <a:custGeom>
              <a:avLst/>
              <a:gdLst/>
              <a:ahLst/>
              <a:cxnLst/>
              <a:rect l="l" t="t" r="r" b="b"/>
              <a:pathLst>
                <a:path w="1093470" h="128270">
                  <a:moveTo>
                    <a:pt x="0" y="0"/>
                  </a:moveTo>
                  <a:lnTo>
                    <a:pt x="1093471" y="0"/>
                  </a:lnTo>
                  <a:lnTo>
                    <a:pt x="1093471" y="128010"/>
                  </a:lnTo>
                  <a:lnTo>
                    <a:pt x="0" y="128010"/>
                  </a:lnTo>
                  <a:lnTo>
                    <a:pt x="0" y="0"/>
                  </a:lnTo>
                </a:path>
              </a:pathLst>
            </a:custGeom>
            <a:ln w="3175">
              <a:solidFill>
                <a:srgbClr val="000000"/>
              </a:solidFill>
            </a:ln>
          </p:spPr>
          <p:txBody>
            <a:bodyPr wrap="square" lIns="0" tIns="0" rIns="0" bIns="0" rtlCol="0"/>
            <a:lstStyle/>
            <a:p>
              <a:endParaRPr/>
            </a:p>
          </p:txBody>
        </p:sp>
        <p:sp>
          <p:nvSpPr>
            <p:cNvPr id="74" name="object 74"/>
            <p:cNvSpPr/>
            <p:nvPr/>
          </p:nvSpPr>
          <p:spPr>
            <a:xfrm>
              <a:off x="2356104" y="3394709"/>
              <a:ext cx="15240" cy="62865"/>
            </a:xfrm>
            <a:custGeom>
              <a:avLst/>
              <a:gdLst/>
              <a:ahLst/>
              <a:cxnLst/>
              <a:rect l="l" t="t" r="r" b="b"/>
              <a:pathLst>
                <a:path w="15239" h="62864">
                  <a:moveTo>
                    <a:pt x="0" y="62484"/>
                  </a:moveTo>
                  <a:lnTo>
                    <a:pt x="10669" y="6093"/>
                  </a:lnTo>
                  <a:lnTo>
                    <a:pt x="14701" y="0"/>
                  </a:lnTo>
                </a:path>
              </a:pathLst>
            </a:custGeom>
            <a:ln w="3702">
              <a:solidFill>
                <a:srgbClr val="000000"/>
              </a:solidFill>
            </a:ln>
          </p:spPr>
          <p:txBody>
            <a:bodyPr wrap="square" lIns="0" tIns="0" rIns="0" bIns="0" rtlCol="0"/>
            <a:lstStyle/>
            <a:p>
              <a:endParaRPr/>
            </a:p>
          </p:txBody>
        </p:sp>
        <p:sp>
          <p:nvSpPr>
            <p:cNvPr id="75" name="object 75"/>
            <p:cNvSpPr/>
            <p:nvPr/>
          </p:nvSpPr>
          <p:spPr>
            <a:xfrm>
              <a:off x="3886096" y="3394709"/>
              <a:ext cx="3175" cy="62865"/>
            </a:xfrm>
            <a:custGeom>
              <a:avLst/>
              <a:gdLst/>
              <a:ahLst/>
              <a:cxnLst/>
              <a:rect l="l" t="t" r="r" b="b"/>
              <a:pathLst>
                <a:path w="3175" h="62864">
                  <a:moveTo>
                    <a:pt x="862" y="62484"/>
                  </a:moveTo>
                  <a:lnTo>
                    <a:pt x="0" y="23445"/>
                  </a:lnTo>
                  <a:lnTo>
                    <a:pt x="3117" y="0"/>
                  </a:lnTo>
                </a:path>
              </a:pathLst>
            </a:custGeom>
            <a:ln w="3768">
              <a:solidFill>
                <a:srgbClr val="000000"/>
              </a:solidFill>
            </a:ln>
          </p:spPr>
          <p:txBody>
            <a:bodyPr wrap="square" lIns="0" tIns="0" rIns="0" bIns="0" rtlCol="0"/>
            <a:lstStyle/>
            <a:p>
              <a:endParaRPr/>
            </a:p>
          </p:txBody>
        </p:sp>
        <p:sp>
          <p:nvSpPr>
            <p:cNvPr id="76" name="object 76"/>
            <p:cNvSpPr/>
            <p:nvPr/>
          </p:nvSpPr>
          <p:spPr>
            <a:xfrm>
              <a:off x="5517017" y="3394709"/>
              <a:ext cx="10160" cy="62865"/>
            </a:xfrm>
            <a:custGeom>
              <a:avLst/>
              <a:gdLst/>
              <a:ahLst/>
              <a:cxnLst/>
              <a:rect l="l" t="t" r="r" b="b"/>
              <a:pathLst>
                <a:path w="10160" h="62864">
                  <a:moveTo>
                    <a:pt x="9772" y="62484"/>
                  </a:moveTo>
                  <a:lnTo>
                    <a:pt x="2150" y="6093"/>
                  </a:lnTo>
                  <a:lnTo>
                    <a:pt x="0" y="0"/>
                  </a:lnTo>
                </a:path>
              </a:pathLst>
            </a:custGeom>
            <a:ln w="3740">
              <a:solidFill>
                <a:srgbClr val="000000"/>
              </a:solidFill>
            </a:ln>
          </p:spPr>
          <p:txBody>
            <a:bodyPr wrap="square" lIns="0" tIns="0" rIns="0" bIns="0" rtlCol="0"/>
            <a:lstStyle/>
            <a:p>
              <a:endParaRPr/>
            </a:p>
          </p:txBody>
        </p:sp>
        <p:sp>
          <p:nvSpPr>
            <p:cNvPr id="77" name="object 77"/>
            <p:cNvSpPr/>
            <p:nvPr/>
          </p:nvSpPr>
          <p:spPr>
            <a:xfrm>
              <a:off x="7037793" y="3394709"/>
              <a:ext cx="20320" cy="62865"/>
            </a:xfrm>
            <a:custGeom>
              <a:avLst/>
              <a:gdLst/>
              <a:ahLst/>
              <a:cxnLst/>
              <a:rect l="l" t="t" r="r" b="b"/>
              <a:pathLst>
                <a:path w="20320" h="62864">
                  <a:moveTo>
                    <a:pt x="19850" y="62484"/>
                  </a:moveTo>
                  <a:lnTo>
                    <a:pt x="5377" y="6093"/>
                  </a:lnTo>
                  <a:lnTo>
                    <a:pt x="0" y="0"/>
                  </a:lnTo>
                </a:path>
              </a:pathLst>
            </a:custGeom>
            <a:ln w="3651">
              <a:solidFill>
                <a:srgbClr val="000000"/>
              </a:solidFill>
            </a:ln>
          </p:spPr>
          <p:txBody>
            <a:bodyPr wrap="square" lIns="0" tIns="0" rIns="0" bIns="0" rtlCol="0"/>
            <a:lstStyle/>
            <a:p>
              <a:endParaRPr/>
            </a:p>
          </p:txBody>
        </p:sp>
        <p:sp>
          <p:nvSpPr>
            <p:cNvPr id="78" name="object 78"/>
            <p:cNvSpPr/>
            <p:nvPr/>
          </p:nvSpPr>
          <p:spPr>
            <a:xfrm>
              <a:off x="3431726" y="3888482"/>
              <a:ext cx="179705" cy="485775"/>
            </a:xfrm>
            <a:custGeom>
              <a:avLst/>
              <a:gdLst/>
              <a:ahLst/>
              <a:cxnLst/>
              <a:rect l="l" t="t" r="r" b="b"/>
              <a:pathLst>
                <a:path w="179704" h="485775">
                  <a:moveTo>
                    <a:pt x="179388" y="0"/>
                  </a:moveTo>
                  <a:lnTo>
                    <a:pt x="179671" y="54317"/>
                  </a:lnTo>
                  <a:lnTo>
                    <a:pt x="176944" y="108619"/>
                  </a:lnTo>
                  <a:lnTo>
                    <a:pt x="171103" y="162815"/>
                  </a:lnTo>
                  <a:lnTo>
                    <a:pt x="162047" y="216809"/>
                  </a:lnTo>
                  <a:lnTo>
                    <a:pt x="149673" y="270511"/>
                  </a:lnTo>
                  <a:lnTo>
                    <a:pt x="137219" y="316490"/>
                  </a:lnTo>
                  <a:lnTo>
                    <a:pt x="114435" y="362938"/>
                  </a:lnTo>
                  <a:lnTo>
                    <a:pt x="83742" y="407559"/>
                  </a:lnTo>
                  <a:lnTo>
                    <a:pt x="47564" y="448059"/>
                  </a:lnTo>
                  <a:lnTo>
                    <a:pt x="13877" y="476739"/>
                  </a:lnTo>
                  <a:lnTo>
                    <a:pt x="0" y="485397"/>
                  </a:lnTo>
                </a:path>
              </a:pathLst>
            </a:custGeom>
            <a:ln w="3613">
              <a:solidFill>
                <a:srgbClr val="000000"/>
              </a:solidFill>
            </a:ln>
          </p:spPr>
          <p:txBody>
            <a:bodyPr wrap="square" lIns="0" tIns="0" rIns="0" bIns="0" rtlCol="0"/>
            <a:lstStyle/>
            <a:p>
              <a:endParaRPr/>
            </a:p>
          </p:txBody>
        </p:sp>
        <p:sp>
          <p:nvSpPr>
            <p:cNvPr id="79" name="object 79"/>
            <p:cNvSpPr/>
            <p:nvPr/>
          </p:nvSpPr>
          <p:spPr>
            <a:xfrm>
              <a:off x="4162047" y="3888482"/>
              <a:ext cx="0" cy="485775"/>
            </a:xfrm>
            <a:custGeom>
              <a:avLst/>
              <a:gdLst/>
              <a:ahLst/>
              <a:cxnLst/>
              <a:rect l="l" t="t" r="r" b="b"/>
              <a:pathLst>
                <a:path h="485775">
                  <a:moveTo>
                    <a:pt x="0" y="485397"/>
                  </a:moveTo>
                  <a:lnTo>
                    <a:pt x="0" y="485397"/>
                  </a:lnTo>
                  <a:lnTo>
                    <a:pt x="0" y="50686"/>
                  </a:lnTo>
                  <a:lnTo>
                    <a:pt x="0" y="0"/>
                  </a:lnTo>
                </a:path>
              </a:pathLst>
            </a:custGeom>
            <a:ln w="3771">
              <a:solidFill>
                <a:srgbClr val="000000"/>
              </a:solidFill>
            </a:ln>
          </p:spPr>
          <p:txBody>
            <a:bodyPr wrap="square" lIns="0" tIns="0" rIns="0" bIns="0" rtlCol="0"/>
            <a:lstStyle/>
            <a:p>
              <a:endParaRPr/>
            </a:p>
          </p:txBody>
        </p:sp>
        <p:sp>
          <p:nvSpPr>
            <p:cNvPr id="80" name="object 80"/>
            <p:cNvSpPr/>
            <p:nvPr/>
          </p:nvSpPr>
          <p:spPr>
            <a:xfrm>
              <a:off x="4135380" y="3888482"/>
              <a:ext cx="53340" cy="71755"/>
            </a:xfrm>
            <a:custGeom>
              <a:avLst/>
              <a:gdLst/>
              <a:ahLst/>
              <a:cxnLst/>
              <a:rect l="l" t="t" r="r" b="b"/>
              <a:pathLst>
                <a:path w="53339" h="71754">
                  <a:moveTo>
                    <a:pt x="53333" y="71633"/>
                  </a:moveTo>
                  <a:lnTo>
                    <a:pt x="0" y="71633"/>
                  </a:lnTo>
                  <a:lnTo>
                    <a:pt x="26666" y="0"/>
                  </a:lnTo>
                  <a:lnTo>
                    <a:pt x="53333" y="71633"/>
                  </a:lnTo>
                  <a:close/>
                </a:path>
              </a:pathLst>
            </a:custGeom>
            <a:solidFill>
              <a:srgbClr val="000000"/>
            </a:solidFill>
          </p:spPr>
          <p:txBody>
            <a:bodyPr wrap="square" lIns="0" tIns="0" rIns="0" bIns="0" rtlCol="0"/>
            <a:lstStyle/>
            <a:p>
              <a:endParaRPr/>
            </a:p>
          </p:txBody>
        </p:sp>
        <p:sp>
          <p:nvSpPr>
            <p:cNvPr id="81" name="object 81"/>
            <p:cNvSpPr/>
            <p:nvPr/>
          </p:nvSpPr>
          <p:spPr>
            <a:xfrm>
              <a:off x="4135380" y="3888482"/>
              <a:ext cx="53340" cy="71755"/>
            </a:xfrm>
            <a:custGeom>
              <a:avLst/>
              <a:gdLst/>
              <a:ahLst/>
              <a:cxnLst/>
              <a:rect l="l" t="t" r="r" b="b"/>
              <a:pathLst>
                <a:path w="53339" h="71754">
                  <a:moveTo>
                    <a:pt x="0" y="71633"/>
                  </a:moveTo>
                  <a:lnTo>
                    <a:pt x="26666" y="0"/>
                  </a:lnTo>
                  <a:lnTo>
                    <a:pt x="53333" y="71633"/>
                  </a:lnTo>
                  <a:lnTo>
                    <a:pt x="0" y="71633"/>
                  </a:lnTo>
                  <a:close/>
                </a:path>
              </a:pathLst>
            </a:custGeom>
            <a:ln w="3304">
              <a:solidFill>
                <a:srgbClr val="000000"/>
              </a:solidFill>
            </a:ln>
          </p:spPr>
          <p:txBody>
            <a:bodyPr wrap="square" lIns="0" tIns="0" rIns="0" bIns="0" rtlCol="0"/>
            <a:lstStyle/>
            <a:p>
              <a:endParaRPr/>
            </a:p>
          </p:txBody>
        </p:sp>
        <p:sp>
          <p:nvSpPr>
            <p:cNvPr id="82" name="object 82"/>
            <p:cNvSpPr/>
            <p:nvPr/>
          </p:nvSpPr>
          <p:spPr>
            <a:xfrm>
              <a:off x="5255519" y="3888482"/>
              <a:ext cx="8255" cy="485775"/>
            </a:xfrm>
            <a:custGeom>
              <a:avLst/>
              <a:gdLst/>
              <a:ahLst/>
              <a:cxnLst/>
              <a:rect l="l" t="t" r="r" b="b"/>
              <a:pathLst>
                <a:path w="8254" h="485775">
                  <a:moveTo>
                    <a:pt x="8202" y="485397"/>
                  </a:moveTo>
                  <a:lnTo>
                    <a:pt x="3802" y="411488"/>
                  </a:lnTo>
                  <a:lnTo>
                    <a:pt x="0" y="256038"/>
                  </a:lnTo>
                  <a:lnTo>
                    <a:pt x="0" y="0"/>
                  </a:lnTo>
                </a:path>
              </a:pathLst>
            </a:custGeom>
            <a:ln w="3770">
              <a:solidFill>
                <a:srgbClr val="000000"/>
              </a:solidFill>
            </a:ln>
          </p:spPr>
          <p:txBody>
            <a:bodyPr wrap="square" lIns="0" tIns="0" rIns="0" bIns="0" rtlCol="0"/>
            <a:lstStyle/>
            <a:p>
              <a:endParaRPr/>
            </a:p>
          </p:txBody>
        </p:sp>
        <p:sp>
          <p:nvSpPr>
            <p:cNvPr id="83" name="object 83"/>
            <p:cNvSpPr/>
            <p:nvPr/>
          </p:nvSpPr>
          <p:spPr>
            <a:xfrm>
              <a:off x="5225034" y="3888482"/>
              <a:ext cx="57150" cy="71755"/>
            </a:xfrm>
            <a:custGeom>
              <a:avLst/>
              <a:gdLst/>
              <a:ahLst/>
              <a:cxnLst/>
              <a:rect l="l" t="t" r="r" b="b"/>
              <a:pathLst>
                <a:path w="57150" h="71754">
                  <a:moveTo>
                    <a:pt x="57151" y="71633"/>
                  </a:moveTo>
                  <a:lnTo>
                    <a:pt x="0" y="71633"/>
                  </a:lnTo>
                  <a:lnTo>
                    <a:pt x="30485" y="0"/>
                  </a:lnTo>
                  <a:lnTo>
                    <a:pt x="57151" y="71633"/>
                  </a:lnTo>
                  <a:close/>
                </a:path>
              </a:pathLst>
            </a:custGeom>
            <a:solidFill>
              <a:srgbClr val="000000"/>
            </a:solidFill>
          </p:spPr>
          <p:txBody>
            <a:bodyPr wrap="square" lIns="0" tIns="0" rIns="0" bIns="0" rtlCol="0"/>
            <a:lstStyle/>
            <a:p>
              <a:endParaRPr/>
            </a:p>
          </p:txBody>
        </p:sp>
        <p:sp>
          <p:nvSpPr>
            <p:cNvPr id="84" name="object 84"/>
            <p:cNvSpPr/>
            <p:nvPr/>
          </p:nvSpPr>
          <p:spPr>
            <a:xfrm>
              <a:off x="5225034" y="3888482"/>
              <a:ext cx="57150" cy="71755"/>
            </a:xfrm>
            <a:custGeom>
              <a:avLst/>
              <a:gdLst/>
              <a:ahLst/>
              <a:cxnLst/>
              <a:rect l="l" t="t" r="r" b="b"/>
              <a:pathLst>
                <a:path w="57150" h="71754">
                  <a:moveTo>
                    <a:pt x="0" y="71633"/>
                  </a:moveTo>
                  <a:lnTo>
                    <a:pt x="30485" y="0"/>
                  </a:lnTo>
                  <a:lnTo>
                    <a:pt x="57151" y="71633"/>
                  </a:lnTo>
                  <a:lnTo>
                    <a:pt x="0" y="71633"/>
                  </a:lnTo>
                  <a:close/>
                </a:path>
              </a:pathLst>
            </a:custGeom>
            <a:ln w="3262">
              <a:solidFill>
                <a:srgbClr val="000000"/>
              </a:solidFill>
            </a:ln>
          </p:spPr>
          <p:txBody>
            <a:bodyPr wrap="square" lIns="0" tIns="0" rIns="0" bIns="0" rtlCol="0"/>
            <a:lstStyle/>
            <a:p>
              <a:endParaRPr/>
            </a:p>
          </p:txBody>
        </p:sp>
      </p:grpSp>
      <p:sp>
        <p:nvSpPr>
          <p:cNvPr id="85" name="object 85"/>
          <p:cNvSpPr txBox="1"/>
          <p:nvPr/>
        </p:nvSpPr>
        <p:spPr>
          <a:xfrm>
            <a:off x="1422908" y="3901931"/>
            <a:ext cx="444500"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t</a:t>
            </a:r>
            <a:r>
              <a:rPr sz="900" b="1" spc="-120" dirty="0">
                <a:latin typeface="Arial"/>
                <a:cs typeface="Arial"/>
              </a:rPr>
              <a:t> </a:t>
            </a:r>
            <a:r>
              <a:rPr sz="900" b="1" spc="-5" dirty="0">
                <a:latin typeface="Arial"/>
                <a:cs typeface="Arial"/>
              </a:rPr>
              <a:t>r</a:t>
            </a:r>
            <a:r>
              <a:rPr sz="900" b="1" spc="-80" dirty="0">
                <a:latin typeface="Arial"/>
                <a:cs typeface="Arial"/>
              </a:rPr>
              <a:t> </a:t>
            </a:r>
            <a:r>
              <a:rPr sz="900" b="1" spc="20" dirty="0">
                <a:latin typeface="Arial"/>
                <a:cs typeface="Arial"/>
              </a:rPr>
              <a:t>a</a:t>
            </a:r>
            <a:r>
              <a:rPr sz="900" b="1" spc="-15" dirty="0">
                <a:latin typeface="Arial"/>
                <a:cs typeface="Arial"/>
              </a:rPr>
              <a:t> </a:t>
            </a:r>
            <a:r>
              <a:rPr sz="900" b="1" spc="20" dirty="0">
                <a:latin typeface="Arial"/>
                <a:cs typeface="Arial"/>
              </a:rPr>
              <a:t>v</a:t>
            </a:r>
            <a:r>
              <a:rPr sz="900" b="1" spc="-20" dirty="0">
                <a:latin typeface="Arial"/>
                <a:cs typeface="Arial"/>
              </a:rPr>
              <a:t> </a:t>
            </a:r>
            <a:r>
              <a:rPr sz="900" b="1" spc="-5" dirty="0">
                <a:latin typeface="Arial"/>
                <a:cs typeface="Arial"/>
              </a:rPr>
              <a:t>e</a:t>
            </a:r>
            <a:r>
              <a:rPr sz="900" b="1" spc="25" dirty="0">
                <a:latin typeface="Arial"/>
                <a:cs typeface="Arial"/>
              </a:rPr>
              <a:t> </a:t>
            </a:r>
            <a:endParaRPr sz="900">
              <a:latin typeface="Arial"/>
              <a:cs typeface="Arial"/>
            </a:endParaRPr>
          </a:p>
        </p:txBody>
      </p:sp>
      <p:grpSp>
        <p:nvGrpSpPr>
          <p:cNvPr id="86" name="object 86"/>
          <p:cNvGrpSpPr/>
          <p:nvPr/>
        </p:nvGrpSpPr>
        <p:grpSpPr>
          <a:xfrm>
            <a:off x="2327674" y="4172472"/>
            <a:ext cx="56515" cy="75565"/>
            <a:chOff x="2327674" y="4172472"/>
            <a:chExt cx="56515" cy="75565"/>
          </a:xfrm>
        </p:grpSpPr>
        <p:sp>
          <p:nvSpPr>
            <p:cNvPr id="87" name="object 87"/>
            <p:cNvSpPr/>
            <p:nvPr/>
          </p:nvSpPr>
          <p:spPr>
            <a:xfrm>
              <a:off x="2329437" y="4174235"/>
              <a:ext cx="52705" cy="71755"/>
            </a:xfrm>
            <a:custGeom>
              <a:avLst/>
              <a:gdLst/>
              <a:ahLst/>
              <a:cxnLst/>
              <a:rect l="l" t="t" r="r" b="b"/>
              <a:pathLst>
                <a:path w="52705" h="71754">
                  <a:moveTo>
                    <a:pt x="26666" y="71633"/>
                  </a:moveTo>
                  <a:lnTo>
                    <a:pt x="0" y="0"/>
                  </a:lnTo>
                  <a:lnTo>
                    <a:pt x="52578" y="0"/>
                  </a:lnTo>
                  <a:lnTo>
                    <a:pt x="26666" y="71633"/>
                  </a:lnTo>
                  <a:close/>
                </a:path>
              </a:pathLst>
            </a:custGeom>
            <a:solidFill>
              <a:srgbClr val="000000"/>
            </a:solidFill>
          </p:spPr>
          <p:txBody>
            <a:bodyPr wrap="square" lIns="0" tIns="0" rIns="0" bIns="0" rtlCol="0"/>
            <a:lstStyle/>
            <a:p>
              <a:endParaRPr/>
            </a:p>
          </p:txBody>
        </p:sp>
        <p:sp>
          <p:nvSpPr>
            <p:cNvPr id="88" name="object 88"/>
            <p:cNvSpPr/>
            <p:nvPr/>
          </p:nvSpPr>
          <p:spPr>
            <a:xfrm>
              <a:off x="2329437" y="4174235"/>
              <a:ext cx="52705" cy="71755"/>
            </a:xfrm>
            <a:custGeom>
              <a:avLst/>
              <a:gdLst/>
              <a:ahLst/>
              <a:cxnLst/>
              <a:rect l="l" t="t" r="r" b="b"/>
              <a:pathLst>
                <a:path w="52705" h="71754">
                  <a:moveTo>
                    <a:pt x="52578" y="0"/>
                  </a:moveTo>
                  <a:lnTo>
                    <a:pt x="26666" y="71633"/>
                  </a:lnTo>
                  <a:lnTo>
                    <a:pt x="0" y="0"/>
                  </a:lnTo>
                  <a:lnTo>
                    <a:pt x="52578" y="0"/>
                  </a:lnTo>
                  <a:close/>
                </a:path>
              </a:pathLst>
            </a:custGeom>
            <a:ln w="3313">
              <a:solidFill>
                <a:srgbClr val="000000"/>
              </a:solidFill>
            </a:ln>
          </p:spPr>
          <p:txBody>
            <a:bodyPr wrap="square" lIns="0" tIns="0" rIns="0" bIns="0" rtlCol="0"/>
            <a:lstStyle/>
            <a:p>
              <a:endParaRPr/>
            </a:p>
          </p:txBody>
        </p:sp>
      </p:grpSp>
      <p:sp>
        <p:nvSpPr>
          <p:cNvPr id="89" name="object 89"/>
          <p:cNvSpPr txBox="1"/>
          <p:nvPr/>
        </p:nvSpPr>
        <p:spPr>
          <a:xfrm>
            <a:off x="6170167" y="4055093"/>
            <a:ext cx="534035" cy="161925"/>
          </a:xfrm>
          <a:prstGeom prst="rect">
            <a:avLst/>
          </a:prstGeom>
        </p:spPr>
        <p:txBody>
          <a:bodyPr vert="horz" wrap="square" lIns="0" tIns="11430" rIns="0" bIns="0" rtlCol="0">
            <a:spAutoFit/>
          </a:bodyPr>
          <a:lstStyle/>
          <a:p>
            <a:pPr marL="12700">
              <a:lnSpc>
                <a:spcPct val="100000"/>
              </a:lnSpc>
              <a:spcBef>
                <a:spcPts val="90"/>
              </a:spcBef>
            </a:pPr>
            <a:r>
              <a:rPr sz="900" b="1" spc="20" dirty="0">
                <a:latin typeface="Arial"/>
                <a:cs typeface="Arial"/>
              </a:rPr>
              <a:t>c </a:t>
            </a:r>
            <a:r>
              <a:rPr sz="900" b="1" spc="-5" dirty="0">
                <a:latin typeface="Arial"/>
                <a:cs typeface="Arial"/>
              </a:rPr>
              <a:t>o l o u</a:t>
            </a:r>
            <a:r>
              <a:rPr sz="900" b="1" spc="-110" dirty="0">
                <a:latin typeface="Arial"/>
                <a:cs typeface="Arial"/>
              </a:rPr>
              <a:t> </a:t>
            </a:r>
            <a:r>
              <a:rPr sz="900" b="1" spc="-5" dirty="0">
                <a:latin typeface="Arial"/>
                <a:cs typeface="Arial"/>
              </a:rPr>
              <a:t>r</a:t>
            </a:r>
            <a:endParaRPr sz="900">
              <a:latin typeface="Arial"/>
              <a:cs typeface="Arial"/>
            </a:endParaRPr>
          </a:p>
        </p:txBody>
      </p:sp>
      <p:grpSp>
        <p:nvGrpSpPr>
          <p:cNvPr id="90" name="object 90"/>
          <p:cNvGrpSpPr/>
          <p:nvPr/>
        </p:nvGrpSpPr>
        <p:grpSpPr>
          <a:xfrm>
            <a:off x="5796908" y="3886577"/>
            <a:ext cx="362585" cy="361315"/>
            <a:chOff x="5796908" y="3886577"/>
            <a:chExt cx="362585" cy="361315"/>
          </a:xfrm>
        </p:grpSpPr>
        <p:sp>
          <p:nvSpPr>
            <p:cNvPr id="91" name="object 91"/>
            <p:cNvSpPr/>
            <p:nvPr/>
          </p:nvSpPr>
          <p:spPr>
            <a:xfrm>
              <a:off x="5798813" y="3888482"/>
              <a:ext cx="331470" cy="357505"/>
            </a:xfrm>
            <a:custGeom>
              <a:avLst/>
              <a:gdLst/>
              <a:ahLst/>
              <a:cxnLst/>
              <a:rect l="l" t="t" r="r" b="b"/>
              <a:pathLst>
                <a:path w="331470" h="357504">
                  <a:moveTo>
                    <a:pt x="0" y="0"/>
                  </a:moveTo>
                  <a:lnTo>
                    <a:pt x="3818" y="29724"/>
                  </a:lnTo>
                  <a:lnTo>
                    <a:pt x="14488" y="54102"/>
                  </a:lnTo>
                  <a:lnTo>
                    <a:pt x="22109" y="76200"/>
                  </a:lnTo>
                  <a:lnTo>
                    <a:pt x="37352" y="91443"/>
                  </a:lnTo>
                  <a:lnTo>
                    <a:pt x="52578" y="105925"/>
                  </a:lnTo>
                  <a:lnTo>
                    <a:pt x="75442" y="115830"/>
                  </a:lnTo>
                  <a:lnTo>
                    <a:pt x="93733" y="125735"/>
                  </a:lnTo>
                  <a:lnTo>
                    <a:pt x="116597" y="130303"/>
                  </a:lnTo>
                  <a:lnTo>
                    <a:pt x="143264" y="137929"/>
                  </a:lnTo>
                  <a:lnTo>
                    <a:pt x="165358" y="142496"/>
                  </a:lnTo>
                  <a:lnTo>
                    <a:pt x="192024" y="147834"/>
                  </a:lnTo>
                  <a:lnTo>
                    <a:pt x="214888" y="155450"/>
                  </a:lnTo>
                  <a:lnTo>
                    <a:pt x="236982" y="160028"/>
                  </a:lnTo>
                  <a:lnTo>
                    <a:pt x="278891" y="182126"/>
                  </a:lnTo>
                  <a:lnTo>
                    <a:pt x="316675" y="217917"/>
                  </a:lnTo>
                  <a:lnTo>
                    <a:pt x="329912" y="265468"/>
                  </a:lnTo>
                  <a:lnTo>
                    <a:pt x="330783" y="315164"/>
                  </a:lnTo>
                  <a:lnTo>
                    <a:pt x="331470" y="357386"/>
                  </a:lnTo>
                </a:path>
              </a:pathLst>
            </a:custGeom>
            <a:ln w="3175">
              <a:solidFill>
                <a:srgbClr val="000000"/>
              </a:solidFill>
            </a:ln>
          </p:spPr>
          <p:txBody>
            <a:bodyPr wrap="square" lIns="0" tIns="0" rIns="0" bIns="0" rtlCol="0"/>
            <a:lstStyle/>
            <a:p>
              <a:endParaRPr/>
            </a:p>
          </p:txBody>
        </p:sp>
        <p:sp>
          <p:nvSpPr>
            <p:cNvPr id="92" name="object 92"/>
            <p:cNvSpPr/>
            <p:nvPr/>
          </p:nvSpPr>
          <p:spPr>
            <a:xfrm>
              <a:off x="6100569" y="4174235"/>
              <a:ext cx="56515" cy="71755"/>
            </a:xfrm>
            <a:custGeom>
              <a:avLst/>
              <a:gdLst/>
              <a:ahLst/>
              <a:cxnLst/>
              <a:rect l="l" t="t" r="r" b="b"/>
              <a:pathLst>
                <a:path w="56514" h="71754">
                  <a:moveTo>
                    <a:pt x="29715" y="71633"/>
                  </a:moveTo>
                  <a:lnTo>
                    <a:pt x="0" y="0"/>
                  </a:lnTo>
                  <a:lnTo>
                    <a:pt x="56397" y="0"/>
                  </a:lnTo>
                  <a:lnTo>
                    <a:pt x="29715" y="71633"/>
                  </a:lnTo>
                  <a:close/>
                </a:path>
              </a:pathLst>
            </a:custGeom>
            <a:solidFill>
              <a:srgbClr val="000000"/>
            </a:solidFill>
          </p:spPr>
          <p:txBody>
            <a:bodyPr wrap="square" lIns="0" tIns="0" rIns="0" bIns="0" rtlCol="0"/>
            <a:lstStyle/>
            <a:p>
              <a:endParaRPr/>
            </a:p>
          </p:txBody>
        </p:sp>
        <p:sp>
          <p:nvSpPr>
            <p:cNvPr id="93" name="object 93"/>
            <p:cNvSpPr/>
            <p:nvPr/>
          </p:nvSpPr>
          <p:spPr>
            <a:xfrm>
              <a:off x="6100569" y="4174235"/>
              <a:ext cx="56515" cy="71755"/>
            </a:xfrm>
            <a:custGeom>
              <a:avLst/>
              <a:gdLst/>
              <a:ahLst/>
              <a:cxnLst/>
              <a:rect l="l" t="t" r="r" b="b"/>
              <a:pathLst>
                <a:path w="56514" h="71754">
                  <a:moveTo>
                    <a:pt x="56397" y="0"/>
                  </a:moveTo>
                  <a:lnTo>
                    <a:pt x="29715" y="71633"/>
                  </a:lnTo>
                  <a:lnTo>
                    <a:pt x="0" y="0"/>
                  </a:lnTo>
                  <a:lnTo>
                    <a:pt x="56397" y="0"/>
                  </a:lnTo>
                  <a:close/>
                </a:path>
              </a:pathLst>
            </a:custGeom>
            <a:ln w="3270">
              <a:solidFill>
                <a:srgbClr val="000000"/>
              </a:solidFill>
            </a:ln>
          </p:spPr>
          <p:txBody>
            <a:bodyPr wrap="square" lIns="0" tIns="0" rIns="0" bIns="0" rtlCol="0"/>
            <a:lstStyle/>
            <a:p>
              <a:endParaRPr/>
            </a:p>
          </p:txBody>
        </p:sp>
      </p:grpSp>
      <p:sp>
        <p:nvSpPr>
          <p:cNvPr id="94" name="object 94"/>
          <p:cNvSpPr txBox="1"/>
          <p:nvPr/>
        </p:nvSpPr>
        <p:spPr>
          <a:xfrm>
            <a:off x="7373366" y="3901931"/>
            <a:ext cx="534035" cy="161925"/>
          </a:xfrm>
          <a:prstGeom prst="rect">
            <a:avLst/>
          </a:prstGeom>
        </p:spPr>
        <p:txBody>
          <a:bodyPr vert="horz" wrap="square" lIns="0" tIns="11430" rIns="0" bIns="0" rtlCol="0">
            <a:spAutoFit/>
          </a:bodyPr>
          <a:lstStyle/>
          <a:p>
            <a:pPr marL="12700">
              <a:lnSpc>
                <a:spcPct val="100000"/>
              </a:lnSpc>
              <a:spcBef>
                <a:spcPts val="90"/>
              </a:spcBef>
            </a:pPr>
            <a:r>
              <a:rPr sz="900" b="1" spc="20" dirty="0">
                <a:latin typeface="Arial"/>
                <a:cs typeface="Arial"/>
              </a:rPr>
              <a:t>c </a:t>
            </a:r>
            <a:r>
              <a:rPr sz="900" b="1" spc="-5" dirty="0">
                <a:latin typeface="Arial"/>
                <a:cs typeface="Arial"/>
              </a:rPr>
              <a:t>o l o u</a:t>
            </a:r>
            <a:r>
              <a:rPr sz="900" b="1" spc="-110" dirty="0">
                <a:latin typeface="Arial"/>
                <a:cs typeface="Arial"/>
              </a:rPr>
              <a:t> </a:t>
            </a:r>
            <a:r>
              <a:rPr sz="900" b="1" spc="-5" dirty="0">
                <a:latin typeface="Arial"/>
                <a:cs typeface="Arial"/>
              </a:rPr>
              <a:t>r</a:t>
            </a:r>
            <a:endParaRPr sz="900">
              <a:latin typeface="Arial"/>
              <a:cs typeface="Arial"/>
            </a:endParaRPr>
          </a:p>
        </p:txBody>
      </p:sp>
      <p:sp>
        <p:nvSpPr>
          <p:cNvPr id="95" name="object 95"/>
          <p:cNvSpPr/>
          <p:nvPr/>
        </p:nvSpPr>
        <p:spPr>
          <a:xfrm>
            <a:off x="7324407" y="3888482"/>
            <a:ext cx="9525" cy="485775"/>
          </a:xfrm>
          <a:custGeom>
            <a:avLst/>
            <a:gdLst/>
            <a:ahLst/>
            <a:cxnLst/>
            <a:rect l="l" t="t" r="r" b="b"/>
            <a:pathLst>
              <a:path w="9525" h="485775">
                <a:moveTo>
                  <a:pt x="9078" y="0"/>
                </a:moveTo>
                <a:lnTo>
                  <a:pt x="9078" y="241555"/>
                </a:lnTo>
                <a:lnTo>
                  <a:pt x="5276" y="347481"/>
                </a:lnTo>
                <a:lnTo>
                  <a:pt x="1457" y="450348"/>
                </a:lnTo>
                <a:lnTo>
                  <a:pt x="0" y="485397"/>
                </a:lnTo>
              </a:path>
            </a:pathLst>
          </a:custGeom>
          <a:ln w="3770">
            <a:solidFill>
              <a:srgbClr val="000000"/>
            </a:solidFill>
          </a:ln>
        </p:spPr>
        <p:txBody>
          <a:bodyPr wrap="square" lIns="0" tIns="0" rIns="0" bIns="0" rtlCol="0"/>
          <a:lstStyle/>
          <a:p>
            <a:endParaRPr/>
          </a:p>
        </p:txBody>
      </p:sp>
      <p:graphicFrame>
        <p:nvGraphicFramePr>
          <p:cNvPr id="96" name="object 96"/>
          <p:cNvGraphicFramePr>
            <a:graphicFrameLocks noGrp="1"/>
          </p:cNvGraphicFramePr>
          <p:nvPr/>
        </p:nvGraphicFramePr>
        <p:xfrm>
          <a:off x="1803766" y="3455787"/>
          <a:ext cx="1094105" cy="1216913"/>
        </p:xfrm>
        <a:graphic>
          <a:graphicData uri="http://schemas.openxmlformats.org/drawingml/2006/table">
            <a:tbl>
              <a:tblPr firstRow="1" bandRow="1">
                <a:tableStyleId>{2D5ABB26-0587-4C30-8999-92F81FD0307C}</a:tableStyleId>
              </a:tblPr>
              <a:tblGrid>
                <a:gridCol w="551180">
                  <a:extLst>
                    <a:ext uri="{9D8B030D-6E8A-4147-A177-3AD203B41FA5}">
                      <a16:colId xmlns:a16="http://schemas.microsoft.com/office/drawing/2014/main" val="20000"/>
                    </a:ext>
                  </a:extLst>
                </a:gridCol>
                <a:gridCol w="542925">
                  <a:extLst>
                    <a:ext uri="{9D8B030D-6E8A-4147-A177-3AD203B41FA5}">
                      <a16:colId xmlns:a16="http://schemas.microsoft.com/office/drawing/2014/main" val="20001"/>
                    </a:ext>
                  </a:extLst>
                </a:gridCol>
              </a:tblGrid>
              <a:tr h="431288">
                <a:tc gridSpan="2">
                  <a:txBody>
                    <a:bodyPr/>
                    <a:lstStyle/>
                    <a:p>
                      <a:pPr>
                        <a:lnSpc>
                          <a:spcPct val="100000"/>
                        </a:lnSpc>
                        <a:spcBef>
                          <a:spcPts val="25"/>
                        </a:spcBef>
                      </a:pPr>
                      <a:endParaRPr sz="950">
                        <a:latin typeface="Times New Roman"/>
                        <a:cs typeface="Times New Roman"/>
                      </a:endParaRPr>
                    </a:p>
                    <a:p>
                      <a:pPr marL="184785">
                        <a:lnSpc>
                          <a:spcPct val="100000"/>
                        </a:lnSpc>
                      </a:pPr>
                      <a:r>
                        <a:rPr sz="1100" b="1" spc="60" dirty="0">
                          <a:latin typeface="Arial"/>
                          <a:cs typeface="Arial"/>
                        </a:rPr>
                        <a:t>o</a:t>
                      </a:r>
                      <a:r>
                        <a:rPr sz="1100" b="1" spc="-10" dirty="0">
                          <a:latin typeface="Arial"/>
                          <a:cs typeface="Arial"/>
                        </a:rPr>
                        <a:t> </a:t>
                      </a:r>
                      <a:r>
                        <a:rPr sz="1100" b="1" spc="10" dirty="0">
                          <a:latin typeface="Arial"/>
                          <a:cs typeface="Arial"/>
                        </a:rPr>
                        <a:t>s</a:t>
                      </a:r>
                      <a:r>
                        <a:rPr sz="1100" b="1" spc="5" dirty="0">
                          <a:latin typeface="Arial"/>
                          <a:cs typeface="Arial"/>
                        </a:rPr>
                        <a:t> t</a:t>
                      </a:r>
                      <a:r>
                        <a:rPr sz="1100" b="1" spc="-120" dirty="0">
                          <a:latin typeface="Arial"/>
                          <a:cs typeface="Arial"/>
                        </a:rPr>
                        <a:t> </a:t>
                      </a:r>
                      <a:r>
                        <a:rPr sz="1100" b="1" spc="5" dirty="0">
                          <a:latin typeface="Arial"/>
                          <a:cs typeface="Arial"/>
                        </a:rPr>
                        <a:t>r</a:t>
                      </a:r>
                      <a:r>
                        <a:rPr sz="1100" b="1" spc="-70" dirty="0">
                          <a:latin typeface="Arial"/>
                          <a:cs typeface="Arial"/>
                        </a:rPr>
                        <a:t> </a:t>
                      </a:r>
                      <a:r>
                        <a:rPr sz="1100" b="1" spc="5" dirty="0">
                          <a:latin typeface="Arial"/>
                          <a:cs typeface="Arial"/>
                        </a:rPr>
                        <a:t>i</a:t>
                      </a:r>
                      <a:r>
                        <a:rPr sz="1100" b="1" spc="-145" dirty="0">
                          <a:latin typeface="Arial"/>
                          <a:cs typeface="Arial"/>
                        </a:rPr>
                        <a:t> </a:t>
                      </a:r>
                      <a:r>
                        <a:rPr sz="1100" b="1" spc="10" dirty="0">
                          <a:latin typeface="Arial"/>
                          <a:cs typeface="Arial"/>
                        </a:rPr>
                        <a:t>c </a:t>
                      </a:r>
                      <a:r>
                        <a:rPr sz="1100" b="1" spc="15" dirty="0">
                          <a:latin typeface="Arial"/>
                          <a:cs typeface="Arial"/>
                        </a:rPr>
                        <a:t>h</a:t>
                      </a:r>
                      <a:endParaRPr sz="1100">
                        <a:latin typeface="Arial"/>
                        <a:cs typeface="Arial"/>
                      </a:endParaRPr>
                    </a:p>
                  </a:txBody>
                  <a:tcPr marL="0" marR="0" marT="317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357386">
                <a:tc>
                  <a:txBody>
                    <a:bodyPr/>
                    <a:lstStyle/>
                    <a:p>
                      <a:pPr marL="48260">
                        <a:lnSpc>
                          <a:spcPct val="100000"/>
                        </a:lnSpc>
                        <a:spcBef>
                          <a:spcPts val="195"/>
                        </a:spcBef>
                      </a:pPr>
                      <a:r>
                        <a:rPr sz="900" b="1" spc="-5" dirty="0">
                          <a:latin typeface="Arial"/>
                          <a:cs typeface="Arial"/>
                        </a:rPr>
                        <a:t>l s </a:t>
                      </a:r>
                      <a:r>
                        <a:rPr sz="900" b="1" spc="20" dirty="0">
                          <a:latin typeface="Arial"/>
                          <a:cs typeface="Arial"/>
                        </a:rPr>
                        <a:t>_ </a:t>
                      </a:r>
                      <a:r>
                        <a:rPr sz="900" b="1" spc="-5" dirty="0">
                          <a:latin typeface="Arial"/>
                          <a:cs typeface="Arial"/>
                        </a:rPr>
                        <a:t>b</a:t>
                      </a:r>
                      <a:r>
                        <a:rPr sz="900" b="1" spc="-120" dirty="0">
                          <a:latin typeface="Arial"/>
                          <a:cs typeface="Arial"/>
                        </a:rPr>
                        <a:t> </a:t>
                      </a:r>
                      <a:r>
                        <a:rPr sz="900" b="1" spc="-5" dirty="0">
                          <a:latin typeface="Arial"/>
                          <a:cs typeface="Arial"/>
                        </a:rPr>
                        <a:t>y</a:t>
                      </a:r>
                      <a:endParaRPr sz="900">
                        <a:latin typeface="Arial"/>
                        <a:cs typeface="Arial"/>
                      </a:endParaRPr>
                    </a:p>
                  </a:txBody>
                  <a:tcPr marL="0" marR="0" marT="24765" marB="0">
                    <a:lnR w="6350">
                      <a:solidFill>
                        <a:srgbClr val="000000"/>
                      </a:solidFill>
                      <a:prstDash val="solid"/>
                    </a:lnR>
                    <a:lnT w="3175">
                      <a:solidFill>
                        <a:srgbClr val="000000"/>
                      </a:solidFill>
                      <a:prstDash val="solid"/>
                    </a:lnT>
                    <a:lnB w="3175">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6350">
                      <a:solidFill>
                        <a:srgbClr val="000000"/>
                      </a:solidFill>
                      <a:prstDash val="solid"/>
                    </a:lnL>
                    <a:lnT w="3175">
                      <a:solidFill>
                        <a:srgbClr val="000000"/>
                      </a:solidFill>
                      <a:prstDash val="solid"/>
                    </a:lnT>
                    <a:lnB w="3175">
                      <a:solidFill>
                        <a:srgbClr val="000000"/>
                      </a:solidFill>
                      <a:prstDash val="solid"/>
                    </a:lnB>
                  </a:tcPr>
                </a:tc>
                <a:extLst>
                  <a:ext uri="{0D108BD9-81ED-4DB2-BD59-A6C34878D82A}">
                    <a16:rowId xmlns:a16="http://schemas.microsoft.com/office/drawing/2014/main" val="10001"/>
                  </a:ext>
                </a:extLst>
              </a:tr>
              <a:tr h="128010">
                <a:tc gridSpan="2">
                  <a:txBody>
                    <a:bodyPr/>
                    <a:lstStyle/>
                    <a:p>
                      <a:pPr>
                        <a:lnSpc>
                          <a:spcPct val="100000"/>
                        </a:lnSpc>
                      </a:pPr>
                      <a:endParaRPr sz="700">
                        <a:latin typeface="Times New Roman"/>
                        <a:cs typeface="Times New Roman"/>
                      </a:endParaRPr>
                    </a:p>
                  </a:txBody>
                  <a:tcPr marL="0" marR="0" marT="0"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300229">
                <a:tc gridSpan="2">
                  <a:txBody>
                    <a:bodyPr/>
                    <a:lstStyle/>
                    <a:p>
                      <a:pPr marL="146685">
                        <a:lnSpc>
                          <a:spcPct val="100000"/>
                        </a:lnSpc>
                        <a:spcBef>
                          <a:spcPts val="95"/>
                        </a:spcBef>
                      </a:pPr>
                      <a:r>
                        <a:rPr sz="1100" b="1" spc="15" dirty="0">
                          <a:latin typeface="Arial"/>
                          <a:cs typeface="Arial"/>
                        </a:rPr>
                        <a:t>w </a:t>
                      </a:r>
                      <a:r>
                        <a:rPr sz="1100" b="1" spc="10" dirty="0">
                          <a:latin typeface="Arial"/>
                          <a:cs typeface="Arial"/>
                        </a:rPr>
                        <a:t>a </a:t>
                      </a:r>
                      <a:r>
                        <a:rPr sz="1100" b="1" spc="90" dirty="0">
                          <a:latin typeface="Arial"/>
                          <a:cs typeface="Arial"/>
                        </a:rPr>
                        <a:t>lk in</a:t>
                      </a:r>
                      <a:r>
                        <a:rPr sz="1100" b="1" spc="70" dirty="0">
                          <a:latin typeface="Arial"/>
                          <a:cs typeface="Arial"/>
                        </a:rPr>
                        <a:t> </a:t>
                      </a:r>
                      <a:r>
                        <a:rPr sz="1100" b="1" spc="15" dirty="0">
                          <a:latin typeface="Arial"/>
                          <a:cs typeface="Arial"/>
                        </a:rPr>
                        <a:t>g</a:t>
                      </a:r>
                      <a:endParaRPr sz="1100">
                        <a:latin typeface="Arial"/>
                        <a:cs typeface="Arial"/>
                      </a:endParaRPr>
                    </a:p>
                  </a:txBody>
                  <a:tcPr marL="0" marR="0" marT="1206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97" name="object 97"/>
          <p:cNvSpPr txBox="1"/>
          <p:nvPr/>
        </p:nvSpPr>
        <p:spPr>
          <a:xfrm>
            <a:off x="5855211" y="4373879"/>
            <a:ext cx="1093470" cy="300355"/>
          </a:xfrm>
          <a:prstGeom prst="rect">
            <a:avLst/>
          </a:prstGeom>
          <a:ln w="3175">
            <a:solidFill>
              <a:srgbClr val="000000"/>
            </a:solidFill>
          </a:ln>
        </p:spPr>
        <p:txBody>
          <a:bodyPr vert="horz" wrap="square" lIns="0" tIns="12065" rIns="0" bIns="0" rtlCol="0">
            <a:spAutoFit/>
          </a:bodyPr>
          <a:lstStyle/>
          <a:p>
            <a:pPr marL="214629">
              <a:lnSpc>
                <a:spcPct val="100000"/>
              </a:lnSpc>
              <a:spcBef>
                <a:spcPts val="95"/>
              </a:spcBef>
            </a:pPr>
            <a:r>
              <a:rPr sz="1100" b="1" spc="10" dirty="0">
                <a:latin typeface="Arial"/>
                <a:cs typeface="Arial"/>
              </a:rPr>
              <a:t>y e </a:t>
            </a:r>
            <a:r>
              <a:rPr sz="1100" b="1" spc="114" dirty="0">
                <a:latin typeface="Arial"/>
                <a:cs typeface="Arial"/>
              </a:rPr>
              <a:t>llo</a:t>
            </a:r>
            <a:r>
              <a:rPr sz="1100" b="1" spc="30" dirty="0">
                <a:latin typeface="Arial"/>
                <a:cs typeface="Arial"/>
              </a:rPr>
              <a:t> </a:t>
            </a:r>
            <a:r>
              <a:rPr sz="1100" b="1" spc="15" dirty="0">
                <a:latin typeface="Arial"/>
                <a:cs typeface="Arial"/>
              </a:rPr>
              <a:t>w</a:t>
            </a:r>
            <a:endParaRPr sz="1100">
              <a:latin typeface="Arial"/>
              <a:cs typeface="Arial"/>
            </a:endParaRPr>
          </a:p>
        </p:txBody>
      </p:sp>
      <p:sp>
        <p:nvSpPr>
          <p:cNvPr id="98" name="object 98"/>
          <p:cNvSpPr txBox="1"/>
          <p:nvPr/>
        </p:nvSpPr>
        <p:spPr>
          <a:xfrm>
            <a:off x="5855211" y="4817365"/>
            <a:ext cx="1093470" cy="430530"/>
          </a:xfrm>
          <a:prstGeom prst="rect">
            <a:avLst/>
          </a:prstGeom>
          <a:ln w="3175">
            <a:solidFill>
              <a:srgbClr val="000000"/>
            </a:solidFill>
          </a:ln>
        </p:spPr>
        <p:txBody>
          <a:bodyPr vert="horz" wrap="square" lIns="0" tIns="0" rIns="0" bIns="0" rtlCol="0">
            <a:spAutoFit/>
          </a:bodyPr>
          <a:lstStyle/>
          <a:p>
            <a:pPr>
              <a:lnSpc>
                <a:spcPct val="100000"/>
              </a:lnSpc>
            </a:pPr>
            <a:endParaRPr sz="950">
              <a:latin typeface="Times New Roman"/>
              <a:cs typeface="Times New Roman"/>
            </a:endParaRPr>
          </a:p>
          <a:p>
            <a:pPr marR="29209" algn="ctr">
              <a:lnSpc>
                <a:spcPct val="100000"/>
              </a:lnSpc>
            </a:pPr>
            <a:r>
              <a:rPr sz="1100" b="1" spc="130" dirty="0">
                <a:latin typeface="Arial"/>
                <a:cs typeface="Arial"/>
              </a:rPr>
              <a:t>re</a:t>
            </a:r>
            <a:r>
              <a:rPr sz="1100" b="1" spc="10" dirty="0">
                <a:latin typeface="Arial"/>
                <a:cs typeface="Arial"/>
              </a:rPr>
              <a:t> </a:t>
            </a:r>
            <a:r>
              <a:rPr sz="1100" b="1" spc="15" dirty="0">
                <a:latin typeface="Arial"/>
                <a:cs typeface="Arial"/>
              </a:rPr>
              <a:t>d</a:t>
            </a:r>
            <a:endParaRPr sz="1100">
              <a:latin typeface="Arial"/>
              <a:cs typeface="Arial"/>
            </a:endParaRPr>
          </a:p>
        </p:txBody>
      </p:sp>
      <p:sp>
        <p:nvSpPr>
          <p:cNvPr id="99" name="object 99"/>
          <p:cNvSpPr txBox="1"/>
          <p:nvPr/>
        </p:nvSpPr>
        <p:spPr>
          <a:xfrm>
            <a:off x="2938526" y="4475717"/>
            <a:ext cx="858519"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t</a:t>
            </a:r>
            <a:r>
              <a:rPr sz="900" b="1" spc="-110" dirty="0">
                <a:latin typeface="Arial"/>
                <a:cs typeface="Arial"/>
              </a:rPr>
              <a:t> </a:t>
            </a:r>
            <a:r>
              <a:rPr sz="900" b="1" spc="-5" dirty="0">
                <a:latin typeface="Arial"/>
                <a:cs typeface="Arial"/>
              </a:rPr>
              <a:t>r</a:t>
            </a:r>
            <a:r>
              <a:rPr sz="900" b="1" spc="-70" dirty="0">
                <a:latin typeface="Arial"/>
                <a:cs typeface="Arial"/>
              </a:rPr>
              <a:t> </a:t>
            </a:r>
            <a:r>
              <a:rPr sz="900" b="1" spc="-5" dirty="0">
                <a:latin typeface="Arial"/>
                <a:cs typeface="Arial"/>
              </a:rPr>
              <a:t>a</a:t>
            </a:r>
            <a:r>
              <a:rPr sz="900" b="1" spc="10" dirty="0">
                <a:latin typeface="Arial"/>
                <a:cs typeface="Arial"/>
              </a:rPr>
              <a:t> </a:t>
            </a:r>
            <a:r>
              <a:rPr sz="900" b="1" spc="20" dirty="0">
                <a:latin typeface="Arial"/>
                <a:cs typeface="Arial"/>
              </a:rPr>
              <a:t>v</a:t>
            </a:r>
            <a:r>
              <a:rPr sz="900" b="1" spc="-10" dirty="0">
                <a:latin typeface="Arial"/>
                <a:cs typeface="Arial"/>
              </a:rPr>
              <a:t> </a:t>
            </a:r>
            <a:r>
              <a:rPr sz="900" b="1" spc="-5" dirty="0">
                <a:latin typeface="Arial"/>
                <a:cs typeface="Arial"/>
              </a:rPr>
              <a:t>e</a:t>
            </a:r>
            <a:r>
              <a:rPr sz="900" b="1" spc="10" dirty="0">
                <a:latin typeface="Arial"/>
                <a:cs typeface="Arial"/>
              </a:rPr>
              <a:t> </a:t>
            </a:r>
            <a:r>
              <a:rPr sz="900" b="1" spc="-5" dirty="0">
                <a:latin typeface="Arial"/>
                <a:cs typeface="Arial"/>
              </a:rPr>
              <a:t>l</a:t>
            </a:r>
            <a:r>
              <a:rPr sz="900" b="1" spc="-120" dirty="0">
                <a:latin typeface="Arial"/>
                <a:cs typeface="Arial"/>
              </a:rPr>
              <a:t> </a:t>
            </a:r>
            <a:r>
              <a:rPr sz="900" b="1" spc="20" dirty="0">
                <a:latin typeface="Arial"/>
                <a:cs typeface="Arial"/>
              </a:rPr>
              <a:t>s</a:t>
            </a:r>
            <a:r>
              <a:rPr sz="900" b="1" spc="-10" dirty="0">
                <a:latin typeface="Arial"/>
                <a:cs typeface="Arial"/>
              </a:rPr>
              <a:t> </a:t>
            </a:r>
            <a:r>
              <a:rPr sz="900" b="1" spc="-5" dirty="0">
                <a:latin typeface="Arial"/>
                <a:cs typeface="Arial"/>
              </a:rPr>
              <a:t>_</a:t>
            </a:r>
            <a:r>
              <a:rPr sz="900" b="1" spc="10" dirty="0">
                <a:latin typeface="Arial"/>
                <a:cs typeface="Arial"/>
              </a:rPr>
              <a:t> </a:t>
            </a:r>
            <a:r>
              <a:rPr sz="900" b="1" spc="-5" dirty="0">
                <a:latin typeface="Arial"/>
                <a:cs typeface="Arial"/>
              </a:rPr>
              <a:t>b</a:t>
            </a:r>
            <a:r>
              <a:rPr sz="900" b="1" spc="25" dirty="0">
                <a:latin typeface="Arial"/>
                <a:cs typeface="Arial"/>
              </a:rPr>
              <a:t> </a:t>
            </a:r>
            <a:r>
              <a:rPr sz="900" b="1" spc="-5" dirty="0">
                <a:latin typeface="Arial"/>
                <a:cs typeface="Arial"/>
              </a:rPr>
              <a:t>y</a:t>
            </a:r>
            <a:endParaRPr sz="900">
              <a:latin typeface="Arial"/>
              <a:cs typeface="Arial"/>
            </a:endParaRPr>
          </a:p>
        </p:txBody>
      </p:sp>
      <p:grpSp>
        <p:nvGrpSpPr>
          <p:cNvPr id="100" name="object 100"/>
          <p:cNvGrpSpPr/>
          <p:nvPr/>
        </p:nvGrpSpPr>
        <p:grpSpPr>
          <a:xfrm>
            <a:off x="2897057" y="4371975"/>
            <a:ext cx="4429760" cy="1518920"/>
            <a:chOff x="2897057" y="4371975"/>
            <a:chExt cx="4429760" cy="1518920"/>
          </a:xfrm>
        </p:grpSpPr>
        <p:sp>
          <p:nvSpPr>
            <p:cNvPr id="101" name="object 101"/>
            <p:cNvSpPr/>
            <p:nvPr/>
          </p:nvSpPr>
          <p:spPr>
            <a:xfrm>
              <a:off x="2898644" y="4373880"/>
              <a:ext cx="533400" cy="86995"/>
            </a:xfrm>
            <a:custGeom>
              <a:avLst/>
              <a:gdLst/>
              <a:ahLst/>
              <a:cxnLst/>
              <a:rect l="l" t="t" r="r" b="b"/>
              <a:pathLst>
                <a:path w="533400" h="86995">
                  <a:moveTo>
                    <a:pt x="533082" y="0"/>
                  </a:moveTo>
                  <a:lnTo>
                    <a:pt x="465944" y="35021"/>
                  </a:lnTo>
                  <a:lnTo>
                    <a:pt x="419866" y="50832"/>
                  </a:lnTo>
                  <a:lnTo>
                    <a:pt x="370907" y="63164"/>
                  </a:lnTo>
                  <a:lnTo>
                    <a:pt x="319692" y="72421"/>
                  </a:lnTo>
                  <a:lnTo>
                    <a:pt x="266846" y="79011"/>
                  </a:lnTo>
                  <a:lnTo>
                    <a:pt x="212992" y="83336"/>
                  </a:lnTo>
                  <a:lnTo>
                    <a:pt x="158756" y="85804"/>
                  </a:lnTo>
                  <a:lnTo>
                    <a:pt x="104762" y="86818"/>
                  </a:lnTo>
                  <a:lnTo>
                    <a:pt x="51635" y="86785"/>
                  </a:lnTo>
                  <a:lnTo>
                    <a:pt x="0" y="86109"/>
                  </a:lnTo>
                </a:path>
              </a:pathLst>
            </a:custGeom>
            <a:ln w="3175">
              <a:solidFill>
                <a:srgbClr val="000000"/>
              </a:solidFill>
            </a:ln>
          </p:spPr>
          <p:txBody>
            <a:bodyPr wrap="square" lIns="0" tIns="0" rIns="0" bIns="0" rtlCol="0"/>
            <a:lstStyle/>
            <a:p>
              <a:endParaRPr/>
            </a:p>
          </p:txBody>
        </p:sp>
        <p:sp>
          <p:nvSpPr>
            <p:cNvPr id="102" name="object 102"/>
            <p:cNvSpPr/>
            <p:nvPr/>
          </p:nvSpPr>
          <p:spPr>
            <a:xfrm>
              <a:off x="2898644" y="4442458"/>
              <a:ext cx="113664" cy="37465"/>
            </a:xfrm>
            <a:custGeom>
              <a:avLst/>
              <a:gdLst/>
              <a:ahLst/>
              <a:cxnLst/>
              <a:rect l="l" t="t" r="r" b="b"/>
              <a:pathLst>
                <a:path w="113664" h="37464">
                  <a:moveTo>
                    <a:pt x="113549" y="37340"/>
                  </a:moveTo>
                  <a:lnTo>
                    <a:pt x="0" y="17531"/>
                  </a:lnTo>
                  <a:lnTo>
                    <a:pt x="113549" y="0"/>
                  </a:lnTo>
                  <a:lnTo>
                    <a:pt x="113549" y="37340"/>
                  </a:lnTo>
                  <a:close/>
                </a:path>
              </a:pathLst>
            </a:custGeom>
            <a:solidFill>
              <a:srgbClr val="000000"/>
            </a:solidFill>
          </p:spPr>
          <p:txBody>
            <a:bodyPr wrap="square" lIns="0" tIns="0" rIns="0" bIns="0" rtlCol="0"/>
            <a:lstStyle/>
            <a:p>
              <a:endParaRPr/>
            </a:p>
          </p:txBody>
        </p:sp>
        <p:sp>
          <p:nvSpPr>
            <p:cNvPr id="103" name="object 103"/>
            <p:cNvSpPr/>
            <p:nvPr/>
          </p:nvSpPr>
          <p:spPr>
            <a:xfrm>
              <a:off x="2898644" y="4442458"/>
              <a:ext cx="113664" cy="37465"/>
            </a:xfrm>
            <a:custGeom>
              <a:avLst/>
              <a:gdLst/>
              <a:ahLst/>
              <a:cxnLst/>
              <a:rect l="l" t="t" r="r" b="b"/>
              <a:pathLst>
                <a:path w="113664" h="37464">
                  <a:moveTo>
                    <a:pt x="113549" y="37340"/>
                  </a:moveTo>
                  <a:lnTo>
                    <a:pt x="0" y="17531"/>
                  </a:lnTo>
                  <a:lnTo>
                    <a:pt x="113549" y="0"/>
                  </a:lnTo>
                  <a:lnTo>
                    <a:pt x="113549" y="37340"/>
                  </a:lnTo>
                  <a:close/>
                </a:path>
              </a:pathLst>
            </a:custGeom>
            <a:ln w="3175">
              <a:solidFill>
                <a:srgbClr val="000000"/>
              </a:solidFill>
            </a:ln>
          </p:spPr>
          <p:txBody>
            <a:bodyPr wrap="square" lIns="0" tIns="0" rIns="0" bIns="0" rtlCol="0"/>
            <a:lstStyle/>
            <a:p>
              <a:endParaRPr/>
            </a:p>
          </p:txBody>
        </p:sp>
        <p:sp>
          <p:nvSpPr>
            <p:cNvPr id="104" name="object 104"/>
            <p:cNvSpPr/>
            <p:nvPr/>
          </p:nvSpPr>
          <p:spPr>
            <a:xfrm>
              <a:off x="4162047" y="4373880"/>
              <a:ext cx="0" cy="979169"/>
            </a:xfrm>
            <a:custGeom>
              <a:avLst/>
              <a:gdLst/>
              <a:ahLst/>
              <a:cxnLst/>
              <a:rect l="l" t="t" r="r" b="b"/>
              <a:pathLst>
                <a:path h="979170">
                  <a:moveTo>
                    <a:pt x="0" y="979170"/>
                  </a:moveTo>
                  <a:lnTo>
                    <a:pt x="0" y="979170"/>
                  </a:lnTo>
                  <a:lnTo>
                    <a:pt x="0" y="21462"/>
                  </a:lnTo>
                  <a:lnTo>
                    <a:pt x="0" y="0"/>
                  </a:lnTo>
                </a:path>
              </a:pathLst>
            </a:custGeom>
            <a:ln w="3771">
              <a:solidFill>
                <a:srgbClr val="000000"/>
              </a:solidFill>
            </a:ln>
          </p:spPr>
          <p:txBody>
            <a:bodyPr wrap="square" lIns="0" tIns="0" rIns="0" bIns="0" rtlCol="0"/>
            <a:lstStyle/>
            <a:p>
              <a:endParaRPr/>
            </a:p>
          </p:txBody>
        </p:sp>
        <p:sp>
          <p:nvSpPr>
            <p:cNvPr id="105" name="object 105"/>
            <p:cNvSpPr/>
            <p:nvPr/>
          </p:nvSpPr>
          <p:spPr>
            <a:xfrm>
              <a:off x="5263722" y="4373880"/>
              <a:ext cx="197485" cy="979169"/>
            </a:xfrm>
            <a:custGeom>
              <a:avLst/>
              <a:gdLst/>
              <a:ahLst/>
              <a:cxnLst/>
              <a:rect l="l" t="t" r="r" b="b"/>
              <a:pathLst>
                <a:path w="197485" h="979170">
                  <a:moveTo>
                    <a:pt x="197377" y="979170"/>
                  </a:moveTo>
                  <a:lnTo>
                    <a:pt x="195245" y="906017"/>
                  </a:lnTo>
                  <a:lnTo>
                    <a:pt x="187624" y="800102"/>
                  </a:lnTo>
                  <a:lnTo>
                    <a:pt x="176954" y="716285"/>
                  </a:lnTo>
                  <a:lnTo>
                    <a:pt x="166251" y="669254"/>
                  </a:lnTo>
                  <a:lnTo>
                    <a:pt x="153927" y="620993"/>
                  </a:lnTo>
                  <a:lnTo>
                    <a:pt x="139031" y="572624"/>
                  </a:lnTo>
                  <a:lnTo>
                    <a:pt x="120609" y="525274"/>
                  </a:lnTo>
                  <a:lnTo>
                    <a:pt x="97709" y="480066"/>
                  </a:lnTo>
                  <a:lnTo>
                    <a:pt x="86285" y="445774"/>
                  </a:lnTo>
                  <a:lnTo>
                    <a:pt x="67224" y="408433"/>
                  </a:lnTo>
                  <a:lnTo>
                    <a:pt x="51997" y="364236"/>
                  </a:lnTo>
                  <a:lnTo>
                    <a:pt x="36754" y="310133"/>
                  </a:lnTo>
                  <a:lnTo>
                    <a:pt x="26084" y="240789"/>
                  </a:lnTo>
                  <a:lnTo>
                    <a:pt x="10842" y="157732"/>
                  </a:lnTo>
                  <a:lnTo>
                    <a:pt x="3221" y="54105"/>
                  </a:lnTo>
                  <a:lnTo>
                    <a:pt x="0" y="0"/>
                  </a:lnTo>
                </a:path>
              </a:pathLst>
            </a:custGeom>
            <a:ln w="3720">
              <a:solidFill>
                <a:srgbClr val="000000"/>
              </a:solidFill>
            </a:ln>
          </p:spPr>
          <p:txBody>
            <a:bodyPr wrap="square" lIns="0" tIns="0" rIns="0" bIns="0" rtlCol="0"/>
            <a:lstStyle/>
            <a:p>
              <a:endParaRPr/>
            </a:p>
          </p:txBody>
        </p:sp>
        <p:sp>
          <p:nvSpPr>
            <p:cNvPr id="106" name="object 106"/>
            <p:cNvSpPr/>
            <p:nvPr/>
          </p:nvSpPr>
          <p:spPr>
            <a:xfrm>
              <a:off x="6948683" y="4373880"/>
              <a:ext cx="375920" cy="657860"/>
            </a:xfrm>
            <a:custGeom>
              <a:avLst/>
              <a:gdLst/>
              <a:ahLst/>
              <a:cxnLst/>
              <a:rect l="l" t="t" r="r" b="b"/>
              <a:pathLst>
                <a:path w="375920" h="657860">
                  <a:moveTo>
                    <a:pt x="375724" y="0"/>
                  </a:moveTo>
                  <a:lnTo>
                    <a:pt x="373379" y="56394"/>
                  </a:lnTo>
                  <a:lnTo>
                    <a:pt x="361939" y="140211"/>
                  </a:lnTo>
                  <a:lnTo>
                    <a:pt x="358136" y="216412"/>
                  </a:lnTo>
                  <a:lnTo>
                    <a:pt x="350515" y="288035"/>
                  </a:lnTo>
                  <a:lnTo>
                    <a:pt x="335273" y="352042"/>
                  </a:lnTo>
                  <a:lnTo>
                    <a:pt x="326761" y="399462"/>
                  </a:lnTo>
                  <a:lnTo>
                    <a:pt x="317141" y="443584"/>
                  </a:lnTo>
                  <a:lnTo>
                    <a:pt x="304233" y="486171"/>
                  </a:lnTo>
                  <a:lnTo>
                    <a:pt x="285855" y="528985"/>
                  </a:lnTo>
                  <a:lnTo>
                    <a:pt x="259830" y="573788"/>
                  </a:lnTo>
                  <a:lnTo>
                    <a:pt x="215770" y="624380"/>
                  </a:lnTo>
                  <a:lnTo>
                    <a:pt x="182525" y="643827"/>
                  </a:lnTo>
                  <a:lnTo>
                    <a:pt x="143248" y="657605"/>
                  </a:lnTo>
                  <a:lnTo>
                    <a:pt x="0" y="657605"/>
                  </a:lnTo>
                </a:path>
              </a:pathLst>
            </a:custGeom>
            <a:ln w="3449">
              <a:solidFill>
                <a:srgbClr val="000000"/>
              </a:solidFill>
            </a:ln>
          </p:spPr>
          <p:txBody>
            <a:bodyPr wrap="square" lIns="0" tIns="0" rIns="0" bIns="0" rtlCol="0"/>
            <a:lstStyle/>
            <a:p>
              <a:endParaRPr/>
            </a:p>
          </p:txBody>
        </p:sp>
        <p:sp>
          <p:nvSpPr>
            <p:cNvPr id="107" name="object 107"/>
            <p:cNvSpPr/>
            <p:nvPr/>
          </p:nvSpPr>
          <p:spPr>
            <a:xfrm>
              <a:off x="6948683" y="5013964"/>
              <a:ext cx="109220" cy="37465"/>
            </a:xfrm>
            <a:custGeom>
              <a:avLst/>
              <a:gdLst/>
              <a:ahLst/>
              <a:cxnLst/>
              <a:rect l="l" t="t" r="r" b="b"/>
              <a:pathLst>
                <a:path w="109220" h="37464">
                  <a:moveTo>
                    <a:pt x="108960" y="37330"/>
                  </a:moveTo>
                  <a:lnTo>
                    <a:pt x="0" y="17520"/>
                  </a:lnTo>
                  <a:lnTo>
                    <a:pt x="108960" y="0"/>
                  </a:lnTo>
                  <a:lnTo>
                    <a:pt x="108960" y="37330"/>
                  </a:lnTo>
                  <a:close/>
                </a:path>
              </a:pathLst>
            </a:custGeom>
            <a:solidFill>
              <a:srgbClr val="000000"/>
            </a:solidFill>
          </p:spPr>
          <p:txBody>
            <a:bodyPr wrap="square" lIns="0" tIns="0" rIns="0" bIns="0" rtlCol="0"/>
            <a:lstStyle/>
            <a:p>
              <a:endParaRPr/>
            </a:p>
          </p:txBody>
        </p:sp>
        <p:sp>
          <p:nvSpPr>
            <p:cNvPr id="108" name="object 108"/>
            <p:cNvSpPr/>
            <p:nvPr/>
          </p:nvSpPr>
          <p:spPr>
            <a:xfrm>
              <a:off x="3336042" y="5013964"/>
              <a:ext cx="3721735" cy="875030"/>
            </a:xfrm>
            <a:custGeom>
              <a:avLst/>
              <a:gdLst/>
              <a:ahLst/>
              <a:cxnLst/>
              <a:rect l="l" t="t" r="r" b="b"/>
              <a:pathLst>
                <a:path w="3721734" h="875029">
                  <a:moveTo>
                    <a:pt x="3721600" y="37330"/>
                  </a:moveTo>
                  <a:lnTo>
                    <a:pt x="3612640" y="17520"/>
                  </a:lnTo>
                  <a:lnTo>
                    <a:pt x="3721600" y="0"/>
                  </a:lnTo>
                  <a:lnTo>
                    <a:pt x="3721600" y="37330"/>
                  </a:lnTo>
                  <a:close/>
                </a:path>
                <a:path w="3721734" h="875029">
                  <a:moveTo>
                    <a:pt x="0" y="445771"/>
                  </a:moveTo>
                  <a:lnTo>
                    <a:pt x="1093471" y="445771"/>
                  </a:lnTo>
                  <a:lnTo>
                    <a:pt x="1093471" y="874780"/>
                  </a:lnTo>
                  <a:lnTo>
                    <a:pt x="0" y="874780"/>
                  </a:lnTo>
                  <a:lnTo>
                    <a:pt x="0" y="445771"/>
                  </a:lnTo>
                  <a:close/>
                </a:path>
              </a:pathLst>
            </a:custGeom>
            <a:ln w="3175">
              <a:solidFill>
                <a:srgbClr val="000000"/>
              </a:solidFill>
            </a:ln>
          </p:spPr>
          <p:txBody>
            <a:bodyPr wrap="square" lIns="0" tIns="0" rIns="0" bIns="0" rtlCol="0"/>
            <a:lstStyle/>
            <a:p>
              <a:endParaRPr/>
            </a:p>
          </p:txBody>
        </p:sp>
      </p:grpSp>
      <p:sp>
        <p:nvSpPr>
          <p:cNvPr id="109" name="object 109"/>
          <p:cNvSpPr txBox="1"/>
          <p:nvPr/>
        </p:nvSpPr>
        <p:spPr>
          <a:xfrm>
            <a:off x="3595370" y="5586112"/>
            <a:ext cx="584200" cy="196850"/>
          </a:xfrm>
          <a:prstGeom prst="rect">
            <a:avLst/>
          </a:prstGeom>
        </p:spPr>
        <p:txBody>
          <a:bodyPr vert="horz" wrap="square" lIns="0" tIns="15875" rIns="0" bIns="0" rtlCol="0">
            <a:spAutoFit/>
          </a:bodyPr>
          <a:lstStyle/>
          <a:p>
            <a:pPr marL="12700">
              <a:lnSpc>
                <a:spcPct val="100000"/>
              </a:lnSpc>
              <a:spcBef>
                <a:spcPts val="125"/>
              </a:spcBef>
            </a:pPr>
            <a:r>
              <a:rPr sz="1100" b="1" spc="15" dirty="0">
                <a:latin typeface="Arial"/>
                <a:cs typeface="Arial"/>
              </a:rPr>
              <a:t>O p </a:t>
            </a:r>
            <a:r>
              <a:rPr sz="1100" b="1" spc="65" dirty="0">
                <a:latin typeface="Arial"/>
                <a:cs typeface="Arial"/>
              </a:rPr>
              <a:t>u</a:t>
            </a:r>
            <a:r>
              <a:rPr sz="1100" b="1" spc="100" dirty="0">
                <a:latin typeface="Arial"/>
                <a:cs typeface="Arial"/>
              </a:rPr>
              <a:t> </a:t>
            </a:r>
            <a:r>
              <a:rPr sz="1100" b="1" spc="10" dirty="0">
                <a:latin typeface="Arial"/>
                <a:cs typeface="Arial"/>
              </a:rPr>
              <a:t>s</a:t>
            </a:r>
            <a:r>
              <a:rPr sz="1100" b="1" spc="50" dirty="0">
                <a:latin typeface="Arial"/>
                <a:cs typeface="Arial"/>
              </a:rPr>
              <a:t> </a:t>
            </a:r>
            <a:endParaRPr sz="1100">
              <a:latin typeface="Arial"/>
              <a:cs typeface="Arial"/>
            </a:endParaRPr>
          </a:p>
        </p:txBody>
      </p:sp>
      <p:sp>
        <p:nvSpPr>
          <p:cNvPr id="110" name="object 110"/>
          <p:cNvSpPr/>
          <p:nvPr/>
        </p:nvSpPr>
        <p:spPr>
          <a:xfrm>
            <a:off x="6838952" y="6105144"/>
            <a:ext cx="1094740" cy="227329"/>
          </a:xfrm>
          <a:custGeom>
            <a:avLst/>
            <a:gdLst/>
            <a:ahLst/>
            <a:cxnLst/>
            <a:rect l="l" t="t" r="r" b="b"/>
            <a:pathLst>
              <a:path w="1094740" h="227329">
                <a:moveTo>
                  <a:pt x="0" y="0"/>
                </a:moveTo>
                <a:lnTo>
                  <a:pt x="1094226" y="0"/>
                </a:lnTo>
                <a:lnTo>
                  <a:pt x="1094226" y="227076"/>
                </a:lnTo>
                <a:lnTo>
                  <a:pt x="0" y="227076"/>
                </a:lnTo>
                <a:lnTo>
                  <a:pt x="0" y="0"/>
                </a:lnTo>
              </a:path>
            </a:pathLst>
          </a:custGeom>
          <a:ln w="3175">
            <a:solidFill>
              <a:srgbClr val="000000"/>
            </a:solidFill>
          </a:ln>
        </p:spPr>
        <p:txBody>
          <a:bodyPr wrap="square" lIns="0" tIns="0" rIns="0" bIns="0" rtlCol="0"/>
          <a:lstStyle/>
          <a:p>
            <a:endParaRPr/>
          </a:p>
        </p:txBody>
      </p:sp>
      <p:sp>
        <p:nvSpPr>
          <p:cNvPr id="111" name="object 111"/>
          <p:cNvSpPr txBox="1"/>
          <p:nvPr/>
        </p:nvSpPr>
        <p:spPr>
          <a:xfrm>
            <a:off x="3127501" y="5268959"/>
            <a:ext cx="975360"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i n s t </a:t>
            </a:r>
            <a:r>
              <a:rPr sz="900" b="1" spc="15" dirty="0">
                <a:latin typeface="Arial"/>
                <a:cs typeface="Arial"/>
              </a:rPr>
              <a:t>a </a:t>
            </a:r>
            <a:r>
              <a:rPr sz="900" b="1" spc="-5" dirty="0">
                <a:latin typeface="Arial"/>
                <a:cs typeface="Arial"/>
              </a:rPr>
              <a:t>n c e _ o</a:t>
            </a:r>
            <a:r>
              <a:rPr sz="900" b="1" spc="-85" dirty="0">
                <a:latin typeface="Arial"/>
                <a:cs typeface="Arial"/>
              </a:rPr>
              <a:t> </a:t>
            </a:r>
            <a:r>
              <a:rPr sz="900" b="1" spc="-5" dirty="0">
                <a:latin typeface="Arial"/>
                <a:cs typeface="Arial"/>
              </a:rPr>
              <a:t>f</a:t>
            </a:r>
            <a:endParaRPr sz="900">
              <a:latin typeface="Arial"/>
              <a:cs typeface="Arial"/>
            </a:endParaRPr>
          </a:p>
        </p:txBody>
      </p:sp>
      <p:sp>
        <p:nvSpPr>
          <p:cNvPr id="112" name="object 112"/>
          <p:cNvSpPr/>
          <p:nvPr/>
        </p:nvSpPr>
        <p:spPr>
          <a:xfrm>
            <a:off x="4162047" y="5353050"/>
            <a:ext cx="0" cy="106680"/>
          </a:xfrm>
          <a:custGeom>
            <a:avLst/>
            <a:gdLst/>
            <a:ahLst/>
            <a:cxnLst/>
            <a:rect l="l" t="t" r="r" b="b"/>
            <a:pathLst>
              <a:path h="106679">
                <a:moveTo>
                  <a:pt x="0" y="106685"/>
                </a:moveTo>
                <a:lnTo>
                  <a:pt x="0" y="56000"/>
                </a:lnTo>
                <a:lnTo>
                  <a:pt x="0" y="5315"/>
                </a:lnTo>
                <a:lnTo>
                  <a:pt x="0" y="0"/>
                </a:lnTo>
              </a:path>
            </a:pathLst>
          </a:custGeom>
          <a:ln w="3771">
            <a:solidFill>
              <a:srgbClr val="000000"/>
            </a:solidFill>
          </a:ln>
        </p:spPr>
        <p:txBody>
          <a:bodyPr wrap="square" lIns="0" tIns="0" rIns="0" bIns="0" rtlCol="0"/>
          <a:lstStyle/>
          <a:p>
            <a:endParaRPr/>
          </a:p>
        </p:txBody>
      </p:sp>
      <p:graphicFrame>
        <p:nvGraphicFramePr>
          <p:cNvPr id="113" name="object 113"/>
          <p:cNvGraphicFramePr>
            <a:graphicFrameLocks noGrp="1"/>
          </p:cNvGraphicFramePr>
          <p:nvPr/>
        </p:nvGraphicFramePr>
        <p:xfrm>
          <a:off x="5197716" y="5353050"/>
          <a:ext cx="1139824" cy="823726"/>
        </p:xfrm>
        <a:graphic>
          <a:graphicData uri="http://schemas.openxmlformats.org/drawingml/2006/table">
            <a:tbl>
              <a:tblPr firstRow="1" bandRow="1">
                <a:tableStyleId>{2D5ABB26-0587-4C30-8999-92F81FD0307C}</a:tableStyleId>
              </a:tblPr>
              <a:tblGrid>
                <a:gridCol w="270510">
                  <a:extLst>
                    <a:ext uri="{9D8B030D-6E8A-4147-A177-3AD203B41FA5}">
                      <a16:colId xmlns:a16="http://schemas.microsoft.com/office/drawing/2014/main" val="20000"/>
                    </a:ext>
                  </a:extLst>
                </a:gridCol>
                <a:gridCol w="869314">
                  <a:extLst>
                    <a:ext uri="{9D8B030D-6E8A-4147-A177-3AD203B41FA5}">
                      <a16:colId xmlns:a16="http://schemas.microsoft.com/office/drawing/2014/main" val="20001"/>
                    </a:ext>
                  </a:extLst>
                </a:gridCol>
              </a:tblGrid>
              <a:tr h="394717">
                <a:tc>
                  <a:txBody>
                    <a:bodyPr/>
                    <a:lstStyle/>
                    <a:p>
                      <a:pPr>
                        <a:lnSpc>
                          <a:spcPct val="100000"/>
                        </a:lnSpc>
                      </a:pPr>
                      <a:endParaRPr sz="1200">
                        <a:latin typeface="Times New Roman"/>
                        <a:cs typeface="Times New Roman"/>
                      </a:endParaRPr>
                    </a:p>
                  </a:txBody>
                  <a:tcPr marL="0" marR="0" marT="0" marB="0">
                    <a:lnR w="19050">
                      <a:solidFill>
                        <a:srgbClr val="000000"/>
                      </a:solidFill>
                      <a:prstDash val="solid"/>
                    </a:lnR>
                    <a:lnB w="3175">
                      <a:solidFill>
                        <a:srgbClr val="000000"/>
                      </a:solidFill>
                      <a:prstDash val="solid"/>
                    </a:lnB>
                  </a:tcPr>
                </a:tc>
                <a:tc>
                  <a:txBody>
                    <a:bodyPr/>
                    <a:lstStyle/>
                    <a:p>
                      <a:pPr marR="39370">
                        <a:lnSpc>
                          <a:spcPct val="100000"/>
                        </a:lnSpc>
                        <a:spcBef>
                          <a:spcPts val="10"/>
                        </a:spcBef>
                      </a:pPr>
                      <a:endParaRPr sz="1450">
                        <a:latin typeface="Times New Roman"/>
                        <a:cs typeface="Times New Roman"/>
                      </a:endParaRPr>
                    </a:p>
                    <a:p>
                      <a:pPr marL="57150">
                        <a:lnSpc>
                          <a:spcPct val="100000"/>
                        </a:lnSpc>
                      </a:pPr>
                      <a:r>
                        <a:rPr sz="900" b="1" spc="-5" dirty="0">
                          <a:latin typeface="Arial"/>
                          <a:cs typeface="Arial"/>
                        </a:rPr>
                        <a:t>i</a:t>
                      </a:r>
                      <a:r>
                        <a:rPr sz="900" b="1" spc="-120" dirty="0">
                          <a:latin typeface="Arial"/>
                          <a:cs typeface="Arial"/>
                        </a:rPr>
                        <a:t> </a:t>
                      </a:r>
                      <a:r>
                        <a:rPr sz="900" b="1" spc="-5" dirty="0">
                          <a:latin typeface="Arial"/>
                          <a:cs typeface="Arial"/>
                        </a:rPr>
                        <a:t>n</a:t>
                      </a:r>
                      <a:r>
                        <a:rPr sz="900" b="1" spc="20" dirty="0">
                          <a:latin typeface="Arial"/>
                          <a:cs typeface="Arial"/>
                        </a:rPr>
                        <a:t> </a:t>
                      </a:r>
                      <a:r>
                        <a:rPr sz="900" b="1" spc="-5" dirty="0">
                          <a:latin typeface="Arial"/>
                          <a:cs typeface="Arial"/>
                        </a:rPr>
                        <a:t>s</a:t>
                      </a:r>
                      <a:r>
                        <a:rPr sz="900" b="1" spc="15" dirty="0">
                          <a:latin typeface="Arial"/>
                          <a:cs typeface="Arial"/>
                        </a:rPr>
                        <a:t> </a:t>
                      </a:r>
                      <a:r>
                        <a:rPr sz="900" b="1" spc="-5" dirty="0">
                          <a:latin typeface="Arial"/>
                          <a:cs typeface="Arial"/>
                        </a:rPr>
                        <a:t>t</a:t>
                      </a:r>
                      <a:r>
                        <a:rPr sz="900" b="1" spc="-110" dirty="0">
                          <a:latin typeface="Arial"/>
                          <a:cs typeface="Arial"/>
                        </a:rPr>
                        <a:t> </a:t>
                      </a:r>
                      <a:r>
                        <a:rPr sz="900" b="1" spc="20" dirty="0">
                          <a:latin typeface="Arial"/>
                          <a:cs typeface="Arial"/>
                        </a:rPr>
                        <a:t>a</a:t>
                      </a:r>
                      <a:r>
                        <a:rPr sz="900" b="1" spc="-15" dirty="0">
                          <a:latin typeface="Arial"/>
                          <a:cs typeface="Arial"/>
                        </a:rPr>
                        <a:t> </a:t>
                      </a:r>
                      <a:r>
                        <a:rPr sz="900" b="1" spc="-5" dirty="0">
                          <a:latin typeface="Arial"/>
                          <a:cs typeface="Arial"/>
                        </a:rPr>
                        <a:t>n</a:t>
                      </a:r>
                      <a:r>
                        <a:rPr sz="900" b="1" spc="20" dirty="0">
                          <a:latin typeface="Arial"/>
                          <a:cs typeface="Arial"/>
                        </a:rPr>
                        <a:t> c</a:t>
                      </a:r>
                      <a:r>
                        <a:rPr sz="900" b="1" spc="-10" dirty="0">
                          <a:latin typeface="Arial"/>
                          <a:cs typeface="Arial"/>
                        </a:rPr>
                        <a:t> </a:t>
                      </a:r>
                      <a:r>
                        <a:rPr sz="900" b="1" spc="20" dirty="0">
                          <a:latin typeface="Arial"/>
                          <a:cs typeface="Arial"/>
                        </a:rPr>
                        <a:t>e</a:t>
                      </a:r>
                      <a:r>
                        <a:rPr sz="900" b="1" spc="-10" dirty="0">
                          <a:latin typeface="Arial"/>
                          <a:cs typeface="Arial"/>
                        </a:rPr>
                        <a:t> </a:t>
                      </a:r>
                      <a:r>
                        <a:rPr sz="900" b="1" spc="-5" dirty="0">
                          <a:latin typeface="Arial"/>
                          <a:cs typeface="Arial"/>
                        </a:rPr>
                        <a:t>_</a:t>
                      </a:r>
                      <a:r>
                        <a:rPr sz="900" b="1" spc="25" dirty="0">
                          <a:latin typeface="Arial"/>
                          <a:cs typeface="Arial"/>
                        </a:rPr>
                        <a:t> </a:t>
                      </a:r>
                      <a:endParaRPr sz="900">
                        <a:latin typeface="Arial"/>
                        <a:cs typeface="Arial"/>
                      </a:endParaRPr>
                    </a:p>
                  </a:txBody>
                  <a:tcPr marL="0" marR="0" marT="1270" marB="0">
                    <a:lnL w="19050">
                      <a:solidFill>
                        <a:srgbClr val="000000"/>
                      </a:solidFill>
                      <a:prstDash val="solid"/>
                    </a:lnL>
                    <a:lnB w="3175">
                      <a:solidFill>
                        <a:srgbClr val="000000"/>
                      </a:solidFill>
                      <a:prstDash val="solid"/>
                    </a:lnB>
                  </a:tcPr>
                </a:tc>
                <a:extLst>
                  <a:ext uri="{0D108BD9-81ED-4DB2-BD59-A6C34878D82A}">
                    <a16:rowId xmlns:a16="http://schemas.microsoft.com/office/drawing/2014/main" val="10000"/>
                  </a:ext>
                </a:extLst>
              </a:tr>
              <a:tr h="429009">
                <a:tc gridSpan="2">
                  <a:txBody>
                    <a:bodyPr/>
                    <a:lstStyle/>
                    <a:p>
                      <a:pPr marR="39370">
                        <a:lnSpc>
                          <a:spcPct val="100000"/>
                        </a:lnSpc>
                        <a:spcBef>
                          <a:spcPts val="5"/>
                        </a:spcBef>
                      </a:pPr>
                      <a:endParaRPr sz="950">
                        <a:latin typeface="Times New Roman"/>
                        <a:cs typeface="Times New Roman"/>
                      </a:endParaRPr>
                    </a:p>
                    <a:p>
                      <a:pPr marL="176530" marR="39370">
                        <a:lnSpc>
                          <a:spcPct val="100000"/>
                        </a:lnSpc>
                        <a:spcBef>
                          <a:spcPts val="5"/>
                        </a:spcBef>
                      </a:pPr>
                      <a:r>
                        <a:rPr sz="1100" b="1" spc="65" dirty="0">
                          <a:latin typeface="Arial"/>
                          <a:cs typeface="Arial"/>
                        </a:rPr>
                        <a:t>T </a:t>
                      </a:r>
                      <a:r>
                        <a:rPr sz="1100" b="1" spc="15" dirty="0">
                          <a:latin typeface="Arial"/>
                          <a:cs typeface="Arial"/>
                        </a:rPr>
                        <a:t>w </a:t>
                      </a:r>
                      <a:r>
                        <a:rPr sz="1100" b="1" spc="10" dirty="0">
                          <a:latin typeface="Arial"/>
                          <a:cs typeface="Arial"/>
                        </a:rPr>
                        <a:t>e e </a:t>
                      </a:r>
                      <a:r>
                        <a:rPr sz="1100" b="1" spc="5" dirty="0">
                          <a:latin typeface="Arial"/>
                          <a:cs typeface="Arial"/>
                        </a:rPr>
                        <a:t>t</a:t>
                      </a:r>
                      <a:r>
                        <a:rPr sz="1100" b="1" spc="-75" dirty="0">
                          <a:latin typeface="Arial"/>
                          <a:cs typeface="Arial"/>
                        </a:rPr>
                        <a:t> </a:t>
                      </a:r>
                      <a:r>
                        <a:rPr sz="1100" b="1" spc="10" dirty="0">
                          <a:latin typeface="Arial"/>
                          <a:cs typeface="Arial"/>
                        </a:rPr>
                        <a:t>y</a:t>
                      </a:r>
                      <a:endParaRPr sz="1100">
                        <a:latin typeface="Arial"/>
                        <a:cs typeface="Arial"/>
                      </a:endParaRPr>
                    </a:p>
                  </a:txBody>
                  <a:tcPr marL="0" marR="0" marT="635" marB="0">
                    <a:lnL w="3175">
                      <a:solidFill>
                        <a:srgbClr val="000000"/>
                      </a:solidFill>
                      <a:prstDash val="solid"/>
                    </a:lnL>
                    <a:lnR w="3175">
                      <a:solidFill>
                        <a:srgbClr val="000000"/>
                      </a:solidFill>
                      <a:prstDash val="solid"/>
                    </a:lnR>
                    <a:lnT w="3175">
                      <a:solidFill>
                        <a:srgbClr val="000000"/>
                      </a:solidFill>
                      <a:prstDash val="solid"/>
                    </a:lnT>
                    <a:lnB w="3175">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1"/>
                  </a:ext>
                </a:extLst>
              </a:tr>
            </a:tbl>
          </a:graphicData>
        </a:graphic>
      </p:graphicFrame>
      <p:sp>
        <p:nvSpPr>
          <p:cNvPr id="114" name="object 114"/>
          <p:cNvSpPr txBox="1"/>
          <p:nvPr/>
        </p:nvSpPr>
        <p:spPr>
          <a:xfrm>
            <a:off x="6320949" y="5554709"/>
            <a:ext cx="169545" cy="161925"/>
          </a:xfrm>
          <a:prstGeom prst="rect">
            <a:avLst/>
          </a:prstGeom>
        </p:spPr>
        <p:txBody>
          <a:bodyPr vert="horz" wrap="square" lIns="0" tIns="11430" rIns="0" bIns="0" rtlCol="0">
            <a:spAutoFit/>
          </a:bodyPr>
          <a:lstStyle/>
          <a:p>
            <a:pPr marL="12700">
              <a:lnSpc>
                <a:spcPct val="100000"/>
              </a:lnSpc>
              <a:spcBef>
                <a:spcPts val="90"/>
              </a:spcBef>
            </a:pPr>
            <a:r>
              <a:rPr sz="900" b="1" spc="-5" dirty="0">
                <a:latin typeface="Arial"/>
                <a:cs typeface="Arial"/>
              </a:rPr>
              <a:t>o</a:t>
            </a:r>
            <a:r>
              <a:rPr sz="900" b="1" spc="-40" dirty="0">
                <a:latin typeface="Arial"/>
                <a:cs typeface="Arial"/>
              </a:rPr>
              <a:t> </a:t>
            </a:r>
            <a:r>
              <a:rPr sz="900" b="1" spc="-5" dirty="0">
                <a:latin typeface="Arial"/>
                <a:cs typeface="Arial"/>
              </a:rPr>
              <a:t>f</a:t>
            </a:r>
            <a:endParaRPr sz="900">
              <a:latin typeface="Arial"/>
              <a:cs typeface="Arial"/>
            </a:endParaRPr>
          </a:p>
        </p:txBody>
      </p:sp>
      <p:sp>
        <p:nvSpPr>
          <p:cNvPr id="115" name="object 115"/>
          <p:cNvSpPr txBox="1"/>
          <p:nvPr/>
        </p:nvSpPr>
        <p:spPr>
          <a:xfrm>
            <a:off x="5148326" y="6192503"/>
            <a:ext cx="534035" cy="161925"/>
          </a:xfrm>
          <a:prstGeom prst="rect">
            <a:avLst/>
          </a:prstGeom>
        </p:spPr>
        <p:txBody>
          <a:bodyPr vert="horz" wrap="square" lIns="0" tIns="11430" rIns="0" bIns="0" rtlCol="0">
            <a:spAutoFit/>
          </a:bodyPr>
          <a:lstStyle/>
          <a:p>
            <a:pPr marL="12700">
              <a:lnSpc>
                <a:spcPct val="100000"/>
              </a:lnSpc>
              <a:spcBef>
                <a:spcPts val="90"/>
              </a:spcBef>
            </a:pPr>
            <a:r>
              <a:rPr sz="900" b="1" spc="20" dirty="0">
                <a:latin typeface="Arial"/>
                <a:cs typeface="Arial"/>
              </a:rPr>
              <a:t>c </a:t>
            </a:r>
            <a:r>
              <a:rPr sz="900" b="1" spc="-5" dirty="0">
                <a:latin typeface="Arial"/>
                <a:cs typeface="Arial"/>
              </a:rPr>
              <a:t>o l o u</a:t>
            </a:r>
            <a:r>
              <a:rPr sz="900" b="1" spc="-110" dirty="0">
                <a:latin typeface="Arial"/>
                <a:cs typeface="Arial"/>
              </a:rPr>
              <a:t> </a:t>
            </a:r>
            <a:r>
              <a:rPr sz="900" b="1" spc="-5" dirty="0">
                <a:latin typeface="Arial"/>
                <a:cs typeface="Arial"/>
              </a:rPr>
              <a:t>r</a:t>
            </a:r>
            <a:endParaRPr sz="900">
              <a:latin typeface="Arial"/>
              <a:cs typeface="Arial"/>
            </a:endParaRPr>
          </a:p>
        </p:txBody>
      </p:sp>
      <p:grpSp>
        <p:nvGrpSpPr>
          <p:cNvPr id="116" name="object 116"/>
          <p:cNvGrpSpPr/>
          <p:nvPr/>
        </p:nvGrpSpPr>
        <p:grpSpPr>
          <a:xfrm>
            <a:off x="5744223" y="6175520"/>
            <a:ext cx="2190750" cy="360045"/>
            <a:chOff x="5744223" y="6175520"/>
            <a:chExt cx="2190750" cy="360045"/>
          </a:xfrm>
        </p:grpSpPr>
        <p:sp>
          <p:nvSpPr>
            <p:cNvPr id="117" name="object 117"/>
            <p:cNvSpPr/>
            <p:nvPr/>
          </p:nvSpPr>
          <p:spPr>
            <a:xfrm>
              <a:off x="5745480" y="6176777"/>
              <a:ext cx="1093470" cy="142875"/>
            </a:xfrm>
            <a:custGeom>
              <a:avLst/>
              <a:gdLst/>
              <a:ahLst/>
              <a:cxnLst/>
              <a:rect l="l" t="t" r="r" b="b"/>
              <a:pathLst>
                <a:path w="1093470" h="142875">
                  <a:moveTo>
                    <a:pt x="0" y="0"/>
                  </a:moveTo>
                  <a:lnTo>
                    <a:pt x="11693" y="39021"/>
                  </a:lnTo>
                  <a:lnTo>
                    <a:pt x="53333" y="68574"/>
                  </a:lnTo>
                  <a:lnTo>
                    <a:pt x="130905" y="96156"/>
                  </a:lnTo>
                  <a:lnTo>
                    <a:pt x="176333" y="106094"/>
                  </a:lnTo>
                  <a:lnTo>
                    <a:pt x="214888" y="110483"/>
                  </a:lnTo>
                  <a:lnTo>
                    <a:pt x="264357" y="119814"/>
                  </a:lnTo>
                  <a:lnTo>
                    <a:pt x="314881" y="125793"/>
                  </a:lnTo>
                  <a:lnTo>
                    <a:pt x="366105" y="129392"/>
                  </a:lnTo>
                  <a:lnTo>
                    <a:pt x="417677" y="131583"/>
                  </a:lnTo>
                  <a:lnTo>
                    <a:pt x="469242" y="133338"/>
                  </a:lnTo>
                  <a:lnTo>
                    <a:pt x="520446" y="135630"/>
                  </a:lnTo>
                  <a:lnTo>
                    <a:pt x="573144" y="137488"/>
                  </a:lnTo>
                  <a:lnTo>
                    <a:pt x="625473" y="139013"/>
                  </a:lnTo>
                  <a:lnTo>
                    <a:pt x="677516" y="140232"/>
                  </a:lnTo>
                  <a:lnTo>
                    <a:pt x="729354" y="141176"/>
                  </a:lnTo>
                  <a:lnTo>
                    <a:pt x="781072" y="141872"/>
                  </a:lnTo>
                  <a:lnTo>
                    <a:pt x="832752" y="142351"/>
                  </a:lnTo>
                  <a:lnTo>
                    <a:pt x="884476" y="142640"/>
                  </a:lnTo>
                  <a:lnTo>
                    <a:pt x="936327" y="142770"/>
                  </a:lnTo>
                  <a:lnTo>
                    <a:pt x="988388" y="142768"/>
                  </a:lnTo>
                  <a:lnTo>
                    <a:pt x="1040742" y="142663"/>
                  </a:lnTo>
                  <a:lnTo>
                    <a:pt x="1093471" y="142486"/>
                  </a:lnTo>
                </a:path>
              </a:pathLst>
            </a:custGeom>
            <a:ln w="3175">
              <a:solidFill>
                <a:srgbClr val="000000"/>
              </a:solidFill>
            </a:ln>
          </p:spPr>
          <p:txBody>
            <a:bodyPr wrap="square" lIns="0" tIns="0" rIns="0" bIns="0" rtlCol="0"/>
            <a:lstStyle/>
            <a:p>
              <a:endParaRPr/>
            </a:p>
          </p:txBody>
        </p:sp>
        <p:sp>
          <p:nvSpPr>
            <p:cNvPr id="118" name="object 118"/>
            <p:cNvSpPr/>
            <p:nvPr/>
          </p:nvSpPr>
          <p:spPr>
            <a:xfrm>
              <a:off x="6729991" y="6302502"/>
              <a:ext cx="109220" cy="29845"/>
            </a:xfrm>
            <a:custGeom>
              <a:avLst/>
              <a:gdLst/>
              <a:ahLst/>
              <a:cxnLst/>
              <a:rect l="l" t="t" r="r" b="b"/>
              <a:pathLst>
                <a:path w="109220" h="29845">
                  <a:moveTo>
                    <a:pt x="37733" y="29717"/>
                  </a:moveTo>
                  <a:lnTo>
                    <a:pt x="0" y="29717"/>
                  </a:lnTo>
                  <a:lnTo>
                    <a:pt x="0" y="0"/>
                  </a:lnTo>
                  <a:lnTo>
                    <a:pt x="108960" y="16761"/>
                  </a:lnTo>
                  <a:lnTo>
                    <a:pt x="37733" y="29717"/>
                  </a:lnTo>
                  <a:close/>
                </a:path>
              </a:pathLst>
            </a:custGeom>
            <a:solidFill>
              <a:srgbClr val="000000"/>
            </a:solidFill>
          </p:spPr>
          <p:txBody>
            <a:bodyPr wrap="square" lIns="0" tIns="0" rIns="0" bIns="0" rtlCol="0"/>
            <a:lstStyle/>
            <a:p>
              <a:endParaRPr/>
            </a:p>
          </p:txBody>
        </p:sp>
        <p:sp>
          <p:nvSpPr>
            <p:cNvPr id="119" name="object 119"/>
            <p:cNvSpPr/>
            <p:nvPr/>
          </p:nvSpPr>
          <p:spPr>
            <a:xfrm>
              <a:off x="6729991" y="6302502"/>
              <a:ext cx="109220" cy="29845"/>
            </a:xfrm>
            <a:custGeom>
              <a:avLst/>
              <a:gdLst/>
              <a:ahLst/>
              <a:cxnLst/>
              <a:rect l="l" t="t" r="r" b="b"/>
              <a:pathLst>
                <a:path w="109220" h="29845">
                  <a:moveTo>
                    <a:pt x="0" y="0"/>
                  </a:moveTo>
                  <a:lnTo>
                    <a:pt x="108960" y="16761"/>
                  </a:lnTo>
                  <a:lnTo>
                    <a:pt x="37733" y="29717"/>
                  </a:lnTo>
                  <a:lnTo>
                    <a:pt x="0" y="29717"/>
                  </a:lnTo>
                  <a:lnTo>
                    <a:pt x="0" y="0"/>
                  </a:lnTo>
                </a:path>
              </a:pathLst>
            </a:custGeom>
            <a:ln w="3175">
              <a:solidFill>
                <a:srgbClr val="000000"/>
              </a:solidFill>
            </a:ln>
          </p:spPr>
          <p:txBody>
            <a:bodyPr wrap="square" lIns="0" tIns="0" rIns="0" bIns="0" rtlCol="0"/>
            <a:lstStyle/>
            <a:p>
              <a:endParaRPr/>
            </a:p>
          </p:txBody>
        </p:sp>
        <p:sp>
          <p:nvSpPr>
            <p:cNvPr id="120" name="object 120"/>
            <p:cNvSpPr/>
            <p:nvPr/>
          </p:nvSpPr>
          <p:spPr>
            <a:xfrm>
              <a:off x="6838952" y="6332219"/>
              <a:ext cx="1094740" cy="201930"/>
            </a:xfrm>
            <a:custGeom>
              <a:avLst/>
              <a:gdLst/>
              <a:ahLst/>
              <a:cxnLst/>
              <a:rect l="l" t="t" r="r" b="b"/>
              <a:pathLst>
                <a:path w="1094740" h="201929">
                  <a:moveTo>
                    <a:pt x="0" y="0"/>
                  </a:moveTo>
                  <a:lnTo>
                    <a:pt x="1094226" y="0"/>
                  </a:lnTo>
                  <a:lnTo>
                    <a:pt x="1094226" y="201933"/>
                  </a:lnTo>
                  <a:lnTo>
                    <a:pt x="0" y="201933"/>
                  </a:lnTo>
                  <a:lnTo>
                    <a:pt x="0" y="0"/>
                  </a:lnTo>
                </a:path>
              </a:pathLst>
            </a:custGeom>
            <a:ln w="3175">
              <a:solidFill>
                <a:srgbClr val="000000"/>
              </a:solidFill>
            </a:ln>
          </p:spPr>
          <p:txBody>
            <a:bodyPr wrap="square" lIns="0" tIns="0" rIns="0" bIns="0" rtlCol="0"/>
            <a:lstStyle/>
            <a:p>
              <a:endParaRPr/>
            </a:p>
          </p:txBody>
        </p:sp>
        <p:sp>
          <p:nvSpPr>
            <p:cNvPr id="121" name="object 121"/>
            <p:cNvSpPr/>
            <p:nvPr/>
          </p:nvSpPr>
          <p:spPr>
            <a:xfrm>
              <a:off x="6729991" y="6332219"/>
              <a:ext cx="38100" cy="6985"/>
            </a:xfrm>
            <a:custGeom>
              <a:avLst/>
              <a:gdLst/>
              <a:ahLst/>
              <a:cxnLst/>
              <a:rect l="l" t="t" r="r" b="b"/>
              <a:pathLst>
                <a:path w="38100" h="6985">
                  <a:moveTo>
                    <a:pt x="0" y="6863"/>
                  </a:moveTo>
                  <a:lnTo>
                    <a:pt x="0" y="0"/>
                  </a:lnTo>
                  <a:lnTo>
                    <a:pt x="37733" y="0"/>
                  </a:lnTo>
                  <a:lnTo>
                    <a:pt x="0" y="6863"/>
                  </a:lnTo>
                  <a:close/>
                </a:path>
              </a:pathLst>
            </a:custGeom>
            <a:solidFill>
              <a:srgbClr val="000000"/>
            </a:solidFill>
          </p:spPr>
          <p:txBody>
            <a:bodyPr wrap="square" lIns="0" tIns="0" rIns="0" bIns="0" rtlCol="0"/>
            <a:lstStyle/>
            <a:p>
              <a:endParaRPr/>
            </a:p>
          </p:txBody>
        </p:sp>
        <p:sp>
          <p:nvSpPr>
            <p:cNvPr id="122" name="object 122"/>
            <p:cNvSpPr/>
            <p:nvPr/>
          </p:nvSpPr>
          <p:spPr>
            <a:xfrm>
              <a:off x="6729991" y="6332219"/>
              <a:ext cx="38100" cy="6985"/>
            </a:xfrm>
            <a:custGeom>
              <a:avLst/>
              <a:gdLst/>
              <a:ahLst/>
              <a:cxnLst/>
              <a:rect l="l" t="t" r="r" b="b"/>
              <a:pathLst>
                <a:path w="38100" h="6985">
                  <a:moveTo>
                    <a:pt x="0" y="0"/>
                  </a:moveTo>
                  <a:lnTo>
                    <a:pt x="37733" y="0"/>
                  </a:lnTo>
                  <a:lnTo>
                    <a:pt x="0" y="6863"/>
                  </a:lnTo>
                  <a:lnTo>
                    <a:pt x="0" y="0"/>
                  </a:lnTo>
                </a:path>
              </a:pathLst>
            </a:custGeom>
            <a:ln w="3175">
              <a:solidFill>
                <a:srgbClr val="000000"/>
              </a:solidFill>
            </a:ln>
          </p:spPr>
          <p:txBody>
            <a:bodyPr wrap="square" lIns="0" tIns="0" rIns="0" bIns="0" rtlCol="0"/>
            <a:lstStyle/>
            <a:p>
              <a:endParaRPr/>
            </a:p>
          </p:txBody>
        </p:sp>
      </p:grpSp>
      <p:sp>
        <p:nvSpPr>
          <p:cNvPr id="123" name="object 123"/>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4" name="object 124"/>
          <p:cNvSpPr txBox="1"/>
          <p:nvPr/>
        </p:nvSpPr>
        <p:spPr>
          <a:xfrm>
            <a:off x="916939" y="6429247"/>
            <a:ext cx="3348990"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Arial"/>
                <a:cs typeface="Arial"/>
              </a:rPr>
              <a:t>(</a:t>
            </a:r>
            <a:r>
              <a:rPr sz="1200" i="1" spc="-10" dirty="0">
                <a:latin typeface="Arial"/>
                <a:cs typeface="Arial"/>
                <a:hlinkClick r:id="rId2"/>
              </a:rPr>
              <a:t>http://www.cwa.mdx.ac.uk/bis2040/johnlect.html</a:t>
            </a:r>
            <a:r>
              <a:rPr sz="1200" spc="-10" dirty="0">
                <a:latin typeface="Arial"/>
                <a:cs typeface="Arial"/>
                <a:hlinkClick r:id="rId2"/>
              </a:rPr>
              <a:t>)</a:t>
            </a:r>
            <a:endParaRPr sz="1200">
              <a:latin typeface="Arial"/>
              <a:cs typeface="Arial"/>
            </a:endParaRPr>
          </a:p>
        </p:txBody>
      </p:sp>
      <p:sp>
        <p:nvSpPr>
          <p:cNvPr id="128" name="Title 127">
            <a:extLst>
              <a:ext uri="{FF2B5EF4-FFF2-40B4-BE49-F238E27FC236}">
                <a16:creationId xmlns:a16="http://schemas.microsoft.com/office/drawing/2014/main" id="{50C8000F-A932-4607-B246-D82465C9CEB8}"/>
              </a:ext>
            </a:extLst>
          </p:cNvPr>
          <p:cNvSpPr>
            <a:spLocks noGrp="1"/>
          </p:cNvSpPr>
          <p:nvPr>
            <p:ph type="title"/>
          </p:nvPr>
        </p:nvSpPr>
        <p:spPr/>
        <p:txBody>
          <a:bodyPr/>
          <a:lstStyle/>
          <a:p>
            <a:r>
              <a:rPr lang="en-US" b="0" spc="-5">
                <a:latin typeface="Verdana"/>
              </a:rPr>
              <a:t>Mạng ngữ nghĩa – Ví dụ</a:t>
            </a:r>
            <a:endParaRPr lang="en-US" b="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object 3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8" name="object 3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42</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7165340" y="2008123"/>
            <a:ext cx="13836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Living</a:t>
            </a:r>
            <a:r>
              <a:rPr sz="1800" b="1" spc="-75" dirty="0">
                <a:latin typeface="Arial"/>
                <a:cs typeface="Arial"/>
              </a:rPr>
              <a:t> </a:t>
            </a:r>
            <a:r>
              <a:rPr sz="1800" b="1" spc="-5" dirty="0">
                <a:latin typeface="Arial"/>
                <a:cs typeface="Arial"/>
              </a:rPr>
              <a:t>Thing</a:t>
            </a:r>
            <a:endParaRPr sz="1800">
              <a:latin typeface="Arial"/>
              <a:cs typeface="Arial"/>
            </a:endParaRPr>
          </a:p>
        </p:txBody>
      </p:sp>
      <p:grpSp>
        <p:nvGrpSpPr>
          <p:cNvPr id="7" name="object 7"/>
          <p:cNvGrpSpPr/>
          <p:nvPr/>
        </p:nvGrpSpPr>
        <p:grpSpPr>
          <a:xfrm>
            <a:off x="457200" y="2351532"/>
            <a:ext cx="9144000" cy="1043305"/>
            <a:chOff x="457200" y="2351532"/>
            <a:chExt cx="9144000" cy="1043305"/>
          </a:xfrm>
        </p:grpSpPr>
        <p:sp>
          <p:nvSpPr>
            <p:cNvPr id="8" name="object 8"/>
            <p:cNvSpPr/>
            <p:nvPr/>
          </p:nvSpPr>
          <p:spPr>
            <a:xfrm>
              <a:off x="7385723" y="2351531"/>
              <a:ext cx="596265" cy="64135"/>
            </a:xfrm>
            <a:custGeom>
              <a:avLst/>
              <a:gdLst/>
              <a:ahLst/>
              <a:cxnLst/>
              <a:rect l="l" t="t" r="r" b="b"/>
              <a:pathLst>
                <a:path w="596265" h="64135">
                  <a:moveTo>
                    <a:pt x="158076" y="10668"/>
                  </a:moveTo>
                  <a:lnTo>
                    <a:pt x="26250" y="21336"/>
                  </a:lnTo>
                  <a:lnTo>
                    <a:pt x="37185" y="49593"/>
                  </a:lnTo>
                  <a:lnTo>
                    <a:pt x="0" y="64008"/>
                  </a:lnTo>
                  <a:lnTo>
                    <a:pt x="42748" y="63982"/>
                  </a:lnTo>
                  <a:lnTo>
                    <a:pt x="54444" y="64008"/>
                  </a:lnTo>
                  <a:lnTo>
                    <a:pt x="89776" y="64008"/>
                  </a:lnTo>
                  <a:lnTo>
                    <a:pt x="158076" y="10668"/>
                  </a:lnTo>
                  <a:close/>
                </a:path>
                <a:path w="596265" h="64135">
                  <a:moveTo>
                    <a:pt x="596188" y="64008"/>
                  </a:moveTo>
                  <a:lnTo>
                    <a:pt x="539076" y="0"/>
                  </a:lnTo>
                  <a:lnTo>
                    <a:pt x="548741" y="64008"/>
                  </a:lnTo>
                  <a:lnTo>
                    <a:pt x="596188" y="64008"/>
                  </a:lnTo>
                  <a:close/>
                </a:path>
              </a:pathLst>
            </a:custGeom>
            <a:solidFill>
              <a:srgbClr val="000000"/>
            </a:solidFill>
          </p:spPr>
          <p:txBody>
            <a:bodyPr wrap="square" lIns="0" tIns="0" rIns="0" bIns="0" rtlCol="0"/>
            <a:lstStyle/>
            <a:p>
              <a:endParaRPr/>
            </a:p>
          </p:txBody>
        </p:sp>
        <p:sp>
          <p:nvSpPr>
            <p:cNvPr id="9" name="object 9"/>
            <p:cNvSpPr/>
            <p:nvPr/>
          </p:nvSpPr>
          <p:spPr>
            <a:xfrm>
              <a:off x="457200" y="2415540"/>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10" name="object 10"/>
          <p:cNvSpPr txBox="1"/>
          <p:nvPr/>
        </p:nvSpPr>
        <p:spPr>
          <a:xfrm>
            <a:off x="5793740" y="2846323"/>
            <a:ext cx="7880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Animal</a:t>
            </a:r>
            <a:endParaRPr sz="1800">
              <a:latin typeface="Arial"/>
              <a:cs typeface="Arial"/>
            </a:endParaRPr>
          </a:p>
        </p:txBody>
      </p:sp>
      <p:grpSp>
        <p:nvGrpSpPr>
          <p:cNvPr id="11" name="object 11"/>
          <p:cNvGrpSpPr/>
          <p:nvPr/>
        </p:nvGrpSpPr>
        <p:grpSpPr>
          <a:xfrm>
            <a:off x="5999527" y="2415539"/>
            <a:ext cx="1476375" cy="979169"/>
            <a:chOff x="5999527" y="2415539"/>
            <a:chExt cx="1476375" cy="979169"/>
          </a:xfrm>
        </p:grpSpPr>
        <p:sp>
          <p:nvSpPr>
            <p:cNvPr id="12" name="object 12"/>
            <p:cNvSpPr/>
            <p:nvPr/>
          </p:nvSpPr>
          <p:spPr>
            <a:xfrm>
              <a:off x="5999527" y="3200399"/>
              <a:ext cx="96472" cy="194309"/>
            </a:xfrm>
            <a:prstGeom prst="rect">
              <a:avLst/>
            </a:prstGeom>
            <a:blipFill>
              <a:blip r:embed="rId2" cstate="print"/>
              <a:stretch>
                <a:fillRect/>
              </a:stretch>
            </a:blipFill>
          </p:spPr>
          <p:txBody>
            <a:bodyPr wrap="square" lIns="0" tIns="0" rIns="0" bIns="0" rtlCol="0"/>
            <a:lstStyle/>
            <a:p>
              <a:endParaRPr/>
            </a:p>
          </p:txBody>
        </p:sp>
        <p:sp>
          <p:nvSpPr>
            <p:cNvPr id="13" name="object 13"/>
            <p:cNvSpPr/>
            <p:nvPr/>
          </p:nvSpPr>
          <p:spPr>
            <a:xfrm>
              <a:off x="6169913" y="2415539"/>
              <a:ext cx="1306195" cy="486409"/>
            </a:xfrm>
            <a:custGeom>
              <a:avLst/>
              <a:gdLst/>
              <a:ahLst/>
              <a:cxnLst/>
              <a:rect l="l" t="t" r="r" b="b"/>
              <a:pathLst>
                <a:path w="1306195" h="486410">
                  <a:moveTo>
                    <a:pt x="1258469" y="0"/>
                  </a:moveTo>
                  <a:lnTo>
                    <a:pt x="1215815" y="0"/>
                  </a:lnTo>
                  <a:lnTo>
                    <a:pt x="0" y="471678"/>
                  </a:lnTo>
                  <a:lnTo>
                    <a:pt x="5334" y="486156"/>
                  </a:lnTo>
                  <a:lnTo>
                    <a:pt x="1258469" y="0"/>
                  </a:lnTo>
                  <a:close/>
                </a:path>
                <a:path w="1306195" h="486410">
                  <a:moveTo>
                    <a:pt x="1305590" y="0"/>
                  </a:moveTo>
                  <a:lnTo>
                    <a:pt x="1258578" y="0"/>
                  </a:lnTo>
                  <a:lnTo>
                    <a:pt x="1269491" y="28194"/>
                  </a:lnTo>
                  <a:lnTo>
                    <a:pt x="1305590" y="0"/>
                  </a:lnTo>
                  <a:close/>
                </a:path>
              </a:pathLst>
            </a:custGeom>
            <a:solidFill>
              <a:srgbClr val="000000"/>
            </a:solidFill>
          </p:spPr>
          <p:txBody>
            <a:bodyPr wrap="square" lIns="0" tIns="0" rIns="0" bIns="0" rtlCol="0"/>
            <a:lstStyle/>
            <a:p>
              <a:endParaRPr/>
            </a:p>
          </p:txBody>
        </p:sp>
      </p:grpSp>
      <p:sp>
        <p:nvSpPr>
          <p:cNvPr id="14" name="object 14"/>
          <p:cNvSpPr txBox="1"/>
          <p:nvPr/>
        </p:nvSpPr>
        <p:spPr>
          <a:xfrm>
            <a:off x="6327140" y="23891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15" name="object 15"/>
          <p:cNvSpPr/>
          <p:nvPr/>
        </p:nvSpPr>
        <p:spPr>
          <a:xfrm>
            <a:off x="6242304" y="2415539"/>
            <a:ext cx="2179320" cy="979169"/>
          </a:xfrm>
          <a:custGeom>
            <a:avLst/>
            <a:gdLst/>
            <a:ahLst/>
            <a:cxnLst/>
            <a:rect l="l" t="t" r="r" b="b"/>
            <a:pathLst>
              <a:path w="2179320" h="979170">
                <a:moveTo>
                  <a:pt x="164439" y="979170"/>
                </a:moveTo>
                <a:lnTo>
                  <a:pt x="12954" y="780288"/>
                </a:lnTo>
                <a:lnTo>
                  <a:pt x="0" y="790194"/>
                </a:lnTo>
                <a:lnTo>
                  <a:pt x="144018" y="979170"/>
                </a:lnTo>
                <a:lnTo>
                  <a:pt x="164439" y="979170"/>
                </a:lnTo>
                <a:close/>
              </a:path>
              <a:path w="2179320" h="979170">
                <a:moveTo>
                  <a:pt x="2178989" y="979170"/>
                </a:moveTo>
                <a:lnTo>
                  <a:pt x="1743684" y="47752"/>
                </a:lnTo>
                <a:lnTo>
                  <a:pt x="1770888" y="35052"/>
                </a:lnTo>
                <a:lnTo>
                  <a:pt x="1739607" y="0"/>
                </a:lnTo>
                <a:lnTo>
                  <a:pt x="1692160" y="0"/>
                </a:lnTo>
                <a:lnTo>
                  <a:pt x="1702308" y="67056"/>
                </a:lnTo>
                <a:lnTo>
                  <a:pt x="1724406" y="56743"/>
                </a:lnTo>
                <a:lnTo>
                  <a:pt x="1729790" y="54229"/>
                </a:lnTo>
                <a:lnTo>
                  <a:pt x="2161476" y="979170"/>
                </a:lnTo>
                <a:lnTo>
                  <a:pt x="2178989" y="979170"/>
                </a:lnTo>
                <a:close/>
              </a:path>
            </a:pathLst>
          </a:custGeom>
          <a:solidFill>
            <a:srgbClr val="000000"/>
          </a:solidFill>
        </p:spPr>
        <p:txBody>
          <a:bodyPr wrap="square" lIns="0" tIns="0" rIns="0" bIns="0" rtlCol="0"/>
          <a:lstStyle/>
          <a:p>
            <a:endParaRPr/>
          </a:p>
        </p:txBody>
      </p:sp>
      <p:sp>
        <p:nvSpPr>
          <p:cNvPr id="16" name="object 16"/>
          <p:cNvSpPr txBox="1"/>
          <p:nvPr/>
        </p:nvSpPr>
        <p:spPr>
          <a:xfrm>
            <a:off x="8232140" y="27701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17" name="object 17"/>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18" name="object 18"/>
          <p:cNvSpPr txBox="1"/>
          <p:nvPr/>
        </p:nvSpPr>
        <p:spPr>
          <a:xfrm>
            <a:off x="993139" y="1777999"/>
            <a:ext cx="3933190" cy="2601595"/>
          </a:xfrm>
          <a:prstGeom prst="rect">
            <a:avLst/>
          </a:prstGeom>
        </p:spPr>
        <p:txBody>
          <a:bodyPr vert="horz" wrap="square" lIns="0" tIns="12700" rIns="0" bIns="0" rtlCol="0">
            <a:spAutoFit/>
          </a:bodyPr>
          <a:lstStyle/>
          <a:p>
            <a:pPr marL="297815" marR="5080" indent="-285750">
              <a:lnSpc>
                <a:spcPct val="100000"/>
              </a:lnSpc>
              <a:spcBef>
                <a:spcPts val="100"/>
              </a:spcBef>
              <a:buClr>
                <a:srgbClr val="CC9A00"/>
              </a:buClr>
              <a:buSzPct val="63636"/>
              <a:buFont typeface="Wingdings"/>
              <a:buChar char=""/>
              <a:tabLst>
                <a:tab pos="297815" algn="l"/>
                <a:tab pos="298450" algn="l"/>
              </a:tabLst>
            </a:pPr>
            <a:r>
              <a:rPr sz="2200" spc="-5" dirty="0">
                <a:latin typeface="Arial"/>
                <a:cs typeface="Arial"/>
              </a:rPr>
              <a:t>Đối </a:t>
            </a:r>
            <a:r>
              <a:rPr sz="2200" dirty="0">
                <a:latin typeface="Arial"/>
                <a:cs typeface="Arial"/>
              </a:rPr>
              <a:t>với 2 khái niệm, </a:t>
            </a:r>
            <a:r>
              <a:rPr sz="2200" spc="-5" dirty="0">
                <a:latin typeface="Arial"/>
                <a:cs typeface="Arial"/>
              </a:rPr>
              <a:t>việc </a:t>
            </a:r>
            <a:r>
              <a:rPr sz="2200" dirty="0">
                <a:latin typeface="Arial"/>
                <a:cs typeface="Arial"/>
              </a:rPr>
              <a:t>lan  </a:t>
            </a:r>
            <a:r>
              <a:rPr sz="2200" spc="-5" dirty="0">
                <a:latin typeface="Arial"/>
                <a:cs typeface="Arial"/>
              </a:rPr>
              <a:t>truyền </a:t>
            </a:r>
            <a:r>
              <a:rPr sz="2200" dirty="0">
                <a:latin typeface="Arial"/>
                <a:cs typeface="Arial"/>
              </a:rPr>
              <a:t>tác </a:t>
            </a:r>
            <a:r>
              <a:rPr sz="2200" spc="-5" dirty="0">
                <a:latin typeface="Arial"/>
                <a:cs typeface="Arial"/>
              </a:rPr>
              <a:t>động (spreading  </a:t>
            </a:r>
            <a:r>
              <a:rPr sz="2200" dirty="0">
                <a:latin typeface="Arial"/>
                <a:cs typeface="Arial"/>
              </a:rPr>
              <a:t>activation) </a:t>
            </a:r>
            <a:r>
              <a:rPr sz="2200" spc="5" dirty="0">
                <a:latin typeface="Arial"/>
                <a:cs typeface="Arial"/>
              </a:rPr>
              <a:t>sẽ </a:t>
            </a:r>
            <a:r>
              <a:rPr sz="2200" spc="-5" dirty="0">
                <a:latin typeface="Arial"/>
                <a:cs typeface="Arial"/>
              </a:rPr>
              <a:t>kích hoạt </a:t>
            </a:r>
            <a:r>
              <a:rPr sz="2200" dirty="0">
                <a:latin typeface="Arial"/>
                <a:cs typeface="Arial"/>
              </a:rPr>
              <a:t>tác  </a:t>
            </a:r>
            <a:r>
              <a:rPr sz="2200" spc="-5" dirty="0">
                <a:latin typeface="Arial"/>
                <a:cs typeface="Arial"/>
              </a:rPr>
              <a:t>động </a:t>
            </a:r>
            <a:r>
              <a:rPr sz="2200" dirty="0">
                <a:latin typeface="Arial"/>
                <a:cs typeface="Arial"/>
              </a:rPr>
              <a:t>từ </a:t>
            </a:r>
            <a:r>
              <a:rPr sz="2200" spc="-5" dirty="0">
                <a:latin typeface="Arial"/>
                <a:cs typeface="Arial"/>
              </a:rPr>
              <a:t>khái niệm này </a:t>
            </a:r>
            <a:r>
              <a:rPr sz="2200" dirty="0">
                <a:latin typeface="Arial"/>
                <a:cs typeface="Arial"/>
              </a:rPr>
              <a:t>tới  khái </a:t>
            </a:r>
            <a:r>
              <a:rPr sz="2200" spc="-5" dirty="0">
                <a:latin typeface="Arial"/>
                <a:cs typeface="Arial"/>
              </a:rPr>
              <a:t>niệm kia, hoặc theo </a:t>
            </a:r>
            <a:r>
              <a:rPr sz="2200" dirty="0">
                <a:latin typeface="Arial"/>
                <a:cs typeface="Arial"/>
              </a:rPr>
              <a:t>cả 2  </a:t>
            </a:r>
            <a:r>
              <a:rPr sz="2200" spc="-5" dirty="0">
                <a:latin typeface="Arial"/>
                <a:cs typeface="Arial"/>
              </a:rPr>
              <a:t>hướng</a:t>
            </a:r>
            <a:endParaRPr sz="2200">
              <a:latin typeface="Arial"/>
              <a:cs typeface="Arial"/>
            </a:endParaRPr>
          </a:p>
          <a:p>
            <a:pPr marL="298450" indent="-285750">
              <a:lnSpc>
                <a:spcPct val="100000"/>
              </a:lnSpc>
              <a:spcBef>
                <a:spcPts val="1800"/>
              </a:spcBef>
              <a:buClr>
                <a:srgbClr val="CC9A00"/>
              </a:buClr>
              <a:buSzPct val="63636"/>
              <a:buFont typeface="Wingdings"/>
              <a:buChar char=""/>
              <a:tabLst>
                <a:tab pos="297815" algn="l"/>
                <a:tab pos="298450" algn="l"/>
              </a:tabLst>
            </a:pPr>
            <a:r>
              <a:rPr sz="2200" spc="-5" dirty="0">
                <a:latin typeface="Arial"/>
                <a:cs typeface="Arial"/>
              </a:rPr>
              <a:t>Cho phép </a:t>
            </a:r>
            <a:r>
              <a:rPr sz="2200" dirty="0">
                <a:latin typeface="Arial"/>
                <a:cs typeface="Arial"/>
              </a:rPr>
              <a:t>xác </a:t>
            </a:r>
            <a:r>
              <a:rPr sz="2200" spc="-5" dirty="0">
                <a:latin typeface="Arial"/>
                <a:cs typeface="Arial"/>
              </a:rPr>
              <a:t>định </a:t>
            </a:r>
            <a:r>
              <a:rPr sz="2200" dirty="0">
                <a:latin typeface="Arial"/>
                <a:cs typeface="Arial"/>
              </a:rPr>
              <a:t>các</a:t>
            </a:r>
            <a:r>
              <a:rPr sz="2200" spc="-40" dirty="0">
                <a:latin typeface="Arial"/>
                <a:cs typeface="Arial"/>
              </a:rPr>
              <a:t> </a:t>
            </a:r>
            <a:r>
              <a:rPr sz="2200" dirty="0">
                <a:latin typeface="Arial"/>
                <a:cs typeface="Arial"/>
              </a:rPr>
              <a:t>khái</a:t>
            </a:r>
            <a:endParaRPr sz="2200">
              <a:latin typeface="Arial"/>
              <a:cs typeface="Arial"/>
            </a:endParaRPr>
          </a:p>
        </p:txBody>
      </p:sp>
      <p:sp>
        <p:nvSpPr>
          <p:cNvPr id="19" name="object 19"/>
          <p:cNvSpPr txBox="1"/>
          <p:nvPr/>
        </p:nvSpPr>
        <p:spPr>
          <a:xfrm>
            <a:off x="5184140" y="4065523"/>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00FF"/>
                </a:solidFill>
                <a:latin typeface="Arial"/>
                <a:cs typeface="Arial"/>
              </a:rPr>
              <a:t>Elephant</a:t>
            </a:r>
            <a:endParaRPr sz="1800">
              <a:latin typeface="Arial"/>
              <a:cs typeface="Arial"/>
            </a:endParaRPr>
          </a:p>
        </p:txBody>
      </p:sp>
      <p:sp>
        <p:nvSpPr>
          <p:cNvPr id="20" name="object 20"/>
          <p:cNvSpPr txBox="1"/>
          <p:nvPr/>
        </p:nvSpPr>
        <p:spPr>
          <a:xfrm>
            <a:off x="8308347" y="3684516"/>
            <a:ext cx="5842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00FF"/>
                </a:solidFill>
                <a:latin typeface="Arial"/>
                <a:cs typeface="Arial"/>
              </a:rPr>
              <a:t>Plant</a:t>
            </a:r>
            <a:endParaRPr sz="1800">
              <a:latin typeface="Arial"/>
              <a:cs typeface="Arial"/>
            </a:endParaRPr>
          </a:p>
        </p:txBody>
      </p:sp>
      <p:sp>
        <p:nvSpPr>
          <p:cNvPr id="21" name="object 21"/>
          <p:cNvSpPr/>
          <p:nvPr/>
        </p:nvSpPr>
        <p:spPr>
          <a:xfrm>
            <a:off x="5708141" y="3394709"/>
            <a:ext cx="309245" cy="646430"/>
          </a:xfrm>
          <a:custGeom>
            <a:avLst/>
            <a:gdLst/>
            <a:ahLst/>
            <a:cxnLst/>
            <a:rect l="l" t="t" r="r" b="b"/>
            <a:pathLst>
              <a:path w="309245" h="646429">
                <a:moveTo>
                  <a:pt x="308682" y="0"/>
                </a:moveTo>
                <a:lnTo>
                  <a:pt x="291385" y="0"/>
                </a:lnTo>
                <a:lnTo>
                  <a:pt x="0" y="639318"/>
                </a:lnTo>
                <a:lnTo>
                  <a:pt x="14478" y="646176"/>
                </a:lnTo>
                <a:lnTo>
                  <a:pt x="308682" y="0"/>
                </a:lnTo>
                <a:close/>
              </a:path>
            </a:pathLst>
          </a:custGeom>
          <a:solidFill>
            <a:srgbClr val="000000"/>
          </a:solidFill>
        </p:spPr>
        <p:txBody>
          <a:bodyPr wrap="square" lIns="0" tIns="0" rIns="0" bIns="0" rtlCol="0"/>
          <a:lstStyle/>
          <a:p>
            <a:endParaRPr/>
          </a:p>
        </p:txBody>
      </p:sp>
      <p:sp>
        <p:nvSpPr>
          <p:cNvPr id="22" name="object 22"/>
          <p:cNvSpPr txBox="1"/>
          <p:nvPr/>
        </p:nvSpPr>
        <p:spPr>
          <a:xfrm>
            <a:off x="5412740" y="34559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23" name="object 23"/>
          <p:cNvSpPr/>
          <p:nvPr/>
        </p:nvSpPr>
        <p:spPr>
          <a:xfrm>
            <a:off x="6386326" y="3394709"/>
            <a:ext cx="766445" cy="979169"/>
          </a:xfrm>
          <a:custGeom>
            <a:avLst/>
            <a:gdLst/>
            <a:ahLst/>
            <a:cxnLst/>
            <a:rect l="l" t="t" r="r" b="b"/>
            <a:pathLst>
              <a:path w="766445" h="979170">
                <a:moveTo>
                  <a:pt x="766296" y="979170"/>
                </a:moveTo>
                <a:lnTo>
                  <a:pt x="20427" y="0"/>
                </a:lnTo>
                <a:lnTo>
                  <a:pt x="0" y="0"/>
                </a:lnTo>
                <a:lnTo>
                  <a:pt x="746246" y="979170"/>
                </a:lnTo>
                <a:lnTo>
                  <a:pt x="766296" y="979170"/>
                </a:lnTo>
                <a:close/>
              </a:path>
            </a:pathLst>
          </a:custGeom>
          <a:solidFill>
            <a:srgbClr val="000000"/>
          </a:solidFill>
        </p:spPr>
        <p:txBody>
          <a:bodyPr wrap="square" lIns="0" tIns="0" rIns="0" bIns="0" rtlCol="0"/>
          <a:lstStyle/>
          <a:p>
            <a:endParaRPr/>
          </a:p>
        </p:txBody>
      </p:sp>
      <p:sp>
        <p:nvSpPr>
          <p:cNvPr id="24" name="object 24"/>
          <p:cNvSpPr txBox="1"/>
          <p:nvPr/>
        </p:nvSpPr>
        <p:spPr>
          <a:xfrm>
            <a:off x="6784340" y="3608324"/>
            <a:ext cx="40894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eats</a:t>
            </a:r>
            <a:endParaRPr sz="1600">
              <a:latin typeface="Arial"/>
              <a:cs typeface="Arial"/>
            </a:endParaRPr>
          </a:p>
        </p:txBody>
      </p:sp>
      <p:sp>
        <p:nvSpPr>
          <p:cNvPr id="25" name="object 25"/>
          <p:cNvSpPr/>
          <p:nvPr/>
        </p:nvSpPr>
        <p:spPr>
          <a:xfrm>
            <a:off x="8259191" y="3394709"/>
            <a:ext cx="394970" cy="979169"/>
          </a:xfrm>
          <a:custGeom>
            <a:avLst/>
            <a:gdLst/>
            <a:ahLst/>
            <a:cxnLst/>
            <a:rect l="l" t="t" r="r" b="b"/>
            <a:pathLst>
              <a:path w="394970" h="979170">
                <a:moveTo>
                  <a:pt x="282829" y="258318"/>
                </a:moveTo>
                <a:lnTo>
                  <a:pt x="162102" y="0"/>
                </a:lnTo>
                <a:lnTo>
                  <a:pt x="144589" y="0"/>
                </a:lnTo>
                <a:lnTo>
                  <a:pt x="268351" y="265176"/>
                </a:lnTo>
                <a:lnTo>
                  <a:pt x="282829" y="258318"/>
                </a:lnTo>
                <a:close/>
              </a:path>
              <a:path w="394970" h="979170">
                <a:moveTo>
                  <a:pt x="394843" y="661416"/>
                </a:moveTo>
                <a:lnTo>
                  <a:pt x="384937" y="649224"/>
                </a:lnTo>
                <a:lnTo>
                  <a:pt x="0" y="979170"/>
                </a:lnTo>
                <a:lnTo>
                  <a:pt x="24130" y="979170"/>
                </a:lnTo>
                <a:lnTo>
                  <a:pt x="394843" y="661416"/>
                </a:lnTo>
                <a:close/>
              </a:path>
            </a:pathLst>
          </a:custGeom>
          <a:solidFill>
            <a:srgbClr val="000000"/>
          </a:solidFill>
        </p:spPr>
        <p:txBody>
          <a:bodyPr wrap="square" lIns="0" tIns="0" rIns="0" bIns="0" rtlCol="0"/>
          <a:lstStyle/>
          <a:p>
            <a:endParaRPr/>
          </a:p>
        </p:txBody>
      </p:sp>
      <p:sp>
        <p:nvSpPr>
          <p:cNvPr id="26" name="object 26"/>
          <p:cNvSpPr txBox="1"/>
          <p:nvPr/>
        </p:nvSpPr>
        <p:spPr>
          <a:xfrm>
            <a:off x="1278889" y="4353560"/>
            <a:ext cx="3649345" cy="1077595"/>
          </a:xfrm>
          <a:prstGeom prst="rect">
            <a:avLst/>
          </a:prstGeom>
        </p:spPr>
        <p:txBody>
          <a:bodyPr vert="horz" wrap="square" lIns="0" tIns="12700" rIns="0" bIns="0" rtlCol="0">
            <a:spAutoFit/>
          </a:bodyPr>
          <a:lstStyle/>
          <a:p>
            <a:pPr marL="12700">
              <a:lnSpc>
                <a:spcPct val="100000"/>
              </a:lnSpc>
              <a:spcBef>
                <a:spcPts val="100"/>
              </a:spcBef>
            </a:pPr>
            <a:r>
              <a:rPr sz="2200" spc="-5" dirty="0">
                <a:latin typeface="Arial"/>
                <a:cs typeface="Arial"/>
              </a:rPr>
              <a:t>niệm “nằm giữa” liên</a:t>
            </a:r>
            <a:r>
              <a:rPr sz="2200" spc="-10" dirty="0">
                <a:latin typeface="Arial"/>
                <a:cs typeface="Arial"/>
              </a:rPr>
              <a:t> </a:t>
            </a:r>
            <a:r>
              <a:rPr sz="2200" spc="-5" dirty="0">
                <a:latin typeface="Arial"/>
                <a:cs typeface="Arial"/>
              </a:rPr>
              <a:t>quan</a:t>
            </a:r>
            <a:endParaRPr sz="2200">
              <a:latin typeface="Arial"/>
              <a:cs typeface="Arial"/>
            </a:endParaRPr>
          </a:p>
          <a:p>
            <a:pPr marL="12700">
              <a:lnSpc>
                <a:spcPct val="100000"/>
              </a:lnSpc>
            </a:pPr>
            <a:r>
              <a:rPr sz="2200" spc="-5" dirty="0">
                <a:latin typeface="Arial"/>
                <a:cs typeface="Arial"/>
              </a:rPr>
              <a:t>đến </a:t>
            </a:r>
            <a:r>
              <a:rPr sz="2200" dirty="0">
                <a:latin typeface="Arial"/>
                <a:cs typeface="Arial"/>
              </a:rPr>
              <a:t>cả 2 </a:t>
            </a:r>
            <a:r>
              <a:rPr sz="2200" spc="-5" dirty="0">
                <a:latin typeface="Arial"/>
                <a:cs typeface="Arial"/>
              </a:rPr>
              <a:t>khái </a:t>
            </a:r>
            <a:r>
              <a:rPr sz="2200" dirty="0">
                <a:latin typeface="Arial"/>
                <a:cs typeface="Arial"/>
              </a:rPr>
              <a:t>niệm</a:t>
            </a:r>
            <a:r>
              <a:rPr sz="2200" spc="-35" dirty="0">
                <a:latin typeface="Arial"/>
                <a:cs typeface="Arial"/>
              </a:rPr>
              <a:t> </a:t>
            </a:r>
            <a:r>
              <a:rPr sz="2200" spc="-5" dirty="0">
                <a:latin typeface="Arial"/>
                <a:cs typeface="Arial"/>
              </a:rPr>
              <a:t>đó</a:t>
            </a:r>
            <a:endParaRPr sz="2200">
              <a:latin typeface="Arial"/>
              <a:cs typeface="Arial"/>
            </a:endParaRPr>
          </a:p>
          <a:p>
            <a:pPr marL="339090" indent="-286385">
              <a:lnSpc>
                <a:spcPct val="100000"/>
              </a:lnSpc>
              <a:spcBef>
                <a:spcPts val="600"/>
              </a:spcBef>
              <a:buClr>
                <a:srgbClr val="3B822F"/>
              </a:buClr>
              <a:buSzPct val="60000"/>
              <a:buFont typeface="Wingdings"/>
              <a:buChar char=""/>
              <a:tabLst>
                <a:tab pos="339090" algn="l"/>
                <a:tab pos="339725" algn="l"/>
                <a:tab pos="1141095" algn="l"/>
              </a:tabLst>
            </a:pPr>
            <a:r>
              <a:rPr sz="2000" spc="-5" dirty="0">
                <a:latin typeface="Arial"/>
                <a:cs typeface="Arial"/>
              </a:rPr>
              <a:t>Ví</a:t>
            </a:r>
            <a:r>
              <a:rPr sz="2000" spc="-15" dirty="0">
                <a:latin typeface="Arial"/>
                <a:cs typeface="Arial"/>
              </a:rPr>
              <a:t> </a:t>
            </a:r>
            <a:r>
              <a:rPr sz="2000" spc="-5" dirty="0">
                <a:latin typeface="Arial"/>
                <a:cs typeface="Arial"/>
              </a:rPr>
              <a:t>dụ:	Xét việc lan truyền</a:t>
            </a:r>
            <a:r>
              <a:rPr sz="2000" spc="-75" dirty="0">
                <a:latin typeface="Arial"/>
                <a:cs typeface="Arial"/>
              </a:rPr>
              <a:t> </a:t>
            </a:r>
            <a:r>
              <a:rPr sz="2000" spc="-5" dirty="0">
                <a:latin typeface="Arial"/>
                <a:cs typeface="Arial"/>
              </a:rPr>
              <a:t>tác</a:t>
            </a:r>
            <a:endParaRPr sz="2000">
              <a:latin typeface="Arial"/>
              <a:cs typeface="Arial"/>
            </a:endParaRPr>
          </a:p>
        </p:txBody>
      </p:sp>
      <p:sp>
        <p:nvSpPr>
          <p:cNvPr id="27" name="object 27"/>
          <p:cNvSpPr txBox="1"/>
          <p:nvPr/>
        </p:nvSpPr>
        <p:spPr>
          <a:xfrm>
            <a:off x="7317740" y="4828285"/>
            <a:ext cx="5835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Food</a:t>
            </a:r>
            <a:endParaRPr sz="1800">
              <a:latin typeface="Arial"/>
              <a:cs typeface="Arial"/>
            </a:endParaRPr>
          </a:p>
        </p:txBody>
      </p:sp>
      <p:sp>
        <p:nvSpPr>
          <p:cNvPr id="28" name="object 28"/>
          <p:cNvSpPr/>
          <p:nvPr/>
        </p:nvSpPr>
        <p:spPr>
          <a:xfrm>
            <a:off x="5679947" y="4423409"/>
            <a:ext cx="76200" cy="929640"/>
          </a:xfrm>
          <a:custGeom>
            <a:avLst/>
            <a:gdLst/>
            <a:ahLst/>
            <a:cxnLst/>
            <a:rect l="l" t="t" r="r" b="b"/>
            <a:pathLst>
              <a:path w="76200" h="929639">
                <a:moveTo>
                  <a:pt x="76200" y="126491"/>
                </a:moveTo>
                <a:lnTo>
                  <a:pt x="38862" y="0"/>
                </a:lnTo>
                <a:lnTo>
                  <a:pt x="0" y="126491"/>
                </a:lnTo>
                <a:lnTo>
                  <a:pt x="30458" y="126491"/>
                </a:lnTo>
                <a:lnTo>
                  <a:pt x="30479" y="114300"/>
                </a:lnTo>
                <a:lnTo>
                  <a:pt x="46481" y="114300"/>
                </a:lnTo>
                <a:lnTo>
                  <a:pt x="46481" y="126491"/>
                </a:lnTo>
                <a:lnTo>
                  <a:pt x="76200" y="126491"/>
                </a:lnTo>
                <a:close/>
              </a:path>
              <a:path w="76200" h="929639">
                <a:moveTo>
                  <a:pt x="46460" y="126491"/>
                </a:moveTo>
                <a:lnTo>
                  <a:pt x="30458" y="126491"/>
                </a:lnTo>
                <a:lnTo>
                  <a:pt x="29059" y="929639"/>
                </a:lnTo>
                <a:lnTo>
                  <a:pt x="45061" y="929639"/>
                </a:lnTo>
                <a:lnTo>
                  <a:pt x="46460" y="126491"/>
                </a:lnTo>
                <a:close/>
              </a:path>
              <a:path w="76200" h="929639">
                <a:moveTo>
                  <a:pt x="46481" y="114300"/>
                </a:moveTo>
                <a:lnTo>
                  <a:pt x="30479" y="114300"/>
                </a:lnTo>
                <a:lnTo>
                  <a:pt x="30458" y="126491"/>
                </a:lnTo>
                <a:lnTo>
                  <a:pt x="46460" y="126491"/>
                </a:lnTo>
                <a:lnTo>
                  <a:pt x="46481" y="114300"/>
                </a:lnTo>
                <a:close/>
              </a:path>
              <a:path w="76200" h="929639">
                <a:moveTo>
                  <a:pt x="46481" y="126491"/>
                </a:moveTo>
                <a:lnTo>
                  <a:pt x="46481" y="114300"/>
                </a:lnTo>
                <a:lnTo>
                  <a:pt x="46460" y="126491"/>
                </a:lnTo>
                <a:close/>
              </a:path>
            </a:pathLst>
          </a:custGeom>
          <a:solidFill>
            <a:srgbClr val="000000"/>
          </a:solidFill>
        </p:spPr>
        <p:txBody>
          <a:bodyPr wrap="square" lIns="0" tIns="0" rIns="0" bIns="0" rtlCol="0"/>
          <a:lstStyle/>
          <a:p>
            <a:endParaRPr/>
          </a:p>
        </p:txBody>
      </p:sp>
      <p:sp>
        <p:nvSpPr>
          <p:cNvPr id="29" name="object 29"/>
          <p:cNvSpPr txBox="1"/>
          <p:nvPr/>
        </p:nvSpPr>
        <p:spPr>
          <a:xfrm>
            <a:off x="5793740" y="4828285"/>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30" name="object 30"/>
          <p:cNvSpPr/>
          <p:nvPr/>
        </p:nvSpPr>
        <p:spPr>
          <a:xfrm>
            <a:off x="7132561" y="4373879"/>
            <a:ext cx="1151255" cy="426720"/>
          </a:xfrm>
          <a:custGeom>
            <a:avLst/>
            <a:gdLst/>
            <a:ahLst/>
            <a:cxnLst/>
            <a:rect l="l" t="t" r="r" b="b"/>
            <a:pathLst>
              <a:path w="1151254" h="426720">
                <a:moveTo>
                  <a:pt x="335038" y="426720"/>
                </a:moveTo>
                <a:lnTo>
                  <a:pt x="288556" y="303276"/>
                </a:lnTo>
                <a:lnTo>
                  <a:pt x="264807" y="321310"/>
                </a:lnTo>
                <a:lnTo>
                  <a:pt x="20053" y="0"/>
                </a:lnTo>
                <a:lnTo>
                  <a:pt x="0" y="0"/>
                </a:lnTo>
                <a:lnTo>
                  <a:pt x="252183" y="330898"/>
                </a:lnTo>
                <a:lnTo>
                  <a:pt x="228358" y="348996"/>
                </a:lnTo>
                <a:lnTo>
                  <a:pt x="272554" y="381203"/>
                </a:lnTo>
                <a:lnTo>
                  <a:pt x="335038" y="426720"/>
                </a:lnTo>
                <a:close/>
              </a:path>
              <a:path w="1151254" h="426720">
                <a:moveTo>
                  <a:pt x="1150759" y="0"/>
                </a:moveTo>
                <a:lnTo>
                  <a:pt x="1126629" y="0"/>
                </a:lnTo>
                <a:lnTo>
                  <a:pt x="731570" y="338632"/>
                </a:lnTo>
                <a:lnTo>
                  <a:pt x="711466" y="315468"/>
                </a:lnTo>
                <a:lnTo>
                  <a:pt x="639838" y="426720"/>
                </a:lnTo>
                <a:lnTo>
                  <a:pt x="722134" y="390715"/>
                </a:lnTo>
                <a:lnTo>
                  <a:pt x="761758" y="373380"/>
                </a:lnTo>
                <a:lnTo>
                  <a:pt x="741857" y="350481"/>
                </a:lnTo>
                <a:lnTo>
                  <a:pt x="1150759" y="0"/>
                </a:lnTo>
                <a:close/>
              </a:path>
            </a:pathLst>
          </a:custGeom>
          <a:solidFill>
            <a:srgbClr val="000000"/>
          </a:solidFill>
        </p:spPr>
        <p:txBody>
          <a:bodyPr wrap="square" lIns="0" tIns="0" rIns="0" bIns="0" rtlCol="0"/>
          <a:lstStyle/>
          <a:p>
            <a:endParaRPr/>
          </a:p>
        </p:txBody>
      </p:sp>
      <p:sp>
        <p:nvSpPr>
          <p:cNvPr id="31" name="object 31"/>
          <p:cNvSpPr txBox="1"/>
          <p:nvPr/>
        </p:nvSpPr>
        <p:spPr>
          <a:xfrm>
            <a:off x="8308340" y="4370323"/>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32" name="object 32"/>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33" name="object 33"/>
          <p:cNvSpPr txBox="1"/>
          <p:nvPr/>
        </p:nvSpPr>
        <p:spPr>
          <a:xfrm>
            <a:off x="1605786" y="5405881"/>
            <a:ext cx="2536825" cy="635000"/>
          </a:xfrm>
          <a:prstGeom prst="rect">
            <a:avLst/>
          </a:prstGeom>
        </p:spPr>
        <p:txBody>
          <a:bodyPr vert="horz" wrap="square" lIns="0" tIns="12065" rIns="0" bIns="0" rtlCol="0">
            <a:spAutoFit/>
          </a:bodyPr>
          <a:lstStyle/>
          <a:p>
            <a:pPr marL="12700" marR="5080" indent="-635">
              <a:lnSpc>
                <a:spcPct val="100000"/>
              </a:lnSpc>
              <a:spcBef>
                <a:spcPts val="95"/>
              </a:spcBef>
            </a:pPr>
            <a:r>
              <a:rPr sz="2000" spc="-5" dirty="0">
                <a:latin typeface="Arial"/>
                <a:cs typeface="Arial"/>
              </a:rPr>
              <a:t>động giữa 2 khái</a:t>
            </a:r>
            <a:r>
              <a:rPr sz="2000" spc="-75" dirty="0">
                <a:latin typeface="Arial"/>
                <a:cs typeface="Arial"/>
              </a:rPr>
              <a:t> </a:t>
            </a:r>
            <a:r>
              <a:rPr sz="2000" spc="-5" dirty="0">
                <a:latin typeface="Arial"/>
                <a:cs typeface="Arial"/>
              </a:rPr>
              <a:t>niệm  </a:t>
            </a:r>
            <a:r>
              <a:rPr sz="2000" spc="-10" dirty="0">
                <a:latin typeface="Arial"/>
                <a:cs typeface="Arial"/>
              </a:rPr>
              <a:t>“Elephant” </a:t>
            </a:r>
            <a:r>
              <a:rPr sz="2000" spc="-5" dirty="0">
                <a:latin typeface="Arial"/>
                <a:cs typeface="Arial"/>
              </a:rPr>
              <a:t>và</a:t>
            </a:r>
            <a:r>
              <a:rPr sz="2000" spc="-10" dirty="0">
                <a:latin typeface="Arial"/>
                <a:cs typeface="Arial"/>
              </a:rPr>
              <a:t> “Plant”</a:t>
            </a:r>
            <a:endParaRPr sz="2000">
              <a:latin typeface="Arial"/>
              <a:cs typeface="Arial"/>
            </a:endParaRPr>
          </a:p>
        </p:txBody>
      </p:sp>
      <p:sp>
        <p:nvSpPr>
          <p:cNvPr id="34" name="object 34"/>
          <p:cNvSpPr txBox="1"/>
          <p:nvPr/>
        </p:nvSpPr>
        <p:spPr>
          <a:xfrm>
            <a:off x="5260340" y="5437885"/>
            <a:ext cx="11055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Mammoth</a:t>
            </a:r>
            <a:endParaRPr sz="1800">
              <a:latin typeface="Arial"/>
              <a:cs typeface="Arial"/>
            </a:endParaRPr>
          </a:p>
        </p:txBody>
      </p:sp>
      <p:sp>
        <p:nvSpPr>
          <p:cNvPr id="35" name="object 35"/>
          <p:cNvSpPr/>
          <p:nvPr/>
        </p:nvSpPr>
        <p:spPr>
          <a:xfrm>
            <a:off x="5708903" y="5353050"/>
            <a:ext cx="16510" cy="59690"/>
          </a:xfrm>
          <a:custGeom>
            <a:avLst/>
            <a:gdLst/>
            <a:ahLst/>
            <a:cxnLst/>
            <a:rect l="l" t="t" r="r" b="b"/>
            <a:pathLst>
              <a:path w="16510" h="59689">
                <a:moveTo>
                  <a:pt x="0" y="59436"/>
                </a:moveTo>
                <a:lnTo>
                  <a:pt x="103" y="0"/>
                </a:lnTo>
                <a:lnTo>
                  <a:pt x="16105" y="0"/>
                </a:lnTo>
                <a:lnTo>
                  <a:pt x="16001" y="59436"/>
                </a:lnTo>
                <a:lnTo>
                  <a:pt x="0" y="59436"/>
                </a:lnTo>
                <a:close/>
              </a:path>
            </a:pathLst>
          </a:custGeom>
          <a:solidFill>
            <a:srgbClr val="000000"/>
          </a:solidFill>
        </p:spPr>
        <p:txBody>
          <a:bodyPr wrap="square" lIns="0" tIns="0" rIns="0" bIns="0" rtlCol="0"/>
          <a:lstStyle/>
          <a:p>
            <a:endParaRPr/>
          </a:p>
        </p:txBody>
      </p:sp>
      <p:sp>
        <p:nvSpPr>
          <p:cNvPr id="36" name="object 3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40" name="Title 39">
            <a:extLst>
              <a:ext uri="{FF2B5EF4-FFF2-40B4-BE49-F238E27FC236}">
                <a16:creationId xmlns:a16="http://schemas.microsoft.com/office/drawing/2014/main" id="{B20A5DCD-E96C-4EF4-8A6E-DF70F9C736BB}"/>
              </a:ext>
            </a:extLst>
          </p:cNvPr>
          <p:cNvSpPr>
            <a:spLocks noGrp="1"/>
          </p:cNvSpPr>
          <p:nvPr>
            <p:ph type="title"/>
          </p:nvPr>
        </p:nvSpPr>
        <p:spPr/>
        <p:txBody>
          <a:bodyPr/>
          <a:lstStyle/>
          <a:p>
            <a:r>
              <a:rPr lang="en-US" b="0">
                <a:latin typeface="Verdana"/>
                <a:cs typeface="Verdana"/>
              </a:rPr>
              <a:t>SN – Lan </a:t>
            </a:r>
            <a:r>
              <a:rPr lang="en-US" b="0" spc="-5">
                <a:latin typeface="Verdana"/>
                <a:cs typeface="Verdana"/>
              </a:rPr>
              <a:t>truyền </a:t>
            </a:r>
            <a:r>
              <a:rPr lang="en-US" b="0">
                <a:latin typeface="Verdana"/>
                <a:cs typeface="Verdana"/>
              </a:rPr>
              <a:t>tác</a:t>
            </a:r>
            <a:r>
              <a:rPr lang="en-US" b="0" spc="-90">
                <a:latin typeface="Verdana"/>
                <a:cs typeface="Verdana"/>
              </a:rPr>
              <a:t> </a:t>
            </a:r>
            <a:r>
              <a:rPr lang="en-US" b="0" spc="-5">
                <a:latin typeface="Verdana"/>
                <a:cs typeface="Verdana"/>
              </a:rPr>
              <a:t>động</a:t>
            </a:r>
            <a:endParaRPr lang="en-US"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object 14"/>
          <p:cNvGrpSpPr/>
          <p:nvPr/>
        </p:nvGrpSpPr>
        <p:grpSpPr>
          <a:xfrm>
            <a:off x="457200" y="3200400"/>
            <a:ext cx="9144000" cy="1173480"/>
            <a:chOff x="457200" y="3200400"/>
            <a:chExt cx="9144000" cy="1173480"/>
          </a:xfrm>
        </p:grpSpPr>
        <p:sp>
          <p:nvSpPr>
            <p:cNvPr id="15" name="object 15"/>
            <p:cNvSpPr/>
            <p:nvPr/>
          </p:nvSpPr>
          <p:spPr>
            <a:xfrm>
              <a:off x="6913927" y="3200400"/>
              <a:ext cx="96472" cy="194309"/>
            </a:xfrm>
            <a:prstGeom prst="rect">
              <a:avLst/>
            </a:prstGeom>
            <a:blipFill>
              <a:blip r:embed="rId2" cstate="print"/>
              <a:stretch>
                <a:fillRect/>
              </a:stretch>
            </a:blipFill>
          </p:spPr>
          <p:txBody>
            <a:bodyPr wrap="square" lIns="0" tIns="0" rIns="0" bIns="0" rtlCol="0"/>
            <a:lstStyle/>
            <a:p>
              <a:endParaRPr/>
            </a:p>
          </p:txBody>
        </p:sp>
        <p:sp>
          <p:nvSpPr>
            <p:cNvPr id="16" name="object 16"/>
            <p:cNvSpPr/>
            <p:nvPr/>
          </p:nvSpPr>
          <p:spPr>
            <a:xfrm>
              <a:off x="8174735" y="3352800"/>
              <a:ext cx="131445" cy="41910"/>
            </a:xfrm>
            <a:custGeom>
              <a:avLst/>
              <a:gdLst/>
              <a:ahLst/>
              <a:cxnLst/>
              <a:rect l="l" t="t" r="r" b="b"/>
              <a:pathLst>
                <a:path w="131445" h="41910">
                  <a:moveTo>
                    <a:pt x="131064" y="0"/>
                  </a:moveTo>
                  <a:lnTo>
                    <a:pt x="0" y="17525"/>
                  </a:lnTo>
                  <a:lnTo>
                    <a:pt x="10986" y="41910"/>
                  </a:lnTo>
                  <a:lnTo>
                    <a:pt x="20233" y="41910"/>
                  </a:lnTo>
                  <a:lnTo>
                    <a:pt x="23622" y="40386"/>
                  </a:lnTo>
                  <a:lnTo>
                    <a:pt x="24343" y="41910"/>
                  </a:lnTo>
                  <a:lnTo>
                    <a:pt x="82904" y="41910"/>
                  </a:lnTo>
                  <a:lnTo>
                    <a:pt x="131064" y="0"/>
                  </a:lnTo>
                  <a:close/>
                </a:path>
                <a:path w="131445" h="41910">
                  <a:moveTo>
                    <a:pt x="24343" y="41910"/>
                  </a:moveTo>
                  <a:lnTo>
                    <a:pt x="23622" y="40386"/>
                  </a:lnTo>
                  <a:lnTo>
                    <a:pt x="20233" y="41910"/>
                  </a:lnTo>
                  <a:lnTo>
                    <a:pt x="24343" y="41910"/>
                  </a:lnTo>
                  <a:close/>
                </a:path>
              </a:pathLst>
            </a:custGeom>
            <a:solidFill>
              <a:srgbClr val="000000"/>
            </a:solidFill>
          </p:spPr>
          <p:txBody>
            <a:bodyPr wrap="square" lIns="0" tIns="0" rIns="0" bIns="0" rtlCol="0"/>
            <a:lstStyle/>
            <a:p>
              <a:endParaRPr/>
            </a:p>
          </p:txBody>
        </p:sp>
        <p:sp>
          <p:nvSpPr>
            <p:cNvPr id="17" name="object 17"/>
            <p:cNvSpPr/>
            <p:nvPr/>
          </p:nvSpPr>
          <p:spPr>
            <a:xfrm>
              <a:off x="457200" y="3394710"/>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37" name="object 3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8" name="object 3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43</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778762"/>
            <a:ext cx="4338320" cy="635000"/>
          </a:xfrm>
          <a:prstGeom prst="rect">
            <a:avLst/>
          </a:prstGeom>
        </p:spPr>
        <p:txBody>
          <a:bodyPr vert="horz" wrap="square" lIns="0" tIns="12065" rIns="0" bIns="0" rtlCol="0">
            <a:spAutoFit/>
          </a:bodyPr>
          <a:lstStyle/>
          <a:p>
            <a:pPr marL="298450" marR="5080" indent="-286385">
              <a:lnSpc>
                <a:spcPct val="100000"/>
              </a:lnSpc>
              <a:spcBef>
                <a:spcPts val="95"/>
              </a:spcBef>
              <a:buClr>
                <a:srgbClr val="CC9A00"/>
              </a:buClr>
              <a:buSzPct val="65000"/>
              <a:buFont typeface="Wingdings"/>
              <a:buChar char=""/>
              <a:tabLst>
                <a:tab pos="297815" algn="l"/>
                <a:tab pos="298450" algn="l"/>
              </a:tabLst>
            </a:pPr>
            <a:r>
              <a:rPr sz="2000" spc="-5" dirty="0">
                <a:latin typeface="Arial"/>
                <a:cs typeface="Arial"/>
              </a:rPr>
              <a:t>Các thuộc tính (properties) của lớp  (loại) cha được kế thừa cho các</a:t>
            </a:r>
            <a:r>
              <a:rPr sz="2000" spc="-45" dirty="0">
                <a:latin typeface="Arial"/>
                <a:cs typeface="Arial"/>
              </a:rPr>
              <a:t> </a:t>
            </a:r>
            <a:r>
              <a:rPr sz="2000" spc="-5" dirty="0">
                <a:latin typeface="Arial"/>
                <a:cs typeface="Arial"/>
              </a:rPr>
              <a:t>lớp</a:t>
            </a:r>
            <a:endParaRPr sz="2000">
              <a:latin typeface="Arial"/>
              <a:cs typeface="Arial"/>
            </a:endParaRPr>
          </a:p>
        </p:txBody>
      </p:sp>
      <p:sp>
        <p:nvSpPr>
          <p:cNvPr id="7" name="object 7"/>
          <p:cNvSpPr txBox="1"/>
          <p:nvPr/>
        </p:nvSpPr>
        <p:spPr>
          <a:xfrm>
            <a:off x="8384540" y="1931923"/>
            <a:ext cx="558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Legs</a:t>
            </a:r>
            <a:endParaRPr sz="1800">
              <a:latin typeface="Arial"/>
              <a:cs typeface="Arial"/>
            </a:endParaRPr>
          </a:p>
        </p:txBody>
      </p:sp>
      <p:sp>
        <p:nvSpPr>
          <p:cNvPr id="8" name="object 8"/>
          <p:cNvSpPr/>
          <p:nvPr/>
        </p:nvSpPr>
        <p:spPr>
          <a:xfrm>
            <a:off x="7840030" y="2133600"/>
            <a:ext cx="466090" cy="281940"/>
          </a:xfrm>
          <a:custGeom>
            <a:avLst/>
            <a:gdLst/>
            <a:ahLst/>
            <a:cxnLst/>
            <a:rect l="l" t="t" r="r" b="b"/>
            <a:pathLst>
              <a:path w="466090" h="281939">
                <a:moveTo>
                  <a:pt x="363037" y="74380"/>
                </a:moveTo>
                <a:lnTo>
                  <a:pt x="354536" y="60745"/>
                </a:lnTo>
                <a:lnTo>
                  <a:pt x="0" y="281939"/>
                </a:lnTo>
                <a:lnTo>
                  <a:pt x="29992" y="281939"/>
                </a:lnTo>
                <a:lnTo>
                  <a:pt x="363037" y="74380"/>
                </a:lnTo>
                <a:close/>
              </a:path>
              <a:path w="466090" h="281939">
                <a:moveTo>
                  <a:pt x="465769" y="0"/>
                </a:moveTo>
                <a:lnTo>
                  <a:pt x="338515" y="35051"/>
                </a:lnTo>
                <a:lnTo>
                  <a:pt x="354536" y="60745"/>
                </a:lnTo>
                <a:lnTo>
                  <a:pt x="365185" y="54101"/>
                </a:lnTo>
                <a:lnTo>
                  <a:pt x="373567" y="67817"/>
                </a:lnTo>
                <a:lnTo>
                  <a:pt x="373567" y="91267"/>
                </a:lnTo>
                <a:lnTo>
                  <a:pt x="378901" y="99821"/>
                </a:lnTo>
                <a:lnTo>
                  <a:pt x="465769" y="0"/>
                </a:lnTo>
                <a:close/>
              </a:path>
              <a:path w="466090" h="281939">
                <a:moveTo>
                  <a:pt x="373567" y="67817"/>
                </a:moveTo>
                <a:lnTo>
                  <a:pt x="365185" y="54101"/>
                </a:lnTo>
                <a:lnTo>
                  <a:pt x="354536" y="60745"/>
                </a:lnTo>
                <a:lnTo>
                  <a:pt x="363037" y="74380"/>
                </a:lnTo>
                <a:lnTo>
                  <a:pt x="373567" y="67817"/>
                </a:lnTo>
                <a:close/>
              </a:path>
              <a:path w="466090" h="281939">
                <a:moveTo>
                  <a:pt x="373567" y="91267"/>
                </a:moveTo>
                <a:lnTo>
                  <a:pt x="373567" y="67817"/>
                </a:lnTo>
                <a:lnTo>
                  <a:pt x="363037" y="74380"/>
                </a:lnTo>
                <a:lnTo>
                  <a:pt x="373567" y="91267"/>
                </a:lnTo>
                <a:close/>
              </a:path>
            </a:pathLst>
          </a:custGeom>
          <a:solidFill>
            <a:srgbClr val="000000"/>
          </a:solidFill>
        </p:spPr>
        <p:txBody>
          <a:bodyPr wrap="square" lIns="0" tIns="0" rIns="0" bIns="0" rtlCol="0"/>
          <a:lstStyle/>
          <a:p>
            <a:endParaRPr/>
          </a:p>
        </p:txBody>
      </p:sp>
      <p:sp>
        <p:nvSpPr>
          <p:cNvPr id="9" name="object 9"/>
          <p:cNvSpPr txBox="1"/>
          <p:nvPr/>
        </p:nvSpPr>
        <p:spPr>
          <a:xfrm>
            <a:off x="1278889" y="2388362"/>
            <a:ext cx="1068705"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Arial"/>
                <a:cs typeface="Arial"/>
              </a:rPr>
              <a:t>(loại)</a:t>
            </a:r>
            <a:r>
              <a:rPr sz="2000" spc="-70" dirty="0">
                <a:latin typeface="Arial"/>
                <a:cs typeface="Arial"/>
              </a:rPr>
              <a:t> </a:t>
            </a:r>
            <a:r>
              <a:rPr sz="2000" spc="-10" dirty="0">
                <a:latin typeface="Arial"/>
                <a:cs typeface="Arial"/>
              </a:rPr>
              <a:t>con</a:t>
            </a:r>
            <a:endParaRPr sz="2000">
              <a:latin typeface="Arial"/>
              <a:cs typeface="Arial"/>
            </a:endParaRPr>
          </a:p>
        </p:txBody>
      </p:sp>
      <p:sp>
        <p:nvSpPr>
          <p:cNvPr id="10" name="object 10"/>
          <p:cNvSpPr txBox="1"/>
          <p:nvPr/>
        </p:nvSpPr>
        <p:spPr>
          <a:xfrm>
            <a:off x="993139" y="2845562"/>
            <a:ext cx="4789170" cy="635000"/>
          </a:xfrm>
          <a:prstGeom prst="rect">
            <a:avLst/>
          </a:prstGeom>
        </p:spPr>
        <p:txBody>
          <a:bodyPr vert="horz" wrap="square" lIns="0" tIns="12065" rIns="0" bIns="0" rtlCol="0">
            <a:spAutoFit/>
          </a:bodyPr>
          <a:lstStyle/>
          <a:p>
            <a:pPr marL="298450" marR="5080" indent="-285750">
              <a:lnSpc>
                <a:spcPct val="100000"/>
              </a:lnSpc>
              <a:spcBef>
                <a:spcPts val="95"/>
              </a:spcBef>
              <a:buClr>
                <a:srgbClr val="CC9A00"/>
              </a:buClr>
              <a:buSzPct val="65000"/>
              <a:buFont typeface="Wingdings"/>
              <a:buChar char=""/>
              <a:tabLst>
                <a:tab pos="297815" algn="l"/>
                <a:tab pos="298450" algn="l"/>
                <a:tab pos="1946275" algn="l"/>
              </a:tabLst>
            </a:pPr>
            <a:r>
              <a:rPr sz="2000" b="1" spc="-5" dirty="0">
                <a:latin typeface="Arial"/>
                <a:cs typeface="Arial"/>
              </a:rPr>
              <a:t>Kế thừa toàn bộ (Universal  </a:t>
            </a:r>
            <a:r>
              <a:rPr sz="2000" b="1" spc="-10" dirty="0">
                <a:latin typeface="Arial"/>
                <a:cs typeface="Arial"/>
              </a:rPr>
              <a:t>inheritance)</a:t>
            </a:r>
            <a:r>
              <a:rPr sz="2000" spc="-10" dirty="0">
                <a:latin typeface="Arial"/>
                <a:cs typeface="Arial"/>
              </a:rPr>
              <a:t>:	</a:t>
            </a:r>
            <a:r>
              <a:rPr sz="2000" spc="-5" dirty="0">
                <a:latin typeface="Arial"/>
                <a:cs typeface="Arial"/>
              </a:rPr>
              <a:t>Tất cả các quan hệ</a:t>
            </a:r>
            <a:r>
              <a:rPr sz="2000" spc="-90" dirty="0">
                <a:latin typeface="Arial"/>
                <a:cs typeface="Arial"/>
              </a:rPr>
              <a:t> </a:t>
            </a:r>
            <a:r>
              <a:rPr sz="2000" spc="-5" dirty="0">
                <a:latin typeface="Arial"/>
                <a:cs typeface="Arial"/>
              </a:rPr>
              <a:t>được</a:t>
            </a:r>
            <a:endParaRPr sz="2000">
              <a:latin typeface="Arial"/>
              <a:cs typeface="Arial"/>
            </a:endParaRPr>
          </a:p>
        </p:txBody>
      </p:sp>
      <p:sp>
        <p:nvSpPr>
          <p:cNvPr id="11" name="object 11"/>
          <p:cNvSpPr txBox="1"/>
          <p:nvPr/>
        </p:nvSpPr>
        <p:spPr>
          <a:xfrm>
            <a:off x="6708140" y="2846323"/>
            <a:ext cx="94106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Mammal</a:t>
            </a:r>
            <a:endParaRPr sz="1800">
              <a:latin typeface="Arial"/>
              <a:cs typeface="Arial"/>
            </a:endParaRPr>
          </a:p>
        </p:txBody>
      </p:sp>
      <p:sp>
        <p:nvSpPr>
          <p:cNvPr id="12" name="object 12"/>
          <p:cNvSpPr txBox="1"/>
          <p:nvPr/>
        </p:nvSpPr>
        <p:spPr>
          <a:xfrm>
            <a:off x="8384540" y="3151123"/>
            <a:ext cx="5467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G</a:t>
            </a:r>
            <a:r>
              <a:rPr sz="1800" b="1" dirty="0">
                <a:latin typeface="Arial"/>
                <a:cs typeface="Arial"/>
              </a:rPr>
              <a:t>rey</a:t>
            </a:r>
            <a:endParaRPr sz="1800">
              <a:latin typeface="Arial"/>
              <a:cs typeface="Arial"/>
            </a:endParaRPr>
          </a:p>
        </p:txBody>
      </p:sp>
      <p:sp>
        <p:nvSpPr>
          <p:cNvPr id="13" name="object 13"/>
          <p:cNvSpPr/>
          <p:nvPr/>
        </p:nvSpPr>
        <p:spPr>
          <a:xfrm>
            <a:off x="7082790" y="2415539"/>
            <a:ext cx="787400" cy="485775"/>
          </a:xfrm>
          <a:custGeom>
            <a:avLst/>
            <a:gdLst/>
            <a:ahLst/>
            <a:cxnLst/>
            <a:rect l="l" t="t" r="r" b="b"/>
            <a:pathLst>
              <a:path w="787400" h="485775">
                <a:moveTo>
                  <a:pt x="787233" y="0"/>
                </a:moveTo>
                <a:lnTo>
                  <a:pt x="757240" y="0"/>
                </a:lnTo>
                <a:lnTo>
                  <a:pt x="0" y="472440"/>
                </a:lnTo>
                <a:lnTo>
                  <a:pt x="8381" y="485394"/>
                </a:lnTo>
                <a:lnTo>
                  <a:pt x="787233" y="0"/>
                </a:lnTo>
                <a:close/>
              </a:path>
            </a:pathLst>
          </a:custGeom>
          <a:solidFill>
            <a:srgbClr val="000000"/>
          </a:solidFill>
        </p:spPr>
        <p:txBody>
          <a:bodyPr wrap="square" lIns="0" tIns="0" rIns="0" bIns="0" rtlCol="0"/>
          <a:lstStyle/>
          <a:p>
            <a:endParaRPr/>
          </a:p>
        </p:txBody>
      </p:sp>
      <p:sp>
        <p:nvSpPr>
          <p:cNvPr id="18" name="object 18"/>
          <p:cNvSpPr txBox="1"/>
          <p:nvPr/>
        </p:nvSpPr>
        <p:spPr>
          <a:xfrm>
            <a:off x="7698740" y="2465324"/>
            <a:ext cx="77089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has-part</a:t>
            </a:r>
            <a:endParaRPr sz="1600">
              <a:latin typeface="Arial"/>
              <a:cs typeface="Arial"/>
            </a:endParaRPr>
          </a:p>
        </p:txBody>
      </p:sp>
      <p:sp>
        <p:nvSpPr>
          <p:cNvPr id="19" name="object 19"/>
          <p:cNvSpPr txBox="1"/>
          <p:nvPr/>
        </p:nvSpPr>
        <p:spPr>
          <a:xfrm>
            <a:off x="1278902" y="3455161"/>
            <a:ext cx="88646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Arial"/>
                <a:cs typeface="Arial"/>
              </a:rPr>
              <a:t>kế</a:t>
            </a:r>
            <a:r>
              <a:rPr sz="2000" spc="-85" dirty="0">
                <a:latin typeface="Arial"/>
                <a:cs typeface="Arial"/>
              </a:rPr>
              <a:t> </a:t>
            </a:r>
            <a:r>
              <a:rPr sz="2000" spc="-5" dirty="0">
                <a:latin typeface="Arial"/>
                <a:cs typeface="Arial"/>
              </a:rPr>
              <a:t>thừa</a:t>
            </a:r>
            <a:endParaRPr sz="2000">
              <a:latin typeface="Arial"/>
              <a:cs typeface="Arial"/>
            </a:endParaRPr>
          </a:p>
        </p:txBody>
      </p:sp>
      <p:sp>
        <p:nvSpPr>
          <p:cNvPr id="20" name="object 20"/>
          <p:cNvSpPr txBox="1"/>
          <p:nvPr/>
        </p:nvSpPr>
        <p:spPr>
          <a:xfrm>
            <a:off x="6098540" y="4065523"/>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Elephant</a:t>
            </a:r>
            <a:endParaRPr sz="1800">
              <a:latin typeface="Arial"/>
              <a:cs typeface="Arial"/>
            </a:endParaRPr>
          </a:p>
        </p:txBody>
      </p:sp>
      <p:sp>
        <p:nvSpPr>
          <p:cNvPr id="21" name="object 21"/>
          <p:cNvSpPr/>
          <p:nvPr/>
        </p:nvSpPr>
        <p:spPr>
          <a:xfrm>
            <a:off x="6622542" y="3394709"/>
            <a:ext cx="309245" cy="646430"/>
          </a:xfrm>
          <a:custGeom>
            <a:avLst/>
            <a:gdLst/>
            <a:ahLst/>
            <a:cxnLst/>
            <a:rect l="l" t="t" r="r" b="b"/>
            <a:pathLst>
              <a:path w="309245" h="646429">
                <a:moveTo>
                  <a:pt x="308682" y="0"/>
                </a:moveTo>
                <a:lnTo>
                  <a:pt x="291385" y="0"/>
                </a:lnTo>
                <a:lnTo>
                  <a:pt x="0" y="639318"/>
                </a:lnTo>
                <a:lnTo>
                  <a:pt x="14477" y="646176"/>
                </a:lnTo>
                <a:lnTo>
                  <a:pt x="308682" y="0"/>
                </a:lnTo>
                <a:close/>
              </a:path>
            </a:pathLst>
          </a:custGeom>
          <a:solidFill>
            <a:srgbClr val="000000"/>
          </a:solidFill>
        </p:spPr>
        <p:txBody>
          <a:bodyPr wrap="square" lIns="0" tIns="0" rIns="0" bIns="0" rtlCol="0"/>
          <a:lstStyle/>
          <a:p>
            <a:endParaRPr/>
          </a:p>
        </p:txBody>
      </p:sp>
      <p:sp>
        <p:nvSpPr>
          <p:cNvPr id="22" name="object 22"/>
          <p:cNvSpPr txBox="1"/>
          <p:nvPr/>
        </p:nvSpPr>
        <p:spPr>
          <a:xfrm>
            <a:off x="6327140" y="34559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23" name="object 23"/>
          <p:cNvSpPr/>
          <p:nvPr/>
        </p:nvSpPr>
        <p:spPr>
          <a:xfrm>
            <a:off x="6778752" y="3394709"/>
            <a:ext cx="1478915" cy="651510"/>
          </a:xfrm>
          <a:custGeom>
            <a:avLst/>
            <a:gdLst/>
            <a:ahLst/>
            <a:cxnLst/>
            <a:rect l="l" t="t" r="r" b="b"/>
            <a:pathLst>
              <a:path w="1478915" h="651510">
                <a:moveTo>
                  <a:pt x="1415108" y="18062"/>
                </a:moveTo>
                <a:lnTo>
                  <a:pt x="1408528" y="3458"/>
                </a:lnTo>
                <a:lnTo>
                  <a:pt x="0" y="637032"/>
                </a:lnTo>
                <a:lnTo>
                  <a:pt x="6857" y="651510"/>
                </a:lnTo>
                <a:lnTo>
                  <a:pt x="1415108" y="18062"/>
                </a:lnTo>
                <a:close/>
              </a:path>
              <a:path w="1478915" h="651510">
                <a:moveTo>
                  <a:pt x="1416217" y="0"/>
                </a:moveTo>
                <a:lnTo>
                  <a:pt x="1406970" y="0"/>
                </a:lnTo>
                <a:lnTo>
                  <a:pt x="1408528" y="3458"/>
                </a:lnTo>
                <a:lnTo>
                  <a:pt x="1416217" y="0"/>
                </a:lnTo>
                <a:close/>
              </a:path>
              <a:path w="1478915" h="651510">
                <a:moveTo>
                  <a:pt x="1426464" y="12954"/>
                </a:moveTo>
                <a:lnTo>
                  <a:pt x="1420327" y="0"/>
                </a:lnTo>
                <a:lnTo>
                  <a:pt x="1416217" y="0"/>
                </a:lnTo>
                <a:lnTo>
                  <a:pt x="1408528" y="3458"/>
                </a:lnTo>
                <a:lnTo>
                  <a:pt x="1415108" y="18062"/>
                </a:lnTo>
                <a:lnTo>
                  <a:pt x="1426464" y="12954"/>
                </a:lnTo>
                <a:close/>
              </a:path>
              <a:path w="1478915" h="651510">
                <a:moveTo>
                  <a:pt x="1426464" y="43266"/>
                </a:moveTo>
                <a:lnTo>
                  <a:pt x="1426464" y="12954"/>
                </a:lnTo>
                <a:lnTo>
                  <a:pt x="1415108" y="18062"/>
                </a:lnTo>
                <a:lnTo>
                  <a:pt x="1426464" y="43266"/>
                </a:lnTo>
                <a:close/>
              </a:path>
              <a:path w="1478915" h="651510">
                <a:moveTo>
                  <a:pt x="1478888" y="0"/>
                </a:moveTo>
                <a:lnTo>
                  <a:pt x="1420327" y="0"/>
                </a:lnTo>
                <a:lnTo>
                  <a:pt x="1426464" y="12954"/>
                </a:lnTo>
                <a:lnTo>
                  <a:pt x="1426464" y="43266"/>
                </a:lnTo>
                <a:lnTo>
                  <a:pt x="1427226" y="44958"/>
                </a:lnTo>
                <a:lnTo>
                  <a:pt x="1478888" y="0"/>
                </a:lnTo>
                <a:close/>
              </a:path>
            </a:pathLst>
          </a:custGeom>
          <a:solidFill>
            <a:srgbClr val="000000"/>
          </a:solidFill>
        </p:spPr>
        <p:txBody>
          <a:bodyPr wrap="square" lIns="0" tIns="0" rIns="0" bIns="0" rtlCol="0"/>
          <a:lstStyle/>
          <a:p>
            <a:endParaRPr/>
          </a:p>
        </p:txBody>
      </p:sp>
      <p:sp>
        <p:nvSpPr>
          <p:cNvPr id="24" name="object 24"/>
          <p:cNvSpPr txBox="1"/>
          <p:nvPr/>
        </p:nvSpPr>
        <p:spPr>
          <a:xfrm>
            <a:off x="7546340" y="3684524"/>
            <a:ext cx="86106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has-color</a:t>
            </a:r>
            <a:endParaRPr sz="1600">
              <a:latin typeface="Arial"/>
              <a:cs typeface="Arial"/>
            </a:endParaRPr>
          </a:p>
        </p:txBody>
      </p:sp>
      <p:sp>
        <p:nvSpPr>
          <p:cNvPr id="25" name="object 25"/>
          <p:cNvSpPr txBox="1"/>
          <p:nvPr/>
        </p:nvSpPr>
        <p:spPr>
          <a:xfrm>
            <a:off x="993139" y="3912361"/>
            <a:ext cx="4411345" cy="635000"/>
          </a:xfrm>
          <a:prstGeom prst="rect">
            <a:avLst/>
          </a:prstGeom>
        </p:spPr>
        <p:txBody>
          <a:bodyPr vert="horz" wrap="square" lIns="0" tIns="12065" rIns="0" bIns="0" rtlCol="0">
            <a:spAutoFit/>
          </a:bodyPr>
          <a:lstStyle/>
          <a:p>
            <a:pPr marL="298450" marR="5080" indent="-285750">
              <a:lnSpc>
                <a:spcPct val="100000"/>
              </a:lnSpc>
              <a:spcBef>
                <a:spcPts val="95"/>
              </a:spcBef>
              <a:buClr>
                <a:srgbClr val="CC9A00"/>
              </a:buClr>
              <a:buSzPct val="65000"/>
              <a:buFont typeface="Wingdings"/>
              <a:buChar char=""/>
              <a:tabLst>
                <a:tab pos="297815" algn="l"/>
                <a:tab pos="298450" algn="l"/>
                <a:tab pos="1946275" algn="l"/>
              </a:tabLst>
            </a:pPr>
            <a:r>
              <a:rPr sz="2000" b="1" spc="-5" dirty="0">
                <a:latin typeface="Arial"/>
                <a:cs typeface="Arial"/>
              </a:rPr>
              <a:t>Kế thừa mặc định </a:t>
            </a:r>
            <a:r>
              <a:rPr sz="2000" b="1" spc="-10" dirty="0">
                <a:latin typeface="Arial"/>
                <a:cs typeface="Arial"/>
              </a:rPr>
              <a:t>(Default  inheritance)</a:t>
            </a:r>
            <a:r>
              <a:rPr sz="2000" spc="-10" dirty="0">
                <a:latin typeface="Arial"/>
                <a:cs typeface="Arial"/>
              </a:rPr>
              <a:t>:	</a:t>
            </a:r>
            <a:r>
              <a:rPr sz="2000" spc="-5" dirty="0">
                <a:latin typeface="Arial"/>
                <a:cs typeface="Arial"/>
              </a:rPr>
              <a:t>Các quan hệ được</a:t>
            </a:r>
            <a:r>
              <a:rPr sz="2000" spc="-80" dirty="0">
                <a:latin typeface="Arial"/>
                <a:cs typeface="Arial"/>
              </a:rPr>
              <a:t> </a:t>
            </a:r>
            <a:r>
              <a:rPr sz="2000" spc="-5" dirty="0">
                <a:latin typeface="Arial"/>
                <a:cs typeface="Arial"/>
              </a:rPr>
              <a:t>kế</a:t>
            </a:r>
            <a:endParaRPr sz="2000">
              <a:latin typeface="Arial"/>
              <a:cs typeface="Arial"/>
            </a:endParaRPr>
          </a:p>
        </p:txBody>
      </p:sp>
      <p:sp>
        <p:nvSpPr>
          <p:cNvPr id="26" name="object 26"/>
          <p:cNvSpPr txBox="1"/>
          <p:nvPr/>
        </p:nvSpPr>
        <p:spPr>
          <a:xfrm>
            <a:off x="1278878" y="4521961"/>
            <a:ext cx="3815715" cy="635000"/>
          </a:xfrm>
          <a:prstGeom prst="rect">
            <a:avLst/>
          </a:prstGeom>
        </p:spPr>
        <p:txBody>
          <a:bodyPr vert="horz" wrap="square" lIns="0" tIns="12065" rIns="0" bIns="0" rtlCol="0">
            <a:spAutoFit/>
          </a:bodyPr>
          <a:lstStyle/>
          <a:p>
            <a:pPr marL="12700" marR="5080">
              <a:lnSpc>
                <a:spcPct val="100000"/>
              </a:lnSpc>
              <a:spcBef>
                <a:spcPts val="95"/>
              </a:spcBef>
            </a:pPr>
            <a:r>
              <a:rPr sz="2000" spc="-5" dirty="0">
                <a:latin typeface="Arial"/>
                <a:cs typeface="Arial"/>
              </a:rPr>
              <a:t>thừa, trừ khi có các thông tin mâu  thuẫn (với nút cha) ở một nút</a:t>
            </a:r>
            <a:r>
              <a:rPr sz="2000" spc="-90" dirty="0">
                <a:latin typeface="Arial"/>
                <a:cs typeface="Arial"/>
              </a:rPr>
              <a:t> </a:t>
            </a:r>
            <a:r>
              <a:rPr sz="2000" spc="-10" dirty="0">
                <a:latin typeface="Arial"/>
                <a:cs typeface="Arial"/>
              </a:rPr>
              <a:t>con</a:t>
            </a:r>
            <a:endParaRPr sz="2000">
              <a:latin typeface="Arial"/>
              <a:cs typeface="Arial"/>
            </a:endParaRPr>
          </a:p>
        </p:txBody>
      </p:sp>
      <p:sp>
        <p:nvSpPr>
          <p:cNvPr id="27" name="object 27"/>
          <p:cNvSpPr txBox="1"/>
          <p:nvPr/>
        </p:nvSpPr>
        <p:spPr>
          <a:xfrm>
            <a:off x="8384540" y="4523485"/>
            <a:ext cx="6470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White</a:t>
            </a:r>
            <a:endParaRPr sz="1800">
              <a:latin typeface="Arial"/>
              <a:cs typeface="Arial"/>
            </a:endParaRPr>
          </a:p>
        </p:txBody>
      </p:sp>
      <p:sp>
        <p:nvSpPr>
          <p:cNvPr id="28" name="object 28"/>
          <p:cNvSpPr/>
          <p:nvPr/>
        </p:nvSpPr>
        <p:spPr>
          <a:xfrm>
            <a:off x="6594347" y="4423409"/>
            <a:ext cx="76200" cy="929640"/>
          </a:xfrm>
          <a:custGeom>
            <a:avLst/>
            <a:gdLst/>
            <a:ahLst/>
            <a:cxnLst/>
            <a:rect l="l" t="t" r="r" b="b"/>
            <a:pathLst>
              <a:path w="76200" h="929639">
                <a:moveTo>
                  <a:pt x="76200" y="126491"/>
                </a:moveTo>
                <a:lnTo>
                  <a:pt x="38861" y="0"/>
                </a:lnTo>
                <a:lnTo>
                  <a:pt x="0" y="126491"/>
                </a:lnTo>
                <a:lnTo>
                  <a:pt x="30458" y="126491"/>
                </a:lnTo>
                <a:lnTo>
                  <a:pt x="30479" y="114300"/>
                </a:lnTo>
                <a:lnTo>
                  <a:pt x="46481" y="114300"/>
                </a:lnTo>
                <a:lnTo>
                  <a:pt x="46481" y="126491"/>
                </a:lnTo>
                <a:lnTo>
                  <a:pt x="76200" y="126491"/>
                </a:lnTo>
                <a:close/>
              </a:path>
              <a:path w="76200" h="929639">
                <a:moveTo>
                  <a:pt x="46460" y="126491"/>
                </a:moveTo>
                <a:lnTo>
                  <a:pt x="30458" y="126491"/>
                </a:lnTo>
                <a:lnTo>
                  <a:pt x="29059" y="929639"/>
                </a:lnTo>
                <a:lnTo>
                  <a:pt x="45061" y="929639"/>
                </a:lnTo>
                <a:lnTo>
                  <a:pt x="46460" y="126491"/>
                </a:lnTo>
                <a:close/>
              </a:path>
              <a:path w="76200" h="929639">
                <a:moveTo>
                  <a:pt x="46481" y="114300"/>
                </a:moveTo>
                <a:lnTo>
                  <a:pt x="30479" y="114300"/>
                </a:lnTo>
                <a:lnTo>
                  <a:pt x="30458" y="126491"/>
                </a:lnTo>
                <a:lnTo>
                  <a:pt x="46460" y="126491"/>
                </a:lnTo>
                <a:lnTo>
                  <a:pt x="46481" y="114300"/>
                </a:lnTo>
                <a:close/>
              </a:path>
              <a:path w="76200" h="929639">
                <a:moveTo>
                  <a:pt x="46481" y="126491"/>
                </a:moveTo>
                <a:lnTo>
                  <a:pt x="46481" y="114300"/>
                </a:lnTo>
                <a:lnTo>
                  <a:pt x="46460" y="126491"/>
                </a:lnTo>
                <a:close/>
              </a:path>
            </a:pathLst>
          </a:custGeom>
          <a:solidFill>
            <a:srgbClr val="000000"/>
          </a:solidFill>
        </p:spPr>
        <p:txBody>
          <a:bodyPr wrap="square" lIns="0" tIns="0" rIns="0" bIns="0" rtlCol="0"/>
          <a:lstStyle/>
          <a:p>
            <a:endParaRPr/>
          </a:p>
        </p:txBody>
      </p:sp>
      <p:sp>
        <p:nvSpPr>
          <p:cNvPr id="29" name="object 29"/>
          <p:cNvSpPr txBox="1"/>
          <p:nvPr/>
        </p:nvSpPr>
        <p:spPr>
          <a:xfrm>
            <a:off x="6631940" y="4752085"/>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30" name="object 30"/>
          <p:cNvSpPr/>
          <p:nvPr/>
        </p:nvSpPr>
        <p:spPr>
          <a:xfrm>
            <a:off x="6884020" y="4681728"/>
            <a:ext cx="1422400" cy="671830"/>
          </a:xfrm>
          <a:custGeom>
            <a:avLst/>
            <a:gdLst/>
            <a:ahLst/>
            <a:cxnLst/>
            <a:rect l="l" t="t" r="r" b="b"/>
            <a:pathLst>
              <a:path w="1422400" h="671829">
                <a:moveTo>
                  <a:pt x="1311216" y="61889"/>
                </a:moveTo>
                <a:lnTo>
                  <a:pt x="1304604" y="48049"/>
                </a:lnTo>
                <a:lnTo>
                  <a:pt x="0" y="671322"/>
                </a:lnTo>
                <a:lnTo>
                  <a:pt x="37010" y="671322"/>
                </a:lnTo>
                <a:lnTo>
                  <a:pt x="1311216" y="61889"/>
                </a:lnTo>
                <a:close/>
              </a:path>
              <a:path w="1422400" h="671829">
                <a:moveTo>
                  <a:pt x="1421779" y="0"/>
                </a:moveTo>
                <a:lnTo>
                  <a:pt x="1291477" y="20574"/>
                </a:lnTo>
                <a:lnTo>
                  <a:pt x="1304604" y="48049"/>
                </a:lnTo>
                <a:lnTo>
                  <a:pt x="1315861" y="42672"/>
                </a:lnTo>
                <a:lnTo>
                  <a:pt x="1322719" y="56387"/>
                </a:lnTo>
                <a:lnTo>
                  <a:pt x="1322719" y="85964"/>
                </a:lnTo>
                <a:lnTo>
                  <a:pt x="1324243" y="89154"/>
                </a:lnTo>
                <a:lnTo>
                  <a:pt x="1421779" y="0"/>
                </a:lnTo>
                <a:close/>
              </a:path>
              <a:path w="1422400" h="671829">
                <a:moveTo>
                  <a:pt x="1322719" y="56387"/>
                </a:moveTo>
                <a:lnTo>
                  <a:pt x="1315861" y="42672"/>
                </a:lnTo>
                <a:lnTo>
                  <a:pt x="1304604" y="48049"/>
                </a:lnTo>
                <a:lnTo>
                  <a:pt x="1311216" y="61889"/>
                </a:lnTo>
                <a:lnTo>
                  <a:pt x="1322719" y="56387"/>
                </a:lnTo>
                <a:close/>
              </a:path>
              <a:path w="1422400" h="671829">
                <a:moveTo>
                  <a:pt x="1322719" y="85964"/>
                </a:moveTo>
                <a:lnTo>
                  <a:pt x="1322719" y="56387"/>
                </a:lnTo>
                <a:lnTo>
                  <a:pt x="1311216" y="61889"/>
                </a:lnTo>
                <a:lnTo>
                  <a:pt x="1322719" y="85964"/>
                </a:lnTo>
                <a:close/>
              </a:path>
            </a:pathLst>
          </a:custGeom>
          <a:solidFill>
            <a:srgbClr val="000000"/>
          </a:solidFill>
        </p:spPr>
        <p:txBody>
          <a:bodyPr wrap="square" lIns="0" tIns="0" rIns="0" bIns="0" rtlCol="0"/>
          <a:lstStyle/>
          <a:p>
            <a:endParaRPr/>
          </a:p>
        </p:txBody>
      </p:sp>
      <p:sp>
        <p:nvSpPr>
          <p:cNvPr id="31" name="object 31"/>
          <p:cNvSpPr txBox="1"/>
          <p:nvPr/>
        </p:nvSpPr>
        <p:spPr>
          <a:xfrm>
            <a:off x="7393940" y="5056885"/>
            <a:ext cx="86106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has-color</a:t>
            </a:r>
            <a:endParaRPr sz="1600">
              <a:latin typeface="Arial"/>
              <a:cs typeface="Arial"/>
            </a:endParaRPr>
          </a:p>
        </p:txBody>
      </p:sp>
      <p:sp>
        <p:nvSpPr>
          <p:cNvPr id="33" name="object 33"/>
          <p:cNvSpPr txBox="1"/>
          <p:nvPr/>
        </p:nvSpPr>
        <p:spPr>
          <a:xfrm>
            <a:off x="6327140" y="5437885"/>
            <a:ext cx="647700" cy="299720"/>
          </a:xfrm>
          <a:prstGeom prst="rect">
            <a:avLst/>
          </a:prstGeom>
        </p:spPr>
        <p:txBody>
          <a:bodyPr vert="horz" wrap="square" lIns="0" tIns="12700" rIns="0" bIns="0" rtlCol="0">
            <a:spAutoFit/>
          </a:bodyPr>
          <a:lstStyle/>
          <a:p>
            <a:pPr marL="12700">
              <a:lnSpc>
                <a:spcPct val="100000"/>
              </a:lnSpc>
              <a:spcBef>
                <a:spcPts val="100"/>
              </a:spcBef>
            </a:pPr>
            <a:r>
              <a:rPr sz="1800" b="1" spc="-5" dirty="0">
                <a:solidFill>
                  <a:srgbClr val="0000FF"/>
                </a:solidFill>
                <a:latin typeface="Arial"/>
                <a:cs typeface="Arial"/>
              </a:rPr>
              <a:t>Clyde</a:t>
            </a:r>
            <a:endParaRPr sz="1800">
              <a:latin typeface="Arial"/>
              <a:cs typeface="Arial"/>
            </a:endParaRPr>
          </a:p>
        </p:txBody>
      </p:sp>
      <p:sp>
        <p:nvSpPr>
          <p:cNvPr id="34" name="object 34"/>
          <p:cNvSpPr/>
          <p:nvPr/>
        </p:nvSpPr>
        <p:spPr>
          <a:xfrm>
            <a:off x="6623304" y="5353050"/>
            <a:ext cx="16510" cy="59690"/>
          </a:xfrm>
          <a:custGeom>
            <a:avLst/>
            <a:gdLst/>
            <a:ahLst/>
            <a:cxnLst/>
            <a:rect l="l" t="t" r="r" b="b"/>
            <a:pathLst>
              <a:path w="16509" h="59689">
                <a:moveTo>
                  <a:pt x="0" y="59436"/>
                </a:moveTo>
                <a:lnTo>
                  <a:pt x="103" y="0"/>
                </a:lnTo>
                <a:lnTo>
                  <a:pt x="16105" y="0"/>
                </a:lnTo>
                <a:lnTo>
                  <a:pt x="16001" y="59436"/>
                </a:lnTo>
                <a:lnTo>
                  <a:pt x="0" y="59436"/>
                </a:lnTo>
                <a:close/>
              </a:path>
            </a:pathLst>
          </a:custGeom>
          <a:solidFill>
            <a:srgbClr val="000000"/>
          </a:solidFill>
        </p:spPr>
        <p:txBody>
          <a:bodyPr wrap="square" lIns="0" tIns="0" rIns="0" bIns="0" rtlCol="0"/>
          <a:lstStyle/>
          <a:p>
            <a:endParaRPr/>
          </a:p>
        </p:txBody>
      </p:sp>
      <p:sp>
        <p:nvSpPr>
          <p:cNvPr id="35" name="object 35"/>
          <p:cNvSpPr/>
          <p:nvPr/>
        </p:nvSpPr>
        <p:spPr>
          <a:xfrm>
            <a:off x="6778752" y="5353050"/>
            <a:ext cx="142875" cy="64769"/>
          </a:xfrm>
          <a:custGeom>
            <a:avLst/>
            <a:gdLst/>
            <a:ahLst/>
            <a:cxnLst/>
            <a:rect l="l" t="t" r="r" b="b"/>
            <a:pathLst>
              <a:path w="142875" h="64770">
                <a:moveTo>
                  <a:pt x="142279" y="0"/>
                </a:moveTo>
                <a:lnTo>
                  <a:pt x="105268" y="0"/>
                </a:lnTo>
                <a:lnTo>
                  <a:pt x="0" y="50291"/>
                </a:lnTo>
                <a:lnTo>
                  <a:pt x="6857" y="64770"/>
                </a:lnTo>
                <a:lnTo>
                  <a:pt x="142279" y="0"/>
                </a:lnTo>
                <a:close/>
              </a:path>
            </a:pathLst>
          </a:custGeom>
          <a:solidFill>
            <a:srgbClr val="000000"/>
          </a:solidFill>
        </p:spPr>
        <p:txBody>
          <a:bodyPr wrap="square" lIns="0" tIns="0" rIns="0" bIns="0" rtlCol="0"/>
          <a:lstStyle/>
          <a:p>
            <a:endParaRPr/>
          </a:p>
        </p:txBody>
      </p:sp>
      <p:sp>
        <p:nvSpPr>
          <p:cNvPr id="36" name="object 3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40" name="Title 39">
            <a:extLst>
              <a:ext uri="{FF2B5EF4-FFF2-40B4-BE49-F238E27FC236}">
                <a16:creationId xmlns:a16="http://schemas.microsoft.com/office/drawing/2014/main" id="{FFD0F96F-D5C7-4B86-A6ED-C8C4448B1356}"/>
              </a:ext>
            </a:extLst>
          </p:cNvPr>
          <p:cNvSpPr>
            <a:spLocks noGrp="1"/>
          </p:cNvSpPr>
          <p:nvPr>
            <p:ph type="title"/>
          </p:nvPr>
        </p:nvSpPr>
        <p:spPr/>
        <p:txBody>
          <a:bodyPr/>
          <a:lstStyle/>
          <a:p>
            <a:r>
              <a:rPr lang="en-US" b="0">
                <a:latin typeface="Verdana"/>
                <a:cs typeface="Verdana"/>
              </a:rPr>
              <a:t>SN – </a:t>
            </a:r>
            <a:r>
              <a:rPr lang="en-US" b="0" spc="-5">
                <a:latin typeface="Verdana"/>
                <a:cs typeface="Verdana"/>
              </a:rPr>
              <a:t>Tính </a:t>
            </a:r>
            <a:r>
              <a:rPr lang="en-US" b="0">
                <a:latin typeface="Verdana"/>
                <a:cs typeface="Verdana"/>
              </a:rPr>
              <a:t>kế</a:t>
            </a:r>
            <a:r>
              <a:rPr lang="en-US" b="0" spc="-75">
                <a:latin typeface="Verdana"/>
                <a:cs typeface="Verdana"/>
              </a:rPr>
              <a:t> </a:t>
            </a:r>
            <a:r>
              <a:rPr lang="en-US" b="0" spc="-5">
                <a:latin typeface="Verdana"/>
                <a:cs typeface="Verdana"/>
              </a:rPr>
              <a:t>thừa</a:t>
            </a:r>
            <a:endParaRPr lang="en-US" b="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44</a:t>
            </a:fld>
            <a:endParaRPr spc="-40" dirty="0"/>
          </a:p>
        </p:txBody>
      </p:sp>
      <p:grpSp>
        <p:nvGrpSpPr>
          <p:cNvPr id="3" name="object 3"/>
          <p:cNvGrpSpPr/>
          <p:nvPr/>
        </p:nvGrpSpPr>
        <p:grpSpPr>
          <a:xfrm>
            <a:off x="457200" y="1436369"/>
            <a:ext cx="9144000" cy="4895850"/>
            <a:chOff x="457200" y="1436369"/>
            <a:chExt cx="9144000" cy="489585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3916679"/>
            </a:xfrm>
            <a:custGeom>
              <a:avLst/>
              <a:gdLst/>
              <a:ahLst/>
              <a:cxnLst/>
              <a:rect l="l" t="t" r="r" b="b"/>
              <a:pathLst>
                <a:path w="9144000" h="3916679">
                  <a:moveTo>
                    <a:pt x="9144000" y="0"/>
                  </a:moveTo>
                  <a:lnTo>
                    <a:pt x="0" y="0"/>
                  </a:lnTo>
                  <a:lnTo>
                    <a:pt x="0" y="979170"/>
                  </a:lnTo>
                  <a:lnTo>
                    <a:pt x="0" y="1958340"/>
                  </a:lnTo>
                  <a:lnTo>
                    <a:pt x="0" y="2937510"/>
                  </a:lnTo>
                  <a:lnTo>
                    <a:pt x="0" y="3916680"/>
                  </a:lnTo>
                  <a:lnTo>
                    <a:pt x="9144000" y="391668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8054975" cy="2090316"/>
          </a:xfrm>
          <a:prstGeom prst="rect">
            <a:avLst/>
          </a:prstGeom>
        </p:spPr>
        <p:txBody>
          <a:bodyPr vert="horz" wrap="square" lIns="0" tIns="12700" rIns="0" bIns="0" rtlCol="0">
            <a:spAutoFit/>
          </a:bodyPr>
          <a:lstStyle/>
          <a:p>
            <a:pPr marL="298450" marR="47561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Biểu diễn bằng mạng ngữ nghĩa rất trực quan, và gần  với nhận thức (cách biểu diễn) của con</a:t>
            </a:r>
            <a:r>
              <a:rPr sz="2400" spc="55" dirty="0">
                <a:latin typeface="Arial"/>
                <a:cs typeface="Arial"/>
              </a:rPr>
              <a:t> </a:t>
            </a:r>
            <a:r>
              <a:rPr sz="2400" spc="-5" dirty="0">
                <a:latin typeface="Arial"/>
                <a:cs typeface="Arial"/>
              </a:rPr>
              <a:t>người</a:t>
            </a:r>
            <a:endParaRPr sz="2400">
              <a:latin typeface="Arial"/>
              <a:cs typeface="Arial"/>
            </a:endParaRPr>
          </a:p>
          <a:p>
            <a:pPr marL="297815" marR="286385" indent="-285750">
              <a:lnSpc>
                <a:spcPct val="100000"/>
              </a:lnSpc>
              <a:spcBef>
                <a:spcPts val="1800"/>
              </a:spcBef>
              <a:buClr>
                <a:srgbClr val="CC9A00"/>
              </a:buClr>
              <a:buSzPct val="64583"/>
              <a:buFont typeface="Wingdings"/>
              <a:buChar char=""/>
              <a:tabLst>
                <a:tab pos="297815" algn="l"/>
                <a:tab pos="298450" algn="l"/>
                <a:tab pos="1484630" algn="l"/>
              </a:tabLst>
            </a:pPr>
            <a:r>
              <a:rPr sz="2400" spc="-5" dirty="0">
                <a:latin typeface="Arial"/>
                <a:cs typeface="Arial"/>
              </a:rPr>
              <a:t>Nhưng:	Đối với </a:t>
            </a:r>
            <a:r>
              <a:rPr sz="2400" i="1" spc="-5" dirty="0">
                <a:latin typeface="Arial"/>
                <a:cs typeface="Arial"/>
              </a:rPr>
              <a:t>cùng một đồ thị (mạng) ngữ nghĩa</a:t>
            </a:r>
            <a:r>
              <a:rPr sz="2400" spc="-5" dirty="0">
                <a:latin typeface="Arial"/>
                <a:cs typeface="Arial"/>
              </a:rPr>
              <a:t>, các  hệ thống khác nhau có thể </a:t>
            </a:r>
            <a:r>
              <a:rPr sz="2400" dirty="0">
                <a:latin typeface="Arial"/>
                <a:cs typeface="Arial"/>
              </a:rPr>
              <a:t>có </a:t>
            </a:r>
            <a:r>
              <a:rPr sz="2400" i="1" spc="-5" dirty="0">
                <a:latin typeface="Arial"/>
                <a:cs typeface="Arial"/>
              </a:rPr>
              <a:t>các cách diễn giải  (</a:t>
            </a:r>
            <a:r>
              <a:rPr sz="2400" i="1" spc="-5">
                <a:latin typeface="Arial"/>
                <a:cs typeface="Arial"/>
              </a:rPr>
              <a:t>interpretations)</a:t>
            </a:r>
            <a:r>
              <a:rPr lang="en-US" sz="2400" i="1" spc="-5">
                <a:latin typeface="Arial"/>
                <a:cs typeface="Arial"/>
              </a:rPr>
              <a:t> </a:t>
            </a:r>
            <a:r>
              <a:rPr sz="2400" i="1" spc="-5">
                <a:latin typeface="Arial"/>
                <a:cs typeface="Arial"/>
              </a:rPr>
              <a:t>khác</a:t>
            </a:r>
            <a:r>
              <a:rPr sz="2400" i="1" spc="10">
                <a:latin typeface="Arial"/>
                <a:cs typeface="Arial"/>
              </a:rPr>
              <a:t> </a:t>
            </a:r>
            <a:r>
              <a:rPr sz="2400" i="1" spc="-5">
                <a:latin typeface="Arial"/>
                <a:cs typeface="Arial"/>
              </a:rPr>
              <a:t>nhau</a:t>
            </a:r>
            <a:endParaRPr sz="24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16618C55-2FA3-4EE1-B7F8-4305AB59D233}"/>
              </a:ext>
            </a:extLst>
          </p:cNvPr>
          <p:cNvSpPr>
            <a:spLocks noGrp="1"/>
          </p:cNvSpPr>
          <p:nvPr>
            <p:ph type="title"/>
          </p:nvPr>
        </p:nvSpPr>
        <p:spPr/>
        <p:txBody>
          <a:bodyPr/>
          <a:lstStyle/>
          <a:p>
            <a:r>
              <a:rPr lang="en-US" b="0">
                <a:latin typeface="Verdana"/>
                <a:cs typeface="Verdana"/>
              </a:rPr>
              <a:t>SN – </a:t>
            </a:r>
            <a:r>
              <a:rPr lang="en-US" b="0" spc="-5">
                <a:latin typeface="Verdana"/>
                <a:cs typeface="Verdana"/>
              </a:rPr>
              <a:t>Ngữ nghĩa</a:t>
            </a:r>
            <a:r>
              <a:rPr lang="en-US" b="0" spc="-75">
                <a:latin typeface="Verdana"/>
                <a:cs typeface="Verdana"/>
              </a:rPr>
              <a:t> </a:t>
            </a:r>
            <a:r>
              <a:rPr lang="en-US" b="0" spc="-5">
                <a:latin typeface="Verdana"/>
                <a:cs typeface="Verdana"/>
              </a:rPr>
              <a:t>(1)</a:t>
            </a:r>
            <a:endParaRPr lang="en-US" b="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object 16"/>
          <p:cNvGrpSpPr/>
          <p:nvPr/>
        </p:nvGrpSpPr>
        <p:grpSpPr>
          <a:xfrm>
            <a:off x="457200" y="4110228"/>
            <a:ext cx="9144000" cy="1243330"/>
            <a:chOff x="457200" y="4110228"/>
            <a:chExt cx="9144000" cy="1243330"/>
          </a:xfrm>
        </p:grpSpPr>
        <p:sp>
          <p:nvSpPr>
            <p:cNvPr id="17" name="object 17"/>
            <p:cNvSpPr/>
            <p:nvPr/>
          </p:nvSpPr>
          <p:spPr>
            <a:xfrm>
              <a:off x="6928103" y="4110228"/>
              <a:ext cx="340360" cy="264160"/>
            </a:xfrm>
            <a:custGeom>
              <a:avLst/>
              <a:gdLst/>
              <a:ahLst/>
              <a:cxnLst/>
              <a:rect l="l" t="t" r="r" b="b"/>
              <a:pathLst>
                <a:path w="340359" h="264160">
                  <a:moveTo>
                    <a:pt x="340127" y="263651"/>
                  </a:moveTo>
                  <a:lnTo>
                    <a:pt x="9905" y="0"/>
                  </a:lnTo>
                  <a:lnTo>
                    <a:pt x="0" y="12954"/>
                  </a:lnTo>
                  <a:lnTo>
                    <a:pt x="314205" y="263651"/>
                  </a:lnTo>
                  <a:lnTo>
                    <a:pt x="340127" y="263651"/>
                  </a:lnTo>
                  <a:close/>
                </a:path>
              </a:pathLst>
            </a:custGeom>
            <a:solidFill>
              <a:srgbClr val="000000"/>
            </a:solidFill>
          </p:spPr>
          <p:txBody>
            <a:bodyPr wrap="square" lIns="0" tIns="0" rIns="0" bIns="0" rtlCol="0"/>
            <a:lstStyle/>
            <a:p>
              <a:endParaRPr/>
            </a:p>
          </p:txBody>
        </p:sp>
        <p:sp>
          <p:nvSpPr>
            <p:cNvPr id="18" name="object 18"/>
            <p:cNvSpPr/>
            <p:nvPr/>
          </p:nvSpPr>
          <p:spPr>
            <a:xfrm>
              <a:off x="457200" y="437388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19" name="object 19"/>
            <p:cNvSpPr/>
            <p:nvPr/>
          </p:nvSpPr>
          <p:spPr>
            <a:xfrm>
              <a:off x="7242309" y="4373880"/>
              <a:ext cx="1216025" cy="960119"/>
            </a:xfrm>
            <a:custGeom>
              <a:avLst/>
              <a:gdLst/>
              <a:ahLst/>
              <a:cxnLst/>
              <a:rect l="l" t="t" r="r" b="b"/>
              <a:pathLst>
                <a:path w="1216025" h="960120">
                  <a:moveTo>
                    <a:pt x="1121781" y="874943"/>
                  </a:moveTo>
                  <a:lnTo>
                    <a:pt x="25922" y="0"/>
                  </a:lnTo>
                  <a:lnTo>
                    <a:pt x="0" y="0"/>
                  </a:lnTo>
                  <a:lnTo>
                    <a:pt x="1112080" y="887304"/>
                  </a:lnTo>
                  <a:lnTo>
                    <a:pt x="1121781" y="874943"/>
                  </a:lnTo>
                  <a:close/>
                </a:path>
                <a:path w="1216025" h="960120">
                  <a:moveTo>
                    <a:pt x="1132070" y="926800"/>
                  </a:moveTo>
                  <a:lnTo>
                    <a:pt x="1132070" y="883158"/>
                  </a:lnTo>
                  <a:lnTo>
                    <a:pt x="1122164" y="895350"/>
                  </a:lnTo>
                  <a:lnTo>
                    <a:pt x="1112080" y="887304"/>
                  </a:lnTo>
                  <a:lnTo>
                    <a:pt x="1093208" y="911352"/>
                  </a:lnTo>
                  <a:lnTo>
                    <a:pt x="1132070" y="926800"/>
                  </a:lnTo>
                  <a:close/>
                </a:path>
                <a:path w="1216025" h="960120">
                  <a:moveTo>
                    <a:pt x="1132070" y="883158"/>
                  </a:moveTo>
                  <a:lnTo>
                    <a:pt x="1121781" y="874943"/>
                  </a:lnTo>
                  <a:lnTo>
                    <a:pt x="1112080" y="887304"/>
                  </a:lnTo>
                  <a:lnTo>
                    <a:pt x="1122164" y="895350"/>
                  </a:lnTo>
                  <a:lnTo>
                    <a:pt x="1132070" y="883158"/>
                  </a:lnTo>
                  <a:close/>
                </a:path>
                <a:path w="1216025" h="960120">
                  <a:moveTo>
                    <a:pt x="1215890" y="960120"/>
                  </a:moveTo>
                  <a:lnTo>
                    <a:pt x="1140452" y="851154"/>
                  </a:lnTo>
                  <a:lnTo>
                    <a:pt x="1121781" y="874943"/>
                  </a:lnTo>
                  <a:lnTo>
                    <a:pt x="1132070" y="883158"/>
                  </a:lnTo>
                  <a:lnTo>
                    <a:pt x="1132070" y="926800"/>
                  </a:lnTo>
                  <a:lnTo>
                    <a:pt x="1215890" y="960120"/>
                  </a:lnTo>
                  <a:close/>
                </a:path>
              </a:pathLst>
            </a:custGeom>
            <a:solidFill>
              <a:srgbClr val="000000"/>
            </a:solidFill>
          </p:spPr>
          <p:txBody>
            <a:bodyPr wrap="square" lIns="0" tIns="0" rIns="0" bIns="0" rtlCol="0"/>
            <a:lstStyle/>
            <a:p>
              <a:endParaRPr/>
            </a:p>
          </p:txBody>
        </p:sp>
      </p:grpSp>
      <p:sp>
        <p:nvSpPr>
          <p:cNvPr id="24" name="object 24"/>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5" name="object 25"/>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45</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6784340" y="2084323"/>
            <a:ext cx="4076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Car</a:t>
            </a:r>
            <a:endParaRPr sz="1800">
              <a:latin typeface="Arial"/>
              <a:cs typeface="Arial"/>
            </a:endParaRPr>
          </a:p>
        </p:txBody>
      </p:sp>
      <p:grpSp>
        <p:nvGrpSpPr>
          <p:cNvPr id="7" name="object 7"/>
          <p:cNvGrpSpPr/>
          <p:nvPr/>
        </p:nvGrpSpPr>
        <p:grpSpPr>
          <a:xfrm>
            <a:off x="457200" y="2364485"/>
            <a:ext cx="9144000" cy="1030605"/>
            <a:chOff x="457200" y="2364485"/>
            <a:chExt cx="9144000" cy="1030605"/>
          </a:xfrm>
        </p:grpSpPr>
        <p:sp>
          <p:nvSpPr>
            <p:cNvPr id="8" name="object 8"/>
            <p:cNvSpPr/>
            <p:nvPr/>
          </p:nvSpPr>
          <p:spPr>
            <a:xfrm>
              <a:off x="6918822" y="2364485"/>
              <a:ext cx="31115" cy="51435"/>
            </a:xfrm>
            <a:custGeom>
              <a:avLst/>
              <a:gdLst/>
              <a:ahLst/>
              <a:cxnLst/>
              <a:rect l="l" t="t" r="r" b="b"/>
              <a:pathLst>
                <a:path w="31115" h="51435">
                  <a:moveTo>
                    <a:pt x="30755" y="51054"/>
                  </a:moveTo>
                  <a:lnTo>
                    <a:pt x="15377" y="0"/>
                  </a:lnTo>
                  <a:lnTo>
                    <a:pt x="0" y="51054"/>
                  </a:lnTo>
                  <a:lnTo>
                    <a:pt x="30755" y="51054"/>
                  </a:lnTo>
                  <a:close/>
                </a:path>
              </a:pathLst>
            </a:custGeom>
            <a:solidFill>
              <a:srgbClr val="000000"/>
            </a:solidFill>
          </p:spPr>
          <p:txBody>
            <a:bodyPr wrap="square" lIns="0" tIns="0" rIns="0" bIns="0" rtlCol="0"/>
            <a:lstStyle/>
            <a:p>
              <a:endParaRPr/>
            </a:p>
          </p:txBody>
        </p:sp>
        <p:sp>
          <p:nvSpPr>
            <p:cNvPr id="9" name="object 9"/>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10" name="object 10"/>
            <p:cNvSpPr/>
            <p:nvPr/>
          </p:nvSpPr>
          <p:spPr>
            <a:xfrm>
              <a:off x="6896100" y="2415539"/>
              <a:ext cx="76200" cy="979169"/>
            </a:xfrm>
            <a:custGeom>
              <a:avLst/>
              <a:gdLst/>
              <a:ahLst/>
              <a:cxnLst/>
              <a:rect l="l" t="t" r="r" b="b"/>
              <a:pathLst>
                <a:path w="76200" h="979170">
                  <a:moveTo>
                    <a:pt x="76200" y="75437"/>
                  </a:moveTo>
                  <a:lnTo>
                    <a:pt x="53477" y="0"/>
                  </a:lnTo>
                  <a:lnTo>
                    <a:pt x="22722" y="0"/>
                  </a:lnTo>
                  <a:lnTo>
                    <a:pt x="0" y="75437"/>
                  </a:lnTo>
                  <a:lnTo>
                    <a:pt x="30465" y="75437"/>
                  </a:lnTo>
                  <a:lnTo>
                    <a:pt x="30479" y="63245"/>
                  </a:lnTo>
                  <a:lnTo>
                    <a:pt x="46481" y="63245"/>
                  </a:lnTo>
                  <a:lnTo>
                    <a:pt x="46481" y="75437"/>
                  </a:lnTo>
                  <a:lnTo>
                    <a:pt x="76200" y="75437"/>
                  </a:lnTo>
                  <a:close/>
                </a:path>
                <a:path w="76200" h="979170">
                  <a:moveTo>
                    <a:pt x="46467" y="75437"/>
                  </a:moveTo>
                  <a:lnTo>
                    <a:pt x="30465" y="75437"/>
                  </a:lnTo>
                  <a:lnTo>
                    <a:pt x="29369" y="979169"/>
                  </a:lnTo>
                  <a:lnTo>
                    <a:pt x="45371" y="979169"/>
                  </a:lnTo>
                  <a:lnTo>
                    <a:pt x="46467" y="75437"/>
                  </a:lnTo>
                  <a:close/>
                </a:path>
                <a:path w="76200" h="979170">
                  <a:moveTo>
                    <a:pt x="46481" y="63245"/>
                  </a:moveTo>
                  <a:lnTo>
                    <a:pt x="30479" y="63245"/>
                  </a:lnTo>
                  <a:lnTo>
                    <a:pt x="30465" y="75437"/>
                  </a:lnTo>
                  <a:lnTo>
                    <a:pt x="46467" y="75437"/>
                  </a:lnTo>
                  <a:lnTo>
                    <a:pt x="46481" y="63245"/>
                  </a:lnTo>
                  <a:close/>
                </a:path>
                <a:path w="76200" h="979170">
                  <a:moveTo>
                    <a:pt x="46481" y="75437"/>
                  </a:moveTo>
                  <a:lnTo>
                    <a:pt x="46481" y="63245"/>
                  </a:lnTo>
                  <a:lnTo>
                    <a:pt x="46467" y="75437"/>
                  </a:lnTo>
                  <a:close/>
                </a:path>
              </a:pathLst>
            </a:custGeom>
            <a:solidFill>
              <a:srgbClr val="000000"/>
            </a:solidFill>
          </p:spPr>
          <p:txBody>
            <a:bodyPr wrap="square" lIns="0" tIns="0" rIns="0" bIns="0" rtlCol="0"/>
            <a:lstStyle/>
            <a:p>
              <a:endParaRPr/>
            </a:p>
          </p:txBody>
        </p:sp>
      </p:grpSp>
      <p:sp>
        <p:nvSpPr>
          <p:cNvPr id="11" name="object 11"/>
          <p:cNvSpPr txBox="1"/>
          <p:nvPr/>
        </p:nvSpPr>
        <p:spPr>
          <a:xfrm>
            <a:off x="7012940" y="29225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12" name="object 12"/>
          <p:cNvSpPr txBox="1"/>
          <p:nvPr/>
        </p:nvSpPr>
        <p:spPr>
          <a:xfrm>
            <a:off x="993139" y="1777238"/>
            <a:ext cx="4836795" cy="191643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dirty="0">
                <a:latin typeface="Arial"/>
                <a:cs typeface="Arial"/>
              </a:rPr>
              <a:t>Ý </a:t>
            </a:r>
            <a:r>
              <a:rPr sz="2400" spc="-5" dirty="0">
                <a:latin typeface="Arial"/>
                <a:cs typeface="Arial"/>
              </a:rPr>
              <a:t>nghĩa của mạng ngữ nghĩa sau  là</a:t>
            </a:r>
            <a:r>
              <a:rPr sz="2400" spc="-10" dirty="0">
                <a:latin typeface="Arial"/>
                <a:cs typeface="Arial"/>
              </a:rPr>
              <a:t> </a:t>
            </a:r>
            <a:r>
              <a:rPr sz="2400" spc="-5" dirty="0">
                <a:latin typeface="Arial"/>
                <a:cs typeface="Arial"/>
              </a:rPr>
              <a:t>gì?</a:t>
            </a:r>
            <a:endParaRPr sz="2400">
              <a:latin typeface="Arial"/>
              <a:cs typeface="Arial"/>
            </a:endParaRPr>
          </a:p>
          <a:p>
            <a:pPr marL="681990" marR="164465" lvl="1" indent="-307975">
              <a:lnSpc>
                <a:spcPct val="100000"/>
              </a:lnSpc>
              <a:spcBef>
                <a:spcPts val="1205"/>
              </a:spcBef>
              <a:buClr>
                <a:srgbClr val="3B822F"/>
              </a:buClr>
              <a:buSzPct val="59090"/>
              <a:buFont typeface="Wingdings"/>
              <a:buChar char=""/>
              <a:tabLst>
                <a:tab pos="681990" algn="l"/>
                <a:tab pos="682625" algn="l"/>
              </a:tabLst>
            </a:pPr>
            <a:r>
              <a:rPr sz="2200" spc="-5" dirty="0">
                <a:latin typeface="Arial"/>
                <a:cs typeface="Arial"/>
              </a:rPr>
              <a:t>Thể hiện định nghĩa của một </a:t>
            </a:r>
            <a:r>
              <a:rPr sz="2200" dirty="0">
                <a:latin typeface="Arial"/>
                <a:cs typeface="Arial"/>
              </a:rPr>
              <a:t>cái  </a:t>
            </a:r>
            <a:r>
              <a:rPr sz="2200" spc="-5" dirty="0">
                <a:latin typeface="Arial"/>
                <a:cs typeface="Arial"/>
              </a:rPr>
              <a:t>ô-tô màu đen </a:t>
            </a:r>
            <a:r>
              <a:rPr sz="2200" dirty="0">
                <a:latin typeface="Arial"/>
                <a:cs typeface="Arial"/>
              </a:rPr>
              <a:t>(</a:t>
            </a:r>
            <a:r>
              <a:rPr sz="2200" b="1" dirty="0">
                <a:latin typeface="Arial"/>
                <a:cs typeface="Arial"/>
              </a:rPr>
              <a:t>Thông tin </a:t>
            </a:r>
            <a:r>
              <a:rPr sz="2200" b="1" spc="-5" dirty="0">
                <a:latin typeface="Arial"/>
                <a:cs typeface="Arial"/>
              </a:rPr>
              <a:t>định  nghĩa</a:t>
            </a:r>
            <a:r>
              <a:rPr sz="2200" spc="-5" dirty="0">
                <a:latin typeface="Arial"/>
                <a:cs typeface="Arial"/>
              </a:rPr>
              <a:t>)</a:t>
            </a:r>
            <a:endParaRPr sz="2200">
              <a:latin typeface="Arial"/>
              <a:cs typeface="Arial"/>
            </a:endParaRPr>
          </a:p>
        </p:txBody>
      </p:sp>
      <p:sp>
        <p:nvSpPr>
          <p:cNvPr id="13" name="object 13"/>
          <p:cNvSpPr txBox="1"/>
          <p:nvPr/>
        </p:nvSpPr>
        <p:spPr>
          <a:xfrm>
            <a:off x="1355089" y="3820160"/>
            <a:ext cx="4254500" cy="696595"/>
          </a:xfrm>
          <a:prstGeom prst="rect">
            <a:avLst/>
          </a:prstGeom>
        </p:spPr>
        <p:txBody>
          <a:bodyPr vert="horz" wrap="square" lIns="0" tIns="12700" rIns="0" bIns="0" rtlCol="0">
            <a:spAutoFit/>
          </a:bodyPr>
          <a:lstStyle/>
          <a:p>
            <a:pPr marL="320040" marR="5080" indent="-307975">
              <a:lnSpc>
                <a:spcPct val="100000"/>
              </a:lnSpc>
              <a:spcBef>
                <a:spcPts val="100"/>
              </a:spcBef>
              <a:buClr>
                <a:srgbClr val="3B822F"/>
              </a:buClr>
              <a:buSzPct val="59090"/>
              <a:buFont typeface="Wingdings"/>
              <a:buChar char=""/>
              <a:tabLst>
                <a:tab pos="320040" algn="l"/>
                <a:tab pos="320675" algn="l"/>
              </a:tabLst>
            </a:pPr>
            <a:r>
              <a:rPr sz="2200" spc="-5" dirty="0">
                <a:latin typeface="Arial"/>
                <a:cs typeface="Arial"/>
              </a:rPr>
              <a:t>Thể hiện rằng tồn tại một ô-tô  </a:t>
            </a:r>
            <a:r>
              <a:rPr sz="2200" dirty="0">
                <a:latin typeface="Arial"/>
                <a:cs typeface="Arial"/>
              </a:rPr>
              <a:t>màu </a:t>
            </a:r>
            <a:r>
              <a:rPr sz="2200" spc="-5" dirty="0">
                <a:latin typeface="Arial"/>
                <a:cs typeface="Arial"/>
              </a:rPr>
              <a:t>đen </a:t>
            </a:r>
            <a:r>
              <a:rPr sz="2200" dirty="0">
                <a:latin typeface="Arial"/>
                <a:cs typeface="Arial"/>
              </a:rPr>
              <a:t>(</a:t>
            </a:r>
            <a:r>
              <a:rPr sz="2200" b="1" dirty="0">
                <a:latin typeface="Arial"/>
                <a:cs typeface="Arial"/>
              </a:rPr>
              <a:t>Thông tin xác</a:t>
            </a:r>
            <a:r>
              <a:rPr sz="2200" b="1" spc="-35" dirty="0">
                <a:latin typeface="Arial"/>
                <a:cs typeface="Arial"/>
              </a:rPr>
              <a:t> </a:t>
            </a:r>
            <a:r>
              <a:rPr sz="2200" b="1" spc="-5" dirty="0">
                <a:latin typeface="Arial"/>
                <a:cs typeface="Arial"/>
              </a:rPr>
              <a:t>nhận</a:t>
            </a:r>
            <a:r>
              <a:rPr sz="2200" spc="-5" dirty="0">
                <a:latin typeface="Arial"/>
                <a:cs typeface="Arial"/>
              </a:rPr>
              <a:t>)</a:t>
            </a:r>
            <a:endParaRPr sz="2200">
              <a:latin typeface="Arial"/>
              <a:cs typeface="Arial"/>
            </a:endParaRPr>
          </a:p>
        </p:txBody>
      </p:sp>
      <p:sp>
        <p:nvSpPr>
          <p:cNvPr id="14" name="object 14"/>
          <p:cNvSpPr txBox="1"/>
          <p:nvPr/>
        </p:nvSpPr>
        <p:spPr>
          <a:xfrm>
            <a:off x="6631940" y="3760723"/>
            <a:ext cx="6616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Car#3</a:t>
            </a:r>
            <a:endParaRPr sz="1800">
              <a:latin typeface="Arial"/>
              <a:cs typeface="Arial"/>
            </a:endParaRPr>
          </a:p>
        </p:txBody>
      </p:sp>
      <p:sp>
        <p:nvSpPr>
          <p:cNvPr id="15" name="object 15"/>
          <p:cNvSpPr/>
          <p:nvPr/>
        </p:nvSpPr>
        <p:spPr>
          <a:xfrm>
            <a:off x="6925056" y="3394709"/>
            <a:ext cx="16510" cy="341630"/>
          </a:xfrm>
          <a:custGeom>
            <a:avLst/>
            <a:gdLst/>
            <a:ahLst/>
            <a:cxnLst/>
            <a:rect l="l" t="t" r="r" b="b"/>
            <a:pathLst>
              <a:path w="16509" h="341629">
                <a:moveTo>
                  <a:pt x="16415" y="0"/>
                </a:moveTo>
                <a:lnTo>
                  <a:pt x="413" y="0"/>
                </a:lnTo>
                <a:lnTo>
                  <a:pt x="0" y="341376"/>
                </a:lnTo>
                <a:lnTo>
                  <a:pt x="16001" y="341376"/>
                </a:lnTo>
                <a:lnTo>
                  <a:pt x="16415" y="0"/>
                </a:lnTo>
                <a:close/>
              </a:path>
            </a:pathLst>
          </a:custGeom>
          <a:solidFill>
            <a:srgbClr val="000000"/>
          </a:solidFill>
        </p:spPr>
        <p:txBody>
          <a:bodyPr wrap="square" lIns="0" tIns="0" rIns="0" bIns="0" rtlCol="0"/>
          <a:lstStyle/>
          <a:p>
            <a:endParaRPr/>
          </a:p>
        </p:txBody>
      </p:sp>
      <p:sp>
        <p:nvSpPr>
          <p:cNvPr id="20" name="object 20"/>
          <p:cNvSpPr txBox="1"/>
          <p:nvPr/>
        </p:nvSpPr>
        <p:spPr>
          <a:xfrm>
            <a:off x="7698740" y="4447285"/>
            <a:ext cx="86106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has-color</a:t>
            </a:r>
            <a:endParaRPr sz="1600">
              <a:latin typeface="Arial"/>
              <a:cs typeface="Arial"/>
            </a:endParaRPr>
          </a:p>
        </p:txBody>
      </p:sp>
      <p:sp>
        <p:nvSpPr>
          <p:cNvPr id="21" name="object 21"/>
          <p:cNvSpPr txBox="1"/>
          <p:nvPr/>
        </p:nvSpPr>
        <p:spPr>
          <a:xfrm>
            <a:off x="1355089" y="4643120"/>
            <a:ext cx="4439285" cy="1031875"/>
          </a:xfrm>
          <a:prstGeom prst="rect">
            <a:avLst/>
          </a:prstGeom>
        </p:spPr>
        <p:txBody>
          <a:bodyPr vert="horz" wrap="square" lIns="0" tIns="12700" rIns="0" bIns="0" rtlCol="0">
            <a:spAutoFit/>
          </a:bodyPr>
          <a:lstStyle/>
          <a:p>
            <a:pPr marL="320040" marR="5080" indent="-307975">
              <a:lnSpc>
                <a:spcPct val="100000"/>
              </a:lnSpc>
              <a:spcBef>
                <a:spcPts val="100"/>
              </a:spcBef>
              <a:buClr>
                <a:srgbClr val="3B822F"/>
              </a:buClr>
              <a:buSzPct val="59090"/>
              <a:buFont typeface="Wingdings"/>
              <a:buChar char=""/>
              <a:tabLst>
                <a:tab pos="320040" algn="l"/>
                <a:tab pos="320675" algn="l"/>
              </a:tabLst>
            </a:pPr>
            <a:r>
              <a:rPr sz="2200" spc="-5" dirty="0">
                <a:latin typeface="Arial"/>
                <a:cs typeface="Arial"/>
              </a:rPr>
              <a:t>Thể hiện rằng một </a:t>
            </a:r>
            <a:r>
              <a:rPr sz="2200" dirty="0">
                <a:latin typeface="Arial"/>
                <a:cs typeface="Arial"/>
              </a:rPr>
              <a:t>cái ô-tô cụ </a:t>
            </a:r>
            <a:r>
              <a:rPr sz="2200" spc="-5" dirty="0">
                <a:latin typeface="Arial"/>
                <a:cs typeface="Arial"/>
              </a:rPr>
              <a:t>thể  (Car#3) là màu đen (</a:t>
            </a:r>
            <a:r>
              <a:rPr sz="2200" b="1" spc="-5" dirty="0">
                <a:latin typeface="Arial"/>
                <a:cs typeface="Arial"/>
              </a:rPr>
              <a:t>Xác nhận  sự tồn</a:t>
            </a:r>
            <a:r>
              <a:rPr sz="2200" b="1" spc="5" dirty="0">
                <a:latin typeface="Arial"/>
                <a:cs typeface="Arial"/>
              </a:rPr>
              <a:t> </a:t>
            </a:r>
            <a:r>
              <a:rPr sz="2200" b="1" spc="-5" dirty="0">
                <a:latin typeface="Arial"/>
                <a:cs typeface="Arial"/>
              </a:rPr>
              <a:t>tại</a:t>
            </a:r>
            <a:r>
              <a:rPr sz="2200" spc="-5" dirty="0">
                <a:latin typeface="Arial"/>
                <a:cs typeface="Arial"/>
              </a:rPr>
              <a:t>)</a:t>
            </a:r>
            <a:endParaRPr sz="2200">
              <a:latin typeface="Arial"/>
              <a:cs typeface="Arial"/>
            </a:endParaRPr>
          </a:p>
        </p:txBody>
      </p:sp>
      <p:sp>
        <p:nvSpPr>
          <p:cNvPr id="22" name="object 22"/>
          <p:cNvSpPr txBox="1"/>
          <p:nvPr/>
        </p:nvSpPr>
        <p:spPr>
          <a:xfrm>
            <a:off x="8308340" y="5361685"/>
            <a:ext cx="6356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Black</a:t>
            </a:r>
            <a:endParaRPr sz="1800">
              <a:latin typeface="Arial"/>
              <a:cs typeface="Arial"/>
            </a:endParaRPr>
          </a:p>
        </p:txBody>
      </p:sp>
      <p:sp>
        <p:nvSpPr>
          <p:cNvPr id="23" name="object 23"/>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7" name="Title 26">
            <a:extLst>
              <a:ext uri="{FF2B5EF4-FFF2-40B4-BE49-F238E27FC236}">
                <a16:creationId xmlns:a16="http://schemas.microsoft.com/office/drawing/2014/main" id="{62AB9EB7-3997-4661-A3AC-C845E5B1F36E}"/>
              </a:ext>
            </a:extLst>
          </p:cNvPr>
          <p:cNvSpPr>
            <a:spLocks noGrp="1"/>
          </p:cNvSpPr>
          <p:nvPr>
            <p:ph type="title"/>
          </p:nvPr>
        </p:nvSpPr>
        <p:spPr/>
        <p:txBody>
          <a:bodyPr/>
          <a:lstStyle/>
          <a:p>
            <a:r>
              <a:rPr lang="en-US" b="0">
                <a:latin typeface="Verdana"/>
                <a:cs typeface="Verdana"/>
              </a:rPr>
              <a:t>SN – </a:t>
            </a:r>
            <a:r>
              <a:rPr lang="en-US" b="0" spc="-5">
                <a:latin typeface="Verdana"/>
                <a:cs typeface="Verdana"/>
              </a:rPr>
              <a:t>Ngữ nghĩa</a:t>
            </a:r>
            <a:r>
              <a:rPr lang="en-US" b="0" spc="-75">
                <a:latin typeface="Verdana"/>
                <a:cs typeface="Verdana"/>
              </a:rPr>
              <a:t> </a:t>
            </a:r>
            <a:r>
              <a:rPr lang="en-US" b="0" spc="-5">
                <a:latin typeface="Verdana"/>
                <a:cs typeface="Verdana"/>
              </a:rPr>
              <a:t>(2)</a:t>
            </a:r>
            <a:endParaRPr lang="en-US" b="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46</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7" name="object 7"/>
          <p:cNvSpPr txBox="1"/>
          <p:nvPr/>
        </p:nvSpPr>
        <p:spPr>
          <a:xfrm>
            <a:off x="2772917" y="5214018"/>
            <a:ext cx="4383405" cy="283845"/>
          </a:xfrm>
          <a:prstGeom prst="rect">
            <a:avLst/>
          </a:prstGeom>
        </p:spPr>
        <p:txBody>
          <a:bodyPr vert="horz" wrap="square" lIns="0" tIns="0" rIns="0" bIns="0" rtlCol="0">
            <a:spAutoFit/>
          </a:bodyPr>
          <a:lstStyle/>
          <a:p>
            <a:pPr>
              <a:lnSpc>
                <a:spcPts val="2210"/>
              </a:lnSpc>
              <a:tabLst>
                <a:tab pos="1678305" algn="l"/>
                <a:tab pos="2040255" algn="l"/>
                <a:tab pos="4298315" algn="l"/>
              </a:tabLst>
            </a:pPr>
            <a:r>
              <a:rPr sz="2000" spc="-5" dirty="0">
                <a:latin typeface="Arial"/>
                <a:cs typeface="Arial"/>
              </a:rPr>
              <a:t>“	”	“	”</a:t>
            </a:r>
            <a:endParaRPr sz="2000">
              <a:latin typeface="Arial"/>
              <a:cs typeface="Arial"/>
            </a:endParaRPr>
          </a:p>
        </p:txBody>
      </p:sp>
      <p:sp>
        <p:nvSpPr>
          <p:cNvPr id="8" name="object 8"/>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9" name="object 9"/>
          <p:cNvSpPr txBox="1"/>
          <p:nvPr/>
        </p:nvSpPr>
        <p:spPr>
          <a:xfrm>
            <a:off x="993139" y="1610303"/>
            <a:ext cx="7056755" cy="3896995"/>
          </a:xfrm>
          <a:prstGeom prst="rect">
            <a:avLst/>
          </a:prstGeom>
        </p:spPr>
        <p:txBody>
          <a:bodyPr vert="horz" wrap="square" lIns="0" tIns="179705" rIns="0" bIns="0" rtlCol="0">
            <a:spAutoFit/>
          </a:bodyPr>
          <a:lstStyle/>
          <a:p>
            <a:pPr marL="298450" indent="-285750">
              <a:lnSpc>
                <a:spcPct val="100000"/>
              </a:lnSpc>
              <a:spcBef>
                <a:spcPts val="1415"/>
              </a:spcBef>
              <a:buClr>
                <a:srgbClr val="CC9A00"/>
              </a:buClr>
              <a:buSzPct val="64583"/>
              <a:buFont typeface="Wingdings"/>
              <a:buChar char=""/>
              <a:tabLst>
                <a:tab pos="297815" algn="l"/>
                <a:tab pos="298450" algn="l"/>
              </a:tabLst>
            </a:pPr>
            <a:r>
              <a:rPr sz="2400" spc="-5" dirty="0">
                <a:latin typeface="Arial"/>
                <a:cs typeface="Arial"/>
              </a:rPr>
              <a:t>Các liên </a:t>
            </a:r>
            <a:r>
              <a:rPr sz="2400" dirty="0">
                <a:latin typeface="Arial"/>
                <a:cs typeface="Arial"/>
              </a:rPr>
              <a:t>kết </a:t>
            </a:r>
            <a:r>
              <a:rPr sz="2400" spc="-5" dirty="0">
                <a:latin typeface="Arial"/>
                <a:cs typeface="Arial"/>
              </a:rPr>
              <a:t>có thể là...</a:t>
            </a:r>
            <a:endParaRPr sz="2400">
              <a:latin typeface="Arial"/>
              <a:cs typeface="Arial"/>
            </a:endParaRPr>
          </a:p>
          <a:p>
            <a:pPr marL="624840" lvl="1" indent="-286385">
              <a:lnSpc>
                <a:spcPct val="100000"/>
              </a:lnSpc>
              <a:spcBef>
                <a:spcPts val="1205"/>
              </a:spcBef>
              <a:buClr>
                <a:srgbClr val="3B822F"/>
              </a:buClr>
              <a:buSzPct val="59090"/>
              <a:buFont typeface="Wingdings"/>
              <a:buChar char=""/>
              <a:tabLst>
                <a:tab pos="624840" algn="l"/>
                <a:tab pos="625475" algn="l"/>
              </a:tabLst>
            </a:pPr>
            <a:r>
              <a:rPr sz="2200" b="1" spc="-5" dirty="0">
                <a:latin typeface="Arial"/>
                <a:cs typeface="Arial"/>
              </a:rPr>
              <a:t>Liên kết xác nhận (Assertional</a:t>
            </a:r>
            <a:r>
              <a:rPr sz="2200" b="1" spc="60" dirty="0">
                <a:latin typeface="Arial"/>
                <a:cs typeface="Arial"/>
              </a:rPr>
              <a:t> </a:t>
            </a:r>
            <a:r>
              <a:rPr sz="2200" b="1" spc="-5" dirty="0">
                <a:latin typeface="Arial"/>
                <a:cs typeface="Arial"/>
              </a:rPr>
              <a:t>links)</a:t>
            </a:r>
            <a:endParaRPr sz="2200">
              <a:latin typeface="Arial"/>
              <a:cs typeface="Arial"/>
            </a:endParaRPr>
          </a:p>
          <a:p>
            <a:pPr marL="977900" lvl="2" indent="-286385">
              <a:lnSpc>
                <a:spcPct val="100000"/>
              </a:lnSpc>
              <a:spcBef>
                <a:spcPts val="605"/>
              </a:spcBef>
              <a:buClr>
                <a:srgbClr val="CC9A00"/>
              </a:buClr>
              <a:buSzPct val="65000"/>
              <a:buFont typeface="Wingdings"/>
              <a:buChar char=""/>
              <a:tabLst>
                <a:tab pos="977900" algn="l"/>
                <a:tab pos="978535" algn="l"/>
              </a:tabLst>
            </a:pPr>
            <a:r>
              <a:rPr sz="2000" spc="-5" dirty="0">
                <a:latin typeface="Arial"/>
                <a:cs typeface="Arial"/>
              </a:rPr>
              <a:t>Lưu giữ các thông tin </a:t>
            </a:r>
            <a:r>
              <a:rPr sz="2000" spc="-10" dirty="0">
                <a:latin typeface="Arial"/>
                <a:cs typeface="Arial"/>
              </a:rPr>
              <a:t>về không </a:t>
            </a:r>
            <a:r>
              <a:rPr sz="2000" spc="-5" dirty="0">
                <a:latin typeface="Arial"/>
                <a:cs typeface="Arial"/>
              </a:rPr>
              <a:t>gian bài toán đang</a:t>
            </a:r>
            <a:r>
              <a:rPr sz="2000" spc="40" dirty="0">
                <a:latin typeface="Arial"/>
                <a:cs typeface="Arial"/>
              </a:rPr>
              <a:t> </a:t>
            </a:r>
            <a:r>
              <a:rPr sz="2000" spc="-10" dirty="0">
                <a:latin typeface="Arial"/>
                <a:cs typeface="Arial"/>
              </a:rPr>
              <a:t>xét</a:t>
            </a:r>
            <a:endParaRPr sz="2000">
              <a:latin typeface="Arial"/>
              <a:cs typeface="Arial"/>
            </a:endParaRPr>
          </a:p>
          <a:p>
            <a:pPr marL="977900" lvl="2" indent="-286385">
              <a:lnSpc>
                <a:spcPct val="100000"/>
              </a:lnSpc>
              <a:spcBef>
                <a:spcPts val="600"/>
              </a:spcBef>
              <a:buClr>
                <a:srgbClr val="CC9A00"/>
              </a:buClr>
              <a:buSzPct val="65000"/>
              <a:buFont typeface="Wingdings"/>
              <a:buChar char=""/>
              <a:tabLst>
                <a:tab pos="977900" algn="l"/>
                <a:tab pos="978535" algn="l"/>
              </a:tabLst>
            </a:pPr>
            <a:r>
              <a:rPr sz="2000" i="1" spc="-5" dirty="0">
                <a:latin typeface="Arial"/>
                <a:cs typeface="Arial"/>
              </a:rPr>
              <a:t>Có thể thay đổi khi không gian bài toán thay</a:t>
            </a:r>
            <a:r>
              <a:rPr sz="2000" i="1" dirty="0">
                <a:latin typeface="Arial"/>
                <a:cs typeface="Arial"/>
              </a:rPr>
              <a:t> </a:t>
            </a:r>
            <a:r>
              <a:rPr sz="2000" i="1" spc="-5" dirty="0">
                <a:latin typeface="Arial"/>
                <a:cs typeface="Arial"/>
              </a:rPr>
              <a:t>đổi</a:t>
            </a:r>
            <a:endParaRPr sz="2000">
              <a:latin typeface="Arial"/>
              <a:cs typeface="Arial"/>
            </a:endParaRPr>
          </a:p>
          <a:p>
            <a:pPr marL="977900" lvl="2" indent="-286385">
              <a:lnSpc>
                <a:spcPct val="100000"/>
              </a:lnSpc>
              <a:spcBef>
                <a:spcPts val="600"/>
              </a:spcBef>
              <a:buClr>
                <a:srgbClr val="CC9A00"/>
              </a:buClr>
              <a:buSzPct val="65000"/>
              <a:buFont typeface="Wingdings"/>
              <a:buChar char=""/>
              <a:tabLst>
                <a:tab pos="977900" algn="l"/>
                <a:tab pos="978535" algn="l"/>
                <a:tab pos="1779270" algn="l"/>
              </a:tabLst>
            </a:pPr>
            <a:r>
              <a:rPr sz="2000" spc="-5" dirty="0">
                <a:latin typeface="Arial"/>
                <a:cs typeface="Arial"/>
              </a:rPr>
              <a:t>Ví</a:t>
            </a:r>
            <a:r>
              <a:rPr sz="2000" spc="-10" dirty="0">
                <a:latin typeface="Arial"/>
                <a:cs typeface="Arial"/>
              </a:rPr>
              <a:t> </a:t>
            </a:r>
            <a:r>
              <a:rPr sz="2000" spc="-5" dirty="0">
                <a:latin typeface="Arial"/>
                <a:cs typeface="Arial"/>
              </a:rPr>
              <a:t>dụ:	“Jon hit Mary” (một </a:t>
            </a:r>
            <a:r>
              <a:rPr sz="2000" i="1" spc="-5" dirty="0">
                <a:latin typeface="Arial"/>
                <a:cs typeface="Arial"/>
              </a:rPr>
              <a:t>sự kiện </a:t>
            </a:r>
            <a:r>
              <a:rPr sz="2000" spc="-5" dirty="0">
                <a:latin typeface="Arial"/>
                <a:cs typeface="Arial"/>
              </a:rPr>
              <a:t>cụ thể đã xảy</a:t>
            </a:r>
            <a:r>
              <a:rPr sz="2000" spc="-35" dirty="0">
                <a:latin typeface="Arial"/>
                <a:cs typeface="Arial"/>
              </a:rPr>
              <a:t> </a:t>
            </a:r>
            <a:r>
              <a:rPr sz="2000" spc="-5" dirty="0">
                <a:latin typeface="Arial"/>
                <a:cs typeface="Arial"/>
              </a:rPr>
              <a:t>ra)</a:t>
            </a:r>
            <a:endParaRPr sz="2000">
              <a:latin typeface="Arial"/>
              <a:cs typeface="Arial"/>
            </a:endParaRPr>
          </a:p>
          <a:p>
            <a:pPr marL="624840" lvl="1" indent="-286385">
              <a:lnSpc>
                <a:spcPct val="100000"/>
              </a:lnSpc>
              <a:spcBef>
                <a:spcPts val="1795"/>
              </a:spcBef>
              <a:buClr>
                <a:srgbClr val="3B822F"/>
              </a:buClr>
              <a:buSzPct val="59090"/>
              <a:buFont typeface="Wingdings"/>
              <a:buChar char=""/>
              <a:tabLst>
                <a:tab pos="624840" algn="l"/>
                <a:tab pos="625475" algn="l"/>
              </a:tabLst>
            </a:pPr>
            <a:r>
              <a:rPr sz="2200" b="1" dirty="0">
                <a:latin typeface="Arial"/>
                <a:cs typeface="Arial"/>
              </a:rPr>
              <a:t>Liên </a:t>
            </a:r>
            <a:r>
              <a:rPr sz="2200" b="1" spc="-5" dirty="0">
                <a:latin typeface="Arial"/>
                <a:cs typeface="Arial"/>
              </a:rPr>
              <a:t>kết định nghĩa </a:t>
            </a:r>
            <a:r>
              <a:rPr sz="2200" b="1" dirty="0">
                <a:latin typeface="Arial"/>
                <a:cs typeface="Arial"/>
              </a:rPr>
              <a:t>(Definitional</a:t>
            </a:r>
            <a:r>
              <a:rPr sz="2200" b="1" spc="35" dirty="0">
                <a:latin typeface="Arial"/>
                <a:cs typeface="Arial"/>
              </a:rPr>
              <a:t> </a:t>
            </a:r>
            <a:r>
              <a:rPr sz="2200" b="1" dirty="0">
                <a:latin typeface="Arial"/>
                <a:cs typeface="Arial"/>
              </a:rPr>
              <a:t>links)</a:t>
            </a:r>
            <a:endParaRPr sz="2200">
              <a:latin typeface="Arial"/>
              <a:cs typeface="Arial"/>
            </a:endParaRPr>
          </a:p>
          <a:p>
            <a:pPr marL="977900" lvl="2" indent="-286385">
              <a:lnSpc>
                <a:spcPct val="100000"/>
              </a:lnSpc>
              <a:spcBef>
                <a:spcPts val="605"/>
              </a:spcBef>
              <a:buClr>
                <a:srgbClr val="CC9A00"/>
              </a:buClr>
              <a:buSzPct val="65000"/>
              <a:buFont typeface="Wingdings"/>
              <a:buChar char=""/>
              <a:tabLst>
                <a:tab pos="977900" algn="l"/>
                <a:tab pos="978535" algn="l"/>
              </a:tabLst>
            </a:pPr>
            <a:r>
              <a:rPr sz="2000" spc="-5" dirty="0">
                <a:latin typeface="Arial"/>
                <a:cs typeface="Arial"/>
              </a:rPr>
              <a:t>Lưu giữ các ý nghĩa của các khái</a:t>
            </a:r>
            <a:r>
              <a:rPr sz="2000" spc="-30" dirty="0">
                <a:latin typeface="Arial"/>
                <a:cs typeface="Arial"/>
              </a:rPr>
              <a:t> </a:t>
            </a:r>
            <a:r>
              <a:rPr sz="2000" spc="-5" dirty="0">
                <a:latin typeface="Arial"/>
                <a:cs typeface="Arial"/>
              </a:rPr>
              <a:t>niệm</a:t>
            </a:r>
            <a:endParaRPr sz="2000">
              <a:latin typeface="Arial"/>
              <a:cs typeface="Arial"/>
            </a:endParaRPr>
          </a:p>
          <a:p>
            <a:pPr marL="977900" lvl="2" indent="-286385">
              <a:lnSpc>
                <a:spcPct val="100000"/>
              </a:lnSpc>
              <a:spcBef>
                <a:spcPts val="600"/>
              </a:spcBef>
              <a:buClr>
                <a:srgbClr val="CC9A00"/>
              </a:buClr>
              <a:buSzPct val="65000"/>
              <a:buFont typeface="Wingdings"/>
              <a:buChar char=""/>
              <a:tabLst>
                <a:tab pos="977900" algn="l"/>
                <a:tab pos="978535" algn="l"/>
              </a:tabLst>
            </a:pPr>
            <a:r>
              <a:rPr sz="2000" i="1" spc="-10" dirty="0">
                <a:latin typeface="Arial"/>
                <a:cs typeface="Arial"/>
              </a:rPr>
              <a:t>Không </a:t>
            </a:r>
            <a:r>
              <a:rPr sz="2000" i="1" spc="-5" dirty="0">
                <a:latin typeface="Arial"/>
                <a:cs typeface="Arial"/>
              </a:rPr>
              <a:t>thay đổi khi không gian bài toán thay</a:t>
            </a:r>
            <a:r>
              <a:rPr sz="2000" i="1" spc="20" dirty="0">
                <a:latin typeface="Arial"/>
                <a:cs typeface="Arial"/>
              </a:rPr>
              <a:t> </a:t>
            </a:r>
            <a:r>
              <a:rPr sz="2000" i="1" spc="-5" dirty="0">
                <a:latin typeface="Arial"/>
                <a:cs typeface="Arial"/>
              </a:rPr>
              <a:t>đổi</a:t>
            </a:r>
            <a:endParaRPr sz="2000">
              <a:latin typeface="Arial"/>
              <a:cs typeface="Arial"/>
            </a:endParaRPr>
          </a:p>
          <a:p>
            <a:pPr marL="977900" lvl="2" indent="-286385">
              <a:lnSpc>
                <a:spcPct val="100000"/>
              </a:lnSpc>
              <a:spcBef>
                <a:spcPts val="600"/>
              </a:spcBef>
              <a:buClr>
                <a:srgbClr val="CC9A00"/>
              </a:buClr>
              <a:buSzPct val="65000"/>
              <a:buFont typeface="Wingdings"/>
              <a:buChar char=""/>
              <a:tabLst>
                <a:tab pos="977900" algn="l"/>
                <a:tab pos="978535" algn="l"/>
                <a:tab pos="1863725" algn="l"/>
                <a:tab pos="3904615" algn="l"/>
              </a:tabLst>
            </a:pPr>
            <a:r>
              <a:rPr sz="2000" spc="-5" dirty="0">
                <a:latin typeface="Arial"/>
                <a:cs typeface="Arial"/>
              </a:rPr>
              <a:t>Ví</a:t>
            </a:r>
            <a:r>
              <a:rPr sz="2000" spc="-15" dirty="0">
                <a:latin typeface="Arial"/>
                <a:cs typeface="Arial"/>
              </a:rPr>
              <a:t> </a:t>
            </a:r>
            <a:r>
              <a:rPr sz="2000" spc="-5" dirty="0">
                <a:latin typeface="Arial"/>
                <a:cs typeface="Arial"/>
              </a:rPr>
              <a:t>dụ:	apple </a:t>
            </a:r>
            <a:r>
              <a:rPr sz="2000" i="1" spc="-5" dirty="0">
                <a:latin typeface="Arial"/>
                <a:cs typeface="Arial"/>
              </a:rPr>
              <a:t>is-a</a:t>
            </a:r>
            <a:r>
              <a:rPr sz="2000" i="1" spc="15" dirty="0">
                <a:latin typeface="Arial"/>
                <a:cs typeface="Arial"/>
              </a:rPr>
              <a:t> </a:t>
            </a:r>
            <a:r>
              <a:rPr sz="2000" spc="-5" dirty="0">
                <a:latin typeface="Arial"/>
                <a:cs typeface="Arial"/>
              </a:rPr>
              <a:t>fruit</a:t>
            </a:r>
            <a:r>
              <a:rPr sz="2000" spc="114" dirty="0">
                <a:latin typeface="Arial"/>
                <a:cs typeface="Arial"/>
              </a:rPr>
              <a:t> </a:t>
            </a:r>
            <a:r>
              <a:rPr sz="2000" spc="-5" dirty="0">
                <a:latin typeface="Arial"/>
                <a:cs typeface="Arial"/>
              </a:rPr>
              <a:t>,	apple </a:t>
            </a:r>
            <a:r>
              <a:rPr sz="2000" i="1" spc="-5" dirty="0">
                <a:latin typeface="Arial"/>
                <a:cs typeface="Arial"/>
              </a:rPr>
              <a:t>has-color</a:t>
            </a:r>
            <a:r>
              <a:rPr sz="2000" i="1" spc="5" dirty="0">
                <a:latin typeface="Arial"/>
                <a:cs typeface="Arial"/>
              </a:rPr>
              <a:t> </a:t>
            </a:r>
            <a:r>
              <a:rPr sz="2000" spc="-10" dirty="0">
                <a:latin typeface="Arial"/>
                <a:cs typeface="Arial"/>
              </a:rPr>
              <a:t>red</a:t>
            </a:r>
            <a:endParaRPr sz="2000">
              <a:latin typeface="Arial"/>
              <a:cs typeface="Arial"/>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4" name="Title 13">
            <a:extLst>
              <a:ext uri="{FF2B5EF4-FFF2-40B4-BE49-F238E27FC236}">
                <a16:creationId xmlns:a16="http://schemas.microsoft.com/office/drawing/2014/main" id="{3E81578E-A62C-404B-AAA9-8E7EAF599BF4}"/>
              </a:ext>
            </a:extLst>
          </p:cNvPr>
          <p:cNvSpPr>
            <a:spLocks noGrp="1"/>
          </p:cNvSpPr>
          <p:nvPr>
            <p:ph type="title"/>
          </p:nvPr>
        </p:nvSpPr>
        <p:spPr/>
        <p:txBody>
          <a:bodyPr/>
          <a:lstStyle/>
          <a:p>
            <a:r>
              <a:rPr lang="en-US" b="0">
                <a:latin typeface="Verdana"/>
                <a:cs typeface="Verdana"/>
              </a:rPr>
              <a:t>SN – </a:t>
            </a:r>
            <a:r>
              <a:rPr lang="en-US" b="0" spc="-5">
                <a:latin typeface="Verdana"/>
                <a:cs typeface="Verdana"/>
              </a:rPr>
              <a:t>Ngữ nghĩa</a:t>
            </a:r>
            <a:r>
              <a:rPr lang="en-US" b="0" spc="-75">
                <a:latin typeface="Verdana"/>
                <a:cs typeface="Verdana"/>
              </a:rPr>
              <a:t> </a:t>
            </a:r>
            <a:r>
              <a:rPr lang="en-US" b="0" spc="-5">
                <a:latin typeface="Verdana"/>
                <a:cs typeface="Verdana"/>
              </a:rPr>
              <a:t>(3)</a:t>
            </a:r>
            <a:endParaRPr lang="en-US" b="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47</a:t>
            </a:fld>
            <a:endParaRPr spc="-40" dirty="0"/>
          </a:p>
        </p:txBody>
      </p:sp>
      <p:sp>
        <p:nvSpPr>
          <p:cNvPr id="3" name="object 3"/>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993139" y="1854199"/>
            <a:ext cx="7992109" cy="4567555"/>
          </a:xfrm>
          <a:prstGeom prst="rect">
            <a:avLst/>
          </a:prstGeom>
        </p:spPr>
        <p:txBody>
          <a:bodyPr vert="horz" wrap="square" lIns="0" tIns="12700" rIns="0" bIns="0" rtlCol="0">
            <a:spAutoFit/>
          </a:bodyPr>
          <a:lstStyle/>
          <a:p>
            <a:pPr marL="297815" marR="157480" indent="-285750">
              <a:lnSpc>
                <a:spcPct val="100000"/>
              </a:lnSpc>
              <a:spcBef>
                <a:spcPts val="100"/>
              </a:spcBef>
              <a:buClr>
                <a:srgbClr val="CC9A00"/>
              </a:buClr>
              <a:buSzPct val="63636"/>
              <a:buFont typeface="Wingdings"/>
              <a:buChar char=""/>
              <a:tabLst>
                <a:tab pos="297815" algn="l"/>
                <a:tab pos="298450" algn="l"/>
                <a:tab pos="3097530" algn="l"/>
              </a:tabLst>
            </a:pPr>
            <a:r>
              <a:rPr sz="2200" spc="-5" dirty="0">
                <a:latin typeface="Arial"/>
                <a:cs typeface="Arial"/>
              </a:rPr>
              <a:t>Một giải pháp </a:t>
            </a:r>
            <a:r>
              <a:rPr sz="2200" dirty="0">
                <a:latin typeface="Arial"/>
                <a:cs typeface="Arial"/>
              </a:rPr>
              <a:t>có thể </a:t>
            </a:r>
            <a:r>
              <a:rPr sz="2200" spc="-5" dirty="0">
                <a:latin typeface="Arial"/>
                <a:cs typeface="Arial"/>
              </a:rPr>
              <a:t>đối </a:t>
            </a:r>
            <a:r>
              <a:rPr sz="2200" dirty="0">
                <a:latin typeface="Arial"/>
                <a:cs typeface="Arial"/>
              </a:rPr>
              <a:t>với </a:t>
            </a:r>
            <a:r>
              <a:rPr sz="2200" spc="-5" dirty="0">
                <a:latin typeface="Arial"/>
                <a:cs typeface="Arial"/>
              </a:rPr>
              <a:t>vấn đề </a:t>
            </a:r>
            <a:r>
              <a:rPr sz="2200" dirty="0">
                <a:latin typeface="Arial"/>
                <a:cs typeface="Arial"/>
              </a:rPr>
              <a:t>xác </a:t>
            </a:r>
            <a:r>
              <a:rPr sz="2200" spc="-5" dirty="0">
                <a:latin typeface="Arial"/>
                <a:cs typeface="Arial"/>
              </a:rPr>
              <a:t>định ngữ nghĩa của  </a:t>
            </a:r>
            <a:r>
              <a:rPr sz="2200" dirty="0">
                <a:latin typeface="Arial"/>
                <a:cs typeface="Arial"/>
              </a:rPr>
              <a:t>các </a:t>
            </a:r>
            <a:r>
              <a:rPr sz="2200" spc="-5" dirty="0">
                <a:latin typeface="Arial"/>
                <a:cs typeface="Arial"/>
              </a:rPr>
              <a:t>mạng</a:t>
            </a:r>
            <a:r>
              <a:rPr sz="2200" spc="20" dirty="0">
                <a:latin typeface="Arial"/>
                <a:cs typeface="Arial"/>
              </a:rPr>
              <a:t> </a:t>
            </a:r>
            <a:r>
              <a:rPr sz="2200" spc="-5" dirty="0">
                <a:latin typeface="Arial"/>
                <a:cs typeface="Arial"/>
              </a:rPr>
              <a:t>ngữ</a:t>
            </a:r>
            <a:r>
              <a:rPr sz="2200" spc="10" dirty="0">
                <a:latin typeface="Arial"/>
                <a:cs typeface="Arial"/>
              </a:rPr>
              <a:t> </a:t>
            </a:r>
            <a:r>
              <a:rPr sz="2200" spc="-5" dirty="0">
                <a:latin typeface="Arial"/>
                <a:cs typeface="Arial"/>
              </a:rPr>
              <a:t>nghĩa:	Chuyển đổi </a:t>
            </a:r>
            <a:r>
              <a:rPr sz="2200" dirty="0">
                <a:latin typeface="Arial"/>
                <a:cs typeface="Arial"/>
              </a:rPr>
              <a:t>(transform) </a:t>
            </a:r>
            <a:r>
              <a:rPr sz="2200" spc="-5" dirty="0">
                <a:latin typeface="Arial"/>
                <a:cs typeface="Arial"/>
              </a:rPr>
              <a:t>các mạng ngữ  nghĩa </a:t>
            </a:r>
            <a:r>
              <a:rPr sz="2200" dirty="0">
                <a:latin typeface="Arial"/>
                <a:cs typeface="Arial"/>
              </a:rPr>
              <a:t>sang </a:t>
            </a:r>
            <a:r>
              <a:rPr sz="2200" spc="-5" dirty="0">
                <a:latin typeface="Arial"/>
                <a:cs typeface="Arial"/>
              </a:rPr>
              <a:t>logic</a:t>
            </a:r>
            <a:endParaRPr sz="2200">
              <a:latin typeface="Arial"/>
              <a:cs typeface="Arial"/>
            </a:endParaRPr>
          </a:p>
          <a:p>
            <a:pPr marL="298450" marR="5080" indent="-285750">
              <a:lnSpc>
                <a:spcPct val="100000"/>
              </a:lnSpc>
              <a:spcBef>
                <a:spcPts val="1800"/>
              </a:spcBef>
              <a:buClr>
                <a:srgbClr val="CC9A00"/>
              </a:buClr>
              <a:buSzPct val="63636"/>
              <a:buFont typeface="Wingdings"/>
              <a:buChar char=""/>
              <a:tabLst>
                <a:tab pos="297815" algn="l"/>
                <a:tab pos="298450" algn="l"/>
                <a:tab pos="1553210" algn="l"/>
              </a:tabLst>
            </a:pPr>
            <a:r>
              <a:rPr sz="2200" dirty="0">
                <a:latin typeface="Arial"/>
                <a:cs typeface="Arial"/>
              </a:rPr>
              <a:t>Ý</a:t>
            </a:r>
            <a:r>
              <a:rPr sz="2200" spc="-5" dirty="0">
                <a:latin typeface="Arial"/>
                <a:cs typeface="Arial"/>
              </a:rPr>
              <a:t> tưởng:	Ngữ nghĩa của logic đã được định nghĩa </a:t>
            </a:r>
            <a:r>
              <a:rPr sz="2200" dirty="0">
                <a:latin typeface="Arial"/>
                <a:cs typeface="Arial"/>
              </a:rPr>
              <a:t>chuẩn –  </a:t>
            </a:r>
            <a:r>
              <a:rPr sz="2200" spc="-5" dirty="0">
                <a:latin typeface="Arial"/>
                <a:cs typeface="Arial"/>
              </a:rPr>
              <a:t>Chuyển đổi </a:t>
            </a:r>
            <a:r>
              <a:rPr sz="2200" dirty="0">
                <a:latin typeface="Arial"/>
                <a:cs typeface="Arial"/>
              </a:rPr>
              <a:t>ngữ nghĩa sang </a:t>
            </a:r>
            <a:r>
              <a:rPr sz="2200" spc="-5" dirty="0">
                <a:latin typeface="Arial"/>
                <a:cs typeface="Arial"/>
              </a:rPr>
              <a:t>logic </a:t>
            </a:r>
            <a:r>
              <a:rPr sz="2200" dirty="0">
                <a:latin typeface="Arial"/>
                <a:cs typeface="Arial"/>
              </a:rPr>
              <a:t>sẽ </a:t>
            </a:r>
            <a:r>
              <a:rPr sz="2200" spc="-5" dirty="0">
                <a:latin typeface="Arial"/>
                <a:cs typeface="Arial"/>
              </a:rPr>
              <a:t>cho phép </a:t>
            </a:r>
            <a:r>
              <a:rPr sz="2200" dirty="0">
                <a:latin typeface="Arial"/>
                <a:cs typeface="Arial"/>
              </a:rPr>
              <a:t>biểu </a:t>
            </a:r>
            <a:r>
              <a:rPr sz="2200" spc="-5" dirty="0">
                <a:latin typeface="Arial"/>
                <a:cs typeface="Arial"/>
              </a:rPr>
              <a:t>diễn </a:t>
            </a:r>
            <a:r>
              <a:rPr sz="2200" dirty="0">
                <a:latin typeface="Arial"/>
                <a:cs typeface="Arial"/>
              </a:rPr>
              <a:t>chính  xác </a:t>
            </a:r>
            <a:r>
              <a:rPr sz="2200" spc="-5" dirty="0">
                <a:latin typeface="Arial"/>
                <a:cs typeface="Arial"/>
              </a:rPr>
              <a:t>ngữ nghĩa của </a:t>
            </a:r>
            <a:r>
              <a:rPr sz="2200" dirty="0">
                <a:latin typeface="Arial"/>
                <a:cs typeface="Arial"/>
              </a:rPr>
              <a:t>các </a:t>
            </a:r>
            <a:r>
              <a:rPr sz="2200" spc="-5" dirty="0">
                <a:latin typeface="Arial"/>
                <a:cs typeface="Arial"/>
              </a:rPr>
              <a:t>mạng ngữ</a:t>
            </a:r>
            <a:r>
              <a:rPr sz="2200" spc="5" dirty="0">
                <a:latin typeface="Arial"/>
                <a:cs typeface="Arial"/>
              </a:rPr>
              <a:t> </a:t>
            </a:r>
            <a:r>
              <a:rPr sz="2200" spc="-5" dirty="0">
                <a:latin typeface="Arial"/>
                <a:cs typeface="Arial"/>
              </a:rPr>
              <a:t>nghĩa</a:t>
            </a:r>
            <a:endParaRPr sz="2200">
              <a:latin typeface="Arial"/>
              <a:cs typeface="Arial"/>
            </a:endParaRPr>
          </a:p>
          <a:p>
            <a:pPr marL="297815" marR="105410" indent="-285750">
              <a:lnSpc>
                <a:spcPct val="100000"/>
              </a:lnSpc>
              <a:spcBef>
                <a:spcPts val="1800"/>
              </a:spcBef>
              <a:buClr>
                <a:srgbClr val="CC9A00"/>
              </a:buClr>
              <a:buSzPct val="63636"/>
              <a:buFont typeface="Wingdings"/>
              <a:buChar char=""/>
              <a:tabLst>
                <a:tab pos="297815" algn="l"/>
                <a:tab pos="298450" algn="l"/>
              </a:tabLst>
            </a:pPr>
            <a:r>
              <a:rPr sz="2200" spc="-5" dirty="0">
                <a:latin typeface="Arial"/>
                <a:cs typeface="Arial"/>
              </a:rPr>
              <a:t>Việc </a:t>
            </a:r>
            <a:r>
              <a:rPr sz="2200" dirty="0">
                <a:latin typeface="Arial"/>
                <a:cs typeface="Arial"/>
              </a:rPr>
              <a:t>chuyển </a:t>
            </a:r>
            <a:r>
              <a:rPr sz="2200" spc="-5" dirty="0">
                <a:latin typeface="Arial"/>
                <a:cs typeface="Arial"/>
              </a:rPr>
              <a:t>đổi chỉ đơn giản là biểu diễn </a:t>
            </a:r>
            <a:r>
              <a:rPr sz="2200" dirty="0">
                <a:latin typeface="Arial"/>
                <a:cs typeface="Arial"/>
              </a:rPr>
              <a:t>các nút là các </a:t>
            </a:r>
            <a:r>
              <a:rPr sz="2200" spc="-5" dirty="0">
                <a:latin typeface="Arial"/>
                <a:cs typeface="Arial"/>
              </a:rPr>
              <a:t>hằng  </a:t>
            </a:r>
            <a:r>
              <a:rPr sz="2200" dirty="0">
                <a:latin typeface="Arial"/>
                <a:cs typeface="Arial"/>
              </a:rPr>
              <a:t>(constants) và các </a:t>
            </a:r>
            <a:r>
              <a:rPr sz="2200" spc="-5" dirty="0">
                <a:latin typeface="Arial"/>
                <a:cs typeface="Arial"/>
              </a:rPr>
              <a:t>liên </a:t>
            </a:r>
            <a:r>
              <a:rPr sz="2200" dirty="0">
                <a:latin typeface="Arial"/>
                <a:cs typeface="Arial"/>
              </a:rPr>
              <a:t>kết </a:t>
            </a:r>
            <a:r>
              <a:rPr sz="2200" spc="-5" dirty="0">
                <a:latin typeface="Arial"/>
                <a:cs typeface="Arial"/>
              </a:rPr>
              <a:t>là </a:t>
            </a:r>
            <a:r>
              <a:rPr sz="2200" dirty="0">
                <a:latin typeface="Arial"/>
                <a:cs typeface="Arial"/>
              </a:rPr>
              <a:t>các vị </a:t>
            </a:r>
            <a:r>
              <a:rPr sz="2200" spc="-5" dirty="0">
                <a:latin typeface="Arial"/>
                <a:cs typeface="Arial"/>
              </a:rPr>
              <a:t>từ hai ngôi </a:t>
            </a:r>
            <a:r>
              <a:rPr sz="2200" dirty="0">
                <a:latin typeface="Arial"/>
                <a:cs typeface="Arial"/>
              </a:rPr>
              <a:t>(binary  </a:t>
            </a:r>
            <a:r>
              <a:rPr sz="2200" spc="-5" dirty="0">
                <a:latin typeface="Arial"/>
                <a:cs typeface="Arial"/>
              </a:rPr>
              <a:t>predicates)?</a:t>
            </a:r>
            <a:endParaRPr sz="2200">
              <a:latin typeface="Arial"/>
              <a:cs typeface="Arial"/>
            </a:endParaRPr>
          </a:p>
          <a:p>
            <a:pPr marL="624840" lvl="1" indent="-286385">
              <a:lnSpc>
                <a:spcPct val="100000"/>
              </a:lnSpc>
              <a:spcBef>
                <a:spcPts val="605"/>
              </a:spcBef>
              <a:buClr>
                <a:srgbClr val="3B822F"/>
              </a:buClr>
              <a:buSzPct val="60000"/>
              <a:buFont typeface="Wingdings"/>
              <a:buChar char=""/>
              <a:tabLst>
                <a:tab pos="624840" algn="l"/>
                <a:tab pos="625475" algn="l"/>
              </a:tabLst>
            </a:pPr>
            <a:r>
              <a:rPr sz="2000" spc="-10" dirty="0">
                <a:latin typeface="Arial"/>
                <a:cs typeface="Arial"/>
              </a:rPr>
              <a:t>Không </a:t>
            </a:r>
            <a:r>
              <a:rPr sz="2000" spc="-5" dirty="0">
                <a:latin typeface="Arial"/>
                <a:cs typeface="Arial"/>
              </a:rPr>
              <a:t>quá đơn giản như</a:t>
            </a:r>
            <a:r>
              <a:rPr sz="2000" spc="25" dirty="0">
                <a:latin typeface="Arial"/>
                <a:cs typeface="Arial"/>
              </a:rPr>
              <a:t> </a:t>
            </a:r>
            <a:r>
              <a:rPr sz="2000" spc="-5" dirty="0">
                <a:latin typeface="Arial"/>
                <a:cs typeface="Arial"/>
              </a:rPr>
              <a:t>vậy</a:t>
            </a:r>
            <a:endParaRPr sz="2000">
              <a:latin typeface="Arial"/>
              <a:cs typeface="Arial"/>
            </a:endParaRPr>
          </a:p>
          <a:p>
            <a:pPr marL="624840" marR="99695" lvl="1" indent="-285750">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Tuy </a:t>
            </a:r>
            <a:r>
              <a:rPr sz="2000" spc="-10" dirty="0">
                <a:latin typeface="Arial"/>
                <a:cs typeface="Arial"/>
              </a:rPr>
              <a:t>nhiên, </a:t>
            </a:r>
            <a:r>
              <a:rPr sz="2000" spc="-5" dirty="0">
                <a:latin typeface="Arial"/>
                <a:cs typeface="Arial"/>
              </a:rPr>
              <a:t>cú pháp của các mạng ngữ nghĩa có thể được viết lại  trong</a:t>
            </a:r>
            <a:r>
              <a:rPr sz="2000" spc="-25" dirty="0">
                <a:latin typeface="Arial"/>
                <a:cs typeface="Arial"/>
              </a:rPr>
              <a:t> </a:t>
            </a:r>
            <a:r>
              <a:rPr sz="2000" spc="-10" dirty="0">
                <a:latin typeface="Arial"/>
                <a:cs typeface="Arial"/>
              </a:rPr>
              <a:t>logic</a:t>
            </a:r>
            <a:endParaRPr sz="2000">
              <a:latin typeface="Arial"/>
              <a:cs typeface="Arial"/>
            </a:endParaRPr>
          </a:p>
        </p:txBody>
      </p:sp>
      <p:grpSp>
        <p:nvGrpSpPr>
          <p:cNvPr id="5" name="object 5"/>
          <p:cNvGrpSpPr/>
          <p:nvPr/>
        </p:nvGrpSpPr>
        <p:grpSpPr>
          <a:xfrm>
            <a:off x="457200" y="6332220"/>
            <a:ext cx="9144000" cy="982980"/>
            <a:chOff x="457200" y="6332220"/>
            <a:chExt cx="9144000" cy="982980"/>
          </a:xfrm>
        </p:grpSpPr>
        <p:sp>
          <p:nvSpPr>
            <p:cNvPr id="6" name="object 6"/>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7" name="object 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1" name="Title 10">
            <a:extLst>
              <a:ext uri="{FF2B5EF4-FFF2-40B4-BE49-F238E27FC236}">
                <a16:creationId xmlns:a16="http://schemas.microsoft.com/office/drawing/2014/main" id="{E865346C-5845-4E9C-9587-AE1D493C78D3}"/>
              </a:ext>
            </a:extLst>
          </p:cNvPr>
          <p:cNvSpPr>
            <a:spLocks noGrp="1"/>
          </p:cNvSpPr>
          <p:nvPr>
            <p:ph type="title"/>
          </p:nvPr>
        </p:nvSpPr>
        <p:spPr/>
        <p:txBody>
          <a:bodyPr/>
          <a:lstStyle/>
          <a:p>
            <a:r>
              <a:rPr lang="en-US" sz="3600" b="0">
                <a:latin typeface="Verdana"/>
                <a:cs typeface="Verdana"/>
              </a:rPr>
              <a:t>SN – </a:t>
            </a:r>
            <a:r>
              <a:rPr lang="en-US" sz="3600" b="0" spc="-5">
                <a:latin typeface="Verdana"/>
                <a:cs typeface="Verdana"/>
              </a:rPr>
              <a:t>Chuyển </a:t>
            </a:r>
            <a:r>
              <a:rPr lang="en-US" sz="3600" b="0">
                <a:latin typeface="Verdana"/>
                <a:cs typeface="Verdana"/>
              </a:rPr>
              <a:t>đổi sang </a:t>
            </a:r>
            <a:r>
              <a:rPr lang="en-US" sz="3600" b="0" spc="-5">
                <a:latin typeface="Verdana"/>
                <a:cs typeface="Verdana"/>
              </a:rPr>
              <a:t>logic</a:t>
            </a:r>
            <a:r>
              <a:rPr lang="en-US" sz="3600" b="0" spc="-60">
                <a:latin typeface="Verdana"/>
                <a:cs typeface="Verdana"/>
              </a:rPr>
              <a:t> </a:t>
            </a:r>
            <a:r>
              <a:rPr lang="en-US" sz="3600" b="0">
                <a:latin typeface="Verdana"/>
                <a:cs typeface="Verdana"/>
              </a:rPr>
              <a:t>(1)</a:t>
            </a:r>
            <a:endParaRPr lang="en-US" b="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25" name="object 25"/>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6" name="object 26"/>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48</a:t>
            </a:fld>
            <a:endParaRPr spc="-40" dirty="0"/>
          </a:p>
        </p:txBody>
      </p:sp>
      <p:sp>
        <p:nvSpPr>
          <p:cNvPr id="3" name="object 3"/>
          <p:cNvSpPr txBox="1"/>
          <p:nvPr/>
        </p:nvSpPr>
        <p:spPr>
          <a:xfrm>
            <a:off x="993139" y="1692675"/>
            <a:ext cx="4014470" cy="828675"/>
          </a:xfrm>
          <a:prstGeom prst="rect">
            <a:avLst/>
          </a:prstGeom>
        </p:spPr>
        <p:txBody>
          <a:bodyPr vert="horz" wrap="square" lIns="0" tIns="97790" rIns="0" bIns="0" rtlCol="0">
            <a:spAutoFit/>
          </a:bodyPr>
          <a:lstStyle/>
          <a:p>
            <a:pPr marL="298450" indent="-285750">
              <a:lnSpc>
                <a:spcPct val="100000"/>
              </a:lnSpc>
              <a:spcBef>
                <a:spcPts val="770"/>
              </a:spcBef>
              <a:buClr>
                <a:srgbClr val="CC9A00"/>
              </a:buClr>
              <a:buSzPct val="63636"/>
              <a:buFont typeface="Wingdings"/>
              <a:buChar char=""/>
              <a:tabLst>
                <a:tab pos="297815" algn="l"/>
                <a:tab pos="298450" algn="l"/>
                <a:tab pos="2810510" algn="l"/>
              </a:tabLst>
            </a:pPr>
            <a:r>
              <a:rPr sz="2200" spc="-5" dirty="0">
                <a:latin typeface="Arial"/>
                <a:cs typeface="Arial"/>
              </a:rPr>
              <a:t>Đối </a:t>
            </a:r>
            <a:r>
              <a:rPr sz="2200" dirty="0">
                <a:latin typeface="Arial"/>
                <a:cs typeface="Arial"/>
              </a:rPr>
              <a:t>với các</a:t>
            </a:r>
            <a:r>
              <a:rPr sz="2200" spc="-25" dirty="0">
                <a:latin typeface="Arial"/>
                <a:cs typeface="Arial"/>
              </a:rPr>
              <a:t> </a:t>
            </a:r>
            <a:r>
              <a:rPr sz="2200" dirty="0">
                <a:latin typeface="Arial"/>
                <a:cs typeface="Arial"/>
              </a:rPr>
              <a:t>liên kết	</a:t>
            </a:r>
            <a:r>
              <a:rPr sz="2200" i="1" dirty="0">
                <a:latin typeface="Arial"/>
                <a:cs typeface="Arial"/>
              </a:rPr>
              <a:t>is-a</a:t>
            </a:r>
            <a:endParaRPr sz="22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Symbol"/>
                <a:cs typeface="Symbol"/>
              </a:rPr>
              <a:t></a:t>
            </a:r>
            <a:r>
              <a:rPr sz="2000" spc="-5" dirty="0">
                <a:latin typeface="Arial"/>
                <a:cs typeface="Arial"/>
              </a:rPr>
              <a:t>x: elephant(x) </a:t>
            </a:r>
            <a:r>
              <a:rPr sz="2000" spc="-5" dirty="0">
                <a:latin typeface="Symbol"/>
                <a:cs typeface="Symbol"/>
              </a:rPr>
              <a:t></a:t>
            </a:r>
            <a:r>
              <a:rPr sz="2000" spc="30" dirty="0">
                <a:latin typeface="Times New Roman"/>
                <a:cs typeface="Times New Roman"/>
              </a:rPr>
              <a:t> </a:t>
            </a:r>
            <a:r>
              <a:rPr sz="2000" spc="-10" dirty="0">
                <a:latin typeface="Arial"/>
                <a:cs typeface="Arial"/>
              </a:rPr>
              <a:t>mammal(x)</a:t>
            </a:r>
            <a:endParaRPr sz="2000">
              <a:latin typeface="Arial"/>
              <a:cs typeface="Arial"/>
            </a:endParaRPr>
          </a:p>
        </p:txBody>
      </p:sp>
      <p:sp>
        <p:nvSpPr>
          <p:cNvPr id="4" name="object 4"/>
          <p:cNvSpPr txBox="1"/>
          <p:nvPr/>
        </p:nvSpPr>
        <p:spPr>
          <a:xfrm>
            <a:off x="6174740" y="2046224"/>
            <a:ext cx="88328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Elephant</a:t>
            </a:r>
            <a:endParaRPr sz="1600">
              <a:latin typeface="Arial"/>
              <a:cs typeface="Arial"/>
            </a:endParaRPr>
          </a:p>
        </p:txBody>
      </p:sp>
      <p:sp>
        <p:nvSpPr>
          <p:cNvPr id="5" name="object 5"/>
          <p:cNvSpPr txBox="1"/>
          <p:nvPr/>
        </p:nvSpPr>
        <p:spPr>
          <a:xfrm>
            <a:off x="8231765" y="2046224"/>
            <a:ext cx="83820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endParaRPr sz="1600">
              <a:latin typeface="Arial"/>
              <a:cs typeface="Arial"/>
            </a:endParaRPr>
          </a:p>
        </p:txBody>
      </p:sp>
      <p:sp>
        <p:nvSpPr>
          <p:cNvPr id="6" name="object 6"/>
          <p:cNvSpPr/>
          <p:nvPr/>
        </p:nvSpPr>
        <p:spPr>
          <a:xfrm>
            <a:off x="7239000" y="2151126"/>
            <a:ext cx="914400" cy="76200"/>
          </a:xfrm>
          <a:custGeom>
            <a:avLst/>
            <a:gdLst/>
            <a:ahLst/>
            <a:cxnLst/>
            <a:rect l="l" t="t" r="r" b="b"/>
            <a:pathLst>
              <a:path w="914400" h="76200">
                <a:moveTo>
                  <a:pt x="800100" y="46481"/>
                </a:moveTo>
                <a:lnTo>
                  <a:pt x="800100" y="30479"/>
                </a:lnTo>
                <a:lnTo>
                  <a:pt x="0" y="28955"/>
                </a:lnTo>
                <a:lnTo>
                  <a:pt x="0" y="44957"/>
                </a:lnTo>
                <a:lnTo>
                  <a:pt x="800100" y="46481"/>
                </a:lnTo>
                <a:close/>
              </a:path>
              <a:path w="914400" h="76200">
                <a:moveTo>
                  <a:pt x="914400" y="38099"/>
                </a:moveTo>
                <a:lnTo>
                  <a:pt x="787907" y="0"/>
                </a:lnTo>
                <a:lnTo>
                  <a:pt x="787907" y="30456"/>
                </a:lnTo>
                <a:lnTo>
                  <a:pt x="800100" y="30479"/>
                </a:lnTo>
                <a:lnTo>
                  <a:pt x="800100" y="72527"/>
                </a:lnTo>
                <a:lnTo>
                  <a:pt x="914400" y="38099"/>
                </a:lnTo>
                <a:close/>
              </a:path>
              <a:path w="914400" h="76200">
                <a:moveTo>
                  <a:pt x="800100" y="72527"/>
                </a:moveTo>
                <a:lnTo>
                  <a:pt x="800100" y="46481"/>
                </a:lnTo>
                <a:lnTo>
                  <a:pt x="787907" y="46458"/>
                </a:lnTo>
                <a:lnTo>
                  <a:pt x="787907" y="76199"/>
                </a:lnTo>
                <a:lnTo>
                  <a:pt x="800100" y="72527"/>
                </a:lnTo>
                <a:close/>
              </a:path>
            </a:pathLst>
          </a:custGeom>
          <a:solidFill>
            <a:srgbClr val="000000"/>
          </a:solidFill>
        </p:spPr>
        <p:txBody>
          <a:bodyPr wrap="square" lIns="0" tIns="0" rIns="0" bIns="0" rtlCol="0"/>
          <a:lstStyle/>
          <a:p>
            <a:endParaRPr/>
          </a:p>
        </p:txBody>
      </p:sp>
      <p:sp>
        <p:nvSpPr>
          <p:cNvPr id="7" name="object 7"/>
          <p:cNvSpPr txBox="1"/>
          <p:nvPr/>
        </p:nvSpPr>
        <p:spPr>
          <a:xfrm>
            <a:off x="7480045" y="1931924"/>
            <a:ext cx="353695" cy="269875"/>
          </a:xfrm>
          <a:prstGeom prst="rect">
            <a:avLst/>
          </a:prstGeom>
        </p:spPr>
        <p:txBody>
          <a:bodyPr vert="horz" wrap="square" lIns="0" tIns="12700" rIns="0" bIns="0" rtlCol="0">
            <a:spAutoFit/>
          </a:bodyPr>
          <a:lstStyle/>
          <a:p>
            <a:pPr marL="12700">
              <a:lnSpc>
                <a:spcPct val="100000"/>
              </a:lnSpc>
              <a:spcBef>
                <a:spcPts val="100"/>
              </a:spcBef>
            </a:pPr>
            <a:r>
              <a:rPr sz="1600" dirty="0">
                <a:latin typeface="Arial"/>
                <a:cs typeface="Arial"/>
              </a:rPr>
              <a:t>is-a</a:t>
            </a:r>
            <a:endParaRPr sz="1600">
              <a:latin typeface="Arial"/>
              <a:cs typeface="Arial"/>
            </a:endParaRPr>
          </a:p>
        </p:txBody>
      </p:sp>
      <p:sp>
        <p:nvSpPr>
          <p:cNvPr id="9" name="object 9"/>
          <p:cNvSpPr txBox="1"/>
          <p:nvPr/>
        </p:nvSpPr>
        <p:spPr>
          <a:xfrm>
            <a:off x="6250940" y="3189224"/>
            <a:ext cx="57912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Clyde</a:t>
            </a:r>
            <a:endParaRPr sz="1600">
              <a:latin typeface="Arial"/>
              <a:cs typeface="Arial"/>
            </a:endParaRPr>
          </a:p>
        </p:txBody>
      </p:sp>
      <p:sp>
        <p:nvSpPr>
          <p:cNvPr id="10" name="object 10"/>
          <p:cNvSpPr txBox="1"/>
          <p:nvPr/>
        </p:nvSpPr>
        <p:spPr>
          <a:xfrm>
            <a:off x="8232140" y="3189224"/>
            <a:ext cx="57912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White</a:t>
            </a:r>
            <a:endParaRPr sz="1600">
              <a:latin typeface="Arial"/>
              <a:cs typeface="Arial"/>
            </a:endParaRPr>
          </a:p>
        </p:txBody>
      </p:sp>
      <p:sp>
        <p:nvSpPr>
          <p:cNvPr id="11" name="object 11"/>
          <p:cNvSpPr/>
          <p:nvPr/>
        </p:nvSpPr>
        <p:spPr>
          <a:xfrm>
            <a:off x="6858000" y="3293364"/>
            <a:ext cx="1295400" cy="76200"/>
          </a:xfrm>
          <a:custGeom>
            <a:avLst/>
            <a:gdLst/>
            <a:ahLst/>
            <a:cxnLst/>
            <a:rect l="l" t="t" r="r" b="b"/>
            <a:pathLst>
              <a:path w="1295400" h="76200">
                <a:moveTo>
                  <a:pt x="1181100" y="45720"/>
                </a:moveTo>
                <a:lnTo>
                  <a:pt x="1181100" y="29718"/>
                </a:lnTo>
                <a:lnTo>
                  <a:pt x="0" y="31241"/>
                </a:lnTo>
                <a:lnTo>
                  <a:pt x="0" y="47244"/>
                </a:lnTo>
                <a:lnTo>
                  <a:pt x="1181100" y="45720"/>
                </a:lnTo>
                <a:close/>
              </a:path>
              <a:path w="1295400" h="76200">
                <a:moveTo>
                  <a:pt x="1295400" y="37337"/>
                </a:moveTo>
                <a:lnTo>
                  <a:pt x="1168907" y="0"/>
                </a:lnTo>
                <a:lnTo>
                  <a:pt x="1168907" y="29733"/>
                </a:lnTo>
                <a:lnTo>
                  <a:pt x="1181100" y="29718"/>
                </a:lnTo>
                <a:lnTo>
                  <a:pt x="1181100" y="72454"/>
                </a:lnTo>
                <a:lnTo>
                  <a:pt x="1295400" y="37337"/>
                </a:lnTo>
                <a:close/>
              </a:path>
              <a:path w="1295400" h="76200">
                <a:moveTo>
                  <a:pt x="1181100" y="72454"/>
                </a:moveTo>
                <a:lnTo>
                  <a:pt x="1181100" y="45720"/>
                </a:lnTo>
                <a:lnTo>
                  <a:pt x="1168907" y="45735"/>
                </a:lnTo>
                <a:lnTo>
                  <a:pt x="1168907" y="76200"/>
                </a:lnTo>
                <a:lnTo>
                  <a:pt x="1181100" y="72454"/>
                </a:lnTo>
                <a:close/>
              </a:path>
            </a:pathLst>
          </a:custGeom>
          <a:solidFill>
            <a:srgbClr val="000000"/>
          </a:solidFill>
        </p:spPr>
        <p:txBody>
          <a:bodyPr wrap="square" lIns="0" tIns="0" rIns="0" bIns="0" rtlCol="0"/>
          <a:lstStyle/>
          <a:p>
            <a:endParaRPr/>
          </a:p>
        </p:txBody>
      </p:sp>
      <p:sp>
        <p:nvSpPr>
          <p:cNvPr id="12" name="object 12"/>
          <p:cNvSpPr txBox="1"/>
          <p:nvPr/>
        </p:nvSpPr>
        <p:spPr>
          <a:xfrm>
            <a:off x="7012940" y="3074924"/>
            <a:ext cx="86106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has-color</a:t>
            </a:r>
            <a:endParaRPr sz="1600">
              <a:latin typeface="Arial"/>
              <a:cs typeface="Arial"/>
            </a:endParaRPr>
          </a:p>
        </p:txBody>
      </p:sp>
      <p:sp>
        <p:nvSpPr>
          <p:cNvPr id="13" name="object 13"/>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14" name="object 14"/>
          <p:cNvSpPr txBox="1"/>
          <p:nvPr/>
        </p:nvSpPr>
        <p:spPr>
          <a:xfrm>
            <a:off x="993139" y="2722880"/>
            <a:ext cx="4690745" cy="1077595"/>
          </a:xfrm>
          <a:prstGeom prst="rect">
            <a:avLst/>
          </a:prstGeom>
        </p:spPr>
        <p:txBody>
          <a:bodyPr vert="horz" wrap="square" lIns="0" tIns="12700" rIns="0" bIns="0" rtlCol="0">
            <a:spAutoFit/>
          </a:bodyPr>
          <a:lstStyle/>
          <a:p>
            <a:pPr marL="298450" marR="5080" indent="-286385">
              <a:lnSpc>
                <a:spcPct val="100000"/>
              </a:lnSpc>
              <a:spcBef>
                <a:spcPts val="100"/>
              </a:spcBef>
              <a:buClr>
                <a:srgbClr val="CC9A00"/>
              </a:buClr>
              <a:buSzPct val="63636"/>
              <a:buFont typeface="Wingdings"/>
              <a:buChar char=""/>
              <a:tabLst>
                <a:tab pos="297815" algn="l"/>
                <a:tab pos="298450" algn="l"/>
              </a:tabLst>
            </a:pPr>
            <a:r>
              <a:rPr sz="2200" spc="-5" dirty="0">
                <a:latin typeface="Arial"/>
                <a:cs typeface="Arial"/>
              </a:rPr>
              <a:t>Đối </a:t>
            </a:r>
            <a:r>
              <a:rPr sz="2200" dirty="0">
                <a:latin typeface="Arial"/>
                <a:cs typeface="Arial"/>
              </a:rPr>
              <a:t>với các liên kết </a:t>
            </a:r>
            <a:r>
              <a:rPr sz="2200" spc="-5" dirty="0">
                <a:latin typeface="Arial"/>
                <a:cs typeface="Arial"/>
              </a:rPr>
              <a:t>(thuộc </a:t>
            </a:r>
            <a:r>
              <a:rPr sz="2200" dirty="0">
                <a:latin typeface="Arial"/>
                <a:cs typeface="Arial"/>
              </a:rPr>
              <a:t>tính)</a:t>
            </a:r>
            <a:r>
              <a:rPr sz="2200" spc="-85" dirty="0">
                <a:latin typeface="Arial"/>
                <a:cs typeface="Arial"/>
              </a:rPr>
              <a:t> </a:t>
            </a:r>
            <a:r>
              <a:rPr sz="2200" spc="-5" dirty="0">
                <a:latin typeface="Arial"/>
                <a:cs typeface="Arial"/>
              </a:rPr>
              <a:t>của  một ví </a:t>
            </a:r>
            <a:r>
              <a:rPr sz="2200" dirty="0">
                <a:latin typeface="Arial"/>
                <a:cs typeface="Arial"/>
              </a:rPr>
              <a:t>dụ</a:t>
            </a:r>
            <a:r>
              <a:rPr sz="2200" spc="-5" dirty="0">
                <a:latin typeface="Arial"/>
                <a:cs typeface="Arial"/>
              </a:rPr>
              <a:t> </a:t>
            </a:r>
            <a:r>
              <a:rPr sz="2200" dirty="0">
                <a:latin typeface="Arial"/>
                <a:cs typeface="Arial"/>
              </a:rPr>
              <a:t>(instance)</a:t>
            </a:r>
            <a:endParaRPr sz="22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10" dirty="0">
                <a:latin typeface="Arial"/>
                <a:cs typeface="Arial"/>
              </a:rPr>
              <a:t>hasColor(clyde,</a:t>
            </a:r>
            <a:r>
              <a:rPr sz="2000" spc="-5" dirty="0">
                <a:latin typeface="Arial"/>
                <a:cs typeface="Arial"/>
              </a:rPr>
              <a:t> </a:t>
            </a:r>
            <a:r>
              <a:rPr sz="2000" spc="-10" dirty="0">
                <a:latin typeface="Arial"/>
                <a:cs typeface="Arial"/>
              </a:rPr>
              <a:t>white)</a:t>
            </a:r>
            <a:endParaRPr sz="2000">
              <a:latin typeface="Arial"/>
              <a:cs typeface="Arial"/>
            </a:endParaRPr>
          </a:p>
        </p:txBody>
      </p:sp>
      <p:sp>
        <p:nvSpPr>
          <p:cNvPr id="15" name="object 15"/>
          <p:cNvSpPr txBox="1"/>
          <p:nvPr/>
        </p:nvSpPr>
        <p:spPr>
          <a:xfrm>
            <a:off x="993139" y="4003040"/>
            <a:ext cx="4690745" cy="361315"/>
          </a:xfrm>
          <a:prstGeom prst="rect">
            <a:avLst/>
          </a:prstGeom>
        </p:spPr>
        <p:txBody>
          <a:bodyPr vert="horz" wrap="square" lIns="0" tIns="12700" rIns="0" bIns="0" rtlCol="0">
            <a:spAutoFit/>
          </a:bodyPr>
          <a:lstStyle/>
          <a:p>
            <a:pPr marL="298450" indent="-285750">
              <a:lnSpc>
                <a:spcPct val="100000"/>
              </a:lnSpc>
              <a:spcBef>
                <a:spcPts val="100"/>
              </a:spcBef>
              <a:buClr>
                <a:srgbClr val="CC9A00"/>
              </a:buClr>
              <a:buSzPct val="63636"/>
              <a:buFont typeface="Wingdings"/>
              <a:buChar char=""/>
              <a:tabLst>
                <a:tab pos="297815" algn="l"/>
                <a:tab pos="298450" algn="l"/>
              </a:tabLst>
            </a:pPr>
            <a:r>
              <a:rPr sz="2200" spc="-5" dirty="0">
                <a:latin typeface="Arial"/>
                <a:cs typeface="Arial"/>
              </a:rPr>
              <a:t>Đối </a:t>
            </a:r>
            <a:r>
              <a:rPr sz="2200" dirty="0">
                <a:latin typeface="Arial"/>
                <a:cs typeface="Arial"/>
              </a:rPr>
              <a:t>với các liên kết </a:t>
            </a:r>
            <a:r>
              <a:rPr sz="2200" spc="-5" dirty="0">
                <a:latin typeface="Arial"/>
                <a:cs typeface="Arial"/>
              </a:rPr>
              <a:t>(thuộc </a:t>
            </a:r>
            <a:r>
              <a:rPr sz="2200" dirty="0">
                <a:latin typeface="Arial"/>
                <a:cs typeface="Arial"/>
              </a:rPr>
              <a:t>tính)</a:t>
            </a:r>
            <a:r>
              <a:rPr sz="2200" spc="-80" dirty="0">
                <a:latin typeface="Arial"/>
                <a:cs typeface="Arial"/>
              </a:rPr>
              <a:t> </a:t>
            </a:r>
            <a:r>
              <a:rPr sz="2200" spc="-5" dirty="0">
                <a:latin typeface="Arial"/>
                <a:cs typeface="Arial"/>
              </a:rPr>
              <a:t>của</a:t>
            </a:r>
            <a:endParaRPr sz="2200">
              <a:latin typeface="Arial"/>
              <a:cs typeface="Arial"/>
            </a:endParaRPr>
          </a:p>
        </p:txBody>
      </p:sp>
      <p:sp>
        <p:nvSpPr>
          <p:cNvPr id="16" name="object 16"/>
          <p:cNvSpPr txBox="1"/>
          <p:nvPr/>
        </p:nvSpPr>
        <p:spPr>
          <a:xfrm>
            <a:off x="6174740" y="4484623"/>
            <a:ext cx="883919"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Elephant</a:t>
            </a:r>
            <a:endParaRPr sz="1600">
              <a:latin typeface="Arial"/>
              <a:cs typeface="Arial"/>
            </a:endParaRPr>
          </a:p>
        </p:txBody>
      </p:sp>
      <p:sp>
        <p:nvSpPr>
          <p:cNvPr id="17" name="object 17"/>
          <p:cNvSpPr txBox="1"/>
          <p:nvPr/>
        </p:nvSpPr>
        <p:spPr>
          <a:xfrm>
            <a:off x="8537129" y="4484623"/>
            <a:ext cx="48895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Grey</a:t>
            </a:r>
            <a:endParaRPr sz="1600">
              <a:latin typeface="Arial"/>
              <a:cs typeface="Arial"/>
            </a:endParaRPr>
          </a:p>
        </p:txBody>
      </p:sp>
      <p:sp>
        <p:nvSpPr>
          <p:cNvPr id="18" name="object 18"/>
          <p:cNvSpPr/>
          <p:nvPr/>
        </p:nvSpPr>
        <p:spPr>
          <a:xfrm>
            <a:off x="7162800" y="4588764"/>
            <a:ext cx="1295400" cy="76200"/>
          </a:xfrm>
          <a:custGeom>
            <a:avLst/>
            <a:gdLst/>
            <a:ahLst/>
            <a:cxnLst/>
            <a:rect l="l" t="t" r="r" b="b"/>
            <a:pathLst>
              <a:path w="1295400" h="76200">
                <a:moveTo>
                  <a:pt x="1181100" y="45720"/>
                </a:moveTo>
                <a:lnTo>
                  <a:pt x="1181100" y="29718"/>
                </a:lnTo>
                <a:lnTo>
                  <a:pt x="0" y="31241"/>
                </a:lnTo>
                <a:lnTo>
                  <a:pt x="0" y="47244"/>
                </a:lnTo>
                <a:lnTo>
                  <a:pt x="1181100" y="45720"/>
                </a:lnTo>
                <a:close/>
              </a:path>
              <a:path w="1295400" h="76200">
                <a:moveTo>
                  <a:pt x="1295400" y="37337"/>
                </a:moveTo>
                <a:lnTo>
                  <a:pt x="1168907" y="0"/>
                </a:lnTo>
                <a:lnTo>
                  <a:pt x="1168907" y="29733"/>
                </a:lnTo>
                <a:lnTo>
                  <a:pt x="1181100" y="29718"/>
                </a:lnTo>
                <a:lnTo>
                  <a:pt x="1181100" y="72454"/>
                </a:lnTo>
                <a:lnTo>
                  <a:pt x="1295400" y="37337"/>
                </a:lnTo>
                <a:close/>
              </a:path>
              <a:path w="1295400" h="76200">
                <a:moveTo>
                  <a:pt x="1181100" y="72454"/>
                </a:moveTo>
                <a:lnTo>
                  <a:pt x="1181100" y="45720"/>
                </a:lnTo>
                <a:lnTo>
                  <a:pt x="1168907" y="45735"/>
                </a:lnTo>
                <a:lnTo>
                  <a:pt x="1168907" y="76200"/>
                </a:lnTo>
                <a:lnTo>
                  <a:pt x="1181100" y="72454"/>
                </a:lnTo>
                <a:close/>
              </a:path>
            </a:pathLst>
          </a:custGeom>
          <a:solidFill>
            <a:srgbClr val="000000"/>
          </a:solidFill>
        </p:spPr>
        <p:txBody>
          <a:bodyPr wrap="square" lIns="0" tIns="0" rIns="0" bIns="0" rtlCol="0"/>
          <a:lstStyle/>
          <a:p>
            <a:endParaRPr/>
          </a:p>
        </p:txBody>
      </p:sp>
      <p:sp>
        <p:nvSpPr>
          <p:cNvPr id="19" name="object 19"/>
          <p:cNvSpPr txBox="1"/>
          <p:nvPr/>
        </p:nvSpPr>
        <p:spPr>
          <a:xfrm>
            <a:off x="7317740" y="4370323"/>
            <a:ext cx="861060" cy="269875"/>
          </a:xfrm>
          <a:prstGeom prst="rect">
            <a:avLst/>
          </a:prstGeom>
        </p:spPr>
        <p:txBody>
          <a:bodyPr vert="horz" wrap="square" lIns="0" tIns="12700" rIns="0" bIns="0" rtlCol="0">
            <a:spAutoFit/>
          </a:bodyPr>
          <a:lstStyle/>
          <a:p>
            <a:pPr marL="12700">
              <a:lnSpc>
                <a:spcPct val="100000"/>
              </a:lnSpc>
              <a:spcBef>
                <a:spcPts val="100"/>
              </a:spcBef>
            </a:pPr>
            <a:r>
              <a:rPr sz="1600" spc="-5" dirty="0">
                <a:latin typeface="Arial"/>
                <a:cs typeface="Arial"/>
              </a:rPr>
              <a:t>has-color</a:t>
            </a:r>
            <a:endParaRPr sz="1600">
              <a:latin typeface="Arial"/>
              <a:cs typeface="Arial"/>
            </a:endParaRPr>
          </a:p>
        </p:txBody>
      </p:sp>
      <p:sp>
        <p:nvSpPr>
          <p:cNvPr id="20" name="object 20"/>
          <p:cNvSpPr txBox="1"/>
          <p:nvPr/>
        </p:nvSpPr>
        <p:spPr>
          <a:xfrm>
            <a:off x="993139" y="4252995"/>
            <a:ext cx="4968240" cy="2108200"/>
          </a:xfrm>
          <a:prstGeom prst="rect">
            <a:avLst/>
          </a:prstGeom>
        </p:spPr>
        <p:txBody>
          <a:bodyPr vert="horz" wrap="square" lIns="0" tIns="97790" rIns="0" bIns="0" rtlCol="0">
            <a:spAutoFit/>
          </a:bodyPr>
          <a:lstStyle/>
          <a:p>
            <a:pPr marL="298450">
              <a:lnSpc>
                <a:spcPct val="100000"/>
              </a:lnSpc>
              <a:spcBef>
                <a:spcPts val="770"/>
              </a:spcBef>
            </a:pPr>
            <a:r>
              <a:rPr sz="2200" spc="-5" dirty="0">
                <a:latin typeface="Arial"/>
                <a:cs typeface="Arial"/>
              </a:rPr>
              <a:t>một </a:t>
            </a:r>
            <a:r>
              <a:rPr sz="2200" dirty="0">
                <a:latin typeface="Arial"/>
                <a:cs typeface="Arial"/>
              </a:rPr>
              <a:t>lớp</a:t>
            </a:r>
            <a:r>
              <a:rPr sz="2200" spc="-15" dirty="0">
                <a:latin typeface="Arial"/>
                <a:cs typeface="Arial"/>
              </a:rPr>
              <a:t> </a:t>
            </a:r>
            <a:r>
              <a:rPr sz="2200" dirty="0">
                <a:latin typeface="Arial"/>
                <a:cs typeface="Arial"/>
              </a:rPr>
              <a:t>(class)</a:t>
            </a:r>
            <a:endParaRPr sz="2200">
              <a:latin typeface="Arial"/>
              <a:cs typeface="Arial"/>
            </a:endParaRPr>
          </a:p>
          <a:p>
            <a:pPr marL="624840" indent="-286385">
              <a:lnSpc>
                <a:spcPct val="100000"/>
              </a:lnSpc>
              <a:spcBef>
                <a:spcPts val="610"/>
              </a:spcBef>
              <a:buClr>
                <a:srgbClr val="3B822F"/>
              </a:buClr>
              <a:buSzPct val="60000"/>
              <a:buFont typeface="Wingdings"/>
              <a:buChar char=""/>
              <a:tabLst>
                <a:tab pos="624840" algn="l"/>
                <a:tab pos="625475" algn="l"/>
              </a:tabLst>
            </a:pPr>
            <a:r>
              <a:rPr sz="2000" spc="-5" dirty="0">
                <a:latin typeface="Symbol"/>
                <a:cs typeface="Symbol"/>
              </a:rPr>
              <a:t></a:t>
            </a:r>
            <a:r>
              <a:rPr sz="2000" spc="-5" dirty="0">
                <a:latin typeface="Arial"/>
                <a:cs typeface="Arial"/>
              </a:rPr>
              <a:t>x: </a:t>
            </a:r>
            <a:r>
              <a:rPr sz="2000" spc="-10" dirty="0">
                <a:latin typeface="Arial"/>
                <a:cs typeface="Arial"/>
              </a:rPr>
              <a:t>elephant(x) </a:t>
            </a:r>
            <a:r>
              <a:rPr sz="2000" spc="-5" dirty="0">
                <a:latin typeface="Symbol"/>
                <a:cs typeface="Symbol"/>
              </a:rPr>
              <a:t></a:t>
            </a:r>
            <a:r>
              <a:rPr sz="2000" spc="-5" dirty="0">
                <a:latin typeface="Times New Roman"/>
                <a:cs typeface="Times New Roman"/>
              </a:rPr>
              <a:t> </a:t>
            </a:r>
            <a:r>
              <a:rPr sz="2000" spc="-10" dirty="0">
                <a:latin typeface="Arial"/>
                <a:cs typeface="Arial"/>
              </a:rPr>
              <a:t>hasColor(x,</a:t>
            </a:r>
            <a:r>
              <a:rPr sz="2000" spc="65" dirty="0">
                <a:latin typeface="Arial"/>
                <a:cs typeface="Arial"/>
              </a:rPr>
              <a:t> </a:t>
            </a:r>
            <a:r>
              <a:rPr sz="2000" spc="-5" dirty="0">
                <a:latin typeface="Arial"/>
                <a:cs typeface="Arial"/>
              </a:rPr>
              <a:t>grey)</a:t>
            </a:r>
            <a:endParaRPr sz="2000">
              <a:latin typeface="Arial"/>
              <a:cs typeface="Arial"/>
            </a:endParaRPr>
          </a:p>
          <a:p>
            <a:pPr marL="298450" marR="5080" indent="-286385">
              <a:lnSpc>
                <a:spcPct val="100000"/>
              </a:lnSpc>
              <a:spcBef>
                <a:spcPts val="1789"/>
              </a:spcBef>
              <a:buClr>
                <a:srgbClr val="CC9A00"/>
              </a:buClr>
              <a:buSzPct val="63636"/>
              <a:buFont typeface="Wingdings"/>
              <a:buChar char=""/>
              <a:tabLst>
                <a:tab pos="297815" algn="l"/>
                <a:tab pos="298450" algn="l"/>
              </a:tabLst>
            </a:pPr>
            <a:r>
              <a:rPr sz="2200" dirty="0">
                <a:latin typeface="Arial"/>
                <a:cs typeface="Arial"/>
              </a:rPr>
              <a:t>Xét </a:t>
            </a:r>
            <a:r>
              <a:rPr sz="2200" spc="-5" dirty="0">
                <a:latin typeface="Arial"/>
                <a:cs typeface="Arial"/>
              </a:rPr>
              <a:t>việc </a:t>
            </a:r>
            <a:r>
              <a:rPr sz="2200" dirty="0">
                <a:latin typeface="Arial"/>
                <a:cs typeface="Arial"/>
              </a:rPr>
              <a:t>suy </a:t>
            </a:r>
            <a:r>
              <a:rPr sz="2200" spc="-5" dirty="0">
                <a:latin typeface="Arial"/>
                <a:cs typeface="Arial"/>
              </a:rPr>
              <a:t>diễn </a:t>
            </a:r>
            <a:r>
              <a:rPr sz="2200" dirty="0">
                <a:latin typeface="Arial"/>
                <a:cs typeface="Arial"/>
              </a:rPr>
              <a:t>logic, </a:t>
            </a:r>
            <a:r>
              <a:rPr sz="2200" spc="-5" dirty="0">
                <a:latin typeface="Arial"/>
                <a:cs typeface="Arial"/>
              </a:rPr>
              <a:t>nếu </a:t>
            </a:r>
            <a:r>
              <a:rPr sz="2200" dirty="0">
                <a:latin typeface="Arial"/>
                <a:cs typeface="Arial"/>
              </a:rPr>
              <a:t>các phát  </a:t>
            </a:r>
            <a:r>
              <a:rPr sz="2200" spc="-5" dirty="0">
                <a:latin typeface="Arial"/>
                <a:cs typeface="Arial"/>
              </a:rPr>
              <a:t>biểu </a:t>
            </a:r>
            <a:r>
              <a:rPr sz="2200" dirty="0">
                <a:latin typeface="Arial"/>
                <a:cs typeface="Arial"/>
              </a:rPr>
              <a:t>trên </a:t>
            </a:r>
            <a:r>
              <a:rPr sz="2200" spc="-5" dirty="0">
                <a:latin typeface="Arial"/>
                <a:cs typeface="Arial"/>
              </a:rPr>
              <a:t>là đúng </a:t>
            </a:r>
            <a:r>
              <a:rPr sz="2200" dirty="0">
                <a:latin typeface="Arial"/>
                <a:cs typeface="Arial"/>
              </a:rPr>
              <a:t>+</a:t>
            </a:r>
            <a:r>
              <a:rPr sz="2200" spc="-45" dirty="0">
                <a:latin typeface="Arial"/>
                <a:cs typeface="Arial"/>
              </a:rPr>
              <a:t> </a:t>
            </a:r>
            <a:r>
              <a:rPr sz="2200" i="1" dirty="0">
                <a:latin typeface="Arial"/>
                <a:cs typeface="Arial"/>
              </a:rPr>
              <a:t>“elephant(clyde)”</a:t>
            </a:r>
            <a:r>
              <a:rPr sz="2200" dirty="0">
                <a:latin typeface="Arial"/>
                <a:cs typeface="Arial"/>
              </a:rPr>
              <a:t>?</a:t>
            </a:r>
            <a:endParaRPr sz="2200">
              <a:latin typeface="Arial"/>
              <a:cs typeface="Arial"/>
            </a:endParaRPr>
          </a:p>
          <a:p>
            <a:pPr marL="624840" lvl="1" indent="-286385">
              <a:lnSpc>
                <a:spcPct val="100000"/>
              </a:lnSpc>
              <a:spcBef>
                <a:spcPts val="605"/>
              </a:spcBef>
              <a:buClr>
                <a:srgbClr val="3B822F"/>
              </a:buClr>
              <a:buSzPct val="60000"/>
              <a:buFont typeface="Wingdings"/>
              <a:buChar char=""/>
              <a:tabLst>
                <a:tab pos="624840" algn="l"/>
                <a:tab pos="625475" algn="l"/>
              </a:tabLst>
            </a:pPr>
            <a:r>
              <a:rPr sz="2000" spc="-5" dirty="0">
                <a:latin typeface="Arial"/>
                <a:cs typeface="Arial"/>
              </a:rPr>
              <a:t>Suy diễn mặc định (default</a:t>
            </a:r>
            <a:r>
              <a:rPr sz="2000" spc="-40" dirty="0">
                <a:latin typeface="Arial"/>
                <a:cs typeface="Arial"/>
              </a:rPr>
              <a:t> </a:t>
            </a:r>
            <a:r>
              <a:rPr sz="2000" spc="-5" dirty="0">
                <a:latin typeface="Arial"/>
                <a:cs typeface="Arial"/>
              </a:rPr>
              <a:t>reasoning)</a:t>
            </a:r>
            <a:endParaRPr sz="2000">
              <a:latin typeface="Arial"/>
              <a:cs typeface="Arial"/>
            </a:endParaRPr>
          </a:p>
        </p:txBody>
      </p:sp>
      <p:grpSp>
        <p:nvGrpSpPr>
          <p:cNvPr id="21" name="object 21"/>
          <p:cNvGrpSpPr/>
          <p:nvPr/>
        </p:nvGrpSpPr>
        <p:grpSpPr>
          <a:xfrm>
            <a:off x="457200" y="6332220"/>
            <a:ext cx="9144000" cy="982980"/>
            <a:chOff x="457200" y="6332220"/>
            <a:chExt cx="9144000" cy="982980"/>
          </a:xfrm>
        </p:grpSpPr>
        <p:sp>
          <p:nvSpPr>
            <p:cNvPr id="22" name="object 22"/>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23" name="object 23"/>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24" name="object 24"/>
          <p:cNvSpPr txBox="1"/>
          <p:nvPr/>
        </p:nvSpPr>
        <p:spPr>
          <a:xfrm>
            <a:off x="1605788" y="6335521"/>
            <a:ext cx="2238375"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Arial"/>
                <a:cs typeface="Arial"/>
              </a:rPr>
              <a:t>sẽ </a:t>
            </a:r>
            <a:r>
              <a:rPr sz="2000" spc="-10" dirty="0">
                <a:latin typeface="Arial"/>
                <a:cs typeface="Arial"/>
              </a:rPr>
              <a:t>không </a:t>
            </a:r>
            <a:r>
              <a:rPr sz="2000" spc="-5" dirty="0">
                <a:latin typeface="Arial"/>
                <a:cs typeface="Arial"/>
              </a:rPr>
              <a:t>còn</a:t>
            </a:r>
            <a:r>
              <a:rPr sz="2000" spc="-45" dirty="0">
                <a:latin typeface="Arial"/>
                <a:cs typeface="Arial"/>
              </a:rPr>
              <a:t> </a:t>
            </a:r>
            <a:r>
              <a:rPr sz="2000" spc="-10" dirty="0">
                <a:latin typeface="Arial"/>
                <a:cs typeface="Arial"/>
              </a:rPr>
              <a:t>đúng!</a:t>
            </a:r>
            <a:endParaRPr sz="2000">
              <a:latin typeface="Arial"/>
              <a:cs typeface="Arial"/>
            </a:endParaRPr>
          </a:p>
        </p:txBody>
      </p:sp>
      <p:sp>
        <p:nvSpPr>
          <p:cNvPr id="28" name="Title 27">
            <a:extLst>
              <a:ext uri="{FF2B5EF4-FFF2-40B4-BE49-F238E27FC236}">
                <a16:creationId xmlns:a16="http://schemas.microsoft.com/office/drawing/2014/main" id="{A656009D-1E6E-4A28-B6AD-697A6A8D8051}"/>
              </a:ext>
            </a:extLst>
          </p:cNvPr>
          <p:cNvSpPr>
            <a:spLocks noGrp="1"/>
          </p:cNvSpPr>
          <p:nvPr>
            <p:ph type="title"/>
          </p:nvPr>
        </p:nvSpPr>
        <p:spPr/>
        <p:txBody>
          <a:bodyPr/>
          <a:lstStyle/>
          <a:p>
            <a:r>
              <a:rPr lang="en-US" sz="3600" b="0">
                <a:latin typeface="Verdana"/>
                <a:cs typeface="Verdana"/>
              </a:rPr>
              <a:t>SN – </a:t>
            </a:r>
            <a:r>
              <a:rPr lang="en-US" sz="3600" b="0" spc="-5">
                <a:latin typeface="Verdana"/>
                <a:cs typeface="Verdana"/>
              </a:rPr>
              <a:t>Chuyển </a:t>
            </a:r>
            <a:r>
              <a:rPr lang="en-US" sz="3600" b="0">
                <a:latin typeface="Verdana"/>
                <a:cs typeface="Verdana"/>
              </a:rPr>
              <a:t>đổi sang </a:t>
            </a:r>
            <a:r>
              <a:rPr lang="en-US" sz="3600" b="0" spc="-5">
                <a:latin typeface="Verdana"/>
                <a:cs typeface="Verdana"/>
              </a:rPr>
              <a:t>logic</a:t>
            </a:r>
            <a:r>
              <a:rPr lang="en-US" sz="3600" b="0" spc="-60">
                <a:latin typeface="Verdana"/>
                <a:cs typeface="Verdana"/>
              </a:rPr>
              <a:t> </a:t>
            </a:r>
            <a:r>
              <a:rPr lang="en-US" sz="3600" b="0">
                <a:latin typeface="Verdana"/>
                <a:cs typeface="Verdana"/>
              </a:rPr>
              <a:t>(2)</a:t>
            </a:r>
            <a:endParaRPr lang="en-US" b="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49</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693515"/>
            <a:ext cx="8023225" cy="4926330"/>
          </a:xfrm>
          <a:prstGeom prst="rect">
            <a:avLst/>
          </a:prstGeom>
        </p:spPr>
        <p:txBody>
          <a:bodyPr vert="horz" wrap="square" lIns="0" tIns="97155" rIns="0" bIns="0" rtlCol="0">
            <a:spAutoFit/>
          </a:bodyPr>
          <a:lstStyle/>
          <a:p>
            <a:pPr marL="298450" indent="-285750">
              <a:lnSpc>
                <a:spcPct val="100000"/>
              </a:lnSpc>
              <a:spcBef>
                <a:spcPts val="765"/>
              </a:spcBef>
              <a:buClr>
                <a:srgbClr val="CC9A00"/>
              </a:buClr>
              <a:buSzPct val="63636"/>
              <a:buFont typeface="Wingdings"/>
              <a:buChar char=""/>
              <a:tabLst>
                <a:tab pos="297815" algn="l"/>
                <a:tab pos="298450" algn="l"/>
              </a:tabLst>
            </a:pPr>
            <a:r>
              <a:rPr sz="2200" spc="-5" dirty="0">
                <a:latin typeface="Arial"/>
                <a:cs typeface="Arial"/>
              </a:rPr>
              <a:t>Rõ ràng (trực quan) </a:t>
            </a:r>
            <a:r>
              <a:rPr sz="2200" dirty="0">
                <a:latin typeface="Arial"/>
                <a:cs typeface="Arial"/>
              </a:rPr>
              <a:t>trong </a:t>
            </a:r>
            <a:r>
              <a:rPr sz="2200" spc="-5" dirty="0">
                <a:latin typeface="Arial"/>
                <a:cs typeface="Arial"/>
              </a:rPr>
              <a:t>hiển thị, dễ hiểu đối </a:t>
            </a:r>
            <a:r>
              <a:rPr sz="2200" dirty="0">
                <a:latin typeface="Arial"/>
                <a:cs typeface="Arial"/>
              </a:rPr>
              <a:t>với người</a:t>
            </a:r>
            <a:r>
              <a:rPr sz="2200" spc="50" dirty="0">
                <a:latin typeface="Arial"/>
                <a:cs typeface="Arial"/>
              </a:rPr>
              <a:t> </a:t>
            </a:r>
            <a:r>
              <a:rPr sz="2200" dirty="0">
                <a:latin typeface="Arial"/>
                <a:cs typeface="Arial"/>
              </a:rPr>
              <a:t>dùng</a:t>
            </a:r>
            <a:endParaRPr sz="2200">
              <a:latin typeface="Arial"/>
              <a:cs typeface="Arial"/>
            </a:endParaRPr>
          </a:p>
          <a:p>
            <a:pPr marL="624840" marR="5080" lvl="1" indent="-285750">
              <a:lnSpc>
                <a:spcPct val="100000"/>
              </a:lnSpc>
              <a:spcBef>
                <a:spcPts val="605"/>
              </a:spcBef>
              <a:buClr>
                <a:srgbClr val="3B822F"/>
              </a:buClr>
              <a:buSzPct val="60000"/>
              <a:buFont typeface="Wingdings"/>
              <a:buChar char=""/>
              <a:tabLst>
                <a:tab pos="624840" algn="l"/>
                <a:tab pos="625475" algn="l"/>
              </a:tabLst>
            </a:pPr>
            <a:r>
              <a:rPr sz="2000" spc="-5" dirty="0">
                <a:latin typeface="Arial"/>
                <a:cs typeface="Arial"/>
              </a:rPr>
              <a:t>SNs thường được sử dụng như là một công cụ trao đổi (làm việc)  giữa các kỹ sư tri thức (knowledge </a:t>
            </a:r>
            <a:r>
              <a:rPr sz="2000" spc="-10" dirty="0">
                <a:latin typeface="Arial"/>
                <a:cs typeface="Arial"/>
              </a:rPr>
              <a:t>engineers) </a:t>
            </a:r>
            <a:r>
              <a:rPr sz="2000" spc="-5" dirty="0">
                <a:latin typeface="Arial"/>
                <a:cs typeface="Arial"/>
              </a:rPr>
              <a:t>và các chuyên </a:t>
            </a:r>
            <a:r>
              <a:rPr sz="2000" spc="-10" dirty="0">
                <a:latin typeface="Arial"/>
                <a:cs typeface="Arial"/>
              </a:rPr>
              <a:t>gia  </a:t>
            </a:r>
            <a:r>
              <a:rPr sz="2000" spc="-5" dirty="0">
                <a:latin typeface="Arial"/>
                <a:cs typeface="Arial"/>
              </a:rPr>
              <a:t>(experts) trong giai đoạn thu thập tri</a:t>
            </a:r>
            <a:r>
              <a:rPr sz="2000" spc="-25" dirty="0">
                <a:latin typeface="Arial"/>
                <a:cs typeface="Arial"/>
              </a:rPr>
              <a:t> </a:t>
            </a:r>
            <a:r>
              <a:rPr sz="2000" spc="-5" dirty="0">
                <a:latin typeface="Arial"/>
                <a:cs typeface="Arial"/>
              </a:rPr>
              <a:t>thức</a:t>
            </a:r>
            <a:endParaRPr sz="2000">
              <a:latin typeface="Arial"/>
              <a:cs typeface="Arial"/>
            </a:endParaRPr>
          </a:p>
          <a:p>
            <a:pPr marL="298450" indent="-285750">
              <a:lnSpc>
                <a:spcPct val="100000"/>
              </a:lnSpc>
              <a:spcBef>
                <a:spcPts val="1795"/>
              </a:spcBef>
              <a:buClr>
                <a:srgbClr val="CC9A00"/>
              </a:buClr>
              <a:buSzPct val="63636"/>
              <a:buFont typeface="Wingdings"/>
              <a:buChar char=""/>
              <a:tabLst>
                <a:tab pos="297815" algn="l"/>
                <a:tab pos="298450" algn="l"/>
              </a:tabLst>
            </a:pPr>
            <a:r>
              <a:rPr sz="2200" dirty="0">
                <a:latin typeface="Arial"/>
                <a:cs typeface="Arial"/>
              </a:rPr>
              <a:t>SNs </a:t>
            </a:r>
            <a:r>
              <a:rPr sz="2200" spc="-5" dirty="0">
                <a:latin typeface="Arial"/>
                <a:cs typeface="Arial"/>
              </a:rPr>
              <a:t>là rất phù </a:t>
            </a:r>
            <a:r>
              <a:rPr sz="2200" dirty="0">
                <a:latin typeface="Arial"/>
                <a:cs typeface="Arial"/>
              </a:rPr>
              <a:t>hợp </a:t>
            </a:r>
            <a:r>
              <a:rPr sz="2200" spc="-5" dirty="0">
                <a:latin typeface="Arial"/>
                <a:cs typeface="Arial"/>
              </a:rPr>
              <a:t>đối </a:t>
            </a:r>
            <a:r>
              <a:rPr sz="2200" dirty="0">
                <a:latin typeface="Arial"/>
                <a:cs typeface="Arial"/>
              </a:rPr>
              <a:t>với các bài toán </a:t>
            </a:r>
            <a:r>
              <a:rPr sz="2200" spc="-5" dirty="0">
                <a:latin typeface="Arial"/>
                <a:cs typeface="Arial"/>
              </a:rPr>
              <a:t>biểu diễn </a:t>
            </a:r>
            <a:r>
              <a:rPr sz="2200" dirty="0">
                <a:latin typeface="Arial"/>
                <a:cs typeface="Arial"/>
              </a:rPr>
              <a:t>tri </a:t>
            </a:r>
            <a:r>
              <a:rPr sz="2200" spc="-5" dirty="0">
                <a:latin typeface="Arial"/>
                <a:cs typeface="Arial"/>
              </a:rPr>
              <a:t>thức</a:t>
            </a:r>
            <a:r>
              <a:rPr sz="2200" spc="-30" dirty="0">
                <a:latin typeface="Arial"/>
                <a:cs typeface="Arial"/>
              </a:rPr>
              <a:t> </a:t>
            </a:r>
            <a:r>
              <a:rPr sz="2200" dirty="0">
                <a:latin typeface="Arial"/>
                <a:cs typeface="Arial"/>
              </a:rPr>
              <a:t>ở</a:t>
            </a:r>
            <a:endParaRPr sz="2200">
              <a:latin typeface="Arial"/>
              <a:cs typeface="Arial"/>
            </a:endParaRPr>
          </a:p>
          <a:p>
            <a:pPr marL="298450">
              <a:lnSpc>
                <a:spcPct val="100000"/>
              </a:lnSpc>
            </a:pPr>
            <a:r>
              <a:rPr sz="2200" spc="-5" dirty="0">
                <a:latin typeface="Arial"/>
                <a:cs typeface="Arial"/>
              </a:rPr>
              <a:t>dạng phân </a:t>
            </a:r>
            <a:r>
              <a:rPr sz="2200" dirty="0">
                <a:latin typeface="Arial"/>
                <a:cs typeface="Arial"/>
              </a:rPr>
              <a:t>cấp các khái</a:t>
            </a:r>
            <a:r>
              <a:rPr sz="2200" spc="-15" dirty="0">
                <a:latin typeface="Arial"/>
                <a:cs typeface="Arial"/>
              </a:rPr>
              <a:t> </a:t>
            </a:r>
            <a:r>
              <a:rPr sz="2200" dirty="0">
                <a:latin typeface="Arial"/>
                <a:cs typeface="Arial"/>
              </a:rPr>
              <a:t>niệm</a:t>
            </a:r>
            <a:endParaRPr sz="2200">
              <a:latin typeface="Arial"/>
              <a:cs typeface="Arial"/>
            </a:endParaRPr>
          </a:p>
          <a:p>
            <a:pPr marL="624840" lvl="1" indent="-286385">
              <a:lnSpc>
                <a:spcPct val="100000"/>
              </a:lnSpc>
              <a:spcBef>
                <a:spcPts val="605"/>
              </a:spcBef>
              <a:buClr>
                <a:srgbClr val="3B822F"/>
              </a:buClr>
              <a:buSzPct val="60000"/>
              <a:buFont typeface="Wingdings"/>
              <a:buChar char=""/>
              <a:tabLst>
                <a:tab pos="624840" algn="l"/>
                <a:tab pos="625475" algn="l"/>
              </a:tabLst>
            </a:pPr>
            <a:r>
              <a:rPr sz="2000" spc="-5" dirty="0">
                <a:latin typeface="Arial"/>
                <a:cs typeface="Arial"/>
              </a:rPr>
              <a:t>Tri thức được phân loại (phân lớp) thành </a:t>
            </a:r>
            <a:r>
              <a:rPr sz="2000" spc="-10" dirty="0">
                <a:latin typeface="Arial"/>
                <a:cs typeface="Arial"/>
              </a:rPr>
              <a:t>một </a:t>
            </a:r>
            <a:r>
              <a:rPr sz="2000" spc="-5" dirty="0">
                <a:latin typeface="Arial"/>
                <a:cs typeface="Arial"/>
              </a:rPr>
              <a:t>cấu trúc phân</a:t>
            </a:r>
            <a:r>
              <a:rPr sz="2000" spc="20" dirty="0">
                <a:latin typeface="Arial"/>
                <a:cs typeface="Arial"/>
              </a:rPr>
              <a:t> </a:t>
            </a:r>
            <a:r>
              <a:rPr sz="2000" spc="-5" dirty="0">
                <a:latin typeface="Arial"/>
                <a:cs typeface="Arial"/>
              </a:rPr>
              <a:t>cấp</a:t>
            </a:r>
            <a:endParaRPr sz="2000">
              <a:latin typeface="Arial"/>
              <a:cs typeface="Arial"/>
            </a:endParaRPr>
          </a:p>
          <a:p>
            <a:pPr marL="298450" marR="106045" indent="-286385">
              <a:lnSpc>
                <a:spcPct val="100000"/>
              </a:lnSpc>
              <a:spcBef>
                <a:spcPts val="1795"/>
              </a:spcBef>
              <a:buClr>
                <a:srgbClr val="CC9A00"/>
              </a:buClr>
              <a:buSzPct val="63636"/>
              <a:buFont typeface="Wingdings"/>
              <a:buChar char=""/>
              <a:tabLst>
                <a:tab pos="297815" algn="l"/>
                <a:tab pos="298450" algn="l"/>
              </a:tabLst>
            </a:pPr>
            <a:r>
              <a:rPr sz="2200" spc="-5" dirty="0">
                <a:latin typeface="Arial"/>
                <a:cs typeface="Arial"/>
              </a:rPr>
              <a:t>Cơ chế biểu diễn phân </a:t>
            </a:r>
            <a:r>
              <a:rPr sz="2200" dirty="0">
                <a:latin typeface="Arial"/>
                <a:cs typeface="Arial"/>
              </a:rPr>
              <a:t>cấp </a:t>
            </a:r>
            <a:r>
              <a:rPr sz="2200" spc="-5" dirty="0">
                <a:latin typeface="Arial"/>
                <a:cs typeface="Arial"/>
              </a:rPr>
              <a:t>của </a:t>
            </a:r>
            <a:r>
              <a:rPr sz="2200" dirty="0">
                <a:latin typeface="Arial"/>
                <a:cs typeface="Arial"/>
              </a:rPr>
              <a:t>SNs </a:t>
            </a:r>
            <a:r>
              <a:rPr sz="2200" spc="-5" dirty="0">
                <a:latin typeface="Arial"/>
                <a:cs typeface="Arial"/>
              </a:rPr>
              <a:t>hỗ trợ quá </a:t>
            </a:r>
            <a:r>
              <a:rPr sz="2200" dirty="0">
                <a:latin typeface="Arial"/>
                <a:cs typeface="Arial"/>
              </a:rPr>
              <a:t>trình suy </a:t>
            </a:r>
            <a:r>
              <a:rPr sz="2200" spc="-5" dirty="0">
                <a:latin typeface="Arial"/>
                <a:cs typeface="Arial"/>
              </a:rPr>
              <a:t>diễn  nhanh chóng</a:t>
            </a:r>
            <a:endParaRPr sz="2200">
              <a:latin typeface="Arial"/>
              <a:cs typeface="Arial"/>
            </a:endParaRPr>
          </a:p>
          <a:p>
            <a:pPr marL="298450" indent="-285750">
              <a:lnSpc>
                <a:spcPct val="100000"/>
              </a:lnSpc>
              <a:spcBef>
                <a:spcPts val="1200"/>
              </a:spcBef>
              <a:buClr>
                <a:srgbClr val="CC9A00"/>
              </a:buClr>
              <a:buSzPct val="63636"/>
              <a:buFont typeface="Wingdings"/>
              <a:buChar char=""/>
              <a:tabLst>
                <a:tab pos="297815" algn="l"/>
                <a:tab pos="298450" algn="l"/>
              </a:tabLst>
            </a:pPr>
            <a:r>
              <a:rPr sz="2200" spc="-5" dirty="0">
                <a:latin typeface="Arial"/>
                <a:cs typeface="Arial"/>
              </a:rPr>
              <a:t>Hỗ trợ </a:t>
            </a:r>
            <a:r>
              <a:rPr sz="2200" dirty="0">
                <a:latin typeface="Arial"/>
                <a:cs typeface="Arial"/>
              </a:rPr>
              <a:t>cơ </a:t>
            </a:r>
            <a:r>
              <a:rPr sz="2200" spc="-5" dirty="0">
                <a:latin typeface="Arial"/>
                <a:cs typeface="Arial"/>
              </a:rPr>
              <a:t>chế </a:t>
            </a:r>
            <a:r>
              <a:rPr sz="2200" dirty="0">
                <a:latin typeface="Arial"/>
                <a:cs typeface="Arial"/>
              </a:rPr>
              <a:t>suy </a:t>
            </a:r>
            <a:r>
              <a:rPr sz="2200" spc="-5" dirty="0">
                <a:latin typeface="Arial"/>
                <a:cs typeface="Arial"/>
              </a:rPr>
              <a:t>diễn mặc định (default</a:t>
            </a:r>
            <a:r>
              <a:rPr sz="2200" spc="-10" dirty="0">
                <a:latin typeface="Arial"/>
                <a:cs typeface="Arial"/>
              </a:rPr>
              <a:t> </a:t>
            </a:r>
            <a:r>
              <a:rPr sz="2200" spc="-5" dirty="0">
                <a:latin typeface="Arial"/>
                <a:cs typeface="Arial"/>
              </a:rPr>
              <a:t>reasoning)</a:t>
            </a:r>
            <a:endParaRPr sz="2200">
              <a:latin typeface="Arial"/>
              <a:cs typeface="Arial"/>
            </a:endParaRPr>
          </a:p>
          <a:p>
            <a:pPr marL="298450" marR="422909" indent="-285750">
              <a:lnSpc>
                <a:spcPct val="100000"/>
              </a:lnSpc>
              <a:spcBef>
                <a:spcPts val="1200"/>
              </a:spcBef>
              <a:buClr>
                <a:srgbClr val="CC9A00"/>
              </a:buClr>
              <a:buSzPct val="63636"/>
              <a:buFont typeface="Wingdings"/>
              <a:buChar char=""/>
              <a:tabLst>
                <a:tab pos="297815" algn="l"/>
                <a:tab pos="298450" algn="l"/>
              </a:tabLst>
            </a:pPr>
            <a:r>
              <a:rPr sz="2200" spc="-5" dirty="0">
                <a:latin typeface="Arial"/>
                <a:cs typeface="Arial"/>
              </a:rPr>
              <a:t>Tập </a:t>
            </a:r>
            <a:r>
              <a:rPr sz="2200" dirty="0">
                <a:latin typeface="Arial"/>
                <a:cs typeface="Arial"/>
              </a:rPr>
              <a:t>trung vào các thành </a:t>
            </a:r>
            <a:r>
              <a:rPr sz="2200" spc="-5" dirty="0">
                <a:latin typeface="Arial"/>
                <a:cs typeface="Arial"/>
              </a:rPr>
              <a:t>phần </a:t>
            </a:r>
            <a:r>
              <a:rPr sz="2200" dirty="0">
                <a:latin typeface="Arial"/>
                <a:cs typeface="Arial"/>
              </a:rPr>
              <a:t>chính </a:t>
            </a:r>
            <a:r>
              <a:rPr sz="2200" spc="-5" dirty="0">
                <a:latin typeface="Arial"/>
                <a:cs typeface="Arial"/>
              </a:rPr>
              <a:t>của </a:t>
            </a:r>
            <a:r>
              <a:rPr sz="2200" dirty="0">
                <a:latin typeface="Arial"/>
                <a:cs typeface="Arial"/>
              </a:rPr>
              <a:t>tri </a:t>
            </a:r>
            <a:r>
              <a:rPr sz="2200" spc="-5" dirty="0">
                <a:latin typeface="Arial"/>
                <a:cs typeface="Arial"/>
              </a:rPr>
              <a:t>thức </a:t>
            </a:r>
            <a:r>
              <a:rPr sz="2200" dirty="0">
                <a:latin typeface="Arial"/>
                <a:cs typeface="Arial"/>
              </a:rPr>
              <a:t>và </a:t>
            </a:r>
            <a:r>
              <a:rPr sz="2200" spc="-5" dirty="0">
                <a:latin typeface="Arial"/>
                <a:cs typeface="Arial"/>
              </a:rPr>
              <a:t>liên </a:t>
            </a:r>
            <a:r>
              <a:rPr sz="2200" dirty="0">
                <a:latin typeface="Arial"/>
                <a:cs typeface="Arial"/>
              </a:rPr>
              <a:t>kết  </a:t>
            </a:r>
            <a:r>
              <a:rPr sz="2200" spc="-5" dirty="0">
                <a:latin typeface="Arial"/>
                <a:cs typeface="Arial"/>
              </a:rPr>
              <a:t>giữa</a:t>
            </a:r>
            <a:r>
              <a:rPr sz="2200" spc="-15" dirty="0">
                <a:latin typeface="Arial"/>
                <a:cs typeface="Arial"/>
              </a:rPr>
              <a:t> </a:t>
            </a:r>
            <a:r>
              <a:rPr sz="2200" spc="-5" dirty="0">
                <a:latin typeface="Arial"/>
                <a:cs typeface="Arial"/>
              </a:rPr>
              <a:t>chúng</a:t>
            </a:r>
            <a:endParaRPr sz="22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F2470031-9D9A-4B50-A1F3-A006F1569FC5}"/>
              </a:ext>
            </a:extLst>
          </p:cNvPr>
          <p:cNvSpPr>
            <a:spLocks noGrp="1"/>
          </p:cNvSpPr>
          <p:nvPr>
            <p:ph type="title"/>
          </p:nvPr>
        </p:nvSpPr>
        <p:spPr/>
        <p:txBody>
          <a:bodyPr/>
          <a:lstStyle/>
          <a:p>
            <a:r>
              <a:rPr lang="vi-VN" b="0" spc="-5">
                <a:latin typeface="Verdana"/>
                <a:cs typeface="Verdana"/>
              </a:rPr>
              <a:t>Mạng ngữ</a:t>
            </a:r>
            <a:r>
              <a:rPr lang="vi-VN" b="0" spc="10">
                <a:latin typeface="Verdana"/>
                <a:cs typeface="Verdana"/>
              </a:rPr>
              <a:t> </a:t>
            </a:r>
            <a:r>
              <a:rPr lang="vi-VN" b="0" spc="-5">
                <a:latin typeface="Verdana"/>
                <a:cs typeface="Verdana"/>
              </a:rPr>
              <a:t>nghĩa</a:t>
            </a:r>
            <a:r>
              <a:rPr lang="vi-VN" b="0" spc="15">
                <a:latin typeface="Verdana"/>
                <a:cs typeface="Verdana"/>
              </a:rPr>
              <a:t> </a:t>
            </a:r>
            <a:r>
              <a:rPr lang="vi-VN" b="0">
                <a:latin typeface="Verdana"/>
                <a:cs typeface="Verdana"/>
              </a:rPr>
              <a:t>–</a:t>
            </a:r>
            <a:r>
              <a:rPr lang="en-US" b="0">
                <a:latin typeface="Verdana"/>
                <a:cs typeface="Verdana"/>
              </a:rPr>
              <a:t> </a:t>
            </a:r>
            <a:r>
              <a:rPr lang="vi-VN" b="0" spc="-5">
                <a:latin typeface="Verdana"/>
                <a:cs typeface="Verdana"/>
              </a:rPr>
              <a:t>Ưu</a:t>
            </a:r>
            <a:r>
              <a:rPr lang="vi-VN" b="0" spc="-75">
                <a:latin typeface="Verdana"/>
                <a:cs typeface="Verdana"/>
              </a:rPr>
              <a:t> </a:t>
            </a:r>
            <a:r>
              <a:rPr lang="vi-VN" b="0" spc="-5">
                <a:latin typeface="Verdana"/>
                <a:cs typeface="Verdana"/>
              </a:rPr>
              <a:t>điểm</a:t>
            </a:r>
            <a:endParaRPr lang="en-US" b="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50</a:t>
            </a:fld>
            <a:endParaRPr spc="-40" dirty="0"/>
          </a:p>
        </p:txBody>
      </p:sp>
      <p:sp>
        <p:nvSpPr>
          <p:cNvPr id="3" name="object 3"/>
          <p:cNvSpPr txBox="1"/>
          <p:nvPr/>
        </p:nvSpPr>
        <p:spPr>
          <a:xfrm>
            <a:off x="993139" y="1777999"/>
            <a:ext cx="7822565" cy="696595"/>
          </a:xfrm>
          <a:prstGeom prst="rect">
            <a:avLst/>
          </a:prstGeom>
        </p:spPr>
        <p:txBody>
          <a:bodyPr vert="horz" wrap="square" lIns="0" tIns="12700" rIns="0" bIns="0" rtlCol="0">
            <a:spAutoFit/>
          </a:bodyPr>
          <a:lstStyle/>
          <a:p>
            <a:pPr marL="297815" marR="5080" indent="-285750">
              <a:lnSpc>
                <a:spcPct val="100000"/>
              </a:lnSpc>
              <a:spcBef>
                <a:spcPts val="100"/>
              </a:spcBef>
              <a:buClr>
                <a:srgbClr val="CC9A00"/>
              </a:buClr>
              <a:buSzPct val="63636"/>
              <a:buFont typeface="Wingdings"/>
              <a:buChar char=""/>
              <a:tabLst>
                <a:tab pos="297815" algn="l"/>
                <a:tab pos="298450" algn="l"/>
              </a:tabLst>
            </a:pPr>
            <a:r>
              <a:rPr sz="2200" spc="-5" dirty="0">
                <a:latin typeface="Arial"/>
                <a:cs typeface="Arial"/>
              </a:rPr>
              <a:t>Không tồn tại </a:t>
            </a:r>
            <a:r>
              <a:rPr sz="2200" dirty="0">
                <a:latin typeface="Arial"/>
                <a:cs typeface="Arial"/>
              </a:rPr>
              <a:t>cách diễn </a:t>
            </a:r>
            <a:r>
              <a:rPr sz="2200" spc="-5" dirty="0">
                <a:latin typeface="Arial"/>
                <a:cs typeface="Arial"/>
              </a:rPr>
              <a:t>dịch (interpretation) chung (chuẩn) </a:t>
            </a:r>
            <a:r>
              <a:rPr sz="2200" dirty="0">
                <a:latin typeface="Arial"/>
                <a:cs typeface="Arial"/>
              </a:rPr>
              <a:t>–  </a:t>
            </a:r>
            <a:r>
              <a:rPr sz="2200" spc="-5" dirty="0">
                <a:latin typeface="Arial"/>
                <a:cs typeface="Arial"/>
              </a:rPr>
              <a:t>Ngữ nghĩa của </a:t>
            </a:r>
            <a:r>
              <a:rPr sz="2200" dirty="0">
                <a:latin typeface="Arial"/>
                <a:cs typeface="Arial"/>
              </a:rPr>
              <a:t>các </a:t>
            </a:r>
            <a:r>
              <a:rPr sz="2200" spc="-5" dirty="0">
                <a:latin typeface="Arial"/>
                <a:cs typeface="Arial"/>
              </a:rPr>
              <a:t>mạng ngữ nghĩa </a:t>
            </a:r>
            <a:r>
              <a:rPr sz="2200" dirty="0">
                <a:latin typeface="Arial"/>
                <a:cs typeface="Arial"/>
              </a:rPr>
              <a:t>không </a:t>
            </a:r>
            <a:r>
              <a:rPr sz="2200" spc="-5" dirty="0">
                <a:latin typeface="Arial"/>
                <a:cs typeface="Arial"/>
              </a:rPr>
              <a:t>được định</a:t>
            </a:r>
            <a:r>
              <a:rPr sz="2200" spc="50" dirty="0">
                <a:latin typeface="Arial"/>
                <a:cs typeface="Arial"/>
              </a:rPr>
              <a:t> </a:t>
            </a:r>
            <a:r>
              <a:rPr sz="2200" spc="-5" dirty="0">
                <a:latin typeface="Arial"/>
                <a:cs typeface="Arial"/>
              </a:rPr>
              <a:t>nghĩa</a:t>
            </a:r>
            <a:endParaRPr sz="2200">
              <a:latin typeface="Arial"/>
              <a:cs typeface="Arial"/>
            </a:endParaRPr>
          </a:p>
        </p:txBody>
      </p:sp>
      <p:sp>
        <p:nvSpPr>
          <p:cNvPr id="4" name="object 4"/>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txBox="1"/>
          <p:nvPr/>
        </p:nvSpPr>
        <p:spPr>
          <a:xfrm>
            <a:off x="993139" y="2296465"/>
            <a:ext cx="7448550" cy="1336040"/>
          </a:xfrm>
          <a:prstGeom prst="rect">
            <a:avLst/>
          </a:prstGeom>
        </p:spPr>
        <p:txBody>
          <a:bodyPr vert="horz" wrap="square" lIns="0" tIns="165100" rIns="0" bIns="0" rtlCol="0">
            <a:spAutoFit/>
          </a:bodyPr>
          <a:lstStyle/>
          <a:p>
            <a:pPr marL="298450">
              <a:lnSpc>
                <a:spcPct val="100000"/>
              </a:lnSpc>
              <a:spcBef>
                <a:spcPts val="1300"/>
              </a:spcBef>
            </a:pPr>
            <a:r>
              <a:rPr sz="2200" spc="-5" dirty="0">
                <a:latin typeface="Arial"/>
                <a:cs typeface="Arial"/>
              </a:rPr>
              <a:t>một </a:t>
            </a:r>
            <a:r>
              <a:rPr sz="2200" dirty="0">
                <a:latin typeface="Arial"/>
                <a:cs typeface="Arial"/>
              </a:rPr>
              <a:t>cách chuẩn</a:t>
            </a:r>
            <a:r>
              <a:rPr sz="2200" spc="-15" dirty="0">
                <a:latin typeface="Arial"/>
                <a:cs typeface="Arial"/>
              </a:rPr>
              <a:t> </a:t>
            </a:r>
            <a:r>
              <a:rPr sz="2200" spc="-5" dirty="0">
                <a:latin typeface="Arial"/>
                <a:cs typeface="Arial"/>
              </a:rPr>
              <a:t>tắc</a:t>
            </a:r>
            <a:endParaRPr sz="2200">
              <a:latin typeface="Arial"/>
              <a:cs typeface="Arial"/>
            </a:endParaRPr>
          </a:p>
          <a:p>
            <a:pPr marL="298450" marR="5080" indent="-285750">
              <a:lnSpc>
                <a:spcPct val="100000"/>
              </a:lnSpc>
              <a:spcBef>
                <a:spcPts val="1200"/>
              </a:spcBef>
              <a:buClr>
                <a:srgbClr val="CC9A00"/>
              </a:buClr>
              <a:buSzPct val="63636"/>
              <a:buFont typeface="Wingdings"/>
              <a:buChar char=""/>
              <a:tabLst>
                <a:tab pos="297815" algn="l"/>
                <a:tab pos="298450" algn="l"/>
              </a:tabLst>
            </a:pPr>
            <a:r>
              <a:rPr sz="2200" spc="-5" dirty="0">
                <a:latin typeface="Arial"/>
                <a:cs typeface="Arial"/>
              </a:rPr>
              <a:t>Gặp vấn đề </a:t>
            </a:r>
            <a:r>
              <a:rPr sz="2200" dirty="0">
                <a:latin typeface="Arial"/>
                <a:cs typeface="Arial"/>
              </a:rPr>
              <a:t>trong </a:t>
            </a:r>
            <a:r>
              <a:rPr sz="2200" spc="-5" dirty="0">
                <a:latin typeface="Arial"/>
                <a:cs typeface="Arial"/>
              </a:rPr>
              <a:t>việc biểu diễn </a:t>
            </a:r>
            <a:r>
              <a:rPr sz="2200" dirty="0">
                <a:latin typeface="Arial"/>
                <a:cs typeface="Arial"/>
              </a:rPr>
              <a:t>các thông tin tin </a:t>
            </a:r>
            <a:r>
              <a:rPr sz="2200" spc="-5" dirty="0">
                <a:latin typeface="Arial"/>
                <a:cs typeface="Arial"/>
              </a:rPr>
              <a:t>phủ định  (negation) </a:t>
            </a:r>
            <a:r>
              <a:rPr sz="2200" dirty="0">
                <a:latin typeface="Arial"/>
                <a:cs typeface="Arial"/>
              </a:rPr>
              <a:t>và </a:t>
            </a:r>
            <a:r>
              <a:rPr sz="2200" spc="-5" dirty="0">
                <a:latin typeface="Arial"/>
                <a:cs typeface="Arial"/>
              </a:rPr>
              <a:t>tuyển</a:t>
            </a:r>
            <a:r>
              <a:rPr sz="2200" spc="5" dirty="0">
                <a:latin typeface="Arial"/>
                <a:cs typeface="Arial"/>
              </a:rPr>
              <a:t> </a:t>
            </a:r>
            <a:r>
              <a:rPr sz="2200" spc="-5" dirty="0">
                <a:latin typeface="Arial"/>
                <a:cs typeface="Arial"/>
              </a:rPr>
              <a:t>(disjunction)</a:t>
            </a:r>
            <a:endParaRPr sz="2200">
              <a:latin typeface="Arial"/>
              <a:cs typeface="Arial"/>
            </a:endParaRPr>
          </a:p>
        </p:txBody>
      </p:sp>
      <p:sp>
        <p:nvSpPr>
          <p:cNvPr id="6" name="object 6"/>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7" name="object 7"/>
          <p:cNvSpPr txBox="1"/>
          <p:nvPr/>
        </p:nvSpPr>
        <p:spPr>
          <a:xfrm>
            <a:off x="993139" y="3545895"/>
            <a:ext cx="8180705" cy="2982595"/>
          </a:xfrm>
          <a:prstGeom prst="rect">
            <a:avLst/>
          </a:prstGeom>
        </p:spPr>
        <p:txBody>
          <a:bodyPr vert="horz" wrap="square" lIns="0" tIns="149860" rIns="0" bIns="0" rtlCol="0">
            <a:spAutoFit/>
          </a:bodyPr>
          <a:lstStyle/>
          <a:p>
            <a:pPr marL="624840" indent="-286385">
              <a:lnSpc>
                <a:spcPct val="100000"/>
              </a:lnSpc>
              <a:spcBef>
                <a:spcPts val="1180"/>
              </a:spcBef>
              <a:buClr>
                <a:srgbClr val="3B822F"/>
              </a:buClr>
              <a:buSzPct val="60000"/>
              <a:buFont typeface="Wingdings"/>
              <a:buChar char=""/>
              <a:tabLst>
                <a:tab pos="624840" algn="l"/>
                <a:tab pos="625475" algn="l"/>
                <a:tab pos="1146175" algn="l"/>
              </a:tabLst>
            </a:pPr>
            <a:r>
              <a:rPr sz="2000" spc="-5" dirty="0">
                <a:latin typeface="Arial"/>
                <a:cs typeface="Arial"/>
              </a:rPr>
              <a:t>Vd:	“John </a:t>
            </a:r>
            <a:r>
              <a:rPr sz="2000" b="1" spc="-5" dirty="0">
                <a:latin typeface="Arial"/>
                <a:cs typeface="Arial"/>
              </a:rPr>
              <a:t>does not </a:t>
            </a:r>
            <a:r>
              <a:rPr sz="2000" spc="-5" dirty="0">
                <a:latin typeface="Arial"/>
                <a:cs typeface="Arial"/>
              </a:rPr>
              <a:t>go fishing”, “John eats pizza </a:t>
            </a:r>
            <a:r>
              <a:rPr sz="2000" b="1" spc="-5" dirty="0">
                <a:latin typeface="Arial"/>
                <a:cs typeface="Arial"/>
              </a:rPr>
              <a:t>or </a:t>
            </a:r>
            <a:r>
              <a:rPr sz="2000" spc="-5" dirty="0">
                <a:latin typeface="Arial"/>
                <a:cs typeface="Arial"/>
              </a:rPr>
              <a:t>fish and</a:t>
            </a:r>
            <a:r>
              <a:rPr sz="2000" spc="15" dirty="0">
                <a:latin typeface="Arial"/>
                <a:cs typeface="Arial"/>
              </a:rPr>
              <a:t> </a:t>
            </a:r>
            <a:r>
              <a:rPr sz="2000" spc="-5" dirty="0">
                <a:latin typeface="Arial"/>
                <a:cs typeface="Arial"/>
              </a:rPr>
              <a:t>chips”</a:t>
            </a:r>
            <a:endParaRPr sz="2000">
              <a:latin typeface="Arial"/>
              <a:cs typeface="Arial"/>
            </a:endParaRPr>
          </a:p>
          <a:p>
            <a:pPr marL="298450" marR="721995" indent="-286385">
              <a:lnSpc>
                <a:spcPct val="100000"/>
              </a:lnSpc>
              <a:spcBef>
                <a:spcPts val="1200"/>
              </a:spcBef>
              <a:buClr>
                <a:srgbClr val="CC9A00"/>
              </a:buClr>
              <a:buSzPct val="63636"/>
              <a:buFont typeface="Wingdings"/>
              <a:buChar char=""/>
              <a:tabLst>
                <a:tab pos="297815" algn="l"/>
                <a:tab pos="298450" algn="l"/>
              </a:tabLst>
            </a:pPr>
            <a:r>
              <a:rPr sz="2200" dirty="0">
                <a:latin typeface="Arial"/>
                <a:cs typeface="Arial"/>
              </a:rPr>
              <a:t>Khó </a:t>
            </a:r>
            <a:r>
              <a:rPr sz="2200" spc="-5" dirty="0">
                <a:latin typeface="Arial"/>
                <a:cs typeface="Arial"/>
              </a:rPr>
              <a:t>khăn </a:t>
            </a:r>
            <a:r>
              <a:rPr sz="2200" dirty="0">
                <a:latin typeface="Arial"/>
                <a:cs typeface="Arial"/>
              </a:rPr>
              <a:t>trong </a:t>
            </a:r>
            <a:r>
              <a:rPr sz="2200" spc="-5" dirty="0">
                <a:latin typeface="Arial"/>
                <a:cs typeface="Arial"/>
              </a:rPr>
              <a:t>việc diễn đạt các suy nghĩ </a:t>
            </a:r>
            <a:r>
              <a:rPr sz="2200" dirty="0">
                <a:latin typeface="Arial"/>
                <a:cs typeface="Arial"/>
              </a:rPr>
              <a:t>(beliefs) và các  lượng từ</a:t>
            </a:r>
            <a:r>
              <a:rPr sz="2200" spc="-25" dirty="0">
                <a:latin typeface="Arial"/>
                <a:cs typeface="Arial"/>
              </a:rPr>
              <a:t> </a:t>
            </a:r>
            <a:r>
              <a:rPr sz="2200" dirty="0">
                <a:latin typeface="Arial"/>
                <a:cs typeface="Arial"/>
              </a:rPr>
              <a:t>(quantifiers)</a:t>
            </a:r>
            <a:endParaRPr sz="22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Nếu hỗ trợ việc diễn đạt này, thì lại làm cho SNs trở nên khó</a:t>
            </a:r>
            <a:r>
              <a:rPr sz="2000" spc="10" dirty="0">
                <a:latin typeface="Arial"/>
                <a:cs typeface="Arial"/>
              </a:rPr>
              <a:t> </a:t>
            </a:r>
            <a:r>
              <a:rPr sz="2000" spc="-5" dirty="0">
                <a:latin typeface="Arial"/>
                <a:cs typeface="Arial"/>
              </a:rPr>
              <a:t>đọc</a:t>
            </a:r>
            <a:endParaRPr sz="2000">
              <a:latin typeface="Arial"/>
              <a:cs typeface="Arial"/>
            </a:endParaRPr>
          </a:p>
          <a:p>
            <a:pPr marL="298450" marR="337185" indent="-286385">
              <a:lnSpc>
                <a:spcPct val="100000"/>
              </a:lnSpc>
              <a:spcBef>
                <a:spcPts val="1200"/>
              </a:spcBef>
              <a:buClr>
                <a:srgbClr val="CC9A00"/>
              </a:buClr>
              <a:buSzPct val="63636"/>
              <a:buFont typeface="Wingdings"/>
              <a:buChar char=""/>
              <a:tabLst>
                <a:tab pos="297815" algn="l"/>
                <a:tab pos="298450" algn="l"/>
              </a:tabLst>
            </a:pPr>
            <a:r>
              <a:rPr sz="2200" dirty="0">
                <a:latin typeface="Arial"/>
                <a:cs typeface="Arial"/>
              </a:rPr>
              <a:t>Khó </a:t>
            </a:r>
            <a:r>
              <a:rPr sz="2200" spc="-5" dirty="0">
                <a:latin typeface="Arial"/>
                <a:cs typeface="Arial"/>
              </a:rPr>
              <a:t>khăn </a:t>
            </a:r>
            <a:r>
              <a:rPr sz="2200" dirty="0">
                <a:latin typeface="Arial"/>
                <a:cs typeface="Arial"/>
              </a:rPr>
              <a:t>trong </a:t>
            </a:r>
            <a:r>
              <a:rPr sz="2200" spc="-5" dirty="0">
                <a:latin typeface="Arial"/>
                <a:cs typeface="Arial"/>
              </a:rPr>
              <a:t>việc chọn </a:t>
            </a:r>
            <a:r>
              <a:rPr sz="2200" dirty="0">
                <a:latin typeface="Arial"/>
                <a:cs typeface="Arial"/>
              </a:rPr>
              <a:t>các thành </a:t>
            </a:r>
            <a:r>
              <a:rPr sz="2200" spc="-5" dirty="0">
                <a:latin typeface="Arial"/>
                <a:cs typeface="Arial"/>
              </a:rPr>
              <a:t>phần </a:t>
            </a:r>
            <a:r>
              <a:rPr sz="2200" dirty="0">
                <a:latin typeface="Arial"/>
                <a:cs typeface="Arial"/>
              </a:rPr>
              <a:t>cơ </a:t>
            </a:r>
            <a:r>
              <a:rPr sz="2200" spc="-5" dirty="0">
                <a:latin typeface="Arial"/>
                <a:cs typeface="Arial"/>
              </a:rPr>
              <a:t>bản </a:t>
            </a:r>
            <a:r>
              <a:rPr sz="2200" dirty="0">
                <a:latin typeface="Arial"/>
                <a:cs typeface="Arial"/>
              </a:rPr>
              <a:t>(primitives)  </a:t>
            </a:r>
            <a:r>
              <a:rPr sz="2200" spc="-5" dirty="0">
                <a:latin typeface="Arial"/>
                <a:cs typeface="Arial"/>
              </a:rPr>
              <a:t>phù</a:t>
            </a:r>
            <a:r>
              <a:rPr sz="2200" spc="-10" dirty="0">
                <a:latin typeface="Arial"/>
                <a:cs typeface="Arial"/>
              </a:rPr>
              <a:t> </a:t>
            </a:r>
            <a:r>
              <a:rPr sz="2200" dirty="0">
                <a:latin typeface="Arial"/>
                <a:cs typeface="Arial"/>
              </a:rPr>
              <a:t>hợp</a:t>
            </a:r>
            <a:endParaRPr sz="2200">
              <a:latin typeface="Arial"/>
              <a:cs typeface="Arial"/>
            </a:endParaRPr>
          </a:p>
          <a:p>
            <a:pPr marL="298450" indent="-285750">
              <a:lnSpc>
                <a:spcPct val="100000"/>
              </a:lnSpc>
              <a:spcBef>
                <a:spcPts val="1200"/>
              </a:spcBef>
              <a:buClr>
                <a:srgbClr val="CC9A00"/>
              </a:buClr>
              <a:buSzPct val="63636"/>
              <a:buFont typeface="Wingdings"/>
              <a:buChar char=""/>
              <a:tabLst>
                <a:tab pos="297815" algn="l"/>
                <a:tab pos="298450" algn="l"/>
              </a:tabLst>
            </a:pPr>
            <a:r>
              <a:rPr sz="2200" spc="-5" dirty="0">
                <a:latin typeface="Arial"/>
                <a:cs typeface="Arial"/>
              </a:rPr>
              <a:t>Khả năng </a:t>
            </a:r>
            <a:r>
              <a:rPr sz="2200" dirty="0">
                <a:latin typeface="Arial"/>
                <a:cs typeface="Arial"/>
              </a:rPr>
              <a:t>suy </a:t>
            </a:r>
            <a:r>
              <a:rPr sz="2200" spc="-5" dirty="0">
                <a:latin typeface="Arial"/>
                <a:cs typeface="Arial"/>
              </a:rPr>
              <a:t>diễn hạn</a:t>
            </a:r>
            <a:r>
              <a:rPr sz="2200" spc="-10" dirty="0">
                <a:latin typeface="Arial"/>
                <a:cs typeface="Arial"/>
              </a:rPr>
              <a:t> </a:t>
            </a:r>
            <a:r>
              <a:rPr sz="2200" spc="-5" dirty="0">
                <a:latin typeface="Arial"/>
                <a:cs typeface="Arial"/>
              </a:rPr>
              <a:t>chế</a:t>
            </a:r>
            <a:endParaRPr sz="22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4880076E-5405-489A-A6A4-E83948F01A76}"/>
              </a:ext>
            </a:extLst>
          </p:cNvPr>
          <p:cNvSpPr>
            <a:spLocks noGrp="1"/>
          </p:cNvSpPr>
          <p:nvPr>
            <p:ph type="title"/>
          </p:nvPr>
        </p:nvSpPr>
        <p:spPr/>
        <p:txBody>
          <a:bodyPr/>
          <a:lstStyle/>
          <a:p>
            <a:r>
              <a:rPr lang="vi-VN" sz="3600" b="0" spc="-5">
                <a:latin typeface="Verdana"/>
                <a:cs typeface="Verdana"/>
              </a:rPr>
              <a:t>Mạng ngữ nghĩa </a:t>
            </a:r>
            <a:r>
              <a:rPr lang="vi-VN" sz="3600" b="0">
                <a:latin typeface="Verdana"/>
                <a:cs typeface="Verdana"/>
              </a:rPr>
              <a:t>– </a:t>
            </a:r>
            <a:r>
              <a:rPr lang="vi-VN" sz="3600" b="0" spc="-5">
                <a:latin typeface="Verdana"/>
                <a:cs typeface="Verdana"/>
              </a:rPr>
              <a:t>Nhược</a:t>
            </a:r>
            <a:r>
              <a:rPr lang="vi-VN" sz="3600" b="0">
                <a:latin typeface="Verdana"/>
                <a:cs typeface="Verdana"/>
              </a:rPr>
              <a:t> </a:t>
            </a:r>
            <a:r>
              <a:rPr lang="vi-VN" sz="3600" b="0" spc="-5">
                <a:latin typeface="Verdana"/>
                <a:cs typeface="Verdana"/>
              </a:rPr>
              <a:t>điểm</a:t>
            </a:r>
            <a:endParaRPr lang="en-US" b="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51</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93139" y="1777238"/>
            <a:ext cx="8012430" cy="4812030"/>
          </a:xfrm>
          <a:prstGeom prst="rect">
            <a:avLst/>
          </a:prstGeom>
        </p:spPr>
        <p:txBody>
          <a:bodyPr vert="horz" wrap="square" lIns="0" tIns="12700" rIns="0" bIns="0" rtlCol="0">
            <a:spAutoFit/>
          </a:bodyPr>
          <a:lstStyle/>
          <a:p>
            <a:pPr marL="298450" marR="14478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Phân loại một cách phân cấp (Hierarchical </a:t>
            </a:r>
            <a:r>
              <a:rPr sz="2400" dirty="0">
                <a:latin typeface="Arial"/>
                <a:cs typeface="Arial"/>
              </a:rPr>
              <a:t>taxonomy) </a:t>
            </a:r>
            <a:r>
              <a:rPr sz="2400" spc="-5" dirty="0">
                <a:latin typeface="Arial"/>
                <a:cs typeface="Arial"/>
              </a:rPr>
              <a:t>là  một cách tự nhiên trong việc biểu</a:t>
            </a:r>
            <a:r>
              <a:rPr sz="2400" spc="40" dirty="0">
                <a:latin typeface="Arial"/>
                <a:cs typeface="Arial"/>
              </a:rPr>
              <a:t> </a:t>
            </a:r>
            <a:r>
              <a:rPr sz="2400" spc="-5" dirty="0">
                <a:latin typeface="Arial"/>
                <a:cs typeface="Arial"/>
              </a:rPr>
              <a:t>diễn</a:t>
            </a:r>
            <a:endParaRPr sz="2400">
              <a:latin typeface="Arial"/>
              <a:cs typeface="Arial"/>
            </a:endParaRPr>
          </a:p>
          <a:p>
            <a:pPr marL="624840" marR="76835"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Được sử dụng trong cả 2 cách biểu diễn tri thức: Khung (frames)  và Mạng ngữ nghĩa (semantic</a:t>
            </a:r>
            <a:r>
              <a:rPr sz="2000" spc="-20" dirty="0">
                <a:latin typeface="Arial"/>
                <a:cs typeface="Arial"/>
              </a:rPr>
              <a:t> </a:t>
            </a:r>
            <a:r>
              <a:rPr sz="2000" spc="-5" dirty="0">
                <a:latin typeface="Arial"/>
                <a:cs typeface="Arial"/>
              </a:rPr>
              <a:t>networks)</a:t>
            </a:r>
            <a:endParaRPr sz="2000">
              <a:latin typeface="Arial"/>
              <a:cs typeface="Arial"/>
            </a:endParaRPr>
          </a:p>
          <a:p>
            <a:pPr marL="298450" indent="-285750">
              <a:lnSpc>
                <a:spcPct val="100000"/>
              </a:lnSpc>
              <a:spcBef>
                <a:spcPts val="1789"/>
              </a:spcBef>
              <a:buClr>
                <a:srgbClr val="CC9A00"/>
              </a:buClr>
              <a:buSzPct val="64583"/>
              <a:buFont typeface="Wingdings"/>
              <a:buChar char=""/>
              <a:tabLst>
                <a:tab pos="297815" algn="l"/>
                <a:tab pos="298450" algn="l"/>
              </a:tabLst>
            </a:pPr>
            <a:r>
              <a:rPr sz="2400" dirty="0">
                <a:latin typeface="Arial"/>
                <a:cs typeface="Arial"/>
              </a:rPr>
              <a:t>Sự </a:t>
            </a:r>
            <a:r>
              <a:rPr sz="2400" spc="-5" dirty="0">
                <a:latin typeface="Arial"/>
                <a:cs typeface="Arial"/>
              </a:rPr>
              <a:t>quan trọng của việc </a:t>
            </a:r>
            <a:r>
              <a:rPr sz="2400" b="1" spc="-5" dirty="0">
                <a:latin typeface="Arial"/>
                <a:cs typeface="Arial"/>
              </a:rPr>
              <a:t>khái quát hóa (abstraction)</a:t>
            </a:r>
            <a:endParaRPr sz="2400">
              <a:latin typeface="Arial"/>
              <a:cs typeface="Arial"/>
            </a:endParaRPr>
          </a:p>
          <a:p>
            <a:pPr marL="297815">
              <a:lnSpc>
                <a:spcPct val="100000"/>
              </a:lnSpc>
            </a:pPr>
            <a:r>
              <a:rPr sz="2400" spc="-5" dirty="0">
                <a:latin typeface="Arial"/>
                <a:cs typeface="Arial"/>
              </a:rPr>
              <a:t>trong việc nhớ và suy</a:t>
            </a:r>
            <a:r>
              <a:rPr sz="2400" spc="10" dirty="0">
                <a:latin typeface="Arial"/>
                <a:cs typeface="Arial"/>
              </a:rPr>
              <a:t> </a:t>
            </a:r>
            <a:r>
              <a:rPr sz="2400" spc="-5" dirty="0">
                <a:latin typeface="Arial"/>
                <a:cs typeface="Arial"/>
              </a:rPr>
              <a:t>diễn</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10" dirty="0">
                <a:latin typeface="Arial"/>
                <a:cs typeface="Arial"/>
              </a:rPr>
              <a:t>Nhóm </a:t>
            </a:r>
            <a:r>
              <a:rPr sz="2000" spc="-5" dirty="0">
                <a:latin typeface="Arial"/>
                <a:cs typeface="Arial"/>
              </a:rPr>
              <a:t>các đối tượng có cùng </a:t>
            </a:r>
            <a:r>
              <a:rPr sz="2000" spc="-10" dirty="0">
                <a:latin typeface="Arial"/>
                <a:cs typeface="Arial"/>
              </a:rPr>
              <a:t>chung </a:t>
            </a:r>
            <a:r>
              <a:rPr sz="2000" spc="-5" dirty="0">
                <a:latin typeface="Arial"/>
                <a:cs typeface="Arial"/>
              </a:rPr>
              <a:t>các thuộc</a:t>
            </a:r>
            <a:r>
              <a:rPr sz="2000" spc="15" dirty="0">
                <a:latin typeface="Arial"/>
                <a:cs typeface="Arial"/>
              </a:rPr>
              <a:t> </a:t>
            </a:r>
            <a:r>
              <a:rPr sz="2000" spc="-5" dirty="0">
                <a:latin typeface="Arial"/>
                <a:cs typeface="Arial"/>
              </a:rPr>
              <a:t>tính</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10" dirty="0">
                <a:latin typeface="Arial"/>
                <a:cs typeface="Arial"/>
              </a:rPr>
              <a:t>Không </a:t>
            </a:r>
            <a:r>
              <a:rPr sz="2000" spc="-5" dirty="0">
                <a:latin typeface="Arial"/>
                <a:cs typeface="Arial"/>
              </a:rPr>
              <a:t>phải lặp lại các biểu diễn cho từng đối tượng riêng</a:t>
            </a:r>
            <a:r>
              <a:rPr sz="2000" spc="40" dirty="0">
                <a:latin typeface="Arial"/>
                <a:cs typeface="Arial"/>
              </a:rPr>
              <a:t> </a:t>
            </a:r>
            <a:r>
              <a:rPr sz="2000" spc="-5" dirty="0">
                <a:latin typeface="Arial"/>
                <a:cs typeface="Arial"/>
              </a:rPr>
              <a:t>lẻ</a:t>
            </a:r>
            <a:endParaRPr sz="2000">
              <a:latin typeface="Arial"/>
              <a:cs typeface="Arial"/>
            </a:endParaRPr>
          </a:p>
          <a:p>
            <a:pPr marL="298450" marR="355600" indent="-285750">
              <a:lnSpc>
                <a:spcPct val="100000"/>
              </a:lnSpc>
              <a:spcBef>
                <a:spcPts val="1790"/>
              </a:spcBef>
              <a:buClr>
                <a:srgbClr val="CC9A00"/>
              </a:buClr>
              <a:buSzPct val="64583"/>
              <a:buFont typeface="Wingdings"/>
              <a:buChar char=""/>
              <a:tabLst>
                <a:tab pos="297815" algn="l"/>
                <a:tab pos="298450" algn="l"/>
              </a:tabLst>
            </a:pPr>
            <a:r>
              <a:rPr sz="2400" b="1" dirty="0">
                <a:latin typeface="Arial"/>
                <a:cs typeface="Arial"/>
              </a:rPr>
              <a:t>Sự </a:t>
            </a:r>
            <a:r>
              <a:rPr sz="2400" b="1" spc="-5" dirty="0">
                <a:latin typeface="Arial"/>
                <a:cs typeface="Arial"/>
              </a:rPr>
              <a:t>kế thừa (Inheritance) </a:t>
            </a:r>
            <a:r>
              <a:rPr sz="2400" dirty="0">
                <a:latin typeface="Arial"/>
                <a:cs typeface="Arial"/>
              </a:rPr>
              <a:t>là </a:t>
            </a:r>
            <a:r>
              <a:rPr sz="2400" spc="-5" dirty="0">
                <a:latin typeface="Arial"/>
                <a:cs typeface="Arial"/>
              </a:rPr>
              <a:t>kết quả của việc suy diễn  theo các hướng (paths) trong một cấu trúc phân</a:t>
            </a:r>
            <a:r>
              <a:rPr sz="2400" spc="35" dirty="0">
                <a:latin typeface="Arial"/>
                <a:cs typeface="Arial"/>
              </a:rPr>
              <a:t> </a:t>
            </a:r>
            <a:r>
              <a:rPr sz="2400" spc="-5" dirty="0">
                <a:latin typeface="Arial"/>
                <a:cs typeface="Arial"/>
              </a:rPr>
              <a:t>cấp</a:t>
            </a:r>
            <a:endParaRPr sz="2400">
              <a:latin typeface="Arial"/>
              <a:cs typeface="Arial"/>
            </a:endParaRPr>
          </a:p>
          <a:p>
            <a:pPr marL="681990" marR="5080" lvl="1" indent="-325755">
              <a:lnSpc>
                <a:spcPct val="100000"/>
              </a:lnSpc>
              <a:spcBef>
                <a:spcPts val="610"/>
              </a:spcBef>
              <a:buClr>
                <a:srgbClr val="3B822F"/>
              </a:buClr>
              <a:buSzPct val="60000"/>
              <a:buFont typeface="Wingdings"/>
              <a:buChar char=""/>
              <a:tabLst>
                <a:tab pos="681990" algn="l"/>
                <a:tab pos="682625" algn="l"/>
                <a:tab pos="3860800" algn="l"/>
                <a:tab pos="5940425" algn="l"/>
              </a:tabLst>
            </a:pPr>
            <a:r>
              <a:rPr sz="2000" i="1" spc="-5" dirty="0">
                <a:latin typeface="Arial"/>
                <a:cs typeface="Arial"/>
              </a:rPr>
              <a:t>“A có </a:t>
            </a:r>
            <a:r>
              <a:rPr sz="2000" i="1" dirty="0">
                <a:latin typeface="Arial"/>
                <a:cs typeface="Arial"/>
              </a:rPr>
              <a:t>kế </a:t>
            </a:r>
            <a:r>
              <a:rPr sz="2000" i="1" spc="-5" dirty="0">
                <a:latin typeface="Arial"/>
                <a:cs typeface="Arial"/>
              </a:rPr>
              <a:t>thừa từ B</a:t>
            </a:r>
            <a:r>
              <a:rPr sz="2000" i="1" spc="5" dirty="0">
                <a:latin typeface="Arial"/>
                <a:cs typeface="Arial"/>
              </a:rPr>
              <a:t> </a:t>
            </a:r>
            <a:r>
              <a:rPr sz="2000" i="1" spc="-10" dirty="0">
                <a:latin typeface="Arial"/>
                <a:cs typeface="Arial"/>
              </a:rPr>
              <a:t>không?</a:t>
            </a:r>
            <a:r>
              <a:rPr sz="2000" spc="-10" dirty="0">
                <a:latin typeface="Arial"/>
                <a:cs typeface="Arial"/>
              </a:rPr>
              <a:t>”	</a:t>
            </a:r>
            <a:r>
              <a:rPr sz="2000" spc="-5" dirty="0">
                <a:latin typeface="Arial"/>
                <a:cs typeface="Arial"/>
              </a:rPr>
              <a:t>tương</a:t>
            </a:r>
            <a:r>
              <a:rPr sz="2000" spc="5" dirty="0">
                <a:latin typeface="Arial"/>
                <a:cs typeface="Arial"/>
              </a:rPr>
              <a:t> </a:t>
            </a:r>
            <a:r>
              <a:rPr sz="2000" spc="-10" dirty="0">
                <a:latin typeface="Arial"/>
                <a:cs typeface="Arial"/>
              </a:rPr>
              <a:t>đương</a:t>
            </a:r>
            <a:r>
              <a:rPr sz="2000" spc="5" dirty="0">
                <a:latin typeface="Arial"/>
                <a:cs typeface="Arial"/>
              </a:rPr>
              <a:t> </a:t>
            </a:r>
            <a:r>
              <a:rPr sz="2000" spc="-5" dirty="0">
                <a:latin typeface="Arial"/>
                <a:cs typeface="Arial"/>
              </a:rPr>
              <a:t>với	“</a:t>
            </a:r>
            <a:r>
              <a:rPr sz="2000" i="1" spc="-5" dirty="0">
                <a:latin typeface="Arial"/>
                <a:cs typeface="Arial"/>
              </a:rPr>
              <a:t>B có quan hệ</a:t>
            </a:r>
            <a:r>
              <a:rPr sz="2000" i="1" spc="-70" dirty="0">
                <a:latin typeface="Arial"/>
                <a:cs typeface="Arial"/>
              </a:rPr>
              <a:t> </a:t>
            </a:r>
            <a:r>
              <a:rPr sz="2000" i="1" spc="-5" dirty="0">
                <a:latin typeface="Arial"/>
                <a:cs typeface="Arial"/>
              </a:rPr>
              <a:t>bắc  cầu kiểu is-a (subsumption) với A</a:t>
            </a:r>
            <a:r>
              <a:rPr sz="2000" i="1" spc="5" dirty="0">
                <a:latin typeface="Arial"/>
                <a:cs typeface="Arial"/>
              </a:rPr>
              <a:t> </a:t>
            </a:r>
            <a:r>
              <a:rPr sz="2000" i="1" spc="-5" dirty="0">
                <a:latin typeface="Arial"/>
                <a:cs typeface="Arial"/>
              </a:rPr>
              <a:t>không?</a:t>
            </a:r>
            <a:r>
              <a:rPr sz="2000" b="1" i="1" spc="-5" dirty="0">
                <a:latin typeface="Arial"/>
                <a:cs typeface="Arial"/>
              </a:rPr>
              <a:t>”</a:t>
            </a:r>
            <a:endParaRPr sz="20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876D0DB8-F612-4C3B-A05E-BC8A60E5E617}"/>
              </a:ext>
            </a:extLst>
          </p:cNvPr>
          <p:cNvSpPr>
            <a:spLocks noGrp="1"/>
          </p:cNvSpPr>
          <p:nvPr>
            <p:ph type="title"/>
          </p:nvPr>
        </p:nvSpPr>
        <p:spPr/>
        <p:txBody>
          <a:bodyPr/>
          <a:lstStyle/>
          <a:p>
            <a:r>
              <a:rPr lang="en-US" sz="4000" b="0" spc="-5">
                <a:latin typeface="Verdana"/>
                <a:cs typeface="Verdana"/>
              </a:rPr>
              <a:t>Sự kế thừa – Phân </a:t>
            </a:r>
            <a:r>
              <a:rPr lang="en-US" sz="4000" b="0" spc="-10">
                <a:latin typeface="Verdana"/>
                <a:cs typeface="Verdana"/>
              </a:rPr>
              <a:t>loại </a:t>
            </a:r>
            <a:r>
              <a:rPr lang="en-US" sz="4000" b="0" spc="-5">
                <a:latin typeface="Verdana"/>
                <a:cs typeface="Verdana"/>
              </a:rPr>
              <a:t>phân</a:t>
            </a:r>
            <a:r>
              <a:rPr lang="en-US" sz="4000" b="0" spc="25">
                <a:latin typeface="Verdana"/>
                <a:cs typeface="Verdana"/>
              </a:rPr>
              <a:t> </a:t>
            </a:r>
            <a:r>
              <a:rPr lang="en-US" sz="4000" b="0" spc="-5">
                <a:latin typeface="Verdana"/>
                <a:cs typeface="Verdana"/>
              </a:rPr>
              <a:t>cấp</a:t>
            </a:r>
            <a:endParaRPr lang="en-US" b="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object 1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9" name="object 1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52</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683875"/>
            <a:ext cx="4984115" cy="866775"/>
          </a:xfrm>
          <a:prstGeom prst="rect">
            <a:avLst/>
          </a:prstGeom>
        </p:spPr>
        <p:txBody>
          <a:bodyPr vert="horz" wrap="square" lIns="0" tIns="106045" rIns="0" bIns="0" rtlCol="0">
            <a:spAutoFit/>
          </a:bodyPr>
          <a:lstStyle/>
          <a:p>
            <a:pPr marL="298450" indent="-285750">
              <a:lnSpc>
                <a:spcPct val="100000"/>
              </a:lnSpc>
              <a:spcBef>
                <a:spcPts val="835"/>
              </a:spcBef>
              <a:buClr>
                <a:srgbClr val="CC9A00"/>
              </a:buClr>
              <a:buSzPct val="64583"/>
              <a:buFont typeface="Wingdings"/>
              <a:buChar char=""/>
              <a:tabLst>
                <a:tab pos="297815" algn="l"/>
                <a:tab pos="298450" algn="l"/>
                <a:tab pos="2196465" algn="l"/>
              </a:tabLst>
            </a:pPr>
            <a:r>
              <a:rPr sz="2400" spc="-5" dirty="0">
                <a:latin typeface="Arial"/>
                <a:cs typeface="Arial"/>
              </a:rPr>
              <a:t>Các quan</a:t>
            </a:r>
            <a:r>
              <a:rPr sz="2400" spc="15" dirty="0">
                <a:latin typeface="Arial"/>
                <a:cs typeface="Arial"/>
              </a:rPr>
              <a:t> </a:t>
            </a:r>
            <a:r>
              <a:rPr sz="2400" dirty="0">
                <a:latin typeface="Arial"/>
                <a:cs typeface="Arial"/>
              </a:rPr>
              <a:t>hệ	</a:t>
            </a:r>
            <a:r>
              <a:rPr sz="2400" b="1" i="1" spc="-5" dirty="0">
                <a:latin typeface="Arial"/>
                <a:cs typeface="Arial"/>
              </a:rPr>
              <a:t>IS</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Clyde is an Elephant, </a:t>
            </a:r>
            <a:r>
              <a:rPr sz="2000" spc="-10" dirty="0">
                <a:latin typeface="Arial"/>
                <a:cs typeface="Arial"/>
              </a:rPr>
              <a:t>Elephant </a:t>
            </a:r>
            <a:r>
              <a:rPr sz="2000" spc="-5" dirty="0">
                <a:latin typeface="Arial"/>
                <a:cs typeface="Arial"/>
              </a:rPr>
              <a:t>is</a:t>
            </a:r>
            <a:r>
              <a:rPr sz="2000" spc="5" dirty="0">
                <a:latin typeface="Arial"/>
                <a:cs typeface="Arial"/>
              </a:rPr>
              <a:t> </a:t>
            </a:r>
            <a:r>
              <a:rPr sz="2000" spc="-10" dirty="0">
                <a:latin typeface="Arial"/>
                <a:cs typeface="Arial"/>
              </a:rPr>
              <a:t>Gray</a:t>
            </a:r>
            <a:endParaRPr sz="2000">
              <a:latin typeface="Arial"/>
              <a:cs typeface="Arial"/>
            </a:endParaRPr>
          </a:p>
        </p:txBody>
      </p:sp>
      <p:sp>
        <p:nvSpPr>
          <p:cNvPr id="8" name="object 8"/>
          <p:cNvSpPr txBox="1"/>
          <p:nvPr/>
        </p:nvSpPr>
        <p:spPr>
          <a:xfrm>
            <a:off x="7546340" y="2312923"/>
            <a:ext cx="5467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G</a:t>
            </a:r>
            <a:r>
              <a:rPr sz="1800" b="1" dirty="0">
                <a:latin typeface="Arial"/>
                <a:cs typeface="Arial"/>
              </a:rPr>
              <a:t>ray</a:t>
            </a:r>
            <a:endParaRPr sz="1800">
              <a:latin typeface="Arial"/>
              <a:cs typeface="Arial"/>
            </a:endParaRPr>
          </a:p>
        </p:txBody>
      </p:sp>
      <p:grpSp>
        <p:nvGrpSpPr>
          <p:cNvPr id="9" name="object 9"/>
          <p:cNvGrpSpPr/>
          <p:nvPr/>
        </p:nvGrpSpPr>
        <p:grpSpPr>
          <a:xfrm>
            <a:off x="457200" y="2667000"/>
            <a:ext cx="9144000" cy="1706880"/>
            <a:chOff x="457200" y="2667000"/>
            <a:chExt cx="9144000" cy="1706880"/>
          </a:xfrm>
        </p:grpSpPr>
        <p:sp>
          <p:nvSpPr>
            <p:cNvPr id="10" name="object 10"/>
            <p:cNvSpPr/>
            <p:nvPr/>
          </p:nvSpPr>
          <p:spPr>
            <a:xfrm>
              <a:off x="7810500" y="2667000"/>
              <a:ext cx="76200" cy="727710"/>
            </a:xfrm>
            <a:custGeom>
              <a:avLst/>
              <a:gdLst/>
              <a:ahLst/>
              <a:cxnLst/>
              <a:rect l="l" t="t" r="r" b="b"/>
              <a:pathLst>
                <a:path w="76200" h="727710">
                  <a:moveTo>
                    <a:pt x="76200" y="127253"/>
                  </a:moveTo>
                  <a:lnTo>
                    <a:pt x="38100" y="0"/>
                  </a:lnTo>
                  <a:lnTo>
                    <a:pt x="0" y="127253"/>
                  </a:lnTo>
                  <a:lnTo>
                    <a:pt x="30479" y="127253"/>
                  </a:lnTo>
                  <a:lnTo>
                    <a:pt x="30479" y="114299"/>
                  </a:lnTo>
                  <a:lnTo>
                    <a:pt x="46481" y="114299"/>
                  </a:lnTo>
                  <a:lnTo>
                    <a:pt x="46481" y="127253"/>
                  </a:lnTo>
                  <a:lnTo>
                    <a:pt x="76200" y="127253"/>
                  </a:lnTo>
                  <a:close/>
                </a:path>
                <a:path w="76200" h="727710">
                  <a:moveTo>
                    <a:pt x="46481" y="127253"/>
                  </a:moveTo>
                  <a:lnTo>
                    <a:pt x="46481" y="114299"/>
                  </a:lnTo>
                  <a:lnTo>
                    <a:pt x="30479" y="114299"/>
                  </a:lnTo>
                  <a:lnTo>
                    <a:pt x="30479" y="127253"/>
                  </a:lnTo>
                  <a:lnTo>
                    <a:pt x="46481" y="127253"/>
                  </a:lnTo>
                  <a:close/>
                </a:path>
                <a:path w="76200" h="727710">
                  <a:moveTo>
                    <a:pt x="46481" y="727709"/>
                  </a:moveTo>
                  <a:lnTo>
                    <a:pt x="46481" y="127253"/>
                  </a:lnTo>
                  <a:lnTo>
                    <a:pt x="30479" y="127253"/>
                  </a:lnTo>
                  <a:lnTo>
                    <a:pt x="30479" y="727709"/>
                  </a:lnTo>
                  <a:lnTo>
                    <a:pt x="46481" y="727709"/>
                  </a:lnTo>
                  <a:close/>
                </a:path>
              </a:pathLst>
            </a:custGeom>
            <a:solidFill>
              <a:srgbClr val="000000"/>
            </a:solidFill>
          </p:spPr>
          <p:txBody>
            <a:bodyPr wrap="square" lIns="0" tIns="0" rIns="0" bIns="0" rtlCol="0"/>
            <a:lstStyle/>
            <a:p>
              <a:endParaRPr/>
            </a:p>
          </p:txBody>
        </p:sp>
        <p:sp>
          <p:nvSpPr>
            <p:cNvPr id="11" name="object 11"/>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12" name="object 12"/>
          <p:cNvSpPr txBox="1"/>
          <p:nvPr/>
        </p:nvSpPr>
        <p:spPr>
          <a:xfrm>
            <a:off x="993139" y="2752597"/>
            <a:ext cx="5314950" cy="1504950"/>
          </a:xfrm>
          <a:prstGeom prst="rect">
            <a:avLst/>
          </a:prstGeom>
        </p:spPr>
        <p:txBody>
          <a:bodyPr vert="horz" wrap="square" lIns="0" tIns="12700" rIns="0" bIns="0" rtlCol="0">
            <a:spAutoFit/>
          </a:bodyPr>
          <a:lstStyle/>
          <a:p>
            <a:pPr marL="355600" marR="5080" indent="-342900" algn="just">
              <a:lnSpc>
                <a:spcPct val="100000"/>
              </a:lnSpc>
              <a:spcBef>
                <a:spcPts val="100"/>
              </a:spcBef>
              <a:buClr>
                <a:srgbClr val="CC9A00"/>
              </a:buClr>
              <a:buSzPct val="64583"/>
              <a:buFont typeface="Wingdings"/>
              <a:buChar char=""/>
              <a:tabLst>
                <a:tab pos="355600" algn="l"/>
              </a:tabLst>
            </a:pPr>
            <a:r>
              <a:rPr sz="2400" spc="-5" dirty="0">
                <a:latin typeface="Arial"/>
                <a:cs typeface="Arial"/>
              </a:rPr>
              <a:t>Suy diễn (reasoning) với các hướng  (paths) </a:t>
            </a:r>
            <a:r>
              <a:rPr sz="2400" dirty="0">
                <a:latin typeface="Arial"/>
                <a:cs typeface="Arial"/>
              </a:rPr>
              <a:t>và </a:t>
            </a:r>
            <a:r>
              <a:rPr sz="2400" spc="-5" dirty="0">
                <a:latin typeface="Arial"/>
                <a:cs typeface="Arial"/>
              </a:rPr>
              <a:t>các kết luận </a:t>
            </a:r>
            <a:r>
              <a:rPr sz="2400" dirty="0">
                <a:latin typeface="Arial"/>
                <a:cs typeface="Arial"/>
              </a:rPr>
              <a:t>(conclusions)  </a:t>
            </a:r>
            <a:r>
              <a:rPr sz="2400" spc="-5" dirty="0">
                <a:latin typeface="Arial"/>
                <a:cs typeface="Arial"/>
              </a:rPr>
              <a:t>mà các hướng đó biểu</a:t>
            </a:r>
            <a:r>
              <a:rPr sz="2400" spc="15" dirty="0">
                <a:latin typeface="Arial"/>
                <a:cs typeface="Arial"/>
              </a:rPr>
              <a:t> </a:t>
            </a:r>
            <a:r>
              <a:rPr sz="2400" spc="-5" dirty="0">
                <a:latin typeface="Arial"/>
                <a:cs typeface="Arial"/>
              </a:rPr>
              <a:t>diễn</a:t>
            </a:r>
            <a:endParaRPr sz="2400">
              <a:latin typeface="Arial"/>
              <a:cs typeface="Arial"/>
            </a:endParaRPr>
          </a:p>
          <a:p>
            <a:pPr marL="681990" lvl="1" indent="-325755">
              <a:lnSpc>
                <a:spcPct val="100000"/>
              </a:lnSpc>
              <a:spcBef>
                <a:spcPts val="610"/>
              </a:spcBef>
              <a:buClr>
                <a:srgbClr val="3B822F"/>
              </a:buClr>
              <a:buSzPct val="60000"/>
              <a:buFont typeface="Wingdings"/>
              <a:buChar char=""/>
              <a:tabLst>
                <a:tab pos="681990" algn="l"/>
                <a:tab pos="682625" algn="l"/>
              </a:tabLst>
            </a:pPr>
            <a:r>
              <a:rPr sz="2000" spc="-5" dirty="0">
                <a:latin typeface="Arial"/>
                <a:cs typeface="Arial"/>
              </a:rPr>
              <a:t>Các quan hệ bắc cầu</a:t>
            </a:r>
            <a:endParaRPr sz="2000">
              <a:latin typeface="Arial"/>
              <a:cs typeface="Arial"/>
            </a:endParaRPr>
          </a:p>
        </p:txBody>
      </p:sp>
      <p:sp>
        <p:nvSpPr>
          <p:cNvPr id="13" name="object 13"/>
          <p:cNvSpPr txBox="1"/>
          <p:nvPr/>
        </p:nvSpPr>
        <p:spPr>
          <a:xfrm>
            <a:off x="7393940" y="3685285"/>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Elephant</a:t>
            </a:r>
            <a:endParaRPr sz="1800">
              <a:latin typeface="Arial"/>
              <a:cs typeface="Arial"/>
            </a:endParaRPr>
          </a:p>
        </p:txBody>
      </p:sp>
      <p:sp>
        <p:nvSpPr>
          <p:cNvPr id="14" name="object 14"/>
          <p:cNvSpPr/>
          <p:nvPr/>
        </p:nvSpPr>
        <p:spPr>
          <a:xfrm>
            <a:off x="7812024" y="3394709"/>
            <a:ext cx="76200" cy="1637030"/>
          </a:xfrm>
          <a:custGeom>
            <a:avLst/>
            <a:gdLst/>
            <a:ahLst/>
            <a:cxnLst/>
            <a:rect l="l" t="t" r="r" b="b"/>
            <a:pathLst>
              <a:path w="76200" h="1637029">
                <a:moveTo>
                  <a:pt x="44958" y="0"/>
                </a:moveTo>
                <a:lnTo>
                  <a:pt x="28956" y="0"/>
                </a:lnTo>
                <a:lnTo>
                  <a:pt x="28956" y="262890"/>
                </a:lnTo>
                <a:lnTo>
                  <a:pt x="44958" y="262890"/>
                </a:lnTo>
                <a:lnTo>
                  <a:pt x="44958" y="0"/>
                </a:lnTo>
                <a:close/>
              </a:path>
              <a:path w="76200" h="1637029">
                <a:moveTo>
                  <a:pt x="76200" y="771144"/>
                </a:moveTo>
                <a:lnTo>
                  <a:pt x="38862" y="643890"/>
                </a:lnTo>
                <a:lnTo>
                  <a:pt x="0" y="771144"/>
                </a:lnTo>
                <a:lnTo>
                  <a:pt x="30454" y="771144"/>
                </a:lnTo>
                <a:lnTo>
                  <a:pt x="30086" y="979170"/>
                </a:lnTo>
                <a:lnTo>
                  <a:pt x="28956" y="1636776"/>
                </a:lnTo>
                <a:lnTo>
                  <a:pt x="44958" y="1636776"/>
                </a:lnTo>
                <a:lnTo>
                  <a:pt x="46088" y="979170"/>
                </a:lnTo>
                <a:lnTo>
                  <a:pt x="46456" y="771144"/>
                </a:lnTo>
                <a:lnTo>
                  <a:pt x="76200" y="771144"/>
                </a:lnTo>
                <a:close/>
              </a:path>
            </a:pathLst>
          </a:custGeom>
          <a:solidFill>
            <a:srgbClr val="000000"/>
          </a:solidFill>
        </p:spPr>
        <p:txBody>
          <a:bodyPr wrap="square" lIns="0" tIns="0" rIns="0" bIns="0" rtlCol="0"/>
          <a:lstStyle/>
          <a:p>
            <a:endParaRPr/>
          </a:p>
        </p:txBody>
      </p:sp>
      <p:sp>
        <p:nvSpPr>
          <p:cNvPr id="15" name="object 15"/>
          <p:cNvSpPr txBox="1"/>
          <p:nvPr/>
        </p:nvSpPr>
        <p:spPr>
          <a:xfrm>
            <a:off x="993139" y="4366116"/>
            <a:ext cx="4451985" cy="1628775"/>
          </a:xfrm>
          <a:prstGeom prst="rect">
            <a:avLst/>
          </a:prstGeom>
        </p:spPr>
        <p:txBody>
          <a:bodyPr vert="horz" wrap="square" lIns="0" tIns="106045" rIns="0" bIns="0" rtlCol="0">
            <a:spAutoFit/>
          </a:bodyPr>
          <a:lstStyle/>
          <a:p>
            <a:pPr marL="355600" indent="-342900">
              <a:lnSpc>
                <a:spcPct val="100000"/>
              </a:lnSpc>
              <a:spcBef>
                <a:spcPts val="835"/>
              </a:spcBef>
              <a:buClr>
                <a:srgbClr val="CC9A00"/>
              </a:buClr>
              <a:buSzPct val="64583"/>
              <a:buFont typeface="Wingdings"/>
              <a:buChar char=""/>
              <a:tabLst>
                <a:tab pos="354965" algn="l"/>
                <a:tab pos="355600" algn="l"/>
              </a:tabLst>
            </a:pPr>
            <a:r>
              <a:rPr sz="2400" spc="-5" dirty="0">
                <a:latin typeface="Arial"/>
                <a:cs typeface="Arial"/>
              </a:rPr>
              <a:t>Tính bắc cầu của các quan</a:t>
            </a:r>
            <a:r>
              <a:rPr sz="2400" spc="-20" dirty="0">
                <a:latin typeface="Arial"/>
                <a:cs typeface="Arial"/>
              </a:rPr>
              <a:t> </a:t>
            </a:r>
            <a:r>
              <a:rPr sz="2400" dirty="0">
                <a:latin typeface="Arial"/>
                <a:cs typeface="Arial"/>
              </a:rPr>
              <a:t>hệ</a:t>
            </a:r>
            <a:endParaRPr sz="2400">
              <a:latin typeface="Arial"/>
              <a:cs typeface="Arial"/>
            </a:endParaRPr>
          </a:p>
          <a:p>
            <a:pPr marL="681990" lvl="1" indent="-325755">
              <a:lnSpc>
                <a:spcPct val="100000"/>
              </a:lnSpc>
              <a:spcBef>
                <a:spcPts val="610"/>
              </a:spcBef>
              <a:buClr>
                <a:srgbClr val="3B822F"/>
              </a:buClr>
              <a:buSzPct val="60000"/>
              <a:buFont typeface="Wingdings"/>
              <a:buChar char=""/>
              <a:tabLst>
                <a:tab pos="681990" algn="l"/>
                <a:tab pos="682625" algn="l"/>
              </a:tabLst>
            </a:pPr>
            <a:r>
              <a:rPr sz="2000" spc="-5" dirty="0">
                <a:latin typeface="Arial"/>
                <a:cs typeface="Arial"/>
              </a:rPr>
              <a:t>Clyde is</a:t>
            </a:r>
            <a:r>
              <a:rPr sz="2000" dirty="0">
                <a:latin typeface="Arial"/>
                <a:cs typeface="Arial"/>
              </a:rPr>
              <a:t> </a:t>
            </a:r>
            <a:r>
              <a:rPr sz="2000" spc="-10" dirty="0">
                <a:latin typeface="Arial"/>
                <a:cs typeface="Arial"/>
              </a:rPr>
              <a:t>Elephant</a:t>
            </a:r>
            <a:endParaRPr sz="2000">
              <a:latin typeface="Arial"/>
              <a:cs typeface="Arial"/>
            </a:endParaRPr>
          </a:p>
          <a:p>
            <a:pPr marL="681990" lvl="1" indent="-325755">
              <a:lnSpc>
                <a:spcPct val="100000"/>
              </a:lnSpc>
              <a:spcBef>
                <a:spcPts val="600"/>
              </a:spcBef>
              <a:buClr>
                <a:srgbClr val="3B822F"/>
              </a:buClr>
              <a:buSzPct val="60000"/>
              <a:buFont typeface="Wingdings"/>
              <a:buChar char=""/>
              <a:tabLst>
                <a:tab pos="681990" algn="l"/>
                <a:tab pos="682625" algn="l"/>
              </a:tabLst>
            </a:pPr>
            <a:r>
              <a:rPr sz="2000" spc="-5" dirty="0">
                <a:latin typeface="Arial"/>
                <a:cs typeface="Arial"/>
              </a:rPr>
              <a:t>Elephant is</a:t>
            </a:r>
            <a:r>
              <a:rPr sz="2000" dirty="0">
                <a:latin typeface="Arial"/>
                <a:cs typeface="Arial"/>
              </a:rPr>
              <a:t> </a:t>
            </a:r>
            <a:r>
              <a:rPr sz="2000" spc="-5" dirty="0">
                <a:latin typeface="Arial"/>
                <a:cs typeface="Arial"/>
              </a:rPr>
              <a:t>Gray</a:t>
            </a:r>
            <a:endParaRPr sz="2000">
              <a:latin typeface="Arial"/>
              <a:cs typeface="Arial"/>
            </a:endParaRPr>
          </a:p>
          <a:p>
            <a:pPr marL="681990" lvl="1" indent="-325755">
              <a:lnSpc>
                <a:spcPct val="100000"/>
              </a:lnSpc>
              <a:spcBef>
                <a:spcPts val="600"/>
              </a:spcBef>
              <a:buClr>
                <a:srgbClr val="3B822F"/>
              </a:buClr>
              <a:buSzPct val="60000"/>
              <a:buFont typeface="Wingdings"/>
              <a:buChar char=""/>
              <a:tabLst>
                <a:tab pos="681990" algn="l"/>
                <a:tab pos="682625" algn="l"/>
              </a:tabLst>
            </a:pPr>
            <a:r>
              <a:rPr sz="2000" spc="-5" dirty="0">
                <a:latin typeface="Arial"/>
                <a:cs typeface="Arial"/>
              </a:rPr>
              <a:t>Clyde is</a:t>
            </a:r>
            <a:r>
              <a:rPr sz="2000" dirty="0">
                <a:latin typeface="Arial"/>
                <a:cs typeface="Arial"/>
              </a:rPr>
              <a:t> </a:t>
            </a:r>
            <a:r>
              <a:rPr sz="2000" spc="-10" dirty="0">
                <a:latin typeface="Arial"/>
                <a:cs typeface="Arial"/>
              </a:rPr>
              <a:t>Gray</a:t>
            </a:r>
            <a:endParaRPr sz="2000">
              <a:latin typeface="Arial"/>
              <a:cs typeface="Arial"/>
            </a:endParaRPr>
          </a:p>
        </p:txBody>
      </p:sp>
      <p:sp>
        <p:nvSpPr>
          <p:cNvPr id="16" name="object 16"/>
          <p:cNvSpPr txBox="1"/>
          <p:nvPr/>
        </p:nvSpPr>
        <p:spPr>
          <a:xfrm>
            <a:off x="7546340" y="5056885"/>
            <a:ext cx="6477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Clyde</a:t>
            </a:r>
            <a:endParaRPr sz="1800">
              <a:latin typeface="Arial"/>
              <a:cs typeface="Arial"/>
            </a:endParaRPr>
          </a:p>
        </p:txBody>
      </p:sp>
      <p:sp>
        <p:nvSpPr>
          <p:cNvPr id="17" name="object 1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1" name="Title 20">
            <a:extLst>
              <a:ext uri="{FF2B5EF4-FFF2-40B4-BE49-F238E27FC236}">
                <a16:creationId xmlns:a16="http://schemas.microsoft.com/office/drawing/2014/main" id="{716D4C30-6111-441D-9F25-D53C80CAAD0C}"/>
              </a:ext>
            </a:extLst>
          </p:cNvPr>
          <p:cNvSpPr>
            <a:spLocks noGrp="1"/>
          </p:cNvSpPr>
          <p:nvPr>
            <p:ph type="title"/>
          </p:nvPr>
        </p:nvSpPr>
        <p:spPr/>
        <p:txBody>
          <a:bodyPr/>
          <a:lstStyle/>
          <a:p>
            <a:r>
              <a:rPr lang="en-US" b="0" spc="-5">
                <a:latin typeface="Verdana"/>
                <a:cs typeface="Verdana"/>
              </a:rPr>
              <a:t>Biểu diễn của sự kế</a:t>
            </a:r>
            <a:r>
              <a:rPr lang="en-US" b="0" spc="-30">
                <a:latin typeface="Verdana"/>
                <a:cs typeface="Verdana"/>
              </a:rPr>
              <a:t> </a:t>
            </a:r>
            <a:r>
              <a:rPr lang="en-US" b="0" spc="-5">
                <a:latin typeface="Verdana"/>
                <a:cs typeface="Verdana"/>
              </a:rPr>
              <a:t>thừa</a:t>
            </a:r>
            <a:endParaRPr lang="en-US" b="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53</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8001634" cy="2068830"/>
          </a:xfrm>
          <a:prstGeom prst="rect">
            <a:avLst/>
          </a:prstGeom>
        </p:spPr>
        <p:txBody>
          <a:bodyPr vert="horz" wrap="square" lIns="0" tIns="12700" rIns="0" bIns="0" rtlCol="0">
            <a:spAutoFit/>
          </a:bodyPr>
          <a:lstStyle/>
          <a:p>
            <a:pPr marL="298450" marR="347345" indent="-285750">
              <a:lnSpc>
                <a:spcPct val="100000"/>
              </a:lnSpc>
              <a:spcBef>
                <a:spcPts val="100"/>
              </a:spcBef>
              <a:buClr>
                <a:srgbClr val="CC9A00"/>
              </a:buClr>
              <a:buSzPct val="64583"/>
              <a:buFont typeface="Wingdings"/>
              <a:buChar char=""/>
              <a:tabLst>
                <a:tab pos="297815" algn="l"/>
                <a:tab pos="298450" algn="l"/>
              </a:tabLst>
            </a:pPr>
            <a:r>
              <a:rPr sz="2400" b="1" spc="-5" dirty="0">
                <a:latin typeface="Arial"/>
                <a:cs typeface="Arial"/>
              </a:rPr>
              <a:t>Cấu trúc cây (tree structure) </a:t>
            </a:r>
            <a:r>
              <a:rPr sz="2400" b="1" dirty="0">
                <a:latin typeface="Arial"/>
                <a:cs typeface="Arial"/>
              </a:rPr>
              <a:t>biểu </a:t>
            </a:r>
            <a:r>
              <a:rPr sz="2400" b="1" spc="-5" dirty="0">
                <a:latin typeface="Arial"/>
                <a:cs typeface="Arial"/>
              </a:rPr>
              <a:t>diễn các quan hệ  kế</a:t>
            </a:r>
            <a:r>
              <a:rPr sz="2400" b="1" spc="-10" dirty="0">
                <a:latin typeface="Arial"/>
                <a:cs typeface="Arial"/>
              </a:rPr>
              <a:t> </a:t>
            </a:r>
            <a:r>
              <a:rPr sz="2400" b="1" spc="-5" dirty="0">
                <a:latin typeface="Arial"/>
                <a:cs typeface="Arial"/>
              </a:rPr>
              <a:t>thừa</a:t>
            </a:r>
            <a:endParaRPr sz="2400">
              <a:latin typeface="Arial"/>
              <a:cs typeface="Arial"/>
            </a:endParaRPr>
          </a:p>
          <a:p>
            <a:pPr marL="681990" marR="5080" lvl="1" indent="-325755">
              <a:lnSpc>
                <a:spcPct val="100000"/>
              </a:lnSpc>
              <a:spcBef>
                <a:spcPts val="1205"/>
              </a:spcBef>
              <a:buClr>
                <a:srgbClr val="3B822F"/>
              </a:buClr>
              <a:buSzPct val="59090"/>
              <a:buFont typeface="Wingdings"/>
              <a:buChar char=""/>
              <a:tabLst>
                <a:tab pos="681990" algn="l"/>
                <a:tab pos="682625" algn="l"/>
              </a:tabLst>
            </a:pPr>
            <a:r>
              <a:rPr sz="2200" dirty="0">
                <a:latin typeface="Arial"/>
                <a:cs typeface="Arial"/>
              </a:rPr>
              <a:t>Các </a:t>
            </a:r>
            <a:r>
              <a:rPr sz="2200" spc="-5" dirty="0">
                <a:latin typeface="Arial"/>
                <a:cs typeface="Arial"/>
              </a:rPr>
              <a:t>kết luận </a:t>
            </a:r>
            <a:r>
              <a:rPr sz="2200" dirty="0">
                <a:latin typeface="Arial"/>
                <a:cs typeface="Arial"/>
              </a:rPr>
              <a:t>được </a:t>
            </a:r>
            <a:r>
              <a:rPr sz="2200" spc="-5" dirty="0">
                <a:latin typeface="Arial"/>
                <a:cs typeface="Arial"/>
              </a:rPr>
              <a:t>đưa ra, bằng cách áp dụng bắc cầu </a:t>
            </a:r>
            <a:r>
              <a:rPr sz="2200" dirty="0">
                <a:latin typeface="Arial"/>
                <a:cs typeface="Arial"/>
              </a:rPr>
              <a:t>các  </a:t>
            </a:r>
            <a:r>
              <a:rPr sz="2200" spc="-5" dirty="0">
                <a:latin typeface="Arial"/>
                <a:cs typeface="Arial"/>
              </a:rPr>
              <a:t>quan </a:t>
            </a:r>
            <a:r>
              <a:rPr sz="2200" dirty="0">
                <a:latin typeface="Arial"/>
                <a:cs typeface="Arial"/>
              </a:rPr>
              <a:t>hệ kế </a:t>
            </a:r>
            <a:r>
              <a:rPr sz="2200" spc="-5" dirty="0">
                <a:latin typeface="Arial"/>
                <a:cs typeface="Arial"/>
              </a:rPr>
              <a:t>thừa đối </a:t>
            </a:r>
            <a:r>
              <a:rPr sz="2200" dirty="0">
                <a:latin typeface="Arial"/>
                <a:cs typeface="Arial"/>
              </a:rPr>
              <a:t>với </a:t>
            </a:r>
            <a:r>
              <a:rPr sz="2200" spc="-5" dirty="0">
                <a:latin typeface="Arial"/>
                <a:cs typeface="Arial"/>
              </a:rPr>
              <a:t>tất </a:t>
            </a:r>
            <a:r>
              <a:rPr sz="2200" dirty="0">
                <a:latin typeface="Arial"/>
                <a:cs typeface="Arial"/>
              </a:rPr>
              <a:t>cả các</a:t>
            </a:r>
            <a:r>
              <a:rPr sz="2200" spc="-15" dirty="0">
                <a:latin typeface="Arial"/>
                <a:cs typeface="Arial"/>
              </a:rPr>
              <a:t> </a:t>
            </a:r>
            <a:r>
              <a:rPr sz="2200" spc="-5" dirty="0">
                <a:latin typeface="Arial"/>
                <a:cs typeface="Arial"/>
              </a:rPr>
              <a:t>hướng</a:t>
            </a:r>
            <a:endParaRPr sz="2200">
              <a:latin typeface="Arial"/>
              <a:cs typeface="Arial"/>
            </a:endParaRPr>
          </a:p>
          <a:p>
            <a:pPr marL="681990" lvl="1" indent="-325755">
              <a:lnSpc>
                <a:spcPct val="100000"/>
              </a:lnSpc>
              <a:spcBef>
                <a:spcPts val="1200"/>
              </a:spcBef>
              <a:buClr>
                <a:srgbClr val="3B822F"/>
              </a:buClr>
              <a:buSzPct val="59090"/>
              <a:buFont typeface="Wingdings"/>
              <a:buChar char=""/>
              <a:tabLst>
                <a:tab pos="681990" algn="l"/>
                <a:tab pos="682625" algn="l"/>
              </a:tabLst>
            </a:pPr>
            <a:r>
              <a:rPr sz="2200" dirty="0">
                <a:latin typeface="Arial"/>
                <a:cs typeface="Arial"/>
              </a:rPr>
              <a:t>Xét </a:t>
            </a:r>
            <a:r>
              <a:rPr sz="2200" spc="-5" dirty="0">
                <a:latin typeface="Arial"/>
                <a:cs typeface="Arial"/>
              </a:rPr>
              <a:t>đến tất </a:t>
            </a:r>
            <a:r>
              <a:rPr sz="2200" dirty="0">
                <a:latin typeface="Arial"/>
                <a:cs typeface="Arial"/>
              </a:rPr>
              <a:t>cả các nút có liên kết trong</a:t>
            </a:r>
            <a:r>
              <a:rPr sz="2200" spc="-40" dirty="0">
                <a:latin typeface="Arial"/>
                <a:cs typeface="Arial"/>
              </a:rPr>
              <a:t> </a:t>
            </a:r>
            <a:r>
              <a:rPr sz="2200" spc="-5" dirty="0">
                <a:latin typeface="Arial"/>
                <a:cs typeface="Arial"/>
              </a:rPr>
              <a:t>mạng</a:t>
            </a:r>
            <a:endParaRPr sz="22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7F994354-ED8E-41B0-B84A-DAA06496F570}"/>
              </a:ext>
            </a:extLst>
          </p:cNvPr>
          <p:cNvSpPr>
            <a:spLocks noGrp="1"/>
          </p:cNvSpPr>
          <p:nvPr>
            <p:ph type="title"/>
          </p:nvPr>
        </p:nvSpPr>
        <p:spPr/>
        <p:txBody>
          <a:bodyPr/>
          <a:lstStyle/>
          <a:p>
            <a:r>
              <a:rPr lang="en-US" b="0" spc="-5">
                <a:latin typeface="Verdana"/>
                <a:cs typeface="Verdana"/>
              </a:rPr>
              <a:t>Mạng kế thừa</a:t>
            </a:r>
            <a:r>
              <a:rPr lang="en-US" b="0" spc="-55">
                <a:latin typeface="Verdana"/>
                <a:cs typeface="Verdana"/>
              </a:rPr>
              <a:t> </a:t>
            </a:r>
            <a:r>
              <a:rPr lang="en-US" b="0" spc="-5">
                <a:latin typeface="Verdana"/>
                <a:cs typeface="Verdana"/>
              </a:rPr>
              <a:t>(1)</a:t>
            </a:r>
            <a:endParaRPr lang="en-US" b="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 name="object 2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9" name="object 2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54</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3108325" cy="1488440"/>
          </a:xfrm>
          <a:prstGeom prst="rect">
            <a:avLst/>
          </a:prstGeom>
        </p:spPr>
        <p:txBody>
          <a:bodyPr vert="horz" wrap="square" lIns="0" tIns="12700" rIns="0" bIns="0" rtlCol="0">
            <a:spAutoFit/>
          </a:bodyPr>
          <a:lstStyle/>
          <a:p>
            <a:pPr marL="354965" marR="5080" indent="-342900">
              <a:lnSpc>
                <a:spcPct val="100000"/>
              </a:lnSpc>
              <a:spcBef>
                <a:spcPts val="100"/>
              </a:spcBef>
              <a:buClr>
                <a:srgbClr val="CC9A00"/>
              </a:buClr>
              <a:buSzPct val="64583"/>
              <a:buFont typeface="Wingdings"/>
              <a:buChar char=""/>
              <a:tabLst>
                <a:tab pos="354965" algn="l"/>
                <a:tab pos="355600" algn="l"/>
              </a:tabLst>
            </a:pPr>
            <a:r>
              <a:rPr sz="2400" b="1" spc="-5" dirty="0">
                <a:latin typeface="Arial"/>
                <a:cs typeface="Arial"/>
              </a:rPr>
              <a:t>Cấu trúc lưới  (Lattice structure)  biểu diễn các</a:t>
            </a:r>
            <a:r>
              <a:rPr sz="2400" b="1" spc="-90" dirty="0">
                <a:latin typeface="Arial"/>
                <a:cs typeface="Arial"/>
              </a:rPr>
              <a:t> </a:t>
            </a:r>
            <a:r>
              <a:rPr sz="2400" b="1" spc="-5" dirty="0">
                <a:latin typeface="Arial"/>
                <a:cs typeface="Arial"/>
              </a:rPr>
              <a:t>quan  hệ kế</a:t>
            </a:r>
            <a:r>
              <a:rPr sz="2400" b="1" spc="-15" dirty="0">
                <a:latin typeface="Arial"/>
                <a:cs typeface="Arial"/>
              </a:rPr>
              <a:t> </a:t>
            </a:r>
            <a:r>
              <a:rPr sz="2400" b="1" spc="-5" dirty="0">
                <a:latin typeface="Arial"/>
                <a:cs typeface="Arial"/>
              </a:rPr>
              <a:t>thừa</a:t>
            </a:r>
            <a:endParaRPr sz="2400">
              <a:latin typeface="Arial"/>
              <a:cs typeface="Arial"/>
            </a:endParaRPr>
          </a:p>
        </p:txBody>
      </p:sp>
      <p:sp>
        <p:nvSpPr>
          <p:cNvPr id="8" name="object 8"/>
          <p:cNvSpPr txBox="1"/>
          <p:nvPr/>
        </p:nvSpPr>
        <p:spPr>
          <a:xfrm>
            <a:off x="6936740" y="2312923"/>
            <a:ext cx="1089025" cy="299720"/>
          </a:xfrm>
          <a:prstGeom prst="rect">
            <a:avLst/>
          </a:prstGeom>
        </p:spPr>
        <p:txBody>
          <a:bodyPr vert="horz" wrap="square" lIns="0" tIns="12700" rIns="0" bIns="0" rtlCol="0">
            <a:spAutoFit/>
          </a:bodyPr>
          <a:lstStyle/>
          <a:p>
            <a:pPr marL="12700">
              <a:lnSpc>
                <a:spcPct val="100000"/>
              </a:lnSpc>
              <a:spcBef>
                <a:spcPts val="100"/>
              </a:spcBef>
            </a:pPr>
            <a:r>
              <a:rPr sz="1800" b="1" spc="-135" dirty="0">
                <a:latin typeface="Arial"/>
                <a:cs typeface="Arial"/>
              </a:rPr>
              <a:t>T</a:t>
            </a:r>
            <a:r>
              <a:rPr sz="1800" b="1" dirty="0">
                <a:latin typeface="Arial"/>
                <a:cs typeface="Arial"/>
              </a:rPr>
              <a:t>ax-payer</a:t>
            </a:r>
            <a:endParaRPr sz="1800">
              <a:latin typeface="Arial"/>
              <a:cs typeface="Arial"/>
            </a:endParaRPr>
          </a:p>
        </p:txBody>
      </p:sp>
      <p:sp>
        <p:nvSpPr>
          <p:cNvPr id="9" name="object 9"/>
          <p:cNvSpPr/>
          <p:nvPr/>
        </p:nvSpPr>
        <p:spPr>
          <a:xfrm>
            <a:off x="5181600" y="2666999"/>
            <a:ext cx="3429000" cy="727710"/>
          </a:xfrm>
          <a:custGeom>
            <a:avLst/>
            <a:gdLst/>
            <a:ahLst/>
            <a:cxnLst/>
            <a:rect l="l" t="t" r="r" b="b"/>
            <a:pathLst>
              <a:path w="3429000" h="727710">
                <a:moveTo>
                  <a:pt x="454621" y="727710"/>
                </a:moveTo>
                <a:lnTo>
                  <a:pt x="112788" y="517131"/>
                </a:lnTo>
                <a:lnTo>
                  <a:pt x="128778" y="491490"/>
                </a:lnTo>
                <a:lnTo>
                  <a:pt x="0" y="457200"/>
                </a:lnTo>
                <a:lnTo>
                  <a:pt x="88392" y="556260"/>
                </a:lnTo>
                <a:lnTo>
                  <a:pt x="93726" y="547712"/>
                </a:lnTo>
                <a:lnTo>
                  <a:pt x="104292" y="530758"/>
                </a:lnTo>
                <a:lnTo>
                  <a:pt x="424434" y="727710"/>
                </a:lnTo>
                <a:lnTo>
                  <a:pt x="454621" y="727710"/>
                </a:lnTo>
                <a:close/>
              </a:path>
              <a:path w="3429000" h="727710">
                <a:moveTo>
                  <a:pt x="1137831" y="727710"/>
                </a:moveTo>
                <a:lnTo>
                  <a:pt x="1055700" y="189738"/>
                </a:lnTo>
                <a:lnTo>
                  <a:pt x="1085850" y="185166"/>
                </a:lnTo>
                <a:lnTo>
                  <a:pt x="1028700" y="65532"/>
                </a:lnTo>
                <a:lnTo>
                  <a:pt x="1010412" y="196596"/>
                </a:lnTo>
                <a:lnTo>
                  <a:pt x="1038606" y="192328"/>
                </a:lnTo>
                <a:lnTo>
                  <a:pt x="1040447" y="192049"/>
                </a:lnTo>
                <a:lnTo>
                  <a:pt x="1121765" y="727710"/>
                </a:lnTo>
                <a:lnTo>
                  <a:pt x="1137831" y="727710"/>
                </a:lnTo>
                <a:close/>
              </a:path>
              <a:path w="3429000" h="727710">
                <a:moveTo>
                  <a:pt x="2325624" y="127254"/>
                </a:moveTo>
                <a:lnTo>
                  <a:pt x="2288286" y="0"/>
                </a:lnTo>
                <a:lnTo>
                  <a:pt x="2249424" y="127254"/>
                </a:lnTo>
                <a:lnTo>
                  <a:pt x="2279853" y="127254"/>
                </a:lnTo>
                <a:lnTo>
                  <a:pt x="2277935" y="727710"/>
                </a:lnTo>
                <a:lnTo>
                  <a:pt x="2293937" y="727710"/>
                </a:lnTo>
                <a:lnTo>
                  <a:pt x="2295855" y="127254"/>
                </a:lnTo>
                <a:lnTo>
                  <a:pt x="2325624" y="127254"/>
                </a:lnTo>
                <a:close/>
              </a:path>
              <a:path w="3429000" h="727710">
                <a:moveTo>
                  <a:pt x="3429000" y="0"/>
                </a:moveTo>
                <a:lnTo>
                  <a:pt x="3317748" y="71628"/>
                </a:lnTo>
                <a:lnTo>
                  <a:pt x="3340900" y="91744"/>
                </a:lnTo>
                <a:lnTo>
                  <a:pt x="2795917" y="727710"/>
                </a:lnTo>
                <a:lnTo>
                  <a:pt x="2816098" y="727710"/>
                </a:lnTo>
                <a:lnTo>
                  <a:pt x="3352749" y="102031"/>
                </a:lnTo>
                <a:lnTo>
                  <a:pt x="3361182" y="109347"/>
                </a:lnTo>
                <a:lnTo>
                  <a:pt x="3375660" y="121920"/>
                </a:lnTo>
                <a:lnTo>
                  <a:pt x="3429000" y="0"/>
                </a:lnTo>
                <a:close/>
              </a:path>
            </a:pathLst>
          </a:custGeom>
          <a:solidFill>
            <a:srgbClr val="000000"/>
          </a:solidFill>
        </p:spPr>
        <p:txBody>
          <a:bodyPr wrap="square" lIns="0" tIns="0" rIns="0" bIns="0" rtlCol="0"/>
          <a:lstStyle/>
          <a:p>
            <a:endParaRPr/>
          </a:p>
        </p:txBody>
      </p:sp>
      <p:sp>
        <p:nvSpPr>
          <p:cNvPr id="10" name="object 10"/>
          <p:cNvSpPr txBox="1"/>
          <p:nvPr/>
        </p:nvSpPr>
        <p:spPr>
          <a:xfrm>
            <a:off x="8308340" y="2312923"/>
            <a:ext cx="9150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Salaried</a:t>
            </a:r>
            <a:endParaRPr sz="1800">
              <a:latin typeface="Arial"/>
              <a:cs typeface="Arial"/>
            </a:endParaRPr>
          </a:p>
        </p:txBody>
      </p:sp>
      <p:sp>
        <p:nvSpPr>
          <p:cNvPr id="11" name="object 11"/>
          <p:cNvSpPr txBox="1"/>
          <p:nvPr/>
        </p:nvSpPr>
        <p:spPr>
          <a:xfrm>
            <a:off x="4498340" y="2770123"/>
            <a:ext cx="11055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Academic</a:t>
            </a:r>
            <a:endParaRPr sz="1800">
              <a:latin typeface="Arial"/>
              <a:cs typeface="Arial"/>
            </a:endParaRPr>
          </a:p>
        </p:txBody>
      </p:sp>
      <p:sp>
        <p:nvSpPr>
          <p:cNvPr id="12" name="object 12"/>
          <p:cNvSpPr txBox="1"/>
          <p:nvPr/>
        </p:nvSpPr>
        <p:spPr>
          <a:xfrm>
            <a:off x="5793740" y="2282444"/>
            <a:ext cx="902335" cy="787400"/>
          </a:xfrm>
          <a:prstGeom prst="rect">
            <a:avLst/>
          </a:prstGeom>
        </p:spPr>
        <p:txBody>
          <a:bodyPr vert="horz" wrap="square" lIns="0" tIns="119380" rIns="0" bIns="0" rtlCol="0">
            <a:spAutoFit/>
          </a:bodyPr>
          <a:lstStyle/>
          <a:p>
            <a:pPr marL="12700">
              <a:lnSpc>
                <a:spcPct val="100000"/>
              </a:lnSpc>
              <a:spcBef>
                <a:spcPts val="940"/>
              </a:spcBef>
            </a:pPr>
            <a:r>
              <a:rPr sz="1800" b="1" spc="-5" dirty="0">
                <a:latin typeface="Arial"/>
                <a:cs typeface="Arial"/>
              </a:rPr>
              <a:t>Illiterate</a:t>
            </a:r>
            <a:endParaRPr sz="1800">
              <a:latin typeface="Arial"/>
              <a:cs typeface="Arial"/>
            </a:endParaRPr>
          </a:p>
          <a:p>
            <a:pPr marL="302260">
              <a:lnSpc>
                <a:spcPct val="100000"/>
              </a:lnSpc>
              <a:spcBef>
                <a:spcPts val="840"/>
              </a:spcBef>
              <a:tabLst>
                <a:tab pos="758825" algn="l"/>
              </a:tabLst>
            </a:pPr>
            <a:r>
              <a:rPr sz="1800" b="1" u="heavy" dirty="0">
                <a:uFill>
                  <a:solidFill>
                    <a:srgbClr val="000000"/>
                  </a:solidFill>
                </a:uFill>
                <a:latin typeface="Arial"/>
                <a:cs typeface="Arial"/>
              </a:rPr>
              <a:t> 	</a:t>
            </a:r>
            <a:endParaRPr sz="1800">
              <a:latin typeface="Arial"/>
              <a:cs typeface="Arial"/>
            </a:endParaRPr>
          </a:p>
        </p:txBody>
      </p:sp>
      <p:sp>
        <p:nvSpPr>
          <p:cNvPr id="13" name="object 13"/>
          <p:cNvSpPr/>
          <p:nvPr/>
        </p:nvSpPr>
        <p:spPr>
          <a:xfrm>
            <a:off x="6047232" y="2670809"/>
            <a:ext cx="604520" cy="723900"/>
          </a:xfrm>
          <a:custGeom>
            <a:avLst/>
            <a:gdLst/>
            <a:ahLst/>
            <a:cxnLst/>
            <a:rect l="l" t="t" r="r" b="b"/>
            <a:pathLst>
              <a:path w="604520" h="723900">
                <a:moveTo>
                  <a:pt x="12954" y="322326"/>
                </a:moveTo>
                <a:lnTo>
                  <a:pt x="0" y="322326"/>
                </a:lnTo>
                <a:lnTo>
                  <a:pt x="0" y="373380"/>
                </a:lnTo>
                <a:lnTo>
                  <a:pt x="12192" y="372668"/>
                </a:lnTo>
                <a:lnTo>
                  <a:pt x="12954" y="372618"/>
                </a:lnTo>
                <a:lnTo>
                  <a:pt x="12954" y="362712"/>
                </a:lnTo>
                <a:lnTo>
                  <a:pt x="12192" y="337566"/>
                </a:lnTo>
                <a:lnTo>
                  <a:pt x="12954" y="322326"/>
                </a:lnTo>
                <a:close/>
              </a:path>
              <a:path w="604520" h="723900">
                <a:moveTo>
                  <a:pt x="19812" y="461010"/>
                </a:moveTo>
                <a:lnTo>
                  <a:pt x="17526" y="439674"/>
                </a:lnTo>
                <a:lnTo>
                  <a:pt x="15240" y="413766"/>
                </a:lnTo>
                <a:lnTo>
                  <a:pt x="15240" y="410718"/>
                </a:lnTo>
                <a:lnTo>
                  <a:pt x="2286" y="411480"/>
                </a:lnTo>
                <a:lnTo>
                  <a:pt x="2286" y="414528"/>
                </a:lnTo>
                <a:lnTo>
                  <a:pt x="4572" y="441198"/>
                </a:lnTo>
                <a:lnTo>
                  <a:pt x="6858" y="462534"/>
                </a:lnTo>
                <a:lnTo>
                  <a:pt x="19812" y="461010"/>
                </a:lnTo>
                <a:close/>
              </a:path>
              <a:path w="604520" h="723900">
                <a:moveTo>
                  <a:pt x="20574" y="234696"/>
                </a:moveTo>
                <a:lnTo>
                  <a:pt x="7620" y="232410"/>
                </a:lnTo>
                <a:lnTo>
                  <a:pt x="6096" y="243840"/>
                </a:lnTo>
                <a:lnTo>
                  <a:pt x="3810" y="265938"/>
                </a:lnTo>
                <a:lnTo>
                  <a:pt x="2286" y="283464"/>
                </a:lnTo>
                <a:lnTo>
                  <a:pt x="14478" y="284988"/>
                </a:lnTo>
                <a:lnTo>
                  <a:pt x="16002" y="267462"/>
                </a:lnTo>
                <a:lnTo>
                  <a:pt x="19050" y="244602"/>
                </a:lnTo>
                <a:lnTo>
                  <a:pt x="20574" y="234696"/>
                </a:lnTo>
                <a:close/>
              </a:path>
              <a:path w="604520" h="723900">
                <a:moveTo>
                  <a:pt x="33528" y="547878"/>
                </a:moveTo>
                <a:lnTo>
                  <a:pt x="28194" y="521208"/>
                </a:lnTo>
                <a:lnTo>
                  <a:pt x="24384" y="498348"/>
                </a:lnTo>
                <a:lnTo>
                  <a:pt x="12192" y="500634"/>
                </a:lnTo>
                <a:lnTo>
                  <a:pt x="20574" y="550164"/>
                </a:lnTo>
                <a:lnTo>
                  <a:pt x="33528" y="547878"/>
                </a:lnTo>
                <a:close/>
              </a:path>
              <a:path w="604520" h="723900">
                <a:moveTo>
                  <a:pt x="37338" y="723138"/>
                </a:moveTo>
                <a:lnTo>
                  <a:pt x="25146" y="720852"/>
                </a:lnTo>
                <a:lnTo>
                  <a:pt x="24536" y="723900"/>
                </a:lnTo>
                <a:lnTo>
                  <a:pt x="37198" y="723900"/>
                </a:lnTo>
                <a:lnTo>
                  <a:pt x="37338" y="723138"/>
                </a:lnTo>
                <a:close/>
              </a:path>
              <a:path w="604520" h="723900">
                <a:moveTo>
                  <a:pt x="40386" y="149352"/>
                </a:moveTo>
                <a:lnTo>
                  <a:pt x="28194" y="145542"/>
                </a:lnTo>
                <a:lnTo>
                  <a:pt x="23622" y="160782"/>
                </a:lnTo>
                <a:lnTo>
                  <a:pt x="14478" y="195072"/>
                </a:lnTo>
                <a:lnTo>
                  <a:pt x="27432" y="197358"/>
                </a:lnTo>
                <a:lnTo>
                  <a:pt x="30480" y="183642"/>
                </a:lnTo>
                <a:lnTo>
                  <a:pt x="35814" y="164592"/>
                </a:lnTo>
                <a:lnTo>
                  <a:pt x="40386" y="149352"/>
                </a:lnTo>
                <a:close/>
              </a:path>
              <a:path w="604520" h="723900">
                <a:moveTo>
                  <a:pt x="73152" y="699516"/>
                </a:moveTo>
                <a:lnTo>
                  <a:pt x="70104" y="690372"/>
                </a:lnTo>
                <a:lnTo>
                  <a:pt x="61722" y="662178"/>
                </a:lnTo>
                <a:lnTo>
                  <a:pt x="58674" y="651510"/>
                </a:lnTo>
                <a:lnTo>
                  <a:pt x="50546" y="653542"/>
                </a:lnTo>
                <a:lnTo>
                  <a:pt x="53213" y="639978"/>
                </a:lnTo>
                <a:lnTo>
                  <a:pt x="54102" y="639318"/>
                </a:lnTo>
                <a:lnTo>
                  <a:pt x="54102" y="635508"/>
                </a:lnTo>
                <a:lnTo>
                  <a:pt x="48729" y="634568"/>
                </a:lnTo>
                <a:lnTo>
                  <a:pt x="53340" y="633984"/>
                </a:lnTo>
                <a:lnTo>
                  <a:pt x="46482" y="605790"/>
                </a:lnTo>
                <a:lnTo>
                  <a:pt x="41148" y="585216"/>
                </a:lnTo>
                <a:lnTo>
                  <a:pt x="28956" y="588264"/>
                </a:lnTo>
                <a:lnTo>
                  <a:pt x="33528" y="608838"/>
                </a:lnTo>
                <a:lnTo>
                  <a:pt x="40728" y="635508"/>
                </a:lnTo>
                <a:lnTo>
                  <a:pt x="32004" y="683514"/>
                </a:lnTo>
                <a:lnTo>
                  <a:pt x="44196" y="685800"/>
                </a:lnTo>
                <a:lnTo>
                  <a:pt x="48704" y="662901"/>
                </a:lnTo>
                <a:lnTo>
                  <a:pt x="49530" y="665988"/>
                </a:lnTo>
                <a:lnTo>
                  <a:pt x="57912" y="694182"/>
                </a:lnTo>
                <a:lnTo>
                  <a:pt x="61722" y="703326"/>
                </a:lnTo>
                <a:lnTo>
                  <a:pt x="73152" y="699516"/>
                </a:lnTo>
                <a:close/>
              </a:path>
              <a:path w="604520" h="723900">
                <a:moveTo>
                  <a:pt x="79248" y="71628"/>
                </a:moveTo>
                <a:lnTo>
                  <a:pt x="69342" y="64008"/>
                </a:lnTo>
                <a:lnTo>
                  <a:pt x="68580" y="64770"/>
                </a:lnTo>
                <a:lnTo>
                  <a:pt x="59436" y="78486"/>
                </a:lnTo>
                <a:lnTo>
                  <a:pt x="51054" y="92964"/>
                </a:lnTo>
                <a:lnTo>
                  <a:pt x="43434" y="108204"/>
                </a:lnTo>
                <a:lnTo>
                  <a:pt x="42672" y="108966"/>
                </a:lnTo>
                <a:lnTo>
                  <a:pt x="54102" y="114300"/>
                </a:lnTo>
                <a:lnTo>
                  <a:pt x="54864" y="113538"/>
                </a:lnTo>
                <a:lnTo>
                  <a:pt x="62484" y="98298"/>
                </a:lnTo>
                <a:lnTo>
                  <a:pt x="70866" y="84582"/>
                </a:lnTo>
                <a:lnTo>
                  <a:pt x="79248" y="71628"/>
                </a:lnTo>
                <a:close/>
              </a:path>
              <a:path w="604520" h="723900">
                <a:moveTo>
                  <a:pt x="145542" y="19812"/>
                </a:moveTo>
                <a:lnTo>
                  <a:pt x="140970" y="7620"/>
                </a:lnTo>
                <a:lnTo>
                  <a:pt x="128854" y="12890"/>
                </a:lnTo>
                <a:lnTo>
                  <a:pt x="117322" y="19329"/>
                </a:lnTo>
                <a:lnTo>
                  <a:pt x="106362" y="26784"/>
                </a:lnTo>
                <a:lnTo>
                  <a:pt x="96012" y="35052"/>
                </a:lnTo>
                <a:lnTo>
                  <a:pt x="103632" y="44958"/>
                </a:lnTo>
                <a:lnTo>
                  <a:pt x="113245" y="37236"/>
                </a:lnTo>
                <a:lnTo>
                  <a:pt x="123329" y="30226"/>
                </a:lnTo>
                <a:lnTo>
                  <a:pt x="134035" y="24307"/>
                </a:lnTo>
                <a:lnTo>
                  <a:pt x="145542" y="19812"/>
                </a:lnTo>
                <a:close/>
              </a:path>
              <a:path w="604520" h="723900">
                <a:moveTo>
                  <a:pt x="232410" y="6858"/>
                </a:moveTo>
                <a:lnTo>
                  <a:pt x="231648" y="6096"/>
                </a:lnTo>
                <a:lnTo>
                  <a:pt x="224028" y="4572"/>
                </a:lnTo>
                <a:lnTo>
                  <a:pt x="216408" y="2286"/>
                </a:lnTo>
                <a:lnTo>
                  <a:pt x="208788" y="1524"/>
                </a:lnTo>
                <a:lnTo>
                  <a:pt x="201930" y="762"/>
                </a:lnTo>
                <a:lnTo>
                  <a:pt x="194310" y="0"/>
                </a:lnTo>
                <a:lnTo>
                  <a:pt x="179832" y="0"/>
                </a:lnTo>
                <a:lnTo>
                  <a:pt x="180594" y="12192"/>
                </a:lnTo>
                <a:lnTo>
                  <a:pt x="187667" y="12128"/>
                </a:lnTo>
                <a:lnTo>
                  <a:pt x="193929" y="12280"/>
                </a:lnTo>
                <a:lnTo>
                  <a:pt x="200190" y="12776"/>
                </a:lnTo>
                <a:lnTo>
                  <a:pt x="207264" y="13716"/>
                </a:lnTo>
                <a:lnTo>
                  <a:pt x="227838" y="18288"/>
                </a:lnTo>
                <a:lnTo>
                  <a:pt x="228600" y="18288"/>
                </a:lnTo>
                <a:lnTo>
                  <a:pt x="232410" y="6858"/>
                </a:lnTo>
                <a:close/>
              </a:path>
              <a:path w="604520" h="723900">
                <a:moveTo>
                  <a:pt x="312420" y="48768"/>
                </a:moveTo>
                <a:lnTo>
                  <a:pt x="301345" y="41198"/>
                </a:lnTo>
                <a:lnTo>
                  <a:pt x="291350" y="34277"/>
                </a:lnTo>
                <a:lnTo>
                  <a:pt x="281025" y="27736"/>
                </a:lnTo>
                <a:lnTo>
                  <a:pt x="268986" y="21336"/>
                </a:lnTo>
                <a:lnTo>
                  <a:pt x="262890" y="32766"/>
                </a:lnTo>
                <a:lnTo>
                  <a:pt x="273418" y="38709"/>
                </a:lnTo>
                <a:lnTo>
                  <a:pt x="284441" y="45300"/>
                </a:lnTo>
                <a:lnTo>
                  <a:pt x="295160" y="52298"/>
                </a:lnTo>
                <a:lnTo>
                  <a:pt x="304800" y="59436"/>
                </a:lnTo>
                <a:lnTo>
                  <a:pt x="312420" y="48768"/>
                </a:lnTo>
                <a:close/>
              </a:path>
              <a:path w="604520" h="723900">
                <a:moveTo>
                  <a:pt x="377190" y="111252"/>
                </a:moveTo>
                <a:lnTo>
                  <a:pt x="370332" y="102870"/>
                </a:lnTo>
                <a:lnTo>
                  <a:pt x="341376" y="73914"/>
                </a:lnTo>
                <a:lnTo>
                  <a:pt x="332994" y="83820"/>
                </a:lnTo>
                <a:lnTo>
                  <a:pt x="347472" y="97536"/>
                </a:lnTo>
                <a:lnTo>
                  <a:pt x="361188" y="112014"/>
                </a:lnTo>
                <a:lnTo>
                  <a:pt x="368046" y="119634"/>
                </a:lnTo>
                <a:lnTo>
                  <a:pt x="377190" y="111252"/>
                </a:lnTo>
                <a:close/>
              </a:path>
              <a:path w="604520" h="723900">
                <a:moveTo>
                  <a:pt x="431292" y="182880"/>
                </a:moveTo>
                <a:lnTo>
                  <a:pt x="425958" y="173736"/>
                </a:lnTo>
                <a:lnTo>
                  <a:pt x="412242" y="154686"/>
                </a:lnTo>
                <a:lnTo>
                  <a:pt x="401574" y="140970"/>
                </a:lnTo>
                <a:lnTo>
                  <a:pt x="391668" y="148590"/>
                </a:lnTo>
                <a:lnTo>
                  <a:pt x="402336" y="162306"/>
                </a:lnTo>
                <a:lnTo>
                  <a:pt x="415290" y="180594"/>
                </a:lnTo>
                <a:lnTo>
                  <a:pt x="421386" y="189738"/>
                </a:lnTo>
                <a:lnTo>
                  <a:pt x="431292" y="182880"/>
                </a:lnTo>
                <a:close/>
              </a:path>
              <a:path w="604520" h="723900">
                <a:moveTo>
                  <a:pt x="477012" y="259080"/>
                </a:moveTo>
                <a:lnTo>
                  <a:pt x="451866" y="214884"/>
                </a:lnTo>
                <a:lnTo>
                  <a:pt x="441198" y="221742"/>
                </a:lnTo>
                <a:lnTo>
                  <a:pt x="453390" y="242316"/>
                </a:lnTo>
                <a:lnTo>
                  <a:pt x="465582" y="265176"/>
                </a:lnTo>
                <a:lnTo>
                  <a:pt x="465582" y="265938"/>
                </a:lnTo>
                <a:lnTo>
                  <a:pt x="477012" y="259842"/>
                </a:lnTo>
                <a:lnTo>
                  <a:pt x="477012" y="259080"/>
                </a:lnTo>
                <a:close/>
              </a:path>
              <a:path w="604520" h="723900">
                <a:moveTo>
                  <a:pt x="515112" y="340614"/>
                </a:moveTo>
                <a:lnTo>
                  <a:pt x="511289" y="330708"/>
                </a:lnTo>
                <a:lnTo>
                  <a:pt x="499872" y="306324"/>
                </a:lnTo>
                <a:lnTo>
                  <a:pt x="494538" y="294132"/>
                </a:lnTo>
                <a:lnTo>
                  <a:pt x="483108" y="299466"/>
                </a:lnTo>
                <a:lnTo>
                  <a:pt x="488442" y="311658"/>
                </a:lnTo>
                <a:lnTo>
                  <a:pt x="499872" y="336042"/>
                </a:lnTo>
                <a:lnTo>
                  <a:pt x="503682" y="345186"/>
                </a:lnTo>
                <a:lnTo>
                  <a:pt x="515112" y="340614"/>
                </a:lnTo>
                <a:close/>
              </a:path>
              <a:path w="604520" h="723900">
                <a:moveTo>
                  <a:pt x="547116" y="424434"/>
                </a:moveTo>
                <a:lnTo>
                  <a:pt x="541782" y="409194"/>
                </a:lnTo>
                <a:lnTo>
                  <a:pt x="529590" y="376428"/>
                </a:lnTo>
                <a:lnTo>
                  <a:pt x="518160" y="381000"/>
                </a:lnTo>
                <a:lnTo>
                  <a:pt x="530339" y="413766"/>
                </a:lnTo>
                <a:lnTo>
                  <a:pt x="534924" y="428244"/>
                </a:lnTo>
                <a:lnTo>
                  <a:pt x="547116" y="424434"/>
                </a:lnTo>
                <a:close/>
              </a:path>
              <a:path w="604520" h="723900">
                <a:moveTo>
                  <a:pt x="556260" y="496824"/>
                </a:moveTo>
                <a:lnTo>
                  <a:pt x="555498" y="495300"/>
                </a:lnTo>
                <a:lnTo>
                  <a:pt x="555498" y="496824"/>
                </a:lnTo>
                <a:lnTo>
                  <a:pt x="556260" y="496824"/>
                </a:lnTo>
                <a:close/>
              </a:path>
              <a:path w="604520" h="723900">
                <a:moveTo>
                  <a:pt x="572262" y="509778"/>
                </a:moveTo>
                <a:lnTo>
                  <a:pt x="568439" y="493776"/>
                </a:lnTo>
                <a:lnTo>
                  <a:pt x="560070" y="464820"/>
                </a:lnTo>
                <a:lnTo>
                  <a:pt x="558546" y="460248"/>
                </a:lnTo>
                <a:lnTo>
                  <a:pt x="546341" y="464058"/>
                </a:lnTo>
                <a:lnTo>
                  <a:pt x="547865" y="468630"/>
                </a:lnTo>
                <a:lnTo>
                  <a:pt x="556260" y="496824"/>
                </a:lnTo>
                <a:lnTo>
                  <a:pt x="560070" y="512826"/>
                </a:lnTo>
                <a:lnTo>
                  <a:pt x="572262" y="509778"/>
                </a:lnTo>
                <a:close/>
              </a:path>
              <a:path w="604520" h="723900">
                <a:moveTo>
                  <a:pt x="591312" y="596646"/>
                </a:moveTo>
                <a:lnTo>
                  <a:pt x="588264" y="579882"/>
                </a:lnTo>
                <a:lnTo>
                  <a:pt x="582168" y="550926"/>
                </a:lnTo>
                <a:lnTo>
                  <a:pt x="581406" y="547116"/>
                </a:lnTo>
                <a:lnTo>
                  <a:pt x="569214" y="550164"/>
                </a:lnTo>
                <a:lnTo>
                  <a:pt x="569963" y="553974"/>
                </a:lnTo>
                <a:lnTo>
                  <a:pt x="576072" y="582168"/>
                </a:lnTo>
                <a:lnTo>
                  <a:pt x="579120" y="599694"/>
                </a:lnTo>
                <a:lnTo>
                  <a:pt x="591312" y="596646"/>
                </a:lnTo>
                <a:close/>
              </a:path>
              <a:path w="604520" h="723900">
                <a:moveTo>
                  <a:pt x="604266" y="685800"/>
                </a:moveTo>
                <a:lnTo>
                  <a:pt x="601967" y="662940"/>
                </a:lnTo>
                <a:lnTo>
                  <a:pt x="598170" y="635508"/>
                </a:lnTo>
                <a:lnTo>
                  <a:pt x="598170" y="634746"/>
                </a:lnTo>
                <a:lnTo>
                  <a:pt x="585216" y="637032"/>
                </a:lnTo>
                <a:lnTo>
                  <a:pt x="585216" y="637794"/>
                </a:lnTo>
                <a:lnTo>
                  <a:pt x="589013" y="664464"/>
                </a:lnTo>
                <a:lnTo>
                  <a:pt x="591312" y="686562"/>
                </a:lnTo>
                <a:lnTo>
                  <a:pt x="604266" y="685800"/>
                </a:lnTo>
                <a:close/>
              </a:path>
            </a:pathLst>
          </a:custGeom>
          <a:solidFill>
            <a:srgbClr val="000000"/>
          </a:solidFill>
        </p:spPr>
        <p:txBody>
          <a:bodyPr wrap="square" lIns="0" tIns="0" rIns="0" bIns="0" rtlCol="0"/>
          <a:lstStyle/>
          <a:p>
            <a:endParaRPr/>
          </a:p>
        </p:txBody>
      </p:sp>
      <p:sp>
        <p:nvSpPr>
          <p:cNvPr id="14" name="object 14"/>
          <p:cNvSpPr txBox="1"/>
          <p:nvPr/>
        </p:nvSpPr>
        <p:spPr>
          <a:xfrm>
            <a:off x="1337563" y="3393440"/>
            <a:ext cx="2651760" cy="1031875"/>
          </a:xfrm>
          <a:prstGeom prst="rect">
            <a:avLst/>
          </a:prstGeom>
        </p:spPr>
        <p:txBody>
          <a:bodyPr vert="horz" wrap="square" lIns="0" tIns="12700" rIns="0" bIns="0" rtlCol="0">
            <a:spAutoFit/>
          </a:bodyPr>
          <a:lstStyle/>
          <a:p>
            <a:pPr marL="337820" marR="5080" indent="-325755">
              <a:lnSpc>
                <a:spcPct val="100000"/>
              </a:lnSpc>
              <a:spcBef>
                <a:spcPts val="100"/>
              </a:spcBef>
              <a:buClr>
                <a:srgbClr val="3B822F"/>
              </a:buClr>
              <a:buSzPct val="59090"/>
              <a:buFont typeface="Wingdings"/>
              <a:buChar char=""/>
              <a:tabLst>
                <a:tab pos="337820" algn="l"/>
                <a:tab pos="338455" algn="l"/>
              </a:tabLst>
            </a:pPr>
            <a:r>
              <a:rPr sz="2200" spc="-5" dirty="0">
                <a:latin typeface="Arial"/>
                <a:cs typeface="Arial"/>
              </a:rPr>
              <a:t>Một nút con có</a:t>
            </a:r>
            <a:r>
              <a:rPr sz="2200" spc="-60" dirty="0">
                <a:latin typeface="Arial"/>
                <a:cs typeface="Arial"/>
              </a:rPr>
              <a:t> </a:t>
            </a:r>
            <a:r>
              <a:rPr sz="2200" dirty="0">
                <a:latin typeface="Arial"/>
                <a:cs typeface="Arial"/>
              </a:rPr>
              <a:t>thể  </a:t>
            </a:r>
            <a:r>
              <a:rPr sz="2200" spc="-5" dirty="0">
                <a:latin typeface="Arial"/>
                <a:cs typeface="Arial"/>
              </a:rPr>
              <a:t>có nhiều nút cha  (nhiều </a:t>
            </a:r>
            <a:r>
              <a:rPr sz="2200" dirty="0">
                <a:latin typeface="Arial"/>
                <a:cs typeface="Arial"/>
              </a:rPr>
              <a:t>kế</a:t>
            </a:r>
            <a:r>
              <a:rPr sz="2200" spc="-20" dirty="0">
                <a:latin typeface="Arial"/>
                <a:cs typeface="Arial"/>
              </a:rPr>
              <a:t> </a:t>
            </a:r>
            <a:r>
              <a:rPr sz="2200" spc="-5" dirty="0">
                <a:latin typeface="Arial"/>
                <a:cs typeface="Arial"/>
              </a:rPr>
              <a:t>thừa)</a:t>
            </a:r>
            <a:endParaRPr sz="2200">
              <a:latin typeface="Arial"/>
              <a:cs typeface="Arial"/>
            </a:endParaRPr>
          </a:p>
        </p:txBody>
      </p:sp>
      <p:sp>
        <p:nvSpPr>
          <p:cNvPr id="15" name="object 15"/>
          <p:cNvSpPr txBox="1"/>
          <p:nvPr/>
        </p:nvSpPr>
        <p:spPr>
          <a:xfrm>
            <a:off x="7012940" y="3684523"/>
            <a:ext cx="11055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Employee</a:t>
            </a:r>
            <a:endParaRPr sz="1800">
              <a:latin typeface="Arial"/>
              <a:cs typeface="Arial"/>
            </a:endParaRPr>
          </a:p>
        </p:txBody>
      </p:sp>
      <p:sp>
        <p:nvSpPr>
          <p:cNvPr id="16" name="object 16"/>
          <p:cNvSpPr/>
          <p:nvPr/>
        </p:nvSpPr>
        <p:spPr>
          <a:xfrm>
            <a:off x="7345680" y="3394709"/>
            <a:ext cx="130175" cy="979169"/>
          </a:xfrm>
          <a:custGeom>
            <a:avLst/>
            <a:gdLst/>
            <a:ahLst/>
            <a:cxnLst/>
            <a:rect l="l" t="t" r="r" b="b"/>
            <a:pathLst>
              <a:path w="130175" h="979170">
                <a:moveTo>
                  <a:pt x="75438" y="774192"/>
                </a:moveTo>
                <a:lnTo>
                  <a:pt x="48006" y="643890"/>
                </a:lnTo>
                <a:lnTo>
                  <a:pt x="0" y="768096"/>
                </a:lnTo>
                <a:lnTo>
                  <a:pt x="29451" y="770483"/>
                </a:lnTo>
                <a:lnTo>
                  <a:pt x="13131" y="979170"/>
                </a:lnTo>
                <a:lnTo>
                  <a:pt x="29235" y="979170"/>
                </a:lnTo>
                <a:lnTo>
                  <a:pt x="45478" y="771779"/>
                </a:lnTo>
                <a:lnTo>
                  <a:pt x="46482" y="771855"/>
                </a:lnTo>
                <a:lnTo>
                  <a:pt x="75438" y="774192"/>
                </a:lnTo>
                <a:close/>
              </a:path>
              <a:path w="130175" h="979170">
                <a:moveTo>
                  <a:pt x="129857" y="0"/>
                </a:moveTo>
                <a:lnTo>
                  <a:pt x="113855" y="0"/>
                </a:lnTo>
                <a:lnTo>
                  <a:pt x="112776" y="339090"/>
                </a:lnTo>
                <a:lnTo>
                  <a:pt x="128778" y="339090"/>
                </a:lnTo>
                <a:lnTo>
                  <a:pt x="129857" y="0"/>
                </a:lnTo>
                <a:close/>
              </a:path>
            </a:pathLst>
          </a:custGeom>
          <a:solidFill>
            <a:srgbClr val="000000"/>
          </a:solidFill>
        </p:spPr>
        <p:txBody>
          <a:bodyPr wrap="square" lIns="0" tIns="0" rIns="0" bIns="0" rtlCol="0"/>
          <a:lstStyle/>
          <a:p>
            <a:endParaRPr/>
          </a:p>
        </p:txBody>
      </p:sp>
      <p:sp>
        <p:nvSpPr>
          <p:cNvPr id="17" name="object 17"/>
          <p:cNvSpPr txBox="1"/>
          <p:nvPr/>
        </p:nvSpPr>
        <p:spPr>
          <a:xfrm>
            <a:off x="5869940" y="3760723"/>
            <a:ext cx="8756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Student</a:t>
            </a:r>
            <a:endParaRPr sz="1800">
              <a:latin typeface="Arial"/>
              <a:cs typeface="Arial"/>
            </a:endParaRPr>
          </a:p>
        </p:txBody>
      </p:sp>
      <p:grpSp>
        <p:nvGrpSpPr>
          <p:cNvPr id="18" name="object 18"/>
          <p:cNvGrpSpPr/>
          <p:nvPr/>
        </p:nvGrpSpPr>
        <p:grpSpPr>
          <a:xfrm>
            <a:off x="457200" y="3394709"/>
            <a:ext cx="9144000" cy="1958339"/>
            <a:chOff x="457200" y="3394709"/>
            <a:chExt cx="9144000" cy="1958339"/>
          </a:xfrm>
        </p:grpSpPr>
        <p:sp>
          <p:nvSpPr>
            <p:cNvPr id="19" name="object 19"/>
            <p:cNvSpPr/>
            <p:nvPr/>
          </p:nvSpPr>
          <p:spPr>
            <a:xfrm>
              <a:off x="5606034" y="3394709"/>
              <a:ext cx="2392045" cy="979169"/>
            </a:xfrm>
            <a:custGeom>
              <a:avLst/>
              <a:gdLst/>
              <a:ahLst/>
              <a:cxnLst/>
              <a:rect l="l" t="t" r="r" b="b"/>
              <a:pathLst>
                <a:path w="2392045" h="979170">
                  <a:moveTo>
                    <a:pt x="298704" y="960882"/>
                  </a:moveTo>
                  <a:lnTo>
                    <a:pt x="286512" y="958596"/>
                  </a:lnTo>
                  <a:lnTo>
                    <a:pt x="282702" y="979170"/>
                  </a:lnTo>
                  <a:lnTo>
                    <a:pt x="295325" y="979170"/>
                  </a:lnTo>
                  <a:lnTo>
                    <a:pt x="298704" y="960882"/>
                  </a:lnTo>
                  <a:close/>
                </a:path>
                <a:path w="2392045" h="979170">
                  <a:moveTo>
                    <a:pt x="315468" y="873252"/>
                  </a:moveTo>
                  <a:lnTo>
                    <a:pt x="302514" y="870966"/>
                  </a:lnTo>
                  <a:lnTo>
                    <a:pt x="293370" y="920496"/>
                  </a:lnTo>
                  <a:lnTo>
                    <a:pt x="305562" y="922782"/>
                  </a:lnTo>
                  <a:lnTo>
                    <a:pt x="315468" y="873252"/>
                  </a:lnTo>
                  <a:close/>
                </a:path>
                <a:path w="2392045" h="979170">
                  <a:moveTo>
                    <a:pt x="331470" y="785622"/>
                  </a:moveTo>
                  <a:lnTo>
                    <a:pt x="319278" y="783336"/>
                  </a:lnTo>
                  <a:lnTo>
                    <a:pt x="309372" y="833628"/>
                  </a:lnTo>
                  <a:lnTo>
                    <a:pt x="322326" y="835914"/>
                  </a:lnTo>
                  <a:lnTo>
                    <a:pt x="331470" y="785622"/>
                  </a:lnTo>
                  <a:close/>
                </a:path>
                <a:path w="2392045" h="979170">
                  <a:moveTo>
                    <a:pt x="348234" y="698754"/>
                  </a:moveTo>
                  <a:lnTo>
                    <a:pt x="335280" y="696468"/>
                  </a:lnTo>
                  <a:lnTo>
                    <a:pt x="326136" y="745998"/>
                  </a:lnTo>
                  <a:lnTo>
                    <a:pt x="338328" y="748284"/>
                  </a:lnTo>
                  <a:lnTo>
                    <a:pt x="348234" y="698754"/>
                  </a:lnTo>
                  <a:close/>
                </a:path>
                <a:path w="2392045" h="979170">
                  <a:moveTo>
                    <a:pt x="364236" y="611124"/>
                  </a:moveTo>
                  <a:lnTo>
                    <a:pt x="352044" y="608838"/>
                  </a:lnTo>
                  <a:lnTo>
                    <a:pt x="342138" y="658368"/>
                  </a:lnTo>
                  <a:lnTo>
                    <a:pt x="355092" y="660654"/>
                  </a:lnTo>
                  <a:lnTo>
                    <a:pt x="364236" y="611124"/>
                  </a:lnTo>
                  <a:close/>
                </a:path>
                <a:path w="2392045" h="979170">
                  <a:moveTo>
                    <a:pt x="380238" y="523494"/>
                  </a:moveTo>
                  <a:lnTo>
                    <a:pt x="368046" y="521208"/>
                  </a:lnTo>
                  <a:lnTo>
                    <a:pt x="358902" y="571500"/>
                  </a:lnTo>
                  <a:lnTo>
                    <a:pt x="371094" y="573786"/>
                  </a:lnTo>
                  <a:lnTo>
                    <a:pt x="380238" y="523494"/>
                  </a:lnTo>
                  <a:close/>
                </a:path>
                <a:path w="2392045" h="979170">
                  <a:moveTo>
                    <a:pt x="397002" y="436626"/>
                  </a:moveTo>
                  <a:lnTo>
                    <a:pt x="384810" y="434340"/>
                  </a:lnTo>
                  <a:lnTo>
                    <a:pt x="374904" y="483870"/>
                  </a:lnTo>
                  <a:lnTo>
                    <a:pt x="387858" y="486156"/>
                  </a:lnTo>
                  <a:lnTo>
                    <a:pt x="397002" y="436626"/>
                  </a:lnTo>
                  <a:close/>
                </a:path>
                <a:path w="2392045" h="979170">
                  <a:moveTo>
                    <a:pt x="413004" y="348996"/>
                  </a:moveTo>
                  <a:lnTo>
                    <a:pt x="400812" y="346710"/>
                  </a:lnTo>
                  <a:lnTo>
                    <a:pt x="391668" y="396240"/>
                  </a:lnTo>
                  <a:lnTo>
                    <a:pt x="403860" y="398526"/>
                  </a:lnTo>
                  <a:lnTo>
                    <a:pt x="413004" y="348996"/>
                  </a:lnTo>
                  <a:close/>
                </a:path>
                <a:path w="2392045" h="979170">
                  <a:moveTo>
                    <a:pt x="445770" y="174498"/>
                  </a:moveTo>
                  <a:lnTo>
                    <a:pt x="433578" y="171450"/>
                  </a:lnTo>
                  <a:lnTo>
                    <a:pt x="424434" y="221742"/>
                  </a:lnTo>
                  <a:lnTo>
                    <a:pt x="436626" y="224028"/>
                  </a:lnTo>
                  <a:lnTo>
                    <a:pt x="445770" y="174498"/>
                  </a:lnTo>
                  <a:close/>
                </a:path>
                <a:path w="2392045" h="979170">
                  <a:moveTo>
                    <a:pt x="462534" y="86868"/>
                  </a:moveTo>
                  <a:lnTo>
                    <a:pt x="449580" y="84582"/>
                  </a:lnTo>
                  <a:lnTo>
                    <a:pt x="440436" y="134112"/>
                  </a:lnTo>
                  <a:lnTo>
                    <a:pt x="452628" y="136398"/>
                  </a:lnTo>
                  <a:lnTo>
                    <a:pt x="462534" y="86868"/>
                  </a:lnTo>
                  <a:close/>
                </a:path>
                <a:path w="2392045" h="979170">
                  <a:moveTo>
                    <a:pt x="478396" y="0"/>
                  </a:moveTo>
                  <a:lnTo>
                    <a:pt x="465734" y="0"/>
                  </a:lnTo>
                  <a:lnTo>
                    <a:pt x="456438" y="47244"/>
                  </a:lnTo>
                  <a:lnTo>
                    <a:pt x="469392" y="49530"/>
                  </a:lnTo>
                  <a:lnTo>
                    <a:pt x="478396" y="0"/>
                  </a:lnTo>
                  <a:close/>
                </a:path>
                <a:path w="2392045" h="979170">
                  <a:moveTo>
                    <a:pt x="545592" y="58674"/>
                  </a:moveTo>
                  <a:lnTo>
                    <a:pt x="540258" y="45720"/>
                  </a:lnTo>
                  <a:lnTo>
                    <a:pt x="530352" y="19812"/>
                  </a:lnTo>
                  <a:lnTo>
                    <a:pt x="527304" y="11430"/>
                  </a:lnTo>
                  <a:lnTo>
                    <a:pt x="515112" y="16002"/>
                  </a:lnTo>
                  <a:lnTo>
                    <a:pt x="518160" y="24384"/>
                  </a:lnTo>
                  <a:lnTo>
                    <a:pt x="528828" y="51054"/>
                  </a:lnTo>
                  <a:lnTo>
                    <a:pt x="534162" y="63246"/>
                  </a:lnTo>
                  <a:lnTo>
                    <a:pt x="545592" y="58674"/>
                  </a:lnTo>
                  <a:close/>
                </a:path>
                <a:path w="2392045" h="979170">
                  <a:moveTo>
                    <a:pt x="570738" y="332994"/>
                  </a:moveTo>
                  <a:lnTo>
                    <a:pt x="30187" y="0"/>
                  </a:lnTo>
                  <a:lnTo>
                    <a:pt x="0" y="0"/>
                  </a:lnTo>
                  <a:lnTo>
                    <a:pt x="422884" y="260159"/>
                  </a:lnTo>
                  <a:lnTo>
                    <a:pt x="416814" y="259080"/>
                  </a:lnTo>
                  <a:lnTo>
                    <a:pt x="407670" y="309372"/>
                  </a:lnTo>
                  <a:lnTo>
                    <a:pt x="420624" y="311658"/>
                  </a:lnTo>
                  <a:lnTo>
                    <a:pt x="429272" y="264083"/>
                  </a:lnTo>
                  <a:lnTo>
                    <a:pt x="562356" y="345948"/>
                  </a:lnTo>
                  <a:lnTo>
                    <a:pt x="570738" y="332994"/>
                  </a:lnTo>
                  <a:close/>
                </a:path>
                <a:path w="2392045" h="979170">
                  <a:moveTo>
                    <a:pt x="582930" y="138684"/>
                  </a:moveTo>
                  <a:lnTo>
                    <a:pt x="573024" y="119634"/>
                  </a:lnTo>
                  <a:lnTo>
                    <a:pt x="561594" y="96012"/>
                  </a:lnTo>
                  <a:lnTo>
                    <a:pt x="560832" y="92964"/>
                  </a:lnTo>
                  <a:lnTo>
                    <a:pt x="549402" y="98298"/>
                  </a:lnTo>
                  <a:lnTo>
                    <a:pt x="550164" y="101346"/>
                  </a:lnTo>
                  <a:lnTo>
                    <a:pt x="562356" y="124968"/>
                  </a:lnTo>
                  <a:lnTo>
                    <a:pt x="571500" y="144018"/>
                  </a:lnTo>
                  <a:lnTo>
                    <a:pt x="582930" y="138684"/>
                  </a:lnTo>
                  <a:close/>
                </a:path>
                <a:path w="2392045" h="979170">
                  <a:moveTo>
                    <a:pt x="627888" y="214884"/>
                  </a:moveTo>
                  <a:lnTo>
                    <a:pt x="609600" y="185928"/>
                  </a:lnTo>
                  <a:lnTo>
                    <a:pt x="601218" y="171450"/>
                  </a:lnTo>
                  <a:lnTo>
                    <a:pt x="590550" y="178308"/>
                  </a:lnTo>
                  <a:lnTo>
                    <a:pt x="598932" y="192786"/>
                  </a:lnTo>
                  <a:lnTo>
                    <a:pt x="611886" y="214122"/>
                  </a:lnTo>
                  <a:lnTo>
                    <a:pt x="617220" y="221742"/>
                  </a:lnTo>
                  <a:lnTo>
                    <a:pt x="627888" y="214884"/>
                  </a:lnTo>
                  <a:close/>
                </a:path>
                <a:path w="2392045" h="979170">
                  <a:moveTo>
                    <a:pt x="680466" y="284988"/>
                  </a:moveTo>
                  <a:lnTo>
                    <a:pt x="675894" y="279654"/>
                  </a:lnTo>
                  <a:lnTo>
                    <a:pt x="662178" y="262890"/>
                  </a:lnTo>
                  <a:lnTo>
                    <a:pt x="649224" y="245364"/>
                  </a:lnTo>
                  <a:lnTo>
                    <a:pt x="638556" y="252984"/>
                  </a:lnTo>
                  <a:lnTo>
                    <a:pt x="652272" y="271272"/>
                  </a:lnTo>
                  <a:lnTo>
                    <a:pt x="665988" y="288036"/>
                  </a:lnTo>
                  <a:lnTo>
                    <a:pt x="670560" y="293370"/>
                  </a:lnTo>
                  <a:lnTo>
                    <a:pt x="680466" y="284988"/>
                  </a:lnTo>
                  <a:close/>
                </a:path>
                <a:path w="2392045" h="979170">
                  <a:moveTo>
                    <a:pt x="742950" y="345948"/>
                  </a:moveTo>
                  <a:lnTo>
                    <a:pt x="738378" y="342138"/>
                  </a:lnTo>
                  <a:lnTo>
                    <a:pt x="731520" y="336804"/>
                  </a:lnTo>
                  <a:lnTo>
                    <a:pt x="717042" y="323850"/>
                  </a:lnTo>
                  <a:lnTo>
                    <a:pt x="705612" y="312420"/>
                  </a:lnTo>
                  <a:lnTo>
                    <a:pt x="697230" y="321564"/>
                  </a:lnTo>
                  <a:lnTo>
                    <a:pt x="708660" y="333756"/>
                  </a:lnTo>
                  <a:lnTo>
                    <a:pt x="723138" y="345948"/>
                  </a:lnTo>
                  <a:lnTo>
                    <a:pt x="730758" y="352044"/>
                  </a:lnTo>
                  <a:lnTo>
                    <a:pt x="735330" y="355854"/>
                  </a:lnTo>
                  <a:lnTo>
                    <a:pt x="742950" y="345948"/>
                  </a:lnTo>
                  <a:close/>
                </a:path>
                <a:path w="2392045" h="979170">
                  <a:moveTo>
                    <a:pt x="765048" y="338328"/>
                  </a:moveTo>
                  <a:lnTo>
                    <a:pt x="713397" y="0"/>
                  </a:lnTo>
                  <a:lnTo>
                    <a:pt x="697331" y="0"/>
                  </a:lnTo>
                  <a:lnTo>
                    <a:pt x="749046" y="340614"/>
                  </a:lnTo>
                  <a:lnTo>
                    <a:pt x="765048" y="338328"/>
                  </a:lnTo>
                  <a:close/>
                </a:path>
                <a:path w="2392045" h="979170">
                  <a:moveTo>
                    <a:pt x="818388" y="387858"/>
                  </a:moveTo>
                  <a:lnTo>
                    <a:pt x="805942" y="383374"/>
                  </a:lnTo>
                  <a:lnTo>
                    <a:pt x="795629" y="378929"/>
                  </a:lnTo>
                  <a:lnTo>
                    <a:pt x="785647" y="373799"/>
                  </a:lnTo>
                  <a:lnTo>
                    <a:pt x="774192" y="367284"/>
                  </a:lnTo>
                  <a:lnTo>
                    <a:pt x="767334" y="377952"/>
                  </a:lnTo>
                  <a:lnTo>
                    <a:pt x="778840" y="384619"/>
                  </a:lnTo>
                  <a:lnTo>
                    <a:pt x="790346" y="390309"/>
                  </a:lnTo>
                  <a:lnTo>
                    <a:pt x="802157" y="395351"/>
                  </a:lnTo>
                  <a:lnTo>
                    <a:pt x="814578" y="400050"/>
                  </a:lnTo>
                  <a:lnTo>
                    <a:pt x="818388" y="387858"/>
                  </a:lnTo>
                  <a:close/>
                </a:path>
                <a:path w="2392045" h="979170">
                  <a:moveTo>
                    <a:pt x="898385" y="403098"/>
                  </a:moveTo>
                  <a:lnTo>
                    <a:pt x="895350" y="390906"/>
                  </a:lnTo>
                  <a:lnTo>
                    <a:pt x="885291" y="393357"/>
                  </a:lnTo>
                  <a:lnTo>
                    <a:pt x="874928" y="394741"/>
                  </a:lnTo>
                  <a:lnTo>
                    <a:pt x="864489" y="395160"/>
                  </a:lnTo>
                  <a:lnTo>
                    <a:pt x="854202" y="394716"/>
                  </a:lnTo>
                  <a:lnTo>
                    <a:pt x="853440" y="407670"/>
                  </a:lnTo>
                  <a:lnTo>
                    <a:pt x="864781" y="407733"/>
                  </a:lnTo>
                  <a:lnTo>
                    <a:pt x="876109" y="407136"/>
                  </a:lnTo>
                  <a:lnTo>
                    <a:pt x="887336" y="405676"/>
                  </a:lnTo>
                  <a:lnTo>
                    <a:pt x="898385" y="403098"/>
                  </a:lnTo>
                  <a:close/>
                </a:path>
                <a:path w="2392045" h="979170">
                  <a:moveTo>
                    <a:pt x="906018" y="400812"/>
                  </a:moveTo>
                  <a:lnTo>
                    <a:pt x="902208" y="388620"/>
                  </a:lnTo>
                  <a:lnTo>
                    <a:pt x="901446" y="389382"/>
                  </a:lnTo>
                  <a:lnTo>
                    <a:pt x="895350" y="390906"/>
                  </a:lnTo>
                  <a:lnTo>
                    <a:pt x="899160" y="403098"/>
                  </a:lnTo>
                  <a:lnTo>
                    <a:pt x="906018" y="400812"/>
                  </a:lnTo>
                  <a:close/>
                </a:path>
                <a:path w="2392045" h="979170">
                  <a:moveTo>
                    <a:pt x="979170" y="345948"/>
                  </a:moveTo>
                  <a:lnTo>
                    <a:pt x="969264" y="338328"/>
                  </a:lnTo>
                  <a:lnTo>
                    <a:pt x="961199" y="348170"/>
                  </a:lnTo>
                  <a:lnTo>
                    <a:pt x="953071" y="356870"/>
                  </a:lnTo>
                  <a:lnTo>
                    <a:pt x="944270" y="364883"/>
                  </a:lnTo>
                  <a:lnTo>
                    <a:pt x="934212" y="372618"/>
                  </a:lnTo>
                  <a:lnTo>
                    <a:pt x="941832" y="382524"/>
                  </a:lnTo>
                  <a:lnTo>
                    <a:pt x="952322" y="374624"/>
                  </a:lnTo>
                  <a:lnTo>
                    <a:pt x="961999" y="365785"/>
                  </a:lnTo>
                  <a:lnTo>
                    <a:pt x="970927" y="356171"/>
                  </a:lnTo>
                  <a:lnTo>
                    <a:pt x="979170" y="345948"/>
                  </a:lnTo>
                  <a:close/>
                </a:path>
                <a:path w="2392045" h="979170">
                  <a:moveTo>
                    <a:pt x="1000175" y="979170"/>
                  </a:moveTo>
                  <a:lnTo>
                    <a:pt x="845693" y="800519"/>
                  </a:lnTo>
                  <a:lnTo>
                    <a:pt x="868680" y="780288"/>
                  </a:lnTo>
                  <a:lnTo>
                    <a:pt x="756666" y="709422"/>
                  </a:lnTo>
                  <a:lnTo>
                    <a:pt x="811530" y="830580"/>
                  </a:lnTo>
                  <a:lnTo>
                    <a:pt x="826008" y="817841"/>
                  </a:lnTo>
                  <a:lnTo>
                    <a:pt x="834339" y="810514"/>
                  </a:lnTo>
                  <a:lnTo>
                    <a:pt x="980173" y="979170"/>
                  </a:lnTo>
                  <a:lnTo>
                    <a:pt x="1000175" y="979170"/>
                  </a:lnTo>
                  <a:close/>
                </a:path>
                <a:path w="2392045" h="979170">
                  <a:moveTo>
                    <a:pt x="1021080" y="265938"/>
                  </a:moveTo>
                  <a:lnTo>
                    <a:pt x="1008888" y="261366"/>
                  </a:lnTo>
                  <a:lnTo>
                    <a:pt x="1002792" y="278130"/>
                  </a:lnTo>
                  <a:lnTo>
                    <a:pt x="995934" y="294132"/>
                  </a:lnTo>
                  <a:lnTo>
                    <a:pt x="989063" y="307086"/>
                  </a:lnTo>
                  <a:lnTo>
                    <a:pt x="1000506" y="313182"/>
                  </a:lnTo>
                  <a:lnTo>
                    <a:pt x="1007364" y="299466"/>
                  </a:lnTo>
                  <a:lnTo>
                    <a:pt x="1014984" y="282702"/>
                  </a:lnTo>
                  <a:lnTo>
                    <a:pt x="1021080" y="265938"/>
                  </a:lnTo>
                  <a:close/>
                </a:path>
                <a:path w="2392045" h="979170">
                  <a:moveTo>
                    <a:pt x="1042416" y="178308"/>
                  </a:moveTo>
                  <a:lnTo>
                    <a:pt x="1029462" y="176784"/>
                  </a:lnTo>
                  <a:lnTo>
                    <a:pt x="1028687" y="183642"/>
                  </a:lnTo>
                  <a:lnTo>
                    <a:pt x="1024890" y="204216"/>
                  </a:lnTo>
                  <a:lnTo>
                    <a:pt x="1020318" y="224028"/>
                  </a:lnTo>
                  <a:lnTo>
                    <a:pt x="1019556" y="225552"/>
                  </a:lnTo>
                  <a:lnTo>
                    <a:pt x="1031735" y="228600"/>
                  </a:lnTo>
                  <a:lnTo>
                    <a:pt x="1032510" y="227076"/>
                  </a:lnTo>
                  <a:lnTo>
                    <a:pt x="1037082" y="206502"/>
                  </a:lnTo>
                  <a:lnTo>
                    <a:pt x="1040892" y="185928"/>
                  </a:lnTo>
                  <a:lnTo>
                    <a:pt x="1042416" y="178308"/>
                  </a:lnTo>
                  <a:close/>
                </a:path>
                <a:path w="2392045" h="979170">
                  <a:moveTo>
                    <a:pt x="1050036" y="89154"/>
                  </a:moveTo>
                  <a:lnTo>
                    <a:pt x="1037844" y="89154"/>
                  </a:lnTo>
                  <a:lnTo>
                    <a:pt x="1037844" y="93726"/>
                  </a:lnTo>
                  <a:lnTo>
                    <a:pt x="1034796" y="139446"/>
                  </a:lnTo>
                  <a:lnTo>
                    <a:pt x="1046988" y="140208"/>
                  </a:lnTo>
                  <a:lnTo>
                    <a:pt x="1049261" y="118110"/>
                  </a:lnTo>
                  <a:lnTo>
                    <a:pt x="1050036" y="94488"/>
                  </a:lnTo>
                  <a:lnTo>
                    <a:pt x="1050036" y="89154"/>
                  </a:lnTo>
                  <a:close/>
                </a:path>
                <a:path w="2392045" h="979170">
                  <a:moveTo>
                    <a:pt x="1050785" y="44196"/>
                  </a:moveTo>
                  <a:lnTo>
                    <a:pt x="1050036" y="19050"/>
                  </a:lnTo>
                  <a:lnTo>
                    <a:pt x="1048512" y="0"/>
                  </a:lnTo>
                  <a:lnTo>
                    <a:pt x="1036320" y="762"/>
                  </a:lnTo>
                  <a:lnTo>
                    <a:pt x="1037844" y="44958"/>
                  </a:lnTo>
                  <a:lnTo>
                    <a:pt x="1037844" y="51054"/>
                  </a:lnTo>
                  <a:lnTo>
                    <a:pt x="1050785" y="51054"/>
                  </a:lnTo>
                  <a:lnTo>
                    <a:pt x="1050785" y="44196"/>
                  </a:lnTo>
                  <a:close/>
                </a:path>
                <a:path w="2392045" h="979170">
                  <a:moveTo>
                    <a:pt x="2391664" y="0"/>
                  </a:moveTo>
                  <a:lnTo>
                    <a:pt x="2371483" y="0"/>
                  </a:lnTo>
                  <a:lnTo>
                    <a:pt x="2084832" y="334518"/>
                  </a:lnTo>
                  <a:lnTo>
                    <a:pt x="2096262" y="344424"/>
                  </a:lnTo>
                  <a:lnTo>
                    <a:pt x="2391664" y="0"/>
                  </a:lnTo>
                  <a:close/>
                </a:path>
              </a:pathLst>
            </a:custGeom>
            <a:solidFill>
              <a:srgbClr val="000000"/>
            </a:solidFill>
          </p:spPr>
          <p:txBody>
            <a:bodyPr wrap="square" lIns="0" tIns="0" rIns="0" bIns="0" rtlCol="0"/>
            <a:lstStyle/>
            <a:p>
              <a:endParaRPr/>
            </a:p>
          </p:txBody>
        </p:sp>
        <p:sp>
          <p:nvSpPr>
            <p:cNvPr id="20" name="object 20"/>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grpSp>
      <p:sp>
        <p:nvSpPr>
          <p:cNvPr id="21" name="object 21"/>
          <p:cNvSpPr txBox="1"/>
          <p:nvPr/>
        </p:nvSpPr>
        <p:spPr>
          <a:xfrm>
            <a:off x="6936740" y="5056123"/>
            <a:ext cx="73723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Ernest</a:t>
            </a:r>
            <a:endParaRPr sz="1800">
              <a:latin typeface="Arial"/>
              <a:cs typeface="Arial"/>
            </a:endParaRPr>
          </a:p>
        </p:txBody>
      </p:sp>
      <p:grpSp>
        <p:nvGrpSpPr>
          <p:cNvPr id="22" name="object 22"/>
          <p:cNvGrpSpPr/>
          <p:nvPr/>
        </p:nvGrpSpPr>
        <p:grpSpPr>
          <a:xfrm>
            <a:off x="457200" y="4373879"/>
            <a:ext cx="9144000" cy="1958339"/>
            <a:chOff x="457200" y="4373879"/>
            <a:chExt cx="9144000" cy="1958339"/>
          </a:xfrm>
        </p:grpSpPr>
        <p:sp>
          <p:nvSpPr>
            <p:cNvPr id="23" name="object 23"/>
            <p:cNvSpPr/>
            <p:nvPr/>
          </p:nvSpPr>
          <p:spPr>
            <a:xfrm>
              <a:off x="5708904" y="4373879"/>
              <a:ext cx="1666239" cy="962025"/>
            </a:xfrm>
            <a:custGeom>
              <a:avLst/>
              <a:gdLst/>
              <a:ahLst/>
              <a:cxnLst/>
              <a:rect l="l" t="t" r="r" b="b"/>
              <a:pathLst>
                <a:path w="1666240" h="962025">
                  <a:moveTo>
                    <a:pt x="16002" y="942594"/>
                  </a:moveTo>
                  <a:lnTo>
                    <a:pt x="3810" y="940308"/>
                  </a:lnTo>
                  <a:lnTo>
                    <a:pt x="0" y="959358"/>
                  </a:lnTo>
                  <a:lnTo>
                    <a:pt x="12954" y="961644"/>
                  </a:lnTo>
                  <a:lnTo>
                    <a:pt x="16002" y="942594"/>
                  </a:lnTo>
                  <a:close/>
                </a:path>
                <a:path w="1666240" h="962025">
                  <a:moveTo>
                    <a:pt x="32766" y="854964"/>
                  </a:moveTo>
                  <a:lnTo>
                    <a:pt x="19812" y="852678"/>
                  </a:lnTo>
                  <a:lnTo>
                    <a:pt x="10668" y="902970"/>
                  </a:lnTo>
                  <a:lnTo>
                    <a:pt x="23622" y="905256"/>
                  </a:lnTo>
                  <a:lnTo>
                    <a:pt x="32766" y="854964"/>
                  </a:lnTo>
                  <a:close/>
                </a:path>
                <a:path w="1666240" h="962025">
                  <a:moveTo>
                    <a:pt x="48768" y="768096"/>
                  </a:moveTo>
                  <a:lnTo>
                    <a:pt x="36576" y="765810"/>
                  </a:lnTo>
                  <a:lnTo>
                    <a:pt x="27432" y="815340"/>
                  </a:lnTo>
                  <a:lnTo>
                    <a:pt x="39624" y="817626"/>
                  </a:lnTo>
                  <a:lnTo>
                    <a:pt x="48768" y="768096"/>
                  </a:lnTo>
                  <a:close/>
                </a:path>
                <a:path w="1666240" h="962025">
                  <a:moveTo>
                    <a:pt x="65532" y="680466"/>
                  </a:moveTo>
                  <a:lnTo>
                    <a:pt x="52578" y="678180"/>
                  </a:lnTo>
                  <a:lnTo>
                    <a:pt x="43434" y="728472"/>
                  </a:lnTo>
                  <a:lnTo>
                    <a:pt x="55626" y="730758"/>
                  </a:lnTo>
                  <a:lnTo>
                    <a:pt x="65532" y="680466"/>
                  </a:lnTo>
                  <a:close/>
                </a:path>
                <a:path w="1666240" h="962025">
                  <a:moveTo>
                    <a:pt x="81534" y="592836"/>
                  </a:moveTo>
                  <a:lnTo>
                    <a:pt x="69342" y="590550"/>
                  </a:lnTo>
                  <a:lnTo>
                    <a:pt x="59436" y="640842"/>
                  </a:lnTo>
                  <a:lnTo>
                    <a:pt x="72390" y="643128"/>
                  </a:lnTo>
                  <a:lnTo>
                    <a:pt x="81534" y="592836"/>
                  </a:lnTo>
                  <a:close/>
                </a:path>
                <a:path w="1666240" h="962025">
                  <a:moveTo>
                    <a:pt x="98298" y="505968"/>
                  </a:moveTo>
                  <a:lnTo>
                    <a:pt x="85344" y="503682"/>
                  </a:lnTo>
                  <a:lnTo>
                    <a:pt x="76200" y="553212"/>
                  </a:lnTo>
                  <a:lnTo>
                    <a:pt x="88392" y="555498"/>
                  </a:lnTo>
                  <a:lnTo>
                    <a:pt x="98298" y="505968"/>
                  </a:lnTo>
                  <a:close/>
                </a:path>
                <a:path w="1666240" h="962025">
                  <a:moveTo>
                    <a:pt x="114300" y="418338"/>
                  </a:moveTo>
                  <a:lnTo>
                    <a:pt x="102108" y="416052"/>
                  </a:lnTo>
                  <a:lnTo>
                    <a:pt x="92202" y="465582"/>
                  </a:lnTo>
                  <a:lnTo>
                    <a:pt x="105156" y="468630"/>
                  </a:lnTo>
                  <a:lnTo>
                    <a:pt x="114300" y="418338"/>
                  </a:lnTo>
                  <a:close/>
                </a:path>
                <a:path w="1666240" h="962025">
                  <a:moveTo>
                    <a:pt x="130302" y="330708"/>
                  </a:moveTo>
                  <a:lnTo>
                    <a:pt x="118110" y="328422"/>
                  </a:lnTo>
                  <a:lnTo>
                    <a:pt x="108966" y="378714"/>
                  </a:lnTo>
                  <a:lnTo>
                    <a:pt x="121158" y="381000"/>
                  </a:lnTo>
                  <a:lnTo>
                    <a:pt x="130302" y="330708"/>
                  </a:lnTo>
                  <a:close/>
                </a:path>
                <a:path w="1666240" h="962025">
                  <a:moveTo>
                    <a:pt x="147066" y="243840"/>
                  </a:moveTo>
                  <a:lnTo>
                    <a:pt x="134112" y="241554"/>
                  </a:lnTo>
                  <a:lnTo>
                    <a:pt x="124968" y="291084"/>
                  </a:lnTo>
                  <a:lnTo>
                    <a:pt x="137922" y="293370"/>
                  </a:lnTo>
                  <a:lnTo>
                    <a:pt x="147066" y="243840"/>
                  </a:lnTo>
                  <a:close/>
                </a:path>
                <a:path w="1666240" h="962025">
                  <a:moveTo>
                    <a:pt x="163068" y="156210"/>
                  </a:moveTo>
                  <a:lnTo>
                    <a:pt x="150876" y="153924"/>
                  </a:lnTo>
                  <a:lnTo>
                    <a:pt x="141732" y="203454"/>
                  </a:lnTo>
                  <a:lnTo>
                    <a:pt x="153924" y="206502"/>
                  </a:lnTo>
                  <a:lnTo>
                    <a:pt x="163068" y="156210"/>
                  </a:lnTo>
                  <a:close/>
                </a:path>
                <a:path w="1666240" h="962025">
                  <a:moveTo>
                    <a:pt x="179832" y="68580"/>
                  </a:moveTo>
                  <a:lnTo>
                    <a:pt x="166878" y="66294"/>
                  </a:lnTo>
                  <a:lnTo>
                    <a:pt x="157734" y="116586"/>
                  </a:lnTo>
                  <a:lnTo>
                    <a:pt x="170688" y="118872"/>
                  </a:lnTo>
                  <a:lnTo>
                    <a:pt x="179832" y="68580"/>
                  </a:lnTo>
                  <a:close/>
                </a:path>
                <a:path w="1666240" h="962025">
                  <a:moveTo>
                    <a:pt x="192455" y="0"/>
                  </a:moveTo>
                  <a:lnTo>
                    <a:pt x="179832" y="0"/>
                  </a:lnTo>
                  <a:lnTo>
                    <a:pt x="174498" y="28956"/>
                  </a:lnTo>
                  <a:lnTo>
                    <a:pt x="186690" y="31242"/>
                  </a:lnTo>
                  <a:lnTo>
                    <a:pt x="192455" y="0"/>
                  </a:lnTo>
                  <a:close/>
                </a:path>
                <a:path w="1666240" h="962025">
                  <a:moveTo>
                    <a:pt x="1459992" y="650748"/>
                  </a:moveTo>
                  <a:lnTo>
                    <a:pt x="897305" y="0"/>
                  </a:lnTo>
                  <a:lnTo>
                    <a:pt x="877303" y="0"/>
                  </a:lnTo>
                  <a:lnTo>
                    <a:pt x="1448562" y="660654"/>
                  </a:lnTo>
                  <a:lnTo>
                    <a:pt x="1459992" y="650748"/>
                  </a:lnTo>
                  <a:close/>
                </a:path>
                <a:path w="1666240" h="962025">
                  <a:moveTo>
                    <a:pt x="1666011" y="0"/>
                  </a:moveTo>
                  <a:lnTo>
                    <a:pt x="1649907" y="0"/>
                  </a:lnTo>
                  <a:lnTo>
                    <a:pt x="1598676" y="655320"/>
                  </a:lnTo>
                  <a:lnTo>
                    <a:pt x="1614678" y="656082"/>
                  </a:lnTo>
                  <a:lnTo>
                    <a:pt x="1666011" y="0"/>
                  </a:lnTo>
                  <a:close/>
                </a:path>
              </a:pathLst>
            </a:custGeom>
            <a:solidFill>
              <a:srgbClr val="000000"/>
            </a:solidFill>
          </p:spPr>
          <p:txBody>
            <a:bodyPr wrap="square" lIns="0" tIns="0" rIns="0" bIns="0" rtlCol="0"/>
            <a:lstStyle/>
            <a:p>
              <a:endParaRPr/>
            </a:p>
          </p:txBody>
        </p:sp>
        <p:sp>
          <p:nvSpPr>
            <p:cNvPr id="24" name="object 24"/>
            <p:cNvSpPr/>
            <p:nvPr/>
          </p:nvSpPr>
          <p:spPr>
            <a:xfrm>
              <a:off x="457200" y="535304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grpSp>
      <p:sp>
        <p:nvSpPr>
          <p:cNvPr id="25" name="object 25"/>
          <p:cNvSpPr txBox="1"/>
          <p:nvPr/>
        </p:nvSpPr>
        <p:spPr>
          <a:xfrm>
            <a:off x="5107940" y="5284723"/>
            <a:ext cx="1271270" cy="57404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Arial"/>
                <a:cs typeface="Arial"/>
              </a:rPr>
              <a:t>(Represents  </a:t>
            </a:r>
            <a:r>
              <a:rPr sz="1800" spc="-5" dirty="0">
                <a:latin typeface="Arial"/>
                <a:cs typeface="Arial"/>
              </a:rPr>
              <a:t>“</a:t>
            </a:r>
            <a:r>
              <a:rPr sz="1800" i="1" spc="-5" dirty="0">
                <a:latin typeface="Arial"/>
                <a:cs typeface="Arial"/>
              </a:rPr>
              <a:t>is-not</a:t>
            </a:r>
            <a:r>
              <a:rPr sz="1800" spc="-5" dirty="0">
                <a:latin typeface="Arial"/>
                <a:cs typeface="Arial"/>
              </a:rPr>
              <a:t>”)</a:t>
            </a:r>
            <a:endParaRPr sz="1800">
              <a:latin typeface="Arial"/>
              <a:cs typeface="Arial"/>
            </a:endParaRPr>
          </a:p>
        </p:txBody>
      </p:sp>
      <p:sp>
        <p:nvSpPr>
          <p:cNvPr id="26" name="object 26"/>
          <p:cNvSpPr txBox="1"/>
          <p:nvPr/>
        </p:nvSpPr>
        <p:spPr>
          <a:xfrm>
            <a:off x="993139" y="4703317"/>
            <a:ext cx="2990215" cy="1854200"/>
          </a:xfrm>
          <a:prstGeom prst="rect">
            <a:avLst/>
          </a:prstGeom>
        </p:spPr>
        <p:txBody>
          <a:bodyPr vert="horz" wrap="square" lIns="0" tIns="12700" rIns="0" bIns="0" rtlCol="0">
            <a:spAutoFit/>
          </a:bodyPr>
          <a:lstStyle/>
          <a:p>
            <a:pPr marL="355600" marR="5080" indent="-342900">
              <a:lnSpc>
                <a:spcPct val="100000"/>
              </a:lnSpc>
              <a:spcBef>
                <a:spcPts val="100"/>
              </a:spcBef>
              <a:buClr>
                <a:srgbClr val="CC9A00"/>
              </a:buClr>
              <a:buSzPct val="64583"/>
              <a:buFont typeface="Wingdings"/>
              <a:buChar char=""/>
              <a:tabLst>
                <a:tab pos="354965" algn="l"/>
                <a:tab pos="355600" algn="l"/>
                <a:tab pos="1082040" algn="l"/>
              </a:tabLst>
            </a:pPr>
            <a:r>
              <a:rPr sz="2400" spc="-5" dirty="0">
                <a:latin typeface="Arial"/>
                <a:cs typeface="Arial"/>
              </a:rPr>
              <a:t>Giống như cấu trúc  cây:	Tất cả các</a:t>
            </a:r>
            <a:r>
              <a:rPr sz="2400" spc="-85" dirty="0">
                <a:latin typeface="Arial"/>
                <a:cs typeface="Arial"/>
              </a:rPr>
              <a:t> </a:t>
            </a:r>
            <a:r>
              <a:rPr sz="2400" spc="-5" dirty="0">
                <a:latin typeface="Arial"/>
                <a:cs typeface="Arial"/>
              </a:rPr>
              <a:t>kết  luận được đưa ra  theo tất cả các  hướng</a:t>
            </a:r>
            <a:endParaRPr sz="2400">
              <a:latin typeface="Arial"/>
              <a:cs typeface="Arial"/>
            </a:endParaRPr>
          </a:p>
        </p:txBody>
      </p:sp>
      <p:sp>
        <p:nvSpPr>
          <p:cNvPr id="27" name="object 2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31" name="Title 30">
            <a:extLst>
              <a:ext uri="{FF2B5EF4-FFF2-40B4-BE49-F238E27FC236}">
                <a16:creationId xmlns:a16="http://schemas.microsoft.com/office/drawing/2014/main" id="{18DA88DF-BDFD-40D9-A5D0-B0F6892B3778}"/>
              </a:ext>
            </a:extLst>
          </p:cNvPr>
          <p:cNvSpPr>
            <a:spLocks noGrp="1"/>
          </p:cNvSpPr>
          <p:nvPr>
            <p:ph type="title"/>
          </p:nvPr>
        </p:nvSpPr>
        <p:spPr/>
        <p:txBody>
          <a:bodyPr/>
          <a:lstStyle/>
          <a:p>
            <a:r>
              <a:rPr lang="en-US" b="0" spc="-5">
                <a:latin typeface="Verdana"/>
                <a:cs typeface="Verdana"/>
              </a:rPr>
              <a:t>Mạng kế thừa</a:t>
            </a:r>
            <a:r>
              <a:rPr lang="en-US" b="0" spc="-55">
                <a:latin typeface="Verdana"/>
                <a:cs typeface="Verdana"/>
              </a:rPr>
              <a:t> </a:t>
            </a:r>
            <a:r>
              <a:rPr lang="en-US" b="0" spc="-5">
                <a:latin typeface="Verdana"/>
                <a:cs typeface="Verdana"/>
              </a:rPr>
              <a:t>(2)</a:t>
            </a:r>
            <a:endParaRPr lang="en-US" b="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object 2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3" name="object 2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55</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777238"/>
            <a:ext cx="3937000" cy="756920"/>
          </a:xfrm>
          <a:prstGeom prst="rect">
            <a:avLst/>
          </a:prstGeom>
        </p:spPr>
        <p:txBody>
          <a:bodyPr vert="horz" wrap="square" lIns="0" tIns="12700" rIns="0" bIns="0" rtlCol="0">
            <a:spAutoFit/>
          </a:bodyPr>
          <a:lstStyle/>
          <a:p>
            <a:pPr marL="355600" marR="5080" indent="-342900">
              <a:lnSpc>
                <a:spcPct val="100000"/>
              </a:lnSpc>
              <a:spcBef>
                <a:spcPts val="100"/>
              </a:spcBef>
              <a:buClr>
                <a:srgbClr val="CC9A00"/>
              </a:buClr>
              <a:buSzPct val="64583"/>
              <a:buFont typeface="Wingdings"/>
              <a:buChar char=""/>
              <a:tabLst>
                <a:tab pos="354965" algn="l"/>
                <a:tab pos="355600" algn="l"/>
              </a:tabLst>
            </a:pPr>
            <a:r>
              <a:rPr sz="2400" b="1" dirty="0">
                <a:latin typeface="Arial"/>
                <a:cs typeface="Arial"/>
              </a:rPr>
              <a:t>Kế </a:t>
            </a:r>
            <a:r>
              <a:rPr sz="2400" b="1" spc="-5" dirty="0">
                <a:latin typeface="Arial"/>
                <a:cs typeface="Arial"/>
              </a:rPr>
              <a:t>thừa có thể bị hủy</a:t>
            </a:r>
            <a:r>
              <a:rPr sz="2400" b="1" spc="-80" dirty="0">
                <a:latin typeface="Arial"/>
                <a:cs typeface="Arial"/>
              </a:rPr>
              <a:t> </a:t>
            </a:r>
            <a:r>
              <a:rPr sz="2400" b="1" spc="-5" dirty="0">
                <a:latin typeface="Arial"/>
                <a:cs typeface="Arial"/>
              </a:rPr>
              <a:t>bỏ  (Defeasible</a:t>
            </a:r>
            <a:r>
              <a:rPr sz="2400" b="1" spc="-30" dirty="0">
                <a:latin typeface="Arial"/>
                <a:cs typeface="Arial"/>
              </a:rPr>
              <a:t> </a:t>
            </a:r>
            <a:r>
              <a:rPr sz="2400" b="1" spc="-5" dirty="0">
                <a:latin typeface="Arial"/>
                <a:cs typeface="Arial"/>
              </a:rPr>
              <a:t>inheritance)</a:t>
            </a:r>
            <a:endParaRPr sz="2400">
              <a:latin typeface="Arial"/>
              <a:cs typeface="Arial"/>
            </a:endParaRPr>
          </a:p>
        </p:txBody>
      </p:sp>
      <p:sp>
        <p:nvSpPr>
          <p:cNvPr id="7" name="object 7"/>
          <p:cNvSpPr txBox="1"/>
          <p:nvPr/>
        </p:nvSpPr>
        <p:spPr>
          <a:xfrm>
            <a:off x="6936740" y="2084323"/>
            <a:ext cx="5473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Gray</a:t>
            </a:r>
            <a:endParaRPr sz="1800">
              <a:latin typeface="Arial"/>
              <a:cs typeface="Arial"/>
            </a:endParaRPr>
          </a:p>
        </p:txBody>
      </p:sp>
      <p:sp>
        <p:nvSpPr>
          <p:cNvPr id="9" name="object 9"/>
          <p:cNvSpPr txBox="1"/>
          <p:nvPr/>
        </p:nvSpPr>
        <p:spPr>
          <a:xfrm>
            <a:off x="1337563" y="2661919"/>
            <a:ext cx="4502150" cy="696595"/>
          </a:xfrm>
          <a:prstGeom prst="rect">
            <a:avLst/>
          </a:prstGeom>
        </p:spPr>
        <p:txBody>
          <a:bodyPr vert="horz" wrap="square" lIns="0" tIns="12700" rIns="0" bIns="0" rtlCol="0">
            <a:spAutoFit/>
          </a:bodyPr>
          <a:lstStyle/>
          <a:p>
            <a:pPr marL="337820" marR="5080" indent="-325755">
              <a:lnSpc>
                <a:spcPct val="100000"/>
              </a:lnSpc>
              <a:spcBef>
                <a:spcPts val="100"/>
              </a:spcBef>
              <a:buClr>
                <a:srgbClr val="3B822F"/>
              </a:buClr>
              <a:buSzPct val="59090"/>
              <a:buFont typeface="Wingdings"/>
              <a:buChar char=""/>
              <a:tabLst>
                <a:tab pos="337820" algn="l"/>
                <a:tab pos="338455" algn="l"/>
              </a:tabLst>
            </a:pPr>
            <a:r>
              <a:rPr sz="2200" spc="-5" dirty="0">
                <a:latin typeface="Arial"/>
                <a:cs typeface="Arial"/>
              </a:rPr>
              <a:t>Giống như đối </a:t>
            </a:r>
            <a:r>
              <a:rPr sz="2200" dirty="0">
                <a:latin typeface="Arial"/>
                <a:cs typeface="Arial"/>
              </a:rPr>
              <a:t>với cách </a:t>
            </a:r>
            <a:r>
              <a:rPr sz="2200" spc="-5" dirty="0">
                <a:latin typeface="Arial"/>
                <a:cs typeface="Arial"/>
              </a:rPr>
              <a:t>biểu diễn  </a:t>
            </a:r>
            <a:r>
              <a:rPr sz="2200" dirty="0">
                <a:latin typeface="Arial"/>
                <a:cs typeface="Arial"/>
              </a:rPr>
              <a:t>tri </a:t>
            </a:r>
            <a:r>
              <a:rPr sz="2200" spc="-5" dirty="0">
                <a:latin typeface="Arial"/>
                <a:cs typeface="Arial"/>
              </a:rPr>
              <a:t>thức bằng khung</a:t>
            </a:r>
            <a:r>
              <a:rPr sz="2200" spc="-45" dirty="0">
                <a:latin typeface="Arial"/>
                <a:cs typeface="Arial"/>
              </a:rPr>
              <a:t> </a:t>
            </a:r>
            <a:r>
              <a:rPr sz="2200" spc="-5" dirty="0">
                <a:latin typeface="Arial"/>
                <a:cs typeface="Arial"/>
              </a:rPr>
              <a:t>(frame-based</a:t>
            </a:r>
            <a:endParaRPr sz="2200">
              <a:latin typeface="Arial"/>
              <a:cs typeface="Arial"/>
            </a:endParaRPr>
          </a:p>
        </p:txBody>
      </p:sp>
      <p:sp>
        <p:nvSpPr>
          <p:cNvPr id="10" name="object 10"/>
          <p:cNvSpPr/>
          <p:nvPr/>
        </p:nvSpPr>
        <p:spPr>
          <a:xfrm>
            <a:off x="6627876" y="2427731"/>
            <a:ext cx="1357630" cy="967105"/>
          </a:xfrm>
          <a:custGeom>
            <a:avLst/>
            <a:gdLst/>
            <a:ahLst/>
            <a:cxnLst/>
            <a:rect l="l" t="t" r="r" b="b"/>
            <a:pathLst>
              <a:path w="1357629" h="967104">
                <a:moveTo>
                  <a:pt x="440436" y="107442"/>
                </a:moveTo>
                <a:lnTo>
                  <a:pt x="324612" y="172212"/>
                </a:lnTo>
                <a:lnTo>
                  <a:pt x="347713" y="194691"/>
                </a:lnTo>
                <a:lnTo>
                  <a:pt x="326783" y="223901"/>
                </a:lnTo>
                <a:lnTo>
                  <a:pt x="302158" y="265938"/>
                </a:lnTo>
                <a:lnTo>
                  <a:pt x="281025" y="310210"/>
                </a:lnTo>
                <a:lnTo>
                  <a:pt x="263169" y="356387"/>
                </a:lnTo>
                <a:lnTo>
                  <a:pt x="248373" y="404139"/>
                </a:lnTo>
                <a:lnTo>
                  <a:pt x="236448" y="453148"/>
                </a:lnTo>
                <a:lnTo>
                  <a:pt x="227152" y="503072"/>
                </a:lnTo>
                <a:lnTo>
                  <a:pt x="220306" y="553605"/>
                </a:lnTo>
                <a:lnTo>
                  <a:pt x="215684" y="604418"/>
                </a:lnTo>
                <a:lnTo>
                  <a:pt x="213080" y="655167"/>
                </a:lnTo>
                <a:lnTo>
                  <a:pt x="212293" y="705548"/>
                </a:lnTo>
                <a:lnTo>
                  <a:pt x="213093" y="755230"/>
                </a:lnTo>
                <a:lnTo>
                  <a:pt x="215036" y="798245"/>
                </a:lnTo>
                <a:lnTo>
                  <a:pt x="0" y="841248"/>
                </a:lnTo>
                <a:lnTo>
                  <a:pt x="3797" y="857250"/>
                </a:lnTo>
                <a:lnTo>
                  <a:pt x="216077" y="814793"/>
                </a:lnTo>
                <a:lnTo>
                  <a:pt x="218694" y="851154"/>
                </a:lnTo>
                <a:lnTo>
                  <a:pt x="224015" y="900455"/>
                </a:lnTo>
                <a:lnTo>
                  <a:pt x="228053" y="930465"/>
                </a:lnTo>
                <a:lnTo>
                  <a:pt x="230619" y="949566"/>
                </a:lnTo>
                <a:lnTo>
                  <a:pt x="233426" y="966978"/>
                </a:lnTo>
                <a:lnTo>
                  <a:pt x="249618" y="966978"/>
                </a:lnTo>
                <a:lnTo>
                  <a:pt x="245948" y="943965"/>
                </a:lnTo>
                <a:lnTo>
                  <a:pt x="239522" y="895083"/>
                </a:lnTo>
                <a:lnTo>
                  <a:pt x="234492" y="846340"/>
                </a:lnTo>
                <a:lnTo>
                  <a:pt x="231902" y="811631"/>
                </a:lnTo>
                <a:lnTo>
                  <a:pt x="384810" y="781050"/>
                </a:lnTo>
                <a:lnTo>
                  <a:pt x="381000" y="765048"/>
                </a:lnTo>
                <a:lnTo>
                  <a:pt x="230759" y="795096"/>
                </a:lnTo>
                <a:lnTo>
                  <a:pt x="228574" y="744982"/>
                </a:lnTo>
                <a:lnTo>
                  <a:pt x="228053" y="691362"/>
                </a:lnTo>
                <a:lnTo>
                  <a:pt x="229539" y="637324"/>
                </a:lnTo>
                <a:lnTo>
                  <a:pt x="233248" y="583298"/>
                </a:lnTo>
                <a:lnTo>
                  <a:pt x="239382" y="529666"/>
                </a:lnTo>
                <a:lnTo>
                  <a:pt x="248170" y="476834"/>
                </a:lnTo>
                <a:lnTo>
                  <a:pt x="259842" y="425196"/>
                </a:lnTo>
                <a:lnTo>
                  <a:pt x="272402" y="379145"/>
                </a:lnTo>
                <a:lnTo>
                  <a:pt x="290182" y="328942"/>
                </a:lnTo>
                <a:lnTo>
                  <a:pt x="312432" y="278752"/>
                </a:lnTo>
                <a:lnTo>
                  <a:pt x="338378" y="232740"/>
                </a:lnTo>
                <a:lnTo>
                  <a:pt x="359092" y="205752"/>
                </a:lnTo>
                <a:lnTo>
                  <a:pt x="367284" y="213702"/>
                </a:lnTo>
                <a:lnTo>
                  <a:pt x="379476" y="225552"/>
                </a:lnTo>
                <a:lnTo>
                  <a:pt x="440436" y="107442"/>
                </a:lnTo>
                <a:close/>
              </a:path>
              <a:path w="1357629" h="967104">
                <a:moveTo>
                  <a:pt x="1357376" y="966978"/>
                </a:moveTo>
                <a:lnTo>
                  <a:pt x="694855" y="96024"/>
                </a:lnTo>
                <a:lnTo>
                  <a:pt x="718566" y="77724"/>
                </a:lnTo>
                <a:lnTo>
                  <a:pt x="611124" y="0"/>
                </a:lnTo>
                <a:lnTo>
                  <a:pt x="658368" y="124206"/>
                </a:lnTo>
                <a:lnTo>
                  <a:pt x="674370" y="111861"/>
                </a:lnTo>
                <a:lnTo>
                  <a:pt x="681951" y="105994"/>
                </a:lnTo>
                <a:lnTo>
                  <a:pt x="1336878" y="966978"/>
                </a:lnTo>
                <a:lnTo>
                  <a:pt x="1357376" y="966978"/>
                </a:lnTo>
                <a:close/>
              </a:path>
            </a:pathLst>
          </a:custGeom>
          <a:solidFill>
            <a:srgbClr val="000000"/>
          </a:solidFill>
        </p:spPr>
        <p:txBody>
          <a:bodyPr wrap="square" lIns="0" tIns="0" rIns="0" bIns="0" rtlCol="0"/>
          <a:lstStyle/>
          <a:p>
            <a:endParaRPr/>
          </a:p>
        </p:txBody>
      </p:sp>
      <p:sp>
        <p:nvSpPr>
          <p:cNvPr id="11" name="object 11"/>
          <p:cNvSpPr txBox="1"/>
          <p:nvPr/>
        </p:nvSpPr>
        <p:spPr>
          <a:xfrm>
            <a:off x="1662938" y="3332480"/>
            <a:ext cx="1906270" cy="361315"/>
          </a:xfrm>
          <a:prstGeom prst="rect">
            <a:avLst/>
          </a:prstGeom>
        </p:spPr>
        <p:txBody>
          <a:bodyPr vert="horz" wrap="square" lIns="0" tIns="12700" rIns="0" bIns="0" rtlCol="0">
            <a:spAutoFit/>
          </a:bodyPr>
          <a:lstStyle/>
          <a:p>
            <a:pPr marL="12700">
              <a:lnSpc>
                <a:spcPct val="100000"/>
              </a:lnSpc>
              <a:spcBef>
                <a:spcPts val="100"/>
              </a:spcBef>
            </a:pPr>
            <a:r>
              <a:rPr sz="2200" spc="-5" dirty="0">
                <a:latin typeface="Arial"/>
                <a:cs typeface="Arial"/>
              </a:rPr>
              <a:t>representation)</a:t>
            </a:r>
            <a:endParaRPr sz="2200">
              <a:latin typeface="Arial"/>
              <a:cs typeface="Arial"/>
            </a:endParaRPr>
          </a:p>
        </p:txBody>
      </p:sp>
      <p:sp>
        <p:nvSpPr>
          <p:cNvPr id="12" name="object 12"/>
          <p:cNvSpPr txBox="1"/>
          <p:nvPr/>
        </p:nvSpPr>
        <p:spPr>
          <a:xfrm>
            <a:off x="7546340" y="3456685"/>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Elephant</a:t>
            </a:r>
            <a:endParaRPr sz="1800">
              <a:latin typeface="Arial"/>
              <a:cs typeface="Arial"/>
            </a:endParaRPr>
          </a:p>
        </p:txBody>
      </p:sp>
      <p:grpSp>
        <p:nvGrpSpPr>
          <p:cNvPr id="13" name="object 13"/>
          <p:cNvGrpSpPr/>
          <p:nvPr/>
        </p:nvGrpSpPr>
        <p:grpSpPr>
          <a:xfrm>
            <a:off x="457200" y="3394709"/>
            <a:ext cx="9144000" cy="1958339"/>
            <a:chOff x="457200" y="3394709"/>
            <a:chExt cx="9144000" cy="1958339"/>
          </a:xfrm>
        </p:grpSpPr>
        <p:sp>
          <p:nvSpPr>
            <p:cNvPr id="14" name="object 14"/>
            <p:cNvSpPr/>
            <p:nvPr/>
          </p:nvSpPr>
          <p:spPr>
            <a:xfrm>
              <a:off x="6861302" y="3394709"/>
              <a:ext cx="1179830" cy="979169"/>
            </a:xfrm>
            <a:custGeom>
              <a:avLst/>
              <a:gdLst/>
              <a:ahLst/>
              <a:cxnLst/>
              <a:rect l="l" t="t" r="r" b="b"/>
              <a:pathLst>
                <a:path w="1179829" h="979170">
                  <a:moveTo>
                    <a:pt x="449199" y="979170"/>
                  </a:moveTo>
                  <a:lnTo>
                    <a:pt x="395414" y="910513"/>
                  </a:lnTo>
                  <a:lnTo>
                    <a:pt x="366649" y="870610"/>
                  </a:lnTo>
                  <a:lnTo>
                    <a:pt x="339356" y="830554"/>
                  </a:lnTo>
                  <a:lnTo>
                    <a:pt x="313575" y="790600"/>
                  </a:lnTo>
                  <a:lnTo>
                    <a:pt x="289369" y="750951"/>
                  </a:lnTo>
                  <a:lnTo>
                    <a:pt x="266801" y="711860"/>
                  </a:lnTo>
                  <a:lnTo>
                    <a:pt x="245935" y="673557"/>
                  </a:lnTo>
                  <a:lnTo>
                    <a:pt x="204990" y="592886"/>
                  </a:lnTo>
                  <a:lnTo>
                    <a:pt x="184023" y="548640"/>
                  </a:lnTo>
                  <a:lnTo>
                    <a:pt x="163931" y="503618"/>
                  </a:lnTo>
                  <a:lnTo>
                    <a:pt x="144767" y="457873"/>
                  </a:lnTo>
                  <a:lnTo>
                    <a:pt x="126568" y="411492"/>
                  </a:lnTo>
                  <a:lnTo>
                    <a:pt x="109372" y="364553"/>
                  </a:lnTo>
                  <a:lnTo>
                    <a:pt x="93218" y="317106"/>
                  </a:lnTo>
                  <a:lnTo>
                    <a:pt x="78143" y="269227"/>
                  </a:lnTo>
                  <a:lnTo>
                    <a:pt x="64173" y="220992"/>
                  </a:lnTo>
                  <a:lnTo>
                    <a:pt x="51371" y="172478"/>
                  </a:lnTo>
                  <a:lnTo>
                    <a:pt x="39776" y="123748"/>
                  </a:lnTo>
                  <a:lnTo>
                    <a:pt x="29400" y="74879"/>
                  </a:lnTo>
                  <a:lnTo>
                    <a:pt x="20307" y="25933"/>
                  </a:lnTo>
                  <a:lnTo>
                    <a:pt x="16192" y="0"/>
                  </a:lnTo>
                  <a:lnTo>
                    <a:pt x="0" y="0"/>
                  </a:lnTo>
                  <a:lnTo>
                    <a:pt x="14147" y="80187"/>
                  </a:lnTo>
                  <a:lnTo>
                    <a:pt x="24434" y="128625"/>
                  </a:lnTo>
                  <a:lnTo>
                    <a:pt x="35902" y="176796"/>
                  </a:lnTo>
                  <a:lnTo>
                    <a:pt x="48539" y="224688"/>
                  </a:lnTo>
                  <a:lnTo>
                    <a:pt x="62293" y="272275"/>
                  </a:lnTo>
                  <a:lnTo>
                    <a:pt x="77152" y="319544"/>
                  </a:lnTo>
                  <a:lnTo>
                    <a:pt x="93103" y="366458"/>
                  </a:lnTo>
                  <a:lnTo>
                    <a:pt x="110096" y="413016"/>
                  </a:lnTo>
                  <a:lnTo>
                    <a:pt x="128130" y="459181"/>
                  </a:lnTo>
                  <a:lnTo>
                    <a:pt x="147167" y="504939"/>
                  </a:lnTo>
                  <a:lnTo>
                    <a:pt x="167195" y="550278"/>
                  </a:lnTo>
                  <a:lnTo>
                    <a:pt x="188175" y="595160"/>
                  </a:lnTo>
                  <a:lnTo>
                    <a:pt x="210083" y="639584"/>
                  </a:lnTo>
                  <a:lnTo>
                    <a:pt x="232918" y="683514"/>
                  </a:lnTo>
                  <a:lnTo>
                    <a:pt x="253479" y="721207"/>
                  </a:lnTo>
                  <a:lnTo>
                    <a:pt x="275856" y="759879"/>
                  </a:lnTo>
                  <a:lnTo>
                    <a:pt x="299974" y="799287"/>
                  </a:lnTo>
                  <a:lnTo>
                    <a:pt x="325767" y="839190"/>
                  </a:lnTo>
                  <a:lnTo>
                    <a:pt x="353199" y="879322"/>
                  </a:lnTo>
                  <a:lnTo>
                    <a:pt x="382168" y="919441"/>
                  </a:lnTo>
                  <a:lnTo>
                    <a:pt x="412635" y="959294"/>
                  </a:lnTo>
                  <a:lnTo>
                    <a:pt x="428777" y="979170"/>
                  </a:lnTo>
                  <a:lnTo>
                    <a:pt x="449199" y="979170"/>
                  </a:lnTo>
                  <a:close/>
                </a:path>
                <a:path w="1179829" h="979170">
                  <a:moveTo>
                    <a:pt x="1146556" y="29718"/>
                  </a:moveTo>
                  <a:lnTo>
                    <a:pt x="1123950" y="0"/>
                  </a:lnTo>
                  <a:lnTo>
                    <a:pt x="1103452" y="0"/>
                  </a:lnTo>
                  <a:lnTo>
                    <a:pt x="1133602" y="39624"/>
                  </a:lnTo>
                  <a:lnTo>
                    <a:pt x="1146556" y="29718"/>
                  </a:lnTo>
                  <a:close/>
                </a:path>
                <a:path w="1179829" h="979170">
                  <a:moveTo>
                    <a:pt x="1179322" y="542544"/>
                  </a:moveTo>
                  <a:lnTo>
                    <a:pt x="1141984" y="415290"/>
                  </a:lnTo>
                  <a:lnTo>
                    <a:pt x="1103122" y="542544"/>
                  </a:lnTo>
                  <a:lnTo>
                    <a:pt x="1133576" y="542544"/>
                  </a:lnTo>
                  <a:lnTo>
                    <a:pt x="1132814" y="979170"/>
                  </a:lnTo>
                  <a:lnTo>
                    <a:pt x="1148816" y="979170"/>
                  </a:lnTo>
                  <a:lnTo>
                    <a:pt x="1149578" y="542544"/>
                  </a:lnTo>
                  <a:lnTo>
                    <a:pt x="1179322" y="542544"/>
                  </a:lnTo>
                  <a:close/>
                </a:path>
              </a:pathLst>
            </a:custGeom>
            <a:solidFill>
              <a:srgbClr val="000000"/>
            </a:solidFill>
          </p:spPr>
          <p:txBody>
            <a:bodyPr wrap="square" lIns="0" tIns="0" rIns="0" bIns="0" rtlCol="0"/>
            <a:lstStyle/>
            <a:p>
              <a:endParaRPr/>
            </a:p>
          </p:txBody>
        </p:sp>
        <p:sp>
          <p:nvSpPr>
            <p:cNvPr id="15" name="object 15"/>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grpSp>
      <p:sp>
        <p:nvSpPr>
          <p:cNvPr id="16" name="object 16"/>
          <p:cNvSpPr txBox="1"/>
          <p:nvPr/>
        </p:nvSpPr>
        <p:spPr>
          <a:xfrm>
            <a:off x="1337563" y="3820160"/>
            <a:ext cx="4206240" cy="1031875"/>
          </a:xfrm>
          <a:prstGeom prst="rect">
            <a:avLst/>
          </a:prstGeom>
        </p:spPr>
        <p:txBody>
          <a:bodyPr vert="horz" wrap="square" lIns="0" tIns="12700" rIns="0" bIns="0" rtlCol="0">
            <a:spAutoFit/>
          </a:bodyPr>
          <a:lstStyle/>
          <a:p>
            <a:pPr marL="337820" marR="5080" indent="-325755">
              <a:lnSpc>
                <a:spcPct val="100000"/>
              </a:lnSpc>
              <a:spcBef>
                <a:spcPts val="100"/>
              </a:spcBef>
              <a:buClr>
                <a:srgbClr val="3B822F"/>
              </a:buClr>
              <a:buSzPct val="59090"/>
              <a:buFont typeface="Wingdings"/>
              <a:buChar char=""/>
              <a:tabLst>
                <a:tab pos="337820" algn="l"/>
                <a:tab pos="338455" algn="l"/>
              </a:tabLst>
            </a:pPr>
            <a:r>
              <a:rPr sz="2200" dirty="0">
                <a:latin typeface="Arial"/>
                <a:cs typeface="Arial"/>
              </a:rPr>
              <a:t>Các </a:t>
            </a:r>
            <a:r>
              <a:rPr sz="2200" spc="-5" dirty="0">
                <a:latin typeface="Arial"/>
                <a:cs typeface="Arial"/>
              </a:rPr>
              <a:t>thuộc </a:t>
            </a:r>
            <a:r>
              <a:rPr sz="2200" dirty="0">
                <a:latin typeface="Arial"/>
                <a:cs typeface="Arial"/>
              </a:rPr>
              <a:t>tính không </a:t>
            </a:r>
            <a:r>
              <a:rPr sz="2200" spc="-5" dirty="0">
                <a:latin typeface="Arial"/>
                <a:cs typeface="Arial"/>
              </a:rPr>
              <a:t>phải</a:t>
            </a:r>
            <a:r>
              <a:rPr sz="2200" spc="-65" dirty="0">
                <a:latin typeface="Arial"/>
                <a:cs typeface="Arial"/>
              </a:rPr>
              <a:t> </a:t>
            </a:r>
            <a:r>
              <a:rPr sz="2200" dirty="0">
                <a:latin typeface="Arial"/>
                <a:cs typeface="Arial"/>
              </a:rPr>
              <a:t>luôn  </a:t>
            </a:r>
            <a:r>
              <a:rPr sz="2200" spc="-5" dirty="0">
                <a:latin typeface="Arial"/>
                <a:cs typeface="Arial"/>
              </a:rPr>
              <a:t>luôn </a:t>
            </a:r>
            <a:r>
              <a:rPr sz="2200" dirty="0">
                <a:latin typeface="Arial"/>
                <a:cs typeface="Arial"/>
              </a:rPr>
              <a:t>được kế </a:t>
            </a:r>
            <a:r>
              <a:rPr sz="2200" spc="-5" dirty="0">
                <a:latin typeface="Arial"/>
                <a:cs typeface="Arial"/>
              </a:rPr>
              <a:t>thừa </a:t>
            </a:r>
            <a:r>
              <a:rPr sz="2200" dirty="0">
                <a:latin typeface="Arial"/>
                <a:cs typeface="Arial"/>
              </a:rPr>
              <a:t>– chúng có  </a:t>
            </a:r>
            <a:r>
              <a:rPr sz="2200" spc="-5" dirty="0">
                <a:latin typeface="Arial"/>
                <a:cs typeface="Arial"/>
              </a:rPr>
              <a:t>thể </a:t>
            </a:r>
            <a:r>
              <a:rPr sz="2200" i="1" spc="-5" dirty="0">
                <a:latin typeface="Arial"/>
                <a:cs typeface="Arial"/>
              </a:rPr>
              <a:t>bị hủy bỏ (defeated)</a:t>
            </a:r>
            <a:endParaRPr sz="2200">
              <a:latin typeface="Arial"/>
              <a:cs typeface="Arial"/>
            </a:endParaRPr>
          </a:p>
        </p:txBody>
      </p:sp>
      <p:sp>
        <p:nvSpPr>
          <p:cNvPr id="17" name="object 17"/>
          <p:cNvSpPr txBox="1"/>
          <p:nvPr/>
        </p:nvSpPr>
        <p:spPr>
          <a:xfrm>
            <a:off x="7698740" y="4828285"/>
            <a:ext cx="6477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Clyde</a:t>
            </a:r>
            <a:endParaRPr sz="1800">
              <a:latin typeface="Arial"/>
              <a:cs typeface="Arial"/>
            </a:endParaRPr>
          </a:p>
        </p:txBody>
      </p:sp>
      <p:sp>
        <p:nvSpPr>
          <p:cNvPr id="18" name="object 18"/>
          <p:cNvSpPr/>
          <p:nvPr/>
        </p:nvSpPr>
        <p:spPr>
          <a:xfrm>
            <a:off x="7290079" y="4373879"/>
            <a:ext cx="720090" cy="429259"/>
          </a:xfrm>
          <a:custGeom>
            <a:avLst/>
            <a:gdLst/>
            <a:ahLst/>
            <a:cxnLst/>
            <a:rect l="l" t="t" r="r" b="b"/>
            <a:pathLst>
              <a:path w="720090" h="429260">
                <a:moveTo>
                  <a:pt x="578332" y="358140"/>
                </a:moveTo>
                <a:lnTo>
                  <a:pt x="534060" y="352513"/>
                </a:lnTo>
                <a:lnTo>
                  <a:pt x="490334" y="342976"/>
                </a:lnTo>
                <a:lnTo>
                  <a:pt x="447192" y="329780"/>
                </a:lnTo>
                <a:lnTo>
                  <a:pt x="404710" y="313156"/>
                </a:lnTo>
                <a:lnTo>
                  <a:pt x="362927" y="293331"/>
                </a:lnTo>
                <a:lnTo>
                  <a:pt x="321906" y="270548"/>
                </a:lnTo>
                <a:lnTo>
                  <a:pt x="281724" y="245033"/>
                </a:lnTo>
                <a:lnTo>
                  <a:pt x="242404" y="217017"/>
                </a:lnTo>
                <a:lnTo>
                  <a:pt x="204038" y="186753"/>
                </a:lnTo>
                <a:lnTo>
                  <a:pt x="166662" y="154470"/>
                </a:lnTo>
                <a:lnTo>
                  <a:pt x="130352" y="120383"/>
                </a:lnTo>
                <a:lnTo>
                  <a:pt x="95148" y="84747"/>
                </a:lnTo>
                <a:lnTo>
                  <a:pt x="61112" y="47790"/>
                </a:lnTo>
                <a:lnTo>
                  <a:pt x="28321" y="9753"/>
                </a:lnTo>
                <a:lnTo>
                  <a:pt x="20421" y="0"/>
                </a:lnTo>
                <a:lnTo>
                  <a:pt x="0" y="0"/>
                </a:lnTo>
                <a:lnTo>
                  <a:pt x="49022" y="57988"/>
                </a:lnTo>
                <a:lnTo>
                  <a:pt x="83591" y="95504"/>
                </a:lnTo>
                <a:lnTo>
                  <a:pt x="119392" y="131737"/>
                </a:lnTo>
                <a:lnTo>
                  <a:pt x="156375" y="166433"/>
                </a:lnTo>
                <a:lnTo>
                  <a:pt x="194462" y="199351"/>
                </a:lnTo>
                <a:lnTo>
                  <a:pt x="233591" y="230212"/>
                </a:lnTo>
                <a:lnTo>
                  <a:pt x="273723" y="258787"/>
                </a:lnTo>
                <a:lnTo>
                  <a:pt x="314756" y="284822"/>
                </a:lnTo>
                <a:lnTo>
                  <a:pt x="356666" y="308051"/>
                </a:lnTo>
                <a:lnTo>
                  <a:pt x="399351" y="328231"/>
                </a:lnTo>
                <a:lnTo>
                  <a:pt x="442785" y="345109"/>
                </a:lnTo>
                <a:lnTo>
                  <a:pt x="486867" y="358432"/>
                </a:lnTo>
                <a:lnTo>
                  <a:pt x="531571" y="367944"/>
                </a:lnTo>
                <a:lnTo>
                  <a:pt x="576808" y="373380"/>
                </a:lnTo>
                <a:lnTo>
                  <a:pt x="578332" y="358140"/>
                </a:lnTo>
                <a:close/>
              </a:path>
              <a:path w="720090" h="429260">
                <a:moveTo>
                  <a:pt x="720039" y="0"/>
                </a:moveTo>
                <a:lnTo>
                  <a:pt x="704037" y="0"/>
                </a:lnTo>
                <a:lnTo>
                  <a:pt x="703300" y="429006"/>
                </a:lnTo>
                <a:lnTo>
                  <a:pt x="719302" y="429006"/>
                </a:lnTo>
                <a:lnTo>
                  <a:pt x="720039" y="0"/>
                </a:lnTo>
                <a:close/>
              </a:path>
            </a:pathLst>
          </a:custGeom>
          <a:solidFill>
            <a:srgbClr val="000000"/>
          </a:solidFill>
        </p:spPr>
        <p:txBody>
          <a:bodyPr wrap="square" lIns="0" tIns="0" rIns="0" bIns="0" rtlCol="0"/>
          <a:lstStyle/>
          <a:p>
            <a:endParaRPr/>
          </a:p>
        </p:txBody>
      </p:sp>
      <p:sp>
        <p:nvSpPr>
          <p:cNvPr id="19" name="object 19"/>
          <p:cNvSpPr txBox="1"/>
          <p:nvPr/>
        </p:nvSpPr>
        <p:spPr>
          <a:xfrm>
            <a:off x="1337563" y="4978400"/>
            <a:ext cx="4465955" cy="696595"/>
          </a:xfrm>
          <a:prstGeom prst="rect">
            <a:avLst/>
          </a:prstGeom>
        </p:spPr>
        <p:txBody>
          <a:bodyPr vert="horz" wrap="square" lIns="0" tIns="12700" rIns="0" bIns="0" rtlCol="0">
            <a:spAutoFit/>
          </a:bodyPr>
          <a:lstStyle/>
          <a:p>
            <a:pPr marL="337820" marR="5080" indent="-325755">
              <a:lnSpc>
                <a:spcPct val="100000"/>
              </a:lnSpc>
              <a:spcBef>
                <a:spcPts val="100"/>
              </a:spcBef>
              <a:buClr>
                <a:srgbClr val="3B822F"/>
              </a:buClr>
              <a:buSzPct val="59090"/>
              <a:buFont typeface="Wingdings"/>
              <a:buChar char=""/>
              <a:tabLst>
                <a:tab pos="337820" algn="l"/>
                <a:tab pos="338455" algn="l"/>
              </a:tabLst>
            </a:pPr>
            <a:r>
              <a:rPr sz="2200" dirty="0">
                <a:latin typeface="Arial"/>
                <a:cs typeface="Arial"/>
              </a:rPr>
              <a:t>Các </a:t>
            </a:r>
            <a:r>
              <a:rPr sz="2200" spc="-5" dirty="0">
                <a:latin typeface="Arial"/>
                <a:cs typeface="Arial"/>
              </a:rPr>
              <a:t>kết luận </a:t>
            </a:r>
            <a:r>
              <a:rPr sz="2200" dirty="0">
                <a:latin typeface="Arial"/>
                <a:cs typeface="Arial"/>
              </a:rPr>
              <a:t>được xác </a:t>
            </a:r>
            <a:r>
              <a:rPr sz="2200" spc="-5" dirty="0">
                <a:latin typeface="Arial"/>
                <a:cs typeface="Arial"/>
              </a:rPr>
              <a:t>định bằng  </a:t>
            </a:r>
            <a:r>
              <a:rPr sz="2200" dirty="0">
                <a:latin typeface="Arial"/>
                <a:cs typeface="Arial"/>
              </a:rPr>
              <a:t>cách duyệt </a:t>
            </a:r>
            <a:r>
              <a:rPr sz="2200" spc="-5" dirty="0">
                <a:latin typeface="Arial"/>
                <a:cs typeface="Arial"/>
              </a:rPr>
              <a:t>từ </a:t>
            </a:r>
            <a:r>
              <a:rPr sz="2200" dirty="0">
                <a:latin typeface="Arial"/>
                <a:cs typeface="Arial"/>
              </a:rPr>
              <a:t>nút </a:t>
            </a:r>
            <a:r>
              <a:rPr sz="2200" spc="-5" dirty="0">
                <a:latin typeface="Arial"/>
                <a:cs typeface="Arial"/>
              </a:rPr>
              <a:t>hiện thời</a:t>
            </a:r>
            <a:r>
              <a:rPr sz="2200" spc="-40" dirty="0">
                <a:latin typeface="Arial"/>
                <a:cs typeface="Arial"/>
              </a:rPr>
              <a:t> </a:t>
            </a:r>
            <a:r>
              <a:rPr sz="2200" dirty="0">
                <a:latin typeface="Arial"/>
                <a:cs typeface="Arial"/>
              </a:rPr>
              <a:t>và</a:t>
            </a:r>
            <a:endParaRPr sz="2200">
              <a:latin typeface="Arial"/>
              <a:cs typeface="Arial"/>
            </a:endParaRPr>
          </a:p>
        </p:txBody>
      </p:sp>
      <p:sp>
        <p:nvSpPr>
          <p:cNvPr id="20" name="object 20"/>
          <p:cNvSpPr txBox="1"/>
          <p:nvPr/>
        </p:nvSpPr>
        <p:spPr>
          <a:xfrm>
            <a:off x="1662938" y="5648957"/>
            <a:ext cx="3745229" cy="1031875"/>
          </a:xfrm>
          <a:prstGeom prst="rect">
            <a:avLst/>
          </a:prstGeom>
        </p:spPr>
        <p:txBody>
          <a:bodyPr vert="horz" wrap="square" lIns="0" tIns="12700" rIns="0" bIns="0" rtlCol="0">
            <a:spAutoFit/>
          </a:bodyPr>
          <a:lstStyle/>
          <a:p>
            <a:pPr marL="12700" marR="5080">
              <a:lnSpc>
                <a:spcPct val="100000"/>
              </a:lnSpc>
              <a:spcBef>
                <a:spcPts val="100"/>
              </a:spcBef>
            </a:pPr>
            <a:r>
              <a:rPr sz="2200" spc="-5" dirty="0">
                <a:latin typeface="Arial"/>
                <a:cs typeface="Arial"/>
              </a:rPr>
              <a:t>chọn </a:t>
            </a:r>
            <a:r>
              <a:rPr sz="2200" b="1" dirty="0">
                <a:latin typeface="Arial"/>
                <a:cs typeface="Arial"/>
              </a:rPr>
              <a:t>phiên </a:t>
            </a:r>
            <a:r>
              <a:rPr sz="2200" b="1" spc="-5" dirty="0">
                <a:latin typeface="Arial"/>
                <a:cs typeface="Arial"/>
              </a:rPr>
              <a:t>bản đầu tiên của  thuộc tính </a:t>
            </a:r>
            <a:r>
              <a:rPr sz="2200" spc="-5" dirty="0">
                <a:latin typeface="Arial"/>
                <a:cs typeface="Arial"/>
              </a:rPr>
              <a:t>(</a:t>
            </a:r>
            <a:r>
              <a:rPr sz="2200" b="1" spc="-5" dirty="0">
                <a:latin typeface="Arial"/>
                <a:cs typeface="Arial"/>
              </a:rPr>
              <a:t>first version of  property) </a:t>
            </a:r>
            <a:r>
              <a:rPr sz="2200" spc="-5" dirty="0">
                <a:latin typeface="Arial"/>
                <a:cs typeface="Arial"/>
              </a:rPr>
              <a:t>cần kết luận</a:t>
            </a:r>
            <a:endParaRPr sz="2200">
              <a:latin typeface="Arial"/>
              <a:cs typeface="Arial"/>
            </a:endParaRPr>
          </a:p>
        </p:txBody>
      </p:sp>
      <p:sp>
        <p:nvSpPr>
          <p:cNvPr id="21" name="object 2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5" name="Title 24">
            <a:extLst>
              <a:ext uri="{FF2B5EF4-FFF2-40B4-BE49-F238E27FC236}">
                <a16:creationId xmlns:a16="http://schemas.microsoft.com/office/drawing/2014/main" id="{C81CA0AC-737F-4737-925D-CC15EC61B1CC}"/>
              </a:ext>
            </a:extLst>
          </p:cNvPr>
          <p:cNvSpPr>
            <a:spLocks noGrp="1"/>
          </p:cNvSpPr>
          <p:nvPr>
            <p:ph type="title"/>
          </p:nvPr>
        </p:nvSpPr>
        <p:spPr/>
        <p:txBody>
          <a:bodyPr/>
          <a:lstStyle/>
          <a:p>
            <a:r>
              <a:rPr lang="en-US" b="0" spc="-5">
                <a:latin typeface="Verdana"/>
                <a:cs typeface="Verdana"/>
              </a:rPr>
              <a:t>Mạng kế thừa</a:t>
            </a:r>
            <a:r>
              <a:rPr lang="en-US" b="0" spc="-55">
                <a:latin typeface="Verdana"/>
                <a:cs typeface="Verdana"/>
              </a:rPr>
              <a:t> </a:t>
            </a:r>
            <a:r>
              <a:rPr lang="en-US" b="0" spc="-5">
                <a:latin typeface="Verdana"/>
                <a:cs typeface="Verdana"/>
              </a:rPr>
              <a:t>(3)</a:t>
            </a:r>
            <a:endParaRPr lang="en-US" b="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 name="object 1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9" name="object 1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56</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929638"/>
            <a:ext cx="4044950" cy="75692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b="1" spc="-5" dirty="0">
                <a:latin typeface="Arial"/>
                <a:cs typeface="Arial"/>
              </a:rPr>
              <a:t>Tính nhập nhằng trong</a:t>
            </a:r>
            <a:r>
              <a:rPr sz="2400" b="1" spc="-110" dirty="0">
                <a:latin typeface="Arial"/>
                <a:cs typeface="Arial"/>
              </a:rPr>
              <a:t> </a:t>
            </a:r>
            <a:r>
              <a:rPr sz="2400" b="1" spc="-5" dirty="0">
                <a:latin typeface="Arial"/>
                <a:cs typeface="Arial"/>
              </a:rPr>
              <a:t>kế  thừa (Ambiguity</a:t>
            </a:r>
            <a:r>
              <a:rPr sz="2400" b="1" spc="-20" dirty="0">
                <a:latin typeface="Arial"/>
                <a:cs typeface="Arial"/>
              </a:rPr>
              <a:t> </a:t>
            </a:r>
            <a:r>
              <a:rPr sz="2400" b="1" spc="-5" dirty="0">
                <a:latin typeface="Arial"/>
                <a:cs typeface="Arial"/>
              </a:rPr>
              <a:t>in</a:t>
            </a:r>
            <a:endParaRPr sz="2400">
              <a:latin typeface="Arial"/>
              <a:cs typeface="Arial"/>
            </a:endParaRPr>
          </a:p>
        </p:txBody>
      </p:sp>
      <p:sp>
        <p:nvSpPr>
          <p:cNvPr id="7" name="object 7"/>
          <p:cNvSpPr txBox="1"/>
          <p:nvPr/>
        </p:nvSpPr>
        <p:spPr>
          <a:xfrm>
            <a:off x="1278889" y="2661158"/>
            <a:ext cx="1751330" cy="391160"/>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inheritance)</a:t>
            </a:r>
            <a:endParaRPr sz="2400">
              <a:latin typeface="Arial"/>
              <a:cs typeface="Arial"/>
            </a:endParaRPr>
          </a:p>
        </p:txBody>
      </p:sp>
      <p:sp>
        <p:nvSpPr>
          <p:cNvPr id="8" name="object 8"/>
          <p:cNvSpPr txBox="1"/>
          <p:nvPr/>
        </p:nvSpPr>
        <p:spPr>
          <a:xfrm>
            <a:off x="6936740" y="2312923"/>
            <a:ext cx="83883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Pacifist</a:t>
            </a:r>
            <a:endParaRPr sz="1800">
              <a:latin typeface="Arial"/>
              <a:cs typeface="Arial"/>
            </a:endParaRPr>
          </a:p>
        </p:txBody>
      </p:sp>
      <p:sp>
        <p:nvSpPr>
          <p:cNvPr id="9" name="object 9"/>
          <p:cNvSpPr/>
          <p:nvPr/>
        </p:nvSpPr>
        <p:spPr>
          <a:xfrm>
            <a:off x="7467600" y="2666999"/>
            <a:ext cx="844550" cy="996315"/>
          </a:xfrm>
          <a:custGeom>
            <a:avLst/>
            <a:gdLst/>
            <a:ahLst/>
            <a:cxnLst/>
            <a:rect l="l" t="t" r="r" b="b"/>
            <a:pathLst>
              <a:path w="844550" h="996314">
                <a:moveTo>
                  <a:pt x="844296" y="986028"/>
                </a:moveTo>
                <a:lnTo>
                  <a:pt x="625830" y="727710"/>
                </a:lnTo>
                <a:lnTo>
                  <a:pt x="250774" y="284251"/>
                </a:lnTo>
                <a:lnTo>
                  <a:pt x="387096" y="158496"/>
                </a:lnTo>
                <a:lnTo>
                  <a:pt x="375666" y="147066"/>
                </a:lnTo>
                <a:lnTo>
                  <a:pt x="240334" y="271907"/>
                </a:lnTo>
                <a:lnTo>
                  <a:pt x="88252" y="92062"/>
                </a:lnTo>
                <a:lnTo>
                  <a:pt x="111252" y="72390"/>
                </a:lnTo>
                <a:lnTo>
                  <a:pt x="0" y="0"/>
                </a:lnTo>
                <a:lnTo>
                  <a:pt x="53340" y="121920"/>
                </a:lnTo>
                <a:lnTo>
                  <a:pt x="67818" y="109537"/>
                </a:lnTo>
                <a:lnTo>
                  <a:pt x="75958" y="102577"/>
                </a:lnTo>
                <a:lnTo>
                  <a:pt x="228587" y="282740"/>
                </a:lnTo>
                <a:lnTo>
                  <a:pt x="70866" y="428244"/>
                </a:lnTo>
                <a:lnTo>
                  <a:pt x="82296" y="439674"/>
                </a:lnTo>
                <a:lnTo>
                  <a:pt x="239039" y="295071"/>
                </a:lnTo>
                <a:lnTo>
                  <a:pt x="605599" y="727710"/>
                </a:lnTo>
                <a:lnTo>
                  <a:pt x="832866" y="995934"/>
                </a:lnTo>
                <a:lnTo>
                  <a:pt x="844296" y="986028"/>
                </a:lnTo>
                <a:close/>
              </a:path>
            </a:pathLst>
          </a:custGeom>
          <a:solidFill>
            <a:srgbClr val="000000"/>
          </a:solidFill>
        </p:spPr>
        <p:txBody>
          <a:bodyPr wrap="square" lIns="0" tIns="0" rIns="0" bIns="0" rtlCol="0"/>
          <a:lstStyle/>
          <a:p>
            <a:endParaRPr/>
          </a:p>
        </p:txBody>
      </p:sp>
      <p:sp>
        <p:nvSpPr>
          <p:cNvPr id="10" name="object 10"/>
          <p:cNvSpPr/>
          <p:nvPr/>
        </p:nvSpPr>
        <p:spPr>
          <a:xfrm>
            <a:off x="6471666" y="2666999"/>
            <a:ext cx="845819" cy="996315"/>
          </a:xfrm>
          <a:custGeom>
            <a:avLst/>
            <a:gdLst/>
            <a:ahLst/>
            <a:cxnLst/>
            <a:rect l="l" t="t" r="r" b="b"/>
            <a:pathLst>
              <a:path w="845820" h="996314">
                <a:moveTo>
                  <a:pt x="845820" y="0"/>
                </a:moveTo>
                <a:lnTo>
                  <a:pt x="734568" y="72390"/>
                </a:lnTo>
                <a:lnTo>
                  <a:pt x="757542" y="92049"/>
                </a:lnTo>
                <a:lnTo>
                  <a:pt x="218884" y="727710"/>
                </a:lnTo>
                <a:lnTo>
                  <a:pt x="0" y="986028"/>
                </a:lnTo>
                <a:lnTo>
                  <a:pt x="11430" y="995934"/>
                </a:lnTo>
                <a:lnTo>
                  <a:pt x="238899" y="727710"/>
                </a:lnTo>
                <a:lnTo>
                  <a:pt x="769404" y="102196"/>
                </a:lnTo>
                <a:lnTo>
                  <a:pt x="777240" y="108889"/>
                </a:lnTo>
                <a:lnTo>
                  <a:pt x="792480" y="121920"/>
                </a:lnTo>
                <a:lnTo>
                  <a:pt x="845820" y="0"/>
                </a:lnTo>
                <a:close/>
              </a:path>
            </a:pathLst>
          </a:custGeom>
          <a:solidFill>
            <a:srgbClr val="000000"/>
          </a:solidFill>
        </p:spPr>
        <p:txBody>
          <a:bodyPr wrap="square" lIns="0" tIns="0" rIns="0" bIns="0" rtlCol="0"/>
          <a:lstStyle/>
          <a:p>
            <a:endParaRPr/>
          </a:p>
        </p:txBody>
      </p:sp>
      <p:sp>
        <p:nvSpPr>
          <p:cNvPr id="11" name="object 11"/>
          <p:cNvSpPr txBox="1"/>
          <p:nvPr/>
        </p:nvSpPr>
        <p:spPr>
          <a:xfrm>
            <a:off x="993139" y="3179317"/>
            <a:ext cx="4126865" cy="1427480"/>
          </a:xfrm>
          <a:prstGeom prst="rect">
            <a:avLst/>
          </a:prstGeom>
        </p:spPr>
        <p:txBody>
          <a:bodyPr vert="horz" wrap="square" lIns="0" tIns="165100" rIns="0" bIns="0" rtlCol="0">
            <a:spAutoFit/>
          </a:bodyPr>
          <a:lstStyle/>
          <a:p>
            <a:pPr marL="298450" indent="-285750">
              <a:lnSpc>
                <a:spcPct val="100000"/>
              </a:lnSpc>
              <a:spcBef>
                <a:spcPts val="1300"/>
              </a:spcBef>
              <a:buClr>
                <a:srgbClr val="CC9A00"/>
              </a:buClr>
              <a:buSzPct val="64583"/>
              <a:buFont typeface="Wingdings"/>
              <a:buChar char=""/>
              <a:tabLst>
                <a:tab pos="297815" algn="l"/>
                <a:tab pos="298450" algn="l"/>
              </a:tabLst>
            </a:pPr>
            <a:r>
              <a:rPr sz="2400" spc="-5" dirty="0">
                <a:latin typeface="Arial"/>
                <a:cs typeface="Arial"/>
              </a:rPr>
              <a:t>Hãy xét ví </a:t>
            </a:r>
            <a:r>
              <a:rPr sz="2400" dirty="0">
                <a:latin typeface="Arial"/>
                <a:cs typeface="Arial"/>
              </a:rPr>
              <a:t>dụ </a:t>
            </a:r>
            <a:r>
              <a:rPr sz="2400" spc="-5" dirty="0">
                <a:latin typeface="Arial"/>
                <a:cs typeface="Arial"/>
              </a:rPr>
              <a:t>sau</a:t>
            </a:r>
            <a:r>
              <a:rPr sz="2400" spc="-30" dirty="0">
                <a:latin typeface="Arial"/>
                <a:cs typeface="Arial"/>
              </a:rPr>
              <a:t> </a:t>
            </a:r>
            <a:r>
              <a:rPr sz="2400" spc="-5" dirty="0">
                <a:latin typeface="Arial"/>
                <a:cs typeface="Arial"/>
              </a:rPr>
              <a:t>đây:</a:t>
            </a:r>
            <a:endParaRPr sz="2400">
              <a:latin typeface="Arial"/>
              <a:cs typeface="Arial"/>
            </a:endParaRPr>
          </a:p>
          <a:p>
            <a:pPr marL="624840" marR="5080" lvl="1" indent="-285750">
              <a:lnSpc>
                <a:spcPct val="100000"/>
              </a:lnSpc>
              <a:spcBef>
                <a:spcPts val="1200"/>
              </a:spcBef>
              <a:buClr>
                <a:srgbClr val="3B822F"/>
              </a:buClr>
              <a:buSzPct val="58333"/>
              <a:buFont typeface="Wingdings"/>
              <a:buChar char=""/>
              <a:tabLst>
                <a:tab pos="625475" algn="l"/>
              </a:tabLst>
            </a:pPr>
            <a:r>
              <a:rPr sz="2400" spc="-5" dirty="0">
                <a:latin typeface="Arial"/>
                <a:cs typeface="Arial"/>
              </a:rPr>
              <a:t>Nixon là người yêu hòa  bình (pacifist) hay</a:t>
            </a:r>
            <a:r>
              <a:rPr sz="2400" spc="-65" dirty="0">
                <a:latin typeface="Arial"/>
                <a:cs typeface="Arial"/>
              </a:rPr>
              <a:t> </a:t>
            </a:r>
            <a:r>
              <a:rPr sz="2400" spc="-5" dirty="0">
                <a:latin typeface="Arial"/>
                <a:cs typeface="Arial"/>
              </a:rPr>
              <a:t>không?</a:t>
            </a:r>
            <a:endParaRPr sz="2400">
              <a:latin typeface="Arial"/>
              <a:cs typeface="Arial"/>
            </a:endParaRPr>
          </a:p>
        </p:txBody>
      </p:sp>
      <p:sp>
        <p:nvSpPr>
          <p:cNvPr id="12" name="object 12"/>
          <p:cNvSpPr txBox="1"/>
          <p:nvPr/>
        </p:nvSpPr>
        <p:spPr>
          <a:xfrm>
            <a:off x="7851140" y="3685285"/>
            <a:ext cx="12566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Republican</a:t>
            </a:r>
            <a:endParaRPr sz="1800">
              <a:latin typeface="Arial"/>
              <a:cs typeface="Arial"/>
            </a:endParaRPr>
          </a:p>
        </p:txBody>
      </p:sp>
      <p:sp>
        <p:nvSpPr>
          <p:cNvPr id="13" name="object 13"/>
          <p:cNvSpPr/>
          <p:nvPr/>
        </p:nvSpPr>
        <p:spPr>
          <a:xfrm>
            <a:off x="7309866" y="4038600"/>
            <a:ext cx="998219" cy="920750"/>
          </a:xfrm>
          <a:custGeom>
            <a:avLst/>
            <a:gdLst/>
            <a:ahLst/>
            <a:cxnLst/>
            <a:rect l="l" t="t" r="r" b="b"/>
            <a:pathLst>
              <a:path w="998220" h="920750">
                <a:moveTo>
                  <a:pt x="998220" y="0"/>
                </a:moveTo>
                <a:lnTo>
                  <a:pt x="878586" y="58674"/>
                </a:lnTo>
                <a:lnTo>
                  <a:pt x="898804" y="80391"/>
                </a:lnTo>
                <a:lnTo>
                  <a:pt x="622338" y="335280"/>
                </a:lnTo>
                <a:lnTo>
                  <a:pt x="0" y="909066"/>
                </a:lnTo>
                <a:lnTo>
                  <a:pt x="11430" y="920496"/>
                </a:lnTo>
                <a:lnTo>
                  <a:pt x="646201" y="335280"/>
                </a:lnTo>
                <a:lnTo>
                  <a:pt x="909840" y="92240"/>
                </a:lnTo>
                <a:lnTo>
                  <a:pt x="918972" y="102031"/>
                </a:lnTo>
                <a:lnTo>
                  <a:pt x="930402" y="114300"/>
                </a:lnTo>
                <a:lnTo>
                  <a:pt x="998220" y="0"/>
                </a:lnTo>
                <a:close/>
              </a:path>
            </a:pathLst>
          </a:custGeom>
          <a:solidFill>
            <a:srgbClr val="000000"/>
          </a:solidFill>
        </p:spPr>
        <p:txBody>
          <a:bodyPr wrap="square" lIns="0" tIns="0" rIns="0" bIns="0" rtlCol="0"/>
          <a:lstStyle/>
          <a:p>
            <a:endParaRPr/>
          </a:p>
        </p:txBody>
      </p:sp>
      <p:sp>
        <p:nvSpPr>
          <p:cNvPr id="14" name="object 14"/>
          <p:cNvSpPr txBox="1"/>
          <p:nvPr/>
        </p:nvSpPr>
        <p:spPr>
          <a:xfrm>
            <a:off x="6022340" y="3685285"/>
            <a:ext cx="81406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Quaker</a:t>
            </a:r>
            <a:endParaRPr sz="1800">
              <a:latin typeface="Arial"/>
              <a:cs typeface="Arial"/>
            </a:endParaRPr>
          </a:p>
        </p:txBody>
      </p:sp>
      <p:sp>
        <p:nvSpPr>
          <p:cNvPr id="15" name="object 15"/>
          <p:cNvSpPr/>
          <p:nvPr/>
        </p:nvSpPr>
        <p:spPr>
          <a:xfrm>
            <a:off x="6477000" y="4027931"/>
            <a:ext cx="692785" cy="930910"/>
          </a:xfrm>
          <a:custGeom>
            <a:avLst/>
            <a:gdLst/>
            <a:ahLst/>
            <a:cxnLst/>
            <a:rect l="l" t="t" r="r" b="b"/>
            <a:pathLst>
              <a:path w="692784" h="930910">
                <a:moveTo>
                  <a:pt x="692658" y="920496"/>
                </a:moveTo>
                <a:lnTo>
                  <a:pt x="266725" y="345948"/>
                </a:lnTo>
                <a:lnTo>
                  <a:pt x="82473" y="97409"/>
                </a:lnTo>
                <a:lnTo>
                  <a:pt x="106680" y="79248"/>
                </a:lnTo>
                <a:lnTo>
                  <a:pt x="0" y="0"/>
                </a:lnTo>
                <a:lnTo>
                  <a:pt x="45720" y="124968"/>
                </a:lnTo>
                <a:lnTo>
                  <a:pt x="61722" y="112966"/>
                </a:lnTo>
                <a:lnTo>
                  <a:pt x="69430" y="107188"/>
                </a:lnTo>
                <a:lnTo>
                  <a:pt x="246430" y="345948"/>
                </a:lnTo>
                <a:lnTo>
                  <a:pt x="679704" y="930402"/>
                </a:lnTo>
                <a:lnTo>
                  <a:pt x="692658" y="920496"/>
                </a:lnTo>
                <a:close/>
              </a:path>
            </a:pathLst>
          </a:custGeom>
          <a:solidFill>
            <a:srgbClr val="000000"/>
          </a:solidFill>
        </p:spPr>
        <p:txBody>
          <a:bodyPr wrap="square" lIns="0" tIns="0" rIns="0" bIns="0" rtlCol="0"/>
          <a:lstStyle/>
          <a:p>
            <a:endParaRPr/>
          </a:p>
        </p:txBody>
      </p:sp>
      <p:sp>
        <p:nvSpPr>
          <p:cNvPr id="16" name="object 16"/>
          <p:cNvSpPr txBox="1"/>
          <p:nvPr/>
        </p:nvSpPr>
        <p:spPr>
          <a:xfrm>
            <a:off x="6936740" y="5056885"/>
            <a:ext cx="6604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Nixon</a:t>
            </a:r>
            <a:endParaRPr sz="1800">
              <a:latin typeface="Arial"/>
              <a:cs typeface="Arial"/>
            </a:endParaRPr>
          </a:p>
        </p:txBody>
      </p:sp>
      <p:sp>
        <p:nvSpPr>
          <p:cNvPr id="17" name="object 1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1" name="Title 20">
            <a:extLst>
              <a:ext uri="{FF2B5EF4-FFF2-40B4-BE49-F238E27FC236}">
                <a16:creationId xmlns:a16="http://schemas.microsoft.com/office/drawing/2014/main" id="{91986262-2E6E-47B5-B866-0D5DE873BA90}"/>
              </a:ext>
            </a:extLst>
          </p:cNvPr>
          <p:cNvSpPr>
            <a:spLocks noGrp="1"/>
          </p:cNvSpPr>
          <p:nvPr>
            <p:ph type="title"/>
          </p:nvPr>
        </p:nvSpPr>
        <p:spPr/>
        <p:txBody>
          <a:bodyPr/>
          <a:lstStyle/>
          <a:p>
            <a:r>
              <a:rPr lang="en-US" b="0" spc="-5">
                <a:latin typeface="Verdana"/>
                <a:cs typeface="Verdana"/>
              </a:rPr>
              <a:t>Mạng kế thừa</a:t>
            </a:r>
            <a:r>
              <a:rPr lang="en-US" b="0" spc="-55">
                <a:latin typeface="Verdana"/>
                <a:cs typeface="Verdana"/>
              </a:rPr>
              <a:t> </a:t>
            </a:r>
            <a:r>
              <a:rPr lang="en-US" b="0" spc="-5">
                <a:latin typeface="Verdana"/>
                <a:cs typeface="Verdana"/>
              </a:rPr>
              <a:t>(4)</a:t>
            </a:r>
            <a:endParaRPr lang="en-US" b="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object 3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7" name="object 3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57</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701799"/>
            <a:ext cx="3593465" cy="696595"/>
          </a:xfrm>
          <a:prstGeom prst="rect">
            <a:avLst/>
          </a:prstGeom>
        </p:spPr>
        <p:txBody>
          <a:bodyPr vert="horz" wrap="square" lIns="0" tIns="12700" rIns="0" bIns="0" rtlCol="0">
            <a:spAutoFit/>
          </a:bodyPr>
          <a:lstStyle/>
          <a:p>
            <a:pPr marL="298450" marR="5080" indent="-286385">
              <a:lnSpc>
                <a:spcPct val="100000"/>
              </a:lnSpc>
              <a:spcBef>
                <a:spcPts val="100"/>
              </a:spcBef>
              <a:buClr>
                <a:srgbClr val="CC9A00"/>
              </a:buClr>
              <a:buSzPct val="63636"/>
              <a:buFont typeface="Wingdings"/>
              <a:buChar char=""/>
              <a:tabLst>
                <a:tab pos="297815" algn="l"/>
                <a:tab pos="298450" algn="l"/>
              </a:tabLst>
            </a:pPr>
            <a:r>
              <a:rPr sz="2200" b="1" spc="-5" dirty="0">
                <a:latin typeface="Arial"/>
                <a:cs typeface="Arial"/>
              </a:rPr>
              <a:t>Kế thừa có thể bị hủy bỏ  (Defeasible</a:t>
            </a:r>
            <a:r>
              <a:rPr sz="2200" b="1" spc="-15" dirty="0">
                <a:latin typeface="Arial"/>
                <a:cs typeface="Arial"/>
              </a:rPr>
              <a:t> </a:t>
            </a:r>
            <a:r>
              <a:rPr sz="2200" b="1" spc="-5" dirty="0">
                <a:latin typeface="Arial"/>
                <a:cs typeface="Arial"/>
              </a:rPr>
              <a:t>inheritance)</a:t>
            </a:r>
            <a:endParaRPr sz="2200">
              <a:latin typeface="Arial"/>
              <a:cs typeface="Arial"/>
            </a:endParaRPr>
          </a:p>
        </p:txBody>
      </p:sp>
      <p:sp>
        <p:nvSpPr>
          <p:cNvPr id="7" name="object 7"/>
          <p:cNvSpPr txBox="1"/>
          <p:nvPr/>
        </p:nvSpPr>
        <p:spPr>
          <a:xfrm>
            <a:off x="5184140" y="2008123"/>
            <a:ext cx="18288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Aquatic</a:t>
            </a:r>
            <a:r>
              <a:rPr sz="1800" b="1" spc="-85" dirty="0">
                <a:latin typeface="Arial"/>
                <a:cs typeface="Arial"/>
              </a:rPr>
              <a:t> </a:t>
            </a:r>
            <a:r>
              <a:rPr sz="1800" b="1" dirty="0">
                <a:latin typeface="Arial"/>
                <a:cs typeface="Arial"/>
              </a:rPr>
              <a:t>creature</a:t>
            </a:r>
            <a:endParaRPr sz="1800">
              <a:latin typeface="Arial"/>
              <a:cs typeface="Arial"/>
            </a:endParaRPr>
          </a:p>
        </p:txBody>
      </p:sp>
      <p:sp>
        <p:nvSpPr>
          <p:cNvPr id="8" name="object 8"/>
          <p:cNvSpPr/>
          <p:nvPr/>
        </p:nvSpPr>
        <p:spPr>
          <a:xfrm>
            <a:off x="5765063" y="2364485"/>
            <a:ext cx="2406015" cy="51435"/>
          </a:xfrm>
          <a:custGeom>
            <a:avLst/>
            <a:gdLst/>
            <a:ahLst/>
            <a:cxnLst/>
            <a:rect l="l" t="t" r="r" b="b"/>
            <a:pathLst>
              <a:path w="2406015" h="51435">
                <a:moveTo>
                  <a:pt x="74904" y="41910"/>
                </a:moveTo>
                <a:lnTo>
                  <a:pt x="0" y="51054"/>
                </a:lnTo>
                <a:lnTo>
                  <a:pt x="64211" y="51054"/>
                </a:lnTo>
                <a:lnTo>
                  <a:pt x="74904" y="41910"/>
                </a:lnTo>
                <a:close/>
              </a:path>
              <a:path w="2406015" h="51435">
                <a:moveTo>
                  <a:pt x="272084" y="51054"/>
                </a:moveTo>
                <a:lnTo>
                  <a:pt x="257022" y="0"/>
                </a:lnTo>
                <a:lnTo>
                  <a:pt x="241325" y="51054"/>
                </a:lnTo>
                <a:lnTo>
                  <a:pt x="272084" y="51054"/>
                </a:lnTo>
                <a:close/>
              </a:path>
              <a:path w="2406015" h="51435">
                <a:moveTo>
                  <a:pt x="2208504" y="41910"/>
                </a:moveTo>
                <a:lnTo>
                  <a:pt x="2133600" y="51054"/>
                </a:lnTo>
                <a:lnTo>
                  <a:pt x="2197811" y="51054"/>
                </a:lnTo>
                <a:lnTo>
                  <a:pt x="2208504" y="41910"/>
                </a:lnTo>
                <a:close/>
              </a:path>
              <a:path w="2406015" h="51435">
                <a:moveTo>
                  <a:pt x="2405684" y="51054"/>
                </a:moveTo>
                <a:lnTo>
                  <a:pt x="2390622" y="0"/>
                </a:lnTo>
                <a:lnTo>
                  <a:pt x="2374925" y="51054"/>
                </a:lnTo>
                <a:lnTo>
                  <a:pt x="2405684" y="51054"/>
                </a:lnTo>
                <a:close/>
              </a:path>
            </a:pathLst>
          </a:custGeom>
          <a:solidFill>
            <a:srgbClr val="000000"/>
          </a:solidFill>
        </p:spPr>
        <p:txBody>
          <a:bodyPr wrap="square" lIns="0" tIns="0" rIns="0" bIns="0" rtlCol="0"/>
          <a:lstStyle/>
          <a:p>
            <a:endParaRPr/>
          </a:p>
        </p:txBody>
      </p:sp>
      <p:sp>
        <p:nvSpPr>
          <p:cNvPr id="9" name="object 9"/>
          <p:cNvSpPr txBox="1"/>
          <p:nvPr/>
        </p:nvSpPr>
        <p:spPr>
          <a:xfrm>
            <a:off x="7851140" y="2008123"/>
            <a:ext cx="54737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Gray</a:t>
            </a:r>
            <a:endParaRPr sz="1800">
              <a:latin typeface="Arial"/>
              <a:cs typeface="Arial"/>
            </a:endParaRPr>
          </a:p>
        </p:txBody>
      </p:sp>
      <p:sp>
        <p:nvSpPr>
          <p:cNvPr id="10" name="object 10"/>
          <p:cNvSpPr txBox="1"/>
          <p:nvPr/>
        </p:nvSpPr>
        <p:spPr>
          <a:xfrm>
            <a:off x="1337563" y="2449322"/>
            <a:ext cx="3378200" cy="1016000"/>
          </a:xfrm>
          <a:prstGeom prst="rect">
            <a:avLst/>
          </a:prstGeom>
        </p:spPr>
        <p:txBody>
          <a:bodyPr vert="horz" wrap="square" lIns="0" tIns="12065" rIns="0" bIns="0" rtlCol="0">
            <a:spAutoFit/>
          </a:bodyPr>
          <a:lstStyle/>
          <a:p>
            <a:pPr marL="293370" marR="5080" indent="-281305">
              <a:lnSpc>
                <a:spcPct val="100000"/>
              </a:lnSpc>
              <a:spcBef>
                <a:spcPts val="95"/>
              </a:spcBef>
              <a:buClr>
                <a:srgbClr val="3B822F"/>
              </a:buClr>
              <a:buSzPct val="60000"/>
              <a:buFont typeface="Wingdings"/>
              <a:buChar char=""/>
              <a:tabLst>
                <a:tab pos="293370" algn="l"/>
                <a:tab pos="294005" algn="l"/>
              </a:tabLst>
            </a:pPr>
            <a:r>
              <a:rPr sz="2000" spc="-5" dirty="0">
                <a:latin typeface="Arial"/>
                <a:cs typeface="Arial"/>
              </a:rPr>
              <a:t>Các liên kết có cực </a:t>
            </a:r>
            <a:r>
              <a:rPr sz="2000" spc="-10" dirty="0">
                <a:latin typeface="Arial"/>
                <a:cs typeface="Arial"/>
              </a:rPr>
              <a:t>(dương  </a:t>
            </a:r>
            <a:r>
              <a:rPr sz="2000" spc="-5" dirty="0">
                <a:latin typeface="Arial"/>
                <a:cs typeface="Arial"/>
              </a:rPr>
              <a:t>hoặc</a:t>
            </a:r>
            <a:r>
              <a:rPr sz="2000" spc="-10" dirty="0">
                <a:latin typeface="Arial"/>
                <a:cs typeface="Arial"/>
              </a:rPr>
              <a:t> </a:t>
            </a:r>
            <a:r>
              <a:rPr sz="2000" spc="-5" dirty="0">
                <a:latin typeface="Arial"/>
                <a:cs typeface="Arial"/>
              </a:rPr>
              <a:t>âm)</a:t>
            </a:r>
            <a:endParaRPr sz="2000">
              <a:latin typeface="Arial"/>
              <a:cs typeface="Arial"/>
            </a:endParaRPr>
          </a:p>
          <a:p>
            <a:pPr marL="293370" indent="-281305">
              <a:lnSpc>
                <a:spcPct val="100000"/>
              </a:lnSpc>
              <a:spcBef>
                <a:spcPts val="600"/>
              </a:spcBef>
              <a:buClr>
                <a:srgbClr val="3B822F"/>
              </a:buClr>
              <a:buSzPct val="60000"/>
              <a:buFont typeface="Wingdings"/>
              <a:buChar char=""/>
              <a:tabLst>
                <a:tab pos="293370" algn="l"/>
                <a:tab pos="294005" algn="l"/>
              </a:tabLst>
            </a:pPr>
            <a:r>
              <a:rPr sz="2000" spc="-5" dirty="0">
                <a:latin typeface="Arial"/>
                <a:cs typeface="Arial"/>
              </a:rPr>
              <a:t>Sử dụng quy tắc </a:t>
            </a:r>
            <a:r>
              <a:rPr sz="2000" b="1" spc="-5" dirty="0">
                <a:latin typeface="Arial"/>
                <a:cs typeface="Arial"/>
              </a:rPr>
              <a:t>đường</a:t>
            </a:r>
            <a:r>
              <a:rPr sz="2000" b="1" spc="-60" dirty="0">
                <a:latin typeface="Arial"/>
                <a:cs typeface="Arial"/>
              </a:rPr>
              <a:t> </a:t>
            </a:r>
            <a:r>
              <a:rPr sz="2000" b="1" spc="-5" dirty="0">
                <a:latin typeface="Arial"/>
                <a:cs typeface="Arial"/>
              </a:rPr>
              <a:t>đi</a:t>
            </a:r>
            <a:endParaRPr sz="2000">
              <a:latin typeface="Arial"/>
              <a:cs typeface="Arial"/>
            </a:endParaRPr>
          </a:p>
        </p:txBody>
      </p:sp>
      <p:sp>
        <p:nvSpPr>
          <p:cNvPr id="11" name="object 11"/>
          <p:cNvSpPr txBox="1"/>
          <p:nvPr/>
        </p:nvSpPr>
        <p:spPr>
          <a:xfrm>
            <a:off x="5565140" y="3087115"/>
            <a:ext cx="941069"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Mammal</a:t>
            </a:r>
            <a:endParaRPr sz="1800">
              <a:latin typeface="Arial"/>
              <a:cs typeface="Arial"/>
            </a:endParaRPr>
          </a:p>
        </p:txBody>
      </p:sp>
      <p:sp>
        <p:nvSpPr>
          <p:cNvPr id="12" name="object 12"/>
          <p:cNvSpPr/>
          <p:nvPr/>
        </p:nvSpPr>
        <p:spPr>
          <a:xfrm>
            <a:off x="5251132" y="2415539"/>
            <a:ext cx="921385" cy="979169"/>
          </a:xfrm>
          <a:custGeom>
            <a:avLst/>
            <a:gdLst/>
            <a:ahLst/>
            <a:cxnLst/>
            <a:rect l="l" t="t" r="r" b="b"/>
            <a:pathLst>
              <a:path w="921385" h="979170">
                <a:moveTo>
                  <a:pt x="578142" y="0"/>
                </a:moveTo>
                <a:lnTo>
                  <a:pt x="513930" y="0"/>
                </a:lnTo>
                <a:lnTo>
                  <a:pt x="457771" y="6858"/>
                </a:lnTo>
                <a:lnTo>
                  <a:pt x="470382" y="35877"/>
                </a:lnTo>
                <a:lnTo>
                  <a:pt x="442264" y="51600"/>
                </a:lnTo>
                <a:lnTo>
                  <a:pt x="404837" y="75031"/>
                </a:lnTo>
                <a:lnTo>
                  <a:pt x="369087" y="99923"/>
                </a:lnTo>
                <a:lnTo>
                  <a:pt x="335013" y="126225"/>
                </a:lnTo>
                <a:lnTo>
                  <a:pt x="302615" y="153860"/>
                </a:lnTo>
                <a:lnTo>
                  <a:pt x="271894" y="182778"/>
                </a:lnTo>
                <a:lnTo>
                  <a:pt x="242836" y="212890"/>
                </a:lnTo>
                <a:lnTo>
                  <a:pt x="215442" y="244157"/>
                </a:lnTo>
                <a:lnTo>
                  <a:pt x="189699" y="276491"/>
                </a:lnTo>
                <a:lnTo>
                  <a:pt x="165620" y="309841"/>
                </a:lnTo>
                <a:lnTo>
                  <a:pt x="143179" y="344131"/>
                </a:lnTo>
                <a:lnTo>
                  <a:pt x="122402" y="379298"/>
                </a:lnTo>
                <a:lnTo>
                  <a:pt x="103251" y="415264"/>
                </a:lnTo>
                <a:lnTo>
                  <a:pt x="85750" y="451980"/>
                </a:lnTo>
                <a:lnTo>
                  <a:pt x="69888" y="489381"/>
                </a:lnTo>
                <a:lnTo>
                  <a:pt x="55651" y="527380"/>
                </a:lnTo>
                <a:lnTo>
                  <a:pt x="43040" y="565937"/>
                </a:lnTo>
                <a:lnTo>
                  <a:pt x="32054" y="604964"/>
                </a:lnTo>
                <a:lnTo>
                  <a:pt x="22682" y="644410"/>
                </a:lnTo>
                <a:lnTo>
                  <a:pt x="14935" y="684187"/>
                </a:lnTo>
                <a:lnTo>
                  <a:pt x="8788" y="724255"/>
                </a:lnTo>
                <a:lnTo>
                  <a:pt x="4254" y="764540"/>
                </a:lnTo>
                <a:lnTo>
                  <a:pt x="1333" y="804964"/>
                </a:lnTo>
                <a:lnTo>
                  <a:pt x="0" y="845477"/>
                </a:lnTo>
                <a:lnTo>
                  <a:pt x="266" y="886002"/>
                </a:lnTo>
                <a:lnTo>
                  <a:pt x="2133" y="926465"/>
                </a:lnTo>
                <a:lnTo>
                  <a:pt x="5575" y="966825"/>
                </a:lnTo>
                <a:lnTo>
                  <a:pt x="7124" y="979170"/>
                </a:lnTo>
                <a:lnTo>
                  <a:pt x="14693" y="979170"/>
                </a:lnTo>
                <a:lnTo>
                  <a:pt x="21082" y="979170"/>
                </a:lnTo>
                <a:lnTo>
                  <a:pt x="16992" y="937209"/>
                </a:lnTo>
                <a:lnTo>
                  <a:pt x="14732" y="890727"/>
                </a:lnTo>
                <a:lnTo>
                  <a:pt x="14693" y="844156"/>
                </a:lnTo>
                <a:lnTo>
                  <a:pt x="16852" y="797610"/>
                </a:lnTo>
                <a:lnTo>
                  <a:pt x="21170" y="751205"/>
                </a:lnTo>
                <a:lnTo>
                  <a:pt x="27647" y="705040"/>
                </a:lnTo>
                <a:lnTo>
                  <a:pt x="36258" y="659244"/>
                </a:lnTo>
                <a:lnTo>
                  <a:pt x="46990" y="613918"/>
                </a:lnTo>
                <a:lnTo>
                  <a:pt x="59791" y="569163"/>
                </a:lnTo>
                <a:lnTo>
                  <a:pt x="74676" y="525119"/>
                </a:lnTo>
                <a:lnTo>
                  <a:pt x="91605" y="481876"/>
                </a:lnTo>
                <a:lnTo>
                  <a:pt x="110553" y="439547"/>
                </a:lnTo>
                <a:lnTo>
                  <a:pt x="131508" y="398259"/>
                </a:lnTo>
                <a:lnTo>
                  <a:pt x="154444" y="358114"/>
                </a:lnTo>
                <a:lnTo>
                  <a:pt x="179349" y="319214"/>
                </a:lnTo>
                <a:lnTo>
                  <a:pt x="206184" y="281698"/>
                </a:lnTo>
                <a:lnTo>
                  <a:pt x="234950" y="245656"/>
                </a:lnTo>
                <a:lnTo>
                  <a:pt x="265607" y="211201"/>
                </a:lnTo>
                <a:lnTo>
                  <a:pt x="298145" y="178447"/>
                </a:lnTo>
                <a:lnTo>
                  <a:pt x="332536" y="147523"/>
                </a:lnTo>
                <a:lnTo>
                  <a:pt x="368769" y="118516"/>
                </a:lnTo>
                <a:lnTo>
                  <a:pt x="406806" y="91554"/>
                </a:lnTo>
                <a:lnTo>
                  <a:pt x="446646" y="66751"/>
                </a:lnTo>
                <a:lnTo>
                  <a:pt x="476719" y="50444"/>
                </a:lnTo>
                <a:lnTo>
                  <a:pt x="488251" y="76962"/>
                </a:lnTo>
                <a:lnTo>
                  <a:pt x="578142" y="0"/>
                </a:lnTo>
                <a:close/>
              </a:path>
              <a:path w="921385" h="979170">
                <a:moveTo>
                  <a:pt x="921067" y="167640"/>
                </a:moveTo>
                <a:lnTo>
                  <a:pt x="777392" y="167640"/>
                </a:lnTo>
                <a:lnTo>
                  <a:pt x="777760" y="75438"/>
                </a:lnTo>
                <a:lnTo>
                  <a:pt x="808291" y="75438"/>
                </a:lnTo>
                <a:lnTo>
                  <a:pt x="786015" y="0"/>
                </a:lnTo>
                <a:lnTo>
                  <a:pt x="755256" y="0"/>
                </a:lnTo>
                <a:lnTo>
                  <a:pt x="732091" y="75438"/>
                </a:lnTo>
                <a:lnTo>
                  <a:pt x="761758" y="75438"/>
                </a:lnTo>
                <a:lnTo>
                  <a:pt x="761390" y="167640"/>
                </a:lnTo>
                <a:lnTo>
                  <a:pt x="540067" y="167640"/>
                </a:lnTo>
                <a:lnTo>
                  <a:pt x="540067" y="183642"/>
                </a:lnTo>
                <a:lnTo>
                  <a:pt x="761326" y="183642"/>
                </a:lnTo>
                <a:lnTo>
                  <a:pt x="759523" y="645414"/>
                </a:lnTo>
                <a:lnTo>
                  <a:pt x="775525" y="645414"/>
                </a:lnTo>
                <a:lnTo>
                  <a:pt x="777328" y="183642"/>
                </a:lnTo>
                <a:lnTo>
                  <a:pt x="921067" y="183642"/>
                </a:lnTo>
                <a:lnTo>
                  <a:pt x="921067" y="167640"/>
                </a:lnTo>
                <a:close/>
              </a:path>
            </a:pathLst>
          </a:custGeom>
          <a:solidFill>
            <a:srgbClr val="000000"/>
          </a:solidFill>
        </p:spPr>
        <p:txBody>
          <a:bodyPr wrap="square" lIns="0" tIns="0" rIns="0" bIns="0" rtlCol="0"/>
          <a:lstStyle/>
          <a:p>
            <a:endParaRPr/>
          </a:p>
        </p:txBody>
      </p:sp>
      <p:sp>
        <p:nvSpPr>
          <p:cNvPr id="13" name="object 13"/>
          <p:cNvSpPr txBox="1"/>
          <p:nvPr/>
        </p:nvSpPr>
        <p:spPr>
          <a:xfrm>
            <a:off x="7698740" y="3087115"/>
            <a:ext cx="9899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Elephant</a:t>
            </a:r>
            <a:endParaRPr sz="1800">
              <a:latin typeface="Arial"/>
              <a:cs typeface="Arial"/>
            </a:endParaRPr>
          </a:p>
        </p:txBody>
      </p:sp>
      <p:grpSp>
        <p:nvGrpSpPr>
          <p:cNvPr id="14" name="object 14"/>
          <p:cNvGrpSpPr/>
          <p:nvPr/>
        </p:nvGrpSpPr>
        <p:grpSpPr>
          <a:xfrm>
            <a:off x="457200" y="2415539"/>
            <a:ext cx="9144000" cy="2937510"/>
            <a:chOff x="457200" y="2415539"/>
            <a:chExt cx="9144000" cy="2937510"/>
          </a:xfrm>
        </p:grpSpPr>
        <p:sp>
          <p:nvSpPr>
            <p:cNvPr id="15" name="object 15"/>
            <p:cNvSpPr/>
            <p:nvPr/>
          </p:nvSpPr>
          <p:spPr>
            <a:xfrm>
              <a:off x="7384732" y="2415539"/>
              <a:ext cx="808355" cy="979169"/>
            </a:xfrm>
            <a:custGeom>
              <a:avLst/>
              <a:gdLst/>
              <a:ahLst/>
              <a:cxnLst/>
              <a:rect l="l" t="t" r="r" b="b"/>
              <a:pathLst>
                <a:path w="808354" h="979170">
                  <a:moveTo>
                    <a:pt x="578142" y="0"/>
                  </a:moveTo>
                  <a:lnTo>
                    <a:pt x="513930" y="0"/>
                  </a:lnTo>
                  <a:lnTo>
                    <a:pt x="457771" y="6858"/>
                  </a:lnTo>
                  <a:lnTo>
                    <a:pt x="470382" y="35877"/>
                  </a:lnTo>
                  <a:lnTo>
                    <a:pt x="442264" y="51600"/>
                  </a:lnTo>
                  <a:lnTo>
                    <a:pt x="404837" y="75031"/>
                  </a:lnTo>
                  <a:lnTo>
                    <a:pt x="369087" y="99923"/>
                  </a:lnTo>
                  <a:lnTo>
                    <a:pt x="335013" y="126225"/>
                  </a:lnTo>
                  <a:lnTo>
                    <a:pt x="302615" y="153860"/>
                  </a:lnTo>
                  <a:lnTo>
                    <a:pt x="283959" y="171424"/>
                  </a:lnTo>
                  <a:lnTo>
                    <a:pt x="85915" y="92202"/>
                  </a:lnTo>
                  <a:lnTo>
                    <a:pt x="80581" y="106680"/>
                  </a:lnTo>
                  <a:lnTo>
                    <a:pt x="271589" y="183095"/>
                  </a:lnTo>
                  <a:lnTo>
                    <a:pt x="242836" y="212890"/>
                  </a:lnTo>
                  <a:lnTo>
                    <a:pt x="215442" y="244157"/>
                  </a:lnTo>
                  <a:lnTo>
                    <a:pt x="189699" y="276491"/>
                  </a:lnTo>
                  <a:lnTo>
                    <a:pt x="165620" y="309841"/>
                  </a:lnTo>
                  <a:lnTo>
                    <a:pt x="143179" y="344131"/>
                  </a:lnTo>
                  <a:lnTo>
                    <a:pt x="122402" y="379298"/>
                  </a:lnTo>
                  <a:lnTo>
                    <a:pt x="103251" y="415264"/>
                  </a:lnTo>
                  <a:lnTo>
                    <a:pt x="85750" y="451980"/>
                  </a:lnTo>
                  <a:lnTo>
                    <a:pt x="69888" y="489381"/>
                  </a:lnTo>
                  <a:lnTo>
                    <a:pt x="55651" y="527392"/>
                  </a:lnTo>
                  <a:lnTo>
                    <a:pt x="43040" y="565937"/>
                  </a:lnTo>
                  <a:lnTo>
                    <a:pt x="32054" y="604964"/>
                  </a:lnTo>
                  <a:lnTo>
                    <a:pt x="22682" y="644410"/>
                  </a:lnTo>
                  <a:lnTo>
                    <a:pt x="14935" y="684199"/>
                  </a:lnTo>
                  <a:lnTo>
                    <a:pt x="8788" y="724268"/>
                  </a:lnTo>
                  <a:lnTo>
                    <a:pt x="4254" y="764540"/>
                  </a:lnTo>
                  <a:lnTo>
                    <a:pt x="1333" y="804976"/>
                  </a:lnTo>
                  <a:lnTo>
                    <a:pt x="0" y="845477"/>
                  </a:lnTo>
                  <a:lnTo>
                    <a:pt x="266" y="886002"/>
                  </a:lnTo>
                  <a:lnTo>
                    <a:pt x="2133" y="926477"/>
                  </a:lnTo>
                  <a:lnTo>
                    <a:pt x="5575" y="966825"/>
                  </a:lnTo>
                  <a:lnTo>
                    <a:pt x="7124" y="979170"/>
                  </a:lnTo>
                  <a:lnTo>
                    <a:pt x="14693" y="979170"/>
                  </a:lnTo>
                  <a:lnTo>
                    <a:pt x="21082" y="979170"/>
                  </a:lnTo>
                  <a:lnTo>
                    <a:pt x="16992" y="937209"/>
                  </a:lnTo>
                  <a:lnTo>
                    <a:pt x="14732" y="890727"/>
                  </a:lnTo>
                  <a:lnTo>
                    <a:pt x="14693" y="844156"/>
                  </a:lnTo>
                  <a:lnTo>
                    <a:pt x="16852" y="797610"/>
                  </a:lnTo>
                  <a:lnTo>
                    <a:pt x="21170" y="751205"/>
                  </a:lnTo>
                  <a:lnTo>
                    <a:pt x="27647" y="705040"/>
                  </a:lnTo>
                  <a:lnTo>
                    <a:pt x="36258" y="659244"/>
                  </a:lnTo>
                  <a:lnTo>
                    <a:pt x="46990" y="613918"/>
                  </a:lnTo>
                  <a:lnTo>
                    <a:pt x="59791" y="569163"/>
                  </a:lnTo>
                  <a:lnTo>
                    <a:pt x="74676" y="525119"/>
                  </a:lnTo>
                  <a:lnTo>
                    <a:pt x="91605" y="481876"/>
                  </a:lnTo>
                  <a:lnTo>
                    <a:pt x="110553" y="439547"/>
                  </a:lnTo>
                  <a:lnTo>
                    <a:pt x="131508" y="398259"/>
                  </a:lnTo>
                  <a:lnTo>
                    <a:pt x="154444" y="358114"/>
                  </a:lnTo>
                  <a:lnTo>
                    <a:pt x="179349" y="319214"/>
                  </a:lnTo>
                  <a:lnTo>
                    <a:pt x="206184" y="281698"/>
                  </a:lnTo>
                  <a:lnTo>
                    <a:pt x="234950" y="245656"/>
                  </a:lnTo>
                  <a:lnTo>
                    <a:pt x="265607" y="211201"/>
                  </a:lnTo>
                  <a:lnTo>
                    <a:pt x="287286" y="189369"/>
                  </a:lnTo>
                  <a:lnTo>
                    <a:pt x="461581" y="259080"/>
                  </a:lnTo>
                  <a:lnTo>
                    <a:pt x="466915" y="244602"/>
                  </a:lnTo>
                  <a:lnTo>
                    <a:pt x="299186" y="177520"/>
                  </a:lnTo>
                  <a:lnTo>
                    <a:pt x="332536" y="147523"/>
                  </a:lnTo>
                  <a:lnTo>
                    <a:pt x="368769" y="118516"/>
                  </a:lnTo>
                  <a:lnTo>
                    <a:pt x="406806" y="91554"/>
                  </a:lnTo>
                  <a:lnTo>
                    <a:pt x="446646" y="66751"/>
                  </a:lnTo>
                  <a:lnTo>
                    <a:pt x="476719" y="50444"/>
                  </a:lnTo>
                  <a:lnTo>
                    <a:pt x="488251" y="76962"/>
                  </a:lnTo>
                  <a:lnTo>
                    <a:pt x="578142" y="0"/>
                  </a:lnTo>
                  <a:close/>
                </a:path>
                <a:path w="808354" h="979170">
                  <a:moveTo>
                    <a:pt x="808291" y="75438"/>
                  </a:moveTo>
                  <a:lnTo>
                    <a:pt x="786015" y="0"/>
                  </a:lnTo>
                  <a:lnTo>
                    <a:pt x="755256" y="0"/>
                  </a:lnTo>
                  <a:lnTo>
                    <a:pt x="732091" y="75438"/>
                  </a:lnTo>
                  <a:lnTo>
                    <a:pt x="761758" y="75438"/>
                  </a:lnTo>
                  <a:lnTo>
                    <a:pt x="759523" y="645414"/>
                  </a:lnTo>
                  <a:lnTo>
                    <a:pt x="775525" y="645414"/>
                  </a:lnTo>
                  <a:lnTo>
                    <a:pt x="777760" y="75438"/>
                  </a:lnTo>
                  <a:lnTo>
                    <a:pt x="808291" y="75438"/>
                  </a:lnTo>
                  <a:close/>
                </a:path>
              </a:pathLst>
            </a:custGeom>
            <a:solidFill>
              <a:srgbClr val="000000"/>
            </a:solidFill>
          </p:spPr>
          <p:txBody>
            <a:bodyPr wrap="square" lIns="0" tIns="0" rIns="0" bIns="0" rtlCol="0"/>
            <a:lstStyle/>
            <a:p>
              <a:endParaRPr/>
            </a:p>
          </p:txBody>
        </p:sp>
        <p:sp>
          <p:nvSpPr>
            <p:cNvPr id="16" name="object 16"/>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17" name="object 17"/>
            <p:cNvSpPr/>
            <p:nvPr/>
          </p:nvSpPr>
          <p:spPr>
            <a:xfrm>
              <a:off x="5258257" y="3394709"/>
              <a:ext cx="2934970" cy="796290"/>
            </a:xfrm>
            <a:custGeom>
              <a:avLst/>
              <a:gdLst/>
              <a:ahLst/>
              <a:cxnLst/>
              <a:rect l="l" t="t" r="r" b="b"/>
              <a:pathLst>
                <a:path w="2934970" h="796289">
                  <a:moveTo>
                    <a:pt x="594664" y="749046"/>
                  </a:moveTo>
                  <a:lnTo>
                    <a:pt x="549033" y="732091"/>
                  </a:lnTo>
                  <a:lnTo>
                    <a:pt x="504939" y="712635"/>
                  </a:lnTo>
                  <a:lnTo>
                    <a:pt x="462419" y="690753"/>
                  </a:lnTo>
                  <a:lnTo>
                    <a:pt x="421500" y="666559"/>
                  </a:lnTo>
                  <a:lnTo>
                    <a:pt x="382257" y="640143"/>
                  </a:lnTo>
                  <a:lnTo>
                    <a:pt x="344690" y="611606"/>
                  </a:lnTo>
                  <a:lnTo>
                    <a:pt x="308876" y="581037"/>
                  </a:lnTo>
                  <a:lnTo>
                    <a:pt x="274828" y="548551"/>
                  </a:lnTo>
                  <a:lnTo>
                    <a:pt x="242595" y="514223"/>
                  </a:lnTo>
                  <a:lnTo>
                    <a:pt x="212229" y="478155"/>
                  </a:lnTo>
                  <a:lnTo>
                    <a:pt x="183769" y="440448"/>
                  </a:lnTo>
                  <a:lnTo>
                    <a:pt x="157238" y="401193"/>
                  </a:lnTo>
                  <a:lnTo>
                    <a:pt x="132702" y="360502"/>
                  </a:lnTo>
                  <a:lnTo>
                    <a:pt x="110172" y="318452"/>
                  </a:lnTo>
                  <a:lnTo>
                    <a:pt x="89725" y="275145"/>
                  </a:lnTo>
                  <a:lnTo>
                    <a:pt x="71374" y="230695"/>
                  </a:lnTo>
                  <a:lnTo>
                    <a:pt x="55168" y="185166"/>
                  </a:lnTo>
                  <a:lnTo>
                    <a:pt x="41503" y="140817"/>
                  </a:lnTo>
                  <a:lnTo>
                    <a:pt x="30162" y="95821"/>
                  </a:lnTo>
                  <a:lnTo>
                    <a:pt x="21132" y="50279"/>
                  </a:lnTo>
                  <a:lnTo>
                    <a:pt x="14376" y="4305"/>
                  </a:lnTo>
                  <a:lnTo>
                    <a:pt x="13957" y="0"/>
                  </a:lnTo>
                  <a:lnTo>
                    <a:pt x="0" y="0"/>
                  </a:lnTo>
                  <a:lnTo>
                    <a:pt x="10096" y="67741"/>
                  </a:lnTo>
                  <a:lnTo>
                    <a:pt x="18288" y="107340"/>
                  </a:lnTo>
                  <a:lnTo>
                    <a:pt x="28041" y="146558"/>
                  </a:lnTo>
                  <a:lnTo>
                    <a:pt x="39370" y="185331"/>
                  </a:lnTo>
                  <a:lnTo>
                    <a:pt x="52273" y="223583"/>
                  </a:lnTo>
                  <a:lnTo>
                    <a:pt x="66725" y="261251"/>
                  </a:lnTo>
                  <a:lnTo>
                    <a:pt x="82727" y="298272"/>
                  </a:lnTo>
                  <a:lnTo>
                    <a:pt x="100291" y="334581"/>
                  </a:lnTo>
                  <a:lnTo>
                    <a:pt x="119405" y="370116"/>
                  </a:lnTo>
                  <a:lnTo>
                    <a:pt x="140068" y="404799"/>
                  </a:lnTo>
                  <a:lnTo>
                    <a:pt x="162267" y="438569"/>
                  </a:lnTo>
                  <a:lnTo>
                    <a:pt x="186004" y="471347"/>
                  </a:lnTo>
                  <a:lnTo>
                    <a:pt x="211277" y="503097"/>
                  </a:lnTo>
                  <a:lnTo>
                    <a:pt x="238074" y="533730"/>
                  </a:lnTo>
                  <a:lnTo>
                    <a:pt x="266395" y="563181"/>
                  </a:lnTo>
                  <a:lnTo>
                    <a:pt x="296252" y="591388"/>
                  </a:lnTo>
                  <a:lnTo>
                    <a:pt x="327609" y="618286"/>
                  </a:lnTo>
                  <a:lnTo>
                    <a:pt x="360489" y="643801"/>
                  </a:lnTo>
                  <a:lnTo>
                    <a:pt x="394881" y="667880"/>
                  </a:lnTo>
                  <a:lnTo>
                    <a:pt x="430771" y="690448"/>
                  </a:lnTo>
                  <a:lnTo>
                    <a:pt x="468160" y="711441"/>
                  </a:lnTo>
                  <a:lnTo>
                    <a:pt x="507060" y="730783"/>
                  </a:lnTo>
                  <a:lnTo>
                    <a:pt x="547446" y="748423"/>
                  </a:lnTo>
                  <a:lnTo>
                    <a:pt x="589330" y="764286"/>
                  </a:lnTo>
                  <a:lnTo>
                    <a:pt x="594664" y="749046"/>
                  </a:lnTo>
                  <a:close/>
                </a:path>
                <a:path w="2934970" h="796289">
                  <a:moveTo>
                    <a:pt x="801166" y="172974"/>
                  </a:moveTo>
                  <a:lnTo>
                    <a:pt x="763828" y="45720"/>
                  </a:lnTo>
                  <a:lnTo>
                    <a:pt x="724966" y="172974"/>
                  </a:lnTo>
                  <a:lnTo>
                    <a:pt x="755408" y="172974"/>
                  </a:lnTo>
                  <a:lnTo>
                    <a:pt x="753922" y="796290"/>
                  </a:lnTo>
                  <a:lnTo>
                    <a:pt x="769924" y="796290"/>
                  </a:lnTo>
                  <a:lnTo>
                    <a:pt x="771410" y="172974"/>
                  </a:lnTo>
                  <a:lnTo>
                    <a:pt x="801166" y="172974"/>
                  </a:lnTo>
                  <a:close/>
                </a:path>
                <a:path w="2934970" h="796289">
                  <a:moveTo>
                    <a:pt x="2728264" y="749046"/>
                  </a:moveTo>
                  <a:lnTo>
                    <a:pt x="2682633" y="732091"/>
                  </a:lnTo>
                  <a:lnTo>
                    <a:pt x="2638539" y="712635"/>
                  </a:lnTo>
                  <a:lnTo>
                    <a:pt x="2596019" y="690753"/>
                  </a:lnTo>
                  <a:lnTo>
                    <a:pt x="2555100" y="666559"/>
                  </a:lnTo>
                  <a:lnTo>
                    <a:pt x="2515857" y="640143"/>
                  </a:lnTo>
                  <a:lnTo>
                    <a:pt x="2478290" y="611606"/>
                  </a:lnTo>
                  <a:lnTo>
                    <a:pt x="2442476" y="581037"/>
                  </a:lnTo>
                  <a:lnTo>
                    <a:pt x="2408428" y="548551"/>
                  </a:lnTo>
                  <a:lnTo>
                    <a:pt x="2376195" y="514223"/>
                  </a:lnTo>
                  <a:lnTo>
                    <a:pt x="2345829" y="478155"/>
                  </a:lnTo>
                  <a:lnTo>
                    <a:pt x="2317369" y="440448"/>
                  </a:lnTo>
                  <a:lnTo>
                    <a:pt x="2290838" y="401193"/>
                  </a:lnTo>
                  <a:lnTo>
                    <a:pt x="2266302" y="360502"/>
                  </a:lnTo>
                  <a:lnTo>
                    <a:pt x="2243772" y="318452"/>
                  </a:lnTo>
                  <a:lnTo>
                    <a:pt x="2223325" y="275145"/>
                  </a:lnTo>
                  <a:lnTo>
                    <a:pt x="2204974" y="230695"/>
                  </a:lnTo>
                  <a:lnTo>
                    <a:pt x="2188768" y="185166"/>
                  </a:lnTo>
                  <a:lnTo>
                    <a:pt x="2175103" y="140817"/>
                  </a:lnTo>
                  <a:lnTo>
                    <a:pt x="2163762" y="95821"/>
                  </a:lnTo>
                  <a:lnTo>
                    <a:pt x="2154732" y="50279"/>
                  </a:lnTo>
                  <a:lnTo>
                    <a:pt x="2147976" y="4305"/>
                  </a:lnTo>
                  <a:lnTo>
                    <a:pt x="2147557" y="0"/>
                  </a:lnTo>
                  <a:lnTo>
                    <a:pt x="2133600" y="0"/>
                  </a:lnTo>
                  <a:lnTo>
                    <a:pt x="2143696" y="67741"/>
                  </a:lnTo>
                  <a:lnTo>
                    <a:pt x="2151888" y="107353"/>
                  </a:lnTo>
                  <a:lnTo>
                    <a:pt x="2161641" y="146570"/>
                  </a:lnTo>
                  <a:lnTo>
                    <a:pt x="2172970" y="185331"/>
                  </a:lnTo>
                  <a:lnTo>
                    <a:pt x="2185873" y="223583"/>
                  </a:lnTo>
                  <a:lnTo>
                    <a:pt x="2200325" y="261264"/>
                  </a:lnTo>
                  <a:lnTo>
                    <a:pt x="2216327" y="298284"/>
                  </a:lnTo>
                  <a:lnTo>
                    <a:pt x="2233892" y="334594"/>
                  </a:lnTo>
                  <a:lnTo>
                    <a:pt x="2253005" y="370116"/>
                  </a:lnTo>
                  <a:lnTo>
                    <a:pt x="2273668" y="404799"/>
                  </a:lnTo>
                  <a:lnTo>
                    <a:pt x="2295868" y="438569"/>
                  </a:lnTo>
                  <a:lnTo>
                    <a:pt x="2319604" y="471360"/>
                  </a:lnTo>
                  <a:lnTo>
                    <a:pt x="2344877" y="503097"/>
                  </a:lnTo>
                  <a:lnTo>
                    <a:pt x="2371674" y="533730"/>
                  </a:lnTo>
                  <a:lnTo>
                    <a:pt x="2399995" y="563181"/>
                  </a:lnTo>
                  <a:lnTo>
                    <a:pt x="2429853" y="591388"/>
                  </a:lnTo>
                  <a:lnTo>
                    <a:pt x="2461209" y="618286"/>
                  </a:lnTo>
                  <a:lnTo>
                    <a:pt x="2494089" y="643813"/>
                  </a:lnTo>
                  <a:lnTo>
                    <a:pt x="2528481" y="667880"/>
                  </a:lnTo>
                  <a:lnTo>
                    <a:pt x="2564371" y="690448"/>
                  </a:lnTo>
                  <a:lnTo>
                    <a:pt x="2601760" y="711441"/>
                  </a:lnTo>
                  <a:lnTo>
                    <a:pt x="2640660" y="730783"/>
                  </a:lnTo>
                  <a:lnTo>
                    <a:pt x="2681046" y="748423"/>
                  </a:lnTo>
                  <a:lnTo>
                    <a:pt x="2722930" y="764286"/>
                  </a:lnTo>
                  <a:lnTo>
                    <a:pt x="2728264" y="749046"/>
                  </a:lnTo>
                  <a:close/>
                </a:path>
                <a:path w="2934970" h="796289">
                  <a:moveTo>
                    <a:pt x="2934766" y="172974"/>
                  </a:moveTo>
                  <a:lnTo>
                    <a:pt x="2897428" y="45720"/>
                  </a:lnTo>
                  <a:lnTo>
                    <a:pt x="2858566" y="172974"/>
                  </a:lnTo>
                  <a:lnTo>
                    <a:pt x="2889008" y="172974"/>
                  </a:lnTo>
                  <a:lnTo>
                    <a:pt x="2887522" y="796290"/>
                  </a:lnTo>
                  <a:lnTo>
                    <a:pt x="2903524" y="796290"/>
                  </a:lnTo>
                  <a:lnTo>
                    <a:pt x="2905010" y="172974"/>
                  </a:lnTo>
                  <a:lnTo>
                    <a:pt x="2934766" y="172974"/>
                  </a:lnTo>
                  <a:close/>
                </a:path>
              </a:pathLst>
            </a:custGeom>
            <a:solidFill>
              <a:srgbClr val="000000"/>
            </a:solidFill>
          </p:spPr>
          <p:txBody>
            <a:bodyPr wrap="square" lIns="0" tIns="0" rIns="0" bIns="0" rtlCol="0"/>
            <a:lstStyle/>
            <a:p>
              <a:endParaRPr/>
            </a:p>
          </p:txBody>
        </p:sp>
        <p:sp>
          <p:nvSpPr>
            <p:cNvPr id="18" name="object 18"/>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grpSp>
      <p:sp>
        <p:nvSpPr>
          <p:cNvPr id="19" name="object 19"/>
          <p:cNvSpPr txBox="1"/>
          <p:nvPr/>
        </p:nvSpPr>
        <p:spPr>
          <a:xfrm>
            <a:off x="1337563" y="3363416"/>
            <a:ext cx="3562350" cy="2006600"/>
          </a:xfrm>
          <a:prstGeom prst="rect">
            <a:avLst/>
          </a:prstGeom>
        </p:spPr>
        <p:txBody>
          <a:bodyPr vert="horz" wrap="square" lIns="0" tIns="88900" rIns="0" bIns="0" rtlCol="0">
            <a:spAutoFit/>
          </a:bodyPr>
          <a:lstStyle/>
          <a:p>
            <a:pPr marL="293370">
              <a:lnSpc>
                <a:spcPct val="100000"/>
              </a:lnSpc>
              <a:spcBef>
                <a:spcPts val="700"/>
              </a:spcBef>
            </a:pPr>
            <a:r>
              <a:rPr sz="2000" b="1" spc="-5" dirty="0">
                <a:latin typeface="Arial"/>
                <a:cs typeface="Arial"/>
              </a:rPr>
              <a:t>ngắn nhấn </a:t>
            </a:r>
            <a:r>
              <a:rPr sz="2000" spc="-5" dirty="0">
                <a:latin typeface="Arial"/>
                <a:cs typeface="Arial"/>
              </a:rPr>
              <a:t>để xác định</a:t>
            </a:r>
            <a:r>
              <a:rPr sz="2000" spc="-15" dirty="0">
                <a:latin typeface="Arial"/>
                <a:cs typeface="Arial"/>
              </a:rPr>
              <a:t> </a:t>
            </a:r>
            <a:r>
              <a:rPr sz="2000" spc="-5" dirty="0">
                <a:latin typeface="Arial"/>
                <a:cs typeface="Arial"/>
              </a:rPr>
              <a:t>cực</a:t>
            </a:r>
            <a:endParaRPr sz="2000">
              <a:latin typeface="Arial"/>
              <a:cs typeface="Arial"/>
            </a:endParaRPr>
          </a:p>
          <a:p>
            <a:pPr marL="293370" marR="5080" indent="-281305">
              <a:lnSpc>
                <a:spcPct val="100000"/>
              </a:lnSpc>
              <a:spcBef>
                <a:spcPts val="600"/>
              </a:spcBef>
              <a:buClr>
                <a:srgbClr val="3B822F"/>
              </a:buClr>
              <a:buSzPct val="60000"/>
              <a:buFont typeface="Wingdings"/>
              <a:buChar char=""/>
              <a:tabLst>
                <a:tab pos="293370" algn="l"/>
                <a:tab pos="294005" algn="l"/>
              </a:tabLst>
            </a:pPr>
            <a:r>
              <a:rPr sz="2000" spc="-5" dirty="0">
                <a:latin typeface="Arial"/>
                <a:cs typeface="Arial"/>
              </a:rPr>
              <a:t>Vì vậy, không phải tất cả các  </a:t>
            </a:r>
            <a:r>
              <a:rPr sz="2000" spc="-10" dirty="0">
                <a:latin typeface="Arial"/>
                <a:cs typeface="Arial"/>
              </a:rPr>
              <a:t>hướng </a:t>
            </a:r>
            <a:r>
              <a:rPr sz="2000" spc="-5" dirty="0">
                <a:latin typeface="Arial"/>
                <a:cs typeface="Arial"/>
              </a:rPr>
              <a:t>đều sinh ra kết luận –  Một số </a:t>
            </a:r>
            <a:r>
              <a:rPr sz="2000" spc="-10" dirty="0">
                <a:latin typeface="Arial"/>
                <a:cs typeface="Arial"/>
              </a:rPr>
              <a:t>hướng </a:t>
            </a:r>
            <a:r>
              <a:rPr sz="2000" spc="-5" dirty="0">
                <a:latin typeface="Arial"/>
                <a:cs typeface="Arial"/>
              </a:rPr>
              <a:t>(path) </a:t>
            </a:r>
            <a:r>
              <a:rPr sz="2000" dirty="0">
                <a:latin typeface="Arial"/>
                <a:cs typeface="Arial"/>
              </a:rPr>
              <a:t>sẽ </a:t>
            </a:r>
            <a:r>
              <a:rPr sz="2000" i="1" spc="-5" dirty="0">
                <a:latin typeface="Arial"/>
                <a:cs typeface="Arial"/>
              </a:rPr>
              <a:t>bị  ngăn chặn </a:t>
            </a:r>
            <a:r>
              <a:rPr sz="2000" i="1" spc="-10" dirty="0">
                <a:latin typeface="Arial"/>
                <a:cs typeface="Arial"/>
              </a:rPr>
              <a:t>(pre-empted)</a:t>
            </a:r>
            <a:r>
              <a:rPr sz="2000" spc="-10" dirty="0">
                <a:latin typeface="Arial"/>
                <a:cs typeface="Arial"/>
              </a:rPr>
              <a:t>,  </a:t>
            </a:r>
            <a:r>
              <a:rPr sz="2000" spc="-5" dirty="0">
                <a:latin typeface="Arial"/>
                <a:cs typeface="Arial"/>
              </a:rPr>
              <a:t>nhưng một số </a:t>
            </a:r>
            <a:r>
              <a:rPr sz="2000" spc="-10" dirty="0">
                <a:latin typeface="Arial"/>
                <a:cs typeface="Arial"/>
              </a:rPr>
              <a:t>hướng</a:t>
            </a:r>
            <a:r>
              <a:rPr sz="2000" spc="-40" dirty="0">
                <a:latin typeface="Arial"/>
                <a:cs typeface="Arial"/>
              </a:rPr>
              <a:t> </a:t>
            </a:r>
            <a:r>
              <a:rPr sz="2000" i="1" spc="-5" dirty="0">
                <a:latin typeface="Arial"/>
                <a:cs typeface="Arial"/>
              </a:rPr>
              <a:t>được</a:t>
            </a:r>
            <a:endParaRPr sz="2000">
              <a:latin typeface="Arial"/>
              <a:cs typeface="Arial"/>
            </a:endParaRPr>
          </a:p>
        </p:txBody>
      </p:sp>
      <p:sp>
        <p:nvSpPr>
          <p:cNvPr id="20" name="object 20"/>
          <p:cNvSpPr txBox="1"/>
          <p:nvPr/>
        </p:nvSpPr>
        <p:spPr>
          <a:xfrm>
            <a:off x="5488940" y="5056123"/>
            <a:ext cx="13462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White</a:t>
            </a:r>
            <a:r>
              <a:rPr sz="1800" b="1" spc="-80" dirty="0">
                <a:latin typeface="Arial"/>
                <a:cs typeface="Arial"/>
              </a:rPr>
              <a:t> </a:t>
            </a:r>
            <a:r>
              <a:rPr sz="1800" b="1" spc="-5" dirty="0">
                <a:latin typeface="Arial"/>
                <a:cs typeface="Arial"/>
              </a:rPr>
              <a:t>whale</a:t>
            </a:r>
            <a:endParaRPr sz="1800">
              <a:latin typeface="Arial"/>
              <a:cs typeface="Arial"/>
            </a:endParaRPr>
          </a:p>
        </p:txBody>
      </p:sp>
      <p:sp>
        <p:nvSpPr>
          <p:cNvPr id="21" name="object 21"/>
          <p:cNvSpPr txBox="1"/>
          <p:nvPr/>
        </p:nvSpPr>
        <p:spPr>
          <a:xfrm>
            <a:off x="5641340" y="4217923"/>
            <a:ext cx="6985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Whale</a:t>
            </a:r>
            <a:endParaRPr sz="1800">
              <a:latin typeface="Arial"/>
              <a:cs typeface="Arial"/>
            </a:endParaRPr>
          </a:p>
        </p:txBody>
      </p:sp>
      <p:sp>
        <p:nvSpPr>
          <p:cNvPr id="22" name="object 22"/>
          <p:cNvSpPr/>
          <p:nvPr/>
        </p:nvSpPr>
        <p:spPr>
          <a:xfrm>
            <a:off x="5983223" y="4572000"/>
            <a:ext cx="76200" cy="458470"/>
          </a:xfrm>
          <a:custGeom>
            <a:avLst/>
            <a:gdLst/>
            <a:ahLst/>
            <a:cxnLst/>
            <a:rect l="l" t="t" r="r" b="b"/>
            <a:pathLst>
              <a:path w="76200" h="458470">
                <a:moveTo>
                  <a:pt x="76200" y="127253"/>
                </a:moveTo>
                <a:lnTo>
                  <a:pt x="38862" y="0"/>
                </a:lnTo>
                <a:lnTo>
                  <a:pt x="0" y="127253"/>
                </a:lnTo>
                <a:lnTo>
                  <a:pt x="30422" y="127253"/>
                </a:lnTo>
                <a:lnTo>
                  <a:pt x="30479" y="114300"/>
                </a:lnTo>
                <a:lnTo>
                  <a:pt x="45720" y="115062"/>
                </a:lnTo>
                <a:lnTo>
                  <a:pt x="45720" y="127253"/>
                </a:lnTo>
                <a:lnTo>
                  <a:pt x="76200" y="127253"/>
                </a:lnTo>
                <a:close/>
              </a:path>
              <a:path w="76200" h="458470">
                <a:moveTo>
                  <a:pt x="45692" y="127253"/>
                </a:moveTo>
                <a:lnTo>
                  <a:pt x="30422" y="127253"/>
                </a:lnTo>
                <a:lnTo>
                  <a:pt x="28955" y="457200"/>
                </a:lnTo>
                <a:lnTo>
                  <a:pt x="44958" y="457962"/>
                </a:lnTo>
                <a:lnTo>
                  <a:pt x="45692" y="127253"/>
                </a:lnTo>
                <a:close/>
              </a:path>
              <a:path w="76200" h="458470">
                <a:moveTo>
                  <a:pt x="45720" y="115062"/>
                </a:moveTo>
                <a:lnTo>
                  <a:pt x="30479" y="114300"/>
                </a:lnTo>
                <a:lnTo>
                  <a:pt x="30422" y="127253"/>
                </a:lnTo>
                <a:lnTo>
                  <a:pt x="45692" y="127253"/>
                </a:lnTo>
                <a:lnTo>
                  <a:pt x="45720" y="115062"/>
                </a:lnTo>
                <a:close/>
              </a:path>
              <a:path w="76200" h="458470">
                <a:moveTo>
                  <a:pt x="45720" y="127253"/>
                </a:moveTo>
                <a:lnTo>
                  <a:pt x="45720" y="115062"/>
                </a:lnTo>
                <a:lnTo>
                  <a:pt x="45692" y="127253"/>
                </a:lnTo>
                <a:close/>
              </a:path>
            </a:pathLst>
          </a:custGeom>
          <a:solidFill>
            <a:srgbClr val="000000"/>
          </a:solidFill>
        </p:spPr>
        <p:txBody>
          <a:bodyPr wrap="square" lIns="0" tIns="0" rIns="0" bIns="0" rtlCol="0"/>
          <a:lstStyle/>
          <a:p>
            <a:endParaRPr/>
          </a:p>
        </p:txBody>
      </p:sp>
      <p:sp>
        <p:nvSpPr>
          <p:cNvPr id="23" name="object 23"/>
          <p:cNvSpPr txBox="1"/>
          <p:nvPr/>
        </p:nvSpPr>
        <p:spPr>
          <a:xfrm>
            <a:off x="7089140" y="5056123"/>
            <a:ext cx="197993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Fat </a:t>
            </a:r>
            <a:r>
              <a:rPr sz="1800" b="1" spc="-5" dirty="0">
                <a:latin typeface="Arial"/>
                <a:cs typeface="Arial"/>
              </a:rPr>
              <a:t>royal</a:t>
            </a:r>
            <a:r>
              <a:rPr sz="1800" b="1" spc="-100" dirty="0">
                <a:latin typeface="Arial"/>
                <a:cs typeface="Arial"/>
              </a:rPr>
              <a:t> </a:t>
            </a:r>
            <a:r>
              <a:rPr sz="1800" b="1" spc="-5" dirty="0">
                <a:latin typeface="Arial"/>
                <a:cs typeface="Arial"/>
              </a:rPr>
              <a:t>elephant</a:t>
            </a:r>
            <a:endParaRPr sz="1800">
              <a:latin typeface="Arial"/>
              <a:cs typeface="Arial"/>
            </a:endParaRPr>
          </a:p>
        </p:txBody>
      </p:sp>
      <p:sp>
        <p:nvSpPr>
          <p:cNvPr id="24" name="object 24"/>
          <p:cNvSpPr txBox="1"/>
          <p:nvPr/>
        </p:nvSpPr>
        <p:spPr>
          <a:xfrm>
            <a:off x="7546340" y="4217923"/>
            <a:ext cx="164973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Royal</a:t>
            </a:r>
            <a:r>
              <a:rPr sz="1800" b="1" spc="-90" dirty="0">
                <a:latin typeface="Arial"/>
                <a:cs typeface="Arial"/>
              </a:rPr>
              <a:t> </a:t>
            </a:r>
            <a:r>
              <a:rPr sz="1800" b="1" spc="-5" dirty="0">
                <a:latin typeface="Arial"/>
                <a:cs typeface="Arial"/>
              </a:rPr>
              <a:t>elephant</a:t>
            </a:r>
            <a:endParaRPr sz="1800">
              <a:latin typeface="Arial"/>
              <a:cs typeface="Arial"/>
            </a:endParaRPr>
          </a:p>
        </p:txBody>
      </p:sp>
      <p:sp>
        <p:nvSpPr>
          <p:cNvPr id="25" name="object 25"/>
          <p:cNvSpPr/>
          <p:nvPr/>
        </p:nvSpPr>
        <p:spPr>
          <a:xfrm>
            <a:off x="8116823" y="4572000"/>
            <a:ext cx="76200" cy="458470"/>
          </a:xfrm>
          <a:custGeom>
            <a:avLst/>
            <a:gdLst/>
            <a:ahLst/>
            <a:cxnLst/>
            <a:rect l="l" t="t" r="r" b="b"/>
            <a:pathLst>
              <a:path w="76200" h="458470">
                <a:moveTo>
                  <a:pt x="76200" y="127253"/>
                </a:moveTo>
                <a:lnTo>
                  <a:pt x="38861" y="0"/>
                </a:lnTo>
                <a:lnTo>
                  <a:pt x="0" y="127253"/>
                </a:lnTo>
                <a:lnTo>
                  <a:pt x="30422" y="127253"/>
                </a:lnTo>
                <a:lnTo>
                  <a:pt x="30479" y="114300"/>
                </a:lnTo>
                <a:lnTo>
                  <a:pt x="45720" y="115062"/>
                </a:lnTo>
                <a:lnTo>
                  <a:pt x="45720" y="127253"/>
                </a:lnTo>
                <a:lnTo>
                  <a:pt x="76200" y="127253"/>
                </a:lnTo>
                <a:close/>
              </a:path>
              <a:path w="76200" h="458470">
                <a:moveTo>
                  <a:pt x="45692" y="127253"/>
                </a:moveTo>
                <a:lnTo>
                  <a:pt x="30422" y="127253"/>
                </a:lnTo>
                <a:lnTo>
                  <a:pt x="28955" y="457200"/>
                </a:lnTo>
                <a:lnTo>
                  <a:pt x="44957" y="457962"/>
                </a:lnTo>
                <a:lnTo>
                  <a:pt x="45692" y="127253"/>
                </a:lnTo>
                <a:close/>
              </a:path>
              <a:path w="76200" h="458470">
                <a:moveTo>
                  <a:pt x="45720" y="115062"/>
                </a:moveTo>
                <a:lnTo>
                  <a:pt x="30479" y="114300"/>
                </a:lnTo>
                <a:lnTo>
                  <a:pt x="30422" y="127253"/>
                </a:lnTo>
                <a:lnTo>
                  <a:pt x="45692" y="127253"/>
                </a:lnTo>
                <a:lnTo>
                  <a:pt x="45720" y="115062"/>
                </a:lnTo>
                <a:close/>
              </a:path>
              <a:path w="76200" h="458470">
                <a:moveTo>
                  <a:pt x="45720" y="127253"/>
                </a:moveTo>
                <a:lnTo>
                  <a:pt x="45720" y="115062"/>
                </a:lnTo>
                <a:lnTo>
                  <a:pt x="45692" y="127253"/>
                </a:lnTo>
                <a:close/>
              </a:path>
            </a:pathLst>
          </a:custGeom>
          <a:solidFill>
            <a:srgbClr val="000000"/>
          </a:solidFill>
        </p:spPr>
        <p:txBody>
          <a:bodyPr wrap="square" lIns="0" tIns="0" rIns="0" bIns="0" rtlCol="0"/>
          <a:lstStyle/>
          <a:p>
            <a:endParaRPr/>
          </a:p>
        </p:txBody>
      </p:sp>
      <p:sp>
        <p:nvSpPr>
          <p:cNvPr id="26" name="object 26"/>
          <p:cNvSpPr txBox="1"/>
          <p:nvPr/>
        </p:nvSpPr>
        <p:spPr>
          <a:xfrm>
            <a:off x="1618741" y="5344921"/>
            <a:ext cx="2647950" cy="330200"/>
          </a:xfrm>
          <a:prstGeom prst="rect">
            <a:avLst/>
          </a:prstGeom>
        </p:spPr>
        <p:txBody>
          <a:bodyPr vert="horz" wrap="square" lIns="0" tIns="12065" rIns="0" bIns="0" rtlCol="0">
            <a:spAutoFit/>
          </a:bodyPr>
          <a:lstStyle/>
          <a:p>
            <a:pPr marL="12700">
              <a:lnSpc>
                <a:spcPct val="100000"/>
              </a:lnSpc>
              <a:spcBef>
                <a:spcPts val="95"/>
              </a:spcBef>
            </a:pPr>
            <a:r>
              <a:rPr sz="2000" i="1" spc="-5" dirty="0">
                <a:latin typeface="Arial"/>
                <a:cs typeface="Arial"/>
              </a:rPr>
              <a:t>chấp nhận</a:t>
            </a:r>
            <a:r>
              <a:rPr sz="2000" i="1" spc="-45" dirty="0">
                <a:latin typeface="Arial"/>
                <a:cs typeface="Arial"/>
              </a:rPr>
              <a:t> </a:t>
            </a:r>
            <a:r>
              <a:rPr sz="2000" i="1" spc="-10" dirty="0">
                <a:latin typeface="Arial"/>
                <a:cs typeface="Arial"/>
              </a:rPr>
              <a:t>(admissible)</a:t>
            </a:r>
            <a:endParaRPr sz="2000">
              <a:latin typeface="Arial"/>
              <a:cs typeface="Arial"/>
            </a:endParaRPr>
          </a:p>
        </p:txBody>
      </p:sp>
      <p:sp>
        <p:nvSpPr>
          <p:cNvPr id="27" name="object 27"/>
          <p:cNvSpPr txBox="1"/>
          <p:nvPr/>
        </p:nvSpPr>
        <p:spPr>
          <a:xfrm>
            <a:off x="1337563" y="5725921"/>
            <a:ext cx="3672204" cy="635000"/>
          </a:xfrm>
          <a:prstGeom prst="rect">
            <a:avLst/>
          </a:prstGeom>
        </p:spPr>
        <p:txBody>
          <a:bodyPr vert="horz" wrap="square" lIns="0" tIns="12065" rIns="0" bIns="0" rtlCol="0">
            <a:spAutoFit/>
          </a:bodyPr>
          <a:lstStyle/>
          <a:p>
            <a:pPr marL="293370" marR="5080" indent="-281305">
              <a:lnSpc>
                <a:spcPct val="100000"/>
              </a:lnSpc>
              <a:spcBef>
                <a:spcPts val="95"/>
              </a:spcBef>
              <a:buClr>
                <a:srgbClr val="3B822F"/>
              </a:buClr>
              <a:buSzPct val="60000"/>
              <a:buFont typeface="Wingdings"/>
              <a:buChar char=""/>
              <a:tabLst>
                <a:tab pos="293370" algn="l"/>
                <a:tab pos="294005" algn="l"/>
              </a:tabLst>
            </a:pPr>
            <a:r>
              <a:rPr sz="2000" spc="-5" dirty="0">
                <a:latin typeface="Arial"/>
                <a:cs typeface="Arial"/>
              </a:rPr>
              <a:t>Các </a:t>
            </a:r>
            <a:r>
              <a:rPr sz="2000" spc="-10" dirty="0">
                <a:latin typeface="Arial"/>
                <a:cs typeface="Arial"/>
              </a:rPr>
              <a:t>hướng </a:t>
            </a:r>
            <a:r>
              <a:rPr sz="2000" spc="-5" dirty="0">
                <a:latin typeface="Arial"/>
                <a:cs typeface="Arial"/>
              </a:rPr>
              <a:t>(paths) được xem  như là các </a:t>
            </a:r>
            <a:r>
              <a:rPr sz="2000" i="1" spc="-5" dirty="0">
                <a:latin typeface="Arial"/>
                <a:cs typeface="Arial"/>
              </a:rPr>
              <a:t>lý lẽ</a:t>
            </a:r>
            <a:r>
              <a:rPr sz="2000" i="1" spc="-35" dirty="0">
                <a:latin typeface="Arial"/>
                <a:cs typeface="Arial"/>
              </a:rPr>
              <a:t> </a:t>
            </a:r>
            <a:r>
              <a:rPr sz="2000" i="1" spc="-5" dirty="0">
                <a:latin typeface="Arial"/>
                <a:cs typeface="Arial"/>
              </a:rPr>
              <a:t>(arguments)</a:t>
            </a:r>
            <a:endParaRPr sz="2000">
              <a:latin typeface="Arial"/>
              <a:cs typeface="Arial"/>
            </a:endParaRPr>
          </a:p>
        </p:txBody>
      </p:sp>
      <p:sp>
        <p:nvSpPr>
          <p:cNvPr id="28" name="object 28"/>
          <p:cNvSpPr txBox="1"/>
          <p:nvPr/>
        </p:nvSpPr>
        <p:spPr>
          <a:xfrm>
            <a:off x="5488940" y="5905753"/>
            <a:ext cx="140779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Baby</a:t>
            </a:r>
            <a:r>
              <a:rPr sz="1800" b="1" spc="-85" dirty="0">
                <a:latin typeface="Arial"/>
                <a:cs typeface="Arial"/>
              </a:rPr>
              <a:t> </a:t>
            </a:r>
            <a:r>
              <a:rPr sz="1800" b="1" spc="-5" dirty="0">
                <a:latin typeface="Arial"/>
                <a:cs typeface="Arial"/>
              </a:rPr>
              <a:t>Beluga</a:t>
            </a:r>
            <a:endParaRPr sz="1800">
              <a:latin typeface="Arial"/>
              <a:cs typeface="Arial"/>
            </a:endParaRPr>
          </a:p>
        </p:txBody>
      </p:sp>
      <p:sp>
        <p:nvSpPr>
          <p:cNvPr id="29" name="object 29"/>
          <p:cNvSpPr/>
          <p:nvPr/>
        </p:nvSpPr>
        <p:spPr>
          <a:xfrm>
            <a:off x="5983223" y="5421629"/>
            <a:ext cx="76200" cy="457200"/>
          </a:xfrm>
          <a:custGeom>
            <a:avLst/>
            <a:gdLst/>
            <a:ahLst/>
            <a:cxnLst/>
            <a:rect l="l" t="t" r="r" b="b"/>
            <a:pathLst>
              <a:path w="76200" h="457200">
                <a:moveTo>
                  <a:pt x="76200" y="127254"/>
                </a:moveTo>
                <a:lnTo>
                  <a:pt x="38862" y="0"/>
                </a:lnTo>
                <a:lnTo>
                  <a:pt x="0" y="127254"/>
                </a:lnTo>
                <a:lnTo>
                  <a:pt x="30422" y="127254"/>
                </a:lnTo>
                <a:lnTo>
                  <a:pt x="30479" y="114300"/>
                </a:lnTo>
                <a:lnTo>
                  <a:pt x="45720" y="114300"/>
                </a:lnTo>
                <a:lnTo>
                  <a:pt x="45720" y="127254"/>
                </a:lnTo>
                <a:lnTo>
                  <a:pt x="76200" y="127254"/>
                </a:lnTo>
                <a:close/>
              </a:path>
              <a:path w="76200" h="457200">
                <a:moveTo>
                  <a:pt x="45691" y="127254"/>
                </a:moveTo>
                <a:lnTo>
                  <a:pt x="30422" y="127254"/>
                </a:lnTo>
                <a:lnTo>
                  <a:pt x="28955" y="457200"/>
                </a:lnTo>
                <a:lnTo>
                  <a:pt x="44958" y="457200"/>
                </a:lnTo>
                <a:lnTo>
                  <a:pt x="45691" y="127254"/>
                </a:lnTo>
                <a:close/>
              </a:path>
              <a:path w="76200" h="457200">
                <a:moveTo>
                  <a:pt x="45720" y="114300"/>
                </a:moveTo>
                <a:lnTo>
                  <a:pt x="30479" y="114300"/>
                </a:lnTo>
                <a:lnTo>
                  <a:pt x="30422" y="127254"/>
                </a:lnTo>
                <a:lnTo>
                  <a:pt x="45691" y="127254"/>
                </a:lnTo>
                <a:lnTo>
                  <a:pt x="45720" y="114300"/>
                </a:lnTo>
                <a:close/>
              </a:path>
              <a:path w="76200" h="457200">
                <a:moveTo>
                  <a:pt x="45720" y="127254"/>
                </a:moveTo>
                <a:lnTo>
                  <a:pt x="45720" y="114300"/>
                </a:lnTo>
                <a:lnTo>
                  <a:pt x="45691" y="127254"/>
                </a:lnTo>
                <a:close/>
              </a:path>
            </a:pathLst>
          </a:custGeom>
          <a:solidFill>
            <a:srgbClr val="000000"/>
          </a:solidFill>
        </p:spPr>
        <p:txBody>
          <a:bodyPr wrap="square" lIns="0" tIns="0" rIns="0" bIns="0" rtlCol="0"/>
          <a:lstStyle/>
          <a:p>
            <a:endParaRPr/>
          </a:p>
        </p:txBody>
      </p:sp>
      <p:sp>
        <p:nvSpPr>
          <p:cNvPr id="30" name="object 30"/>
          <p:cNvSpPr txBox="1"/>
          <p:nvPr/>
        </p:nvSpPr>
        <p:spPr>
          <a:xfrm>
            <a:off x="7851140" y="5905753"/>
            <a:ext cx="6477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Clyde</a:t>
            </a:r>
            <a:endParaRPr sz="1800">
              <a:latin typeface="Arial"/>
              <a:cs typeface="Arial"/>
            </a:endParaRPr>
          </a:p>
        </p:txBody>
      </p:sp>
      <p:sp>
        <p:nvSpPr>
          <p:cNvPr id="31" name="object 31"/>
          <p:cNvSpPr/>
          <p:nvPr/>
        </p:nvSpPr>
        <p:spPr>
          <a:xfrm>
            <a:off x="8116823" y="5421629"/>
            <a:ext cx="76200" cy="457200"/>
          </a:xfrm>
          <a:custGeom>
            <a:avLst/>
            <a:gdLst/>
            <a:ahLst/>
            <a:cxnLst/>
            <a:rect l="l" t="t" r="r" b="b"/>
            <a:pathLst>
              <a:path w="76200" h="457200">
                <a:moveTo>
                  <a:pt x="76200" y="127254"/>
                </a:moveTo>
                <a:lnTo>
                  <a:pt x="38861" y="0"/>
                </a:lnTo>
                <a:lnTo>
                  <a:pt x="0" y="127254"/>
                </a:lnTo>
                <a:lnTo>
                  <a:pt x="30422" y="127254"/>
                </a:lnTo>
                <a:lnTo>
                  <a:pt x="30479" y="114300"/>
                </a:lnTo>
                <a:lnTo>
                  <a:pt x="45720" y="114300"/>
                </a:lnTo>
                <a:lnTo>
                  <a:pt x="45720" y="127254"/>
                </a:lnTo>
                <a:lnTo>
                  <a:pt x="76200" y="127254"/>
                </a:lnTo>
                <a:close/>
              </a:path>
              <a:path w="76200" h="457200">
                <a:moveTo>
                  <a:pt x="45691" y="127254"/>
                </a:moveTo>
                <a:lnTo>
                  <a:pt x="30422" y="127254"/>
                </a:lnTo>
                <a:lnTo>
                  <a:pt x="28955" y="457200"/>
                </a:lnTo>
                <a:lnTo>
                  <a:pt x="44957" y="457200"/>
                </a:lnTo>
                <a:lnTo>
                  <a:pt x="45691" y="127254"/>
                </a:lnTo>
                <a:close/>
              </a:path>
              <a:path w="76200" h="457200">
                <a:moveTo>
                  <a:pt x="45720" y="114300"/>
                </a:moveTo>
                <a:lnTo>
                  <a:pt x="30479" y="114300"/>
                </a:lnTo>
                <a:lnTo>
                  <a:pt x="30422" y="127254"/>
                </a:lnTo>
                <a:lnTo>
                  <a:pt x="45691" y="127254"/>
                </a:lnTo>
                <a:lnTo>
                  <a:pt x="45720" y="114300"/>
                </a:lnTo>
                <a:close/>
              </a:path>
              <a:path w="76200" h="457200">
                <a:moveTo>
                  <a:pt x="45720" y="127254"/>
                </a:moveTo>
                <a:lnTo>
                  <a:pt x="45720" y="114300"/>
                </a:lnTo>
                <a:lnTo>
                  <a:pt x="45691" y="127254"/>
                </a:lnTo>
                <a:close/>
              </a:path>
            </a:pathLst>
          </a:custGeom>
          <a:solidFill>
            <a:srgbClr val="000000"/>
          </a:solidFill>
        </p:spPr>
        <p:txBody>
          <a:bodyPr wrap="square" lIns="0" tIns="0" rIns="0" bIns="0" rtlCol="0"/>
          <a:lstStyle/>
          <a:p>
            <a:endParaRPr/>
          </a:p>
        </p:txBody>
      </p:sp>
      <p:grpSp>
        <p:nvGrpSpPr>
          <p:cNvPr id="32" name="object 32"/>
          <p:cNvGrpSpPr/>
          <p:nvPr/>
        </p:nvGrpSpPr>
        <p:grpSpPr>
          <a:xfrm>
            <a:off x="457200" y="6332220"/>
            <a:ext cx="9144000" cy="982980"/>
            <a:chOff x="457200" y="6332220"/>
            <a:chExt cx="9144000" cy="982980"/>
          </a:xfrm>
        </p:grpSpPr>
        <p:sp>
          <p:nvSpPr>
            <p:cNvPr id="33" name="object 33"/>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34" name="object 34"/>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35" name="object 35"/>
          <p:cNvSpPr txBox="1"/>
          <p:nvPr/>
        </p:nvSpPr>
        <p:spPr>
          <a:xfrm>
            <a:off x="1618741" y="6335521"/>
            <a:ext cx="2207260" cy="330200"/>
          </a:xfrm>
          <a:prstGeom prst="rect">
            <a:avLst/>
          </a:prstGeom>
        </p:spPr>
        <p:txBody>
          <a:bodyPr vert="horz" wrap="square" lIns="0" tIns="12065" rIns="0" bIns="0" rtlCol="0">
            <a:spAutoFit/>
          </a:bodyPr>
          <a:lstStyle/>
          <a:p>
            <a:pPr marL="12700">
              <a:lnSpc>
                <a:spcPct val="100000"/>
              </a:lnSpc>
              <a:spcBef>
                <a:spcPts val="95"/>
              </a:spcBef>
            </a:pPr>
            <a:r>
              <a:rPr sz="2000" spc="-5" dirty="0">
                <a:latin typeface="Arial"/>
                <a:cs typeface="Arial"/>
              </a:rPr>
              <a:t>đối với các kết</a:t>
            </a:r>
            <a:r>
              <a:rPr sz="2000" spc="-75" dirty="0">
                <a:latin typeface="Arial"/>
                <a:cs typeface="Arial"/>
              </a:rPr>
              <a:t> </a:t>
            </a:r>
            <a:r>
              <a:rPr sz="2000" spc="-5" dirty="0">
                <a:latin typeface="Arial"/>
                <a:cs typeface="Arial"/>
              </a:rPr>
              <a:t>luận</a:t>
            </a:r>
            <a:endParaRPr sz="2000">
              <a:latin typeface="Arial"/>
              <a:cs typeface="Arial"/>
            </a:endParaRPr>
          </a:p>
        </p:txBody>
      </p:sp>
      <p:sp>
        <p:nvSpPr>
          <p:cNvPr id="39" name="Title 38">
            <a:extLst>
              <a:ext uri="{FF2B5EF4-FFF2-40B4-BE49-F238E27FC236}">
                <a16:creationId xmlns:a16="http://schemas.microsoft.com/office/drawing/2014/main" id="{1EF8F92B-1E90-47A8-A6C9-A6E203817E9B}"/>
              </a:ext>
            </a:extLst>
          </p:cNvPr>
          <p:cNvSpPr>
            <a:spLocks noGrp="1"/>
          </p:cNvSpPr>
          <p:nvPr>
            <p:ph type="title"/>
          </p:nvPr>
        </p:nvSpPr>
        <p:spPr/>
        <p:txBody>
          <a:bodyPr/>
          <a:lstStyle/>
          <a:p>
            <a:r>
              <a:rPr lang="en-US" b="0" spc="-5">
                <a:latin typeface="Verdana"/>
                <a:cs typeface="Verdana"/>
              </a:rPr>
              <a:t>Mạng kế thừa</a:t>
            </a:r>
            <a:r>
              <a:rPr lang="en-US" b="0" spc="-55">
                <a:latin typeface="Verdana"/>
                <a:cs typeface="Verdana"/>
              </a:rPr>
              <a:t> </a:t>
            </a:r>
            <a:r>
              <a:rPr lang="en-US" b="0" spc="-5">
                <a:latin typeface="Verdana"/>
                <a:cs typeface="Verdana"/>
              </a:rPr>
              <a:t>(5)</a:t>
            </a:r>
            <a:endParaRPr lang="en-US" b="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58</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5" name="object 5"/>
          <p:cNvSpPr txBox="1"/>
          <p:nvPr/>
        </p:nvSpPr>
        <p:spPr>
          <a:xfrm>
            <a:off x="993139" y="1777238"/>
            <a:ext cx="8201659" cy="4295140"/>
          </a:xfrm>
          <a:prstGeom prst="rect">
            <a:avLst/>
          </a:prstGeom>
        </p:spPr>
        <p:txBody>
          <a:bodyPr vert="horz" wrap="square" lIns="0" tIns="12700" rIns="0" bIns="0" rtlCol="0">
            <a:spAutoFit/>
          </a:bodyPr>
          <a:lstStyle/>
          <a:p>
            <a:pPr marL="354965" marR="5080" indent="-342900">
              <a:lnSpc>
                <a:spcPct val="100000"/>
              </a:lnSpc>
              <a:spcBef>
                <a:spcPts val="100"/>
              </a:spcBef>
              <a:buClr>
                <a:srgbClr val="CC9A00"/>
              </a:buClr>
              <a:buSzPct val="64583"/>
              <a:buFont typeface="Wingdings"/>
              <a:buChar char=""/>
              <a:tabLst>
                <a:tab pos="354965" algn="l"/>
                <a:tab pos="355600" algn="l"/>
              </a:tabLst>
            </a:pPr>
            <a:r>
              <a:rPr sz="2400" spc="-5" dirty="0">
                <a:latin typeface="Arial"/>
                <a:cs typeface="Arial"/>
              </a:rPr>
              <a:t>Một </a:t>
            </a:r>
            <a:r>
              <a:rPr sz="2400" b="1" spc="-5" dirty="0">
                <a:latin typeface="Arial"/>
                <a:cs typeface="Arial"/>
              </a:rPr>
              <a:t>phân cấp kế thừa (inheritance hierarchy) </a:t>
            </a:r>
            <a:r>
              <a:rPr sz="2400" dirty="0">
                <a:latin typeface="Arial"/>
                <a:cs typeface="Arial"/>
              </a:rPr>
              <a:t>G=&lt;V,E&gt;  là </a:t>
            </a:r>
            <a:r>
              <a:rPr sz="2400" spc="-5" dirty="0">
                <a:latin typeface="Arial"/>
                <a:cs typeface="Arial"/>
              </a:rPr>
              <a:t>một đồ thị </a:t>
            </a:r>
            <a:r>
              <a:rPr sz="2400" dirty="0">
                <a:latin typeface="Arial"/>
                <a:cs typeface="Arial"/>
              </a:rPr>
              <a:t>có </a:t>
            </a:r>
            <a:r>
              <a:rPr sz="2400" spc="-5" dirty="0">
                <a:latin typeface="Arial"/>
                <a:cs typeface="Arial"/>
              </a:rPr>
              <a:t>hướng và không chứa vòng lặp (directed  and acyclic graph </a:t>
            </a:r>
            <a:r>
              <a:rPr sz="2400" dirty="0">
                <a:latin typeface="Arial"/>
                <a:cs typeface="Arial"/>
              </a:rPr>
              <a:t>- </a:t>
            </a:r>
            <a:r>
              <a:rPr sz="2400" spc="-5" dirty="0">
                <a:latin typeface="Arial"/>
                <a:cs typeface="Arial"/>
              </a:rPr>
              <a:t>DAG) </a:t>
            </a:r>
            <a:r>
              <a:rPr sz="2400" dirty="0">
                <a:latin typeface="Arial"/>
                <a:cs typeface="Arial"/>
              </a:rPr>
              <a:t>với </a:t>
            </a:r>
            <a:r>
              <a:rPr sz="2400" spc="-5" dirty="0">
                <a:latin typeface="Arial"/>
                <a:cs typeface="Arial"/>
              </a:rPr>
              <a:t>các cạnh dương và âm để  biểu diễn tương ứng các quan </a:t>
            </a:r>
            <a:r>
              <a:rPr sz="2400" dirty="0">
                <a:latin typeface="Arial"/>
                <a:cs typeface="Arial"/>
              </a:rPr>
              <a:t>hệ </a:t>
            </a:r>
            <a:r>
              <a:rPr sz="2400" spc="-5" dirty="0">
                <a:latin typeface="Arial"/>
                <a:cs typeface="Arial"/>
              </a:rPr>
              <a:t>“</a:t>
            </a:r>
            <a:r>
              <a:rPr sz="2400" i="1" spc="-5" dirty="0">
                <a:latin typeface="Arial"/>
                <a:cs typeface="Arial"/>
              </a:rPr>
              <a:t>is-a</a:t>
            </a:r>
            <a:r>
              <a:rPr sz="2400" spc="-5" dirty="0">
                <a:latin typeface="Arial"/>
                <a:cs typeface="Arial"/>
              </a:rPr>
              <a:t>” và</a:t>
            </a:r>
            <a:r>
              <a:rPr sz="2400" spc="50" dirty="0">
                <a:latin typeface="Arial"/>
                <a:cs typeface="Arial"/>
              </a:rPr>
              <a:t> </a:t>
            </a:r>
            <a:r>
              <a:rPr sz="2400" spc="-5" dirty="0">
                <a:latin typeface="Arial"/>
                <a:cs typeface="Arial"/>
              </a:rPr>
              <a:t>“</a:t>
            </a:r>
            <a:r>
              <a:rPr sz="2400" i="1" spc="-5" dirty="0">
                <a:latin typeface="Arial"/>
                <a:cs typeface="Arial"/>
              </a:rPr>
              <a:t>is-not-a</a:t>
            </a:r>
            <a:r>
              <a:rPr sz="2400" spc="-5" dirty="0">
                <a:latin typeface="Arial"/>
                <a:cs typeface="Arial"/>
              </a:rPr>
              <a:t>”</a:t>
            </a:r>
            <a:endParaRPr sz="2400">
              <a:latin typeface="Arial"/>
              <a:cs typeface="Arial"/>
            </a:endParaRPr>
          </a:p>
          <a:p>
            <a:pPr marL="681990" lvl="1" indent="-325755">
              <a:lnSpc>
                <a:spcPct val="100000"/>
              </a:lnSpc>
              <a:spcBef>
                <a:spcPts val="610"/>
              </a:spcBef>
              <a:buClr>
                <a:srgbClr val="3B822F"/>
              </a:buClr>
              <a:buSzPct val="60000"/>
              <a:buFont typeface="Wingdings"/>
              <a:buChar char=""/>
              <a:tabLst>
                <a:tab pos="681990" algn="l"/>
                <a:tab pos="682625" algn="l"/>
                <a:tab pos="4840605" algn="l"/>
              </a:tabLst>
            </a:pPr>
            <a:r>
              <a:rPr sz="2000" spc="-5" dirty="0">
                <a:latin typeface="Arial"/>
                <a:cs typeface="Arial"/>
              </a:rPr>
              <a:t>Các cạnh </a:t>
            </a:r>
            <a:r>
              <a:rPr sz="2000" spc="-10" dirty="0">
                <a:latin typeface="Arial"/>
                <a:cs typeface="Arial"/>
              </a:rPr>
              <a:t>dương </a:t>
            </a:r>
            <a:r>
              <a:rPr sz="2000" spc="-5" dirty="0">
                <a:latin typeface="Arial"/>
                <a:cs typeface="Arial"/>
              </a:rPr>
              <a:t>được biểu</a:t>
            </a:r>
            <a:r>
              <a:rPr sz="2000" spc="50" dirty="0">
                <a:latin typeface="Arial"/>
                <a:cs typeface="Arial"/>
              </a:rPr>
              <a:t> </a:t>
            </a:r>
            <a:r>
              <a:rPr sz="2000" spc="-5" dirty="0">
                <a:latin typeface="Arial"/>
                <a:cs typeface="Arial"/>
              </a:rPr>
              <a:t>diễn</a:t>
            </a:r>
            <a:r>
              <a:rPr sz="2000" spc="10" dirty="0">
                <a:latin typeface="Arial"/>
                <a:cs typeface="Arial"/>
              </a:rPr>
              <a:t> </a:t>
            </a:r>
            <a:r>
              <a:rPr sz="2000" spc="-5" dirty="0">
                <a:latin typeface="Arial"/>
                <a:cs typeface="Arial"/>
              </a:rPr>
              <a:t>là:	</a:t>
            </a:r>
            <a:r>
              <a:rPr sz="2000" i="1" spc="-5" dirty="0">
                <a:latin typeface="Arial"/>
                <a:cs typeface="Arial"/>
              </a:rPr>
              <a:t>a •</a:t>
            </a:r>
            <a:r>
              <a:rPr sz="2000" i="1" spc="-20" dirty="0">
                <a:latin typeface="Arial"/>
                <a:cs typeface="Arial"/>
              </a:rPr>
              <a:t> </a:t>
            </a:r>
            <a:r>
              <a:rPr sz="2000" i="1" spc="-5" dirty="0">
                <a:latin typeface="Arial"/>
                <a:cs typeface="Arial"/>
              </a:rPr>
              <a:t>x</a:t>
            </a:r>
            <a:endParaRPr sz="2000">
              <a:latin typeface="Arial"/>
              <a:cs typeface="Arial"/>
            </a:endParaRPr>
          </a:p>
          <a:p>
            <a:pPr marL="681990" lvl="1" indent="-325755">
              <a:lnSpc>
                <a:spcPct val="100000"/>
              </a:lnSpc>
              <a:spcBef>
                <a:spcPts val="605"/>
              </a:spcBef>
              <a:buClr>
                <a:srgbClr val="3B822F"/>
              </a:buClr>
              <a:buSzPct val="60000"/>
              <a:buFont typeface="Wingdings"/>
              <a:buChar char=""/>
              <a:tabLst>
                <a:tab pos="681990" algn="l"/>
                <a:tab pos="682625" algn="l"/>
                <a:tab pos="4431665" algn="l"/>
              </a:tabLst>
            </a:pPr>
            <a:r>
              <a:rPr sz="2000" spc="-5" dirty="0">
                <a:latin typeface="Arial"/>
                <a:cs typeface="Arial"/>
              </a:rPr>
              <a:t>Các cạnh âm được biểu</a:t>
            </a:r>
            <a:r>
              <a:rPr sz="2000" spc="30" dirty="0">
                <a:latin typeface="Arial"/>
                <a:cs typeface="Arial"/>
              </a:rPr>
              <a:t> </a:t>
            </a:r>
            <a:r>
              <a:rPr sz="2000" spc="-5" dirty="0">
                <a:latin typeface="Arial"/>
                <a:cs typeface="Arial"/>
              </a:rPr>
              <a:t>diễn</a:t>
            </a:r>
            <a:r>
              <a:rPr sz="2000" dirty="0">
                <a:latin typeface="Arial"/>
                <a:cs typeface="Arial"/>
              </a:rPr>
              <a:t> </a:t>
            </a:r>
            <a:r>
              <a:rPr sz="2000" spc="-5" dirty="0">
                <a:latin typeface="Arial"/>
                <a:cs typeface="Arial"/>
              </a:rPr>
              <a:t>là:	</a:t>
            </a:r>
            <a:r>
              <a:rPr sz="2000" i="1" spc="-5" dirty="0">
                <a:latin typeface="Arial"/>
                <a:cs typeface="Arial"/>
              </a:rPr>
              <a:t>a •</a:t>
            </a:r>
            <a:r>
              <a:rPr sz="2000" i="1" spc="-20" dirty="0">
                <a:latin typeface="Arial"/>
                <a:cs typeface="Arial"/>
              </a:rPr>
              <a:t> </a:t>
            </a:r>
            <a:r>
              <a:rPr sz="2000" spc="-5" dirty="0">
                <a:latin typeface="Symbol"/>
                <a:cs typeface="Symbol"/>
              </a:rPr>
              <a:t></a:t>
            </a:r>
            <a:r>
              <a:rPr sz="2000" i="1" spc="-5" dirty="0">
                <a:latin typeface="Arial"/>
                <a:cs typeface="Arial"/>
              </a:rPr>
              <a:t>x</a:t>
            </a:r>
            <a:endParaRPr sz="2000">
              <a:latin typeface="Arial"/>
              <a:cs typeface="Arial"/>
            </a:endParaRPr>
          </a:p>
          <a:p>
            <a:pPr lvl="1">
              <a:lnSpc>
                <a:spcPct val="100000"/>
              </a:lnSpc>
              <a:spcBef>
                <a:spcPts val="25"/>
              </a:spcBef>
              <a:buClr>
                <a:srgbClr val="3B822F"/>
              </a:buClr>
              <a:buFont typeface="Wingdings"/>
              <a:buChar char=""/>
            </a:pPr>
            <a:endParaRPr sz="2050">
              <a:latin typeface="Arial"/>
              <a:cs typeface="Arial"/>
            </a:endParaRPr>
          </a:p>
          <a:p>
            <a:pPr marL="355600" indent="-342900">
              <a:lnSpc>
                <a:spcPct val="100000"/>
              </a:lnSpc>
              <a:buClr>
                <a:srgbClr val="CC9A00"/>
              </a:buClr>
              <a:buSzPct val="64583"/>
              <a:buFont typeface="Wingdings"/>
              <a:buChar char=""/>
              <a:tabLst>
                <a:tab pos="354965" algn="l"/>
                <a:tab pos="355600" algn="l"/>
              </a:tabLst>
            </a:pPr>
            <a:r>
              <a:rPr sz="2400" spc="-5" dirty="0">
                <a:latin typeface="Arial"/>
                <a:cs typeface="Arial"/>
              </a:rPr>
              <a:t>Một </a:t>
            </a:r>
            <a:r>
              <a:rPr sz="2400" b="1" spc="-5" dirty="0">
                <a:latin typeface="Arial"/>
                <a:cs typeface="Arial"/>
              </a:rPr>
              <a:t>hướng </a:t>
            </a:r>
            <a:r>
              <a:rPr sz="2400" spc="-5" dirty="0">
                <a:latin typeface="Arial"/>
                <a:cs typeface="Arial"/>
              </a:rPr>
              <a:t>(</a:t>
            </a:r>
            <a:r>
              <a:rPr sz="2400" b="1" spc="-5" dirty="0">
                <a:latin typeface="Arial"/>
                <a:cs typeface="Arial"/>
              </a:rPr>
              <a:t>path) </a:t>
            </a:r>
            <a:r>
              <a:rPr sz="2400" dirty="0">
                <a:latin typeface="Arial"/>
                <a:cs typeface="Arial"/>
              </a:rPr>
              <a:t>là </a:t>
            </a:r>
            <a:r>
              <a:rPr sz="2400" spc="-5" dirty="0">
                <a:latin typeface="Arial"/>
                <a:cs typeface="Arial"/>
              </a:rPr>
              <a:t>một chuỗi các</a:t>
            </a:r>
            <a:r>
              <a:rPr sz="2400" dirty="0">
                <a:latin typeface="Arial"/>
                <a:cs typeface="Arial"/>
              </a:rPr>
              <a:t> </a:t>
            </a:r>
            <a:r>
              <a:rPr sz="2400" spc="-5" dirty="0">
                <a:latin typeface="Arial"/>
                <a:cs typeface="Arial"/>
              </a:rPr>
              <a:t>cạnh</a:t>
            </a:r>
            <a:endParaRPr sz="2400">
              <a:latin typeface="Arial"/>
              <a:cs typeface="Arial"/>
            </a:endParaRPr>
          </a:p>
          <a:p>
            <a:pPr marL="681990" marR="452755" lvl="1" indent="-325755">
              <a:lnSpc>
                <a:spcPct val="100000"/>
              </a:lnSpc>
              <a:spcBef>
                <a:spcPts val="610"/>
              </a:spcBef>
              <a:buClr>
                <a:srgbClr val="3B822F"/>
              </a:buClr>
              <a:buSzPct val="60000"/>
              <a:buFont typeface="Wingdings"/>
              <a:buChar char=""/>
              <a:tabLst>
                <a:tab pos="681990" algn="l"/>
                <a:tab pos="682625" algn="l"/>
                <a:tab pos="3173730" algn="l"/>
              </a:tabLst>
            </a:pPr>
            <a:r>
              <a:rPr sz="2000" spc="-5" dirty="0">
                <a:latin typeface="Arial"/>
                <a:cs typeface="Arial"/>
              </a:rPr>
              <a:t>Một </a:t>
            </a:r>
            <a:r>
              <a:rPr sz="2000" b="1" spc="-5" dirty="0">
                <a:latin typeface="Arial"/>
                <a:cs typeface="Arial"/>
              </a:rPr>
              <a:t>hướng dương </a:t>
            </a:r>
            <a:r>
              <a:rPr sz="2000" b="1" spc="-10" dirty="0">
                <a:latin typeface="Arial"/>
                <a:cs typeface="Arial"/>
              </a:rPr>
              <a:t>(positive </a:t>
            </a:r>
            <a:r>
              <a:rPr sz="2000" b="1" spc="-5" dirty="0">
                <a:latin typeface="Arial"/>
                <a:cs typeface="Arial"/>
              </a:rPr>
              <a:t>path) </a:t>
            </a:r>
            <a:r>
              <a:rPr sz="2000" spc="-5" dirty="0">
                <a:latin typeface="Arial"/>
                <a:cs typeface="Arial"/>
              </a:rPr>
              <a:t>là một chuỗi của một hoặc  nhiều</a:t>
            </a:r>
            <a:r>
              <a:rPr sz="2000" spc="10" dirty="0">
                <a:latin typeface="Arial"/>
                <a:cs typeface="Arial"/>
              </a:rPr>
              <a:t> </a:t>
            </a:r>
            <a:r>
              <a:rPr sz="2000" spc="-5" dirty="0">
                <a:latin typeface="Arial"/>
                <a:cs typeface="Arial"/>
              </a:rPr>
              <a:t>cạnh</a:t>
            </a:r>
            <a:r>
              <a:rPr sz="2000" spc="15" dirty="0">
                <a:latin typeface="Arial"/>
                <a:cs typeface="Arial"/>
              </a:rPr>
              <a:t> </a:t>
            </a:r>
            <a:r>
              <a:rPr sz="2000" spc="-10" dirty="0">
                <a:latin typeface="Arial"/>
                <a:cs typeface="Arial"/>
              </a:rPr>
              <a:t>dương:	</a:t>
            </a:r>
            <a:r>
              <a:rPr sz="2000" i="1" spc="-5" dirty="0">
                <a:latin typeface="Arial"/>
                <a:cs typeface="Arial"/>
              </a:rPr>
              <a:t>a • … •</a:t>
            </a:r>
            <a:r>
              <a:rPr sz="2000" i="1" spc="-10" dirty="0">
                <a:latin typeface="Arial"/>
                <a:cs typeface="Arial"/>
              </a:rPr>
              <a:t> </a:t>
            </a:r>
            <a:r>
              <a:rPr sz="2000" i="1" spc="-5" dirty="0">
                <a:latin typeface="Arial"/>
                <a:cs typeface="Arial"/>
              </a:rPr>
              <a:t>x</a:t>
            </a:r>
            <a:endParaRPr sz="2000">
              <a:latin typeface="Arial"/>
              <a:cs typeface="Arial"/>
            </a:endParaRPr>
          </a:p>
          <a:p>
            <a:pPr marL="681990" marR="43815" lvl="1" indent="-325755">
              <a:lnSpc>
                <a:spcPct val="100000"/>
              </a:lnSpc>
              <a:spcBef>
                <a:spcPts val="600"/>
              </a:spcBef>
              <a:buClr>
                <a:srgbClr val="3B822F"/>
              </a:buClr>
              <a:buSzPct val="60000"/>
              <a:buFont typeface="Wingdings"/>
              <a:buChar char=""/>
              <a:tabLst>
                <a:tab pos="681990" algn="l"/>
                <a:tab pos="682625" algn="l"/>
                <a:tab pos="4651375" algn="l"/>
              </a:tabLst>
            </a:pPr>
            <a:r>
              <a:rPr sz="2000" spc="-5" dirty="0">
                <a:latin typeface="Arial"/>
                <a:cs typeface="Arial"/>
              </a:rPr>
              <a:t>Một </a:t>
            </a:r>
            <a:r>
              <a:rPr sz="2000" b="1" spc="-5" dirty="0">
                <a:latin typeface="Arial"/>
                <a:cs typeface="Arial"/>
              </a:rPr>
              <a:t>hướng âm </a:t>
            </a:r>
            <a:r>
              <a:rPr sz="2000" b="1" spc="-10" dirty="0">
                <a:latin typeface="Arial"/>
                <a:cs typeface="Arial"/>
              </a:rPr>
              <a:t>(negative </a:t>
            </a:r>
            <a:r>
              <a:rPr sz="2000" b="1" spc="-5" dirty="0">
                <a:latin typeface="Arial"/>
                <a:cs typeface="Arial"/>
              </a:rPr>
              <a:t>path) </a:t>
            </a:r>
            <a:r>
              <a:rPr sz="2000" spc="-5" dirty="0">
                <a:latin typeface="Arial"/>
                <a:cs typeface="Arial"/>
              </a:rPr>
              <a:t>là một chuỗi của các cạnh </a:t>
            </a:r>
            <a:r>
              <a:rPr sz="2000" spc="-10" dirty="0">
                <a:latin typeface="Arial"/>
                <a:cs typeface="Arial"/>
              </a:rPr>
              <a:t>dương  </a:t>
            </a:r>
            <a:r>
              <a:rPr sz="2000" spc="-5" dirty="0">
                <a:latin typeface="Arial"/>
                <a:cs typeface="Arial"/>
              </a:rPr>
              <a:t>và kết thúc </a:t>
            </a:r>
            <a:r>
              <a:rPr sz="2000" spc="-10" dirty="0">
                <a:latin typeface="Arial"/>
                <a:cs typeface="Arial"/>
              </a:rPr>
              <a:t>bởi </a:t>
            </a:r>
            <a:r>
              <a:rPr sz="2000" spc="-5" dirty="0">
                <a:latin typeface="Arial"/>
                <a:cs typeface="Arial"/>
              </a:rPr>
              <a:t>(chỉ) một</a:t>
            </a:r>
            <a:r>
              <a:rPr sz="2000" spc="30" dirty="0">
                <a:latin typeface="Arial"/>
                <a:cs typeface="Arial"/>
              </a:rPr>
              <a:t> </a:t>
            </a:r>
            <a:r>
              <a:rPr sz="2000" spc="-5" dirty="0">
                <a:latin typeface="Arial"/>
                <a:cs typeface="Arial"/>
              </a:rPr>
              <a:t>cạnh</a:t>
            </a:r>
            <a:r>
              <a:rPr sz="2000" spc="10" dirty="0">
                <a:latin typeface="Arial"/>
                <a:cs typeface="Arial"/>
              </a:rPr>
              <a:t> </a:t>
            </a:r>
            <a:r>
              <a:rPr sz="2000" spc="-5" dirty="0">
                <a:latin typeface="Arial"/>
                <a:cs typeface="Arial"/>
              </a:rPr>
              <a:t>âm:	</a:t>
            </a:r>
            <a:r>
              <a:rPr sz="2000" i="1" spc="-5" dirty="0">
                <a:latin typeface="Arial"/>
                <a:cs typeface="Arial"/>
              </a:rPr>
              <a:t>a • … • v •</a:t>
            </a:r>
            <a:r>
              <a:rPr sz="2000" i="1" spc="-40" dirty="0">
                <a:latin typeface="Arial"/>
                <a:cs typeface="Arial"/>
              </a:rPr>
              <a:t> </a:t>
            </a:r>
            <a:r>
              <a:rPr sz="2000" spc="-5" dirty="0">
                <a:latin typeface="Symbol"/>
                <a:cs typeface="Symbol"/>
              </a:rPr>
              <a:t></a:t>
            </a:r>
            <a:r>
              <a:rPr sz="2000" i="1" spc="-5" dirty="0">
                <a:latin typeface="Arial"/>
                <a:cs typeface="Arial"/>
              </a:rPr>
              <a:t>x</a:t>
            </a:r>
            <a:endParaRPr sz="2000">
              <a:latin typeface="Arial"/>
              <a:cs typeface="Arial"/>
            </a:endParaRPr>
          </a:p>
        </p:txBody>
      </p:sp>
      <p:sp>
        <p:nvSpPr>
          <p:cNvPr id="6" name="object 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0" name="Title 9">
            <a:extLst>
              <a:ext uri="{FF2B5EF4-FFF2-40B4-BE49-F238E27FC236}">
                <a16:creationId xmlns:a16="http://schemas.microsoft.com/office/drawing/2014/main" id="{D97DD634-4D94-48E4-95B2-205247BAA0FE}"/>
              </a:ext>
            </a:extLst>
          </p:cNvPr>
          <p:cNvSpPr>
            <a:spLocks noGrp="1"/>
          </p:cNvSpPr>
          <p:nvPr>
            <p:ph type="title"/>
          </p:nvPr>
        </p:nvSpPr>
        <p:spPr/>
        <p:txBody>
          <a:bodyPr>
            <a:normAutofit/>
          </a:bodyPr>
          <a:lstStyle/>
          <a:p>
            <a:r>
              <a:rPr lang="en-US" sz="3600" b="0" spc="-5">
                <a:latin typeface="Verdana"/>
                <a:cs typeface="Verdana"/>
              </a:rPr>
              <a:t>Phân </a:t>
            </a:r>
            <a:r>
              <a:rPr lang="en-US" sz="3600" b="0">
                <a:latin typeface="Verdana"/>
                <a:cs typeface="Verdana"/>
              </a:rPr>
              <a:t>cấp </a:t>
            </a:r>
            <a:r>
              <a:rPr lang="en-US" sz="3600" b="0" spc="-5">
                <a:latin typeface="Verdana"/>
                <a:cs typeface="Verdana"/>
              </a:rPr>
              <a:t>kế thừa </a:t>
            </a:r>
            <a:r>
              <a:rPr lang="en-US" sz="3600" b="0">
                <a:latin typeface="Verdana"/>
                <a:cs typeface="Verdana"/>
              </a:rPr>
              <a:t>– </a:t>
            </a:r>
            <a:r>
              <a:rPr lang="en-US" sz="3600" b="0" spc="-5">
                <a:latin typeface="Verdana"/>
                <a:cs typeface="Verdana"/>
              </a:rPr>
              <a:t>Định nghĩa</a:t>
            </a:r>
            <a:r>
              <a:rPr lang="en-US" sz="3600" b="0" spc="-110">
                <a:latin typeface="Verdana"/>
                <a:cs typeface="Verdana"/>
              </a:rPr>
              <a:t> </a:t>
            </a:r>
            <a:r>
              <a:rPr lang="en-US" sz="3600" b="0" spc="-5">
                <a:latin typeface="Verdana"/>
                <a:cs typeface="Verdana"/>
              </a:rPr>
              <a:t>(1)</a:t>
            </a:r>
            <a:endParaRPr lang="en-US" sz="3600" b="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59</a:t>
            </a:fld>
            <a:endParaRPr spc="-40" dirty="0"/>
          </a:p>
        </p:txBody>
      </p:sp>
      <p:sp>
        <p:nvSpPr>
          <p:cNvPr id="3" name="object 3"/>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993139" y="1777238"/>
            <a:ext cx="8057515" cy="4765040"/>
          </a:xfrm>
          <a:prstGeom prst="rect">
            <a:avLst/>
          </a:prstGeom>
        </p:spPr>
        <p:txBody>
          <a:bodyPr vert="horz" wrap="square" lIns="0" tIns="12700" rIns="0" bIns="0" rtlCol="0">
            <a:spAutoFit/>
          </a:bodyPr>
          <a:lstStyle/>
          <a:p>
            <a:pPr marL="355600" marR="73660" indent="-342900">
              <a:lnSpc>
                <a:spcPct val="100000"/>
              </a:lnSpc>
              <a:spcBef>
                <a:spcPts val="100"/>
              </a:spcBef>
              <a:buClr>
                <a:srgbClr val="CC9A00"/>
              </a:buClr>
              <a:buSzPct val="64583"/>
              <a:buFont typeface="Wingdings"/>
              <a:buChar char=""/>
              <a:tabLst>
                <a:tab pos="354965" algn="l"/>
                <a:tab pos="355600" algn="l"/>
              </a:tabLst>
            </a:pPr>
            <a:r>
              <a:rPr sz="2400" spc="-5" dirty="0">
                <a:latin typeface="Arial"/>
                <a:cs typeface="Arial"/>
              </a:rPr>
              <a:t>Không tồn tại bất kỳ hướng (path) nào có nhiều hơn một  cạnh âm</a:t>
            </a:r>
            <a:endParaRPr sz="2400">
              <a:latin typeface="Arial"/>
              <a:cs typeface="Arial"/>
            </a:endParaRPr>
          </a:p>
          <a:p>
            <a:pPr marL="355600" indent="-342900">
              <a:lnSpc>
                <a:spcPct val="100000"/>
              </a:lnSpc>
              <a:spcBef>
                <a:spcPts val="1200"/>
              </a:spcBef>
              <a:buClr>
                <a:srgbClr val="CC9A00"/>
              </a:buClr>
              <a:buSzPct val="64583"/>
              <a:buFont typeface="Wingdings"/>
              <a:buChar char=""/>
              <a:tabLst>
                <a:tab pos="354965" algn="l"/>
                <a:tab pos="355600" algn="l"/>
              </a:tabLst>
            </a:pPr>
            <a:r>
              <a:rPr sz="2400" spc="-5" dirty="0">
                <a:latin typeface="Arial"/>
                <a:cs typeface="Arial"/>
              </a:rPr>
              <a:t>Một hướng (path) có thể chẳng có cạnh dương</a:t>
            </a:r>
            <a:r>
              <a:rPr sz="2400" spc="65" dirty="0">
                <a:latin typeface="Arial"/>
                <a:cs typeface="Arial"/>
              </a:rPr>
              <a:t> </a:t>
            </a:r>
            <a:r>
              <a:rPr sz="2400" spc="-5" dirty="0">
                <a:latin typeface="Arial"/>
                <a:cs typeface="Arial"/>
              </a:rPr>
              <a:t>nào</a:t>
            </a:r>
            <a:endParaRPr sz="2400">
              <a:latin typeface="Arial"/>
              <a:cs typeface="Arial"/>
            </a:endParaRPr>
          </a:p>
          <a:p>
            <a:pPr marL="354965" marR="5080" indent="-342900">
              <a:lnSpc>
                <a:spcPct val="100000"/>
              </a:lnSpc>
              <a:spcBef>
                <a:spcPts val="1200"/>
              </a:spcBef>
              <a:buClr>
                <a:srgbClr val="CC9A00"/>
              </a:buClr>
              <a:buSzPct val="64583"/>
              <a:buFont typeface="Wingdings"/>
              <a:buChar char=""/>
              <a:tabLst>
                <a:tab pos="354965" algn="l"/>
                <a:tab pos="355600" algn="l"/>
              </a:tabLst>
            </a:pPr>
            <a:r>
              <a:rPr sz="2400" spc="-5" dirty="0">
                <a:latin typeface="Arial"/>
                <a:cs typeface="Arial"/>
              </a:rPr>
              <a:t>Mỗi hướng biểu diễn một </a:t>
            </a:r>
            <a:r>
              <a:rPr sz="2400" dirty="0">
                <a:latin typeface="Arial"/>
                <a:cs typeface="Arial"/>
              </a:rPr>
              <a:t>lý </a:t>
            </a:r>
            <a:r>
              <a:rPr sz="2400" spc="-5" dirty="0">
                <a:latin typeface="Arial"/>
                <a:cs typeface="Arial"/>
              </a:rPr>
              <a:t>lẽ (argument) đối với một kết  luận (được đưa ra theo hướng</a:t>
            </a:r>
            <a:r>
              <a:rPr sz="2400" spc="55" dirty="0">
                <a:latin typeface="Arial"/>
                <a:cs typeface="Arial"/>
              </a:rPr>
              <a:t> </a:t>
            </a:r>
            <a:r>
              <a:rPr sz="2400" spc="-5" dirty="0">
                <a:latin typeface="Arial"/>
                <a:cs typeface="Arial"/>
              </a:rPr>
              <a:t>đó)</a:t>
            </a:r>
            <a:endParaRPr sz="2400">
              <a:latin typeface="Arial"/>
              <a:cs typeface="Arial"/>
            </a:endParaRPr>
          </a:p>
          <a:p>
            <a:pPr marL="681990" lvl="1" indent="-325755">
              <a:lnSpc>
                <a:spcPct val="100000"/>
              </a:lnSpc>
              <a:spcBef>
                <a:spcPts val="610"/>
              </a:spcBef>
              <a:buClr>
                <a:srgbClr val="3B822F"/>
              </a:buClr>
              <a:buSzPct val="60000"/>
              <a:buFont typeface="Wingdings"/>
              <a:buChar char=""/>
              <a:tabLst>
                <a:tab pos="681990" algn="l"/>
                <a:tab pos="682625" algn="l"/>
                <a:tab pos="1624965" algn="l"/>
                <a:tab pos="2745105" algn="l"/>
                <a:tab pos="4873625" algn="l"/>
              </a:tabLst>
            </a:pPr>
            <a:r>
              <a:rPr sz="2000" spc="-10" dirty="0">
                <a:latin typeface="Arial"/>
                <a:cs typeface="Arial"/>
              </a:rPr>
              <a:t>Hướng	</a:t>
            </a:r>
            <a:r>
              <a:rPr sz="2000" i="1" spc="-5" dirty="0">
                <a:latin typeface="Arial"/>
                <a:cs typeface="Arial"/>
              </a:rPr>
              <a:t>a • …</a:t>
            </a:r>
            <a:r>
              <a:rPr sz="2000" i="1" spc="-10" dirty="0">
                <a:latin typeface="Arial"/>
                <a:cs typeface="Arial"/>
              </a:rPr>
              <a:t> </a:t>
            </a:r>
            <a:r>
              <a:rPr sz="2000" i="1" spc="-5" dirty="0">
                <a:latin typeface="Arial"/>
                <a:cs typeface="Arial"/>
              </a:rPr>
              <a:t>• x	</a:t>
            </a:r>
            <a:r>
              <a:rPr sz="2000" spc="-5" dirty="0">
                <a:latin typeface="Arial"/>
                <a:cs typeface="Arial"/>
              </a:rPr>
              <a:t>biểu diễn</a:t>
            </a:r>
            <a:r>
              <a:rPr sz="2000" spc="10" dirty="0">
                <a:latin typeface="Arial"/>
                <a:cs typeface="Arial"/>
              </a:rPr>
              <a:t> </a:t>
            </a:r>
            <a:r>
              <a:rPr sz="2000" spc="-5" dirty="0">
                <a:latin typeface="Arial"/>
                <a:cs typeface="Arial"/>
              </a:rPr>
              <a:t>kết luận	“</a:t>
            </a:r>
            <a:r>
              <a:rPr sz="2000" i="1" spc="-5" dirty="0">
                <a:latin typeface="Arial"/>
                <a:cs typeface="Arial"/>
              </a:rPr>
              <a:t>a is an</a:t>
            </a:r>
            <a:r>
              <a:rPr sz="2000" i="1" spc="-10" dirty="0">
                <a:latin typeface="Arial"/>
                <a:cs typeface="Arial"/>
              </a:rPr>
              <a:t> </a:t>
            </a:r>
            <a:r>
              <a:rPr sz="2000" i="1" dirty="0">
                <a:latin typeface="Arial"/>
                <a:cs typeface="Arial"/>
              </a:rPr>
              <a:t>x</a:t>
            </a:r>
            <a:r>
              <a:rPr sz="2000" dirty="0">
                <a:latin typeface="Arial"/>
                <a:cs typeface="Arial"/>
              </a:rPr>
              <a:t>”</a:t>
            </a:r>
            <a:endParaRPr sz="2000">
              <a:latin typeface="Arial"/>
              <a:cs typeface="Arial"/>
            </a:endParaRPr>
          </a:p>
          <a:p>
            <a:pPr marL="681990" lvl="1" indent="-325755">
              <a:lnSpc>
                <a:spcPct val="100000"/>
              </a:lnSpc>
              <a:spcBef>
                <a:spcPts val="605"/>
              </a:spcBef>
              <a:buClr>
                <a:srgbClr val="3B822F"/>
              </a:buClr>
              <a:buSzPct val="60000"/>
              <a:buFont typeface="Wingdings"/>
              <a:buChar char=""/>
              <a:tabLst>
                <a:tab pos="681990" algn="l"/>
                <a:tab pos="682625" algn="l"/>
                <a:tab pos="1624965" algn="l"/>
                <a:tab pos="3281045" algn="l"/>
                <a:tab pos="5410200" algn="l"/>
              </a:tabLst>
            </a:pPr>
            <a:r>
              <a:rPr sz="2000" spc="-10" dirty="0">
                <a:latin typeface="Arial"/>
                <a:cs typeface="Arial"/>
              </a:rPr>
              <a:t>Hướng	</a:t>
            </a:r>
            <a:r>
              <a:rPr sz="2000" i="1" spc="-5" dirty="0">
                <a:latin typeface="Arial"/>
                <a:cs typeface="Arial"/>
              </a:rPr>
              <a:t>a • … • v</a:t>
            </a:r>
            <a:r>
              <a:rPr sz="2000" i="1" spc="10" dirty="0">
                <a:latin typeface="Arial"/>
                <a:cs typeface="Arial"/>
              </a:rPr>
              <a:t> </a:t>
            </a:r>
            <a:r>
              <a:rPr sz="2000" i="1" spc="-5" dirty="0">
                <a:latin typeface="Arial"/>
                <a:cs typeface="Arial"/>
              </a:rPr>
              <a:t>•</a:t>
            </a:r>
            <a:r>
              <a:rPr sz="2000" i="1" spc="-10" dirty="0">
                <a:latin typeface="Arial"/>
                <a:cs typeface="Arial"/>
              </a:rPr>
              <a:t> </a:t>
            </a:r>
            <a:r>
              <a:rPr sz="2000" spc="-5" dirty="0">
                <a:latin typeface="Symbol"/>
                <a:cs typeface="Symbol"/>
              </a:rPr>
              <a:t></a:t>
            </a:r>
            <a:r>
              <a:rPr sz="2000" i="1" spc="-5" dirty="0">
                <a:latin typeface="Arial"/>
                <a:cs typeface="Arial"/>
              </a:rPr>
              <a:t>x	</a:t>
            </a:r>
            <a:r>
              <a:rPr sz="2000" spc="-5" dirty="0">
                <a:latin typeface="Arial"/>
                <a:cs typeface="Arial"/>
              </a:rPr>
              <a:t>biểu diễn</a:t>
            </a:r>
            <a:r>
              <a:rPr sz="2000" spc="15" dirty="0">
                <a:latin typeface="Arial"/>
                <a:cs typeface="Arial"/>
              </a:rPr>
              <a:t> </a:t>
            </a:r>
            <a:r>
              <a:rPr sz="2000" spc="-5" dirty="0">
                <a:latin typeface="Arial"/>
                <a:cs typeface="Arial"/>
              </a:rPr>
              <a:t>kết luận	“</a:t>
            </a:r>
            <a:r>
              <a:rPr sz="2000" i="1" spc="-5" dirty="0">
                <a:latin typeface="Arial"/>
                <a:cs typeface="Arial"/>
              </a:rPr>
              <a:t>a is not an</a:t>
            </a:r>
            <a:r>
              <a:rPr sz="2000" i="1" spc="-45" dirty="0">
                <a:latin typeface="Arial"/>
                <a:cs typeface="Arial"/>
              </a:rPr>
              <a:t> </a:t>
            </a:r>
            <a:r>
              <a:rPr sz="2000" i="1" spc="5" dirty="0">
                <a:latin typeface="Arial"/>
                <a:cs typeface="Arial"/>
              </a:rPr>
              <a:t>x</a:t>
            </a:r>
            <a:r>
              <a:rPr sz="2000" spc="5" dirty="0">
                <a:latin typeface="Arial"/>
                <a:cs typeface="Arial"/>
              </a:rPr>
              <a:t>”</a:t>
            </a:r>
            <a:endParaRPr sz="2000">
              <a:latin typeface="Arial"/>
              <a:cs typeface="Arial"/>
            </a:endParaRPr>
          </a:p>
          <a:p>
            <a:pPr marL="355600" indent="-342900">
              <a:lnSpc>
                <a:spcPct val="100000"/>
              </a:lnSpc>
              <a:spcBef>
                <a:spcPts val="1785"/>
              </a:spcBef>
              <a:buClr>
                <a:srgbClr val="CC9A00"/>
              </a:buClr>
              <a:buSzPct val="64583"/>
              <a:buFont typeface="Wingdings"/>
              <a:buChar char=""/>
              <a:tabLst>
                <a:tab pos="354965" algn="l"/>
                <a:tab pos="355600" algn="l"/>
              </a:tabLst>
            </a:pPr>
            <a:r>
              <a:rPr sz="2400" spc="-5" dirty="0">
                <a:latin typeface="Arial"/>
                <a:cs typeface="Arial"/>
              </a:rPr>
              <a:t>Một kết luận có thể được xác nhận bằng nhiều lý </a:t>
            </a:r>
            <a:r>
              <a:rPr sz="2400" dirty="0">
                <a:latin typeface="Arial"/>
                <a:cs typeface="Arial"/>
              </a:rPr>
              <a:t>lẽ</a:t>
            </a:r>
            <a:r>
              <a:rPr sz="2400" spc="55" dirty="0">
                <a:latin typeface="Arial"/>
                <a:cs typeface="Arial"/>
              </a:rPr>
              <a:t> </a:t>
            </a:r>
            <a:r>
              <a:rPr sz="2400" spc="-5" dirty="0">
                <a:latin typeface="Arial"/>
                <a:cs typeface="Arial"/>
              </a:rPr>
              <a:t>(đạt</a:t>
            </a:r>
            <a:endParaRPr sz="2400">
              <a:latin typeface="Arial"/>
              <a:cs typeface="Arial"/>
            </a:endParaRPr>
          </a:p>
          <a:p>
            <a:pPr marL="355600">
              <a:lnSpc>
                <a:spcPct val="100000"/>
              </a:lnSpc>
            </a:pPr>
            <a:r>
              <a:rPr sz="2400" spc="-5" dirty="0">
                <a:latin typeface="Arial"/>
                <a:cs typeface="Arial"/>
              </a:rPr>
              <a:t>được bằng nhiều</a:t>
            </a:r>
            <a:r>
              <a:rPr sz="2400" spc="30" dirty="0">
                <a:latin typeface="Arial"/>
                <a:cs typeface="Arial"/>
              </a:rPr>
              <a:t> </a:t>
            </a:r>
            <a:r>
              <a:rPr sz="2400" spc="-5" dirty="0">
                <a:latin typeface="Arial"/>
                <a:cs typeface="Arial"/>
              </a:rPr>
              <a:t>hướng)</a:t>
            </a:r>
            <a:endParaRPr sz="2400">
              <a:latin typeface="Arial"/>
              <a:cs typeface="Arial"/>
            </a:endParaRPr>
          </a:p>
          <a:p>
            <a:pPr marL="355600" indent="-342900">
              <a:lnSpc>
                <a:spcPct val="100000"/>
              </a:lnSpc>
              <a:spcBef>
                <a:spcPts val="1200"/>
              </a:spcBef>
              <a:buClr>
                <a:srgbClr val="CC9A00"/>
              </a:buClr>
              <a:buSzPct val="64583"/>
              <a:buFont typeface="Wingdings"/>
              <a:buChar char=""/>
              <a:tabLst>
                <a:tab pos="354965" algn="l"/>
                <a:tab pos="355600" algn="l"/>
              </a:tabLst>
            </a:pPr>
            <a:r>
              <a:rPr sz="2400" spc="-5" dirty="0">
                <a:latin typeface="Arial"/>
                <a:cs typeface="Arial"/>
              </a:rPr>
              <a:t>Tuy nhiên, không phải tất cả </a:t>
            </a:r>
            <a:r>
              <a:rPr sz="2400" dirty="0">
                <a:latin typeface="Arial"/>
                <a:cs typeface="Arial"/>
              </a:rPr>
              <a:t>các </a:t>
            </a:r>
            <a:r>
              <a:rPr sz="2400" spc="-5" dirty="0">
                <a:latin typeface="Arial"/>
                <a:cs typeface="Arial"/>
              </a:rPr>
              <a:t>lý lẽ (tất cả </a:t>
            </a:r>
            <a:r>
              <a:rPr sz="2400" dirty="0">
                <a:latin typeface="Arial"/>
                <a:cs typeface="Arial"/>
              </a:rPr>
              <a:t>các</a:t>
            </a:r>
            <a:r>
              <a:rPr sz="2400" spc="10" dirty="0">
                <a:latin typeface="Arial"/>
                <a:cs typeface="Arial"/>
              </a:rPr>
              <a:t> </a:t>
            </a:r>
            <a:r>
              <a:rPr sz="2400" spc="-5" dirty="0">
                <a:latin typeface="Arial"/>
                <a:cs typeface="Arial"/>
              </a:rPr>
              <a:t>hướng)</a:t>
            </a:r>
            <a:endParaRPr sz="2400">
              <a:latin typeface="Arial"/>
              <a:cs typeface="Arial"/>
            </a:endParaRPr>
          </a:p>
          <a:p>
            <a:pPr marL="355600">
              <a:lnSpc>
                <a:spcPct val="100000"/>
              </a:lnSpc>
            </a:pPr>
            <a:r>
              <a:rPr sz="2400" spc="-5" dirty="0">
                <a:latin typeface="Arial"/>
                <a:cs typeface="Arial"/>
              </a:rPr>
              <a:t>đều </a:t>
            </a:r>
            <a:r>
              <a:rPr sz="2400" dirty="0">
                <a:latin typeface="Arial"/>
                <a:cs typeface="Arial"/>
              </a:rPr>
              <a:t>có </a:t>
            </a:r>
            <a:r>
              <a:rPr sz="2400" spc="-5" dirty="0">
                <a:latin typeface="Arial"/>
                <a:cs typeface="Arial"/>
              </a:rPr>
              <a:t>cùng mức độ </a:t>
            </a:r>
            <a:r>
              <a:rPr sz="2400" dirty="0">
                <a:latin typeface="Arial"/>
                <a:cs typeface="Arial"/>
              </a:rPr>
              <a:t>tin</a:t>
            </a:r>
            <a:r>
              <a:rPr sz="2400" spc="10" dirty="0">
                <a:latin typeface="Arial"/>
                <a:cs typeface="Arial"/>
              </a:rPr>
              <a:t> </a:t>
            </a:r>
            <a:r>
              <a:rPr sz="2400" spc="-5" dirty="0">
                <a:latin typeface="Arial"/>
                <a:cs typeface="Arial"/>
              </a:rPr>
              <a:t>cậy</a:t>
            </a:r>
            <a:endParaRPr sz="24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A253E289-9354-43F9-B2E6-0A0377379DEB}"/>
              </a:ext>
            </a:extLst>
          </p:cNvPr>
          <p:cNvSpPr>
            <a:spLocks noGrp="1"/>
          </p:cNvSpPr>
          <p:nvPr>
            <p:ph type="title"/>
          </p:nvPr>
        </p:nvSpPr>
        <p:spPr/>
        <p:txBody>
          <a:bodyPr>
            <a:normAutofit/>
          </a:bodyPr>
          <a:lstStyle/>
          <a:p>
            <a:r>
              <a:rPr lang="en-US" sz="3600" b="0" spc="-5">
                <a:latin typeface="Verdana"/>
                <a:cs typeface="Verdana"/>
              </a:rPr>
              <a:t>Phân </a:t>
            </a:r>
            <a:r>
              <a:rPr lang="en-US" sz="3600" b="0">
                <a:latin typeface="Verdana"/>
                <a:cs typeface="Verdana"/>
              </a:rPr>
              <a:t>cấp </a:t>
            </a:r>
            <a:r>
              <a:rPr lang="en-US" sz="3600" b="0" spc="-5">
                <a:latin typeface="Verdana"/>
                <a:cs typeface="Verdana"/>
              </a:rPr>
              <a:t>kế thừa </a:t>
            </a:r>
            <a:r>
              <a:rPr lang="en-US" sz="3600" b="0">
                <a:latin typeface="Verdana"/>
                <a:cs typeface="Verdana"/>
              </a:rPr>
              <a:t>– </a:t>
            </a:r>
            <a:r>
              <a:rPr lang="en-US" sz="3600" b="0" spc="-5">
                <a:latin typeface="Verdana"/>
                <a:cs typeface="Verdana"/>
              </a:rPr>
              <a:t>Định nghĩa</a:t>
            </a:r>
            <a:r>
              <a:rPr lang="en-US" sz="3600" b="0" spc="-110">
                <a:latin typeface="Verdana"/>
                <a:cs typeface="Verdana"/>
              </a:rPr>
              <a:t> </a:t>
            </a:r>
            <a:r>
              <a:rPr lang="en-US" sz="3600" b="0" spc="-5">
                <a:latin typeface="Verdana"/>
                <a:cs typeface="Verdana"/>
              </a:rPr>
              <a:t>(2)</a:t>
            </a:r>
            <a:endParaRPr lang="en-US" sz="3600" b="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60</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16939" y="1777238"/>
            <a:ext cx="8148320" cy="4841240"/>
          </a:xfrm>
          <a:prstGeom prst="rect">
            <a:avLst/>
          </a:prstGeom>
        </p:spPr>
        <p:txBody>
          <a:bodyPr vert="horz" wrap="square" lIns="0" tIns="12700" rIns="0" bIns="0" rtlCol="0">
            <a:spAutoFit/>
          </a:bodyPr>
          <a:lstStyle/>
          <a:p>
            <a:pPr marL="431800" marR="175260" indent="-342900">
              <a:lnSpc>
                <a:spcPct val="100000"/>
              </a:lnSpc>
              <a:spcBef>
                <a:spcPts val="100"/>
              </a:spcBef>
              <a:buClr>
                <a:srgbClr val="CC9A00"/>
              </a:buClr>
              <a:buSzPct val="64583"/>
              <a:buFont typeface="Wingdings"/>
              <a:buChar char=""/>
              <a:tabLst>
                <a:tab pos="431165" algn="l"/>
                <a:tab pos="431800" algn="l"/>
                <a:tab pos="1595120" algn="l"/>
                <a:tab pos="3532504" algn="l"/>
                <a:tab pos="4102735" algn="l"/>
              </a:tabLst>
            </a:pPr>
            <a:r>
              <a:rPr sz="2400" spc="-5" dirty="0">
                <a:latin typeface="Arial"/>
                <a:cs typeface="Arial"/>
              </a:rPr>
              <a:t>Phân cấp phân</a:t>
            </a:r>
            <a:r>
              <a:rPr sz="2400" spc="35" dirty="0">
                <a:latin typeface="Arial"/>
                <a:cs typeface="Arial"/>
              </a:rPr>
              <a:t> </a:t>
            </a:r>
            <a:r>
              <a:rPr sz="2400" spc="-5" dirty="0">
                <a:latin typeface="Arial"/>
                <a:cs typeface="Arial"/>
              </a:rPr>
              <a:t>loại</a:t>
            </a:r>
            <a:r>
              <a:rPr sz="2400" spc="20" dirty="0">
                <a:latin typeface="Arial"/>
                <a:cs typeface="Arial"/>
              </a:rPr>
              <a:t> </a:t>
            </a:r>
            <a:r>
              <a:rPr sz="2400" dirty="0">
                <a:latin typeface="Arial"/>
                <a:cs typeface="Arial"/>
              </a:rPr>
              <a:t>G	</a:t>
            </a:r>
            <a:r>
              <a:rPr sz="2400" b="1" spc="-5" dirty="0">
                <a:latin typeface="Arial"/>
                <a:cs typeface="Arial"/>
              </a:rPr>
              <a:t>xác nhận (supports) một  hướng	</a:t>
            </a:r>
            <a:r>
              <a:rPr sz="2400" i="1" dirty="0">
                <a:latin typeface="Arial"/>
                <a:cs typeface="Arial"/>
              </a:rPr>
              <a:t>a • s</a:t>
            </a:r>
            <a:r>
              <a:rPr sz="2400" i="1" baseline="-20833" dirty="0">
                <a:latin typeface="Arial"/>
                <a:cs typeface="Arial"/>
              </a:rPr>
              <a:t>1  </a:t>
            </a:r>
            <a:r>
              <a:rPr sz="2400" i="1" dirty="0">
                <a:latin typeface="Arial"/>
                <a:cs typeface="Arial"/>
              </a:rPr>
              <a:t>• … • s</a:t>
            </a:r>
            <a:r>
              <a:rPr sz="2400" i="1" baseline="-20833" dirty="0">
                <a:latin typeface="Arial"/>
                <a:cs typeface="Arial"/>
              </a:rPr>
              <a:t>n</a:t>
            </a:r>
            <a:r>
              <a:rPr sz="2400" i="1" spc="-97" baseline="-20833" dirty="0">
                <a:latin typeface="Arial"/>
                <a:cs typeface="Arial"/>
              </a:rPr>
              <a:t> </a:t>
            </a:r>
            <a:r>
              <a:rPr sz="2400" i="1" dirty="0">
                <a:latin typeface="Arial"/>
                <a:cs typeface="Arial"/>
              </a:rPr>
              <a:t>•</a:t>
            </a:r>
            <a:r>
              <a:rPr sz="2400" i="1" spc="-10" dirty="0">
                <a:latin typeface="Arial"/>
                <a:cs typeface="Arial"/>
              </a:rPr>
              <a:t> </a:t>
            </a:r>
            <a:r>
              <a:rPr sz="2400" i="1" dirty="0">
                <a:latin typeface="Arial"/>
                <a:cs typeface="Arial"/>
              </a:rPr>
              <a:t>x	</a:t>
            </a:r>
            <a:r>
              <a:rPr sz="2400" spc="-5" dirty="0">
                <a:latin typeface="Arial"/>
                <a:cs typeface="Arial"/>
              </a:rPr>
              <a:t>nếu tập các cạnh tương</a:t>
            </a:r>
            <a:r>
              <a:rPr sz="2400" spc="-20" dirty="0">
                <a:latin typeface="Arial"/>
                <a:cs typeface="Arial"/>
              </a:rPr>
              <a:t> </a:t>
            </a:r>
            <a:r>
              <a:rPr sz="2400" spc="-5" dirty="0">
                <a:latin typeface="Arial"/>
                <a:cs typeface="Arial"/>
              </a:rPr>
              <a:t>ứng</a:t>
            </a:r>
            <a:endParaRPr sz="2400">
              <a:latin typeface="Arial"/>
              <a:cs typeface="Arial"/>
            </a:endParaRPr>
          </a:p>
          <a:p>
            <a:pPr marL="431800">
              <a:lnSpc>
                <a:spcPct val="100000"/>
              </a:lnSpc>
              <a:tabLst>
                <a:tab pos="4636135" algn="l"/>
              </a:tabLst>
            </a:pPr>
            <a:r>
              <a:rPr sz="2400" spc="-5" dirty="0">
                <a:latin typeface="Arial"/>
                <a:cs typeface="Arial"/>
              </a:rPr>
              <a:t>{</a:t>
            </a:r>
            <a:r>
              <a:rPr sz="2400" i="1" spc="-5" dirty="0">
                <a:latin typeface="Arial"/>
                <a:cs typeface="Arial"/>
              </a:rPr>
              <a:t>a•s</a:t>
            </a:r>
            <a:r>
              <a:rPr sz="2400" i="1" spc="-7" baseline="-20833" dirty="0">
                <a:latin typeface="Arial"/>
                <a:cs typeface="Arial"/>
              </a:rPr>
              <a:t>1 </a:t>
            </a:r>
            <a:r>
              <a:rPr sz="2400" i="1" dirty="0">
                <a:latin typeface="Arial"/>
                <a:cs typeface="Arial"/>
              </a:rPr>
              <a:t>, </a:t>
            </a:r>
            <a:r>
              <a:rPr sz="2400" i="1" spc="-5" dirty="0">
                <a:latin typeface="Arial"/>
                <a:cs typeface="Arial"/>
              </a:rPr>
              <a:t>s</a:t>
            </a:r>
            <a:r>
              <a:rPr sz="2400" i="1" spc="-7" baseline="-20833" dirty="0">
                <a:latin typeface="Arial"/>
                <a:cs typeface="Arial"/>
              </a:rPr>
              <a:t>1</a:t>
            </a:r>
            <a:r>
              <a:rPr sz="2400" i="1" spc="-5" dirty="0">
                <a:latin typeface="Arial"/>
                <a:cs typeface="Arial"/>
              </a:rPr>
              <a:t>•s</a:t>
            </a:r>
            <a:r>
              <a:rPr sz="2400" i="1" spc="-7" baseline="-20833" dirty="0">
                <a:latin typeface="Arial"/>
                <a:cs typeface="Arial"/>
              </a:rPr>
              <a:t>2 </a:t>
            </a:r>
            <a:r>
              <a:rPr sz="2400" i="1" dirty="0">
                <a:latin typeface="Arial"/>
                <a:cs typeface="Arial"/>
              </a:rPr>
              <a:t>, … , </a:t>
            </a:r>
            <a:r>
              <a:rPr sz="2400" i="1" spc="-5" dirty="0">
                <a:latin typeface="Arial"/>
                <a:cs typeface="Arial"/>
              </a:rPr>
              <a:t>s</a:t>
            </a:r>
            <a:r>
              <a:rPr sz="2400" i="1" spc="-7" baseline="-20833" dirty="0">
                <a:latin typeface="Arial"/>
                <a:cs typeface="Arial"/>
              </a:rPr>
              <a:t>n-1</a:t>
            </a:r>
            <a:r>
              <a:rPr sz="2400" i="1" spc="-5" dirty="0">
                <a:latin typeface="Arial"/>
                <a:cs typeface="Arial"/>
              </a:rPr>
              <a:t>•s</a:t>
            </a:r>
            <a:r>
              <a:rPr sz="2400" i="1" spc="-7" baseline="-20833" dirty="0">
                <a:latin typeface="Arial"/>
                <a:cs typeface="Arial"/>
              </a:rPr>
              <a:t>n </a:t>
            </a:r>
            <a:r>
              <a:rPr sz="2400" i="1" spc="284" baseline="-20833" dirty="0">
                <a:latin typeface="Arial"/>
                <a:cs typeface="Arial"/>
              </a:rPr>
              <a:t> </a:t>
            </a:r>
            <a:r>
              <a:rPr sz="2400" i="1" dirty="0">
                <a:latin typeface="Arial"/>
                <a:cs typeface="Arial"/>
              </a:rPr>
              <a:t>,</a:t>
            </a:r>
            <a:r>
              <a:rPr sz="2400" i="1" spc="-5" dirty="0">
                <a:latin typeface="Arial"/>
                <a:cs typeface="Arial"/>
              </a:rPr>
              <a:t> s</a:t>
            </a:r>
            <a:r>
              <a:rPr sz="2400" i="1" spc="-7" baseline="-20833" dirty="0">
                <a:latin typeface="Arial"/>
                <a:cs typeface="Arial"/>
              </a:rPr>
              <a:t>n</a:t>
            </a:r>
            <a:r>
              <a:rPr sz="2400" i="1" spc="-5" dirty="0">
                <a:latin typeface="Arial"/>
                <a:cs typeface="Arial"/>
              </a:rPr>
              <a:t>•x</a:t>
            </a:r>
            <a:r>
              <a:rPr sz="2400" spc="-5" dirty="0">
                <a:latin typeface="Arial"/>
                <a:cs typeface="Arial"/>
              </a:rPr>
              <a:t>}	thuộc vào E, và</a:t>
            </a:r>
            <a:r>
              <a:rPr sz="2400" spc="-30" dirty="0">
                <a:latin typeface="Arial"/>
                <a:cs typeface="Arial"/>
              </a:rPr>
              <a:t> </a:t>
            </a:r>
            <a:r>
              <a:rPr sz="2400" spc="-5" dirty="0">
                <a:latin typeface="Arial"/>
                <a:cs typeface="Arial"/>
              </a:rPr>
              <a:t>hướng</a:t>
            </a:r>
            <a:endParaRPr sz="2400">
              <a:latin typeface="Arial"/>
              <a:cs typeface="Arial"/>
            </a:endParaRPr>
          </a:p>
          <a:p>
            <a:pPr marL="431165">
              <a:lnSpc>
                <a:spcPct val="100000"/>
              </a:lnSpc>
            </a:pPr>
            <a:r>
              <a:rPr sz="2400" spc="-5" dirty="0">
                <a:latin typeface="Arial"/>
                <a:cs typeface="Arial"/>
              </a:rPr>
              <a:t>đó là chấp nhận được</a:t>
            </a:r>
            <a:r>
              <a:rPr sz="2400" spc="35" dirty="0">
                <a:latin typeface="Arial"/>
                <a:cs typeface="Arial"/>
              </a:rPr>
              <a:t> </a:t>
            </a:r>
            <a:r>
              <a:rPr sz="2400" spc="-5" dirty="0">
                <a:latin typeface="Arial"/>
                <a:cs typeface="Arial"/>
              </a:rPr>
              <a:t>(admissible)</a:t>
            </a:r>
            <a:endParaRPr sz="2400">
              <a:latin typeface="Arial"/>
              <a:cs typeface="Arial"/>
            </a:endParaRPr>
          </a:p>
          <a:p>
            <a:pPr marL="758190" lvl="1" indent="-325755">
              <a:lnSpc>
                <a:spcPct val="100000"/>
              </a:lnSpc>
              <a:spcBef>
                <a:spcPts val="615"/>
              </a:spcBef>
              <a:buClr>
                <a:srgbClr val="3B822F"/>
              </a:buClr>
              <a:buSzPct val="60000"/>
              <a:buFont typeface="Wingdings"/>
              <a:buChar char=""/>
              <a:tabLst>
                <a:tab pos="758190" algn="l"/>
                <a:tab pos="758825" algn="l"/>
                <a:tab pos="5840095" algn="l"/>
              </a:tabLst>
            </a:pPr>
            <a:r>
              <a:rPr sz="2000" spc="-5" dirty="0">
                <a:latin typeface="Arial"/>
                <a:cs typeface="Arial"/>
              </a:rPr>
              <a:t>Định nghĩa tương tự, đối với một</a:t>
            </a:r>
            <a:r>
              <a:rPr sz="2000" spc="30" dirty="0">
                <a:latin typeface="Arial"/>
                <a:cs typeface="Arial"/>
              </a:rPr>
              <a:t> </a:t>
            </a:r>
            <a:r>
              <a:rPr sz="2000" spc="-10" dirty="0">
                <a:latin typeface="Arial"/>
                <a:cs typeface="Arial"/>
              </a:rPr>
              <a:t>hướng</a:t>
            </a:r>
            <a:r>
              <a:rPr sz="2000" spc="15" dirty="0">
                <a:latin typeface="Arial"/>
                <a:cs typeface="Arial"/>
              </a:rPr>
              <a:t> </a:t>
            </a:r>
            <a:r>
              <a:rPr sz="2000" spc="-5" dirty="0">
                <a:latin typeface="Arial"/>
                <a:cs typeface="Arial"/>
              </a:rPr>
              <a:t>âm	</a:t>
            </a:r>
            <a:r>
              <a:rPr sz="2000" i="1" spc="-5" dirty="0">
                <a:latin typeface="Arial"/>
                <a:cs typeface="Arial"/>
              </a:rPr>
              <a:t>a • </a:t>
            </a:r>
            <a:r>
              <a:rPr sz="2000" i="1" spc="5" dirty="0">
                <a:latin typeface="Arial"/>
                <a:cs typeface="Arial"/>
              </a:rPr>
              <a:t>s</a:t>
            </a:r>
            <a:r>
              <a:rPr sz="1950" i="1" spc="7" baseline="-21367" dirty="0">
                <a:latin typeface="Arial"/>
                <a:cs typeface="Arial"/>
              </a:rPr>
              <a:t>1 </a:t>
            </a:r>
            <a:r>
              <a:rPr sz="2000" i="1" spc="-5" dirty="0">
                <a:latin typeface="Arial"/>
                <a:cs typeface="Arial"/>
              </a:rPr>
              <a:t>• … • </a:t>
            </a:r>
            <a:r>
              <a:rPr sz="2000" i="1" spc="5" dirty="0">
                <a:latin typeface="Arial"/>
                <a:cs typeface="Arial"/>
              </a:rPr>
              <a:t>s</a:t>
            </a:r>
            <a:r>
              <a:rPr sz="1950" i="1" spc="7" baseline="-21367" dirty="0">
                <a:latin typeface="Arial"/>
                <a:cs typeface="Arial"/>
              </a:rPr>
              <a:t>n </a:t>
            </a:r>
            <a:r>
              <a:rPr sz="2000" i="1" spc="-5" dirty="0">
                <a:latin typeface="Arial"/>
                <a:cs typeface="Arial"/>
              </a:rPr>
              <a:t>•</a:t>
            </a:r>
            <a:r>
              <a:rPr sz="2000" i="1" spc="295" dirty="0">
                <a:latin typeface="Arial"/>
                <a:cs typeface="Arial"/>
              </a:rPr>
              <a:t> </a:t>
            </a:r>
            <a:r>
              <a:rPr sz="2000" spc="-5" dirty="0">
                <a:latin typeface="Symbol"/>
                <a:cs typeface="Symbol"/>
              </a:rPr>
              <a:t></a:t>
            </a:r>
            <a:r>
              <a:rPr sz="2000" i="1" spc="-5" dirty="0">
                <a:latin typeface="Arial"/>
                <a:cs typeface="Arial"/>
              </a:rPr>
              <a:t>x</a:t>
            </a:r>
            <a:endParaRPr sz="2000">
              <a:latin typeface="Arial"/>
              <a:cs typeface="Arial"/>
            </a:endParaRPr>
          </a:p>
          <a:p>
            <a:pPr marL="431800" indent="-342900">
              <a:lnSpc>
                <a:spcPct val="100000"/>
              </a:lnSpc>
              <a:spcBef>
                <a:spcPts val="1785"/>
              </a:spcBef>
              <a:buClr>
                <a:srgbClr val="CC9A00"/>
              </a:buClr>
              <a:buSzPct val="64583"/>
              <a:buFont typeface="Wingdings"/>
              <a:buChar char=""/>
              <a:tabLst>
                <a:tab pos="431165" algn="l"/>
                <a:tab pos="431800" algn="l"/>
                <a:tab pos="6816725" algn="l"/>
              </a:tabLst>
            </a:pPr>
            <a:r>
              <a:rPr sz="2400" spc="-5" dirty="0">
                <a:latin typeface="Arial"/>
                <a:cs typeface="Arial"/>
              </a:rPr>
              <a:t>Phân cấp phân loại </a:t>
            </a:r>
            <a:r>
              <a:rPr sz="2400" dirty="0">
                <a:latin typeface="Arial"/>
                <a:cs typeface="Arial"/>
              </a:rPr>
              <a:t>G </a:t>
            </a:r>
            <a:r>
              <a:rPr sz="2400" b="1" spc="-5" dirty="0">
                <a:latin typeface="Arial"/>
                <a:cs typeface="Arial"/>
              </a:rPr>
              <a:t>xác nhận một</a:t>
            </a:r>
            <a:r>
              <a:rPr sz="2400" b="1" spc="75" dirty="0">
                <a:latin typeface="Arial"/>
                <a:cs typeface="Arial"/>
              </a:rPr>
              <a:t> </a:t>
            </a:r>
            <a:r>
              <a:rPr sz="2400" b="1" spc="-5" dirty="0">
                <a:latin typeface="Arial"/>
                <a:cs typeface="Arial"/>
              </a:rPr>
              <a:t>kết</a:t>
            </a:r>
            <a:r>
              <a:rPr sz="2400" b="1" spc="15" dirty="0">
                <a:latin typeface="Arial"/>
                <a:cs typeface="Arial"/>
              </a:rPr>
              <a:t> </a:t>
            </a:r>
            <a:r>
              <a:rPr sz="2400" b="1" spc="-5" dirty="0">
                <a:latin typeface="Arial"/>
                <a:cs typeface="Arial"/>
              </a:rPr>
              <a:t>luận	“</a:t>
            </a:r>
            <a:r>
              <a:rPr sz="2400" b="1" i="1" spc="-5" dirty="0">
                <a:latin typeface="Arial"/>
                <a:cs typeface="Arial"/>
              </a:rPr>
              <a:t>a is</a:t>
            </a:r>
            <a:r>
              <a:rPr sz="2400" b="1" i="1" spc="-45" dirty="0">
                <a:latin typeface="Arial"/>
                <a:cs typeface="Arial"/>
              </a:rPr>
              <a:t> </a:t>
            </a:r>
            <a:r>
              <a:rPr sz="2400" b="1" i="1" spc="-5" dirty="0">
                <a:latin typeface="Arial"/>
                <a:cs typeface="Arial"/>
              </a:rPr>
              <a:t>x</a:t>
            </a:r>
            <a:r>
              <a:rPr sz="2400" b="1" spc="-5" dirty="0">
                <a:latin typeface="Arial"/>
                <a:cs typeface="Arial"/>
              </a:rPr>
              <a:t>”</a:t>
            </a:r>
            <a:endParaRPr sz="2400">
              <a:latin typeface="Arial"/>
              <a:cs typeface="Arial"/>
            </a:endParaRPr>
          </a:p>
          <a:p>
            <a:pPr marL="431800">
              <a:lnSpc>
                <a:spcPct val="100000"/>
              </a:lnSpc>
            </a:pPr>
            <a:r>
              <a:rPr sz="2400" spc="-5" dirty="0">
                <a:latin typeface="Arial"/>
                <a:cs typeface="Arial"/>
              </a:rPr>
              <a:t>nếu </a:t>
            </a:r>
            <a:r>
              <a:rPr sz="2400" dirty="0">
                <a:latin typeface="Arial"/>
                <a:cs typeface="Arial"/>
              </a:rPr>
              <a:t>G </a:t>
            </a:r>
            <a:r>
              <a:rPr sz="2400" spc="-5" dirty="0">
                <a:latin typeface="Arial"/>
                <a:cs typeface="Arial"/>
              </a:rPr>
              <a:t>xác nhận một hướng nào đó để đạt được kết</a:t>
            </a:r>
            <a:r>
              <a:rPr sz="2400" spc="45" dirty="0">
                <a:latin typeface="Arial"/>
                <a:cs typeface="Arial"/>
              </a:rPr>
              <a:t> </a:t>
            </a:r>
            <a:r>
              <a:rPr sz="2400" spc="-5" dirty="0">
                <a:latin typeface="Arial"/>
                <a:cs typeface="Arial"/>
              </a:rPr>
              <a:t>luận</a:t>
            </a:r>
            <a:endParaRPr sz="2400">
              <a:latin typeface="Arial"/>
              <a:cs typeface="Arial"/>
            </a:endParaRPr>
          </a:p>
          <a:p>
            <a:pPr marL="758190" marR="30480" lvl="1" indent="-325755">
              <a:lnSpc>
                <a:spcPct val="100000"/>
              </a:lnSpc>
              <a:spcBef>
                <a:spcPts val="610"/>
              </a:spcBef>
              <a:buClr>
                <a:srgbClr val="3B822F"/>
              </a:buClr>
              <a:buSzPct val="60000"/>
              <a:buFont typeface="Wingdings"/>
              <a:buChar char=""/>
              <a:tabLst>
                <a:tab pos="758190" algn="l"/>
                <a:tab pos="758825" algn="l"/>
                <a:tab pos="7096759" algn="l"/>
              </a:tabLst>
            </a:pPr>
            <a:r>
              <a:rPr sz="2000" spc="-5" dirty="0">
                <a:latin typeface="Arial"/>
                <a:cs typeface="Arial"/>
              </a:rPr>
              <a:t>Định nghĩa tương tự, đối với G </a:t>
            </a:r>
            <a:r>
              <a:rPr sz="2000" b="1" spc="-5" dirty="0">
                <a:latin typeface="Arial"/>
                <a:cs typeface="Arial"/>
              </a:rPr>
              <a:t>xác nhận một</a:t>
            </a:r>
            <a:r>
              <a:rPr sz="2000" b="1" spc="45" dirty="0">
                <a:latin typeface="Arial"/>
                <a:cs typeface="Arial"/>
              </a:rPr>
              <a:t> </a:t>
            </a:r>
            <a:r>
              <a:rPr sz="2000" b="1" spc="-5" dirty="0">
                <a:latin typeface="Arial"/>
                <a:cs typeface="Arial"/>
              </a:rPr>
              <a:t>kết</a:t>
            </a:r>
            <a:r>
              <a:rPr sz="2000" b="1" dirty="0">
                <a:latin typeface="Arial"/>
                <a:cs typeface="Arial"/>
              </a:rPr>
              <a:t> </a:t>
            </a:r>
            <a:r>
              <a:rPr sz="2000" b="1" spc="-5" dirty="0">
                <a:latin typeface="Arial"/>
                <a:cs typeface="Arial"/>
              </a:rPr>
              <a:t>luận	“</a:t>
            </a:r>
            <a:r>
              <a:rPr sz="2000" b="1" i="1" spc="-5" dirty="0">
                <a:latin typeface="Arial"/>
                <a:cs typeface="Arial"/>
              </a:rPr>
              <a:t>a is</a:t>
            </a:r>
            <a:r>
              <a:rPr sz="2000" b="1" i="1" spc="-95" dirty="0">
                <a:latin typeface="Arial"/>
                <a:cs typeface="Arial"/>
              </a:rPr>
              <a:t> </a:t>
            </a:r>
            <a:r>
              <a:rPr sz="2000" b="1" i="1" spc="-10" dirty="0">
                <a:latin typeface="Arial"/>
                <a:cs typeface="Arial"/>
              </a:rPr>
              <a:t>not  </a:t>
            </a:r>
            <a:r>
              <a:rPr sz="2000" b="1" i="1" spc="-5" dirty="0">
                <a:latin typeface="Arial"/>
                <a:cs typeface="Arial"/>
              </a:rPr>
              <a:t>x</a:t>
            </a:r>
            <a:r>
              <a:rPr sz="2000" b="1" spc="-5" dirty="0">
                <a:latin typeface="Arial"/>
                <a:cs typeface="Arial"/>
              </a:rPr>
              <a:t>”</a:t>
            </a:r>
            <a:endParaRPr sz="2000">
              <a:latin typeface="Arial"/>
              <a:cs typeface="Arial"/>
            </a:endParaRPr>
          </a:p>
          <a:p>
            <a:pPr marL="431800" marR="34925" indent="-342900">
              <a:lnSpc>
                <a:spcPct val="100000"/>
              </a:lnSpc>
              <a:spcBef>
                <a:spcPts val="1789"/>
              </a:spcBef>
              <a:buClr>
                <a:srgbClr val="CC9A00"/>
              </a:buClr>
              <a:buSzPct val="64583"/>
              <a:buFont typeface="Wingdings"/>
              <a:buChar char=""/>
              <a:tabLst>
                <a:tab pos="431165" algn="l"/>
                <a:tab pos="431800" algn="l"/>
                <a:tab pos="7597775" algn="l"/>
              </a:tabLst>
            </a:pPr>
            <a:r>
              <a:rPr sz="2400" spc="-5" dirty="0">
                <a:latin typeface="Arial"/>
                <a:cs typeface="Arial"/>
              </a:rPr>
              <a:t>Mộ</a:t>
            </a:r>
            <a:r>
              <a:rPr sz="2400" dirty="0">
                <a:latin typeface="Arial"/>
                <a:cs typeface="Arial"/>
              </a:rPr>
              <a:t>t</a:t>
            </a:r>
            <a:r>
              <a:rPr sz="2400" spc="-10" dirty="0">
                <a:latin typeface="Arial"/>
                <a:cs typeface="Arial"/>
              </a:rPr>
              <a:t> </a:t>
            </a:r>
            <a:r>
              <a:rPr sz="2400" b="1" spc="-5" dirty="0">
                <a:latin typeface="Arial"/>
                <a:cs typeface="Arial"/>
              </a:rPr>
              <a:t>h</a:t>
            </a:r>
            <a:r>
              <a:rPr sz="2400" b="1" dirty="0">
                <a:latin typeface="Arial"/>
                <a:cs typeface="Arial"/>
              </a:rPr>
              <a:t>ư</a:t>
            </a:r>
            <a:r>
              <a:rPr sz="2400" b="1" spc="-5" dirty="0">
                <a:latin typeface="Arial"/>
                <a:cs typeface="Arial"/>
              </a:rPr>
              <a:t>ớn</a:t>
            </a:r>
            <a:r>
              <a:rPr sz="2400" b="1" dirty="0">
                <a:latin typeface="Arial"/>
                <a:cs typeface="Arial"/>
              </a:rPr>
              <a:t>g</a:t>
            </a:r>
            <a:r>
              <a:rPr sz="2400" b="1" spc="-5" dirty="0">
                <a:latin typeface="Arial"/>
                <a:cs typeface="Arial"/>
              </a:rPr>
              <a:t> l</a:t>
            </a:r>
            <a:r>
              <a:rPr sz="2400" b="1" dirty="0">
                <a:latin typeface="Arial"/>
                <a:cs typeface="Arial"/>
              </a:rPr>
              <a:t>à</a:t>
            </a:r>
            <a:r>
              <a:rPr sz="2400" b="1" spc="-5" dirty="0">
                <a:latin typeface="Arial"/>
                <a:cs typeface="Arial"/>
              </a:rPr>
              <a:t> c</a:t>
            </a:r>
            <a:r>
              <a:rPr sz="2400" b="1" spc="-10" dirty="0">
                <a:latin typeface="Arial"/>
                <a:cs typeface="Arial"/>
              </a:rPr>
              <a:t>h</a:t>
            </a:r>
            <a:r>
              <a:rPr sz="2400" b="1" spc="-5" dirty="0">
                <a:latin typeface="Arial"/>
                <a:cs typeface="Arial"/>
              </a:rPr>
              <a:t>ấ</a:t>
            </a:r>
            <a:r>
              <a:rPr sz="2400" b="1" dirty="0">
                <a:latin typeface="Arial"/>
                <a:cs typeface="Arial"/>
              </a:rPr>
              <a:t>p</a:t>
            </a:r>
            <a:r>
              <a:rPr sz="2400" b="1" spc="-5" dirty="0">
                <a:latin typeface="Arial"/>
                <a:cs typeface="Arial"/>
              </a:rPr>
              <a:t> nhậ</a:t>
            </a:r>
            <a:r>
              <a:rPr sz="2400" b="1" dirty="0">
                <a:latin typeface="Arial"/>
                <a:cs typeface="Arial"/>
              </a:rPr>
              <a:t>n</a:t>
            </a:r>
            <a:r>
              <a:rPr sz="2400" b="1" spc="-5" dirty="0">
                <a:latin typeface="Arial"/>
                <a:cs typeface="Arial"/>
              </a:rPr>
              <a:t> đư</a:t>
            </a:r>
            <a:r>
              <a:rPr sz="2400" b="1" dirty="0">
                <a:latin typeface="Arial"/>
                <a:cs typeface="Arial"/>
              </a:rPr>
              <a:t>ợc </a:t>
            </a:r>
            <a:r>
              <a:rPr sz="2400" b="1" spc="-5" dirty="0">
                <a:latin typeface="Arial"/>
                <a:cs typeface="Arial"/>
              </a:rPr>
              <a:t>(admissibl</a:t>
            </a:r>
            <a:r>
              <a:rPr sz="2400" b="1" dirty="0">
                <a:latin typeface="Arial"/>
                <a:cs typeface="Arial"/>
              </a:rPr>
              <a:t>e </a:t>
            </a:r>
            <a:r>
              <a:rPr sz="2400" b="1" spc="-5" dirty="0">
                <a:latin typeface="Arial"/>
                <a:cs typeface="Arial"/>
              </a:rPr>
              <a:t>path</a:t>
            </a:r>
            <a:r>
              <a:rPr sz="2400" b="1" dirty="0">
                <a:latin typeface="Arial"/>
                <a:cs typeface="Arial"/>
              </a:rPr>
              <a:t>)	</a:t>
            </a:r>
            <a:r>
              <a:rPr sz="2400" spc="-5" dirty="0">
                <a:latin typeface="Arial"/>
                <a:cs typeface="Arial"/>
              </a:rPr>
              <a:t>nế</a:t>
            </a:r>
            <a:r>
              <a:rPr sz="2400" dirty="0">
                <a:latin typeface="Arial"/>
                <a:cs typeface="Arial"/>
              </a:rPr>
              <a:t>u  </a:t>
            </a:r>
            <a:r>
              <a:rPr sz="2400" spc="-5" dirty="0">
                <a:latin typeface="Arial"/>
                <a:cs typeface="Arial"/>
              </a:rPr>
              <a:t>tất cả </a:t>
            </a:r>
            <a:r>
              <a:rPr sz="2400" dirty="0">
                <a:latin typeface="Arial"/>
                <a:cs typeface="Arial"/>
              </a:rPr>
              <a:t>các </a:t>
            </a:r>
            <a:r>
              <a:rPr sz="2400" spc="-5" dirty="0">
                <a:latin typeface="Arial"/>
                <a:cs typeface="Arial"/>
              </a:rPr>
              <a:t>cạnh của hướng đó đều là chấp nhận được  (admissible</a:t>
            </a:r>
            <a:r>
              <a:rPr sz="2400" spc="15" dirty="0">
                <a:latin typeface="Arial"/>
                <a:cs typeface="Arial"/>
              </a:rPr>
              <a:t> </a:t>
            </a:r>
            <a:r>
              <a:rPr sz="2400" spc="-5" dirty="0">
                <a:latin typeface="Arial"/>
                <a:cs typeface="Arial"/>
              </a:rPr>
              <a:t>edges)</a:t>
            </a:r>
            <a:endParaRPr sz="24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F7D8E46B-477D-4A22-B1CE-892EBB682AFF}"/>
              </a:ext>
            </a:extLst>
          </p:cNvPr>
          <p:cNvSpPr>
            <a:spLocks noGrp="1"/>
          </p:cNvSpPr>
          <p:nvPr>
            <p:ph type="title"/>
          </p:nvPr>
        </p:nvSpPr>
        <p:spPr/>
        <p:txBody>
          <a:bodyPr/>
          <a:lstStyle/>
          <a:p>
            <a:r>
              <a:rPr lang="en-US" sz="4000" b="0" spc="-5">
                <a:latin typeface="Verdana"/>
                <a:cs typeface="Verdana"/>
              </a:rPr>
              <a:t>Sự </a:t>
            </a:r>
            <a:r>
              <a:rPr lang="en-US" sz="4000" b="0">
                <a:latin typeface="Verdana"/>
                <a:cs typeface="Verdana"/>
              </a:rPr>
              <a:t>xác </a:t>
            </a:r>
            <a:r>
              <a:rPr lang="en-US" sz="4000" b="0" spc="-5">
                <a:latin typeface="Verdana"/>
                <a:cs typeface="Verdana"/>
              </a:rPr>
              <a:t>nhận </a:t>
            </a:r>
            <a:r>
              <a:rPr lang="en-US" sz="4000" b="0">
                <a:latin typeface="Verdana"/>
                <a:cs typeface="Verdana"/>
              </a:rPr>
              <a:t>và </a:t>
            </a:r>
            <a:r>
              <a:rPr lang="en-US" sz="4000" b="0" spc="-5">
                <a:latin typeface="Verdana"/>
                <a:cs typeface="Verdana"/>
              </a:rPr>
              <a:t>sự chấp nhận</a:t>
            </a:r>
            <a:endParaRPr lang="en-US" b="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61</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29639" y="1777238"/>
            <a:ext cx="8095615" cy="4826000"/>
          </a:xfrm>
          <a:prstGeom prst="rect">
            <a:avLst/>
          </a:prstGeom>
        </p:spPr>
        <p:txBody>
          <a:bodyPr vert="horz" wrap="square" lIns="0" tIns="12700" rIns="0" bIns="0" rtlCol="0">
            <a:spAutoFit/>
          </a:bodyPr>
          <a:lstStyle/>
          <a:p>
            <a:pPr marL="419100" indent="-342900">
              <a:lnSpc>
                <a:spcPct val="100000"/>
              </a:lnSpc>
              <a:spcBef>
                <a:spcPts val="100"/>
              </a:spcBef>
              <a:buClr>
                <a:srgbClr val="CC9A00"/>
              </a:buClr>
              <a:buSzPct val="64583"/>
              <a:buFont typeface="Wingdings"/>
              <a:buChar char=""/>
              <a:tabLst>
                <a:tab pos="418465" algn="l"/>
                <a:tab pos="419100" algn="l"/>
                <a:tab pos="2969260" algn="l"/>
                <a:tab pos="3751579" algn="l"/>
                <a:tab pos="6658609" algn="l"/>
                <a:tab pos="7522209" algn="l"/>
              </a:tabLst>
            </a:pPr>
            <a:r>
              <a:rPr sz="2400" spc="-5" dirty="0">
                <a:latin typeface="Arial"/>
                <a:cs typeface="Arial"/>
              </a:rPr>
              <a:t>Một</a:t>
            </a:r>
            <a:r>
              <a:rPr sz="2400" spc="-10" dirty="0">
                <a:latin typeface="Arial"/>
                <a:cs typeface="Arial"/>
              </a:rPr>
              <a:t> </a:t>
            </a:r>
            <a:r>
              <a:rPr sz="2400" b="1" spc="-5" dirty="0">
                <a:latin typeface="Arial"/>
                <a:cs typeface="Arial"/>
              </a:rPr>
              <a:t>cạnh</a:t>
            </a:r>
            <a:r>
              <a:rPr sz="2400" b="1" spc="5" dirty="0">
                <a:latin typeface="Arial"/>
                <a:cs typeface="Arial"/>
              </a:rPr>
              <a:t> </a:t>
            </a:r>
            <a:r>
              <a:rPr sz="2400" b="1" spc="-5" dirty="0">
                <a:latin typeface="Arial"/>
                <a:cs typeface="Arial"/>
              </a:rPr>
              <a:t>dương	</a:t>
            </a:r>
            <a:r>
              <a:rPr sz="2400" b="1" i="1" dirty="0">
                <a:latin typeface="Arial"/>
                <a:cs typeface="Arial"/>
              </a:rPr>
              <a:t>v</a:t>
            </a:r>
            <a:r>
              <a:rPr sz="2400" b="1" i="1" spc="-10" dirty="0">
                <a:latin typeface="Arial"/>
                <a:cs typeface="Arial"/>
              </a:rPr>
              <a:t> </a:t>
            </a:r>
            <a:r>
              <a:rPr sz="2400" b="1" i="1" dirty="0">
                <a:latin typeface="Arial"/>
                <a:cs typeface="Arial"/>
              </a:rPr>
              <a:t>•</a:t>
            </a:r>
            <a:r>
              <a:rPr sz="2400" b="1" i="1" spc="-10" dirty="0">
                <a:latin typeface="Arial"/>
                <a:cs typeface="Arial"/>
              </a:rPr>
              <a:t> </a:t>
            </a:r>
            <a:r>
              <a:rPr sz="2400" b="1" i="1" dirty="0">
                <a:latin typeface="Arial"/>
                <a:cs typeface="Arial"/>
              </a:rPr>
              <a:t>x	</a:t>
            </a:r>
            <a:r>
              <a:rPr sz="2400" b="1" spc="-5" dirty="0">
                <a:latin typeface="Arial"/>
                <a:cs typeface="Arial"/>
              </a:rPr>
              <a:t>là chấp</a:t>
            </a:r>
            <a:r>
              <a:rPr sz="2400" b="1" spc="10" dirty="0">
                <a:latin typeface="Arial"/>
                <a:cs typeface="Arial"/>
              </a:rPr>
              <a:t> </a:t>
            </a:r>
            <a:r>
              <a:rPr sz="2400" b="1" spc="-5" dirty="0">
                <a:latin typeface="Arial"/>
                <a:cs typeface="Arial"/>
              </a:rPr>
              <a:t>nhận được	</a:t>
            </a:r>
            <a:r>
              <a:rPr sz="2400" spc="-5" dirty="0">
                <a:latin typeface="Arial"/>
                <a:cs typeface="Arial"/>
              </a:rPr>
              <a:t>trong	</a:t>
            </a:r>
            <a:r>
              <a:rPr sz="2400" dirty="0">
                <a:latin typeface="Arial"/>
                <a:cs typeface="Arial"/>
              </a:rPr>
              <a:t>G</a:t>
            </a:r>
            <a:endParaRPr sz="2400">
              <a:latin typeface="Arial"/>
              <a:cs typeface="Arial"/>
            </a:endParaRPr>
          </a:p>
          <a:p>
            <a:pPr marL="419100">
              <a:lnSpc>
                <a:spcPct val="100000"/>
              </a:lnSpc>
              <a:tabLst>
                <a:tab pos="2599690" algn="l"/>
                <a:tab pos="2936875" algn="l"/>
                <a:tab pos="7118984" algn="l"/>
              </a:tabLst>
            </a:pPr>
            <a:r>
              <a:rPr sz="2400" spc="-5" dirty="0">
                <a:latin typeface="Arial"/>
                <a:cs typeface="Arial"/>
              </a:rPr>
              <a:t>đối với</a:t>
            </a:r>
            <a:r>
              <a:rPr sz="2400" spc="15" dirty="0">
                <a:latin typeface="Arial"/>
                <a:cs typeface="Arial"/>
              </a:rPr>
              <a:t> </a:t>
            </a:r>
            <a:r>
              <a:rPr sz="2400" spc="-5" dirty="0">
                <a:latin typeface="Arial"/>
                <a:cs typeface="Arial"/>
              </a:rPr>
              <a:t>một nút	</a:t>
            </a:r>
            <a:r>
              <a:rPr sz="2400" i="1" dirty="0">
                <a:latin typeface="Arial"/>
                <a:cs typeface="Arial"/>
              </a:rPr>
              <a:t>a	</a:t>
            </a:r>
            <a:r>
              <a:rPr sz="2400" spc="-5" dirty="0">
                <a:latin typeface="Arial"/>
                <a:cs typeface="Arial"/>
              </a:rPr>
              <a:t>nếu tồn tại một</a:t>
            </a:r>
            <a:r>
              <a:rPr sz="2400" spc="50" dirty="0">
                <a:latin typeface="Arial"/>
                <a:cs typeface="Arial"/>
              </a:rPr>
              <a:t> </a:t>
            </a:r>
            <a:r>
              <a:rPr sz="2400" spc="-5" dirty="0">
                <a:latin typeface="Arial"/>
                <a:cs typeface="Arial"/>
              </a:rPr>
              <a:t>hướng</a:t>
            </a:r>
            <a:r>
              <a:rPr sz="2400" spc="20" dirty="0">
                <a:latin typeface="Arial"/>
                <a:cs typeface="Arial"/>
              </a:rPr>
              <a:t> </a:t>
            </a:r>
            <a:r>
              <a:rPr sz="2400" spc="-5" dirty="0">
                <a:latin typeface="Arial"/>
                <a:cs typeface="Arial"/>
              </a:rPr>
              <a:t>dương	</a:t>
            </a:r>
            <a:r>
              <a:rPr sz="2400" i="1" dirty="0">
                <a:latin typeface="Arial"/>
                <a:cs typeface="Arial"/>
              </a:rPr>
              <a:t>a • s</a:t>
            </a:r>
            <a:r>
              <a:rPr sz="2400" i="1" baseline="-20833" dirty="0">
                <a:latin typeface="Arial"/>
                <a:cs typeface="Arial"/>
              </a:rPr>
              <a:t>1</a:t>
            </a:r>
            <a:r>
              <a:rPr sz="2400" i="1" spc="172" baseline="-20833" dirty="0">
                <a:latin typeface="Arial"/>
                <a:cs typeface="Arial"/>
              </a:rPr>
              <a:t> </a:t>
            </a:r>
            <a:r>
              <a:rPr sz="2400" i="1" dirty="0">
                <a:latin typeface="Arial"/>
                <a:cs typeface="Arial"/>
              </a:rPr>
              <a:t>•</a:t>
            </a:r>
            <a:endParaRPr sz="2400">
              <a:latin typeface="Arial"/>
              <a:cs typeface="Arial"/>
            </a:endParaRPr>
          </a:p>
          <a:p>
            <a:pPr marL="419100">
              <a:lnSpc>
                <a:spcPct val="100000"/>
              </a:lnSpc>
              <a:tabLst>
                <a:tab pos="1858010" algn="l"/>
                <a:tab pos="2905125" algn="l"/>
                <a:tab pos="3768090" algn="l"/>
                <a:tab pos="4140200" algn="l"/>
              </a:tabLst>
            </a:pPr>
            <a:r>
              <a:rPr sz="2400" i="1" dirty="0">
                <a:latin typeface="Arial"/>
                <a:cs typeface="Arial"/>
              </a:rPr>
              <a:t>… • </a:t>
            </a:r>
            <a:r>
              <a:rPr sz="2400" i="1" spc="-5" dirty="0">
                <a:latin typeface="Arial"/>
                <a:cs typeface="Arial"/>
              </a:rPr>
              <a:t>s</a:t>
            </a:r>
            <a:r>
              <a:rPr sz="2400" i="1" spc="-7" baseline="-20833" dirty="0">
                <a:latin typeface="Arial"/>
                <a:cs typeface="Arial"/>
              </a:rPr>
              <a:t>n</a:t>
            </a:r>
            <a:r>
              <a:rPr sz="2400" i="1" spc="292" baseline="-20833" dirty="0">
                <a:latin typeface="Arial"/>
                <a:cs typeface="Arial"/>
              </a:rPr>
              <a:t> </a:t>
            </a:r>
            <a:r>
              <a:rPr sz="2400" i="1" dirty="0">
                <a:latin typeface="Arial"/>
                <a:cs typeface="Arial"/>
              </a:rPr>
              <a:t>•</a:t>
            </a:r>
            <a:r>
              <a:rPr sz="2400" i="1" spc="-10" dirty="0">
                <a:latin typeface="Arial"/>
                <a:cs typeface="Arial"/>
              </a:rPr>
              <a:t> </a:t>
            </a:r>
            <a:r>
              <a:rPr sz="2400" i="1" dirty="0">
                <a:latin typeface="Arial"/>
                <a:cs typeface="Arial"/>
              </a:rPr>
              <a:t>v	</a:t>
            </a:r>
            <a:r>
              <a:rPr sz="2400" spc="-5" dirty="0">
                <a:latin typeface="Arial"/>
                <a:cs typeface="Arial"/>
              </a:rPr>
              <a:t>(n</a:t>
            </a:r>
            <a:r>
              <a:rPr sz="2400" dirty="0">
                <a:latin typeface="Arial"/>
                <a:cs typeface="Arial"/>
              </a:rPr>
              <a:t> ≥ </a:t>
            </a:r>
            <a:r>
              <a:rPr sz="2400" spc="-5" dirty="0">
                <a:latin typeface="Arial"/>
                <a:cs typeface="Arial"/>
              </a:rPr>
              <a:t>0)	trong	</a:t>
            </a:r>
            <a:r>
              <a:rPr sz="2400" dirty="0">
                <a:latin typeface="Arial"/>
                <a:cs typeface="Arial"/>
              </a:rPr>
              <a:t>E	</a:t>
            </a:r>
            <a:r>
              <a:rPr sz="2400" spc="-5" dirty="0">
                <a:latin typeface="Arial"/>
                <a:cs typeface="Arial"/>
              </a:rPr>
              <a:t>và:</a:t>
            </a:r>
            <a:endParaRPr sz="2400">
              <a:latin typeface="Arial"/>
              <a:cs typeface="Arial"/>
            </a:endParaRPr>
          </a:p>
          <a:p>
            <a:pPr marL="971550" lvl="1" indent="-352425">
              <a:lnSpc>
                <a:spcPct val="100000"/>
              </a:lnSpc>
              <a:spcBef>
                <a:spcPts val="610"/>
              </a:spcBef>
              <a:buClr>
                <a:srgbClr val="3B822F"/>
              </a:buClr>
              <a:buAutoNum type="arabicPeriod"/>
              <a:tabLst>
                <a:tab pos="970915" algn="l"/>
                <a:tab pos="971550" algn="l"/>
                <a:tab pos="3408679" algn="l"/>
                <a:tab pos="6056630" algn="l"/>
              </a:tabLst>
            </a:pPr>
            <a:r>
              <a:rPr sz="2000" spc="-5" dirty="0">
                <a:latin typeface="Arial"/>
                <a:cs typeface="Arial"/>
              </a:rPr>
              <a:t>(Định nghĩa</a:t>
            </a:r>
            <a:r>
              <a:rPr sz="2000" spc="20" dirty="0">
                <a:latin typeface="Arial"/>
                <a:cs typeface="Arial"/>
              </a:rPr>
              <a:t> </a:t>
            </a:r>
            <a:r>
              <a:rPr sz="2000" spc="-5" dirty="0">
                <a:latin typeface="Arial"/>
                <a:cs typeface="Arial"/>
              </a:rPr>
              <a:t>truy</a:t>
            </a:r>
            <a:r>
              <a:rPr sz="2000" spc="-20" dirty="0">
                <a:latin typeface="Arial"/>
                <a:cs typeface="Arial"/>
              </a:rPr>
              <a:t> </a:t>
            </a:r>
            <a:r>
              <a:rPr sz="2000" spc="-5" dirty="0">
                <a:latin typeface="Arial"/>
                <a:cs typeface="Arial"/>
              </a:rPr>
              <a:t>hồi)	Mỗi cạnh</a:t>
            </a:r>
            <a:r>
              <a:rPr sz="2000" spc="25" dirty="0">
                <a:latin typeface="Arial"/>
                <a:cs typeface="Arial"/>
              </a:rPr>
              <a:t> </a:t>
            </a:r>
            <a:r>
              <a:rPr sz="2000" spc="-5" dirty="0">
                <a:latin typeface="Arial"/>
                <a:cs typeface="Arial"/>
              </a:rPr>
              <a:t>trong</a:t>
            </a:r>
            <a:r>
              <a:rPr sz="2000" dirty="0">
                <a:latin typeface="Arial"/>
                <a:cs typeface="Arial"/>
              </a:rPr>
              <a:t> </a:t>
            </a:r>
            <a:r>
              <a:rPr sz="2000" spc="-10" dirty="0">
                <a:latin typeface="Arial"/>
                <a:cs typeface="Arial"/>
              </a:rPr>
              <a:t>hướng	</a:t>
            </a:r>
            <a:r>
              <a:rPr sz="2000" i="1" spc="-5" dirty="0">
                <a:latin typeface="Arial"/>
                <a:cs typeface="Arial"/>
              </a:rPr>
              <a:t>a • </a:t>
            </a:r>
            <a:r>
              <a:rPr sz="2000" i="1" spc="5" dirty="0">
                <a:latin typeface="Arial"/>
                <a:cs typeface="Arial"/>
              </a:rPr>
              <a:t>s</a:t>
            </a:r>
            <a:r>
              <a:rPr sz="1950" i="1" spc="7" baseline="-21367" dirty="0">
                <a:latin typeface="Arial"/>
                <a:cs typeface="Arial"/>
              </a:rPr>
              <a:t>1 </a:t>
            </a:r>
            <a:r>
              <a:rPr sz="2000" i="1" spc="-5" dirty="0">
                <a:latin typeface="Arial"/>
                <a:cs typeface="Arial"/>
              </a:rPr>
              <a:t>• … • </a:t>
            </a:r>
            <a:r>
              <a:rPr sz="2000" i="1" spc="5" dirty="0">
                <a:latin typeface="Arial"/>
                <a:cs typeface="Arial"/>
              </a:rPr>
              <a:t>s</a:t>
            </a:r>
            <a:r>
              <a:rPr sz="1950" i="1" spc="7" baseline="-21367" dirty="0">
                <a:latin typeface="Arial"/>
                <a:cs typeface="Arial"/>
              </a:rPr>
              <a:t>n </a:t>
            </a:r>
            <a:r>
              <a:rPr sz="2000" i="1" spc="-5" dirty="0">
                <a:latin typeface="Arial"/>
                <a:cs typeface="Arial"/>
              </a:rPr>
              <a:t>•</a:t>
            </a:r>
            <a:r>
              <a:rPr sz="2000" i="1" spc="285" dirty="0">
                <a:latin typeface="Arial"/>
                <a:cs typeface="Arial"/>
              </a:rPr>
              <a:t> </a:t>
            </a:r>
            <a:r>
              <a:rPr sz="2000" i="1" spc="-5" dirty="0">
                <a:latin typeface="Arial"/>
                <a:cs typeface="Arial"/>
              </a:rPr>
              <a:t>v</a:t>
            </a:r>
            <a:endParaRPr sz="2000">
              <a:latin typeface="Arial"/>
              <a:cs typeface="Arial"/>
            </a:endParaRPr>
          </a:p>
          <a:p>
            <a:pPr marL="971550">
              <a:lnSpc>
                <a:spcPct val="100000"/>
              </a:lnSpc>
              <a:tabLst>
                <a:tab pos="4359275" algn="l"/>
                <a:tab pos="4695825" algn="l"/>
                <a:tab pos="6017895" algn="l"/>
              </a:tabLst>
            </a:pPr>
            <a:r>
              <a:rPr sz="2000" spc="-5" dirty="0">
                <a:latin typeface="Arial"/>
                <a:cs typeface="Arial"/>
              </a:rPr>
              <a:t>đều là </a:t>
            </a:r>
            <a:r>
              <a:rPr sz="2000" i="1" spc="-5" dirty="0">
                <a:latin typeface="Arial"/>
                <a:cs typeface="Arial"/>
              </a:rPr>
              <a:t>chấp nhận</a:t>
            </a:r>
            <a:r>
              <a:rPr sz="2000" i="1" spc="25" dirty="0">
                <a:latin typeface="Arial"/>
                <a:cs typeface="Arial"/>
              </a:rPr>
              <a:t> </a:t>
            </a:r>
            <a:r>
              <a:rPr sz="2000" i="1" spc="-5" dirty="0">
                <a:latin typeface="Arial"/>
                <a:cs typeface="Arial"/>
              </a:rPr>
              <a:t>được</a:t>
            </a:r>
            <a:r>
              <a:rPr sz="2000" i="1" dirty="0">
                <a:latin typeface="Arial"/>
                <a:cs typeface="Arial"/>
              </a:rPr>
              <a:t> </a:t>
            </a:r>
            <a:r>
              <a:rPr sz="2000" spc="-5" dirty="0">
                <a:latin typeface="Arial"/>
                <a:cs typeface="Arial"/>
              </a:rPr>
              <a:t>trong	G	đối</a:t>
            </a:r>
            <a:r>
              <a:rPr sz="2000" dirty="0">
                <a:latin typeface="Arial"/>
                <a:cs typeface="Arial"/>
              </a:rPr>
              <a:t> </a:t>
            </a:r>
            <a:r>
              <a:rPr sz="2000" spc="-5" dirty="0">
                <a:latin typeface="Arial"/>
                <a:cs typeface="Arial"/>
              </a:rPr>
              <a:t>với</a:t>
            </a:r>
            <a:r>
              <a:rPr sz="2000" dirty="0">
                <a:latin typeface="Arial"/>
                <a:cs typeface="Arial"/>
              </a:rPr>
              <a:t> </a:t>
            </a:r>
            <a:r>
              <a:rPr sz="2000" spc="-5" dirty="0">
                <a:latin typeface="Arial"/>
                <a:cs typeface="Arial"/>
              </a:rPr>
              <a:t>nút	</a:t>
            </a:r>
            <a:r>
              <a:rPr sz="2000" i="1" spc="-5" dirty="0">
                <a:latin typeface="Arial"/>
                <a:cs typeface="Arial"/>
              </a:rPr>
              <a:t>a</a:t>
            </a:r>
            <a:r>
              <a:rPr sz="2000" spc="-5" dirty="0">
                <a:latin typeface="Arial"/>
                <a:cs typeface="Arial"/>
              </a:rPr>
              <a:t>;</a:t>
            </a:r>
            <a:endParaRPr sz="2000">
              <a:latin typeface="Arial"/>
              <a:cs typeface="Arial"/>
            </a:endParaRPr>
          </a:p>
          <a:p>
            <a:pPr marL="971550" marR="140335" lvl="1" indent="-352425">
              <a:lnSpc>
                <a:spcPct val="100000"/>
              </a:lnSpc>
              <a:spcBef>
                <a:spcPts val="600"/>
              </a:spcBef>
              <a:buClr>
                <a:srgbClr val="3B822F"/>
              </a:buClr>
              <a:buAutoNum type="arabicPeriod" startAt="2"/>
              <a:tabLst>
                <a:tab pos="970915" algn="l"/>
                <a:tab pos="971550" algn="l"/>
                <a:tab pos="3070860" algn="l"/>
                <a:tab pos="3406775" algn="l"/>
                <a:tab pos="4729480" algn="l"/>
                <a:tab pos="4775835" algn="l"/>
                <a:tab pos="5009515" algn="l"/>
                <a:tab pos="6794500" algn="l"/>
              </a:tabLst>
            </a:pPr>
            <a:r>
              <a:rPr sz="2000" i="1" spc="-5" dirty="0">
                <a:latin typeface="Arial"/>
                <a:cs typeface="Arial"/>
              </a:rPr>
              <a:t>Không có </a:t>
            </a:r>
            <a:r>
              <a:rPr sz="2000" spc="-5" dirty="0">
                <a:latin typeface="Arial"/>
                <a:cs typeface="Arial"/>
              </a:rPr>
              <a:t>cạnh nào</a:t>
            </a:r>
            <a:r>
              <a:rPr sz="2000" spc="45" dirty="0">
                <a:latin typeface="Arial"/>
                <a:cs typeface="Arial"/>
              </a:rPr>
              <a:t> </a:t>
            </a:r>
            <a:r>
              <a:rPr sz="2000" spc="-5" dirty="0">
                <a:latin typeface="Arial"/>
                <a:cs typeface="Arial"/>
              </a:rPr>
              <a:t>trong</a:t>
            </a:r>
            <a:r>
              <a:rPr sz="2000" dirty="0">
                <a:latin typeface="Arial"/>
                <a:cs typeface="Arial"/>
              </a:rPr>
              <a:t> </a:t>
            </a:r>
            <a:r>
              <a:rPr sz="2000" spc="-10" dirty="0">
                <a:latin typeface="Arial"/>
                <a:cs typeface="Arial"/>
              </a:rPr>
              <a:t>hướng		</a:t>
            </a:r>
            <a:r>
              <a:rPr sz="2000" i="1" spc="-5" dirty="0">
                <a:latin typeface="Arial"/>
                <a:cs typeface="Arial"/>
              </a:rPr>
              <a:t>a • </a:t>
            </a:r>
            <a:r>
              <a:rPr sz="2000" i="1" spc="5" dirty="0">
                <a:latin typeface="Arial"/>
                <a:cs typeface="Arial"/>
              </a:rPr>
              <a:t>s</a:t>
            </a:r>
            <a:r>
              <a:rPr sz="1950" i="1" spc="7" baseline="-21367" dirty="0">
                <a:latin typeface="Arial"/>
                <a:cs typeface="Arial"/>
              </a:rPr>
              <a:t>1  </a:t>
            </a:r>
            <a:r>
              <a:rPr sz="2000" i="1" spc="-5" dirty="0">
                <a:latin typeface="Arial"/>
                <a:cs typeface="Arial"/>
              </a:rPr>
              <a:t>• … • </a:t>
            </a:r>
            <a:r>
              <a:rPr sz="2000" i="1" spc="5" dirty="0">
                <a:latin typeface="Arial"/>
                <a:cs typeface="Arial"/>
              </a:rPr>
              <a:t>s</a:t>
            </a:r>
            <a:r>
              <a:rPr sz="1950" i="1" spc="7" baseline="-21367" dirty="0">
                <a:latin typeface="Arial"/>
                <a:cs typeface="Arial"/>
              </a:rPr>
              <a:t>n</a:t>
            </a:r>
            <a:r>
              <a:rPr sz="1950" i="1" spc="30" baseline="-21367" dirty="0">
                <a:latin typeface="Arial"/>
                <a:cs typeface="Arial"/>
              </a:rPr>
              <a:t> </a:t>
            </a:r>
            <a:r>
              <a:rPr sz="2000" i="1" spc="-5" dirty="0">
                <a:latin typeface="Arial"/>
                <a:cs typeface="Arial"/>
              </a:rPr>
              <a:t>•</a:t>
            </a:r>
            <a:r>
              <a:rPr sz="2000" i="1" dirty="0">
                <a:latin typeface="Arial"/>
                <a:cs typeface="Arial"/>
              </a:rPr>
              <a:t> </a:t>
            </a:r>
            <a:r>
              <a:rPr sz="2000" i="1" spc="-5" dirty="0">
                <a:latin typeface="Arial"/>
                <a:cs typeface="Arial"/>
              </a:rPr>
              <a:t>v	</a:t>
            </a:r>
            <a:r>
              <a:rPr sz="2000" spc="-5" dirty="0">
                <a:latin typeface="Arial"/>
                <a:cs typeface="Arial"/>
              </a:rPr>
              <a:t>là </a:t>
            </a:r>
            <a:r>
              <a:rPr sz="2000" i="1" spc="-5" dirty="0">
                <a:latin typeface="Arial"/>
                <a:cs typeface="Arial"/>
              </a:rPr>
              <a:t>dư</a:t>
            </a:r>
            <a:r>
              <a:rPr sz="2000" i="1" spc="-95" dirty="0">
                <a:latin typeface="Arial"/>
                <a:cs typeface="Arial"/>
              </a:rPr>
              <a:t> </a:t>
            </a:r>
            <a:r>
              <a:rPr sz="2000" i="1" spc="-5" dirty="0">
                <a:latin typeface="Arial"/>
                <a:cs typeface="Arial"/>
              </a:rPr>
              <a:t>thừa  </a:t>
            </a:r>
            <a:r>
              <a:rPr sz="2000" spc="-5" dirty="0">
                <a:latin typeface="Arial"/>
                <a:cs typeface="Arial"/>
              </a:rPr>
              <a:t>(</a:t>
            </a:r>
            <a:r>
              <a:rPr sz="2000" i="1" spc="-5" dirty="0">
                <a:latin typeface="Arial"/>
                <a:cs typeface="Arial"/>
              </a:rPr>
              <a:t>redundant) </a:t>
            </a:r>
            <a:r>
              <a:rPr sz="2000" spc="-5" dirty="0">
                <a:latin typeface="Arial"/>
                <a:cs typeface="Arial"/>
              </a:rPr>
              <a:t>trong	G	đối với</a:t>
            </a:r>
            <a:r>
              <a:rPr sz="2000" dirty="0">
                <a:latin typeface="Arial"/>
                <a:cs typeface="Arial"/>
              </a:rPr>
              <a:t> </a:t>
            </a:r>
            <a:r>
              <a:rPr sz="2000" spc="-5" dirty="0">
                <a:latin typeface="Arial"/>
                <a:cs typeface="Arial"/>
              </a:rPr>
              <a:t>nút	</a:t>
            </a:r>
            <a:r>
              <a:rPr sz="2000" i="1" spc="-5" dirty="0">
                <a:latin typeface="Arial"/>
                <a:cs typeface="Arial"/>
              </a:rPr>
              <a:t>a	</a:t>
            </a:r>
            <a:r>
              <a:rPr sz="2000" spc="-5" dirty="0">
                <a:latin typeface="Arial"/>
                <a:cs typeface="Arial"/>
              </a:rPr>
              <a:t>(Định nghĩa về “dư thừa”  sẽ được giải thích ở slide</a:t>
            </a:r>
            <a:r>
              <a:rPr sz="2000" spc="-10" dirty="0">
                <a:latin typeface="Arial"/>
                <a:cs typeface="Arial"/>
              </a:rPr>
              <a:t> </a:t>
            </a:r>
            <a:r>
              <a:rPr sz="2000" spc="-5" dirty="0">
                <a:latin typeface="Arial"/>
                <a:cs typeface="Arial"/>
              </a:rPr>
              <a:t>sau);</a:t>
            </a:r>
            <a:endParaRPr sz="2000">
              <a:latin typeface="Arial"/>
              <a:cs typeface="Arial"/>
            </a:endParaRPr>
          </a:p>
          <a:p>
            <a:pPr marL="971550" marR="310515" lvl="1" indent="-352425" algn="just">
              <a:lnSpc>
                <a:spcPct val="100000"/>
              </a:lnSpc>
              <a:spcBef>
                <a:spcPts val="600"/>
              </a:spcBef>
              <a:buClr>
                <a:srgbClr val="3B822F"/>
              </a:buClr>
              <a:buAutoNum type="arabicPeriod" startAt="2"/>
              <a:tabLst>
                <a:tab pos="971550" algn="l"/>
              </a:tabLst>
            </a:pPr>
            <a:r>
              <a:rPr sz="2000" i="1" spc="-10" dirty="0">
                <a:latin typeface="Arial"/>
                <a:cs typeface="Arial"/>
              </a:rPr>
              <a:t>Không </a:t>
            </a:r>
            <a:r>
              <a:rPr sz="2000" spc="-5" dirty="0">
                <a:latin typeface="Arial"/>
                <a:cs typeface="Arial"/>
              </a:rPr>
              <a:t>có nút trung gian trong hướng </a:t>
            </a:r>
            <a:r>
              <a:rPr sz="2000" i="1" spc="-5" dirty="0">
                <a:latin typeface="Arial"/>
                <a:cs typeface="Arial"/>
              </a:rPr>
              <a:t>a, </a:t>
            </a:r>
            <a:r>
              <a:rPr sz="2000" i="1" dirty="0">
                <a:latin typeface="Arial"/>
                <a:cs typeface="Arial"/>
              </a:rPr>
              <a:t>s</a:t>
            </a:r>
            <a:r>
              <a:rPr sz="1950" i="1" baseline="-21367" dirty="0">
                <a:latin typeface="Arial"/>
                <a:cs typeface="Arial"/>
              </a:rPr>
              <a:t>1</a:t>
            </a:r>
            <a:r>
              <a:rPr sz="2000" i="1" dirty="0">
                <a:latin typeface="Arial"/>
                <a:cs typeface="Arial"/>
              </a:rPr>
              <a:t>, </a:t>
            </a:r>
            <a:r>
              <a:rPr sz="2000" i="1" spc="-5" dirty="0">
                <a:latin typeface="Arial"/>
                <a:cs typeface="Arial"/>
              </a:rPr>
              <a:t>…, </a:t>
            </a:r>
            <a:r>
              <a:rPr sz="2000" i="1" spc="10" dirty="0">
                <a:latin typeface="Arial"/>
                <a:cs typeface="Arial"/>
              </a:rPr>
              <a:t>s</a:t>
            </a:r>
            <a:r>
              <a:rPr sz="1950" i="1" spc="15" baseline="-21367" dirty="0">
                <a:latin typeface="Arial"/>
                <a:cs typeface="Arial"/>
              </a:rPr>
              <a:t>n </a:t>
            </a:r>
            <a:r>
              <a:rPr sz="2000" spc="-5" dirty="0">
                <a:latin typeface="Arial"/>
                <a:cs typeface="Arial"/>
              </a:rPr>
              <a:t>là một </a:t>
            </a:r>
            <a:r>
              <a:rPr sz="2000" i="1" spc="-10" dirty="0">
                <a:latin typeface="Arial"/>
                <a:cs typeface="Arial"/>
              </a:rPr>
              <a:t>nút  </a:t>
            </a:r>
            <a:r>
              <a:rPr sz="2000" i="1" spc="-5" dirty="0">
                <a:latin typeface="Arial"/>
                <a:cs typeface="Arial"/>
              </a:rPr>
              <a:t>ngăn chặn </a:t>
            </a:r>
            <a:r>
              <a:rPr sz="2000" i="1" spc="-10" dirty="0">
                <a:latin typeface="Arial"/>
                <a:cs typeface="Arial"/>
              </a:rPr>
              <a:t>(pre-emptor) </a:t>
            </a:r>
            <a:r>
              <a:rPr sz="2000" spc="-5" dirty="0">
                <a:latin typeface="Arial"/>
                <a:cs typeface="Arial"/>
              </a:rPr>
              <a:t>của cạnh </a:t>
            </a:r>
            <a:r>
              <a:rPr sz="2000" i="1" spc="-5" dirty="0">
                <a:latin typeface="Arial"/>
                <a:cs typeface="Arial"/>
              </a:rPr>
              <a:t>v • x </a:t>
            </a:r>
            <a:r>
              <a:rPr sz="2000" spc="-5" dirty="0">
                <a:latin typeface="Arial"/>
                <a:cs typeface="Arial"/>
              </a:rPr>
              <a:t>đối với nút </a:t>
            </a:r>
            <a:r>
              <a:rPr sz="2000" i="1" spc="-5" dirty="0">
                <a:latin typeface="Arial"/>
                <a:cs typeface="Arial"/>
              </a:rPr>
              <a:t>a </a:t>
            </a:r>
            <a:r>
              <a:rPr sz="2000" spc="-5" dirty="0">
                <a:latin typeface="Arial"/>
                <a:cs typeface="Arial"/>
              </a:rPr>
              <a:t>(Định  nghĩa “nút ngăn chặn” sẽ được giải thích ở slide</a:t>
            </a:r>
            <a:r>
              <a:rPr sz="2000" spc="-20" dirty="0">
                <a:latin typeface="Arial"/>
                <a:cs typeface="Arial"/>
              </a:rPr>
              <a:t> </a:t>
            </a:r>
            <a:r>
              <a:rPr sz="2000" spc="-5" dirty="0">
                <a:latin typeface="Arial"/>
                <a:cs typeface="Arial"/>
              </a:rPr>
              <a:t>sau)</a:t>
            </a:r>
            <a:endParaRPr sz="2000">
              <a:latin typeface="Arial"/>
              <a:cs typeface="Arial"/>
            </a:endParaRPr>
          </a:p>
          <a:p>
            <a:pPr lvl="1">
              <a:lnSpc>
                <a:spcPct val="100000"/>
              </a:lnSpc>
              <a:spcBef>
                <a:spcPts val="35"/>
              </a:spcBef>
              <a:buAutoNum type="arabicPeriod" startAt="2"/>
            </a:pPr>
            <a:endParaRPr sz="2050">
              <a:latin typeface="Arial"/>
              <a:cs typeface="Arial"/>
            </a:endParaRPr>
          </a:p>
          <a:p>
            <a:pPr marL="419100" marR="490220" indent="-342900">
              <a:lnSpc>
                <a:spcPct val="100000"/>
              </a:lnSpc>
              <a:buClr>
                <a:srgbClr val="CC9A00"/>
              </a:buClr>
              <a:buSzPct val="64583"/>
              <a:buFont typeface="Wingdings"/>
              <a:buChar char=""/>
              <a:tabLst>
                <a:tab pos="418465" algn="l"/>
                <a:tab pos="419100" algn="l"/>
                <a:tab pos="6342380" algn="l"/>
                <a:tab pos="7343140" algn="l"/>
              </a:tabLst>
            </a:pPr>
            <a:r>
              <a:rPr sz="2400" dirty="0">
                <a:latin typeface="Arial"/>
                <a:cs typeface="Arial"/>
              </a:rPr>
              <a:t>Đị</a:t>
            </a:r>
            <a:r>
              <a:rPr sz="2400" spc="-5" dirty="0">
                <a:latin typeface="Arial"/>
                <a:cs typeface="Arial"/>
              </a:rPr>
              <a:t>n</a:t>
            </a:r>
            <a:r>
              <a:rPr sz="2400" dirty="0">
                <a:latin typeface="Arial"/>
                <a:cs typeface="Arial"/>
              </a:rPr>
              <a:t>h </a:t>
            </a:r>
            <a:r>
              <a:rPr sz="2400" spc="-5" dirty="0">
                <a:latin typeface="Arial"/>
                <a:cs typeface="Arial"/>
              </a:rPr>
              <a:t>nghĩ</a:t>
            </a:r>
            <a:r>
              <a:rPr sz="2400" dirty="0">
                <a:latin typeface="Arial"/>
                <a:cs typeface="Arial"/>
              </a:rPr>
              <a:t>a</a:t>
            </a:r>
            <a:r>
              <a:rPr sz="2400" spc="10" dirty="0">
                <a:latin typeface="Arial"/>
                <a:cs typeface="Arial"/>
              </a:rPr>
              <a:t> </a:t>
            </a:r>
            <a:r>
              <a:rPr sz="2400" spc="-5" dirty="0">
                <a:latin typeface="Arial"/>
                <a:cs typeface="Arial"/>
              </a:rPr>
              <a:t>t</a:t>
            </a:r>
            <a:r>
              <a:rPr sz="2400" dirty="0">
                <a:latin typeface="Arial"/>
                <a:cs typeface="Arial"/>
              </a:rPr>
              <a:t>ư</a:t>
            </a:r>
            <a:r>
              <a:rPr sz="2400" spc="-5" dirty="0">
                <a:latin typeface="Arial"/>
                <a:cs typeface="Arial"/>
              </a:rPr>
              <a:t>ơn</a:t>
            </a:r>
            <a:r>
              <a:rPr sz="2400" dirty="0">
                <a:latin typeface="Arial"/>
                <a:cs typeface="Arial"/>
              </a:rPr>
              <a:t>g</a:t>
            </a:r>
            <a:r>
              <a:rPr sz="2400" spc="5" dirty="0">
                <a:latin typeface="Arial"/>
                <a:cs typeface="Arial"/>
              </a:rPr>
              <a:t> </a:t>
            </a:r>
            <a:r>
              <a:rPr sz="2400" dirty="0">
                <a:latin typeface="Arial"/>
                <a:cs typeface="Arial"/>
              </a:rPr>
              <a:t>tự,</a:t>
            </a:r>
            <a:r>
              <a:rPr sz="2400" spc="-10" dirty="0">
                <a:latin typeface="Arial"/>
                <a:cs typeface="Arial"/>
              </a:rPr>
              <a:t> </a:t>
            </a:r>
            <a:r>
              <a:rPr sz="2400" spc="-5" dirty="0">
                <a:latin typeface="Arial"/>
                <a:cs typeface="Arial"/>
              </a:rPr>
              <a:t>đố</a:t>
            </a:r>
            <a:r>
              <a:rPr sz="2400" dirty="0">
                <a:latin typeface="Arial"/>
                <a:cs typeface="Arial"/>
              </a:rPr>
              <a:t>i</a:t>
            </a:r>
            <a:r>
              <a:rPr sz="2400" spc="10" dirty="0">
                <a:latin typeface="Arial"/>
                <a:cs typeface="Arial"/>
              </a:rPr>
              <a:t> </a:t>
            </a:r>
            <a:r>
              <a:rPr sz="2400" dirty="0">
                <a:latin typeface="Arial"/>
                <a:cs typeface="Arial"/>
              </a:rPr>
              <a:t>v</a:t>
            </a:r>
            <a:r>
              <a:rPr sz="2400" spc="-5" dirty="0">
                <a:latin typeface="Arial"/>
                <a:cs typeface="Arial"/>
              </a:rPr>
              <a:t>ớ</a:t>
            </a:r>
            <a:r>
              <a:rPr sz="2400" dirty="0">
                <a:latin typeface="Arial"/>
                <a:cs typeface="Arial"/>
              </a:rPr>
              <a:t>i</a:t>
            </a:r>
            <a:r>
              <a:rPr sz="2400" spc="-5" dirty="0">
                <a:latin typeface="Arial"/>
                <a:cs typeface="Arial"/>
              </a:rPr>
              <a:t> mộ</a:t>
            </a:r>
            <a:r>
              <a:rPr sz="2400" dirty="0">
                <a:latin typeface="Arial"/>
                <a:cs typeface="Arial"/>
              </a:rPr>
              <a:t>t</a:t>
            </a:r>
            <a:r>
              <a:rPr sz="2400" spc="-5" dirty="0">
                <a:latin typeface="Arial"/>
                <a:cs typeface="Arial"/>
              </a:rPr>
              <a:t> </a:t>
            </a:r>
            <a:r>
              <a:rPr sz="2400" b="1" spc="-5" dirty="0">
                <a:latin typeface="Arial"/>
                <a:cs typeface="Arial"/>
              </a:rPr>
              <a:t>cạ</a:t>
            </a:r>
            <a:r>
              <a:rPr sz="2400" b="1" dirty="0">
                <a:latin typeface="Arial"/>
                <a:cs typeface="Arial"/>
              </a:rPr>
              <a:t>nh</a:t>
            </a:r>
            <a:r>
              <a:rPr sz="2400" b="1" spc="5" dirty="0">
                <a:latin typeface="Arial"/>
                <a:cs typeface="Arial"/>
              </a:rPr>
              <a:t> </a:t>
            </a:r>
            <a:r>
              <a:rPr sz="2400" b="1" spc="-5" dirty="0">
                <a:latin typeface="Arial"/>
                <a:cs typeface="Arial"/>
              </a:rPr>
              <a:t>â</a:t>
            </a:r>
            <a:r>
              <a:rPr sz="2400" b="1" dirty="0">
                <a:latin typeface="Arial"/>
                <a:cs typeface="Arial"/>
              </a:rPr>
              <a:t>m	</a:t>
            </a:r>
            <a:r>
              <a:rPr sz="2400" b="1" i="1" dirty="0">
                <a:latin typeface="Arial"/>
                <a:cs typeface="Arial"/>
              </a:rPr>
              <a:t>v</a:t>
            </a:r>
            <a:r>
              <a:rPr sz="2400" b="1" i="1" spc="-5" dirty="0">
                <a:latin typeface="Arial"/>
                <a:cs typeface="Arial"/>
              </a:rPr>
              <a:t> </a:t>
            </a:r>
            <a:r>
              <a:rPr sz="2400" b="1" i="1" dirty="0">
                <a:latin typeface="Arial"/>
                <a:cs typeface="Arial"/>
              </a:rPr>
              <a:t>•</a:t>
            </a:r>
            <a:r>
              <a:rPr sz="2400" b="1" i="1" spc="-10" dirty="0">
                <a:latin typeface="Arial"/>
                <a:cs typeface="Arial"/>
              </a:rPr>
              <a:t> </a:t>
            </a:r>
            <a:r>
              <a:rPr sz="2400" b="1" dirty="0">
                <a:latin typeface="Symbol"/>
                <a:cs typeface="Symbol"/>
              </a:rPr>
              <a:t></a:t>
            </a:r>
            <a:r>
              <a:rPr sz="2400" b="1" i="1" dirty="0">
                <a:latin typeface="Arial"/>
                <a:cs typeface="Arial"/>
              </a:rPr>
              <a:t>x	</a:t>
            </a:r>
            <a:r>
              <a:rPr sz="2400" b="1" spc="-5" dirty="0">
                <a:latin typeface="Arial"/>
                <a:cs typeface="Arial"/>
              </a:rPr>
              <a:t>là  chấp nhận</a:t>
            </a:r>
            <a:r>
              <a:rPr sz="2400" b="1" spc="-15" dirty="0">
                <a:latin typeface="Arial"/>
                <a:cs typeface="Arial"/>
              </a:rPr>
              <a:t> </a:t>
            </a:r>
            <a:r>
              <a:rPr sz="2400" b="1" spc="-5" dirty="0">
                <a:latin typeface="Arial"/>
                <a:cs typeface="Arial"/>
              </a:rPr>
              <a:t>được</a:t>
            </a:r>
            <a:endParaRPr sz="24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999C5F6D-F8AA-41B9-8B0C-5346E8EA5E44}"/>
              </a:ext>
            </a:extLst>
          </p:cNvPr>
          <p:cNvSpPr>
            <a:spLocks noGrp="1"/>
          </p:cNvSpPr>
          <p:nvPr>
            <p:ph type="title"/>
          </p:nvPr>
        </p:nvSpPr>
        <p:spPr/>
        <p:txBody>
          <a:bodyPr/>
          <a:lstStyle/>
          <a:p>
            <a:r>
              <a:rPr lang="en-US" sz="4000" b="0" spc="-5">
                <a:latin typeface="Verdana"/>
                <a:cs typeface="Verdana"/>
              </a:rPr>
              <a:t>Sự </a:t>
            </a:r>
            <a:r>
              <a:rPr lang="en-US" sz="4000" b="0">
                <a:latin typeface="Verdana"/>
                <a:cs typeface="Verdana"/>
              </a:rPr>
              <a:t>xác </a:t>
            </a:r>
            <a:r>
              <a:rPr lang="en-US" sz="4000" b="0" spc="-5">
                <a:latin typeface="Verdana"/>
                <a:cs typeface="Verdana"/>
              </a:rPr>
              <a:t>nhận </a:t>
            </a:r>
            <a:r>
              <a:rPr lang="en-US" sz="4000" b="0">
                <a:latin typeface="Verdana"/>
                <a:cs typeface="Verdana"/>
              </a:rPr>
              <a:t>và </a:t>
            </a:r>
            <a:r>
              <a:rPr lang="en-US" sz="4000" b="0" spc="-5">
                <a:latin typeface="Verdana"/>
                <a:cs typeface="Verdana"/>
              </a:rPr>
              <a:t>sự chấp nhận</a:t>
            </a:r>
            <a:r>
              <a:rPr lang="en-US" sz="4000" b="0" spc="-105">
                <a:latin typeface="Verdana"/>
                <a:cs typeface="Verdana"/>
              </a:rPr>
              <a:t> </a:t>
            </a:r>
            <a:r>
              <a:rPr lang="en-US" sz="4000" b="0" spc="-5">
                <a:latin typeface="Verdana"/>
                <a:cs typeface="Verdana"/>
              </a:rPr>
              <a:t>(2)</a:t>
            </a:r>
            <a:endParaRPr lang="en-US" b="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 name="object 2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2" name="object 2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62</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6555740" y="2236723"/>
            <a:ext cx="1828800" cy="573405"/>
          </a:xfrm>
          <a:prstGeom prst="rect">
            <a:avLst/>
          </a:prstGeom>
        </p:spPr>
        <p:txBody>
          <a:bodyPr vert="horz" wrap="square" lIns="0" tIns="12700" rIns="0" bIns="0" rtlCol="0">
            <a:spAutoFit/>
          </a:bodyPr>
          <a:lstStyle/>
          <a:p>
            <a:pPr marL="12700">
              <a:lnSpc>
                <a:spcPts val="1914"/>
              </a:lnSpc>
              <a:spcBef>
                <a:spcPts val="100"/>
              </a:spcBef>
            </a:pPr>
            <a:r>
              <a:rPr sz="1800" b="1" spc="-5" dirty="0">
                <a:latin typeface="Arial"/>
                <a:cs typeface="Arial"/>
              </a:rPr>
              <a:t>Aquatic</a:t>
            </a:r>
            <a:r>
              <a:rPr sz="1800" b="1" spc="-80" dirty="0">
                <a:latin typeface="Arial"/>
                <a:cs typeface="Arial"/>
              </a:rPr>
              <a:t> </a:t>
            </a:r>
            <a:r>
              <a:rPr sz="1800" b="1" spc="-5" dirty="0">
                <a:latin typeface="Arial"/>
                <a:cs typeface="Arial"/>
              </a:rPr>
              <a:t>creature</a:t>
            </a:r>
            <a:endParaRPr sz="1800">
              <a:latin typeface="Arial"/>
              <a:cs typeface="Arial"/>
            </a:endParaRPr>
          </a:p>
          <a:p>
            <a:pPr marL="606425">
              <a:lnSpc>
                <a:spcPts val="2395"/>
              </a:lnSpc>
              <a:tabLst>
                <a:tab pos="987425" algn="l"/>
              </a:tabLst>
            </a:pPr>
            <a:r>
              <a:rPr sz="2200" i="1" u="heavy" dirty="0">
                <a:uFill>
                  <a:solidFill>
                    <a:srgbClr val="000000"/>
                  </a:solidFill>
                </a:uFill>
                <a:latin typeface="Arial"/>
                <a:cs typeface="Arial"/>
              </a:rPr>
              <a:t> 	</a:t>
            </a:r>
            <a:endParaRPr sz="2200">
              <a:latin typeface="Arial"/>
              <a:cs typeface="Arial"/>
            </a:endParaRPr>
          </a:p>
        </p:txBody>
      </p:sp>
      <p:grpSp>
        <p:nvGrpSpPr>
          <p:cNvPr id="8" name="object 8"/>
          <p:cNvGrpSpPr/>
          <p:nvPr/>
        </p:nvGrpSpPr>
        <p:grpSpPr>
          <a:xfrm>
            <a:off x="457200" y="2593085"/>
            <a:ext cx="9144000" cy="1781175"/>
            <a:chOff x="457200" y="2593085"/>
            <a:chExt cx="9144000" cy="1781175"/>
          </a:xfrm>
        </p:grpSpPr>
        <p:sp>
          <p:nvSpPr>
            <p:cNvPr id="9" name="object 9"/>
            <p:cNvSpPr/>
            <p:nvPr/>
          </p:nvSpPr>
          <p:spPr>
            <a:xfrm>
              <a:off x="7354823" y="2593085"/>
              <a:ext cx="76200" cy="696595"/>
            </a:xfrm>
            <a:custGeom>
              <a:avLst/>
              <a:gdLst/>
              <a:ahLst/>
              <a:cxnLst/>
              <a:rect l="l" t="t" r="r" b="b"/>
              <a:pathLst>
                <a:path w="76200" h="696595">
                  <a:moveTo>
                    <a:pt x="76200" y="126492"/>
                  </a:moveTo>
                  <a:lnTo>
                    <a:pt x="38861" y="0"/>
                  </a:lnTo>
                  <a:lnTo>
                    <a:pt x="0" y="126492"/>
                  </a:lnTo>
                  <a:lnTo>
                    <a:pt x="29670" y="126492"/>
                  </a:lnTo>
                  <a:lnTo>
                    <a:pt x="29718" y="114300"/>
                  </a:lnTo>
                  <a:lnTo>
                    <a:pt x="45720" y="114300"/>
                  </a:lnTo>
                  <a:lnTo>
                    <a:pt x="45720" y="126492"/>
                  </a:lnTo>
                  <a:lnTo>
                    <a:pt x="76200" y="126492"/>
                  </a:lnTo>
                  <a:close/>
                </a:path>
                <a:path w="76200" h="696595">
                  <a:moveTo>
                    <a:pt x="45672" y="126492"/>
                  </a:moveTo>
                  <a:lnTo>
                    <a:pt x="29670" y="126492"/>
                  </a:lnTo>
                  <a:lnTo>
                    <a:pt x="27431" y="696467"/>
                  </a:lnTo>
                  <a:lnTo>
                    <a:pt x="43433" y="696467"/>
                  </a:lnTo>
                  <a:lnTo>
                    <a:pt x="45672" y="126492"/>
                  </a:lnTo>
                  <a:close/>
                </a:path>
                <a:path w="76200" h="696595">
                  <a:moveTo>
                    <a:pt x="45720" y="114300"/>
                  </a:moveTo>
                  <a:lnTo>
                    <a:pt x="29718" y="114300"/>
                  </a:lnTo>
                  <a:lnTo>
                    <a:pt x="29670" y="126492"/>
                  </a:lnTo>
                  <a:lnTo>
                    <a:pt x="45672" y="126492"/>
                  </a:lnTo>
                  <a:lnTo>
                    <a:pt x="45720" y="114300"/>
                  </a:lnTo>
                  <a:close/>
                </a:path>
                <a:path w="76200" h="696595">
                  <a:moveTo>
                    <a:pt x="45720" y="126492"/>
                  </a:moveTo>
                  <a:lnTo>
                    <a:pt x="45720" y="114300"/>
                  </a:lnTo>
                  <a:lnTo>
                    <a:pt x="45672" y="126492"/>
                  </a:lnTo>
                  <a:close/>
                </a:path>
              </a:pathLst>
            </a:custGeom>
            <a:solidFill>
              <a:srgbClr val="000000"/>
            </a:solidFill>
          </p:spPr>
          <p:txBody>
            <a:bodyPr wrap="square" lIns="0" tIns="0" rIns="0" bIns="0" rtlCol="0"/>
            <a:lstStyle/>
            <a:p>
              <a:endParaRPr/>
            </a:p>
          </p:txBody>
        </p:sp>
        <p:sp>
          <p:nvSpPr>
            <p:cNvPr id="10" name="object 10"/>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11" name="object 11"/>
          <p:cNvSpPr txBox="1"/>
          <p:nvPr/>
        </p:nvSpPr>
        <p:spPr>
          <a:xfrm>
            <a:off x="6936740" y="3315715"/>
            <a:ext cx="132016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Mammal</a:t>
            </a:r>
            <a:r>
              <a:rPr sz="1800" b="1" spc="-105" dirty="0">
                <a:latin typeface="Arial"/>
                <a:cs typeface="Arial"/>
              </a:rPr>
              <a:t> </a:t>
            </a:r>
            <a:r>
              <a:rPr sz="1800" dirty="0">
                <a:latin typeface="Arial"/>
                <a:cs typeface="Arial"/>
              </a:rPr>
              <a:t>(w)</a:t>
            </a:r>
            <a:endParaRPr sz="1800">
              <a:latin typeface="Arial"/>
              <a:cs typeface="Arial"/>
            </a:endParaRPr>
          </a:p>
        </p:txBody>
      </p:sp>
      <p:sp>
        <p:nvSpPr>
          <p:cNvPr id="12" name="object 12"/>
          <p:cNvSpPr/>
          <p:nvPr/>
        </p:nvSpPr>
        <p:spPr>
          <a:xfrm>
            <a:off x="7354824" y="3669029"/>
            <a:ext cx="874394" cy="704850"/>
          </a:xfrm>
          <a:custGeom>
            <a:avLst/>
            <a:gdLst/>
            <a:ahLst/>
            <a:cxnLst/>
            <a:rect l="l" t="t" r="r" b="b"/>
            <a:pathLst>
              <a:path w="874395" h="704850">
                <a:moveTo>
                  <a:pt x="76200" y="127254"/>
                </a:moveTo>
                <a:lnTo>
                  <a:pt x="38862" y="0"/>
                </a:lnTo>
                <a:lnTo>
                  <a:pt x="0" y="127254"/>
                </a:lnTo>
                <a:lnTo>
                  <a:pt x="30441" y="127254"/>
                </a:lnTo>
                <a:lnTo>
                  <a:pt x="29057" y="704850"/>
                </a:lnTo>
                <a:lnTo>
                  <a:pt x="45059" y="704850"/>
                </a:lnTo>
                <a:lnTo>
                  <a:pt x="46443" y="127254"/>
                </a:lnTo>
                <a:lnTo>
                  <a:pt x="76200" y="127254"/>
                </a:lnTo>
                <a:close/>
              </a:path>
              <a:path w="874395" h="704850">
                <a:moveTo>
                  <a:pt x="874255" y="704850"/>
                </a:moveTo>
                <a:lnTo>
                  <a:pt x="862355" y="636016"/>
                </a:lnTo>
                <a:lnTo>
                  <a:pt x="853059" y="597331"/>
                </a:lnTo>
                <a:lnTo>
                  <a:pt x="841997" y="559054"/>
                </a:lnTo>
                <a:lnTo>
                  <a:pt x="829157" y="521271"/>
                </a:lnTo>
                <a:lnTo>
                  <a:pt x="814539" y="484035"/>
                </a:lnTo>
                <a:lnTo>
                  <a:pt x="798118" y="447433"/>
                </a:lnTo>
                <a:lnTo>
                  <a:pt x="779907" y="411543"/>
                </a:lnTo>
                <a:lnTo>
                  <a:pt x="759891" y="376428"/>
                </a:lnTo>
                <a:lnTo>
                  <a:pt x="738073" y="342163"/>
                </a:lnTo>
                <a:lnTo>
                  <a:pt x="714438" y="308825"/>
                </a:lnTo>
                <a:lnTo>
                  <a:pt x="688975" y="276479"/>
                </a:lnTo>
                <a:lnTo>
                  <a:pt x="661695" y="245211"/>
                </a:lnTo>
                <a:lnTo>
                  <a:pt x="632574" y="215087"/>
                </a:lnTo>
                <a:lnTo>
                  <a:pt x="601624" y="186182"/>
                </a:lnTo>
                <a:lnTo>
                  <a:pt x="568833" y="158572"/>
                </a:lnTo>
                <a:lnTo>
                  <a:pt x="534187" y="132321"/>
                </a:lnTo>
                <a:lnTo>
                  <a:pt x="497687" y="107505"/>
                </a:lnTo>
                <a:lnTo>
                  <a:pt x="459320" y="84201"/>
                </a:lnTo>
                <a:lnTo>
                  <a:pt x="430060" y="68414"/>
                </a:lnTo>
                <a:lnTo>
                  <a:pt x="441960" y="39624"/>
                </a:lnTo>
                <a:lnTo>
                  <a:pt x="310134" y="25908"/>
                </a:lnTo>
                <a:lnTo>
                  <a:pt x="412242" y="109118"/>
                </a:lnTo>
                <a:lnTo>
                  <a:pt x="413004" y="109728"/>
                </a:lnTo>
                <a:lnTo>
                  <a:pt x="423926" y="83273"/>
                </a:lnTo>
                <a:lnTo>
                  <a:pt x="452501" y="98691"/>
                </a:lnTo>
                <a:lnTo>
                  <a:pt x="490867" y="122034"/>
                </a:lnTo>
                <a:lnTo>
                  <a:pt x="527316" y="146939"/>
                </a:lnTo>
                <a:lnTo>
                  <a:pt x="561873" y="173304"/>
                </a:lnTo>
                <a:lnTo>
                  <a:pt x="594537" y="201066"/>
                </a:lnTo>
                <a:lnTo>
                  <a:pt x="625322" y="230162"/>
                </a:lnTo>
                <a:lnTo>
                  <a:pt x="654215" y="260489"/>
                </a:lnTo>
                <a:lnTo>
                  <a:pt x="681253" y="291973"/>
                </a:lnTo>
                <a:lnTo>
                  <a:pt x="706412" y="324561"/>
                </a:lnTo>
                <a:lnTo>
                  <a:pt x="729716" y="358152"/>
                </a:lnTo>
                <a:lnTo>
                  <a:pt x="751154" y="392684"/>
                </a:lnTo>
                <a:lnTo>
                  <a:pt x="770763" y="428066"/>
                </a:lnTo>
                <a:lnTo>
                  <a:pt x="788517" y="464235"/>
                </a:lnTo>
                <a:lnTo>
                  <a:pt x="804443" y="501103"/>
                </a:lnTo>
                <a:lnTo>
                  <a:pt x="818527" y="538594"/>
                </a:lnTo>
                <a:lnTo>
                  <a:pt x="830808" y="576643"/>
                </a:lnTo>
                <a:lnTo>
                  <a:pt x="841260" y="615162"/>
                </a:lnTo>
                <a:lnTo>
                  <a:pt x="849896" y="654075"/>
                </a:lnTo>
                <a:lnTo>
                  <a:pt x="856729" y="693305"/>
                </a:lnTo>
                <a:lnTo>
                  <a:pt x="858215" y="704850"/>
                </a:lnTo>
                <a:lnTo>
                  <a:pt x="874255" y="704850"/>
                </a:lnTo>
                <a:close/>
              </a:path>
            </a:pathLst>
          </a:custGeom>
          <a:solidFill>
            <a:srgbClr val="000000"/>
          </a:solidFill>
        </p:spPr>
        <p:txBody>
          <a:bodyPr wrap="square" lIns="0" tIns="0" rIns="0" bIns="0" rtlCol="0"/>
          <a:lstStyle/>
          <a:p>
            <a:endParaRPr/>
          </a:p>
        </p:txBody>
      </p:sp>
      <p:sp>
        <p:nvSpPr>
          <p:cNvPr id="13" name="object 13"/>
          <p:cNvSpPr txBox="1"/>
          <p:nvPr/>
        </p:nvSpPr>
        <p:spPr>
          <a:xfrm>
            <a:off x="8232140" y="3913123"/>
            <a:ext cx="523875" cy="299720"/>
          </a:xfrm>
          <a:prstGeom prst="rect">
            <a:avLst/>
          </a:prstGeom>
        </p:spPr>
        <p:txBody>
          <a:bodyPr vert="horz" wrap="square" lIns="0" tIns="12700" rIns="0" bIns="0" rtlCol="0">
            <a:spAutoFit/>
          </a:bodyPr>
          <a:lstStyle/>
          <a:p>
            <a:pPr marL="12700">
              <a:lnSpc>
                <a:spcPct val="100000"/>
              </a:lnSpc>
              <a:spcBef>
                <a:spcPts val="100"/>
              </a:spcBef>
            </a:pPr>
            <a:r>
              <a:rPr sz="1800" i="1" dirty="0">
                <a:latin typeface="Arial"/>
                <a:cs typeface="Arial"/>
              </a:rPr>
              <a:t>b •</a:t>
            </a:r>
            <a:r>
              <a:rPr sz="1800" i="1" spc="-105" dirty="0">
                <a:latin typeface="Arial"/>
                <a:cs typeface="Arial"/>
              </a:rPr>
              <a:t> </a:t>
            </a:r>
            <a:r>
              <a:rPr sz="1800" i="1" dirty="0">
                <a:latin typeface="Arial"/>
                <a:cs typeface="Arial"/>
              </a:rPr>
              <a:t>w</a:t>
            </a:r>
            <a:endParaRPr sz="1800">
              <a:latin typeface="Arial"/>
              <a:cs typeface="Arial"/>
            </a:endParaRPr>
          </a:p>
        </p:txBody>
      </p:sp>
      <p:sp>
        <p:nvSpPr>
          <p:cNvPr id="14" name="object 14"/>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15" name="object 15"/>
          <p:cNvSpPr txBox="1"/>
          <p:nvPr/>
        </p:nvSpPr>
        <p:spPr>
          <a:xfrm>
            <a:off x="967739" y="1777999"/>
            <a:ext cx="5325745" cy="3424554"/>
          </a:xfrm>
          <a:prstGeom prst="rect">
            <a:avLst/>
          </a:prstGeom>
        </p:spPr>
        <p:txBody>
          <a:bodyPr vert="horz" wrap="square" lIns="0" tIns="12700" rIns="0" bIns="0" rtlCol="0">
            <a:spAutoFit/>
          </a:bodyPr>
          <a:lstStyle/>
          <a:p>
            <a:pPr marL="381000" marR="241935" indent="-342900">
              <a:lnSpc>
                <a:spcPct val="100000"/>
              </a:lnSpc>
              <a:spcBef>
                <a:spcPts val="100"/>
              </a:spcBef>
              <a:buClr>
                <a:srgbClr val="CC9A00"/>
              </a:buClr>
              <a:buSzPct val="63636"/>
              <a:buFont typeface="Wingdings"/>
              <a:buChar char=""/>
              <a:tabLst>
                <a:tab pos="380365" algn="l"/>
                <a:tab pos="381000" algn="l"/>
                <a:tab pos="2726055" algn="l"/>
                <a:tab pos="2808605" algn="l"/>
                <a:tab pos="3181985" algn="l"/>
                <a:tab pos="3524885" algn="l"/>
                <a:tab pos="4215130" algn="l"/>
                <a:tab pos="4639310" algn="l"/>
              </a:tabLst>
            </a:pPr>
            <a:r>
              <a:rPr sz="2200" spc="-5" dirty="0">
                <a:latin typeface="Arial"/>
                <a:cs typeface="Arial"/>
              </a:rPr>
              <a:t>Một</a:t>
            </a:r>
            <a:r>
              <a:rPr sz="2200" spc="10" dirty="0">
                <a:latin typeface="Arial"/>
                <a:cs typeface="Arial"/>
              </a:rPr>
              <a:t> </a:t>
            </a:r>
            <a:r>
              <a:rPr sz="2200" b="1" spc="-5" dirty="0">
                <a:latin typeface="Arial"/>
                <a:cs typeface="Arial"/>
              </a:rPr>
              <a:t>cạnh</a:t>
            </a:r>
            <a:r>
              <a:rPr sz="2200" b="1" spc="20" dirty="0">
                <a:latin typeface="Arial"/>
                <a:cs typeface="Arial"/>
              </a:rPr>
              <a:t> </a:t>
            </a:r>
            <a:r>
              <a:rPr sz="2200" b="1" spc="-5" dirty="0">
                <a:latin typeface="Arial"/>
                <a:cs typeface="Arial"/>
              </a:rPr>
              <a:t>dương	</a:t>
            </a:r>
            <a:r>
              <a:rPr sz="2200" b="1" i="1" dirty="0">
                <a:latin typeface="Arial"/>
                <a:cs typeface="Arial"/>
              </a:rPr>
              <a:t>b</a:t>
            </a:r>
            <a:r>
              <a:rPr sz="2200" b="1" i="1" spc="5" dirty="0">
                <a:latin typeface="Arial"/>
                <a:cs typeface="Arial"/>
              </a:rPr>
              <a:t> </a:t>
            </a:r>
            <a:r>
              <a:rPr sz="2200" b="1" i="1" dirty="0">
                <a:latin typeface="Arial"/>
                <a:cs typeface="Arial"/>
              </a:rPr>
              <a:t>•</a:t>
            </a:r>
            <a:r>
              <a:rPr sz="2200" b="1" i="1" spc="10" dirty="0">
                <a:latin typeface="Arial"/>
                <a:cs typeface="Arial"/>
              </a:rPr>
              <a:t> </a:t>
            </a:r>
            <a:r>
              <a:rPr sz="2200" b="1" i="1" dirty="0">
                <a:latin typeface="Arial"/>
                <a:cs typeface="Arial"/>
              </a:rPr>
              <a:t>w	</a:t>
            </a:r>
            <a:r>
              <a:rPr sz="2200" b="1" dirty="0">
                <a:latin typeface="Arial"/>
                <a:cs typeface="Arial"/>
              </a:rPr>
              <a:t>là </a:t>
            </a:r>
            <a:r>
              <a:rPr sz="2200" b="1" spc="-5" dirty="0">
                <a:latin typeface="Arial"/>
                <a:cs typeface="Arial"/>
              </a:rPr>
              <a:t>dư thừa  </a:t>
            </a:r>
            <a:r>
              <a:rPr sz="2200" b="1" dirty="0">
                <a:latin typeface="Arial"/>
                <a:cs typeface="Arial"/>
              </a:rPr>
              <a:t>(redundant)</a:t>
            </a:r>
            <a:r>
              <a:rPr sz="2200" b="1" spc="25" dirty="0">
                <a:latin typeface="Arial"/>
                <a:cs typeface="Arial"/>
              </a:rPr>
              <a:t> </a:t>
            </a:r>
            <a:r>
              <a:rPr sz="2200" spc="-5" dirty="0">
                <a:latin typeface="Arial"/>
                <a:cs typeface="Arial"/>
              </a:rPr>
              <a:t>trong		</a:t>
            </a:r>
            <a:r>
              <a:rPr sz="2200" dirty="0">
                <a:latin typeface="Arial"/>
                <a:cs typeface="Arial"/>
              </a:rPr>
              <a:t>G	</a:t>
            </a:r>
            <a:r>
              <a:rPr sz="2200" spc="-5" dirty="0">
                <a:latin typeface="Arial"/>
                <a:cs typeface="Arial"/>
              </a:rPr>
              <a:t>đối</a:t>
            </a:r>
            <a:r>
              <a:rPr sz="2200" spc="5" dirty="0">
                <a:latin typeface="Arial"/>
                <a:cs typeface="Arial"/>
              </a:rPr>
              <a:t> </a:t>
            </a:r>
            <a:r>
              <a:rPr sz="2200" dirty="0">
                <a:latin typeface="Arial"/>
                <a:cs typeface="Arial"/>
              </a:rPr>
              <a:t>với</a:t>
            </a:r>
            <a:r>
              <a:rPr sz="2200" spc="-15" dirty="0">
                <a:latin typeface="Arial"/>
                <a:cs typeface="Arial"/>
              </a:rPr>
              <a:t> </a:t>
            </a:r>
            <a:r>
              <a:rPr sz="2200" dirty="0">
                <a:latin typeface="Arial"/>
                <a:cs typeface="Arial"/>
              </a:rPr>
              <a:t>nút	</a:t>
            </a:r>
            <a:r>
              <a:rPr sz="2200" i="1" dirty="0">
                <a:latin typeface="Arial"/>
                <a:cs typeface="Arial"/>
              </a:rPr>
              <a:t>a  </a:t>
            </a:r>
            <a:r>
              <a:rPr sz="2200" spc="-5" dirty="0">
                <a:latin typeface="Arial"/>
                <a:cs typeface="Arial"/>
              </a:rPr>
              <a:t>nếu tồn tại một</a:t>
            </a:r>
            <a:r>
              <a:rPr sz="2200" spc="40" dirty="0">
                <a:latin typeface="Arial"/>
                <a:cs typeface="Arial"/>
              </a:rPr>
              <a:t> </a:t>
            </a:r>
            <a:r>
              <a:rPr sz="2200" spc="-5" dirty="0">
                <a:latin typeface="Arial"/>
                <a:cs typeface="Arial"/>
              </a:rPr>
              <a:t>hướng</a:t>
            </a:r>
            <a:r>
              <a:rPr sz="2200" dirty="0">
                <a:latin typeface="Arial"/>
                <a:cs typeface="Arial"/>
              </a:rPr>
              <a:t> dương	</a:t>
            </a:r>
            <a:r>
              <a:rPr sz="2200" spc="-5" dirty="0">
                <a:latin typeface="Arial"/>
                <a:cs typeface="Arial"/>
              </a:rPr>
              <a:t>(</a:t>
            </a:r>
            <a:r>
              <a:rPr sz="2200" i="1" spc="-5" dirty="0">
                <a:latin typeface="Arial"/>
                <a:cs typeface="Arial"/>
              </a:rPr>
              <a:t>b </a:t>
            </a:r>
            <a:r>
              <a:rPr sz="2200" i="1" dirty="0">
                <a:latin typeface="Arial"/>
                <a:cs typeface="Arial"/>
              </a:rPr>
              <a:t>• t</a:t>
            </a:r>
            <a:r>
              <a:rPr sz="2175" i="1" baseline="-21072" dirty="0">
                <a:latin typeface="Arial"/>
                <a:cs typeface="Arial"/>
              </a:rPr>
              <a:t>1</a:t>
            </a:r>
            <a:r>
              <a:rPr sz="2175" i="1" spc="202" baseline="-21072" dirty="0">
                <a:latin typeface="Arial"/>
                <a:cs typeface="Arial"/>
              </a:rPr>
              <a:t> </a:t>
            </a:r>
            <a:r>
              <a:rPr sz="2200" i="1" dirty="0">
                <a:latin typeface="Arial"/>
                <a:cs typeface="Arial"/>
              </a:rPr>
              <a:t>•</a:t>
            </a:r>
            <a:endParaRPr sz="2200">
              <a:latin typeface="Arial"/>
              <a:cs typeface="Arial"/>
            </a:endParaRPr>
          </a:p>
          <a:p>
            <a:pPr marL="380365">
              <a:lnSpc>
                <a:spcPct val="100000"/>
              </a:lnSpc>
            </a:pPr>
            <a:r>
              <a:rPr sz="2200" i="1" dirty="0">
                <a:latin typeface="Arial"/>
                <a:cs typeface="Arial"/>
              </a:rPr>
              <a:t>… • </a:t>
            </a:r>
            <a:r>
              <a:rPr sz="2200" i="1" spc="5" dirty="0">
                <a:latin typeface="Arial"/>
                <a:cs typeface="Arial"/>
              </a:rPr>
              <a:t>t</a:t>
            </a:r>
            <a:r>
              <a:rPr sz="2175" i="1" spc="7" baseline="-21072" dirty="0">
                <a:latin typeface="Arial"/>
                <a:cs typeface="Arial"/>
              </a:rPr>
              <a:t>m </a:t>
            </a:r>
            <a:r>
              <a:rPr sz="2200" i="1" dirty="0">
                <a:latin typeface="Arial"/>
                <a:cs typeface="Arial"/>
              </a:rPr>
              <a:t>• </a:t>
            </a:r>
            <a:r>
              <a:rPr sz="2200" i="1" spc="-5" dirty="0">
                <a:latin typeface="Arial"/>
                <a:cs typeface="Arial"/>
              </a:rPr>
              <a:t>w</a:t>
            </a:r>
            <a:r>
              <a:rPr sz="2200" spc="-5" dirty="0">
                <a:latin typeface="Arial"/>
                <a:cs typeface="Arial"/>
              </a:rPr>
              <a:t>) </a:t>
            </a:r>
            <a:r>
              <a:rPr sz="2200" dirty="0">
                <a:latin typeface="Jara"/>
                <a:cs typeface="Jara"/>
              </a:rPr>
              <a:t>C </a:t>
            </a:r>
            <a:r>
              <a:rPr sz="2200" dirty="0">
                <a:latin typeface="Arial"/>
                <a:cs typeface="Arial"/>
              </a:rPr>
              <a:t>E (m ≥ </a:t>
            </a:r>
            <a:r>
              <a:rPr sz="2200" spc="-5" dirty="0">
                <a:latin typeface="Arial"/>
                <a:cs typeface="Arial"/>
              </a:rPr>
              <a:t>1), </a:t>
            </a:r>
            <a:r>
              <a:rPr sz="2200" dirty="0">
                <a:latin typeface="Arial"/>
                <a:cs typeface="Arial"/>
              </a:rPr>
              <a:t>sao</a:t>
            </a:r>
            <a:r>
              <a:rPr sz="2200" spc="-160" dirty="0">
                <a:latin typeface="Arial"/>
                <a:cs typeface="Arial"/>
              </a:rPr>
              <a:t> </a:t>
            </a:r>
            <a:r>
              <a:rPr sz="2200" dirty="0">
                <a:latin typeface="Arial"/>
                <a:cs typeface="Arial"/>
              </a:rPr>
              <a:t>cho:</a:t>
            </a:r>
            <a:endParaRPr sz="2200">
              <a:latin typeface="Arial"/>
              <a:cs typeface="Arial"/>
            </a:endParaRPr>
          </a:p>
          <a:p>
            <a:pPr marL="838200" marR="30480" lvl="1" indent="-352425">
              <a:lnSpc>
                <a:spcPct val="100000"/>
              </a:lnSpc>
              <a:spcBef>
                <a:spcPts val="605"/>
              </a:spcBef>
              <a:buClr>
                <a:srgbClr val="3B822F"/>
              </a:buClr>
              <a:buAutoNum type="arabicPeriod"/>
              <a:tabLst>
                <a:tab pos="837565" algn="l"/>
                <a:tab pos="838200" algn="l"/>
                <a:tab pos="3316604" algn="l"/>
                <a:tab pos="3752215" algn="l"/>
                <a:tab pos="4912995" algn="l"/>
                <a:tab pos="5075555" algn="l"/>
              </a:tabLst>
            </a:pPr>
            <a:r>
              <a:rPr sz="2000" spc="-5" dirty="0">
                <a:latin typeface="Arial"/>
                <a:cs typeface="Arial"/>
              </a:rPr>
              <a:t>Mỗi cạnh</a:t>
            </a:r>
            <a:r>
              <a:rPr sz="2000" spc="15" dirty="0">
                <a:latin typeface="Arial"/>
                <a:cs typeface="Arial"/>
              </a:rPr>
              <a:t> </a:t>
            </a:r>
            <a:r>
              <a:rPr sz="2000" spc="-5" dirty="0">
                <a:latin typeface="Arial"/>
                <a:cs typeface="Arial"/>
              </a:rPr>
              <a:t>của </a:t>
            </a:r>
            <a:r>
              <a:rPr sz="2000" spc="-10" dirty="0">
                <a:latin typeface="Arial"/>
                <a:cs typeface="Arial"/>
              </a:rPr>
              <a:t>hướng	</a:t>
            </a:r>
            <a:r>
              <a:rPr sz="2000" i="1" spc="-5" dirty="0">
                <a:latin typeface="Arial"/>
                <a:cs typeface="Arial"/>
              </a:rPr>
              <a:t>b • </a:t>
            </a:r>
            <a:r>
              <a:rPr sz="2000" i="1" spc="5" dirty="0">
                <a:latin typeface="Arial"/>
                <a:cs typeface="Arial"/>
              </a:rPr>
              <a:t>t</a:t>
            </a:r>
            <a:r>
              <a:rPr sz="1950" i="1" spc="7" baseline="-21367" dirty="0">
                <a:latin typeface="Arial"/>
                <a:cs typeface="Arial"/>
              </a:rPr>
              <a:t>1  </a:t>
            </a:r>
            <a:r>
              <a:rPr sz="2000" i="1" spc="-5" dirty="0">
                <a:latin typeface="Arial"/>
                <a:cs typeface="Arial"/>
              </a:rPr>
              <a:t>• …</a:t>
            </a:r>
            <a:r>
              <a:rPr sz="2000" i="1" spc="-180" dirty="0">
                <a:latin typeface="Arial"/>
                <a:cs typeface="Arial"/>
              </a:rPr>
              <a:t> </a:t>
            </a:r>
            <a:r>
              <a:rPr sz="2000" i="1" spc="-5" dirty="0">
                <a:latin typeface="Arial"/>
                <a:cs typeface="Arial"/>
              </a:rPr>
              <a:t>•</a:t>
            </a:r>
            <a:r>
              <a:rPr sz="2000" i="1" dirty="0">
                <a:latin typeface="Arial"/>
                <a:cs typeface="Arial"/>
              </a:rPr>
              <a:t> </a:t>
            </a:r>
            <a:r>
              <a:rPr sz="2000" i="1" spc="10" dirty="0">
                <a:latin typeface="Arial"/>
                <a:cs typeface="Arial"/>
              </a:rPr>
              <a:t>t</a:t>
            </a:r>
            <a:r>
              <a:rPr sz="1950" i="1" spc="15" baseline="-21367" dirty="0">
                <a:latin typeface="Arial"/>
                <a:cs typeface="Arial"/>
              </a:rPr>
              <a:t>m	</a:t>
            </a:r>
            <a:r>
              <a:rPr sz="2000" spc="-10" dirty="0">
                <a:latin typeface="Arial"/>
                <a:cs typeface="Arial"/>
              </a:rPr>
              <a:t>là  </a:t>
            </a:r>
            <a:r>
              <a:rPr sz="2000" spc="-5" dirty="0">
                <a:latin typeface="Arial"/>
                <a:cs typeface="Arial"/>
              </a:rPr>
              <a:t>c</a:t>
            </a:r>
            <a:r>
              <a:rPr sz="2000" spc="-10" dirty="0">
                <a:latin typeface="Arial"/>
                <a:cs typeface="Arial"/>
              </a:rPr>
              <a:t>hấ</a:t>
            </a:r>
            <a:r>
              <a:rPr sz="2000" spc="-5" dirty="0">
                <a:latin typeface="Arial"/>
                <a:cs typeface="Arial"/>
              </a:rPr>
              <a:t>p</a:t>
            </a:r>
            <a:r>
              <a:rPr sz="2000" spc="-10" dirty="0">
                <a:latin typeface="Arial"/>
                <a:cs typeface="Arial"/>
              </a:rPr>
              <a:t> nhậ</a:t>
            </a:r>
            <a:r>
              <a:rPr sz="2000" spc="-5" dirty="0">
                <a:latin typeface="Arial"/>
                <a:cs typeface="Arial"/>
              </a:rPr>
              <a:t>n</a:t>
            </a:r>
            <a:r>
              <a:rPr sz="2000" dirty="0">
                <a:latin typeface="Arial"/>
                <a:cs typeface="Arial"/>
              </a:rPr>
              <a:t> </a:t>
            </a:r>
            <a:r>
              <a:rPr sz="2000" spc="-10" dirty="0">
                <a:latin typeface="Arial"/>
                <a:cs typeface="Arial"/>
              </a:rPr>
              <a:t>đượ</a:t>
            </a:r>
            <a:r>
              <a:rPr sz="2000" spc="-5" dirty="0">
                <a:latin typeface="Arial"/>
                <a:cs typeface="Arial"/>
              </a:rPr>
              <a:t>c</a:t>
            </a:r>
            <a:r>
              <a:rPr sz="2000" spc="-10" dirty="0">
                <a:latin typeface="Arial"/>
                <a:cs typeface="Arial"/>
              </a:rPr>
              <a:t> </a:t>
            </a:r>
            <a:r>
              <a:rPr sz="2000" spc="-5" dirty="0">
                <a:latin typeface="Arial"/>
                <a:cs typeface="Arial"/>
              </a:rPr>
              <a:t>trong</a:t>
            </a:r>
            <a:r>
              <a:rPr sz="2000" spc="-10" dirty="0">
                <a:latin typeface="Arial"/>
                <a:cs typeface="Arial"/>
              </a:rPr>
              <a:t> </a:t>
            </a:r>
            <a:r>
              <a:rPr sz="2000" spc="-5" dirty="0">
                <a:latin typeface="Arial"/>
                <a:cs typeface="Arial"/>
              </a:rPr>
              <a:t>G</a:t>
            </a:r>
            <a:r>
              <a:rPr sz="2000" dirty="0">
                <a:latin typeface="Arial"/>
                <a:cs typeface="Arial"/>
              </a:rPr>
              <a:t>	</a:t>
            </a:r>
            <a:r>
              <a:rPr sz="2000" spc="-10" dirty="0">
                <a:latin typeface="Arial"/>
                <a:cs typeface="Arial"/>
              </a:rPr>
              <a:t>đố</a:t>
            </a:r>
            <a:r>
              <a:rPr sz="2000" spc="-5" dirty="0">
                <a:latin typeface="Arial"/>
                <a:cs typeface="Arial"/>
              </a:rPr>
              <a:t>i</a:t>
            </a:r>
            <a:r>
              <a:rPr sz="2000" dirty="0">
                <a:latin typeface="Arial"/>
                <a:cs typeface="Arial"/>
              </a:rPr>
              <a:t> </a:t>
            </a:r>
            <a:r>
              <a:rPr sz="2000" spc="-5" dirty="0">
                <a:latin typeface="Arial"/>
                <a:cs typeface="Arial"/>
              </a:rPr>
              <a:t>v</a:t>
            </a:r>
            <a:r>
              <a:rPr sz="2000" spc="-10" dirty="0">
                <a:latin typeface="Arial"/>
                <a:cs typeface="Arial"/>
              </a:rPr>
              <a:t>ớ</a:t>
            </a:r>
            <a:r>
              <a:rPr sz="2000" spc="-5" dirty="0">
                <a:latin typeface="Arial"/>
                <a:cs typeface="Arial"/>
              </a:rPr>
              <a:t>i</a:t>
            </a:r>
            <a:r>
              <a:rPr sz="2000" dirty="0">
                <a:latin typeface="Arial"/>
                <a:cs typeface="Arial"/>
              </a:rPr>
              <a:t> </a:t>
            </a:r>
            <a:r>
              <a:rPr sz="2000" spc="-10" dirty="0">
                <a:latin typeface="Arial"/>
                <a:cs typeface="Arial"/>
              </a:rPr>
              <a:t>nú</a:t>
            </a:r>
            <a:r>
              <a:rPr sz="2000" spc="-5" dirty="0">
                <a:latin typeface="Arial"/>
                <a:cs typeface="Arial"/>
              </a:rPr>
              <a:t>t</a:t>
            </a:r>
            <a:r>
              <a:rPr sz="2000" dirty="0">
                <a:latin typeface="Arial"/>
                <a:cs typeface="Arial"/>
              </a:rPr>
              <a:t>	</a:t>
            </a:r>
            <a:r>
              <a:rPr sz="2000" i="1" spc="-10" dirty="0">
                <a:latin typeface="Arial"/>
                <a:cs typeface="Arial"/>
              </a:rPr>
              <a:t>a</a:t>
            </a:r>
            <a:r>
              <a:rPr sz="2000" spc="-5" dirty="0">
                <a:latin typeface="Arial"/>
                <a:cs typeface="Arial"/>
              </a:rPr>
              <a:t>;</a:t>
            </a:r>
            <a:endParaRPr sz="2000">
              <a:latin typeface="Arial"/>
              <a:cs typeface="Arial"/>
            </a:endParaRPr>
          </a:p>
          <a:p>
            <a:pPr marL="838200" marR="30480" lvl="1" indent="-352425">
              <a:lnSpc>
                <a:spcPct val="100000"/>
              </a:lnSpc>
              <a:spcBef>
                <a:spcPts val="605"/>
              </a:spcBef>
              <a:buClr>
                <a:srgbClr val="3B822F"/>
              </a:buClr>
              <a:buAutoNum type="arabicPeriod"/>
              <a:tabLst>
                <a:tab pos="838200" algn="l"/>
                <a:tab pos="838835" algn="l"/>
                <a:tab pos="2473325" algn="l"/>
                <a:tab pos="3255645" algn="l"/>
                <a:tab pos="3752215" algn="l"/>
                <a:tab pos="4284345" algn="l"/>
                <a:tab pos="5068570" algn="l"/>
              </a:tabLst>
            </a:pPr>
            <a:r>
              <a:rPr sz="2000" spc="-10" dirty="0">
                <a:latin typeface="Arial"/>
                <a:cs typeface="Arial"/>
              </a:rPr>
              <a:t>Không</a:t>
            </a:r>
            <a:r>
              <a:rPr sz="2000" spc="10" dirty="0">
                <a:latin typeface="Arial"/>
                <a:cs typeface="Arial"/>
              </a:rPr>
              <a:t> </a:t>
            </a:r>
            <a:r>
              <a:rPr sz="2000" spc="-5" dirty="0">
                <a:latin typeface="Arial"/>
                <a:cs typeface="Arial"/>
              </a:rPr>
              <a:t>tồn</a:t>
            </a:r>
            <a:r>
              <a:rPr sz="2000" dirty="0">
                <a:latin typeface="Arial"/>
                <a:cs typeface="Arial"/>
              </a:rPr>
              <a:t> </a:t>
            </a:r>
            <a:r>
              <a:rPr sz="2000" spc="-5" dirty="0">
                <a:latin typeface="Arial"/>
                <a:cs typeface="Arial"/>
              </a:rPr>
              <a:t>tại	</a:t>
            </a:r>
            <a:r>
              <a:rPr sz="2000" i="1" spc="-5" dirty="0">
                <a:latin typeface="Arial"/>
                <a:cs typeface="Arial"/>
              </a:rPr>
              <a:t>c</a:t>
            </a:r>
            <a:r>
              <a:rPr sz="2000" i="1" spc="-10" dirty="0">
                <a:latin typeface="Arial"/>
                <a:cs typeface="Arial"/>
              </a:rPr>
              <a:t> </a:t>
            </a:r>
            <a:r>
              <a:rPr sz="2000" spc="-5" dirty="0">
                <a:latin typeface="Arial"/>
                <a:cs typeface="Arial"/>
              </a:rPr>
              <a:t>và</a:t>
            </a:r>
            <a:r>
              <a:rPr sz="2000" dirty="0">
                <a:latin typeface="Arial"/>
                <a:cs typeface="Arial"/>
              </a:rPr>
              <a:t> </a:t>
            </a:r>
            <a:r>
              <a:rPr sz="2000" i="1" dirty="0">
                <a:latin typeface="Arial"/>
                <a:cs typeface="Arial"/>
              </a:rPr>
              <a:t>t</a:t>
            </a:r>
            <a:r>
              <a:rPr sz="1950" i="1" baseline="-21367" dirty="0">
                <a:latin typeface="Arial"/>
                <a:cs typeface="Arial"/>
              </a:rPr>
              <a:t>i	</a:t>
            </a:r>
            <a:r>
              <a:rPr sz="2000" spc="-5" dirty="0">
                <a:latin typeface="Arial"/>
                <a:cs typeface="Arial"/>
              </a:rPr>
              <a:t>sao</a:t>
            </a:r>
            <a:r>
              <a:rPr sz="2000" spc="-10" dirty="0">
                <a:latin typeface="Arial"/>
                <a:cs typeface="Arial"/>
              </a:rPr>
              <a:t> </a:t>
            </a:r>
            <a:r>
              <a:rPr sz="2000" spc="-5" dirty="0">
                <a:latin typeface="Arial"/>
                <a:cs typeface="Arial"/>
              </a:rPr>
              <a:t>cho	</a:t>
            </a:r>
            <a:r>
              <a:rPr sz="2000" i="1" spc="-5" dirty="0">
                <a:latin typeface="Arial"/>
                <a:cs typeface="Arial"/>
              </a:rPr>
              <a:t>c</a:t>
            </a:r>
            <a:r>
              <a:rPr sz="2000" i="1" spc="-15" dirty="0">
                <a:latin typeface="Arial"/>
                <a:cs typeface="Arial"/>
              </a:rPr>
              <a:t> </a:t>
            </a:r>
            <a:r>
              <a:rPr sz="2000" i="1" spc="-5" dirty="0">
                <a:latin typeface="Arial"/>
                <a:cs typeface="Arial"/>
              </a:rPr>
              <a:t>•</a:t>
            </a:r>
            <a:r>
              <a:rPr sz="2000" i="1" dirty="0">
                <a:latin typeface="Arial"/>
                <a:cs typeface="Arial"/>
              </a:rPr>
              <a:t> </a:t>
            </a:r>
            <a:r>
              <a:rPr sz="2000" dirty="0">
                <a:latin typeface="Symbol"/>
                <a:cs typeface="Symbol"/>
              </a:rPr>
              <a:t></a:t>
            </a:r>
            <a:r>
              <a:rPr sz="2000" i="1" dirty="0">
                <a:latin typeface="Arial"/>
                <a:cs typeface="Arial"/>
              </a:rPr>
              <a:t>t</a:t>
            </a:r>
            <a:r>
              <a:rPr sz="1950" i="1" baseline="-21367" dirty="0">
                <a:latin typeface="Arial"/>
                <a:cs typeface="Arial"/>
              </a:rPr>
              <a:t>i	</a:t>
            </a:r>
            <a:r>
              <a:rPr sz="2000" spc="-10" dirty="0">
                <a:latin typeface="Arial"/>
                <a:cs typeface="Arial"/>
              </a:rPr>
              <a:t>là  </a:t>
            </a:r>
            <a:r>
              <a:rPr sz="2000" spc="-5" dirty="0">
                <a:latin typeface="Arial"/>
                <a:cs typeface="Arial"/>
              </a:rPr>
              <a:t>c</a:t>
            </a:r>
            <a:r>
              <a:rPr sz="2000" spc="-10" dirty="0">
                <a:latin typeface="Arial"/>
                <a:cs typeface="Arial"/>
              </a:rPr>
              <a:t>hấ</a:t>
            </a:r>
            <a:r>
              <a:rPr sz="2000" spc="-5" dirty="0">
                <a:latin typeface="Arial"/>
                <a:cs typeface="Arial"/>
              </a:rPr>
              <a:t>p</a:t>
            </a:r>
            <a:r>
              <a:rPr sz="2000" spc="-10" dirty="0">
                <a:latin typeface="Arial"/>
                <a:cs typeface="Arial"/>
              </a:rPr>
              <a:t> nhậ</a:t>
            </a:r>
            <a:r>
              <a:rPr sz="2000" spc="-5" dirty="0">
                <a:latin typeface="Arial"/>
                <a:cs typeface="Arial"/>
              </a:rPr>
              <a:t>n</a:t>
            </a:r>
            <a:r>
              <a:rPr sz="2000" dirty="0">
                <a:latin typeface="Arial"/>
                <a:cs typeface="Arial"/>
              </a:rPr>
              <a:t> </a:t>
            </a:r>
            <a:r>
              <a:rPr sz="2000" spc="-10" dirty="0">
                <a:latin typeface="Arial"/>
                <a:cs typeface="Arial"/>
              </a:rPr>
              <a:t>đượ</a:t>
            </a:r>
            <a:r>
              <a:rPr sz="2000" spc="-5" dirty="0">
                <a:latin typeface="Arial"/>
                <a:cs typeface="Arial"/>
              </a:rPr>
              <a:t>c t</a:t>
            </a:r>
            <a:r>
              <a:rPr sz="2000" spc="-10" dirty="0">
                <a:latin typeface="Arial"/>
                <a:cs typeface="Arial"/>
              </a:rPr>
              <a:t>ron</a:t>
            </a:r>
            <a:r>
              <a:rPr sz="2000" spc="-5" dirty="0">
                <a:latin typeface="Arial"/>
                <a:cs typeface="Arial"/>
              </a:rPr>
              <a:t>g</a:t>
            </a:r>
            <a:r>
              <a:rPr sz="2000" spc="-15" dirty="0">
                <a:latin typeface="Arial"/>
                <a:cs typeface="Arial"/>
              </a:rPr>
              <a:t> </a:t>
            </a:r>
            <a:r>
              <a:rPr sz="2000" spc="-5" dirty="0">
                <a:latin typeface="Arial"/>
                <a:cs typeface="Arial"/>
              </a:rPr>
              <a:t>G</a:t>
            </a:r>
            <a:r>
              <a:rPr sz="2000" dirty="0">
                <a:latin typeface="Arial"/>
                <a:cs typeface="Arial"/>
              </a:rPr>
              <a:t>	</a:t>
            </a:r>
            <a:r>
              <a:rPr sz="2000" spc="-10" dirty="0">
                <a:latin typeface="Arial"/>
                <a:cs typeface="Arial"/>
              </a:rPr>
              <a:t>đố</a:t>
            </a:r>
            <a:r>
              <a:rPr sz="2000" spc="-5" dirty="0">
                <a:latin typeface="Arial"/>
                <a:cs typeface="Arial"/>
              </a:rPr>
              <a:t>i</a:t>
            </a:r>
            <a:r>
              <a:rPr sz="2000" dirty="0">
                <a:latin typeface="Arial"/>
                <a:cs typeface="Arial"/>
              </a:rPr>
              <a:t> </a:t>
            </a:r>
            <a:r>
              <a:rPr sz="2000" spc="-5" dirty="0">
                <a:latin typeface="Arial"/>
                <a:cs typeface="Arial"/>
              </a:rPr>
              <a:t>v</a:t>
            </a:r>
            <a:r>
              <a:rPr sz="2000" spc="-10" dirty="0">
                <a:latin typeface="Arial"/>
                <a:cs typeface="Arial"/>
              </a:rPr>
              <a:t>ớ</a:t>
            </a:r>
            <a:r>
              <a:rPr sz="2000" spc="-5" dirty="0">
                <a:latin typeface="Arial"/>
                <a:cs typeface="Arial"/>
              </a:rPr>
              <a:t>i</a:t>
            </a:r>
            <a:r>
              <a:rPr sz="2000" dirty="0">
                <a:latin typeface="Arial"/>
                <a:cs typeface="Arial"/>
              </a:rPr>
              <a:t> </a:t>
            </a:r>
            <a:r>
              <a:rPr sz="2000" spc="-10" dirty="0">
                <a:latin typeface="Arial"/>
                <a:cs typeface="Arial"/>
              </a:rPr>
              <a:t>nú</a:t>
            </a:r>
            <a:r>
              <a:rPr sz="2000" spc="-5" dirty="0">
                <a:latin typeface="Arial"/>
                <a:cs typeface="Arial"/>
              </a:rPr>
              <a:t>t</a:t>
            </a:r>
            <a:r>
              <a:rPr sz="2000" dirty="0">
                <a:latin typeface="Arial"/>
                <a:cs typeface="Arial"/>
              </a:rPr>
              <a:t>	</a:t>
            </a:r>
            <a:r>
              <a:rPr sz="2000" spc="-509" dirty="0">
                <a:latin typeface="Arial"/>
                <a:cs typeface="Arial"/>
              </a:rPr>
              <a:t> </a:t>
            </a:r>
            <a:r>
              <a:rPr sz="2000" i="1" spc="-10" dirty="0">
                <a:latin typeface="Arial"/>
                <a:cs typeface="Arial"/>
              </a:rPr>
              <a:t>a</a:t>
            </a:r>
            <a:r>
              <a:rPr sz="2000" spc="-5" dirty="0">
                <a:latin typeface="Arial"/>
                <a:cs typeface="Arial"/>
              </a:rPr>
              <a:t>;</a:t>
            </a:r>
            <a:endParaRPr sz="2000">
              <a:latin typeface="Arial"/>
              <a:cs typeface="Arial"/>
            </a:endParaRPr>
          </a:p>
          <a:p>
            <a:pPr marL="838200" marR="170815" lvl="1" indent="-352425">
              <a:lnSpc>
                <a:spcPct val="100000"/>
              </a:lnSpc>
              <a:spcBef>
                <a:spcPts val="600"/>
              </a:spcBef>
              <a:buClr>
                <a:srgbClr val="3B822F"/>
              </a:buClr>
              <a:buAutoNum type="arabicPeriod"/>
              <a:tabLst>
                <a:tab pos="837565" algn="l"/>
                <a:tab pos="838200" algn="l"/>
                <a:tab pos="2473325" algn="l"/>
                <a:tab pos="2740025" algn="l"/>
                <a:tab pos="3768725" algn="l"/>
                <a:tab pos="4627880" algn="l"/>
                <a:tab pos="5005070" algn="l"/>
              </a:tabLst>
            </a:pPr>
            <a:r>
              <a:rPr sz="2000" spc="-10" dirty="0">
                <a:latin typeface="Arial"/>
                <a:cs typeface="Arial"/>
              </a:rPr>
              <a:t>Không</a:t>
            </a:r>
            <a:r>
              <a:rPr sz="2000" spc="5" dirty="0">
                <a:latin typeface="Arial"/>
                <a:cs typeface="Arial"/>
              </a:rPr>
              <a:t> </a:t>
            </a:r>
            <a:r>
              <a:rPr sz="2000" spc="-5" dirty="0">
                <a:latin typeface="Arial"/>
                <a:cs typeface="Arial"/>
              </a:rPr>
              <a:t>tồn tại	</a:t>
            </a:r>
            <a:r>
              <a:rPr sz="2000" i="1" spc="-5" dirty="0">
                <a:latin typeface="Arial"/>
                <a:cs typeface="Arial"/>
              </a:rPr>
              <a:t>c	</a:t>
            </a:r>
            <a:r>
              <a:rPr sz="2000" spc="-5" dirty="0">
                <a:latin typeface="Arial"/>
                <a:cs typeface="Arial"/>
              </a:rPr>
              <a:t>sao cho	</a:t>
            </a:r>
            <a:r>
              <a:rPr sz="2000" i="1" spc="-5" dirty="0">
                <a:latin typeface="Arial"/>
                <a:cs typeface="Arial"/>
              </a:rPr>
              <a:t>c</a:t>
            </a:r>
            <a:r>
              <a:rPr sz="2000" i="1" spc="-15" dirty="0">
                <a:latin typeface="Arial"/>
                <a:cs typeface="Arial"/>
              </a:rPr>
              <a:t> </a:t>
            </a:r>
            <a:r>
              <a:rPr sz="2000" i="1" spc="-5" dirty="0">
                <a:latin typeface="Arial"/>
                <a:cs typeface="Arial"/>
              </a:rPr>
              <a:t>•</a:t>
            </a:r>
            <a:r>
              <a:rPr sz="2000" i="1" dirty="0">
                <a:latin typeface="Arial"/>
                <a:cs typeface="Arial"/>
              </a:rPr>
              <a:t> </a:t>
            </a:r>
            <a:r>
              <a:rPr sz="2000" spc="-5" dirty="0">
                <a:latin typeface="Symbol"/>
                <a:cs typeface="Symbol"/>
              </a:rPr>
              <a:t></a:t>
            </a:r>
            <a:r>
              <a:rPr sz="2000" i="1" spc="-5" dirty="0">
                <a:latin typeface="Arial"/>
                <a:cs typeface="Arial"/>
              </a:rPr>
              <a:t>w	</a:t>
            </a:r>
            <a:r>
              <a:rPr sz="2000" spc="-10" dirty="0">
                <a:latin typeface="Arial"/>
                <a:cs typeface="Arial"/>
              </a:rPr>
              <a:t>là  </a:t>
            </a:r>
            <a:r>
              <a:rPr sz="2000" spc="-5" dirty="0">
                <a:latin typeface="Arial"/>
                <a:cs typeface="Arial"/>
              </a:rPr>
              <a:t>c</a:t>
            </a:r>
            <a:r>
              <a:rPr sz="2000" spc="-10" dirty="0">
                <a:latin typeface="Arial"/>
                <a:cs typeface="Arial"/>
              </a:rPr>
              <a:t>hấ</a:t>
            </a:r>
            <a:r>
              <a:rPr sz="2000" spc="-5" dirty="0">
                <a:latin typeface="Arial"/>
                <a:cs typeface="Arial"/>
              </a:rPr>
              <a:t>p</a:t>
            </a:r>
            <a:r>
              <a:rPr sz="2000" spc="-10" dirty="0">
                <a:latin typeface="Arial"/>
                <a:cs typeface="Arial"/>
              </a:rPr>
              <a:t> nhậ</a:t>
            </a:r>
            <a:r>
              <a:rPr sz="2000" spc="-5" dirty="0">
                <a:latin typeface="Arial"/>
                <a:cs typeface="Arial"/>
              </a:rPr>
              <a:t>n</a:t>
            </a:r>
            <a:r>
              <a:rPr sz="2000" dirty="0">
                <a:latin typeface="Arial"/>
                <a:cs typeface="Arial"/>
              </a:rPr>
              <a:t> </a:t>
            </a:r>
            <a:r>
              <a:rPr sz="2000" spc="-10" dirty="0">
                <a:latin typeface="Arial"/>
                <a:cs typeface="Arial"/>
              </a:rPr>
              <a:t>đượ</a:t>
            </a:r>
            <a:r>
              <a:rPr sz="2000" spc="-5" dirty="0">
                <a:latin typeface="Arial"/>
                <a:cs typeface="Arial"/>
              </a:rPr>
              <a:t>c</a:t>
            </a:r>
            <a:r>
              <a:rPr sz="2000" spc="-10" dirty="0">
                <a:latin typeface="Arial"/>
                <a:cs typeface="Arial"/>
              </a:rPr>
              <a:t> </a:t>
            </a:r>
            <a:r>
              <a:rPr sz="2000" spc="-5" dirty="0">
                <a:latin typeface="Arial"/>
                <a:cs typeface="Arial"/>
              </a:rPr>
              <a:t>trong</a:t>
            </a:r>
            <a:r>
              <a:rPr sz="2000" spc="-10" dirty="0">
                <a:latin typeface="Arial"/>
                <a:cs typeface="Arial"/>
              </a:rPr>
              <a:t> </a:t>
            </a:r>
            <a:r>
              <a:rPr sz="2000" spc="-5" dirty="0">
                <a:latin typeface="Arial"/>
                <a:cs typeface="Arial"/>
              </a:rPr>
              <a:t>G</a:t>
            </a:r>
            <a:r>
              <a:rPr sz="2000" spc="-15" dirty="0">
                <a:latin typeface="Arial"/>
                <a:cs typeface="Arial"/>
              </a:rPr>
              <a:t> </a:t>
            </a:r>
            <a:r>
              <a:rPr sz="2000" spc="-10" dirty="0">
                <a:latin typeface="Arial"/>
                <a:cs typeface="Arial"/>
              </a:rPr>
              <a:t>đố</a:t>
            </a:r>
            <a:r>
              <a:rPr sz="2000" spc="-5" dirty="0">
                <a:latin typeface="Arial"/>
                <a:cs typeface="Arial"/>
              </a:rPr>
              <a:t>i</a:t>
            </a:r>
            <a:r>
              <a:rPr sz="2000" spc="5" dirty="0">
                <a:latin typeface="Arial"/>
                <a:cs typeface="Arial"/>
              </a:rPr>
              <a:t> </a:t>
            </a:r>
            <a:r>
              <a:rPr sz="2000" spc="-5" dirty="0">
                <a:latin typeface="Arial"/>
                <a:cs typeface="Arial"/>
              </a:rPr>
              <a:t>v</a:t>
            </a:r>
            <a:r>
              <a:rPr sz="2000" spc="-10" dirty="0">
                <a:latin typeface="Arial"/>
                <a:cs typeface="Arial"/>
              </a:rPr>
              <a:t>ớ</a:t>
            </a:r>
            <a:r>
              <a:rPr sz="2000" spc="-5" dirty="0">
                <a:latin typeface="Arial"/>
                <a:cs typeface="Arial"/>
              </a:rPr>
              <a:t>i</a:t>
            </a:r>
            <a:r>
              <a:rPr sz="2000" dirty="0">
                <a:latin typeface="Arial"/>
                <a:cs typeface="Arial"/>
              </a:rPr>
              <a:t> </a:t>
            </a:r>
            <a:r>
              <a:rPr sz="2000" spc="-10" dirty="0">
                <a:latin typeface="Arial"/>
                <a:cs typeface="Arial"/>
              </a:rPr>
              <a:t>nú</a:t>
            </a:r>
            <a:r>
              <a:rPr sz="2000" spc="-5" dirty="0">
                <a:latin typeface="Arial"/>
                <a:cs typeface="Arial"/>
              </a:rPr>
              <a:t>t</a:t>
            </a:r>
            <a:r>
              <a:rPr sz="2000" dirty="0">
                <a:latin typeface="Arial"/>
                <a:cs typeface="Arial"/>
              </a:rPr>
              <a:t>	</a:t>
            </a:r>
            <a:r>
              <a:rPr sz="2000" i="1" spc="-5" dirty="0">
                <a:latin typeface="Arial"/>
                <a:cs typeface="Arial"/>
              </a:rPr>
              <a:t>a</a:t>
            </a:r>
            <a:endParaRPr sz="2000">
              <a:latin typeface="Arial"/>
              <a:cs typeface="Arial"/>
            </a:endParaRPr>
          </a:p>
        </p:txBody>
      </p:sp>
      <p:sp>
        <p:nvSpPr>
          <p:cNvPr id="16" name="object 16"/>
          <p:cNvSpPr/>
          <p:nvPr/>
        </p:nvSpPr>
        <p:spPr>
          <a:xfrm>
            <a:off x="7383780" y="4373879"/>
            <a:ext cx="854075" cy="934719"/>
          </a:xfrm>
          <a:custGeom>
            <a:avLst/>
            <a:gdLst/>
            <a:ahLst/>
            <a:cxnLst/>
            <a:rect l="l" t="t" r="r" b="b"/>
            <a:pathLst>
              <a:path w="854075" h="934720">
                <a:moveTo>
                  <a:pt x="16103" y="0"/>
                </a:moveTo>
                <a:lnTo>
                  <a:pt x="101" y="0"/>
                </a:lnTo>
                <a:lnTo>
                  <a:pt x="0" y="45720"/>
                </a:lnTo>
                <a:lnTo>
                  <a:pt x="16002" y="45720"/>
                </a:lnTo>
                <a:lnTo>
                  <a:pt x="16103" y="0"/>
                </a:lnTo>
                <a:close/>
              </a:path>
              <a:path w="854075" h="934720">
                <a:moveTo>
                  <a:pt x="853465" y="128193"/>
                </a:moveTo>
                <a:lnTo>
                  <a:pt x="852944" y="88544"/>
                </a:lnTo>
                <a:lnTo>
                  <a:pt x="850684" y="48945"/>
                </a:lnTo>
                <a:lnTo>
                  <a:pt x="846683" y="9474"/>
                </a:lnTo>
                <a:lnTo>
                  <a:pt x="845299" y="0"/>
                </a:lnTo>
                <a:lnTo>
                  <a:pt x="829259" y="0"/>
                </a:lnTo>
                <a:lnTo>
                  <a:pt x="832815" y="27927"/>
                </a:lnTo>
                <a:lnTo>
                  <a:pt x="836066" y="67576"/>
                </a:lnTo>
                <a:lnTo>
                  <a:pt x="837526" y="107302"/>
                </a:lnTo>
                <a:lnTo>
                  <a:pt x="837209" y="147040"/>
                </a:lnTo>
                <a:lnTo>
                  <a:pt x="835113" y="186715"/>
                </a:lnTo>
                <a:lnTo>
                  <a:pt x="831253" y="226237"/>
                </a:lnTo>
                <a:lnTo>
                  <a:pt x="825639" y="265544"/>
                </a:lnTo>
                <a:lnTo>
                  <a:pt x="818261" y="304558"/>
                </a:lnTo>
                <a:lnTo>
                  <a:pt x="809142" y="343204"/>
                </a:lnTo>
                <a:lnTo>
                  <a:pt x="798271" y="381393"/>
                </a:lnTo>
                <a:lnTo>
                  <a:pt x="785672" y="419049"/>
                </a:lnTo>
                <a:lnTo>
                  <a:pt x="771334" y="456107"/>
                </a:lnTo>
                <a:lnTo>
                  <a:pt x="755281" y="492480"/>
                </a:lnTo>
                <a:lnTo>
                  <a:pt x="737501" y="528091"/>
                </a:lnTo>
                <a:lnTo>
                  <a:pt x="718019" y="562876"/>
                </a:lnTo>
                <a:lnTo>
                  <a:pt x="696823" y="596747"/>
                </a:lnTo>
                <a:lnTo>
                  <a:pt x="673938" y="629627"/>
                </a:lnTo>
                <a:lnTo>
                  <a:pt x="649351" y="661441"/>
                </a:lnTo>
                <a:lnTo>
                  <a:pt x="623087" y="692099"/>
                </a:lnTo>
                <a:lnTo>
                  <a:pt x="595134" y="721550"/>
                </a:lnTo>
                <a:lnTo>
                  <a:pt x="565505" y="749706"/>
                </a:lnTo>
                <a:lnTo>
                  <a:pt x="534212" y="776478"/>
                </a:lnTo>
                <a:lnTo>
                  <a:pt x="501256" y="801801"/>
                </a:lnTo>
                <a:lnTo>
                  <a:pt x="466648" y="825601"/>
                </a:lnTo>
                <a:lnTo>
                  <a:pt x="430390" y="847801"/>
                </a:lnTo>
                <a:lnTo>
                  <a:pt x="392493" y="868311"/>
                </a:lnTo>
                <a:lnTo>
                  <a:pt x="352945" y="887056"/>
                </a:lnTo>
                <a:lnTo>
                  <a:pt x="311772" y="903973"/>
                </a:lnTo>
                <a:lnTo>
                  <a:pt x="268986" y="918972"/>
                </a:lnTo>
                <a:lnTo>
                  <a:pt x="274320" y="934212"/>
                </a:lnTo>
                <a:lnTo>
                  <a:pt x="317055" y="919162"/>
                </a:lnTo>
                <a:lnTo>
                  <a:pt x="358190" y="902246"/>
                </a:lnTo>
                <a:lnTo>
                  <a:pt x="397751" y="883539"/>
                </a:lnTo>
                <a:lnTo>
                  <a:pt x="435698" y="863117"/>
                </a:lnTo>
                <a:lnTo>
                  <a:pt x="472033" y="841057"/>
                </a:lnTo>
                <a:lnTo>
                  <a:pt x="506768" y="817422"/>
                </a:lnTo>
                <a:lnTo>
                  <a:pt x="539877" y="792289"/>
                </a:lnTo>
                <a:lnTo>
                  <a:pt x="571360" y="765733"/>
                </a:lnTo>
                <a:lnTo>
                  <a:pt x="601218" y="737831"/>
                </a:lnTo>
                <a:lnTo>
                  <a:pt x="629437" y="708660"/>
                </a:lnTo>
                <a:lnTo>
                  <a:pt x="656005" y="678281"/>
                </a:lnTo>
                <a:lnTo>
                  <a:pt x="680935" y="646772"/>
                </a:lnTo>
                <a:lnTo>
                  <a:pt x="704202" y="614210"/>
                </a:lnTo>
                <a:lnTo>
                  <a:pt x="725805" y="580656"/>
                </a:lnTo>
                <a:lnTo>
                  <a:pt x="745756" y="546201"/>
                </a:lnTo>
                <a:lnTo>
                  <a:pt x="764032" y="510908"/>
                </a:lnTo>
                <a:lnTo>
                  <a:pt x="780618" y="474865"/>
                </a:lnTo>
                <a:lnTo>
                  <a:pt x="795528" y="438124"/>
                </a:lnTo>
                <a:lnTo>
                  <a:pt x="808748" y="400761"/>
                </a:lnTo>
                <a:lnTo>
                  <a:pt x="820267" y="362864"/>
                </a:lnTo>
                <a:lnTo>
                  <a:pt x="830084" y="324497"/>
                </a:lnTo>
                <a:lnTo>
                  <a:pt x="838200" y="285737"/>
                </a:lnTo>
                <a:lnTo>
                  <a:pt x="844600" y="246646"/>
                </a:lnTo>
                <a:lnTo>
                  <a:pt x="849287" y="207314"/>
                </a:lnTo>
                <a:lnTo>
                  <a:pt x="852233" y="167805"/>
                </a:lnTo>
                <a:lnTo>
                  <a:pt x="853465" y="128193"/>
                </a:lnTo>
                <a:close/>
              </a:path>
            </a:pathLst>
          </a:custGeom>
          <a:solidFill>
            <a:srgbClr val="000000"/>
          </a:solidFill>
        </p:spPr>
        <p:txBody>
          <a:bodyPr wrap="square" lIns="0" tIns="0" rIns="0" bIns="0" rtlCol="0"/>
          <a:lstStyle/>
          <a:p>
            <a:endParaRPr/>
          </a:p>
        </p:txBody>
      </p:sp>
      <p:sp>
        <p:nvSpPr>
          <p:cNvPr id="17" name="object 17"/>
          <p:cNvSpPr txBox="1"/>
          <p:nvPr/>
        </p:nvSpPr>
        <p:spPr>
          <a:xfrm>
            <a:off x="6987540" y="4447285"/>
            <a:ext cx="1112520" cy="299720"/>
          </a:xfrm>
          <a:prstGeom prst="rect">
            <a:avLst/>
          </a:prstGeom>
        </p:spPr>
        <p:txBody>
          <a:bodyPr vert="horz" wrap="square" lIns="0" tIns="12700" rIns="0" bIns="0" rtlCol="0">
            <a:spAutoFit/>
          </a:bodyPr>
          <a:lstStyle/>
          <a:p>
            <a:pPr marL="38100">
              <a:lnSpc>
                <a:spcPct val="100000"/>
              </a:lnSpc>
              <a:spcBef>
                <a:spcPts val="100"/>
              </a:spcBef>
            </a:pPr>
            <a:r>
              <a:rPr sz="1800" b="1" spc="-5" dirty="0">
                <a:latin typeface="Arial"/>
                <a:cs typeface="Arial"/>
              </a:rPr>
              <a:t>Whale</a:t>
            </a:r>
            <a:r>
              <a:rPr sz="1800" b="1" spc="-60" dirty="0">
                <a:latin typeface="Arial"/>
                <a:cs typeface="Arial"/>
              </a:rPr>
              <a:t> </a:t>
            </a:r>
            <a:r>
              <a:rPr sz="1800" spc="-5" dirty="0">
                <a:latin typeface="Arial"/>
                <a:cs typeface="Arial"/>
              </a:rPr>
              <a:t>(t</a:t>
            </a:r>
            <a:r>
              <a:rPr sz="1800" spc="-7" baseline="-20833" dirty="0">
                <a:latin typeface="Arial"/>
                <a:cs typeface="Arial"/>
              </a:rPr>
              <a:t>1</a:t>
            </a:r>
            <a:r>
              <a:rPr sz="1800" spc="-5" dirty="0">
                <a:latin typeface="Arial"/>
                <a:cs typeface="Arial"/>
              </a:rPr>
              <a:t>)</a:t>
            </a:r>
            <a:endParaRPr sz="1800">
              <a:latin typeface="Arial"/>
              <a:cs typeface="Arial"/>
            </a:endParaRPr>
          </a:p>
        </p:txBody>
      </p:sp>
      <p:sp>
        <p:nvSpPr>
          <p:cNvPr id="18" name="object 18"/>
          <p:cNvSpPr/>
          <p:nvPr/>
        </p:nvSpPr>
        <p:spPr>
          <a:xfrm>
            <a:off x="7354823" y="4800600"/>
            <a:ext cx="76200" cy="458470"/>
          </a:xfrm>
          <a:custGeom>
            <a:avLst/>
            <a:gdLst/>
            <a:ahLst/>
            <a:cxnLst/>
            <a:rect l="l" t="t" r="r" b="b"/>
            <a:pathLst>
              <a:path w="76200" h="458470">
                <a:moveTo>
                  <a:pt x="76200" y="127253"/>
                </a:moveTo>
                <a:lnTo>
                  <a:pt x="38861" y="0"/>
                </a:lnTo>
                <a:lnTo>
                  <a:pt x="0" y="127253"/>
                </a:lnTo>
                <a:lnTo>
                  <a:pt x="30422" y="127253"/>
                </a:lnTo>
                <a:lnTo>
                  <a:pt x="30479" y="114300"/>
                </a:lnTo>
                <a:lnTo>
                  <a:pt x="45720" y="115062"/>
                </a:lnTo>
                <a:lnTo>
                  <a:pt x="45720" y="127253"/>
                </a:lnTo>
                <a:lnTo>
                  <a:pt x="76200" y="127253"/>
                </a:lnTo>
                <a:close/>
              </a:path>
              <a:path w="76200" h="458470">
                <a:moveTo>
                  <a:pt x="45692" y="127253"/>
                </a:moveTo>
                <a:lnTo>
                  <a:pt x="30422" y="127253"/>
                </a:lnTo>
                <a:lnTo>
                  <a:pt x="28955" y="457200"/>
                </a:lnTo>
                <a:lnTo>
                  <a:pt x="44957" y="457962"/>
                </a:lnTo>
                <a:lnTo>
                  <a:pt x="45692" y="127253"/>
                </a:lnTo>
                <a:close/>
              </a:path>
              <a:path w="76200" h="458470">
                <a:moveTo>
                  <a:pt x="45720" y="115062"/>
                </a:moveTo>
                <a:lnTo>
                  <a:pt x="30479" y="114300"/>
                </a:lnTo>
                <a:lnTo>
                  <a:pt x="30422" y="127253"/>
                </a:lnTo>
                <a:lnTo>
                  <a:pt x="45692" y="127253"/>
                </a:lnTo>
                <a:lnTo>
                  <a:pt x="45720" y="115062"/>
                </a:lnTo>
                <a:close/>
              </a:path>
              <a:path w="76200" h="458470">
                <a:moveTo>
                  <a:pt x="45720" y="127253"/>
                </a:moveTo>
                <a:lnTo>
                  <a:pt x="45720" y="115062"/>
                </a:lnTo>
                <a:lnTo>
                  <a:pt x="45692" y="127253"/>
                </a:lnTo>
                <a:close/>
              </a:path>
            </a:pathLst>
          </a:custGeom>
          <a:solidFill>
            <a:srgbClr val="000000"/>
          </a:solidFill>
        </p:spPr>
        <p:txBody>
          <a:bodyPr wrap="square" lIns="0" tIns="0" rIns="0" bIns="0" rtlCol="0"/>
          <a:lstStyle/>
          <a:p>
            <a:endParaRPr/>
          </a:p>
        </p:txBody>
      </p:sp>
      <p:sp>
        <p:nvSpPr>
          <p:cNvPr id="19" name="object 19"/>
          <p:cNvSpPr txBox="1"/>
          <p:nvPr/>
        </p:nvSpPr>
        <p:spPr>
          <a:xfrm>
            <a:off x="993139" y="5285485"/>
            <a:ext cx="7353300" cy="892175"/>
          </a:xfrm>
          <a:prstGeom prst="rect">
            <a:avLst/>
          </a:prstGeom>
        </p:spPr>
        <p:txBody>
          <a:bodyPr vert="horz" wrap="square" lIns="0" tIns="12700" rIns="0" bIns="0" rtlCol="0">
            <a:spAutoFit/>
          </a:bodyPr>
          <a:lstStyle/>
          <a:p>
            <a:pPr marR="5080" algn="r">
              <a:lnSpc>
                <a:spcPts val="1850"/>
              </a:lnSpc>
              <a:spcBef>
                <a:spcPts val="100"/>
              </a:spcBef>
            </a:pPr>
            <a:r>
              <a:rPr sz="1800" b="1" spc="-5" dirty="0">
                <a:latin typeface="Arial"/>
                <a:cs typeface="Arial"/>
              </a:rPr>
              <a:t>Blue whale</a:t>
            </a:r>
            <a:r>
              <a:rPr sz="1800" b="1" spc="-90" dirty="0">
                <a:latin typeface="Arial"/>
                <a:cs typeface="Arial"/>
              </a:rPr>
              <a:t> </a:t>
            </a:r>
            <a:r>
              <a:rPr sz="1800" dirty="0">
                <a:latin typeface="Arial"/>
                <a:cs typeface="Arial"/>
              </a:rPr>
              <a:t>(b)</a:t>
            </a:r>
            <a:endParaRPr sz="1800">
              <a:latin typeface="Arial"/>
              <a:cs typeface="Arial"/>
            </a:endParaRPr>
          </a:p>
          <a:p>
            <a:pPr marL="355600" indent="-342900">
              <a:lnSpc>
                <a:spcPts val="2330"/>
              </a:lnSpc>
              <a:buClr>
                <a:srgbClr val="CC9A00"/>
              </a:buClr>
              <a:buSzPct val="63636"/>
              <a:buFont typeface="Wingdings"/>
              <a:buChar char=""/>
              <a:tabLst>
                <a:tab pos="354965" algn="l"/>
                <a:tab pos="355600" algn="l"/>
                <a:tab pos="4577715" algn="l"/>
              </a:tabLst>
            </a:pPr>
            <a:r>
              <a:rPr sz="2200" spc="-5" dirty="0">
                <a:latin typeface="Arial"/>
                <a:cs typeface="Arial"/>
              </a:rPr>
              <a:t>Định nghĩa </a:t>
            </a:r>
            <a:r>
              <a:rPr sz="2200" dirty="0">
                <a:latin typeface="Arial"/>
                <a:cs typeface="Arial"/>
              </a:rPr>
              <a:t>tương tự, </a:t>
            </a:r>
            <a:r>
              <a:rPr sz="2200" spc="-5" dirty="0">
                <a:latin typeface="Arial"/>
                <a:cs typeface="Arial"/>
              </a:rPr>
              <a:t>đối</a:t>
            </a:r>
            <a:r>
              <a:rPr sz="2200" spc="25" dirty="0">
                <a:latin typeface="Arial"/>
                <a:cs typeface="Arial"/>
              </a:rPr>
              <a:t> </a:t>
            </a:r>
            <a:r>
              <a:rPr sz="2200" dirty="0">
                <a:latin typeface="Arial"/>
                <a:cs typeface="Arial"/>
              </a:rPr>
              <a:t>với</a:t>
            </a:r>
            <a:r>
              <a:rPr sz="2200" spc="-10" dirty="0">
                <a:latin typeface="Arial"/>
                <a:cs typeface="Arial"/>
              </a:rPr>
              <a:t> </a:t>
            </a:r>
            <a:r>
              <a:rPr sz="2200" spc="-5" dirty="0">
                <a:latin typeface="Arial"/>
                <a:cs typeface="Arial"/>
              </a:rPr>
              <a:t>một	</a:t>
            </a:r>
            <a:r>
              <a:rPr sz="2200" b="1" spc="-5" dirty="0">
                <a:latin typeface="Arial"/>
                <a:cs typeface="Arial"/>
              </a:rPr>
              <a:t>cạnh</a:t>
            </a:r>
            <a:endParaRPr sz="2200">
              <a:latin typeface="Arial"/>
              <a:cs typeface="Arial"/>
            </a:endParaRPr>
          </a:p>
          <a:p>
            <a:pPr marL="355600">
              <a:lnSpc>
                <a:spcPct val="100000"/>
              </a:lnSpc>
              <a:tabLst>
                <a:tab pos="913130" algn="l"/>
                <a:tab pos="1911985" algn="l"/>
              </a:tabLst>
            </a:pPr>
            <a:r>
              <a:rPr sz="2200" b="1" spc="-5" dirty="0">
                <a:latin typeface="Arial"/>
                <a:cs typeface="Arial"/>
              </a:rPr>
              <a:t>âm	</a:t>
            </a:r>
            <a:r>
              <a:rPr sz="2200" b="1" i="1" dirty="0">
                <a:latin typeface="Arial"/>
                <a:cs typeface="Arial"/>
              </a:rPr>
              <a:t>b</a:t>
            </a:r>
            <a:r>
              <a:rPr sz="2200" b="1" i="1" spc="5" dirty="0">
                <a:latin typeface="Arial"/>
                <a:cs typeface="Arial"/>
              </a:rPr>
              <a:t> </a:t>
            </a:r>
            <a:r>
              <a:rPr sz="2200" b="1" i="1" dirty="0">
                <a:latin typeface="Arial"/>
                <a:cs typeface="Arial"/>
              </a:rPr>
              <a:t>•</a:t>
            </a:r>
            <a:r>
              <a:rPr sz="2200" b="1" i="1" spc="5" dirty="0">
                <a:latin typeface="Arial"/>
                <a:cs typeface="Arial"/>
              </a:rPr>
              <a:t> </a:t>
            </a:r>
            <a:r>
              <a:rPr sz="2200" b="1" dirty="0">
                <a:latin typeface="Symbol"/>
                <a:cs typeface="Symbol"/>
              </a:rPr>
              <a:t></a:t>
            </a:r>
            <a:r>
              <a:rPr sz="2200" b="1" i="1" dirty="0">
                <a:latin typeface="Arial"/>
                <a:cs typeface="Arial"/>
              </a:rPr>
              <a:t>w	</a:t>
            </a:r>
            <a:r>
              <a:rPr sz="2200" b="1" dirty="0">
                <a:latin typeface="Arial"/>
                <a:cs typeface="Arial"/>
              </a:rPr>
              <a:t>là </a:t>
            </a:r>
            <a:r>
              <a:rPr sz="2200" b="1" spc="-5" dirty="0">
                <a:latin typeface="Arial"/>
                <a:cs typeface="Arial"/>
              </a:rPr>
              <a:t>dư</a:t>
            </a:r>
            <a:r>
              <a:rPr sz="2200" b="1" dirty="0">
                <a:latin typeface="Arial"/>
                <a:cs typeface="Arial"/>
              </a:rPr>
              <a:t> </a:t>
            </a:r>
            <a:r>
              <a:rPr sz="2200" b="1" spc="-5" dirty="0">
                <a:latin typeface="Arial"/>
                <a:cs typeface="Arial"/>
              </a:rPr>
              <a:t>thừa</a:t>
            </a:r>
            <a:endParaRPr sz="2200">
              <a:latin typeface="Arial"/>
              <a:cs typeface="Arial"/>
            </a:endParaRPr>
          </a:p>
        </p:txBody>
      </p:sp>
      <p:sp>
        <p:nvSpPr>
          <p:cNvPr id="20" name="object 2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4" name="Title 23">
            <a:extLst>
              <a:ext uri="{FF2B5EF4-FFF2-40B4-BE49-F238E27FC236}">
                <a16:creationId xmlns:a16="http://schemas.microsoft.com/office/drawing/2014/main" id="{2704D3BA-20F7-4618-99BC-63F6D7916869}"/>
              </a:ext>
            </a:extLst>
          </p:cNvPr>
          <p:cNvSpPr>
            <a:spLocks noGrp="1"/>
          </p:cNvSpPr>
          <p:nvPr>
            <p:ph type="title"/>
          </p:nvPr>
        </p:nvSpPr>
        <p:spPr/>
        <p:txBody>
          <a:bodyPr/>
          <a:lstStyle/>
          <a:p>
            <a:r>
              <a:rPr lang="vi-VN" b="0">
                <a:latin typeface="Verdana"/>
                <a:cs typeface="Verdana"/>
              </a:rPr>
              <a:t>Sự </a:t>
            </a:r>
            <a:r>
              <a:rPr lang="vi-VN" b="0" spc="-5">
                <a:latin typeface="Verdana"/>
                <a:cs typeface="Verdana"/>
              </a:rPr>
              <a:t>dư</a:t>
            </a:r>
            <a:r>
              <a:rPr lang="vi-VN" b="0" spc="-85">
                <a:latin typeface="Verdana"/>
                <a:cs typeface="Verdana"/>
              </a:rPr>
              <a:t> </a:t>
            </a:r>
            <a:r>
              <a:rPr lang="vi-VN" b="0" spc="-5">
                <a:latin typeface="Verdana"/>
                <a:cs typeface="Verdana"/>
              </a:rPr>
              <a:t>thừa</a:t>
            </a:r>
            <a:endParaRPr lang="en-US" b="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 name="object 7"/>
          <p:cNvGrpSpPr/>
          <p:nvPr/>
        </p:nvGrpSpPr>
        <p:grpSpPr>
          <a:xfrm>
            <a:off x="457200" y="2415539"/>
            <a:ext cx="9144000" cy="979169"/>
            <a:chOff x="457200" y="2415539"/>
            <a:chExt cx="9144000" cy="979169"/>
          </a:xfrm>
        </p:grpSpPr>
        <p:sp>
          <p:nvSpPr>
            <p:cNvPr id="8" name="object 8"/>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9" name="object 9"/>
            <p:cNvSpPr/>
            <p:nvPr/>
          </p:nvSpPr>
          <p:spPr>
            <a:xfrm>
              <a:off x="7162800" y="2593085"/>
              <a:ext cx="1150620" cy="802005"/>
            </a:xfrm>
            <a:custGeom>
              <a:avLst/>
              <a:gdLst/>
              <a:ahLst/>
              <a:cxnLst/>
              <a:rect l="l" t="t" r="r" b="b"/>
              <a:pathLst>
                <a:path w="1150620" h="802004">
                  <a:moveTo>
                    <a:pt x="381000" y="218694"/>
                  </a:moveTo>
                  <a:lnTo>
                    <a:pt x="237324" y="218694"/>
                  </a:lnTo>
                  <a:lnTo>
                    <a:pt x="237693" y="126492"/>
                  </a:lnTo>
                  <a:lnTo>
                    <a:pt x="268224" y="126492"/>
                  </a:lnTo>
                  <a:lnTo>
                    <a:pt x="230886" y="0"/>
                  </a:lnTo>
                  <a:lnTo>
                    <a:pt x="192024" y="126492"/>
                  </a:lnTo>
                  <a:lnTo>
                    <a:pt x="221691" y="126492"/>
                  </a:lnTo>
                  <a:lnTo>
                    <a:pt x="221322" y="218694"/>
                  </a:lnTo>
                  <a:lnTo>
                    <a:pt x="0" y="218694"/>
                  </a:lnTo>
                  <a:lnTo>
                    <a:pt x="0" y="234696"/>
                  </a:lnTo>
                  <a:lnTo>
                    <a:pt x="221259" y="234696"/>
                  </a:lnTo>
                  <a:lnTo>
                    <a:pt x="219456" y="696468"/>
                  </a:lnTo>
                  <a:lnTo>
                    <a:pt x="235458" y="696468"/>
                  </a:lnTo>
                  <a:lnTo>
                    <a:pt x="237261" y="234696"/>
                  </a:lnTo>
                  <a:lnTo>
                    <a:pt x="381000" y="234696"/>
                  </a:lnTo>
                  <a:lnTo>
                    <a:pt x="381000" y="218694"/>
                  </a:lnTo>
                  <a:close/>
                </a:path>
                <a:path w="1150620" h="802004">
                  <a:moveTo>
                    <a:pt x="1150073" y="801624"/>
                  </a:moveTo>
                  <a:lnTo>
                    <a:pt x="1147864" y="762939"/>
                  </a:lnTo>
                  <a:lnTo>
                    <a:pt x="1143863" y="723468"/>
                  </a:lnTo>
                  <a:lnTo>
                    <a:pt x="1138097" y="684174"/>
                  </a:lnTo>
                  <a:lnTo>
                    <a:pt x="1130579" y="645160"/>
                  </a:lnTo>
                  <a:lnTo>
                    <a:pt x="1121283" y="606475"/>
                  </a:lnTo>
                  <a:lnTo>
                    <a:pt x="1110221" y="568198"/>
                  </a:lnTo>
                  <a:lnTo>
                    <a:pt x="1097381" y="530415"/>
                  </a:lnTo>
                  <a:lnTo>
                    <a:pt x="1082763" y="493179"/>
                  </a:lnTo>
                  <a:lnTo>
                    <a:pt x="1066342" y="456577"/>
                  </a:lnTo>
                  <a:lnTo>
                    <a:pt x="1048131" y="420687"/>
                  </a:lnTo>
                  <a:lnTo>
                    <a:pt x="1028115" y="385572"/>
                  </a:lnTo>
                  <a:lnTo>
                    <a:pt x="1006297" y="351307"/>
                  </a:lnTo>
                  <a:lnTo>
                    <a:pt x="982662" y="317969"/>
                  </a:lnTo>
                  <a:lnTo>
                    <a:pt x="957199" y="285623"/>
                  </a:lnTo>
                  <a:lnTo>
                    <a:pt x="929919" y="254355"/>
                  </a:lnTo>
                  <a:lnTo>
                    <a:pt x="900798" y="224231"/>
                  </a:lnTo>
                  <a:lnTo>
                    <a:pt x="869848" y="195326"/>
                  </a:lnTo>
                  <a:lnTo>
                    <a:pt x="837057" y="167716"/>
                  </a:lnTo>
                  <a:lnTo>
                    <a:pt x="802411" y="141465"/>
                  </a:lnTo>
                  <a:lnTo>
                    <a:pt x="765911" y="116649"/>
                  </a:lnTo>
                  <a:lnTo>
                    <a:pt x="727544" y="93345"/>
                  </a:lnTo>
                  <a:lnTo>
                    <a:pt x="698284" y="77558"/>
                  </a:lnTo>
                  <a:lnTo>
                    <a:pt x="710184" y="48768"/>
                  </a:lnTo>
                  <a:lnTo>
                    <a:pt x="578358" y="35052"/>
                  </a:lnTo>
                  <a:lnTo>
                    <a:pt x="680466" y="118262"/>
                  </a:lnTo>
                  <a:lnTo>
                    <a:pt x="681228" y="118872"/>
                  </a:lnTo>
                  <a:lnTo>
                    <a:pt x="692150" y="92417"/>
                  </a:lnTo>
                  <a:lnTo>
                    <a:pt x="720725" y="107823"/>
                  </a:lnTo>
                  <a:lnTo>
                    <a:pt x="759079" y="131152"/>
                  </a:lnTo>
                  <a:lnTo>
                    <a:pt x="795540" y="156044"/>
                  </a:lnTo>
                  <a:lnTo>
                    <a:pt x="830097" y="182410"/>
                  </a:lnTo>
                  <a:lnTo>
                    <a:pt x="862761" y="210172"/>
                  </a:lnTo>
                  <a:lnTo>
                    <a:pt x="893533" y="239255"/>
                  </a:lnTo>
                  <a:lnTo>
                    <a:pt x="922439" y="269582"/>
                  </a:lnTo>
                  <a:lnTo>
                    <a:pt x="949464" y="301066"/>
                  </a:lnTo>
                  <a:lnTo>
                    <a:pt x="974623" y="333641"/>
                  </a:lnTo>
                  <a:lnTo>
                    <a:pt x="997927" y="367245"/>
                  </a:lnTo>
                  <a:lnTo>
                    <a:pt x="1019378" y="401764"/>
                  </a:lnTo>
                  <a:lnTo>
                    <a:pt x="1038974" y="437159"/>
                  </a:lnTo>
                  <a:lnTo>
                    <a:pt x="1056728" y="473316"/>
                  </a:lnTo>
                  <a:lnTo>
                    <a:pt x="1072654" y="510197"/>
                  </a:lnTo>
                  <a:lnTo>
                    <a:pt x="1086739" y="547687"/>
                  </a:lnTo>
                  <a:lnTo>
                    <a:pt x="1099007" y="585736"/>
                  </a:lnTo>
                  <a:lnTo>
                    <a:pt x="1109459" y="624255"/>
                  </a:lnTo>
                  <a:lnTo>
                    <a:pt x="1118108" y="663181"/>
                  </a:lnTo>
                  <a:lnTo>
                    <a:pt x="1124940" y="702411"/>
                  </a:lnTo>
                  <a:lnTo>
                    <a:pt x="1129982" y="741895"/>
                  </a:lnTo>
                  <a:lnTo>
                    <a:pt x="1133221" y="781545"/>
                  </a:lnTo>
                  <a:lnTo>
                    <a:pt x="1133957" y="801624"/>
                  </a:lnTo>
                  <a:lnTo>
                    <a:pt x="1150073" y="801624"/>
                  </a:lnTo>
                  <a:close/>
                </a:path>
              </a:pathLst>
            </a:custGeom>
            <a:solidFill>
              <a:srgbClr val="000000"/>
            </a:solidFill>
          </p:spPr>
          <p:txBody>
            <a:bodyPr wrap="square" lIns="0" tIns="0" rIns="0" bIns="0" rtlCol="0"/>
            <a:lstStyle/>
            <a:p>
              <a:endParaRPr/>
            </a:p>
          </p:txBody>
        </p:sp>
      </p:grpSp>
      <p:sp>
        <p:nvSpPr>
          <p:cNvPr id="22" name="object 22"/>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23" name="object 23"/>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63</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6555740" y="2236723"/>
            <a:ext cx="2158365"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Aquatic creature</a:t>
            </a:r>
            <a:r>
              <a:rPr sz="1800" b="1" spc="-85" dirty="0">
                <a:latin typeface="Arial"/>
                <a:cs typeface="Arial"/>
              </a:rPr>
              <a:t> </a:t>
            </a:r>
            <a:r>
              <a:rPr sz="1800" dirty="0">
                <a:latin typeface="Arial"/>
                <a:cs typeface="Arial"/>
              </a:rPr>
              <a:t>(x)</a:t>
            </a:r>
            <a:endParaRPr sz="1800">
              <a:latin typeface="Arial"/>
              <a:cs typeface="Arial"/>
            </a:endParaRPr>
          </a:p>
        </p:txBody>
      </p:sp>
      <p:sp>
        <p:nvSpPr>
          <p:cNvPr id="10" name="object 10"/>
          <p:cNvSpPr txBox="1"/>
          <p:nvPr/>
        </p:nvSpPr>
        <p:spPr>
          <a:xfrm>
            <a:off x="8308340" y="2846323"/>
            <a:ext cx="460375" cy="299720"/>
          </a:xfrm>
          <a:prstGeom prst="rect">
            <a:avLst/>
          </a:prstGeom>
        </p:spPr>
        <p:txBody>
          <a:bodyPr vert="horz" wrap="square" lIns="0" tIns="12700" rIns="0" bIns="0" rtlCol="0">
            <a:spAutoFit/>
          </a:bodyPr>
          <a:lstStyle/>
          <a:p>
            <a:pPr marL="12700">
              <a:lnSpc>
                <a:spcPct val="100000"/>
              </a:lnSpc>
              <a:spcBef>
                <a:spcPts val="100"/>
              </a:spcBef>
            </a:pPr>
            <a:r>
              <a:rPr sz="1800" i="1" dirty="0">
                <a:latin typeface="Arial"/>
                <a:cs typeface="Arial"/>
              </a:rPr>
              <a:t>y •</a:t>
            </a:r>
            <a:r>
              <a:rPr sz="1800" i="1" spc="-105" dirty="0">
                <a:latin typeface="Arial"/>
                <a:cs typeface="Arial"/>
              </a:rPr>
              <a:t> </a:t>
            </a:r>
            <a:r>
              <a:rPr sz="1800" i="1" dirty="0">
                <a:latin typeface="Arial"/>
                <a:cs typeface="Arial"/>
              </a:rPr>
              <a:t>x</a:t>
            </a:r>
            <a:endParaRPr sz="1800">
              <a:latin typeface="Arial"/>
              <a:cs typeface="Arial"/>
            </a:endParaRPr>
          </a:p>
        </p:txBody>
      </p:sp>
      <p:sp>
        <p:nvSpPr>
          <p:cNvPr id="11" name="object 11"/>
          <p:cNvSpPr txBox="1"/>
          <p:nvPr/>
        </p:nvSpPr>
        <p:spPr>
          <a:xfrm>
            <a:off x="993139" y="1777238"/>
            <a:ext cx="4859655" cy="1855470"/>
          </a:xfrm>
          <a:prstGeom prst="rect">
            <a:avLst/>
          </a:prstGeom>
        </p:spPr>
        <p:txBody>
          <a:bodyPr vert="horz" wrap="square" lIns="0" tIns="12700" rIns="0" bIns="0" rtlCol="0">
            <a:spAutoFit/>
          </a:bodyPr>
          <a:lstStyle/>
          <a:p>
            <a:pPr marL="355600" indent="-342900">
              <a:lnSpc>
                <a:spcPct val="100000"/>
              </a:lnSpc>
              <a:spcBef>
                <a:spcPts val="100"/>
              </a:spcBef>
              <a:buClr>
                <a:srgbClr val="CC9A00"/>
              </a:buClr>
              <a:buSzPct val="64583"/>
              <a:buFont typeface="Wingdings"/>
              <a:buChar char=""/>
              <a:tabLst>
                <a:tab pos="354965" algn="l"/>
                <a:tab pos="355600" algn="l"/>
                <a:tab pos="1538605" algn="l"/>
                <a:tab pos="1859280" algn="l"/>
                <a:tab pos="3721735" algn="l"/>
              </a:tabLst>
            </a:pPr>
            <a:r>
              <a:rPr sz="2400" spc="-5" dirty="0">
                <a:latin typeface="Arial"/>
                <a:cs typeface="Arial"/>
              </a:rPr>
              <a:t>Một</a:t>
            </a:r>
            <a:r>
              <a:rPr sz="2400" dirty="0">
                <a:latin typeface="Arial"/>
                <a:cs typeface="Arial"/>
              </a:rPr>
              <a:t> </a:t>
            </a:r>
            <a:r>
              <a:rPr sz="2400" spc="-5" dirty="0">
                <a:latin typeface="Arial"/>
                <a:cs typeface="Arial"/>
              </a:rPr>
              <a:t>nút	</a:t>
            </a:r>
            <a:r>
              <a:rPr sz="2400" i="1" dirty="0">
                <a:latin typeface="Arial"/>
                <a:cs typeface="Arial"/>
              </a:rPr>
              <a:t>y	</a:t>
            </a:r>
            <a:r>
              <a:rPr sz="2400" spc="-5" dirty="0">
                <a:latin typeface="Arial"/>
                <a:cs typeface="Arial"/>
              </a:rPr>
              <a:t>trong</a:t>
            </a:r>
            <a:r>
              <a:rPr sz="2400" spc="15" dirty="0">
                <a:latin typeface="Arial"/>
                <a:cs typeface="Arial"/>
              </a:rPr>
              <a:t> </a:t>
            </a:r>
            <a:r>
              <a:rPr sz="2400" spc="-5" dirty="0">
                <a:latin typeface="Arial"/>
                <a:cs typeface="Arial"/>
              </a:rPr>
              <a:t>hướng	</a:t>
            </a:r>
            <a:r>
              <a:rPr sz="2400" i="1" dirty="0">
                <a:latin typeface="Arial"/>
                <a:cs typeface="Arial"/>
              </a:rPr>
              <a:t>a • ... •</a:t>
            </a:r>
            <a:r>
              <a:rPr sz="2400" i="1" spc="-135" dirty="0">
                <a:latin typeface="Arial"/>
                <a:cs typeface="Arial"/>
              </a:rPr>
              <a:t> </a:t>
            </a:r>
            <a:r>
              <a:rPr sz="2400" i="1" dirty="0">
                <a:latin typeface="Arial"/>
                <a:cs typeface="Arial"/>
              </a:rPr>
              <a:t>y</a:t>
            </a:r>
            <a:endParaRPr sz="2400">
              <a:latin typeface="Arial"/>
              <a:cs typeface="Arial"/>
            </a:endParaRPr>
          </a:p>
          <a:p>
            <a:pPr marL="355600" marR="283210" lvl="1">
              <a:lnSpc>
                <a:spcPct val="100000"/>
              </a:lnSpc>
              <a:buChar char="•"/>
              <a:tabLst>
                <a:tab pos="545465" algn="l"/>
                <a:tab pos="1393190" algn="l"/>
                <a:tab pos="2216785" algn="l"/>
                <a:tab pos="4060190" algn="l"/>
              </a:tabLst>
            </a:pPr>
            <a:r>
              <a:rPr sz="2400" i="1" spc="-5" dirty="0">
                <a:latin typeface="Arial"/>
                <a:cs typeface="Arial"/>
              </a:rPr>
              <a:t>...</a:t>
            </a:r>
            <a:r>
              <a:rPr sz="2400" i="1" spc="-15" dirty="0">
                <a:latin typeface="Arial"/>
                <a:cs typeface="Arial"/>
              </a:rPr>
              <a:t> </a:t>
            </a:r>
            <a:r>
              <a:rPr sz="2400" i="1" dirty="0">
                <a:latin typeface="Arial"/>
                <a:cs typeface="Arial"/>
              </a:rPr>
              <a:t>•</a:t>
            </a:r>
            <a:r>
              <a:rPr sz="2400" i="1" spc="-10" dirty="0">
                <a:latin typeface="Arial"/>
                <a:cs typeface="Arial"/>
              </a:rPr>
              <a:t> </a:t>
            </a:r>
            <a:r>
              <a:rPr sz="2400" i="1" dirty="0">
                <a:latin typeface="Arial"/>
                <a:cs typeface="Arial"/>
              </a:rPr>
              <a:t>v	</a:t>
            </a:r>
            <a:r>
              <a:rPr sz="2400" spc="-5" dirty="0">
                <a:latin typeface="Arial"/>
                <a:cs typeface="Arial"/>
              </a:rPr>
              <a:t>được gọi </a:t>
            </a:r>
            <a:r>
              <a:rPr sz="2400" dirty="0">
                <a:latin typeface="Arial"/>
                <a:cs typeface="Arial"/>
              </a:rPr>
              <a:t>là </a:t>
            </a:r>
            <a:r>
              <a:rPr sz="2400" b="1" spc="-5" dirty="0">
                <a:latin typeface="Arial"/>
                <a:cs typeface="Arial"/>
              </a:rPr>
              <a:t>nút ngăn  chặn </a:t>
            </a:r>
            <a:r>
              <a:rPr sz="2400" spc="-5" dirty="0">
                <a:latin typeface="Arial"/>
                <a:cs typeface="Arial"/>
              </a:rPr>
              <a:t>(</a:t>
            </a:r>
            <a:r>
              <a:rPr sz="2400" b="1" spc="-5" dirty="0">
                <a:latin typeface="Arial"/>
                <a:cs typeface="Arial"/>
              </a:rPr>
              <a:t>pre-emptor) </a:t>
            </a:r>
            <a:r>
              <a:rPr sz="2400" b="1" spc="-10" dirty="0">
                <a:latin typeface="Arial"/>
                <a:cs typeface="Arial"/>
              </a:rPr>
              <a:t>của </a:t>
            </a:r>
            <a:r>
              <a:rPr sz="2400" b="1" spc="-5" dirty="0">
                <a:latin typeface="Arial"/>
                <a:cs typeface="Arial"/>
              </a:rPr>
              <a:t>cạnh  d</a:t>
            </a:r>
            <a:r>
              <a:rPr sz="2400" b="1" dirty="0">
                <a:latin typeface="Arial"/>
                <a:cs typeface="Arial"/>
              </a:rPr>
              <a:t>ư</a:t>
            </a:r>
            <a:r>
              <a:rPr sz="2400" b="1" spc="-5" dirty="0">
                <a:latin typeface="Arial"/>
                <a:cs typeface="Arial"/>
              </a:rPr>
              <a:t>ơn</a:t>
            </a:r>
            <a:r>
              <a:rPr sz="2400" b="1" dirty="0">
                <a:latin typeface="Arial"/>
                <a:cs typeface="Arial"/>
              </a:rPr>
              <a:t>g</a:t>
            </a:r>
            <a:r>
              <a:rPr sz="2400" b="1" spc="-10" dirty="0">
                <a:latin typeface="Arial"/>
                <a:cs typeface="Arial"/>
              </a:rPr>
              <a:t> </a:t>
            </a:r>
            <a:r>
              <a:rPr sz="2400" b="1" i="1" dirty="0">
                <a:latin typeface="Arial"/>
                <a:cs typeface="Arial"/>
              </a:rPr>
              <a:t>v</a:t>
            </a:r>
            <a:r>
              <a:rPr sz="2400" b="1" i="1" spc="-10" dirty="0">
                <a:latin typeface="Arial"/>
                <a:cs typeface="Arial"/>
              </a:rPr>
              <a:t> </a:t>
            </a:r>
            <a:r>
              <a:rPr sz="2400" b="1" i="1" dirty="0">
                <a:latin typeface="Arial"/>
                <a:cs typeface="Arial"/>
              </a:rPr>
              <a:t>•</a:t>
            </a:r>
            <a:r>
              <a:rPr sz="2400" b="1" i="1" spc="-10" dirty="0">
                <a:latin typeface="Arial"/>
                <a:cs typeface="Arial"/>
              </a:rPr>
              <a:t> </a:t>
            </a:r>
            <a:r>
              <a:rPr sz="2400" b="1" i="1" dirty="0">
                <a:latin typeface="Arial"/>
                <a:cs typeface="Arial"/>
              </a:rPr>
              <a:t>x	</a:t>
            </a:r>
            <a:r>
              <a:rPr sz="2400" spc="-5" dirty="0">
                <a:latin typeface="Arial"/>
                <a:cs typeface="Arial"/>
              </a:rPr>
              <a:t>đố</a:t>
            </a:r>
            <a:r>
              <a:rPr sz="2400" dirty="0">
                <a:latin typeface="Arial"/>
                <a:cs typeface="Arial"/>
              </a:rPr>
              <a:t>i</a:t>
            </a:r>
            <a:r>
              <a:rPr sz="2400" spc="10" dirty="0">
                <a:latin typeface="Arial"/>
                <a:cs typeface="Arial"/>
              </a:rPr>
              <a:t> </a:t>
            </a:r>
            <a:r>
              <a:rPr sz="2400" dirty="0">
                <a:latin typeface="Arial"/>
                <a:cs typeface="Arial"/>
              </a:rPr>
              <a:t>v</a:t>
            </a:r>
            <a:r>
              <a:rPr sz="2400" spc="-5" dirty="0">
                <a:latin typeface="Arial"/>
                <a:cs typeface="Arial"/>
              </a:rPr>
              <a:t>ớ</a:t>
            </a:r>
            <a:r>
              <a:rPr sz="2400" dirty="0">
                <a:latin typeface="Arial"/>
                <a:cs typeface="Arial"/>
              </a:rPr>
              <a:t>i</a:t>
            </a:r>
            <a:r>
              <a:rPr sz="2400" spc="-5" dirty="0">
                <a:latin typeface="Arial"/>
                <a:cs typeface="Arial"/>
              </a:rPr>
              <a:t> nú</a:t>
            </a:r>
            <a:r>
              <a:rPr sz="2400" dirty="0">
                <a:latin typeface="Arial"/>
                <a:cs typeface="Arial"/>
              </a:rPr>
              <a:t>t </a:t>
            </a:r>
            <a:r>
              <a:rPr sz="2400" i="1" dirty="0">
                <a:latin typeface="Arial"/>
                <a:cs typeface="Arial"/>
              </a:rPr>
              <a:t>a	</a:t>
            </a:r>
            <a:r>
              <a:rPr sz="2400" spc="-5" dirty="0">
                <a:latin typeface="Arial"/>
                <a:cs typeface="Arial"/>
              </a:rPr>
              <a:t>nế</a:t>
            </a:r>
            <a:r>
              <a:rPr sz="2400" dirty="0">
                <a:latin typeface="Arial"/>
                <a:cs typeface="Arial"/>
              </a:rPr>
              <a:t>u  </a:t>
            </a:r>
            <a:r>
              <a:rPr sz="2400" spc="-5" dirty="0">
                <a:latin typeface="Arial"/>
                <a:cs typeface="Arial"/>
              </a:rPr>
              <a:t>(</a:t>
            </a:r>
            <a:r>
              <a:rPr sz="2400" i="1" spc="-5" dirty="0">
                <a:latin typeface="Arial"/>
                <a:cs typeface="Arial"/>
              </a:rPr>
              <a:t>y </a:t>
            </a:r>
            <a:r>
              <a:rPr sz="2400" i="1" dirty="0">
                <a:latin typeface="Arial"/>
                <a:cs typeface="Arial"/>
              </a:rPr>
              <a:t>• </a:t>
            </a:r>
            <a:r>
              <a:rPr sz="2400" b="1" dirty="0">
                <a:latin typeface="Symbol"/>
                <a:cs typeface="Symbol"/>
              </a:rPr>
              <a:t></a:t>
            </a:r>
            <a:r>
              <a:rPr sz="2400" i="1" dirty="0">
                <a:latin typeface="Arial"/>
                <a:cs typeface="Arial"/>
              </a:rPr>
              <a:t>x</a:t>
            </a:r>
            <a:r>
              <a:rPr sz="2400" dirty="0">
                <a:latin typeface="Arial"/>
                <a:cs typeface="Arial"/>
              </a:rPr>
              <a:t>) </a:t>
            </a:r>
            <a:r>
              <a:rPr sz="2400" dirty="0">
                <a:latin typeface="Jara"/>
                <a:cs typeface="Jara"/>
              </a:rPr>
              <a:t>C</a:t>
            </a:r>
            <a:r>
              <a:rPr sz="2400" spc="25" dirty="0">
                <a:latin typeface="Jara"/>
                <a:cs typeface="Jara"/>
              </a:rPr>
              <a:t> </a:t>
            </a:r>
            <a:r>
              <a:rPr sz="2400" dirty="0">
                <a:latin typeface="Arial"/>
                <a:cs typeface="Arial"/>
              </a:rPr>
              <a:t>E</a:t>
            </a:r>
            <a:endParaRPr sz="2400">
              <a:latin typeface="Arial"/>
              <a:cs typeface="Arial"/>
            </a:endParaRPr>
          </a:p>
        </p:txBody>
      </p:sp>
      <p:sp>
        <p:nvSpPr>
          <p:cNvPr id="12" name="object 12"/>
          <p:cNvSpPr txBox="1"/>
          <p:nvPr/>
        </p:nvSpPr>
        <p:spPr>
          <a:xfrm>
            <a:off x="6936740" y="3315715"/>
            <a:ext cx="1269365"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Arial"/>
                <a:cs typeface="Arial"/>
              </a:rPr>
              <a:t>Mammal</a:t>
            </a:r>
            <a:r>
              <a:rPr sz="1800" b="1" spc="-105" dirty="0">
                <a:latin typeface="Arial"/>
                <a:cs typeface="Arial"/>
              </a:rPr>
              <a:t> </a:t>
            </a:r>
            <a:r>
              <a:rPr sz="1800" dirty="0">
                <a:latin typeface="Arial"/>
                <a:cs typeface="Arial"/>
              </a:rPr>
              <a:t>(v)</a:t>
            </a:r>
            <a:endParaRPr sz="1800">
              <a:latin typeface="Arial"/>
              <a:cs typeface="Arial"/>
            </a:endParaRPr>
          </a:p>
        </p:txBody>
      </p:sp>
      <p:sp>
        <p:nvSpPr>
          <p:cNvPr id="13" name="object 13"/>
          <p:cNvSpPr/>
          <p:nvPr/>
        </p:nvSpPr>
        <p:spPr>
          <a:xfrm>
            <a:off x="7728966" y="3394709"/>
            <a:ext cx="584835" cy="847090"/>
          </a:xfrm>
          <a:custGeom>
            <a:avLst/>
            <a:gdLst/>
            <a:ahLst/>
            <a:cxnLst/>
            <a:rect l="l" t="t" r="r" b="b"/>
            <a:pathLst>
              <a:path w="584834" h="847089">
                <a:moveTo>
                  <a:pt x="584480" y="40551"/>
                </a:moveTo>
                <a:lnTo>
                  <a:pt x="583914" y="0"/>
                </a:lnTo>
                <a:lnTo>
                  <a:pt x="567803" y="0"/>
                </a:lnTo>
                <a:lnTo>
                  <a:pt x="568525" y="19642"/>
                </a:lnTo>
                <a:lnTo>
                  <a:pt x="568206" y="59386"/>
                </a:lnTo>
                <a:lnTo>
                  <a:pt x="566113" y="99064"/>
                </a:lnTo>
                <a:lnTo>
                  <a:pt x="562253" y="138599"/>
                </a:lnTo>
                <a:lnTo>
                  <a:pt x="556633" y="177915"/>
                </a:lnTo>
                <a:lnTo>
                  <a:pt x="549257" y="216933"/>
                </a:lnTo>
                <a:lnTo>
                  <a:pt x="540133" y="255577"/>
                </a:lnTo>
                <a:lnTo>
                  <a:pt x="529266" y="293771"/>
                </a:lnTo>
                <a:lnTo>
                  <a:pt x="516663" y="331436"/>
                </a:lnTo>
                <a:lnTo>
                  <a:pt x="502331" y="368497"/>
                </a:lnTo>
                <a:lnTo>
                  <a:pt x="486274" y="404875"/>
                </a:lnTo>
                <a:lnTo>
                  <a:pt x="468500" y="440495"/>
                </a:lnTo>
                <a:lnTo>
                  <a:pt x="449014" y="475279"/>
                </a:lnTo>
                <a:lnTo>
                  <a:pt x="427824" y="509149"/>
                </a:lnTo>
                <a:lnTo>
                  <a:pt x="404934" y="542030"/>
                </a:lnTo>
                <a:lnTo>
                  <a:pt x="380352" y="573843"/>
                </a:lnTo>
                <a:lnTo>
                  <a:pt x="354083" y="604513"/>
                </a:lnTo>
                <a:lnTo>
                  <a:pt x="326133" y="633961"/>
                </a:lnTo>
                <a:lnTo>
                  <a:pt x="296510" y="662111"/>
                </a:lnTo>
                <a:lnTo>
                  <a:pt x="265219" y="688887"/>
                </a:lnTo>
                <a:lnTo>
                  <a:pt x="232266" y="714210"/>
                </a:lnTo>
                <a:lnTo>
                  <a:pt x="197657" y="738004"/>
                </a:lnTo>
                <a:lnTo>
                  <a:pt x="161400" y="760192"/>
                </a:lnTo>
                <a:lnTo>
                  <a:pt x="123499" y="780696"/>
                </a:lnTo>
                <a:lnTo>
                  <a:pt x="83961" y="799441"/>
                </a:lnTo>
                <a:lnTo>
                  <a:pt x="42792" y="816348"/>
                </a:lnTo>
                <a:lnTo>
                  <a:pt x="0" y="831342"/>
                </a:lnTo>
                <a:lnTo>
                  <a:pt x="5333" y="846582"/>
                </a:lnTo>
                <a:lnTo>
                  <a:pt x="48070" y="831526"/>
                </a:lnTo>
                <a:lnTo>
                  <a:pt x="89216" y="814609"/>
                </a:lnTo>
                <a:lnTo>
                  <a:pt x="128767" y="795902"/>
                </a:lnTo>
                <a:lnTo>
                  <a:pt x="166716" y="775480"/>
                </a:lnTo>
                <a:lnTo>
                  <a:pt x="203058" y="753415"/>
                </a:lnTo>
                <a:lnTo>
                  <a:pt x="237787" y="729781"/>
                </a:lnTo>
                <a:lnTo>
                  <a:pt x="270896" y="704651"/>
                </a:lnTo>
                <a:lnTo>
                  <a:pt x="302381" y="678099"/>
                </a:lnTo>
                <a:lnTo>
                  <a:pt x="332235" y="650198"/>
                </a:lnTo>
                <a:lnTo>
                  <a:pt x="360451" y="621021"/>
                </a:lnTo>
                <a:lnTo>
                  <a:pt x="387025" y="590642"/>
                </a:lnTo>
                <a:lnTo>
                  <a:pt x="411950" y="559133"/>
                </a:lnTo>
                <a:lnTo>
                  <a:pt x="435221" y="526570"/>
                </a:lnTo>
                <a:lnTo>
                  <a:pt x="456831" y="493023"/>
                </a:lnTo>
                <a:lnTo>
                  <a:pt x="476774" y="458568"/>
                </a:lnTo>
                <a:lnTo>
                  <a:pt x="495046" y="423278"/>
                </a:lnTo>
                <a:lnTo>
                  <a:pt x="511639" y="387225"/>
                </a:lnTo>
                <a:lnTo>
                  <a:pt x="526547" y="350483"/>
                </a:lnTo>
                <a:lnTo>
                  <a:pt x="539766" y="313126"/>
                </a:lnTo>
                <a:lnTo>
                  <a:pt x="551289" y="275226"/>
                </a:lnTo>
                <a:lnTo>
                  <a:pt x="561110" y="236858"/>
                </a:lnTo>
                <a:lnTo>
                  <a:pt x="569223" y="198094"/>
                </a:lnTo>
                <a:lnTo>
                  <a:pt x="575623" y="159008"/>
                </a:lnTo>
                <a:lnTo>
                  <a:pt x="580303" y="119674"/>
                </a:lnTo>
                <a:lnTo>
                  <a:pt x="583257" y="80163"/>
                </a:lnTo>
                <a:lnTo>
                  <a:pt x="584480" y="40551"/>
                </a:lnTo>
                <a:close/>
              </a:path>
            </a:pathLst>
          </a:custGeom>
          <a:solidFill>
            <a:srgbClr val="000000"/>
          </a:solidFill>
        </p:spPr>
        <p:txBody>
          <a:bodyPr wrap="square" lIns="0" tIns="0" rIns="0" bIns="0" rtlCol="0"/>
          <a:lstStyle/>
          <a:p>
            <a:endParaRPr/>
          </a:p>
        </p:txBody>
      </p:sp>
      <p:sp>
        <p:nvSpPr>
          <p:cNvPr id="14" name="object 14"/>
          <p:cNvSpPr/>
          <p:nvPr/>
        </p:nvSpPr>
        <p:spPr>
          <a:xfrm>
            <a:off x="7354824" y="3669029"/>
            <a:ext cx="76200" cy="750570"/>
          </a:xfrm>
          <a:custGeom>
            <a:avLst/>
            <a:gdLst/>
            <a:ahLst/>
            <a:cxnLst/>
            <a:rect l="l" t="t" r="r" b="b"/>
            <a:pathLst>
              <a:path w="76200" h="750570">
                <a:moveTo>
                  <a:pt x="76200" y="127254"/>
                </a:moveTo>
                <a:lnTo>
                  <a:pt x="38862" y="0"/>
                </a:lnTo>
                <a:lnTo>
                  <a:pt x="0" y="127254"/>
                </a:lnTo>
                <a:lnTo>
                  <a:pt x="30441" y="127254"/>
                </a:lnTo>
                <a:lnTo>
                  <a:pt x="29057" y="704850"/>
                </a:lnTo>
                <a:lnTo>
                  <a:pt x="28956" y="750570"/>
                </a:lnTo>
                <a:lnTo>
                  <a:pt x="44958" y="750570"/>
                </a:lnTo>
                <a:lnTo>
                  <a:pt x="45059" y="704850"/>
                </a:lnTo>
                <a:lnTo>
                  <a:pt x="46443" y="127254"/>
                </a:lnTo>
                <a:lnTo>
                  <a:pt x="76200" y="127254"/>
                </a:lnTo>
                <a:close/>
              </a:path>
            </a:pathLst>
          </a:custGeom>
          <a:solidFill>
            <a:srgbClr val="000000"/>
          </a:solidFill>
        </p:spPr>
        <p:txBody>
          <a:bodyPr wrap="square" lIns="0" tIns="0" rIns="0" bIns="0" rtlCol="0"/>
          <a:lstStyle/>
          <a:p>
            <a:endParaRPr/>
          </a:p>
        </p:txBody>
      </p:sp>
      <p:sp>
        <p:nvSpPr>
          <p:cNvPr id="15" name="object 15"/>
          <p:cNvSpPr txBox="1"/>
          <p:nvPr/>
        </p:nvSpPr>
        <p:spPr>
          <a:xfrm>
            <a:off x="993139" y="3910838"/>
            <a:ext cx="4859655" cy="1489710"/>
          </a:xfrm>
          <a:prstGeom prst="rect">
            <a:avLst/>
          </a:prstGeom>
        </p:spPr>
        <p:txBody>
          <a:bodyPr vert="horz" wrap="square" lIns="0" tIns="12700" rIns="0" bIns="0" rtlCol="0">
            <a:spAutoFit/>
          </a:bodyPr>
          <a:lstStyle/>
          <a:p>
            <a:pPr marL="355600" indent="-342900" algn="just">
              <a:lnSpc>
                <a:spcPct val="100000"/>
              </a:lnSpc>
              <a:spcBef>
                <a:spcPts val="100"/>
              </a:spcBef>
              <a:buClr>
                <a:srgbClr val="CC9A00"/>
              </a:buClr>
              <a:buSzPct val="64583"/>
              <a:buFont typeface="Wingdings"/>
              <a:buChar char=""/>
              <a:tabLst>
                <a:tab pos="355600" algn="l"/>
              </a:tabLst>
            </a:pPr>
            <a:r>
              <a:rPr sz="2400" spc="-5" dirty="0">
                <a:latin typeface="Arial"/>
                <a:cs typeface="Arial"/>
              </a:rPr>
              <a:t>Một nút </a:t>
            </a:r>
            <a:r>
              <a:rPr sz="2400" i="1" dirty="0">
                <a:latin typeface="Arial"/>
                <a:cs typeface="Arial"/>
              </a:rPr>
              <a:t>y </a:t>
            </a:r>
            <a:r>
              <a:rPr sz="2400" spc="-5" dirty="0">
                <a:latin typeface="Arial"/>
                <a:cs typeface="Arial"/>
              </a:rPr>
              <a:t>trong hướng </a:t>
            </a:r>
            <a:r>
              <a:rPr sz="2400" i="1" dirty="0">
                <a:latin typeface="Arial"/>
                <a:cs typeface="Arial"/>
              </a:rPr>
              <a:t>a • ... •</a:t>
            </a:r>
            <a:r>
              <a:rPr sz="2400" i="1" spc="-95" dirty="0">
                <a:latin typeface="Arial"/>
                <a:cs typeface="Arial"/>
              </a:rPr>
              <a:t> </a:t>
            </a:r>
            <a:r>
              <a:rPr sz="2400" i="1" dirty="0">
                <a:latin typeface="Arial"/>
                <a:cs typeface="Arial"/>
              </a:rPr>
              <a:t>y</a:t>
            </a:r>
            <a:endParaRPr sz="2400">
              <a:latin typeface="Arial"/>
              <a:cs typeface="Arial"/>
            </a:endParaRPr>
          </a:p>
          <a:p>
            <a:pPr marL="355600" marR="484505" lvl="1" algn="just">
              <a:lnSpc>
                <a:spcPct val="100000"/>
              </a:lnSpc>
              <a:buChar char="•"/>
              <a:tabLst>
                <a:tab pos="545465" algn="l"/>
              </a:tabLst>
            </a:pPr>
            <a:r>
              <a:rPr sz="2400" i="1" dirty="0">
                <a:latin typeface="Arial"/>
                <a:cs typeface="Arial"/>
              </a:rPr>
              <a:t>... • v </a:t>
            </a:r>
            <a:r>
              <a:rPr sz="2400" spc="-5" dirty="0">
                <a:latin typeface="Arial"/>
                <a:cs typeface="Arial"/>
              </a:rPr>
              <a:t>được gọi là </a:t>
            </a:r>
            <a:r>
              <a:rPr sz="2400" b="1" spc="-5" dirty="0">
                <a:latin typeface="Arial"/>
                <a:cs typeface="Arial"/>
              </a:rPr>
              <a:t>nút ngăn  chặn (pre-emptor) của cạnh  âm </a:t>
            </a:r>
            <a:r>
              <a:rPr sz="2400" b="1" i="1" dirty="0">
                <a:latin typeface="Arial"/>
                <a:cs typeface="Arial"/>
              </a:rPr>
              <a:t>v • </a:t>
            </a:r>
            <a:r>
              <a:rPr sz="2400" spc="-5" dirty="0">
                <a:latin typeface="Symbol"/>
                <a:cs typeface="Symbol"/>
              </a:rPr>
              <a:t></a:t>
            </a:r>
            <a:r>
              <a:rPr sz="2400" b="1" i="1" spc="-5" dirty="0">
                <a:latin typeface="Arial"/>
                <a:cs typeface="Arial"/>
              </a:rPr>
              <a:t>x </a:t>
            </a:r>
            <a:r>
              <a:rPr sz="2400" spc="-5" dirty="0">
                <a:latin typeface="Arial"/>
                <a:cs typeface="Arial"/>
              </a:rPr>
              <a:t>đối với nút </a:t>
            </a:r>
            <a:r>
              <a:rPr sz="2400" i="1" dirty="0">
                <a:latin typeface="Arial"/>
                <a:cs typeface="Arial"/>
              </a:rPr>
              <a:t>a</a:t>
            </a:r>
            <a:r>
              <a:rPr sz="2400" i="1" spc="605" dirty="0">
                <a:latin typeface="Arial"/>
                <a:cs typeface="Arial"/>
              </a:rPr>
              <a:t> </a:t>
            </a:r>
            <a:r>
              <a:rPr sz="2400" spc="-5" dirty="0">
                <a:latin typeface="Arial"/>
                <a:cs typeface="Arial"/>
              </a:rPr>
              <a:t>nếu</a:t>
            </a:r>
            <a:endParaRPr sz="2400">
              <a:latin typeface="Arial"/>
              <a:cs typeface="Arial"/>
            </a:endParaRPr>
          </a:p>
        </p:txBody>
      </p:sp>
      <p:sp>
        <p:nvSpPr>
          <p:cNvPr id="16" name="object 16"/>
          <p:cNvSpPr txBox="1"/>
          <p:nvPr/>
        </p:nvSpPr>
        <p:spPr>
          <a:xfrm>
            <a:off x="7012940" y="4447285"/>
            <a:ext cx="10287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Whale</a:t>
            </a:r>
            <a:r>
              <a:rPr sz="1800" b="1" spc="-85" dirty="0">
                <a:latin typeface="Arial"/>
                <a:cs typeface="Arial"/>
              </a:rPr>
              <a:t> </a:t>
            </a:r>
            <a:r>
              <a:rPr sz="1800" dirty="0">
                <a:latin typeface="Arial"/>
                <a:cs typeface="Arial"/>
              </a:rPr>
              <a:t>(y)</a:t>
            </a:r>
            <a:endParaRPr sz="1800">
              <a:latin typeface="Arial"/>
              <a:cs typeface="Arial"/>
            </a:endParaRPr>
          </a:p>
        </p:txBody>
      </p:sp>
      <p:sp>
        <p:nvSpPr>
          <p:cNvPr id="17" name="object 17"/>
          <p:cNvSpPr/>
          <p:nvPr/>
        </p:nvSpPr>
        <p:spPr>
          <a:xfrm>
            <a:off x="7354823" y="4800600"/>
            <a:ext cx="76200" cy="458470"/>
          </a:xfrm>
          <a:custGeom>
            <a:avLst/>
            <a:gdLst/>
            <a:ahLst/>
            <a:cxnLst/>
            <a:rect l="l" t="t" r="r" b="b"/>
            <a:pathLst>
              <a:path w="76200" h="458470">
                <a:moveTo>
                  <a:pt x="76200" y="127253"/>
                </a:moveTo>
                <a:lnTo>
                  <a:pt x="38861" y="0"/>
                </a:lnTo>
                <a:lnTo>
                  <a:pt x="0" y="127253"/>
                </a:lnTo>
                <a:lnTo>
                  <a:pt x="30422" y="127253"/>
                </a:lnTo>
                <a:lnTo>
                  <a:pt x="30479" y="114300"/>
                </a:lnTo>
                <a:lnTo>
                  <a:pt x="45720" y="115062"/>
                </a:lnTo>
                <a:lnTo>
                  <a:pt x="45720" y="127253"/>
                </a:lnTo>
                <a:lnTo>
                  <a:pt x="76200" y="127253"/>
                </a:lnTo>
                <a:close/>
              </a:path>
              <a:path w="76200" h="458470">
                <a:moveTo>
                  <a:pt x="45692" y="127253"/>
                </a:moveTo>
                <a:lnTo>
                  <a:pt x="30422" y="127253"/>
                </a:lnTo>
                <a:lnTo>
                  <a:pt x="28955" y="457200"/>
                </a:lnTo>
                <a:lnTo>
                  <a:pt x="44957" y="457962"/>
                </a:lnTo>
                <a:lnTo>
                  <a:pt x="45692" y="127253"/>
                </a:lnTo>
                <a:close/>
              </a:path>
              <a:path w="76200" h="458470">
                <a:moveTo>
                  <a:pt x="45720" y="115062"/>
                </a:moveTo>
                <a:lnTo>
                  <a:pt x="30479" y="114300"/>
                </a:lnTo>
                <a:lnTo>
                  <a:pt x="30422" y="127253"/>
                </a:lnTo>
                <a:lnTo>
                  <a:pt x="45692" y="127253"/>
                </a:lnTo>
                <a:lnTo>
                  <a:pt x="45720" y="115062"/>
                </a:lnTo>
                <a:close/>
              </a:path>
              <a:path w="76200" h="458470">
                <a:moveTo>
                  <a:pt x="45720" y="127253"/>
                </a:moveTo>
                <a:lnTo>
                  <a:pt x="45720" y="115062"/>
                </a:lnTo>
                <a:lnTo>
                  <a:pt x="45692" y="127253"/>
                </a:lnTo>
                <a:close/>
              </a:path>
            </a:pathLst>
          </a:custGeom>
          <a:solidFill>
            <a:srgbClr val="000000"/>
          </a:solidFill>
        </p:spPr>
        <p:txBody>
          <a:bodyPr wrap="square" lIns="0" tIns="0" rIns="0" bIns="0" rtlCol="0"/>
          <a:lstStyle/>
          <a:p>
            <a:endParaRPr/>
          </a:p>
        </p:txBody>
      </p:sp>
      <p:sp>
        <p:nvSpPr>
          <p:cNvPr id="18" name="object 18"/>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19" name="object 19"/>
          <p:cNvSpPr txBox="1"/>
          <p:nvPr/>
        </p:nvSpPr>
        <p:spPr>
          <a:xfrm>
            <a:off x="1336039" y="5188984"/>
            <a:ext cx="2056764" cy="1035050"/>
          </a:xfrm>
          <a:prstGeom prst="rect">
            <a:avLst/>
          </a:prstGeom>
        </p:spPr>
        <p:txBody>
          <a:bodyPr vert="horz" wrap="square" lIns="0" tIns="197485" rIns="0" bIns="0" rtlCol="0">
            <a:spAutoFit/>
          </a:bodyPr>
          <a:lstStyle/>
          <a:p>
            <a:pPr marL="12700">
              <a:lnSpc>
                <a:spcPct val="100000"/>
              </a:lnSpc>
              <a:spcBef>
                <a:spcPts val="1555"/>
              </a:spcBef>
            </a:pPr>
            <a:r>
              <a:rPr sz="2400" spc="-5" dirty="0">
                <a:latin typeface="Arial"/>
                <a:cs typeface="Arial"/>
              </a:rPr>
              <a:t>(</a:t>
            </a:r>
            <a:r>
              <a:rPr sz="2400" i="1" spc="-5" dirty="0">
                <a:latin typeface="Arial"/>
                <a:cs typeface="Arial"/>
              </a:rPr>
              <a:t>y </a:t>
            </a:r>
            <a:r>
              <a:rPr sz="2400" i="1" dirty="0">
                <a:latin typeface="Arial"/>
                <a:cs typeface="Arial"/>
              </a:rPr>
              <a:t>• </a:t>
            </a:r>
            <a:r>
              <a:rPr sz="2400" i="1" spc="-5" dirty="0">
                <a:latin typeface="Arial"/>
                <a:cs typeface="Arial"/>
              </a:rPr>
              <a:t>x</a:t>
            </a:r>
            <a:r>
              <a:rPr sz="2400" spc="-5" dirty="0">
                <a:latin typeface="Arial"/>
                <a:cs typeface="Arial"/>
              </a:rPr>
              <a:t>) </a:t>
            </a:r>
            <a:r>
              <a:rPr sz="2400" dirty="0">
                <a:latin typeface="Jara"/>
                <a:cs typeface="Jara"/>
              </a:rPr>
              <a:t>C</a:t>
            </a:r>
            <a:r>
              <a:rPr sz="2400" spc="15" dirty="0">
                <a:latin typeface="Jara"/>
                <a:cs typeface="Jara"/>
              </a:rPr>
              <a:t> </a:t>
            </a:r>
            <a:r>
              <a:rPr sz="2400" dirty="0">
                <a:latin typeface="Arial"/>
                <a:cs typeface="Arial"/>
              </a:rPr>
              <a:t>E</a:t>
            </a:r>
            <a:endParaRPr sz="2400">
              <a:latin typeface="Arial"/>
              <a:cs typeface="Arial"/>
            </a:endParaRPr>
          </a:p>
          <a:p>
            <a:pPr marL="339090" indent="-325755">
              <a:lnSpc>
                <a:spcPct val="100000"/>
              </a:lnSpc>
              <a:spcBef>
                <a:spcPts val="1210"/>
              </a:spcBef>
              <a:buClr>
                <a:srgbClr val="3B822F"/>
              </a:buClr>
              <a:buSzPct val="60000"/>
              <a:buFont typeface="Wingdings"/>
              <a:buChar char=""/>
              <a:tabLst>
                <a:tab pos="339090" algn="l"/>
                <a:tab pos="339725" algn="l"/>
              </a:tabLst>
            </a:pPr>
            <a:r>
              <a:rPr sz="2000" spc="-5" dirty="0">
                <a:latin typeface="Arial"/>
                <a:cs typeface="Arial"/>
              </a:rPr>
              <a:t>Xem ví dụ</a:t>
            </a:r>
            <a:r>
              <a:rPr sz="2000" spc="-85" dirty="0">
                <a:latin typeface="Arial"/>
                <a:cs typeface="Arial"/>
              </a:rPr>
              <a:t> </a:t>
            </a:r>
            <a:r>
              <a:rPr sz="2000" spc="-10" dirty="0">
                <a:latin typeface="Arial"/>
                <a:cs typeface="Arial"/>
              </a:rPr>
              <a:t>bên!</a:t>
            </a:r>
            <a:endParaRPr sz="2000">
              <a:latin typeface="Arial"/>
              <a:cs typeface="Arial"/>
            </a:endParaRPr>
          </a:p>
        </p:txBody>
      </p:sp>
      <p:sp>
        <p:nvSpPr>
          <p:cNvPr id="20" name="object 20"/>
          <p:cNvSpPr txBox="1"/>
          <p:nvPr/>
        </p:nvSpPr>
        <p:spPr>
          <a:xfrm>
            <a:off x="6784340" y="5285485"/>
            <a:ext cx="121793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Blue</a:t>
            </a:r>
            <a:r>
              <a:rPr sz="1800" b="1" spc="-85" dirty="0">
                <a:latin typeface="Arial"/>
                <a:cs typeface="Arial"/>
              </a:rPr>
              <a:t> </a:t>
            </a:r>
            <a:r>
              <a:rPr sz="1800" b="1" spc="-5" dirty="0">
                <a:latin typeface="Arial"/>
                <a:cs typeface="Arial"/>
              </a:rPr>
              <a:t>whale</a:t>
            </a:r>
            <a:endParaRPr sz="1800">
              <a:latin typeface="Arial"/>
              <a:cs typeface="Arial"/>
            </a:endParaRPr>
          </a:p>
        </p:txBody>
      </p:sp>
      <p:sp>
        <p:nvSpPr>
          <p:cNvPr id="21" name="object 21"/>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25" name="Title 24">
            <a:extLst>
              <a:ext uri="{FF2B5EF4-FFF2-40B4-BE49-F238E27FC236}">
                <a16:creationId xmlns:a16="http://schemas.microsoft.com/office/drawing/2014/main" id="{7D2FFE50-909E-41CF-AD6A-4EB5FC2E7469}"/>
              </a:ext>
            </a:extLst>
          </p:cNvPr>
          <p:cNvSpPr>
            <a:spLocks noGrp="1"/>
          </p:cNvSpPr>
          <p:nvPr>
            <p:ph type="title"/>
          </p:nvPr>
        </p:nvSpPr>
        <p:spPr/>
        <p:txBody>
          <a:bodyPr/>
          <a:lstStyle/>
          <a:p>
            <a:r>
              <a:rPr lang="en-US" b="0">
                <a:latin typeface="Verdana"/>
                <a:cs typeface="Verdana"/>
              </a:rPr>
              <a:t>Nút </a:t>
            </a:r>
            <a:r>
              <a:rPr lang="en-US" b="0" spc="-5">
                <a:latin typeface="Verdana"/>
                <a:cs typeface="Verdana"/>
              </a:rPr>
              <a:t>ngăn</a:t>
            </a:r>
            <a:r>
              <a:rPr lang="en-US" b="0" spc="-90">
                <a:latin typeface="Verdana"/>
                <a:cs typeface="Verdana"/>
              </a:rPr>
              <a:t> </a:t>
            </a:r>
            <a:r>
              <a:rPr lang="en-US" b="0" spc="-5">
                <a:latin typeface="Verdana"/>
                <a:cs typeface="Verdana"/>
              </a:rPr>
              <a:t>chặn</a:t>
            </a:r>
            <a:endParaRPr lang="en-US" b="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64</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55039" y="1777999"/>
            <a:ext cx="8098155" cy="4506595"/>
          </a:xfrm>
          <a:prstGeom prst="rect">
            <a:avLst/>
          </a:prstGeom>
        </p:spPr>
        <p:txBody>
          <a:bodyPr vert="horz" wrap="square" lIns="0" tIns="12700" rIns="0" bIns="0" rtlCol="0">
            <a:spAutoFit/>
          </a:bodyPr>
          <a:lstStyle/>
          <a:p>
            <a:pPr marL="393700" marR="222250" indent="-342900">
              <a:lnSpc>
                <a:spcPct val="100000"/>
              </a:lnSpc>
              <a:spcBef>
                <a:spcPts val="100"/>
              </a:spcBef>
              <a:buClr>
                <a:srgbClr val="CC9A00"/>
              </a:buClr>
              <a:buSzPct val="63636"/>
              <a:buFont typeface="Wingdings"/>
              <a:buChar char=""/>
              <a:tabLst>
                <a:tab pos="393065" algn="l"/>
                <a:tab pos="393700" algn="l"/>
                <a:tab pos="5833110" algn="l"/>
                <a:tab pos="6454775" algn="l"/>
              </a:tabLst>
            </a:pPr>
            <a:r>
              <a:rPr sz="2200" spc="-5" dirty="0">
                <a:latin typeface="Arial"/>
                <a:cs typeface="Arial"/>
              </a:rPr>
              <a:t>Phân cấp phân loại </a:t>
            </a:r>
            <a:r>
              <a:rPr sz="2200" dirty="0">
                <a:latin typeface="Arial"/>
                <a:cs typeface="Arial"/>
              </a:rPr>
              <a:t>G được </a:t>
            </a:r>
            <a:r>
              <a:rPr sz="2200" spc="-5" dirty="0">
                <a:latin typeface="Arial"/>
                <a:cs typeface="Arial"/>
              </a:rPr>
              <a:t>gọi</a:t>
            </a:r>
            <a:r>
              <a:rPr sz="2200" spc="40" dirty="0">
                <a:latin typeface="Arial"/>
                <a:cs typeface="Arial"/>
              </a:rPr>
              <a:t> </a:t>
            </a:r>
            <a:r>
              <a:rPr sz="2200" dirty="0">
                <a:latin typeface="Arial"/>
                <a:cs typeface="Arial"/>
              </a:rPr>
              <a:t>là</a:t>
            </a:r>
            <a:r>
              <a:rPr sz="2200" spc="5" dirty="0">
                <a:latin typeface="Arial"/>
                <a:cs typeface="Arial"/>
              </a:rPr>
              <a:t> </a:t>
            </a:r>
            <a:r>
              <a:rPr sz="2200" b="1" i="1" dirty="0">
                <a:latin typeface="Arial"/>
                <a:cs typeface="Arial"/>
              </a:rPr>
              <a:t>a-connected	</a:t>
            </a:r>
            <a:r>
              <a:rPr sz="2200" spc="-5" dirty="0">
                <a:latin typeface="Arial"/>
                <a:cs typeface="Arial"/>
              </a:rPr>
              <a:t>nếu </a:t>
            </a:r>
            <a:r>
              <a:rPr sz="2200" dirty="0">
                <a:latin typeface="Arial"/>
                <a:cs typeface="Arial"/>
              </a:rPr>
              <a:t>và chỉ  </a:t>
            </a:r>
            <a:r>
              <a:rPr sz="2200" spc="-5" dirty="0">
                <a:latin typeface="Arial"/>
                <a:cs typeface="Arial"/>
              </a:rPr>
              <a:t>nếu </a:t>
            </a:r>
            <a:r>
              <a:rPr sz="2200" dirty="0">
                <a:latin typeface="Arial"/>
                <a:cs typeface="Arial"/>
              </a:rPr>
              <a:t>với </a:t>
            </a:r>
            <a:r>
              <a:rPr sz="2200" spc="-5" dirty="0">
                <a:latin typeface="Arial"/>
                <a:cs typeface="Arial"/>
              </a:rPr>
              <a:t>mọi </a:t>
            </a:r>
            <a:r>
              <a:rPr sz="2200" dirty="0">
                <a:latin typeface="Arial"/>
                <a:cs typeface="Arial"/>
              </a:rPr>
              <a:t>nút </a:t>
            </a:r>
            <a:r>
              <a:rPr sz="2200" i="1" dirty="0">
                <a:latin typeface="Arial"/>
                <a:cs typeface="Arial"/>
              </a:rPr>
              <a:t>x </a:t>
            </a:r>
            <a:r>
              <a:rPr sz="2200" spc="-5" dirty="0">
                <a:latin typeface="Arial"/>
                <a:cs typeface="Arial"/>
              </a:rPr>
              <a:t>trong </a:t>
            </a:r>
            <a:r>
              <a:rPr sz="2200" dirty="0">
                <a:latin typeface="Arial"/>
                <a:cs typeface="Arial"/>
              </a:rPr>
              <a:t>G </a:t>
            </a:r>
            <a:r>
              <a:rPr sz="2200" spc="-5" dirty="0">
                <a:latin typeface="Arial"/>
                <a:cs typeface="Arial"/>
              </a:rPr>
              <a:t>luôn tồn tại một hướng từ </a:t>
            </a:r>
            <a:r>
              <a:rPr sz="2200" i="1" dirty="0">
                <a:latin typeface="Arial"/>
                <a:cs typeface="Arial"/>
              </a:rPr>
              <a:t>a </a:t>
            </a:r>
            <a:r>
              <a:rPr sz="2200" spc="-5" dirty="0">
                <a:latin typeface="Arial"/>
                <a:cs typeface="Arial"/>
              </a:rPr>
              <a:t>đến </a:t>
            </a:r>
            <a:r>
              <a:rPr sz="2200" i="1" dirty="0">
                <a:latin typeface="Arial"/>
                <a:cs typeface="Arial"/>
              </a:rPr>
              <a:t>x</a:t>
            </a:r>
            <a:r>
              <a:rPr sz="2200" dirty="0">
                <a:latin typeface="Arial"/>
                <a:cs typeface="Arial"/>
              </a:rPr>
              <a:t>,  và </a:t>
            </a:r>
            <a:r>
              <a:rPr sz="2200" spc="-5" dirty="0">
                <a:latin typeface="Arial"/>
                <a:cs typeface="Arial"/>
              </a:rPr>
              <a:t>đối </a:t>
            </a:r>
            <a:r>
              <a:rPr sz="2200" dirty="0">
                <a:latin typeface="Arial"/>
                <a:cs typeface="Arial"/>
              </a:rPr>
              <a:t>với </a:t>
            </a:r>
            <a:r>
              <a:rPr sz="2200" spc="-5" dirty="0">
                <a:latin typeface="Arial"/>
                <a:cs typeface="Arial"/>
              </a:rPr>
              <a:t>mọi cạnh </a:t>
            </a:r>
            <a:r>
              <a:rPr sz="2200" dirty="0">
                <a:latin typeface="Arial"/>
                <a:cs typeface="Arial"/>
              </a:rPr>
              <a:t>dương </a:t>
            </a:r>
            <a:r>
              <a:rPr sz="2200" spc="-5" dirty="0">
                <a:latin typeface="Arial"/>
                <a:cs typeface="Arial"/>
              </a:rPr>
              <a:t>(hoặc </a:t>
            </a:r>
            <a:r>
              <a:rPr sz="2200" dirty="0">
                <a:latin typeface="Arial"/>
                <a:cs typeface="Arial"/>
              </a:rPr>
              <a:t>âm) </a:t>
            </a:r>
            <a:r>
              <a:rPr sz="2200" i="1" dirty="0">
                <a:latin typeface="Arial"/>
                <a:cs typeface="Arial"/>
              </a:rPr>
              <a:t>v</a:t>
            </a:r>
            <a:r>
              <a:rPr sz="2200" i="1" spc="35" dirty="0">
                <a:latin typeface="Arial"/>
                <a:cs typeface="Arial"/>
              </a:rPr>
              <a:t> </a:t>
            </a:r>
            <a:r>
              <a:rPr sz="2200" i="1" dirty="0">
                <a:latin typeface="Arial"/>
                <a:cs typeface="Arial"/>
              </a:rPr>
              <a:t>•</a:t>
            </a:r>
            <a:r>
              <a:rPr sz="2200" i="1" spc="5" dirty="0">
                <a:latin typeface="Arial"/>
                <a:cs typeface="Arial"/>
              </a:rPr>
              <a:t> </a:t>
            </a:r>
            <a:r>
              <a:rPr sz="2200" i="1" dirty="0">
                <a:latin typeface="Arial"/>
                <a:cs typeface="Arial"/>
              </a:rPr>
              <a:t>x	</a:t>
            </a:r>
            <a:r>
              <a:rPr sz="2200" spc="-5" dirty="0">
                <a:latin typeface="Arial"/>
                <a:cs typeface="Arial"/>
              </a:rPr>
              <a:t>(hoặc </a:t>
            </a:r>
            <a:r>
              <a:rPr sz="2200" i="1" dirty="0">
                <a:latin typeface="Arial"/>
                <a:cs typeface="Arial"/>
              </a:rPr>
              <a:t>v • </a:t>
            </a:r>
            <a:r>
              <a:rPr sz="2200" dirty="0">
                <a:latin typeface="Symbol"/>
                <a:cs typeface="Symbol"/>
              </a:rPr>
              <a:t></a:t>
            </a:r>
            <a:r>
              <a:rPr sz="2200" i="1" dirty="0">
                <a:latin typeface="Arial"/>
                <a:cs typeface="Arial"/>
              </a:rPr>
              <a:t>x </a:t>
            </a:r>
            <a:r>
              <a:rPr sz="2200" dirty="0">
                <a:latin typeface="Arial"/>
                <a:cs typeface="Arial"/>
              </a:rPr>
              <a:t>)  trong G </a:t>
            </a:r>
            <a:r>
              <a:rPr sz="2200" spc="-5" dirty="0">
                <a:latin typeface="Arial"/>
                <a:cs typeface="Arial"/>
              </a:rPr>
              <a:t>luôn tồn tại một hướng </a:t>
            </a:r>
            <a:r>
              <a:rPr sz="2200" u="heavy" dirty="0">
                <a:uFill>
                  <a:solidFill>
                    <a:srgbClr val="000000"/>
                  </a:solidFill>
                </a:uFill>
                <a:latin typeface="Arial"/>
                <a:cs typeface="Arial"/>
              </a:rPr>
              <a:t>dương</a:t>
            </a:r>
            <a:r>
              <a:rPr sz="2200" dirty="0">
                <a:latin typeface="Arial"/>
                <a:cs typeface="Arial"/>
              </a:rPr>
              <a:t> từ </a:t>
            </a:r>
            <a:r>
              <a:rPr sz="2200" i="1" dirty="0">
                <a:latin typeface="Arial"/>
                <a:cs typeface="Arial"/>
              </a:rPr>
              <a:t>a </a:t>
            </a:r>
            <a:r>
              <a:rPr sz="2200" dirty="0">
                <a:latin typeface="Arial"/>
                <a:cs typeface="Arial"/>
              </a:rPr>
              <a:t>tới</a:t>
            </a:r>
            <a:r>
              <a:rPr sz="2200" spc="-10" dirty="0">
                <a:latin typeface="Arial"/>
                <a:cs typeface="Arial"/>
              </a:rPr>
              <a:t> </a:t>
            </a:r>
            <a:r>
              <a:rPr sz="2200" i="1" dirty="0">
                <a:latin typeface="Arial"/>
                <a:cs typeface="Arial"/>
              </a:rPr>
              <a:t>v</a:t>
            </a:r>
            <a:endParaRPr sz="2200">
              <a:latin typeface="Arial"/>
              <a:cs typeface="Arial"/>
            </a:endParaRPr>
          </a:p>
          <a:p>
            <a:pPr marL="393700" marR="1029969" indent="-343535">
              <a:lnSpc>
                <a:spcPct val="100000"/>
              </a:lnSpc>
              <a:spcBef>
                <a:spcPts val="1200"/>
              </a:spcBef>
              <a:buClr>
                <a:srgbClr val="CC9A00"/>
              </a:buClr>
              <a:buSzPct val="63636"/>
              <a:buFont typeface="Wingdings"/>
              <a:buChar char=""/>
              <a:tabLst>
                <a:tab pos="393065" algn="l"/>
                <a:tab pos="393700" algn="l"/>
              </a:tabLst>
            </a:pPr>
            <a:r>
              <a:rPr sz="2200" spc="-5" dirty="0">
                <a:latin typeface="Arial"/>
                <a:cs typeface="Arial"/>
              </a:rPr>
              <a:t>Nói cách khác, </a:t>
            </a:r>
            <a:r>
              <a:rPr sz="2200" dirty="0">
                <a:latin typeface="Arial"/>
                <a:cs typeface="Arial"/>
              </a:rPr>
              <a:t>mọi </a:t>
            </a:r>
            <a:r>
              <a:rPr sz="2200" spc="-5" dirty="0">
                <a:latin typeface="Arial"/>
                <a:cs typeface="Arial"/>
              </a:rPr>
              <a:t>nút </a:t>
            </a:r>
            <a:r>
              <a:rPr sz="2200" dirty="0">
                <a:latin typeface="Arial"/>
                <a:cs typeface="Arial"/>
              </a:rPr>
              <a:t>và </a:t>
            </a:r>
            <a:r>
              <a:rPr sz="2200" spc="-5" dirty="0">
                <a:latin typeface="Arial"/>
                <a:cs typeface="Arial"/>
              </a:rPr>
              <a:t>mọi cạnh đều </a:t>
            </a:r>
            <a:r>
              <a:rPr sz="2200" dirty="0">
                <a:latin typeface="Arial"/>
                <a:cs typeface="Arial"/>
              </a:rPr>
              <a:t>có </a:t>
            </a:r>
            <a:r>
              <a:rPr sz="2200" spc="-5" dirty="0">
                <a:latin typeface="Arial"/>
                <a:cs typeface="Arial"/>
              </a:rPr>
              <a:t>thể đạt </a:t>
            </a:r>
            <a:r>
              <a:rPr sz="2200" dirty="0">
                <a:latin typeface="Arial"/>
                <a:cs typeface="Arial"/>
              </a:rPr>
              <a:t>tới  (reachable) </a:t>
            </a:r>
            <a:r>
              <a:rPr sz="2200" spc="-5" dirty="0">
                <a:latin typeface="Arial"/>
                <a:cs typeface="Arial"/>
              </a:rPr>
              <a:t>từ</a:t>
            </a:r>
            <a:r>
              <a:rPr sz="2200" dirty="0">
                <a:latin typeface="Arial"/>
                <a:cs typeface="Arial"/>
              </a:rPr>
              <a:t> </a:t>
            </a:r>
            <a:r>
              <a:rPr sz="2200" i="1" dirty="0">
                <a:latin typeface="Arial"/>
                <a:cs typeface="Arial"/>
              </a:rPr>
              <a:t>a</a:t>
            </a:r>
            <a:endParaRPr sz="2200">
              <a:latin typeface="Arial"/>
              <a:cs typeface="Arial"/>
            </a:endParaRPr>
          </a:p>
          <a:p>
            <a:pPr marL="393065" marR="68580" indent="-342900">
              <a:lnSpc>
                <a:spcPct val="100000"/>
              </a:lnSpc>
              <a:spcBef>
                <a:spcPts val="1200"/>
              </a:spcBef>
              <a:buClr>
                <a:srgbClr val="CC9A00"/>
              </a:buClr>
              <a:buSzPct val="63636"/>
              <a:buFont typeface="Wingdings"/>
              <a:buChar char=""/>
              <a:tabLst>
                <a:tab pos="393065" algn="l"/>
                <a:tab pos="393700" algn="l"/>
                <a:tab pos="703580" algn="l"/>
                <a:tab pos="1278255" algn="l"/>
                <a:tab pos="1729105" algn="l"/>
                <a:tab pos="3910965" algn="l"/>
                <a:tab pos="4275455" algn="l"/>
                <a:tab pos="6566534" algn="l"/>
              </a:tabLst>
            </a:pPr>
            <a:r>
              <a:rPr sz="2200" dirty="0">
                <a:latin typeface="Arial"/>
                <a:cs typeface="Arial"/>
              </a:rPr>
              <a:t>G được </a:t>
            </a:r>
            <a:r>
              <a:rPr sz="2200" spc="-5" dirty="0">
                <a:latin typeface="Arial"/>
                <a:cs typeface="Arial"/>
              </a:rPr>
              <a:t>gọi </a:t>
            </a:r>
            <a:r>
              <a:rPr sz="2200" dirty="0">
                <a:latin typeface="Arial"/>
                <a:cs typeface="Arial"/>
              </a:rPr>
              <a:t>là </a:t>
            </a:r>
            <a:r>
              <a:rPr sz="2200" spc="-5" dirty="0">
                <a:latin typeface="Arial"/>
                <a:cs typeface="Arial"/>
              </a:rPr>
              <a:t>(có thể) </a:t>
            </a:r>
            <a:r>
              <a:rPr sz="2200" b="1" spc="-5" dirty="0">
                <a:latin typeface="Arial"/>
                <a:cs typeface="Arial"/>
              </a:rPr>
              <a:t>nhập nhằng </a:t>
            </a:r>
            <a:r>
              <a:rPr sz="2200" b="1" dirty="0">
                <a:latin typeface="Arial"/>
                <a:cs typeface="Arial"/>
              </a:rPr>
              <a:t>(ambiguous) </a:t>
            </a:r>
            <a:r>
              <a:rPr sz="2200" spc="-5" dirty="0">
                <a:latin typeface="Arial"/>
                <a:cs typeface="Arial"/>
              </a:rPr>
              <a:t>đối </a:t>
            </a:r>
            <a:r>
              <a:rPr sz="2200" dirty="0">
                <a:latin typeface="Arial"/>
                <a:cs typeface="Arial"/>
              </a:rPr>
              <a:t>với </a:t>
            </a:r>
            <a:r>
              <a:rPr sz="2200" spc="-5" dirty="0">
                <a:latin typeface="Arial"/>
                <a:cs typeface="Arial"/>
              </a:rPr>
              <a:t>nút  </a:t>
            </a:r>
            <a:r>
              <a:rPr sz="2200" i="1" dirty="0">
                <a:latin typeface="Arial"/>
                <a:cs typeface="Arial"/>
              </a:rPr>
              <a:t>a	</a:t>
            </a:r>
            <a:r>
              <a:rPr sz="2200" spc="-5" dirty="0">
                <a:latin typeface="Arial"/>
                <a:cs typeface="Arial"/>
              </a:rPr>
              <a:t>nếu tồn tại một nút </a:t>
            </a:r>
            <a:r>
              <a:rPr sz="2200" i="1" dirty="0">
                <a:latin typeface="Arial"/>
                <a:cs typeface="Arial"/>
              </a:rPr>
              <a:t>x</a:t>
            </a:r>
            <a:r>
              <a:rPr sz="2200" i="1" spc="70" dirty="0">
                <a:latin typeface="Arial"/>
                <a:cs typeface="Arial"/>
              </a:rPr>
              <a:t> </a:t>
            </a:r>
            <a:r>
              <a:rPr sz="2200" dirty="0">
                <a:latin typeface="Jara"/>
                <a:cs typeface="Jara"/>
              </a:rPr>
              <a:t>C</a:t>
            </a:r>
            <a:r>
              <a:rPr sz="2200" spc="70" dirty="0">
                <a:latin typeface="Jara"/>
                <a:cs typeface="Jara"/>
              </a:rPr>
              <a:t> </a:t>
            </a:r>
            <a:r>
              <a:rPr sz="2200" dirty="0">
                <a:latin typeface="Arial"/>
                <a:cs typeface="Arial"/>
              </a:rPr>
              <a:t>V	sao cho cả</a:t>
            </a:r>
            <a:r>
              <a:rPr sz="2200" spc="10" dirty="0">
                <a:latin typeface="Arial"/>
                <a:cs typeface="Arial"/>
              </a:rPr>
              <a:t> </a:t>
            </a:r>
            <a:r>
              <a:rPr sz="2200" dirty="0">
                <a:latin typeface="Arial"/>
                <a:cs typeface="Arial"/>
              </a:rPr>
              <a:t>2</a:t>
            </a:r>
            <a:r>
              <a:rPr sz="2200" spc="5" dirty="0">
                <a:latin typeface="Arial"/>
                <a:cs typeface="Arial"/>
              </a:rPr>
              <a:t> </a:t>
            </a:r>
            <a:r>
              <a:rPr sz="2200" spc="-5" dirty="0">
                <a:latin typeface="Arial"/>
                <a:cs typeface="Arial"/>
              </a:rPr>
              <a:t>hướng	(</a:t>
            </a:r>
            <a:r>
              <a:rPr sz="2200" i="1" spc="-5" dirty="0">
                <a:latin typeface="Arial"/>
                <a:cs typeface="Arial"/>
              </a:rPr>
              <a:t>a </a:t>
            </a:r>
            <a:r>
              <a:rPr sz="2200" i="1" dirty="0">
                <a:latin typeface="Arial"/>
                <a:cs typeface="Arial"/>
              </a:rPr>
              <a:t>• s</a:t>
            </a:r>
            <a:r>
              <a:rPr sz="2175" i="1" baseline="-21072" dirty="0">
                <a:latin typeface="Arial"/>
                <a:cs typeface="Arial"/>
              </a:rPr>
              <a:t>1 </a:t>
            </a:r>
            <a:r>
              <a:rPr sz="2200" i="1" dirty="0">
                <a:latin typeface="Arial"/>
                <a:cs typeface="Arial"/>
              </a:rPr>
              <a:t>• … •  s</a:t>
            </a:r>
            <a:r>
              <a:rPr sz="2175" i="1" baseline="-21072" dirty="0">
                <a:latin typeface="Arial"/>
                <a:cs typeface="Arial"/>
              </a:rPr>
              <a:t>n</a:t>
            </a:r>
            <a:r>
              <a:rPr sz="2175" i="1" spc="300" baseline="-21072" dirty="0">
                <a:latin typeface="Arial"/>
                <a:cs typeface="Arial"/>
              </a:rPr>
              <a:t> </a:t>
            </a:r>
            <a:r>
              <a:rPr sz="2200" i="1" dirty="0">
                <a:latin typeface="Arial"/>
                <a:cs typeface="Arial"/>
              </a:rPr>
              <a:t>•</a:t>
            </a:r>
            <a:r>
              <a:rPr sz="2200" i="1" spc="5" dirty="0">
                <a:latin typeface="Arial"/>
                <a:cs typeface="Arial"/>
              </a:rPr>
              <a:t> </a:t>
            </a:r>
            <a:r>
              <a:rPr sz="2200" i="1" dirty="0">
                <a:latin typeface="Arial"/>
                <a:cs typeface="Arial"/>
              </a:rPr>
              <a:t>x</a:t>
            </a:r>
            <a:r>
              <a:rPr sz="2200" dirty="0">
                <a:latin typeface="Arial"/>
                <a:cs typeface="Arial"/>
              </a:rPr>
              <a:t>)	và	</a:t>
            </a:r>
            <a:r>
              <a:rPr sz="2200" spc="-5" dirty="0">
                <a:latin typeface="Arial"/>
                <a:cs typeface="Arial"/>
              </a:rPr>
              <a:t>(</a:t>
            </a:r>
            <a:r>
              <a:rPr sz="2200" i="1" spc="-5" dirty="0">
                <a:latin typeface="Arial"/>
                <a:cs typeface="Arial"/>
              </a:rPr>
              <a:t>a </a:t>
            </a:r>
            <a:r>
              <a:rPr sz="2200" i="1" dirty="0">
                <a:latin typeface="Arial"/>
                <a:cs typeface="Arial"/>
              </a:rPr>
              <a:t>• t</a:t>
            </a:r>
            <a:r>
              <a:rPr sz="2175" i="1" baseline="-21072" dirty="0">
                <a:latin typeface="Arial"/>
                <a:cs typeface="Arial"/>
              </a:rPr>
              <a:t>1  </a:t>
            </a:r>
            <a:r>
              <a:rPr sz="2200" i="1" dirty="0">
                <a:latin typeface="Arial"/>
                <a:cs typeface="Arial"/>
              </a:rPr>
              <a:t>• … • </a:t>
            </a:r>
            <a:r>
              <a:rPr sz="2200" i="1" spc="5" dirty="0">
                <a:latin typeface="Arial"/>
                <a:cs typeface="Arial"/>
              </a:rPr>
              <a:t>t</a:t>
            </a:r>
            <a:r>
              <a:rPr sz="2175" i="1" spc="7" baseline="-21072" dirty="0">
                <a:latin typeface="Arial"/>
                <a:cs typeface="Arial"/>
              </a:rPr>
              <a:t>m</a:t>
            </a:r>
            <a:r>
              <a:rPr sz="2175" i="1" spc="82" baseline="-21072" dirty="0">
                <a:latin typeface="Arial"/>
                <a:cs typeface="Arial"/>
              </a:rPr>
              <a:t> </a:t>
            </a:r>
            <a:r>
              <a:rPr sz="2200" i="1" dirty="0">
                <a:latin typeface="Arial"/>
                <a:cs typeface="Arial"/>
              </a:rPr>
              <a:t>• </a:t>
            </a:r>
            <a:r>
              <a:rPr sz="2200" dirty="0">
                <a:latin typeface="Symbol"/>
                <a:cs typeface="Symbol"/>
              </a:rPr>
              <a:t></a:t>
            </a:r>
            <a:r>
              <a:rPr sz="2200" i="1" dirty="0">
                <a:latin typeface="Arial"/>
                <a:cs typeface="Arial"/>
              </a:rPr>
              <a:t>x</a:t>
            </a:r>
            <a:r>
              <a:rPr sz="2200" dirty="0">
                <a:latin typeface="Arial"/>
                <a:cs typeface="Arial"/>
              </a:rPr>
              <a:t>)	</a:t>
            </a:r>
            <a:r>
              <a:rPr sz="2200" spc="-5" dirty="0">
                <a:latin typeface="Arial"/>
                <a:cs typeface="Arial"/>
              </a:rPr>
              <a:t>đều thuộc</a:t>
            </a:r>
            <a:r>
              <a:rPr sz="2200" dirty="0">
                <a:latin typeface="Arial"/>
                <a:cs typeface="Arial"/>
              </a:rPr>
              <a:t> G</a:t>
            </a:r>
            <a:endParaRPr sz="2200">
              <a:latin typeface="Arial"/>
              <a:cs typeface="Arial"/>
            </a:endParaRPr>
          </a:p>
          <a:p>
            <a:pPr marL="393700" marR="222250" indent="-343535">
              <a:lnSpc>
                <a:spcPct val="100000"/>
              </a:lnSpc>
              <a:spcBef>
                <a:spcPts val="1200"/>
              </a:spcBef>
              <a:buClr>
                <a:srgbClr val="CC9A00"/>
              </a:buClr>
              <a:buSzPct val="63636"/>
              <a:buFont typeface="Wingdings"/>
              <a:buChar char=""/>
              <a:tabLst>
                <a:tab pos="393065" algn="l"/>
                <a:tab pos="393700" algn="l"/>
              </a:tabLst>
            </a:pPr>
            <a:r>
              <a:rPr sz="2200" spc="-5" dirty="0">
                <a:latin typeface="Arial"/>
                <a:cs typeface="Arial"/>
              </a:rPr>
              <a:t>Một </a:t>
            </a:r>
            <a:r>
              <a:rPr sz="2200" dirty="0">
                <a:latin typeface="Arial"/>
                <a:cs typeface="Arial"/>
              </a:rPr>
              <a:t>sự </a:t>
            </a:r>
            <a:r>
              <a:rPr sz="2200" b="1" spc="-5" dirty="0">
                <a:latin typeface="Arial"/>
                <a:cs typeface="Arial"/>
              </a:rPr>
              <a:t>mở rộng (extension) </a:t>
            </a:r>
            <a:r>
              <a:rPr sz="2200" spc="-5" dirty="0">
                <a:latin typeface="Arial"/>
                <a:cs typeface="Arial"/>
              </a:rPr>
              <a:t>của </a:t>
            </a:r>
            <a:r>
              <a:rPr sz="2200" dirty="0">
                <a:latin typeface="Arial"/>
                <a:cs typeface="Arial"/>
              </a:rPr>
              <a:t>G </a:t>
            </a:r>
            <a:r>
              <a:rPr sz="2200" spc="-5" dirty="0">
                <a:latin typeface="Arial"/>
                <a:cs typeface="Arial"/>
              </a:rPr>
              <a:t>đối </a:t>
            </a:r>
            <a:r>
              <a:rPr sz="2200" dirty="0">
                <a:latin typeface="Arial"/>
                <a:cs typeface="Arial"/>
              </a:rPr>
              <a:t>với </a:t>
            </a:r>
            <a:r>
              <a:rPr sz="2200" spc="-5" dirty="0">
                <a:latin typeface="Arial"/>
                <a:cs typeface="Arial"/>
              </a:rPr>
              <a:t>nút </a:t>
            </a:r>
            <a:r>
              <a:rPr sz="2200" i="1" dirty="0">
                <a:latin typeface="Arial"/>
                <a:cs typeface="Arial"/>
              </a:rPr>
              <a:t>a </a:t>
            </a:r>
            <a:r>
              <a:rPr sz="2200" dirty="0">
                <a:latin typeface="Arial"/>
                <a:cs typeface="Arial"/>
              </a:rPr>
              <a:t>là </a:t>
            </a:r>
            <a:r>
              <a:rPr sz="2200" spc="-5" dirty="0">
                <a:latin typeface="Arial"/>
                <a:cs typeface="Arial"/>
              </a:rPr>
              <a:t>một cấu  </a:t>
            </a:r>
            <a:r>
              <a:rPr sz="2200" dirty="0">
                <a:latin typeface="Arial"/>
                <a:cs typeface="Arial"/>
              </a:rPr>
              <a:t>trúc con </a:t>
            </a:r>
            <a:r>
              <a:rPr sz="2200" spc="-5" dirty="0">
                <a:latin typeface="Arial"/>
                <a:cs typeface="Arial"/>
              </a:rPr>
              <a:t>của </a:t>
            </a:r>
            <a:r>
              <a:rPr sz="2200" dirty="0">
                <a:latin typeface="Arial"/>
                <a:cs typeface="Arial"/>
              </a:rPr>
              <a:t>G, sao cho </a:t>
            </a:r>
            <a:r>
              <a:rPr sz="2200" spc="-5" dirty="0">
                <a:latin typeface="Arial"/>
                <a:cs typeface="Arial"/>
              </a:rPr>
              <a:t>cấu </a:t>
            </a:r>
            <a:r>
              <a:rPr sz="2200" dirty="0">
                <a:latin typeface="Arial"/>
                <a:cs typeface="Arial"/>
              </a:rPr>
              <a:t>trúc con </a:t>
            </a:r>
            <a:r>
              <a:rPr sz="2200" spc="-5" dirty="0">
                <a:latin typeface="Arial"/>
                <a:cs typeface="Arial"/>
              </a:rPr>
              <a:t>đó là </a:t>
            </a:r>
            <a:r>
              <a:rPr sz="2200" i="1" spc="-5" dirty="0">
                <a:latin typeface="Arial"/>
                <a:cs typeface="Arial"/>
              </a:rPr>
              <a:t>a-connected </a:t>
            </a:r>
            <a:r>
              <a:rPr sz="2200" dirty="0">
                <a:latin typeface="Arial"/>
                <a:cs typeface="Arial"/>
              </a:rPr>
              <a:t>và  </a:t>
            </a:r>
            <a:r>
              <a:rPr sz="2200" spc="-5" dirty="0">
                <a:latin typeface="Arial"/>
                <a:cs typeface="Arial"/>
              </a:rPr>
              <a:t>chứa tối thiểu (ít hơn) </a:t>
            </a:r>
            <a:r>
              <a:rPr sz="2200" dirty="0">
                <a:latin typeface="Arial"/>
                <a:cs typeface="Arial"/>
              </a:rPr>
              <a:t>các </a:t>
            </a:r>
            <a:r>
              <a:rPr sz="2200" spc="-5" dirty="0">
                <a:latin typeface="Arial"/>
                <a:cs typeface="Arial"/>
              </a:rPr>
              <a:t>nhập</a:t>
            </a:r>
            <a:r>
              <a:rPr sz="2200" spc="5" dirty="0">
                <a:latin typeface="Arial"/>
                <a:cs typeface="Arial"/>
              </a:rPr>
              <a:t> </a:t>
            </a:r>
            <a:r>
              <a:rPr sz="2200" spc="-5" dirty="0">
                <a:latin typeface="Arial"/>
                <a:cs typeface="Arial"/>
              </a:rPr>
              <a:t>nhằng</a:t>
            </a:r>
            <a:endParaRPr sz="22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6F9C99E6-A740-4461-8B8D-EB90D4901735}"/>
              </a:ext>
            </a:extLst>
          </p:cNvPr>
          <p:cNvSpPr>
            <a:spLocks noGrp="1"/>
          </p:cNvSpPr>
          <p:nvPr>
            <p:ph type="title"/>
          </p:nvPr>
        </p:nvSpPr>
        <p:spPr/>
        <p:txBody>
          <a:bodyPr/>
          <a:lstStyle/>
          <a:p>
            <a:r>
              <a:rPr lang="en-US" b="0">
                <a:latin typeface="Verdana"/>
                <a:cs typeface="Verdana"/>
              </a:rPr>
              <a:t>Sự </a:t>
            </a:r>
            <a:r>
              <a:rPr lang="en-US" b="0" spc="-5">
                <a:latin typeface="Verdana"/>
                <a:cs typeface="Verdana"/>
              </a:rPr>
              <a:t>mở</a:t>
            </a:r>
            <a:r>
              <a:rPr lang="en-US" b="0" spc="-80">
                <a:latin typeface="Verdana"/>
                <a:cs typeface="Verdana"/>
              </a:rPr>
              <a:t> </a:t>
            </a:r>
            <a:r>
              <a:rPr lang="en-US" b="0" spc="-5">
                <a:latin typeface="Verdana"/>
                <a:cs typeface="Verdana"/>
              </a:rPr>
              <a:t>rộng</a:t>
            </a:r>
            <a:endParaRPr lang="en-US" b="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 name="object 3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7" name="object 3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65</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1871729" y="1779524"/>
            <a:ext cx="906144" cy="513715"/>
          </a:xfrm>
          <a:prstGeom prst="rect">
            <a:avLst/>
          </a:prstGeom>
        </p:spPr>
        <p:txBody>
          <a:bodyPr vert="horz" wrap="square" lIns="0" tIns="12700" rIns="0" bIns="0" rtlCol="0">
            <a:spAutoFit/>
          </a:bodyPr>
          <a:lstStyle/>
          <a:p>
            <a:pPr marL="12700" marR="5080" indent="208279">
              <a:lnSpc>
                <a:spcPct val="100000"/>
              </a:lnSpc>
              <a:spcBef>
                <a:spcPts val="100"/>
              </a:spcBef>
            </a:pPr>
            <a:r>
              <a:rPr sz="1600" b="1" spc="-5" dirty="0">
                <a:latin typeface="Arial"/>
                <a:cs typeface="Arial"/>
              </a:rPr>
              <a:t>Milk-  producer</a:t>
            </a:r>
            <a:endParaRPr sz="1600">
              <a:latin typeface="Arial"/>
              <a:cs typeface="Arial"/>
            </a:endParaRPr>
          </a:p>
        </p:txBody>
      </p:sp>
      <p:sp>
        <p:nvSpPr>
          <p:cNvPr id="7" name="object 7"/>
          <p:cNvSpPr/>
          <p:nvPr/>
        </p:nvSpPr>
        <p:spPr>
          <a:xfrm>
            <a:off x="2249424" y="2362199"/>
            <a:ext cx="5638800" cy="622935"/>
          </a:xfrm>
          <a:custGeom>
            <a:avLst/>
            <a:gdLst/>
            <a:ahLst/>
            <a:cxnLst/>
            <a:rect l="l" t="t" r="r" b="b"/>
            <a:pathLst>
              <a:path w="5638800" h="622935">
                <a:moveTo>
                  <a:pt x="54508" y="53340"/>
                </a:moveTo>
                <a:lnTo>
                  <a:pt x="38862" y="0"/>
                </a:lnTo>
                <a:lnTo>
                  <a:pt x="22567" y="53340"/>
                </a:lnTo>
                <a:lnTo>
                  <a:pt x="54508" y="53340"/>
                </a:lnTo>
                <a:close/>
              </a:path>
              <a:path w="5638800" h="622935">
                <a:moveTo>
                  <a:pt x="76200" y="127254"/>
                </a:moveTo>
                <a:lnTo>
                  <a:pt x="54508" y="53352"/>
                </a:lnTo>
                <a:lnTo>
                  <a:pt x="22567" y="53352"/>
                </a:lnTo>
                <a:lnTo>
                  <a:pt x="0" y="127254"/>
                </a:lnTo>
                <a:lnTo>
                  <a:pt x="30429" y="127254"/>
                </a:lnTo>
                <a:lnTo>
                  <a:pt x="28956" y="622554"/>
                </a:lnTo>
                <a:lnTo>
                  <a:pt x="44958" y="622554"/>
                </a:lnTo>
                <a:lnTo>
                  <a:pt x="46431" y="127254"/>
                </a:lnTo>
                <a:lnTo>
                  <a:pt x="76200" y="127254"/>
                </a:lnTo>
                <a:close/>
              </a:path>
              <a:path w="5638800" h="622935">
                <a:moveTo>
                  <a:pt x="5638800" y="127254"/>
                </a:moveTo>
                <a:lnTo>
                  <a:pt x="5617108" y="53340"/>
                </a:lnTo>
                <a:lnTo>
                  <a:pt x="5601462" y="0"/>
                </a:lnTo>
                <a:lnTo>
                  <a:pt x="5585168" y="53340"/>
                </a:lnTo>
                <a:lnTo>
                  <a:pt x="5562600" y="127254"/>
                </a:lnTo>
                <a:lnTo>
                  <a:pt x="5593029" y="127254"/>
                </a:lnTo>
                <a:lnTo>
                  <a:pt x="5591556" y="622554"/>
                </a:lnTo>
                <a:lnTo>
                  <a:pt x="5607558" y="622554"/>
                </a:lnTo>
                <a:lnTo>
                  <a:pt x="5609031" y="127254"/>
                </a:lnTo>
                <a:lnTo>
                  <a:pt x="5638800" y="127254"/>
                </a:lnTo>
                <a:close/>
              </a:path>
            </a:pathLst>
          </a:custGeom>
          <a:solidFill>
            <a:srgbClr val="000000"/>
          </a:solidFill>
        </p:spPr>
        <p:txBody>
          <a:bodyPr wrap="square" lIns="0" tIns="0" rIns="0" bIns="0" rtlCol="0"/>
          <a:lstStyle/>
          <a:p>
            <a:endParaRPr/>
          </a:p>
        </p:txBody>
      </p:sp>
      <p:sp>
        <p:nvSpPr>
          <p:cNvPr id="8" name="object 8"/>
          <p:cNvSpPr txBox="1"/>
          <p:nvPr/>
        </p:nvSpPr>
        <p:spPr>
          <a:xfrm>
            <a:off x="7434329" y="1779524"/>
            <a:ext cx="906144" cy="513715"/>
          </a:xfrm>
          <a:prstGeom prst="rect">
            <a:avLst/>
          </a:prstGeom>
        </p:spPr>
        <p:txBody>
          <a:bodyPr vert="horz" wrap="square" lIns="0" tIns="12700" rIns="0" bIns="0" rtlCol="0">
            <a:spAutoFit/>
          </a:bodyPr>
          <a:lstStyle/>
          <a:p>
            <a:pPr marL="12700" marR="5080" indent="208279">
              <a:lnSpc>
                <a:spcPct val="100000"/>
              </a:lnSpc>
              <a:spcBef>
                <a:spcPts val="100"/>
              </a:spcBef>
            </a:pPr>
            <a:r>
              <a:rPr sz="1600" b="1" spc="-5" dirty="0">
                <a:latin typeface="Arial"/>
                <a:cs typeface="Arial"/>
              </a:rPr>
              <a:t>Milk-  producer</a:t>
            </a:r>
            <a:endParaRPr sz="1600">
              <a:latin typeface="Arial"/>
              <a:cs typeface="Arial"/>
            </a:endParaRPr>
          </a:p>
        </p:txBody>
      </p:sp>
      <p:sp>
        <p:nvSpPr>
          <p:cNvPr id="9" name="object 9"/>
          <p:cNvSpPr txBox="1"/>
          <p:nvPr/>
        </p:nvSpPr>
        <p:spPr>
          <a:xfrm>
            <a:off x="1907539" y="3010916"/>
            <a:ext cx="83756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endParaRPr sz="1600">
              <a:latin typeface="Arial"/>
              <a:cs typeface="Arial"/>
            </a:endParaRPr>
          </a:p>
        </p:txBody>
      </p:sp>
      <p:sp>
        <p:nvSpPr>
          <p:cNvPr id="10" name="object 10"/>
          <p:cNvSpPr/>
          <p:nvPr/>
        </p:nvSpPr>
        <p:spPr>
          <a:xfrm>
            <a:off x="1670304" y="3352799"/>
            <a:ext cx="539750" cy="906144"/>
          </a:xfrm>
          <a:custGeom>
            <a:avLst/>
            <a:gdLst/>
            <a:ahLst/>
            <a:cxnLst/>
            <a:rect l="l" t="t" r="r" b="b"/>
            <a:pathLst>
              <a:path w="539750" h="906145">
                <a:moveTo>
                  <a:pt x="539496" y="0"/>
                </a:moveTo>
                <a:lnTo>
                  <a:pt x="494385" y="41910"/>
                </a:lnTo>
                <a:lnTo>
                  <a:pt x="442722" y="89916"/>
                </a:lnTo>
                <a:lnTo>
                  <a:pt x="468414" y="105156"/>
                </a:lnTo>
                <a:lnTo>
                  <a:pt x="0" y="897636"/>
                </a:lnTo>
                <a:lnTo>
                  <a:pt x="12954" y="906018"/>
                </a:lnTo>
                <a:lnTo>
                  <a:pt x="482231" y="113360"/>
                </a:lnTo>
                <a:lnTo>
                  <a:pt x="488442" y="117030"/>
                </a:lnTo>
                <a:lnTo>
                  <a:pt x="508254" y="128778"/>
                </a:lnTo>
                <a:lnTo>
                  <a:pt x="529323" y="41910"/>
                </a:lnTo>
                <a:lnTo>
                  <a:pt x="539496" y="0"/>
                </a:lnTo>
                <a:close/>
              </a:path>
            </a:pathLst>
          </a:custGeom>
          <a:solidFill>
            <a:srgbClr val="000000"/>
          </a:solidFill>
        </p:spPr>
        <p:txBody>
          <a:bodyPr wrap="square" lIns="0" tIns="0" rIns="0" bIns="0" rtlCol="0"/>
          <a:lstStyle/>
          <a:p>
            <a:endParaRPr/>
          </a:p>
        </p:txBody>
      </p:sp>
      <p:sp>
        <p:nvSpPr>
          <p:cNvPr id="11" name="object 11"/>
          <p:cNvSpPr/>
          <p:nvPr/>
        </p:nvSpPr>
        <p:spPr>
          <a:xfrm>
            <a:off x="2357628" y="3352799"/>
            <a:ext cx="469900" cy="842010"/>
          </a:xfrm>
          <a:custGeom>
            <a:avLst/>
            <a:gdLst/>
            <a:ahLst/>
            <a:cxnLst/>
            <a:rect l="l" t="t" r="r" b="b"/>
            <a:pathLst>
              <a:path w="469900" h="842010">
                <a:moveTo>
                  <a:pt x="469392" y="834390"/>
                </a:moveTo>
                <a:lnTo>
                  <a:pt x="162712" y="273253"/>
                </a:lnTo>
                <a:lnTo>
                  <a:pt x="314706" y="159258"/>
                </a:lnTo>
                <a:lnTo>
                  <a:pt x="304800" y="146304"/>
                </a:lnTo>
                <a:lnTo>
                  <a:pt x="154813" y="258787"/>
                </a:lnTo>
                <a:lnTo>
                  <a:pt x="72529" y="108204"/>
                </a:lnTo>
                <a:lnTo>
                  <a:pt x="99060" y="93726"/>
                </a:lnTo>
                <a:lnTo>
                  <a:pt x="46812" y="41910"/>
                </a:lnTo>
                <a:lnTo>
                  <a:pt x="4572" y="0"/>
                </a:lnTo>
                <a:lnTo>
                  <a:pt x="13385" y="41910"/>
                </a:lnTo>
                <a:lnTo>
                  <a:pt x="32004" y="130302"/>
                </a:lnTo>
                <a:lnTo>
                  <a:pt x="52578" y="119087"/>
                </a:lnTo>
                <a:lnTo>
                  <a:pt x="58750" y="115722"/>
                </a:lnTo>
                <a:lnTo>
                  <a:pt x="142011" y="268389"/>
                </a:lnTo>
                <a:lnTo>
                  <a:pt x="0" y="374904"/>
                </a:lnTo>
                <a:lnTo>
                  <a:pt x="9906" y="387858"/>
                </a:lnTo>
                <a:lnTo>
                  <a:pt x="149910" y="282854"/>
                </a:lnTo>
                <a:lnTo>
                  <a:pt x="454914" y="842010"/>
                </a:lnTo>
                <a:lnTo>
                  <a:pt x="469392" y="834390"/>
                </a:lnTo>
                <a:close/>
              </a:path>
            </a:pathLst>
          </a:custGeom>
          <a:solidFill>
            <a:srgbClr val="000000"/>
          </a:solidFill>
        </p:spPr>
        <p:txBody>
          <a:bodyPr wrap="square" lIns="0" tIns="0" rIns="0" bIns="0" rtlCol="0"/>
          <a:lstStyle/>
          <a:p>
            <a:endParaRPr/>
          </a:p>
        </p:txBody>
      </p:sp>
      <p:sp>
        <p:nvSpPr>
          <p:cNvPr id="12" name="object 12"/>
          <p:cNvSpPr txBox="1"/>
          <p:nvPr/>
        </p:nvSpPr>
        <p:spPr>
          <a:xfrm>
            <a:off x="4574540" y="3087877"/>
            <a:ext cx="83756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endParaRPr sz="1600">
              <a:latin typeface="Arial"/>
              <a:cs typeface="Arial"/>
            </a:endParaRPr>
          </a:p>
        </p:txBody>
      </p:sp>
      <p:sp>
        <p:nvSpPr>
          <p:cNvPr id="13" name="object 13"/>
          <p:cNvSpPr txBox="1"/>
          <p:nvPr/>
        </p:nvSpPr>
        <p:spPr>
          <a:xfrm>
            <a:off x="7470137" y="3010911"/>
            <a:ext cx="83756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endParaRPr sz="1600">
              <a:latin typeface="Arial"/>
              <a:cs typeface="Arial"/>
            </a:endParaRPr>
          </a:p>
        </p:txBody>
      </p:sp>
      <p:sp>
        <p:nvSpPr>
          <p:cNvPr id="14" name="object 14"/>
          <p:cNvSpPr/>
          <p:nvPr/>
        </p:nvSpPr>
        <p:spPr>
          <a:xfrm>
            <a:off x="7232904" y="3352799"/>
            <a:ext cx="539750" cy="906144"/>
          </a:xfrm>
          <a:custGeom>
            <a:avLst/>
            <a:gdLst/>
            <a:ahLst/>
            <a:cxnLst/>
            <a:rect l="l" t="t" r="r" b="b"/>
            <a:pathLst>
              <a:path w="539750" h="906145">
                <a:moveTo>
                  <a:pt x="539496" y="0"/>
                </a:moveTo>
                <a:lnTo>
                  <a:pt x="494385" y="41910"/>
                </a:lnTo>
                <a:lnTo>
                  <a:pt x="442722" y="89916"/>
                </a:lnTo>
                <a:lnTo>
                  <a:pt x="468414" y="105156"/>
                </a:lnTo>
                <a:lnTo>
                  <a:pt x="0" y="897636"/>
                </a:lnTo>
                <a:lnTo>
                  <a:pt x="12954" y="906018"/>
                </a:lnTo>
                <a:lnTo>
                  <a:pt x="482231" y="113360"/>
                </a:lnTo>
                <a:lnTo>
                  <a:pt x="488442" y="117030"/>
                </a:lnTo>
                <a:lnTo>
                  <a:pt x="508254" y="128778"/>
                </a:lnTo>
                <a:lnTo>
                  <a:pt x="529323" y="41910"/>
                </a:lnTo>
                <a:lnTo>
                  <a:pt x="539496" y="0"/>
                </a:lnTo>
                <a:close/>
              </a:path>
            </a:pathLst>
          </a:custGeom>
          <a:solidFill>
            <a:srgbClr val="000000"/>
          </a:solidFill>
        </p:spPr>
        <p:txBody>
          <a:bodyPr wrap="square" lIns="0" tIns="0" rIns="0" bIns="0" rtlCol="0"/>
          <a:lstStyle/>
          <a:p>
            <a:endParaRPr/>
          </a:p>
        </p:txBody>
      </p:sp>
      <p:sp>
        <p:nvSpPr>
          <p:cNvPr id="15" name="object 15"/>
          <p:cNvSpPr txBox="1"/>
          <p:nvPr/>
        </p:nvSpPr>
        <p:spPr>
          <a:xfrm>
            <a:off x="1403858" y="4217924"/>
            <a:ext cx="546100" cy="269875"/>
          </a:xfrm>
          <a:prstGeom prst="rect">
            <a:avLst/>
          </a:prstGeom>
        </p:spPr>
        <p:txBody>
          <a:bodyPr vert="horz" wrap="square" lIns="0" tIns="12700" rIns="0" bIns="0" rtlCol="0">
            <a:spAutoFit/>
          </a:bodyPr>
          <a:lstStyle/>
          <a:p>
            <a:pPr marL="12700">
              <a:lnSpc>
                <a:spcPct val="100000"/>
              </a:lnSpc>
              <a:spcBef>
                <a:spcPts val="100"/>
              </a:spcBef>
            </a:pPr>
            <a:r>
              <a:rPr sz="1600" b="1" dirty="0">
                <a:latin typeface="Arial"/>
                <a:cs typeface="Arial"/>
              </a:rPr>
              <a:t>Furry</a:t>
            </a:r>
            <a:endParaRPr sz="1600">
              <a:latin typeface="Arial"/>
              <a:cs typeface="Arial"/>
            </a:endParaRPr>
          </a:p>
        </p:txBody>
      </p:sp>
      <p:sp>
        <p:nvSpPr>
          <p:cNvPr id="16" name="object 16"/>
          <p:cNvSpPr txBox="1"/>
          <p:nvPr/>
        </p:nvSpPr>
        <p:spPr>
          <a:xfrm>
            <a:off x="2580385" y="4217924"/>
            <a:ext cx="47752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Egg</a:t>
            </a:r>
            <a:r>
              <a:rPr sz="1600" b="1" dirty="0">
                <a:latin typeface="Arial"/>
                <a:cs typeface="Arial"/>
              </a:rPr>
              <a:t>-</a:t>
            </a:r>
            <a:endParaRPr sz="1600">
              <a:latin typeface="Arial"/>
              <a:cs typeface="Arial"/>
            </a:endParaRPr>
          </a:p>
        </p:txBody>
      </p:sp>
      <p:sp>
        <p:nvSpPr>
          <p:cNvPr id="17" name="object 17"/>
          <p:cNvSpPr/>
          <p:nvPr/>
        </p:nvSpPr>
        <p:spPr>
          <a:xfrm>
            <a:off x="5024628" y="3428999"/>
            <a:ext cx="469900" cy="842010"/>
          </a:xfrm>
          <a:custGeom>
            <a:avLst/>
            <a:gdLst/>
            <a:ahLst/>
            <a:cxnLst/>
            <a:rect l="l" t="t" r="r" b="b"/>
            <a:pathLst>
              <a:path w="469900" h="842010">
                <a:moveTo>
                  <a:pt x="469392" y="834390"/>
                </a:moveTo>
                <a:lnTo>
                  <a:pt x="162712" y="273253"/>
                </a:lnTo>
                <a:lnTo>
                  <a:pt x="314706" y="159258"/>
                </a:lnTo>
                <a:lnTo>
                  <a:pt x="304800" y="146304"/>
                </a:lnTo>
                <a:lnTo>
                  <a:pt x="154813" y="258787"/>
                </a:lnTo>
                <a:lnTo>
                  <a:pt x="72529" y="108204"/>
                </a:lnTo>
                <a:lnTo>
                  <a:pt x="99060" y="93726"/>
                </a:lnTo>
                <a:lnTo>
                  <a:pt x="4572" y="0"/>
                </a:lnTo>
                <a:lnTo>
                  <a:pt x="32004" y="130302"/>
                </a:lnTo>
                <a:lnTo>
                  <a:pt x="52578" y="119087"/>
                </a:lnTo>
                <a:lnTo>
                  <a:pt x="58750" y="115722"/>
                </a:lnTo>
                <a:lnTo>
                  <a:pt x="142011" y="268389"/>
                </a:lnTo>
                <a:lnTo>
                  <a:pt x="0" y="374904"/>
                </a:lnTo>
                <a:lnTo>
                  <a:pt x="9906" y="387858"/>
                </a:lnTo>
                <a:lnTo>
                  <a:pt x="149910" y="282854"/>
                </a:lnTo>
                <a:lnTo>
                  <a:pt x="454914" y="842010"/>
                </a:lnTo>
                <a:lnTo>
                  <a:pt x="469392" y="834390"/>
                </a:lnTo>
                <a:close/>
              </a:path>
            </a:pathLst>
          </a:custGeom>
          <a:solidFill>
            <a:srgbClr val="000000"/>
          </a:solidFill>
        </p:spPr>
        <p:txBody>
          <a:bodyPr wrap="square" lIns="0" tIns="0" rIns="0" bIns="0" rtlCol="0"/>
          <a:lstStyle/>
          <a:p>
            <a:endParaRPr/>
          </a:p>
        </p:txBody>
      </p:sp>
      <p:sp>
        <p:nvSpPr>
          <p:cNvPr id="18" name="object 18"/>
          <p:cNvSpPr txBox="1"/>
          <p:nvPr/>
        </p:nvSpPr>
        <p:spPr>
          <a:xfrm>
            <a:off x="6966457" y="4217924"/>
            <a:ext cx="546100" cy="269875"/>
          </a:xfrm>
          <a:prstGeom prst="rect">
            <a:avLst/>
          </a:prstGeom>
        </p:spPr>
        <p:txBody>
          <a:bodyPr vert="horz" wrap="square" lIns="0" tIns="12700" rIns="0" bIns="0" rtlCol="0">
            <a:spAutoFit/>
          </a:bodyPr>
          <a:lstStyle/>
          <a:p>
            <a:pPr marL="12700">
              <a:lnSpc>
                <a:spcPct val="100000"/>
              </a:lnSpc>
              <a:spcBef>
                <a:spcPts val="100"/>
              </a:spcBef>
            </a:pPr>
            <a:r>
              <a:rPr sz="1600" b="1" dirty="0">
                <a:latin typeface="Arial"/>
                <a:cs typeface="Arial"/>
              </a:rPr>
              <a:t>Furry</a:t>
            </a:r>
            <a:endParaRPr sz="1600">
              <a:latin typeface="Arial"/>
              <a:cs typeface="Arial"/>
            </a:endParaRPr>
          </a:p>
        </p:txBody>
      </p:sp>
      <p:sp>
        <p:nvSpPr>
          <p:cNvPr id="19" name="object 19"/>
          <p:cNvSpPr txBox="1"/>
          <p:nvPr/>
        </p:nvSpPr>
        <p:spPr>
          <a:xfrm>
            <a:off x="8142985" y="4217924"/>
            <a:ext cx="47752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Egg</a:t>
            </a:r>
            <a:r>
              <a:rPr sz="1600" b="1" dirty="0">
                <a:latin typeface="Arial"/>
                <a:cs typeface="Arial"/>
              </a:rPr>
              <a:t>-</a:t>
            </a:r>
            <a:endParaRPr sz="1600">
              <a:latin typeface="Arial"/>
              <a:cs typeface="Arial"/>
            </a:endParaRPr>
          </a:p>
        </p:txBody>
      </p:sp>
      <p:sp>
        <p:nvSpPr>
          <p:cNvPr id="20" name="object 20"/>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21" name="object 21"/>
          <p:cNvSpPr txBox="1"/>
          <p:nvPr/>
        </p:nvSpPr>
        <p:spPr>
          <a:xfrm>
            <a:off x="1324614" y="4461763"/>
            <a:ext cx="70294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Animal</a:t>
            </a:r>
            <a:endParaRPr sz="1600">
              <a:latin typeface="Arial"/>
              <a:cs typeface="Arial"/>
            </a:endParaRPr>
          </a:p>
        </p:txBody>
      </p:sp>
      <p:sp>
        <p:nvSpPr>
          <p:cNvPr id="22" name="object 22"/>
          <p:cNvSpPr/>
          <p:nvPr/>
        </p:nvSpPr>
        <p:spPr>
          <a:xfrm>
            <a:off x="1676400" y="4775453"/>
            <a:ext cx="6629400" cy="577850"/>
          </a:xfrm>
          <a:custGeom>
            <a:avLst/>
            <a:gdLst/>
            <a:ahLst/>
            <a:cxnLst/>
            <a:rect l="l" t="t" r="r" b="b"/>
            <a:pathLst>
              <a:path w="6629400" h="577850">
                <a:moveTo>
                  <a:pt x="426186" y="577596"/>
                </a:moveTo>
                <a:lnTo>
                  <a:pt x="81051" y="98323"/>
                </a:lnTo>
                <a:lnTo>
                  <a:pt x="105156" y="80772"/>
                </a:lnTo>
                <a:lnTo>
                  <a:pt x="0" y="0"/>
                </a:lnTo>
                <a:lnTo>
                  <a:pt x="43434" y="125730"/>
                </a:lnTo>
                <a:lnTo>
                  <a:pt x="60960" y="112966"/>
                </a:lnTo>
                <a:lnTo>
                  <a:pt x="68237" y="107670"/>
                </a:lnTo>
                <a:lnTo>
                  <a:pt x="406171" y="577596"/>
                </a:lnTo>
                <a:lnTo>
                  <a:pt x="426186" y="577596"/>
                </a:lnTo>
                <a:close/>
              </a:path>
              <a:path w="6629400" h="577850">
                <a:moveTo>
                  <a:pt x="1066800" y="25146"/>
                </a:moveTo>
                <a:lnTo>
                  <a:pt x="960120" y="104394"/>
                </a:lnTo>
                <a:lnTo>
                  <a:pt x="984250" y="122504"/>
                </a:lnTo>
                <a:lnTo>
                  <a:pt x="642937" y="577596"/>
                </a:lnTo>
                <a:lnTo>
                  <a:pt x="663321" y="577596"/>
                </a:lnTo>
                <a:lnTo>
                  <a:pt x="997305" y="132283"/>
                </a:lnTo>
                <a:lnTo>
                  <a:pt x="1005078" y="138112"/>
                </a:lnTo>
                <a:lnTo>
                  <a:pt x="1021080" y="150114"/>
                </a:lnTo>
                <a:lnTo>
                  <a:pt x="1066800" y="25146"/>
                </a:lnTo>
                <a:close/>
              </a:path>
              <a:path w="6629400" h="577850">
                <a:moveTo>
                  <a:pt x="3038322" y="577596"/>
                </a:moveTo>
                <a:lnTo>
                  <a:pt x="2748051" y="174523"/>
                </a:lnTo>
                <a:lnTo>
                  <a:pt x="2772156" y="156972"/>
                </a:lnTo>
                <a:lnTo>
                  <a:pt x="2667000" y="76200"/>
                </a:lnTo>
                <a:lnTo>
                  <a:pt x="2710434" y="201930"/>
                </a:lnTo>
                <a:lnTo>
                  <a:pt x="2727960" y="189166"/>
                </a:lnTo>
                <a:lnTo>
                  <a:pt x="2735237" y="183870"/>
                </a:lnTo>
                <a:lnTo>
                  <a:pt x="3018371" y="577596"/>
                </a:lnTo>
                <a:lnTo>
                  <a:pt x="3038322" y="577596"/>
                </a:lnTo>
                <a:close/>
              </a:path>
              <a:path w="6629400" h="577850">
                <a:moveTo>
                  <a:pt x="3733800" y="101346"/>
                </a:moveTo>
                <a:lnTo>
                  <a:pt x="3627120" y="180594"/>
                </a:lnTo>
                <a:lnTo>
                  <a:pt x="3651250" y="198704"/>
                </a:lnTo>
                <a:lnTo>
                  <a:pt x="3367087" y="577596"/>
                </a:lnTo>
                <a:lnTo>
                  <a:pt x="3387471" y="577596"/>
                </a:lnTo>
                <a:lnTo>
                  <a:pt x="3664305" y="208483"/>
                </a:lnTo>
                <a:lnTo>
                  <a:pt x="3672078" y="214312"/>
                </a:lnTo>
                <a:lnTo>
                  <a:pt x="3688080" y="226314"/>
                </a:lnTo>
                <a:lnTo>
                  <a:pt x="3733800" y="101346"/>
                </a:lnTo>
                <a:close/>
              </a:path>
              <a:path w="6629400" h="577850">
                <a:moveTo>
                  <a:pt x="5988786" y="577596"/>
                </a:moveTo>
                <a:lnTo>
                  <a:pt x="5643651" y="98323"/>
                </a:lnTo>
                <a:lnTo>
                  <a:pt x="5667756" y="80772"/>
                </a:lnTo>
                <a:lnTo>
                  <a:pt x="5562600" y="0"/>
                </a:lnTo>
                <a:lnTo>
                  <a:pt x="5606034" y="125730"/>
                </a:lnTo>
                <a:lnTo>
                  <a:pt x="5623560" y="112966"/>
                </a:lnTo>
                <a:lnTo>
                  <a:pt x="5630837" y="107670"/>
                </a:lnTo>
                <a:lnTo>
                  <a:pt x="5968771" y="577596"/>
                </a:lnTo>
                <a:lnTo>
                  <a:pt x="5988786" y="577596"/>
                </a:lnTo>
                <a:close/>
              </a:path>
              <a:path w="6629400" h="577850">
                <a:moveTo>
                  <a:pt x="6629400" y="25146"/>
                </a:moveTo>
                <a:lnTo>
                  <a:pt x="6522720" y="104394"/>
                </a:lnTo>
                <a:lnTo>
                  <a:pt x="6546850" y="122504"/>
                </a:lnTo>
                <a:lnTo>
                  <a:pt x="6205537" y="577596"/>
                </a:lnTo>
                <a:lnTo>
                  <a:pt x="6225921" y="577596"/>
                </a:lnTo>
                <a:lnTo>
                  <a:pt x="6559905" y="132283"/>
                </a:lnTo>
                <a:lnTo>
                  <a:pt x="6567678" y="138112"/>
                </a:lnTo>
                <a:lnTo>
                  <a:pt x="6583680" y="150114"/>
                </a:lnTo>
                <a:lnTo>
                  <a:pt x="6629400" y="25146"/>
                </a:lnTo>
                <a:close/>
              </a:path>
            </a:pathLst>
          </a:custGeom>
          <a:solidFill>
            <a:srgbClr val="000000"/>
          </a:solidFill>
        </p:spPr>
        <p:txBody>
          <a:bodyPr wrap="square" lIns="0" tIns="0" rIns="0" bIns="0" rtlCol="0"/>
          <a:lstStyle/>
          <a:p>
            <a:endParaRPr/>
          </a:p>
        </p:txBody>
      </p:sp>
      <p:sp>
        <p:nvSpPr>
          <p:cNvPr id="23" name="object 23"/>
          <p:cNvSpPr txBox="1"/>
          <p:nvPr/>
        </p:nvSpPr>
        <p:spPr>
          <a:xfrm>
            <a:off x="2569717" y="4461764"/>
            <a:ext cx="499109"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layer</a:t>
            </a:r>
            <a:endParaRPr sz="1600">
              <a:latin typeface="Arial"/>
              <a:cs typeface="Arial"/>
            </a:endParaRPr>
          </a:p>
        </p:txBody>
      </p:sp>
      <p:sp>
        <p:nvSpPr>
          <p:cNvPr id="24" name="object 24"/>
          <p:cNvSpPr txBox="1"/>
          <p:nvPr/>
        </p:nvSpPr>
        <p:spPr>
          <a:xfrm>
            <a:off x="3991609" y="4294124"/>
            <a:ext cx="702945" cy="513715"/>
          </a:xfrm>
          <a:prstGeom prst="rect">
            <a:avLst/>
          </a:prstGeom>
        </p:spPr>
        <p:txBody>
          <a:bodyPr vert="horz" wrap="square" lIns="0" tIns="12700" rIns="0" bIns="0" rtlCol="0">
            <a:spAutoFit/>
          </a:bodyPr>
          <a:lstStyle/>
          <a:p>
            <a:pPr marL="12700" marR="5080" indent="78740">
              <a:lnSpc>
                <a:spcPct val="100000"/>
              </a:lnSpc>
              <a:spcBef>
                <a:spcPts val="100"/>
              </a:spcBef>
            </a:pPr>
            <a:r>
              <a:rPr sz="1600" b="1" spc="-5" dirty="0">
                <a:latin typeface="Arial"/>
                <a:cs typeface="Arial"/>
              </a:rPr>
              <a:t>Furry  Animal</a:t>
            </a:r>
            <a:endParaRPr sz="1600">
              <a:latin typeface="Arial"/>
              <a:cs typeface="Arial"/>
            </a:endParaRPr>
          </a:p>
        </p:txBody>
      </p:sp>
      <p:sp>
        <p:nvSpPr>
          <p:cNvPr id="25" name="object 25"/>
          <p:cNvSpPr txBox="1"/>
          <p:nvPr/>
        </p:nvSpPr>
        <p:spPr>
          <a:xfrm>
            <a:off x="5236718" y="4294124"/>
            <a:ext cx="499109" cy="513715"/>
          </a:xfrm>
          <a:prstGeom prst="rect">
            <a:avLst/>
          </a:prstGeom>
        </p:spPr>
        <p:txBody>
          <a:bodyPr vert="horz" wrap="square" lIns="0" tIns="12700" rIns="0" bIns="0" rtlCol="0">
            <a:spAutoFit/>
          </a:bodyPr>
          <a:lstStyle/>
          <a:p>
            <a:pPr marL="12700" marR="5080" indent="10160">
              <a:lnSpc>
                <a:spcPct val="100000"/>
              </a:lnSpc>
              <a:spcBef>
                <a:spcPts val="100"/>
              </a:spcBef>
            </a:pPr>
            <a:r>
              <a:rPr sz="1600" b="1" spc="-5" dirty="0">
                <a:latin typeface="Arial"/>
                <a:cs typeface="Arial"/>
              </a:rPr>
              <a:t>Egg-  layer</a:t>
            </a:r>
            <a:endParaRPr sz="1600">
              <a:latin typeface="Arial"/>
              <a:cs typeface="Arial"/>
            </a:endParaRPr>
          </a:p>
        </p:txBody>
      </p:sp>
      <p:sp>
        <p:nvSpPr>
          <p:cNvPr id="26" name="object 26"/>
          <p:cNvSpPr txBox="1"/>
          <p:nvPr/>
        </p:nvSpPr>
        <p:spPr>
          <a:xfrm>
            <a:off x="6887214" y="4461763"/>
            <a:ext cx="70294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Animal</a:t>
            </a:r>
            <a:endParaRPr sz="1600">
              <a:latin typeface="Arial"/>
              <a:cs typeface="Arial"/>
            </a:endParaRPr>
          </a:p>
        </p:txBody>
      </p:sp>
      <p:sp>
        <p:nvSpPr>
          <p:cNvPr id="27" name="object 27"/>
          <p:cNvSpPr txBox="1"/>
          <p:nvPr/>
        </p:nvSpPr>
        <p:spPr>
          <a:xfrm>
            <a:off x="8132318" y="4461764"/>
            <a:ext cx="499109"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layer</a:t>
            </a:r>
            <a:endParaRPr sz="1600">
              <a:latin typeface="Arial"/>
              <a:cs typeface="Arial"/>
            </a:endParaRPr>
          </a:p>
        </p:txBody>
      </p:sp>
      <p:sp>
        <p:nvSpPr>
          <p:cNvPr id="28" name="object 28"/>
          <p:cNvSpPr txBox="1"/>
          <p:nvPr/>
        </p:nvSpPr>
        <p:spPr>
          <a:xfrm>
            <a:off x="1755139" y="5437123"/>
            <a:ext cx="87249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Platypus</a:t>
            </a:r>
            <a:endParaRPr sz="1600">
              <a:latin typeface="Arial"/>
              <a:cs typeface="Arial"/>
            </a:endParaRPr>
          </a:p>
        </p:txBody>
      </p:sp>
      <p:sp>
        <p:nvSpPr>
          <p:cNvPr id="29" name="object 29"/>
          <p:cNvSpPr/>
          <p:nvPr/>
        </p:nvSpPr>
        <p:spPr>
          <a:xfrm>
            <a:off x="2082571" y="5353050"/>
            <a:ext cx="2981325" cy="139065"/>
          </a:xfrm>
          <a:custGeom>
            <a:avLst/>
            <a:gdLst/>
            <a:ahLst/>
            <a:cxnLst/>
            <a:rect l="l" t="t" r="r" b="b"/>
            <a:pathLst>
              <a:path w="2981325" h="139064">
                <a:moveTo>
                  <a:pt x="57886" y="52578"/>
                </a:moveTo>
                <a:lnTo>
                  <a:pt x="20015" y="0"/>
                </a:lnTo>
                <a:lnTo>
                  <a:pt x="0" y="0"/>
                </a:lnTo>
                <a:lnTo>
                  <a:pt x="44932" y="62484"/>
                </a:lnTo>
                <a:lnTo>
                  <a:pt x="57886" y="52578"/>
                </a:lnTo>
                <a:close/>
              </a:path>
              <a:path w="2981325" h="139064">
                <a:moveTo>
                  <a:pt x="257149" y="0"/>
                </a:moveTo>
                <a:lnTo>
                  <a:pt x="236766" y="0"/>
                </a:lnTo>
                <a:lnTo>
                  <a:pt x="197332" y="52578"/>
                </a:lnTo>
                <a:lnTo>
                  <a:pt x="210286" y="62484"/>
                </a:lnTo>
                <a:lnTo>
                  <a:pt x="257149" y="0"/>
                </a:lnTo>
                <a:close/>
              </a:path>
              <a:path w="2981325" h="139064">
                <a:moveTo>
                  <a:pt x="2724886" y="128778"/>
                </a:moveTo>
                <a:lnTo>
                  <a:pt x="2632151" y="0"/>
                </a:lnTo>
                <a:lnTo>
                  <a:pt x="2612199" y="0"/>
                </a:lnTo>
                <a:lnTo>
                  <a:pt x="2711932" y="138684"/>
                </a:lnTo>
                <a:lnTo>
                  <a:pt x="2724886" y="128778"/>
                </a:lnTo>
                <a:close/>
              </a:path>
              <a:path w="2981325" h="139064">
                <a:moveTo>
                  <a:pt x="2981299" y="0"/>
                </a:moveTo>
                <a:lnTo>
                  <a:pt x="2960916" y="0"/>
                </a:lnTo>
                <a:lnTo>
                  <a:pt x="2864332" y="128778"/>
                </a:lnTo>
                <a:lnTo>
                  <a:pt x="2877286" y="138684"/>
                </a:lnTo>
                <a:lnTo>
                  <a:pt x="2981299" y="0"/>
                </a:lnTo>
                <a:close/>
              </a:path>
            </a:pathLst>
          </a:custGeom>
          <a:solidFill>
            <a:srgbClr val="000000"/>
          </a:solidFill>
        </p:spPr>
        <p:txBody>
          <a:bodyPr wrap="square" lIns="0" tIns="0" rIns="0" bIns="0" rtlCol="0"/>
          <a:lstStyle/>
          <a:p>
            <a:endParaRPr/>
          </a:p>
        </p:txBody>
      </p:sp>
      <p:sp>
        <p:nvSpPr>
          <p:cNvPr id="30" name="object 30"/>
          <p:cNvSpPr txBox="1"/>
          <p:nvPr/>
        </p:nvSpPr>
        <p:spPr>
          <a:xfrm>
            <a:off x="4422140" y="5513323"/>
            <a:ext cx="87249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Platypus</a:t>
            </a:r>
            <a:endParaRPr sz="1600">
              <a:latin typeface="Arial"/>
              <a:cs typeface="Arial"/>
            </a:endParaRPr>
          </a:p>
        </p:txBody>
      </p:sp>
      <p:sp>
        <p:nvSpPr>
          <p:cNvPr id="31" name="object 31"/>
          <p:cNvSpPr txBox="1"/>
          <p:nvPr/>
        </p:nvSpPr>
        <p:spPr>
          <a:xfrm>
            <a:off x="7317740" y="5437123"/>
            <a:ext cx="872490"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Platypus</a:t>
            </a:r>
            <a:endParaRPr sz="1600">
              <a:latin typeface="Arial"/>
              <a:cs typeface="Arial"/>
            </a:endParaRPr>
          </a:p>
        </p:txBody>
      </p:sp>
      <p:sp>
        <p:nvSpPr>
          <p:cNvPr id="32" name="object 32"/>
          <p:cNvSpPr/>
          <p:nvPr/>
        </p:nvSpPr>
        <p:spPr>
          <a:xfrm>
            <a:off x="7645172" y="5353050"/>
            <a:ext cx="257175" cy="62865"/>
          </a:xfrm>
          <a:custGeom>
            <a:avLst/>
            <a:gdLst/>
            <a:ahLst/>
            <a:cxnLst/>
            <a:rect l="l" t="t" r="r" b="b"/>
            <a:pathLst>
              <a:path w="257175" h="62864">
                <a:moveTo>
                  <a:pt x="57886" y="52578"/>
                </a:moveTo>
                <a:lnTo>
                  <a:pt x="20015" y="0"/>
                </a:lnTo>
                <a:lnTo>
                  <a:pt x="0" y="0"/>
                </a:lnTo>
                <a:lnTo>
                  <a:pt x="44932" y="62484"/>
                </a:lnTo>
                <a:lnTo>
                  <a:pt x="57886" y="52578"/>
                </a:lnTo>
                <a:close/>
              </a:path>
              <a:path w="257175" h="62864">
                <a:moveTo>
                  <a:pt x="257149" y="0"/>
                </a:moveTo>
                <a:lnTo>
                  <a:pt x="236766" y="0"/>
                </a:lnTo>
                <a:lnTo>
                  <a:pt x="197332" y="52578"/>
                </a:lnTo>
                <a:lnTo>
                  <a:pt x="210286" y="62484"/>
                </a:lnTo>
                <a:lnTo>
                  <a:pt x="257149" y="0"/>
                </a:lnTo>
                <a:close/>
              </a:path>
            </a:pathLst>
          </a:custGeom>
          <a:solidFill>
            <a:srgbClr val="000000"/>
          </a:solidFill>
        </p:spPr>
        <p:txBody>
          <a:bodyPr wrap="square" lIns="0" tIns="0" rIns="0" bIns="0" rtlCol="0"/>
          <a:lstStyle/>
          <a:p>
            <a:endParaRPr/>
          </a:p>
        </p:txBody>
      </p:sp>
      <p:sp>
        <p:nvSpPr>
          <p:cNvPr id="33" name="object 33"/>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34" name="object 34"/>
          <p:cNvSpPr txBox="1"/>
          <p:nvPr/>
        </p:nvSpPr>
        <p:spPr>
          <a:xfrm>
            <a:off x="4193540" y="6120638"/>
            <a:ext cx="13633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a:cs typeface="Arial"/>
              </a:rPr>
              <a:t>Extension</a:t>
            </a:r>
            <a:endParaRPr sz="2400">
              <a:latin typeface="Arial"/>
              <a:cs typeface="Arial"/>
            </a:endParaRPr>
          </a:p>
        </p:txBody>
      </p:sp>
      <p:sp>
        <p:nvSpPr>
          <p:cNvPr id="35" name="object 35"/>
          <p:cNvSpPr txBox="1"/>
          <p:nvPr/>
        </p:nvSpPr>
        <p:spPr>
          <a:xfrm>
            <a:off x="7012940" y="6120638"/>
            <a:ext cx="1363345" cy="391160"/>
          </a:xfrm>
          <a:prstGeom prst="rect">
            <a:avLst/>
          </a:prstGeom>
        </p:spPr>
        <p:txBody>
          <a:bodyPr vert="horz" wrap="square" lIns="0" tIns="12700" rIns="0" bIns="0" rtlCol="0">
            <a:spAutoFit/>
          </a:bodyPr>
          <a:lstStyle/>
          <a:p>
            <a:pPr marL="12700">
              <a:lnSpc>
                <a:spcPct val="100000"/>
              </a:lnSpc>
              <a:spcBef>
                <a:spcPts val="100"/>
              </a:spcBef>
            </a:pPr>
            <a:r>
              <a:rPr sz="2400" spc="-5" dirty="0">
                <a:latin typeface="Arial"/>
                <a:cs typeface="Arial"/>
              </a:rPr>
              <a:t>Extension</a:t>
            </a:r>
            <a:endParaRPr sz="2400">
              <a:latin typeface="Arial"/>
              <a:cs typeface="Arial"/>
            </a:endParaRPr>
          </a:p>
        </p:txBody>
      </p:sp>
      <p:sp>
        <p:nvSpPr>
          <p:cNvPr id="39" name="Title 38">
            <a:extLst>
              <a:ext uri="{FF2B5EF4-FFF2-40B4-BE49-F238E27FC236}">
                <a16:creationId xmlns:a16="http://schemas.microsoft.com/office/drawing/2014/main" id="{56C972BD-C248-4BB7-8BCC-7679C042078D}"/>
              </a:ext>
            </a:extLst>
          </p:cNvPr>
          <p:cNvSpPr>
            <a:spLocks noGrp="1"/>
          </p:cNvSpPr>
          <p:nvPr>
            <p:ph type="title"/>
          </p:nvPr>
        </p:nvSpPr>
        <p:spPr/>
        <p:txBody>
          <a:bodyPr/>
          <a:lstStyle/>
          <a:p>
            <a:r>
              <a:rPr lang="en-US" b="0">
                <a:latin typeface="Verdana"/>
                <a:cs typeface="Verdana"/>
              </a:rPr>
              <a:t>Sự </a:t>
            </a:r>
            <a:r>
              <a:rPr lang="en-US" b="0" spc="-5">
                <a:latin typeface="Verdana"/>
                <a:cs typeface="Verdana"/>
              </a:rPr>
              <a:t>mở rộng </a:t>
            </a:r>
            <a:r>
              <a:rPr lang="en-US" b="0">
                <a:latin typeface="Verdana"/>
                <a:cs typeface="Verdana"/>
              </a:rPr>
              <a:t>– Ví</a:t>
            </a:r>
            <a:r>
              <a:rPr lang="en-US" b="0" spc="-80">
                <a:latin typeface="Verdana"/>
                <a:cs typeface="Verdana"/>
              </a:rPr>
              <a:t> </a:t>
            </a:r>
            <a:r>
              <a:rPr lang="en-US" b="0" spc="-5">
                <a:latin typeface="Verdana"/>
                <a:cs typeface="Verdana"/>
              </a:rPr>
              <a:t>dụ</a:t>
            </a:r>
            <a:endParaRPr lang="en-US" b="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66</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955915" cy="4812030"/>
          </a:xfrm>
          <a:prstGeom prst="rect">
            <a:avLst/>
          </a:prstGeom>
        </p:spPr>
        <p:txBody>
          <a:bodyPr vert="horz" wrap="square" lIns="0" tIns="12700" rIns="0" bIns="0" rtlCol="0">
            <a:spAutoFit/>
          </a:bodyPr>
          <a:lstStyle/>
          <a:p>
            <a:pPr marL="355600" marR="5080" indent="-342900" algn="just">
              <a:lnSpc>
                <a:spcPct val="100000"/>
              </a:lnSpc>
              <a:spcBef>
                <a:spcPts val="100"/>
              </a:spcBef>
              <a:buClr>
                <a:srgbClr val="CC9A00"/>
              </a:buClr>
              <a:buSzPct val="64583"/>
              <a:buFont typeface="Wingdings"/>
              <a:buChar char=""/>
              <a:tabLst>
                <a:tab pos="355600" algn="l"/>
              </a:tabLst>
            </a:pPr>
            <a:r>
              <a:rPr sz="2400" spc="-5" dirty="0">
                <a:latin typeface="Arial"/>
                <a:cs typeface="Arial"/>
              </a:rPr>
              <a:t>Các </a:t>
            </a:r>
            <a:r>
              <a:rPr sz="2400" dirty="0">
                <a:latin typeface="Arial"/>
                <a:cs typeface="Arial"/>
              </a:rPr>
              <a:t>mở </a:t>
            </a:r>
            <a:r>
              <a:rPr sz="2400" spc="-5" dirty="0">
                <a:latin typeface="Arial"/>
                <a:cs typeface="Arial"/>
              </a:rPr>
              <a:t>rộng (extensions) không tính đến các khía cạnh  </a:t>
            </a:r>
            <a:r>
              <a:rPr sz="2400" dirty="0">
                <a:latin typeface="Arial"/>
                <a:cs typeface="Arial"/>
              </a:rPr>
              <a:t>về sự </a:t>
            </a:r>
            <a:r>
              <a:rPr sz="2400" spc="-5" dirty="0">
                <a:latin typeface="Arial"/>
                <a:cs typeface="Arial"/>
              </a:rPr>
              <a:t>chấp nhận được (admissibility) hay </a:t>
            </a:r>
            <a:r>
              <a:rPr sz="2400" dirty="0">
                <a:latin typeface="Arial"/>
                <a:cs typeface="Arial"/>
              </a:rPr>
              <a:t>sự </a:t>
            </a:r>
            <a:r>
              <a:rPr sz="2400" spc="-5" dirty="0">
                <a:latin typeface="Arial"/>
                <a:cs typeface="Arial"/>
              </a:rPr>
              <a:t>ngăn chặn  (pre-emption)</a:t>
            </a:r>
            <a:endParaRPr sz="2400">
              <a:latin typeface="Arial"/>
              <a:cs typeface="Arial"/>
            </a:endParaRPr>
          </a:p>
          <a:p>
            <a:pPr marL="354965" marR="368935" indent="-342900">
              <a:lnSpc>
                <a:spcPct val="100000"/>
              </a:lnSpc>
              <a:spcBef>
                <a:spcPts val="2400"/>
              </a:spcBef>
              <a:buClr>
                <a:srgbClr val="CC9A00"/>
              </a:buClr>
              <a:buSzPct val="64583"/>
              <a:buFont typeface="Wingdings"/>
              <a:buChar char=""/>
              <a:tabLst>
                <a:tab pos="354965" algn="l"/>
                <a:tab pos="355600" algn="l"/>
                <a:tab pos="6189345" algn="l"/>
              </a:tabLst>
            </a:pPr>
            <a:r>
              <a:rPr sz="2400" spc="-5" dirty="0">
                <a:latin typeface="Arial"/>
                <a:cs typeface="Arial"/>
              </a:rPr>
              <a:t>Giả </a:t>
            </a:r>
            <a:r>
              <a:rPr sz="2400" dirty="0">
                <a:latin typeface="Arial"/>
                <a:cs typeface="Arial"/>
              </a:rPr>
              <a:t>sử </a:t>
            </a:r>
            <a:r>
              <a:rPr sz="2400" i="1" dirty="0">
                <a:latin typeface="Arial"/>
                <a:cs typeface="Arial"/>
              </a:rPr>
              <a:t>X </a:t>
            </a:r>
            <a:r>
              <a:rPr sz="2400" dirty="0">
                <a:latin typeface="Arial"/>
                <a:cs typeface="Arial"/>
              </a:rPr>
              <a:t>và </a:t>
            </a:r>
            <a:r>
              <a:rPr sz="2400" i="1" dirty="0">
                <a:latin typeface="Arial"/>
                <a:cs typeface="Arial"/>
              </a:rPr>
              <a:t>Y </a:t>
            </a:r>
            <a:r>
              <a:rPr sz="2400" spc="-5" dirty="0">
                <a:latin typeface="Arial"/>
                <a:cs typeface="Arial"/>
              </a:rPr>
              <a:t>là các mở rộng của </a:t>
            </a:r>
            <a:r>
              <a:rPr sz="2400" i="1" dirty="0">
                <a:latin typeface="Arial"/>
                <a:cs typeface="Arial"/>
              </a:rPr>
              <a:t>G </a:t>
            </a:r>
            <a:r>
              <a:rPr sz="2400" spc="-5" dirty="0">
                <a:latin typeface="Arial"/>
                <a:cs typeface="Arial"/>
              </a:rPr>
              <a:t>đối với nút </a:t>
            </a:r>
            <a:r>
              <a:rPr sz="2400" i="1" spc="-5" dirty="0">
                <a:latin typeface="Arial"/>
                <a:cs typeface="Arial"/>
              </a:rPr>
              <a:t>a. </a:t>
            </a:r>
            <a:r>
              <a:rPr sz="2400" b="1" i="1" dirty="0">
                <a:latin typeface="Arial"/>
                <a:cs typeface="Arial"/>
              </a:rPr>
              <a:t>X  </a:t>
            </a:r>
            <a:r>
              <a:rPr sz="2400" b="1" i="1" spc="-5" dirty="0">
                <a:latin typeface="Arial"/>
                <a:cs typeface="Arial"/>
              </a:rPr>
              <a:t>được gọi là </a:t>
            </a:r>
            <a:r>
              <a:rPr sz="2400" b="1" i="1" dirty="0">
                <a:latin typeface="Arial"/>
                <a:cs typeface="Arial"/>
              </a:rPr>
              <a:t>ưu </a:t>
            </a:r>
            <a:r>
              <a:rPr sz="2400" b="1" i="1" spc="-5" dirty="0">
                <a:latin typeface="Arial"/>
                <a:cs typeface="Arial"/>
              </a:rPr>
              <a:t>tiên (preferred) so</a:t>
            </a:r>
            <a:r>
              <a:rPr sz="2400" b="1" i="1" spc="10" dirty="0">
                <a:latin typeface="Arial"/>
                <a:cs typeface="Arial"/>
              </a:rPr>
              <a:t> </a:t>
            </a:r>
            <a:r>
              <a:rPr sz="2400" b="1" i="1" spc="-5" dirty="0">
                <a:latin typeface="Arial"/>
                <a:cs typeface="Arial"/>
              </a:rPr>
              <a:t>với</a:t>
            </a:r>
            <a:r>
              <a:rPr sz="2400" b="1" i="1" dirty="0">
                <a:latin typeface="Arial"/>
                <a:cs typeface="Arial"/>
              </a:rPr>
              <a:t> Y	</a:t>
            </a:r>
            <a:r>
              <a:rPr sz="2400" spc="-5" dirty="0">
                <a:latin typeface="Arial"/>
                <a:cs typeface="Arial"/>
              </a:rPr>
              <a:t>nếu và</a:t>
            </a:r>
            <a:r>
              <a:rPr sz="2400" spc="-80" dirty="0">
                <a:latin typeface="Arial"/>
                <a:cs typeface="Arial"/>
              </a:rPr>
              <a:t> </a:t>
            </a:r>
            <a:r>
              <a:rPr sz="2400" spc="-5" dirty="0">
                <a:latin typeface="Arial"/>
                <a:cs typeface="Arial"/>
              </a:rPr>
              <a:t>chỉ  nếu tồn tại các nút </a:t>
            </a:r>
            <a:r>
              <a:rPr sz="2400" i="1" dirty="0">
                <a:latin typeface="Arial"/>
                <a:cs typeface="Arial"/>
              </a:rPr>
              <a:t>v </a:t>
            </a:r>
            <a:r>
              <a:rPr sz="2400" spc="-5" dirty="0">
                <a:latin typeface="Arial"/>
                <a:cs typeface="Arial"/>
              </a:rPr>
              <a:t>và </a:t>
            </a:r>
            <a:r>
              <a:rPr sz="2400" i="1" dirty="0">
                <a:latin typeface="Arial"/>
                <a:cs typeface="Arial"/>
              </a:rPr>
              <a:t>x </a:t>
            </a:r>
            <a:r>
              <a:rPr sz="2400" spc="-5" dirty="0">
                <a:latin typeface="Arial"/>
                <a:cs typeface="Arial"/>
              </a:rPr>
              <a:t>sao cho:</a:t>
            </a:r>
            <a:endParaRPr sz="2400">
              <a:latin typeface="Arial"/>
              <a:cs typeface="Arial"/>
            </a:endParaRPr>
          </a:p>
          <a:p>
            <a:pPr marL="681990" marR="147955" lvl="1" indent="-325755">
              <a:lnSpc>
                <a:spcPct val="100000"/>
              </a:lnSpc>
              <a:spcBef>
                <a:spcPts val="1210"/>
              </a:spcBef>
              <a:buClr>
                <a:srgbClr val="3B822F"/>
              </a:buClr>
              <a:buSzPct val="60000"/>
              <a:buFont typeface="Wingdings"/>
              <a:buChar char=""/>
              <a:tabLst>
                <a:tab pos="681990" algn="l"/>
                <a:tab pos="682625" algn="l"/>
              </a:tabLst>
            </a:pPr>
            <a:r>
              <a:rPr sz="2000" i="1" spc="-5" dirty="0">
                <a:latin typeface="Arial"/>
                <a:cs typeface="Arial"/>
              </a:rPr>
              <a:t>X </a:t>
            </a:r>
            <a:r>
              <a:rPr sz="2000" spc="-5" dirty="0">
                <a:latin typeface="Arial"/>
                <a:cs typeface="Arial"/>
              </a:rPr>
              <a:t>và </a:t>
            </a:r>
            <a:r>
              <a:rPr sz="2000" i="1" spc="-5" dirty="0">
                <a:latin typeface="Arial"/>
                <a:cs typeface="Arial"/>
              </a:rPr>
              <a:t>Y </a:t>
            </a:r>
            <a:r>
              <a:rPr sz="2000" spc="-5" dirty="0">
                <a:latin typeface="Arial"/>
                <a:cs typeface="Arial"/>
              </a:rPr>
              <a:t>là như nhau (về các kết luận) đối với tất cả các cạnh kết  thúc ở nút trước</a:t>
            </a:r>
            <a:r>
              <a:rPr sz="2000" spc="-40" dirty="0">
                <a:latin typeface="Arial"/>
                <a:cs typeface="Arial"/>
              </a:rPr>
              <a:t> </a:t>
            </a:r>
            <a:r>
              <a:rPr sz="2000" i="1" spc="-5" dirty="0">
                <a:latin typeface="Arial"/>
                <a:cs typeface="Arial"/>
              </a:rPr>
              <a:t>v</a:t>
            </a:r>
            <a:r>
              <a:rPr sz="2000" spc="-5" dirty="0">
                <a:latin typeface="Arial"/>
                <a:cs typeface="Arial"/>
              </a:rPr>
              <a:t>,</a:t>
            </a:r>
            <a:endParaRPr sz="2000">
              <a:latin typeface="Arial"/>
              <a:cs typeface="Arial"/>
            </a:endParaRPr>
          </a:p>
          <a:p>
            <a:pPr marL="681990" marR="119380" lvl="1" indent="-325755">
              <a:lnSpc>
                <a:spcPct val="100000"/>
              </a:lnSpc>
              <a:spcBef>
                <a:spcPts val="1205"/>
              </a:spcBef>
              <a:buClr>
                <a:srgbClr val="3B822F"/>
              </a:buClr>
              <a:buSzPct val="60000"/>
              <a:buFont typeface="Wingdings"/>
              <a:buChar char=""/>
              <a:tabLst>
                <a:tab pos="681990" algn="l"/>
                <a:tab pos="682625" algn="l"/>
                <a:tab pos="3540125" algn="l"/>
                <a:tab pos="4163695" algn="l"/>
                <a:tab pos="5980430" algn="l"/>
                <a:tab pos="6868795" algn="l"/>
              </a:tabLst>
            </a:pPr>
            <a:r>
              <a:rPr sz="2000" spc="-5" dirty="0">
                <a:latin typeface="Arial"/>
                <a:cs typeface="Arial"/>
              </a:rPr>
              <a:t>Tồn tại một</a:t>
            </a:r>
            <a:r>
              <a:rPr sz="2000" spc="10" dirty="0">
                <a:latin typeface="Arial"/>
                <a:cs typeface="Arial"/>
              </a:rPr>
              <a:t> </a:t>
            </a:r>
            <a:r>
              <a:rPr sz="2000" spc="-5" dirty="0">
                <a:latin typeface="Arial"/>
                <a:cs typeface="Arial"/>
              </a:rPr>
              <a:t>cạnh</a:t>
            </a:r>
            <a:r>
              <a:rPr sz="2000" spc="5" dirty="0">
                <a:latin typeface="Arial"/>
                <a:cs typeface="Arial"/>
              </a:rPr>
              <a:t> </a:t>
            </a:r>
            <a:r>
              <a:rPr sz="2000" spc="-10" dirty="0">
                <a:latin typeface="Arial"/>
                <a:cs typeface="Arial"/>
              </a:rPr>
              <a:t>dương	</a:t>
            </a:r>
            <a:r>
              <a:rPr sz="2000" i="1" spc="-5" dirty="0">
                <a:latin typeface="Arial"/>
                <a:cs typeface="Arial"/>
              </a:rPr>
              <a:t>v • x	</a:t>
            </a:r>
            <a:r>
              <a:rPr sz="2000" spc="-5" dirty="0">
                <a:latin typeface="Arial"/>
                <a:cs typeface="Arial"/>
              </a:rPr>
              <a:t>(hoặc cạnh âm	</a:t>
            </a:r>
            <a:r>
              <a:rPr sz="2000" i="1" spc="-5" dirty="0">
                <a:latin typeface="Arial"/>
                <a:cs typeface="Arial"/>
              </a:rPr>
              <a:t>v</a:t>
            </a:r>
            <a:r>
              <a:rPr sz="2000" i="1" dirty="0">
                <a:latin typeface="Arial"/>
                <a:cs typeface="Arial"/>
              </a:rPr>
              <a:t> </a:t>
            </a:r>
            <a:r>
              <a:rPr sz="2000" i="1" spc="-5" dirty="0">
                <a:latin typeface="Arial"/>
                <a:cs typeface="Arial"/>
              </a:rPr>
              <a:t>• </a:t>
            </a:r>
            <a:r>
              <a:rPr sz="2000" spc="-5" dirty="0">
                <a:latin typeface="Symbol"/>
                <a:cs typeface="Symbol"/>
              </a:rPr>
              <a:t></a:t>
            </a:r>
            <a:r>
              <a:rPr sz="2000" i="1" spc="-5" dirty="0">
                <a:latin typeface="Arial"/>
                <a:cs typeface="Arial"/>
              </a:rPr>
              <a:t>x</a:t>
            </a:r>
            <a:r>
              <a:rPr sz="2000" spc="-5" dirty="0">
                <a:latin typeface="Arial"/>
                <a:cs typeface="Arial"/>
              </a:rPr>
              <a:t>)	là</a:t>
            </a:r>
            <a:r>
              <a:rPr sz="2000" spc="-75" dirty="0">
                <a:latin typeface="Arial"/>
                <a:cs typeface="Arial"/>
              </a:rPr>
              <a:t> </a:t>
            </a:r>
            <a:r>
              <a:rPr sz="2000" i="1" spc="-10" dirty="0">
                <a:latin typeface="Arial"/>
                <a:cs typeface="Arial"/>
              </a:rPr>
              <a:t>không  </a:t>
            </a:r>
            <a:r>
              <a:rPr sz="2000" i="1" spc="-5" dirty="0">
                <a:latin typeface="Arial"/>
                <a:cs typeface="Arial"/>
              </a:rPr>
              <a:t>chấp nhận được (inadmissible) </a:t>
            </a:r>
            <a:r>
              <a:rPr sz="2000" spc="-5" dirty="0">
                <a:latin typeface="Arial"/>
                <a:cs typeface="Arial"/>
              </a:rPr>
              <a:t>trong</a:t>
            </a:r>
            <a:r>
              <a:rPr sz="2000" dirty="0">
                <a:latin typeface="Arial"/>
                <a:cs typeface="Arial"/>
              </a:rPr>
              <a:t> </a:t>
            </a:r>
            <a:r>
              <a:rPr sz="2000" spc="-5" dirty="0">
                <a:latin typeface="Arial"/>
                <a:cs typeface="Arial"/>
              </a:rPr>
              <a:t>G,</a:t>
            </a:r>
            <a:endParaRPr sz="2000">
              <a:latin typeface="Arial"/>
              <a:cs typeface="Arial"/>
            </a:endParaRPr>
          </a:p>
          <a:p>
            <a:pPr marL="681990" marR="285750" lvl="1" indent="-325755">
              <a:lnSpc>
                <a:spcPct val="100000"/>
              </a:lnSpc>
              <a:spcBef>
                <a:spcPts val="1195"/>
              </a:spcBef>
              <a:buClr>
                <a:srgbClr val="3B822F"/>
              </a:buClr>
              <a:buSzPct val="60000"/>
              <a:buFont typeface="Wingdings"/>
              <a:buChar char=""/>
              <a:tabLst>
                <a:tab pos="681990" algn="l"/>
                <a:tab pos="682625" algn="l"/>
              </a:tabLst>
            </a:pPr>
            <a:r>
              <a:rPr sz="2000" spc="-5" dirty="0">
                <a:latin typeface="Arial"/>
                <a:cs typeface="Arial"/>
              </a:rPr>
              <a:t>Cạnh không chấp nhận được này có trong </a:t>
            </a:r>
            <a:r>
              <a:rPr sz="2000" i="1" spc="-5" dirty="0">
                <a:latin typeface="Arial"/>
                <a:cs typeface="Arial"/>
              </a:rPr>
              <a:t>Y</a:t>
            </a:r>
            <a:r>
              <a:rPr sz="2000" spc="-5" dirty="0">
                <a:latin typeface="Arial"/>
                <a:cs typeface="Arial"/>
              </a:rPr>
              <a:t>, nhưng </a:t>
            </a:r>
            <a:r>
              <a:rPr sz="2000" spc="-10" dirty="0">
                <a:latin typeface="Arial"/>
                <a:cs typeface="Arial"/>
              </a:rPr>
              <a:t>không có  </a:t>
            </a:r>
            <a:r>
              <a:rPr sz="2000" spc="-5" dirty="0">
                <a:latin typeface="Arial"/>
                <a:cs typeface="Arial"/>
              </a:rPr>
              <a:t>trong</a:t>
            </a:r>
            <a:r>
              <a:rPr sz="2000" spc="-25" dirty="0">
                <a:latin typeface="Arial"/>
                <a:cs typeface="Arial"/>
              </a:rPr>
              <a:t> </a:t>
            </a:r>
            <a:r>
              <a:rPr sz="2000" i="1" spc="-5" dirty="0">
                <a:latin typeface="Arial"/>
                <a:cs typeface="Arial"/>
              </a:rPr>
              <a:t>X</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846FC979-9107-4489-8613-69F9E27E5C3E}"/>
              </a:ext>
            </a:extLst>
          </p:cNvPr>
          <p:cNvSpPr>
            <a:spLocks noGrp="1"/>
          </p:cNvSpPr>
          <p:nvPr>
            <p:ph type="title"/>
          </p:nvPr>
        </p:nvSpPr>
        <p:spPr/>
        <p:txBody>
          <a:bodyPr/>
          <a:lstStyle/>
          <a:p>
            <a:r>
              <a:rPr lang="vi-VN" b="0">
                <a:latin typeface="Verdana"/>
                <a:cs typeface="Verdana"/>
              </a:rPr>
              <a:t>Sự </a:t>
            </a:r>
            <a:r>
              <a:rPr lang="vi-VN" b="0" spc="-5">
                <a:latin typeface="Verdana"/>
                <a:cs typeface="Verdana"/>
              </a:rPr>
              <a:t>mở rộng được </a:t>
            </a:r>
            <a:r>
              <a:rPr lang="vi-VN" b="0">
                <a:latin typeface="Verdana"/>
                <a:cs typeface="Verdana"/>
              </a:rPr>
              <a:t>ưu</a:t>
            </a:r>
            <a:r>
              <a:rPr lang="vi-VN" b="0" spc="-60">
                <a:latin typeface="Verdana"/>
                <a:cs typeface="Verdana"/>
              </a:rPr>
              <a:t> </a:t>
            </a:r>
            <a:r>
              <a:rPr lang="vi-VN" b="0" spc="-5">
                <a:latin typeface="Verdana"/>
                <a:cs typeface="Verdana"/>
              </a:rPr>
              <a:t>tiên</a:t>
            </a:r>
            <a:endParaRPr lang="en-US" b="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0" name="object 3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31" name="object 3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67</a:t>
            </a:fld>
            <a:endParaRPr spc="-40" dirty="0"/>
          </a:p>
        </p:txBody>
      </p:sp>
      <p:sp>
        <p:nvSpPr>
          <p:cNvPr id="3" name="object 3"/>
          <p:cNvSpPr/>
          <p:nvPr/>
        </p:nvSpPr>
        <p:spPr>
          <a:xfrm>
            <a:off x="5699625" y="2156460"/>
            <a:ext cx="431165" cy="259079"/>
          </a:xfrm>
          <a:custGeom>
            <a:avLst/>
            <a:gdLst/>
            <a:ahLst/>
            <a:cxnLst/>
            <a:rect l="l" t="t" r="r" b="b"/>
            <a:pathLst>
              <a:path w="431164" h="259080">
                <a:moveTo>
                  <a:pt x="312627" y="47638"/>
                </a:moveTo>
                <a:lnTo>
                  <a:pt x="307614" y="32277"/>
                </a:lnTo>
                <a:lnTo>
                  <a:pt x="275003" y="45670"/>
                </a:lnTo>
                <a:lnTo>
                  <a:pt x="232234" y="66509"/>
                </a:lnTo>
                <a:lnTo>
                  <a:pt x="191209" y="89825"/>
                </a:lnTo>
                <a:lnTo>
                  <a:pt x="152031" y="115495"/>
                </a:lnTo>
                <a:lnTo>
                  <a:pt x="114803" y="143393"/>
                </a:lnTo>
                <a:lnTo>
                  <a:pt x="79627" y="173397"/>
                </a:lnTo>
                <a:lnTo>
                  <a:pt x="46608" y="205382"/>
                </a:lnTo>
                <a:lnTo>
                  <a:pt x="15849" y="239224"/>
                </a:lnTo>
                <a:lnTo>
                  <a:pt x="0" y="259080"/>
                </a:lnTo>
                <a:lnTo>
                  <a:pt x="20363" y="259080"/>
                </a:lnTo>
                <a:lnTo>
                  <a:pt x="23658" y="254862"/>
                </a:lnTo>
                <a:lnTo>
                  <a:pt x="54079" y="220779"/>
                </a:lnTo>
                <a:lnTo>
                  <a:pt x="86792" y="188594"/>
                </a:lnTo>
                <a:lnTo>
                  <a:pt x="121683" y="158438"/>
                </a:lnTo>
                <a:lnTo>
                  <a:pt x="158635" y="130442"/>
                </a:lnTo>
                <a:lnTo>
                  <a:pt x="197534" y="104736"/>
                </a:lnTo>
                <a:lnTo>
                  <a:pt x="238262" y="81452"/>
                </a:lnTo>
                <a:lnTo>
                  <a:pt x="280705" y="60720"/>
                </a:lnTo>
                <a:lnTo>
                  <a:pt x="312627" y="47638"/>
                </a:lnTo>
                <a:close/>
              </a:path>
              <a:path w="431164" h="259080">
                <a:moveTo>
                  <a:pt x="430664" y="0"/>
                </a:moveTo>
                <a:lnTo>
                  <a:pt x="298076" y="3048"/>
                </a:lnTo>
                <a:lnTo>
                  <a:pt x="307614" y="32277"/>
                </a:lnTo>
                <a:lnTo>
                  <a:pt x="319412" y="27432"/>
                </a:lnTo>
                <a:lnTo>
                  <a:pt x="324746" y="42672"/>
                </a:lnTo>
                <a:lnTo>
                  <a:pt x="324746" y="73327"/>
                </a:lnTo>
                <a:lnTo>
                  <a:pt x="430664" y="0"/>
                </a:lnTo>
                <a:close/>
              </a:path>
              <a:path w="431164" h="259080">
                <a:moveTo>
                  <a:pt x="324746" y="42672"/>
                </a:moveTo>
                <a:lnTo>
                  <a:pt x="319412" y="27432"/>
                </a:lnTo>
                <a:lnTo>
                  <a:pt x="307614" y="32277"/>
                </a:lnTo>
                <a:lnTo>
                  <a:pt x="312627" y="47638"/>
                </a:lnTo>
                <a:lnTo>
                  <a:pt x="324746" y="42672"/>
                </a:lnTo>
                <a:close/>
              </a:path>
              <a:path w="431164" h="259080">
                <a:moveTo>
                  <a:pt x="324746" y="73327"/>
                </a:moveTo>
                <a:lnTo>
                  <a:pt x="324746" y="42672"/>
                </a:lnTo>
                <a:lnTo>
                  <a:pt x="312627" y="47638"/>
                </a:lnTo>
                <a:lnTo>
                  <a:pt x="321698" y="75438"/>
                </a:lnTo>
                <a:lnTo>
                  <a:pt x="324746" y="73327"/>
                </a:lnTo>
                <a:close/>
              </a:path>
            </a:pathLst>
          </a:custGeom>
          <a:solidFill>
            <a:srgbClr val="000000"/>
          </a:solidFill>
        </p:spPr>
        <p:txBody>
          <a:bodyPr wrap="square" lIns="0" tIns="0" rIns="0" bIns="0" rtlCol="0"/>
          <a:lstStyle/>
          <a:p>
            <a:endParaRPr/>
          </a:p>
        </p:txBody>
      </p:sp>
      <p:sp>
        <p:nvSpPr>
          <p:cNvPr id="4" name="object 4"/>
          <p:cNvSpPr txBox="1"/>
          <p:nvPr/>
        </p:nvSpPr>
        <p:spPr>
          <a:xfrm>
            <a:off x="1145539" y="2770124"/>
            <a:ext cx="1923414"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Aquatic creature</a:t>
            </a:r>
            <a:r>
              <a:rPr sz="1600" b="1" spc="-65" dirty="0">
                <a:latin typeface="Arial"/>
                <a:cs typeface="Arial"/>
              </a:rPr>
              <a:t> </a:t>
            </a:r>
            <a:r>
              <a:rPr sz="1600" dirty="0">
                <a:latin typeface="Arial"/>
                <a:cs typeface="Arial"/>
              </a:rPr>
              <a:t>(x)</a:t>
            </a:r>
            <a:endParaRPr sz="1600">
              <a:latin typeface="Arial"/>
              <a:cs typeface="Arial"/>
            </a:endParaRPr>
          </a:p>
        </p:txBody>
      </p:sp>
      <p:sp>
        <p:nvSpPr>
          <p:cNvPr id="5" name="object 5"/>
          <p:cNvSpPr/>
          <p:nvPr/>
        </p:nvSpPr>
        <p:spPr>
          <a:xfrm>
            <a:off x="1310576" y="3070859"/>
            <a:ext cx="823594" cy="323850"/>
          </a:xfrm>
          <a:custGeom>
            <a:avLst/>
            <a:gdLst/>
            <a:ahLst/>
            <a:cxnLst/>
            <a:rect l="l" t="t" r="r" b="b"/>
            <a:pathLst>
              <a:path w="823594" h="323850">
                <a:moveTo>
                  <a:pt x="476313" y="0"/>
                </a:moveTo>
                <a:lnTo>
                  <a:pt x="343725" y="3048"/>
                </a:lnTo>
                <a:lnTo>
                  <a:pt x="353263" y="32283"/>
                </a:lnTo>
                <a:lnTo>
                  <a:pt x="320649" y="45681"/>
                </a:lnTo>
                <a:lnTo>
                  <a:pt x="277876" y="66509"/>
                </a:lnTo>
                <a:lnTo>
                  <a:pt x="236855" y="89827"/>
                </a:lnTo>
                <a:lnTo>
                  <a:pt x="197675" y="115506"/>
                </a:lnTo>
                <a:lnTo>
                  <a:pt x="160451" y="143395"/>
                </a:lnTo>
                <a:lnTo>
                  <a:pt x="125272" y="173405"/>
                </a:lnTo>
                <a:lnTo>
                  <a:pt x="92252" y="205384"/>
                </a:lnTo>
                <a:lnTo>
                  <a:pt x="61493" y="239229"/>
                </a:lnTo>
                <a:lnTo>
                  <a:pt x="33096" y="274802"/>
                </a:lnTo>
                <a:lnTo>
                  <a:pt x="7162" y="311988"/>
                </a:lnTo>
                <a:lnTo>
                  <a:pt x="0" y="323850"/>
                </a:lnTo>
                <a:lnTo>
                  <a:pt x="18757" y="323850"/>
                </a:lnTo>
                <a:lnTo>
                  <a:pt x="41287" y="290715"/>
                </a:lnTo>
                <a:lnTo>
                  <a:pt x="69303" y="254863"/>
                </a:lnTo>
                <a:lnTo>
                  <a:pt x="99720" y="220789"/>
                </a:lnTo>
                <a:lnTo>
                  <a:pt x="132435" y="188595"/>
                </a:lnTo>
                <a:lnTo>
                  <a:pt x="167322" y="158445"/>
                </a:lnTo>
                <a:lnTo>
                  <a:pt x="204279" y="130454"/>
                </a:lnTo>
                <a:lnTo>
                  <a:pt x="243179" y="104749"/>
                </a:lnTo>
                <a:lnTo>
                  <a:pt x="283908" y="81457"/>
                </a:lnTo>
                <a:lnTo>
                  <a:pt x="326351" y="60731"/>
                </a:lnTo>
                <a:lnTo>
                  <a:pt x="358267" y="47650"/>
                </a:lnTo>
                <a:lnTo>
                  <a:pt x="367347" y="75438"/>
                </a:lnTo>
                <a:lnTo>
                  <a:pt x="370395" y="73329"/>
                </a:lnTo>
                <a:lnTo>
                  <a:pt x="476313" y="0"/>
                </a:lnTo>
                <a:close/>
              </a:path>
              <a:path w="823594" h="323850">
                <a:moveTo>
                  <a:pt x="823023" y="274320"/>
                </a:moveTo>
                <a:lnTo>
                  <a:pt x="680135" y="274320"/>
                </a:lnTo>
                <a:lnTo>
                  <a:pt x="680478" y="182118"/>
                </a:lnTo>
                <a:lnTo>
                  <a:pt x="710247" y="182118"/>
                </a:lnTo>
                <a:lnTo>
                  <a:pt x="672909" y="55626"/>
                </a:lnTo>
                <a:lnTo>
                  <a:pt x="634047" y="182118"/>
                </a:lnTo>
                <a:lnTo>
                  <a:pt x="664476" y="182118"/>
                </a:lnTo>
                <a:lnTo>
                  <a:pt x="664133" y="274320"/>
                </a:lnTo>
                <a:lnTo>
                  <a:pt x="442023" y="274320"/>
                </a:lnTo>
                <a:lnTo>
                  <a:pt x="442023" y="290322"/>
                </a:lnTo>
                <a:lnTo>
                  <a:pt x="664070" y="290322"/>
                </a:lnTo>
                <a:lnTo>
                  <a:pt x="663956" y="323850"/>
                </a:lnTo>
                <a:lnTo>
                  <a:pt x="679958" y="323850"/>
                </a:lnTo>
                <a:lnTo>
                  <a:pt x="680072" y="290322"/>
                </a:lnTo>
                <a:lnTo>
                  <a:pt x="823023" y="290322"/>
                </a:lnTo>
                <a:lnTo>
                  <a:pt x="823023" y="274320"/>
                </a:lnTo>
                <a:close/>
              </a:path>
            </a:pathLst>
          </a:custGeom>
          <a:solidFill>
            <a:srgbClr val="000000"/>
          </a:solidFill>
        </p:spPr>
        <p:txBody>
          <a:bodyPr wrap="square" lIns="0" tIns="0" rIns="0" bIns="0" rtlCol="0"/>
          <a:lstStyle/>
          <a:p>
            <a:endParaRPr/>
          </a:p>
        </p:txBody>
      </p:sp>
      <p:sp>
        <p:nvSpPr>
          <p:cNvPr id="6" name="object 6"/>
          <p:cNvSpPr txBox="1"/>
          <p:nvPr/>
        </p:nvSpPr>
        <p:spPr>
          <a:xfrm>
            <a:off x="5869940" y="2770124"/>
            <a:ext cx="113474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r>
              <a:rPr sz="1600" b="1" spc="-55" dirty="0">
                <a:latin typeface="Arial"/>
                <a:cs typeface="Arial"/>
              </a:rPr>
              <a:t> </a:t>
            </a:r>
            <a:r>
              <a:rPr sz="1600" dirty="0">
                <a:latin typeface="Arial"/>
                <a:cs typeface="Arial"/>
              </a:rPr>
              <a:t>(v)</a:t>
            </a:r>
            <a:endParaRPr sz="1600">
              <a:latin typeface="Arial"/>
              <a:cs typeface="Arial"/>
            </a:endParaRPr>
          </a:p>
        </p:txBody>
      </p:sp>
      <p:sp>
        <p:nvSpPr>
          <p:cNvPr id="7" name="object 7"/>
          <p:cNvSpPr/>
          <p:nvPr/>
        </p:nvSpPr>
        <p:spPr>
          <a:xfrm>
            <a:off x="6288024" y="3047999"/>
            <a:ext cx="76200" cy="447040"/>
          </a:xfrm>
          <a:custGeom>
            <a:avLst/>
            <a:gdLst/>
            <a:ahLst/>
            <a:cxnLst/>
            <a:rect l="l" t="t" r="r" b="b"/>
            <a:pathLst>
              <a:path w="76200" h="447039">
                <a:moveTo>
                  <a:pt x="76200" y="127254"/>
                </a:moveTo>
                <a:lnTo>
                  <a:pt x="38862" y="0"/>
                </a:lnTo>
                <a:lnTo>
                  <a:pt x="0" y="127254"/>
                </a:lnTo>
                <a:lnTo>
                  <a:pt x="30416" y="127254"/>
                </a:lnTo>
                <a:lnTo>
                  <a:pt x="29413" y="346710"/>
                </a:lnTo>
                <a:lnTo>
                  <a:pt x="28956" y="446532"/>
                </a:lnTo>
                <a:lnTo>
                  <a:pt x="44958" y="446532"/>
                </a:lnTo>
                <a:lnTo>
                  <a:pt x="45186" y="346710"/>
                </a:lnTo>
                <a:lnTo>
                  <a:pt x="45681" y="127254"/>
                </a:lnTo>
                <a:lnTo>
                  <a:pt x="76200" y="127254"/>
                </a:lnTo>
                <a:close/>
              </a:path>
            </a:pathLst>
          </a:custGeom>
          <a:solidFill>
            <a:srgbClr val="000000"/>
          </a:solidFill>
        </p:spPr>
        <p:txBody>
          <a:bodyPr wrap="square" lIns="0" tIns="0" rIns="0" bIns="0" rtlCol="0"/>
          <a:lstStyle/>
          <a:p>
            <a:endParaRPr/>
          </a:p>
        </p:txBody>
      </p:sp>
      <p:sp>
        <p:nvSpPr>
          <p:cNvPr id="8" name="object 8"/>
          <p:cNvSpPr/>
          <p:nvPr/>
        </p:nvSpPr>
        <p:spPr>
          <a:xfrm>
            <a:off x="5554843" y="2415539"/>
            <a:ext cx="372110" cy="979169"/>
          </a:xfrm>
          <a:custGeom>
            <a:avLst/>
            <a:gdLst/>
            <a:ahLst/>
            <a:cxnLst/>
            <a:rect l="l" t="t" r="r" b="b"/>
            <a:pathLst>
              <a:path w="372110" h="979170">
                <a:moveTo>
                  <a:pt x="165144" y="0"/>
                </a:moveTo>
                <a:lnTo>
                  <a:pt x="144781" y="0"/>
                </a:lnTo>
                <a:lnTo>
                  <a:pt x="132233" y="15719"/>
                </a:lnTo>
                <a:lnTo>
                  <a:pt x="106302" y="52904"/>
                </a:lnTo>
                <a:lnTo>
                  <a:pt x="82940" y="91574"/>
                </a:lnTo>
                <a:lnTo>
                  <a:pt x="62249" y="131606"/>
                </a:lnTo>
                <a:lnTo>
                  <a:pt x="44334" y="172875"/>
                </a:lnTo>
                <a:lnTo>
                  <a:pt x="29298" y="215258"/>
                </a:lnTo>
                <a:lnTo>
                  <a:pt x="17243" y="258631"/>
                </a:lnTo>
                <a:lnTo>
                  <a:pt x="8273" y="302869"/>
                </a:lnTo>
                <a:lnTo>
                  <a:pt x="2491" y="347849"/>
                </a:lnTo>
                <a:lnTo>
                  <a:pt x="0" y="393446"/>
                </a:lnTo>
                <a:lnTo>
                  <a:pt x="903" y="439538"/>
                </a:lnTo>
                <a:lnTo>
                  <a:pt x="5303" y="485999"/>
                </a:lnTo>
                <a:lnTo>
                  <a:pt x="13305" y="532707"/>
                </a:lnTo>
                <a:lnTo>
                  <a:pt x="15818" y="542762"/>
                </a:lnTo>
                <a:lnTo>
                  <a:pt x="15818" y="412202"/>
                </a:lnTo>
                <a:lnTo>
                  <a:pt x="16942" y="366338"/>
                </a:lnTo>
                <a:lnTo>
                  <a:pt x="21516" y="321063"/>
                </a:lnTo>
                <a:lnTo>
                  <a:pt x="29425" y="276509"/>
                </a:lnTo>
                <a:lnTo>
                  <a:pt x="40554" y="232805"/>
                </a:lnTo>
                <a:lnTo>
                  <a:pt x="54785" y="190083"/>
                </a:lnTo>
                <a:lnTo>
                  <a:pt x="72004" y="148474"/>
                </a:lnTo>
                <a:lnTo>
                  <a:pt x="92095" y="108108"/>
                </a:lnTo>
                <a:lnTo>
                  <a:pt x="114941" y="69117"/>
                </a:lnTo>
                <a:lnTo>
                  <a:pt x="140428" y="31631"/>
                </a:lnTo>
                <a:lnTo>
                  <a:pt x="165144" y="0"/>
                </a:lnTo>
                <a:close/>
              </a:path>
              <a:path w="372110" h="979170">
                <a:moveTo>
                  <a:pt x="371599" y="979169"/>
                </a:moveTo>
                <a:lnTo>
                  <a:pt x="314305" y="944130"/>
                </a:lnTo>
                <a:lnTo>
                  <a:pt x="274650" y="915163"/>
                </a:lnTo>
                <a:lnTo>
                  <a:pt x="237076" y="883690"/>
                </a:lnTo>
                <a:lnTo>
                  <a:pt x="201770" y="849778"/>
                </a:lnTo>
                <a:lnTo>
                  <a:pt x="168921" y="813497"/>
                </a:lnTo>
                <a:lnTo>
                  <a:pt x="138719" y="774913"/>
                </a:lnTo>
                <a:lnTo>
                  <a:pt x="111351" y="734097"/>
                </a:lnTo>
                <a:lnTo>
                  <a:pt x="87006" y="691116"/>
                </a:lnTo>
                <a:lnTo>
                  <a:pt x="65874" y="646038"/>
                </a:lnTo>
                <a:lnTo>
                  <a:pt x="48141" y="598932"/>
                </a:lnTo>
                <a:lnTo>
                  <a:pt x="34306" y="552020"/>
                </a:lnTo>
                <a:lnTo>
                  <a:pt x="24384" y="505173"/>
                </a:lnTo>
                <a:lnTo>
                  <a:pt x="18260" y="458524"/>
                </a:lnTo>
                <a:lnTo>
                  <a:pt x="15818" y="412202"/>
                </a:lnTo>
                <a:lnTo>
                  <a:pt x="15818" y="542762"/>
                </a:lnTo>
                <a:lnTo>
                  <a:pt x="40554" y="626440"/>
                </a:lnTo>
                <a:lnTo>
                  <a:pt x="59920" y="672204"/>
                </a:lnTo>
                <a:lnTo>
                  <a:pt x="82408" y="716059"/>
                </a:lnTo>
                <a:lnTo>
                  <a:pt x="107821" y="757865"/>
                </a:lnTo>
                <a:lnTo>
                  <a:pt x="135997" y="797559"/>
                </a:lnTo>
                <a:lnTo>
                  <a:pt x="166771" y="835078"/>
                </a:lnTo>
                <a:lnTo>
                  <a:pt x="199981" y="870358"/>
                </a:lnTo>
                <a:lnTo>
                  <a:pt x="235463" y="903337"/>
                </a:lnTo>
                <a:lnTo>
                  <a:pt x="273054" y="933950"/>
                </a:lnTo>
                <a:lnTo>
                  <a:pt x="312592" y="962135"/>
                </a:lnTo>
                <a:lnTo>
                  <a:pt x="339987" y="979170"/>
                </a:lnTo>
                <a:lnTo>
                  <a:pt x="371599" y="979169"/>
                </a:lnTo>
                <a:close/>
              </a:path>
            </a:pathLst>
          </a:custGeom>
          <a:solidFill>
            <a:srgbClr val="000000"/>
          </a:solidFill>
        </p:spPr>
        <p:txBody>
          <a:bodyPr wrap="square" lIns="0" tIns="0" rIns="0" bIns="0" rtlCol="0"/>
          <a:lstStyle/>
          <a:p>
            <a:endParaRPr/>
          </a:p>
        </p:txBody>
      </p:sp>
      <p:sp>
        <p:nvSpPr>
          <p:cNvPr id="9" name="object 9"/>
          <p:cNvSpPr txBox="1"/>
          <p:nvPr/>
        </p:nvSpPr>
        <p:spPr>
          <a:xfrm>
            <a:off x="5488940" y="1855724"/>
            <a:ext cx="3340735" cy="909319"/>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Aquatic creature</a:t>
            </a:r>
            <a:r>
              <a:rPr sz="1600" b="1" spc="-10" dirty="0">
                <a:latin typeface="Arial"/>
                <a:cs typeface="Arial"/>
              </a:rPr>
              <a:t> </a:t>
            </a:r>
            <a:r>
              <a:rPr sz="1600" dirty="0">
                <a:latin typeface="Arial"/>
                <a:cs typeface="Arial"/>
              </a:rPr>
              <a:t>(x)</a:t>
            </a:r>
            <a:endParaRPr sz="1600">
              <a:latin typeface="Arial"/>
              <a:cs typeface="Arial"/>
            </a:endParaRPr>
          </a:p>
          <a:p>
            <a:pPr>
              <a:lnSpc>
                <a:spcPct val="100000"/>
              </a:lnSpc>
              <a:spcBef>
                <a:spcPts val="5"/>
              </a:spcBef>
            </a:pPr>
            <a:endParaRPr sz="2500">
              <a:latin typeface="Arial"/>
              <a:cs typeface="Arial"/>
            </a:endParaRPr>
          </a:p>
          <a:p>
            <a:pPr marR="5080" algn="r">
              <a:lnSpc>
                <a:spcPct val="100000"/>
              </a:lnSpc>
            </a:pPr>
            <a:r>
              <a:rPr sz="1800" u="heavy" dirty="0">
                <a:uFill>
                  <a:solidFill>
                    <a:srgbClr val="000000"/>
                  </a:solidFill>
                </a:uFill>
                <a:latin typeface="Arial"/>
                <a:cs typeface="Arial"/>
              </a:rPr>
              <a:t>Preferred</a:t>
            </a:r>
            <a:endParaRPr sz="1800">
              <a:latin typeface="Arial"/>
              <a:cs typeface="Arial"/>
            </a:endParaRPr>
          </a:p>
        </p:txBody>
      </p:sp>
      <p:grpSp>
        <p:nvGrpSpPr>
          <p:cNvPr id="10" name="object 10"/>
          <p:cNvGrpSpPr/>
          <p:nvPr/>
        </p:nvGrpSpPr>
        <p:grpSpPr>
          <a:xfrm>
            <a:off x="3516629" y="2926079"/>
            <a:ext cx="1628139" cy="794385"/>
            <a:chOff x="3516629" y="2926079"/>
            <a:chExt cx="1628139" cy="794385"/>
          </a:xfrm>
        </p:grpSpPr>
        <p:sp>
          <p:nvSpPr>
            <p:cNvPr id="11" name="object 11"/>
            <p:cNvSpPr/>
            <p:nvPr/>
          </p:nvSpPr>
          <p:spPr>
            <a:xfrm>
              <a:off x="3973010" y="2950463"/>
              <a:ext cx="1155065" cy="444500"/>
            </a:xfrm>
            <a:custGeom>
              <a:avLst/>
              <a:gdLst/>
              <a:ahLst/>
              <a:cxnLst/>
              <a:rect l="l" t="t" r="r" b="b"/>
              <a:pathLst>
                <a:path w="1155064" h="444500">
                  <a:moveTo>
                    <a:pt x="1154486" y="88392"/>
                  </a:moveTo>
                  <a:lnTo>
                    <a:pt x="957890" y="0"/>
                  </a:lnTo>
                  <a:lnTo>
                    <a:pt x="985322" y="70866"/>
                  </a:lnTo>
                  <a:lnTo>
                    <a:pt x="0" y="444246"/>
                  </a:lnTo>
                  <a:lnTo>
                    <a:pt x="430133" y="444246"/>
                  </a:lnTo>
                  <a:lnTo>
                    <a:pt x="1039424" y="213360"/>
                  </a:lnTo>
                  <a:lnTo>
                    <a:pt x="1066094" y="284988"/>
                  </a:lnTo>
                  <a:lnTo>
                    <a:pt x="1154486" y="88392"/>
                  </a:lnTo>
                  <a:close/>
                </a:path>
              </a:pathLst>
            </a:custGeom>
            <a:solidFill>
              <a:srgbClr val="CC9900"/>
            </a:solidFill>
          </p:spPr>
          <p:txBody>
            <a:bodyPr wrap="square" lIns="0" tIns="0" rIns="0" bIns="0" rtlCol="0"/>
            <a:lstStyle/>
            <a:p>
              <a:endParaRPr/>
            </a:p>
          </p:txBody>
        </p:sp>
        <p:sp>
          <p:nvSpPr>
            <p:cNvPr id="12" name="object 12"/>
            <p:cNvSpPr/>
            <p:nvPr/>
          </p:nvSpPr>
          <p:spPr>
            <a:xfrm>
              <a:off x="3937303" y="2926079"/>
              <a:ext cx="1207135" cy="468630"/>
            </a:xfrm>
            <a:custGeom>
              <a:avLst/>
              <a:gdLst/>
              <a:ahLst/>
              <a:cxnLst/>
              <a:rect l="l" t="t" r="r" b="b"/>
              <a:pathLst>
                <a:path w="1207135" h="468629">
                  <a:moveTo>
                    <a:pt x="1016458" y="110658"/>
                  </a:moveTo>
                  <a:lnTo>
                    <a:pt x="1016458" y="83819"/>
                  </a:lnTo>
                  <a:lnTo>
                    <a:pt x="1008838" y="99821"/>
                  </a:lnTo>
                  <a:lnTo>
                    <a:pt x="1004464" y="88360"/>
                  </a:lnTo>
                  <a:lnTo>
                    <a:pt x="0" y="468630"/>
                  </a:lnTo>
                  <a:lnTo>
                    <a:pt x="70893" y="468630"/>
                  </a:lnTo>
                  <a:lnTo>
                    <a:pt x="1016458" y="110658"/>
                  </a:lnTo>
                  <a:close/>
                </a:path>
                <a:path w="1207135" h="468629">
                  <a:moveTo>
                    <a:pt x="1102935" y="276097"/>
                  </a:moveTo>
                  <a:lnTo>
                    <a:pt x="1081990" y="221742"/>
                  </a:lnTo>
                  <a:lnTo>
                    <a:pt x="429846" y="468630"/>
                  </a:lnTo>
                  <a:lnTo>
                    <a:pt x="501272" y="468630"/>
                  </a:lnTo>
                  <a:lnTo>
                    <a:pt x="1062940" y="255994"/>
                  </a:lnTo>
                  <a:lnTo>
                    <a:pt x="1062940" y="242315"/>
                  </a:lnTo>
                  <a:lnTo>
                    <a:pt x="1078942" y="249936"/>
                  </a:lnTo>
                  <a:lnTo>
                    <a:pt x="1078942" y="284241"/>
                  </a:lnTo>
                  <a:lnTo>
                    <a:pt x="1090372" y="314187"/>
                  </a:lnTo>
                  <a:lnTo>
                    <a:pt x="1090372" y="304038"/>
                  </a:lnTo>
                  <a:lnTo>
                    <a:pt x="1102935" y="276097"/>
                  </a:lnTo>
                  <a:close/>
                </a:path>
                <a:path w="1207135" h="468629">
                  <a:moveTo>
                    <a:pt x="1206958" y="106680"/>
                  </a:moveTo>
                  <a:lnTo>
                    <a:pt x="970738" y="0"/>
                  </a:lnTo>
                  <a:lnTo>
                    <a:pt x="988264" y="45918"/>
                  </a:lnTo>
                  <a:lnTo>
                    <a:pt x="988264" y="35813"/>
                  </a:lnTo>
                  <a:lnTo>
                    <a:pt x="1005790" y="19812"/>
                  </a:lnTo>
                  <a:lnTo>
                    <a:pt x="1016602" y="48554"/>
                  </a:lnTo>
                  <a:lnTo>
                    <a:pt x="1173520" y="119107"/>
                  </a:lnTo>
                  <a:lnTo>
                    <a:pt x="1178764" y="107442"/>
                  </a:lnTo>
                  <a:lnTo>
                    <a:pt x="1184860" y="124206"/>
                  </a:lnTo>
                  <a:lnTo>
                    <a:pt x="1184860" y="155804"/>
                  </a:lnTo>
                  <a:lnTo>
                    <a:pt x="1206958" y="106680"/>
                  </a:lnTo>
                  <a:close/>
                </a:path>
                <a:path w="1207135" h="468629">
                  <a:moveTo>
                    <a:pt x="1016602" y="48554"/>
                  </a:moveTo>
                  <a:lnTo>
                    <a:pt x="1005790" y="19812"/>
                  </a:lnTo>
                  <a:lnTo>
                    <a:pt x="988264" y="35813"/>
                  </a:lnTo>
                  <a:lnTo>
                    <a:pt x="1016602" y="48554"/>
                  </a:lnTo>
                  <a:close/>
                </a:path>
                <a:path w="1207135" h="468629">
                  <a:moveTo>
                    <a:pt x="1037032" y="102869"/>
                  </a:moveTo>
                  <a:lnTo>
                    <a:pt x="1016602" y="48554"/>
                  </a:lnTo>
                  <a:lnTo>
                    <a:pt x="988264" y="35813"/>
                  </a:lnTo>
                  <a:lnTo>
                    <a:pt x="988264" y="45918"/>
                  </a:lnTo>
                  <a:lnTo>
                    <a:pt x="1004464" y="88360"/>
                  </a:lnTo>
                  <a:lnTo>
                    <a:pt x="1016458" y="83819"/>
                  </a:lnTo>
                  <a:lnTo>
                    <a:pt x="1016458" y="110658"/>
                  </a:lnTo>
                  <a:lnTo>
                    <a:pt x="1037032" y="102869"/>
                  </a:lnTo>
                  <a:close/>
                </a:path>
                <a:path w="1207135" h="468629">
                  <a:moveTo>
                    <a:pt x="1016458" y="83819"/>
                  </a:moveTo>
                  <a:lnTo>
                    <a:pt x="1004464" y="88360"/>
                  </a:lnTo>
                  <a:lnTo>
                    <a:pt x="1008838" y="99821"/>
                  </a:lnTo>
                  <a:lnTo>
                    <a:pt x="1016458" y="83819"/>
                  </a:lnTo>
                  <a:close/>
                </a:path>
                <a:path w="1207135" h="468629">
                  <a:moveTo>
                    <a:pt x="1078942" y="249936"/>
                  </a:moveTo>
                  <a:lnTo>
                    <a:pt x="1062940" y="242315"/>
                  </a:lnTo>
                  <a:lnTo>
                    <a:pt x="1067502" y="254267"/>
                  </a:lnTo>
                  <a:lnTo>
                    <a:pt x="1078942" y="249936"/>
                  </a:lnTo>
                  <a:close/>
                </a:path>
                <a:path w="1207135" h="468629">
                  <a:moveTo>
                    <a:pt x="1067502" y="254267"/>
                  </a:moveTo>
                  <a:lnTo>
                    <a:pt x="1062940" y="242315"/>
                  </a:lnTo>
                  <a:lnTo>
                    <a:pt x="1062940" y="255994"/>
                  </a:lnTo>
                  <a:lnTo>
                    <a:pt x="1067502" y="254267"/>
                  </a:lnTo>
                  <a:close/>
                </a:path>
                <a:path w="1207135" h="468629">
                  <a:moveTo>
                    <a:pt x="1078942" y="284241"/>
                  </a:moveTo>
                  <a:lnTo>
                    <a:pt x="1078942" y="249936"/>
                  </a:lnTo>
                  <a:lnTo>
                    <a:pt x="1067502" y="254267"/>
                  </a:lnTo>
                  <a:lnTo>
                    <a:pt x="1078942" y="284241"/>
                  </a:lnTo>
                  <a:close/>
                </a:path>
                <a:path w="1207135" h="468629">
                  <a:moveTo>
                    <a:pt x="1113994" y="304800"/>
                  </a:moveTo>
                  <a:lnTo>
                    <a:pt x="1102935" y="276097"/>
                  </a:lnTo>
                  <a:lnTo>
                    <a:pt x="1090372" y="304038"/>
                  </a:lnTo>
                  <a:lnTo>
                    <a:pt x="1113994" y="304800"/>
                  </a:lnTo>
                  <a:close/>
                </a:path>
                <a:path w="1207135" h="468629">
                  <a:moveTo>
                    <a:pt x="1113994" y="313340"/>
                  </a:moveTo>
                  <a:lnTo>
                    <a:pt x="1113994" y="304800"/>
                  </a:lnTo>
                  <a:lnTo>
                    <a:pt x="1090372" y="304038"/>
                  </a:lnTo>
                  <a:lnTo>
                    <a:pt x="1090372" y="314187"/>
                  </a:lnTo>
                  <a:lnTo>
                    <a:pt x="1101040" y="342138"/>
                  </a:lnTo>
                  <a:lnTo>
                    <a:pt x="1113994" y="313340"/>
                  </a:lnTo>
                  <a:close/>
                </a:path>
                <a:path w="1207135" h="468629">
                  <a:moveTo>
                    <a:pt x="1184860" y="155804"/>
                  </a:moveTo>
                  <a:lnTo>
                    <a:pt x="1184860" y="124206"/>
                  </a:lnTo>
                  <a:lnTo>
                    <a:pt x="1173520" y="119107"/>
                  </a:lnTo>
                  <a:lnTo>
                    <a:pt x="1102935" y="276097"/>
                  </a:lnTo>
                  <a:lnTo>
                    <a:pt x="1113994" y="304800"/>
                  </a:lnTo>
                  <a:lnTo>
                    <a:pt x="1113994" y="313340"/>
                  </a:lnTo>
                  <a:lnTo>
                    <a:pt x="1184860" y="155804"/>
                  </a:lnTo>
                  <a:close/>
                </a:path>
                <a:path w="1207135" h="468629">
                  <a:moveTo>
                    <a:pt x="1184860" y="124206"/>
                  </a:moveTo>
                  <a:lnTo>
                    <a:pt x="1178764" y="107442"/>
                  </a:lnTo>
                  <a:lnTo>
                    <a:pt x="1173520" y="119107"/>
                  </a:lnTo>
                  <a:lnTo>
                    <a:pt x="1184860" y="124206"/>
                  </a:lnTo>
                  <a:close/>
                </a:path>
              </a:pathLst>
            </a:custGeom>
            <a:solidFill>
              <a:srgbClr val="956F00"/>
            </a:solidFill>
          </p:spPr>
          <p:txBody>
            <a:bodyPr wrap="square" lIns="0" tIns="0" rIns="0" bIns="0" rtlCol="0"/>
            <a:lstStyle/>
            <a:p>
              <a:endParaRPr/>
            </a:p>
          </p:txBody>
        </p:sp>
        <p:sp>
          <p:nvSpPr>
            <p:cNvPr id="13" name="object 13"/>
            <p:cNvSpPr/>
            <p:nvPr/>
          </p:nvSpPr>
          <p:spPr>
            <a:xfrm>
              <a:off x="3532631" y="3394709"/>
              <a:ext cx="870585" cy="309880"/>
            </a:xfrm>
            <a:custGeom>
              <a:avLst/>
              <a:gdLst/>
              <a:ahLst/>
              <a:cxnLst/>
              <a:rect l="l" t="t" r="r" b="b"/>
              <a:pathLst>
                <a:path w="870585" h="309879">
                  <a:moveTo>
                    <a:pt x="870512" y="0"/>
                  </a:moveTo>
                  <a:lnTo>
                    <a:pt x="440379" y="0"/>
                  </a:lnTo>
                  <a:lnTo>
                    <a:pt x="0" y="166878"/>
                  </a:lnTo>
                  <a:lnTo>
                    <a:pt x="54101" y="309372"/>
                  </a:lnTo>
                  <a:lnTo>
                    <a:pt x="870512" y="0"/>
                  </a:lnTo>
                  <a:close/>
                </a:path>
              </a:pathLst>
            </a:custGeom>
            <a:solidFill>
              <a:srgbClr val="CC9900"/>
            </a:solidFill>
          </p:spPr>
          <p:txBody>
            <a:bodyPr wrap="square" lIns="0" tIns="0" rIns="0" bIns="0" rtlCol="0"/>
            <a:lstStyle/>
            <a:p>
              <a:endParaRPr/>
            </a:p>
          </p:txBody>
        </p:sp>
        <p:sp>
          <p:nvSpPr>
            <p:cNvPr id="14" name="object 14"/>
            <p:cNvSpPr/>
            <p:nvPr/>
          </p:nvSpPr>
          <p:spPr>
            <a:xfrm>
              <a:off x="3516629" y="3394709"/>
              <a:ext cx="922019" cy="325755"/>
            </a:xfrm>
            <a:custGeom>
              <a:avLst/>
              <a:gdLst/>
              <a:ahLst/>
              <a:cxnLst/>
              <a:rect l="l" t="t" r="r" b="b"/>
              <a:pathLst>
                <a:path w="922020" h="325754">
                  <a:moveTo>
                    <a:pt x="491566" y="0"/>
                  </a:moveTo>
                  <a:lnTo>
                    <a:pt x="420673" y="0"/>
                  </a:lnTo>
                  <a:lnTo>
                    <a:pt x="0" y="159258"/>
                  </a:lnTo>
                  <a:lnTo>
                    <a:pt x="20574" y="213954"/>
                  </a:lnTo>
                  <a:lnTo>
                    <a:pt x="20574" y="178308"/>
                  </a:lnTo>
                  <a:lnTo>
                    <a:pt x="28194" y="162306"/>
                  </a:lnTo>
                  <a:lnTo>
                    <a:pt x="32548" y="173774"/>
                  </a:lnTo>
                  <a:lnTo>
                    <a:pt x="491566" y="0"/>
                  </a:lnTo>
                  <a:close/>
                </a:path>
                <a:path w="922020" h="325754">
                  <a:moveTo>
                    <a:pt x="32548" y="173774"/>
                  </a:moveTo>
                  <a:lnTo>
                    <a:pt x="28194" y="162306"/>
                  </a:lnTo>
                  <a:lnTo>
                    <a:pt x="20574" y="178308"/>
                  </a:lnTo>
                  <a:lnTo>
                    <a:pt x="32548" y="173774"/>
                  </a:lnTo>
                  <a:close/>
                </a:path>
                <a:path w="922020" h="325754">
                  <a:moveTo>
                    <a:pt x="77659" y="292588"/>
                  </a:moveTo>
                  <a:lnTo>
                    <a:pt x="32548" y="173774"/>
                  </a:lnTo>
                  <a:lnTo>
                    <a:pt x="20574" y="178308"/>
                  </a:lnTo>
                  <a:lnTo>
                    <a:pt x="20574" y="213954"/>
                  </a:lnTo>
                  <a:lnTo>
                    <a:pt x="62484" y="325374"/>
                  </a:lnTo>
                  <a:lnTo>
                    <a:pt x="65532" y="324220"/>
                  </a:lnTo>
                  <a:lnTo>
                    <a:pt x="65532" y="297180"/>
                  </a:lnTo>
                  <a:lnTo>
                    <a:pt x="77659" y="292588"/>
                  </a:lnTo>
                  <a:close/>
                </a:path>
                <a:path w="922020" h="325754">
                  <a:moveTo>
                    <a:pt x="82296" y="304800"/>
                  </a:moveTo>
                  <a:lnTo>
                    <a:pt x="77659" y="292588"/>
                  </a:lnTo>
                  <a:lnTo>
                    <a:pt x="65532" y="297180"/>
                  </a:lnTo>
                  <a:lnTo>
                    <a:pt x="82296" y="304800"/>
                  </a:lnTo>
                  <a:close/>
                </a:path>
                <a:path w="922020" h="325754">
                  <a:moveTo>
                    <a:pt x="82296" y="317873"/>
                  </a:moveTo>
                  <a:lnTo>
                    <a:pt x="82296" y="304800"/>
                  </a:lnTo>
                  <a:lnTo>
                    <a:pt x="65532" y="297180"/>
                  </a:lnTo>
                  <a:lnTo>
                    <a:pt x="65532" y="324220"/>
                  </a:lnTo>
                  <a:lnTo>
                    <a:pt x="82296" y="317873"/>
                  </a:lnTo>
                  <a:close/>
                </a:path>
                <a:path w="922020" h="325754">
                  <a:moveTo>
                    <a:pt x="921945" y="0"/>
                  </a:moveTo>
                  <a:lnTo>
                    <a:pt x="850520" y="0"/>
                  </a:lnTo>
                  <a:lnTo>
                    <a:pt x="77659" y="292588"/>
                  </a:lnTo>
                  <a:lnTo>
                    <a:pt x="82296" y="304800"/>
                  </a:lnTo>
                  <a:lnTo>
                    <a:pt x="82296" y="317873"/>
                  </a:lnTo>
                  <a:lnTo>
                    <a:pt x="921945" y="0"/>
                  </a:lnTo>
                  <a:close/>
                </a:path>
              </a:pathLst>
            </a:custGeom>
            <a:solidFill>
              <a:srgbClr val="956F00"/>
            </a:solidFill>
          </p:spPr>
          <p:txBody>
            <a:bodyPr wrap="square" lIns="0" tIns="0" rIns="0" bIns="0" rtlCol="0"/>
            <a:lstStyle/>
            <a:p>
              <a:endParaRPr/>
            </a:p>
          </p:txBody>
        </p:sp>
      </p:grpSp>
      <p:sp>
        <p:nvSpPr>
          <p:cNvPr id="15" name="object 15"/>
          <p:cNvSpPr txBox="1"/>
          <p:nvPr/>
        </p:nvSpPr>
        <p:spPr>
          <a:xfrm>
            <a:off x="1526539" y="3684524"/>
            <a:ext cx="1134745"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r>
              <a:rPr sz="1600" b="1" spc="-55" dirty="0">
                <a:latin typeface="Arial"/>
                <a:cs typeface="Arial"/>
              </a:rPr>
              <a:t> </a:t>
            </a:r>
            <a:r>
              <a:rPr sz="1600" dirty="0">
                <a:latin typeface="Arial"/>
                <a:cs typeface="Arial"/>
              </a:rPr>
              <a:t>(v)</a:t>
            </a:r>
            <a:endParaRPr sz="1600">
              <a:latin typeface="Arial"/>
              <a:cs typeface="Arial"/>
            </a:endParaRPr>
          </a:p>
        </p:txBody>
      </p:sp>
      <p:sp>
        <p:nvSpPr>
          <p:cNvPr id="16" name="object 16"/>
          <p:cNvSpPr/>
          <p:nvPr/>
        </p:nvSpPr>
        <p:spPr>
          <a:xfrm>
            <a:off x="1211440" y="3394709"/>
            <a:ext cx="809625" cy="1014730"/>
          </a:xfrm>
          <a:custGeom>
            <a:avLst/>
            <a:gdLst/>
            <a:ahLst/>
            <a:cxnLst/>
            <a:rect l="l" t="t" r="r" b="b"/>
            <a:pathLst>
              <a:path w="809625" h="1014729">
                <a:moveTo>
                  <a:pt x="585355" y="996696"/>
                </a:moveTo>
                <a:lnTo>
                  <a:pt x="537171" y="984211"/>
                </a:lnTo>
                <a:lnTo>
                  <a:pt x="521741" y="979170"/>
                </a:lnTo>
                <a:lnTo>
                  <a:pt x="489953" y="968806"/>
                </a:lnTo>
                <a:lnTo>
                  <a:pt x="443865" y="950544"/>
                </a:lnTo>
                <a:lnTo>
                  <a:pt x="399097" y="929513"/>
                </a:lnTo>
                <a:lnTo>
                  <a:pt x="355854" y="905764"/>
                </a:lnTo>
                <a:lnTo>
                  <a:pt x="314299" y="879373"/>
                </a:lnTo>
                <a:lnTo>
                  <a:pt x="274650" y="850404"/>
                </a:lnTo>
                <a:lnTo>
                  <a:pt x="237070" y="818921"/>
                </a:lnTo>
                <a:lnTo>
                  <a:pt x="201764" y="785012"/>
                </a:lnTo>
                <a:lnTo>
                  <a:pt x="168922" y="748728"/>
                </a:lnTo>
                <a:lnTo>
                  <a:pt x="138722" y="710145"/>
                </a:lnTo>
                <a:lnTo>
                  <a:pt x="111353" y="669328"/>
                </a:lnTo>
                <a:lnTo>
                  <a:pt x="87007" y="626351"/>
                </a:lnTo>
                <a:lnTo>
                  <a:pt x="65874" y="581279"/>
                </a:lnTo>
                <a:lnTo>
                  <a:pt x="48145" y="534162"/>
                </a:lnTo>
                <a:lnTo>
                  <a:pt x="34302" y="487260"/>
                </a:lnTo>
                <a:lnTo>
                  <a:pt x="24384" y="440410"/>
                </a:lnTo>
                <a:lnTo>
                  <a:pt x="18262" y="393763"/>
                </a:lnTo>
                <a:lnTo>
                  <a:pt x="15811" y="347433"/>
                </a:lnTo>
                <a:lnTo>
                  <a:pt x="16941" y="301574"/>
                </a:lnTo>
                <a:lnTo>
                  <a:pt x="21513" y="256298"/>
                </a:lnTo>
                <a:lnTo>
                  <a:pt x="29425" y="211747"/>
                </a:lnTo>
                <a:lnTo>
                  <a:pt x="40551" y="168046"/>
                </a:lnTo>
                <a:lnTo>
                  <a:pt x="54787" y="125323"/>
                </a:lnTo>
                <a:lnTo>
                  <a:pt x="71996" y="83705"/>
                </a:lnTo>
                <a:lnTo>
                  <a:pt x="92087" y="43345"/>
                </a:lnTo>
                <a:lnTo>
                  <a:pt x="114935" y="4356"/>
                </a:lnTo>
                <a:lnTo>
                  <a:pt x="117894" y="0"/>
                </a:lnTo>
                <a:lnTo>
                  <a:pt x="99136" y="0"/>
                </a:lnTo>
                <a:lnTo>
                  <a:pt x="62242" y="66840"/>
                </a:lnTo>
                <a:lnTo>
                  <a:pt x="44335" y="108115"/>
                </a:lnTo>
                <a:lnTo>
                  <a:pt x="29298" y="150495"/>
                </a:lnTo>
                <a:lnTo>
                  <a:pt x="17246" y="193865"/>
                </a:lnTo>
                <a:lnTo>
                  <a:pt x="8267" y="238099"/>
                </a:lnTo>
                <a:lnTo>
                  <a:pt x="2489" y="283083"/>
                </a:lnTo>
                <a:lnTo>
                  <a:pt x="0" y="328688"/>
                </a:lnTo>
                <a:lnTo>
                  <a:pt x="901" y="374777"/>
                </a:lnTo>
                <a:lnTo>
                  <a:pt x="5295" y="421233"/>
                </a:lnTo>
                <a:lnTo>
                  <a:pt x="13296" y="467944"/>
                </a:lnTo>
                <a:lnTo>
                  <a:pt x="25006" y="514769"/>
                </a:lnTo>
                <a:lnTo>
                  <a:pt x="40551" y="561670"/>
                </a:lnTo>
                <a:lnTo>
                  <a:pt x="59918" y="607441"/>
                </a:lnTo>
                <a:lnTo>
                  <a:pt x="82410" y="651294"/>
                </a:lnTo>
                <a:lnTo>
                  <a:pt x="107823" y="693102"/>
                </a:lnTo>
                <a:lnTo>
                  <a:pt x="135991" y="732790"/>
                </a:lnTo>
                <a:lnTo>
                  <a:pt x="166763" y="770318"/>
                </a:lnTo>
                <a:lnTo>
                  <a:pt x="199974" y="805599"/>
                </a:lnTo>
                <a:lnTo>
                  <a:pt x="235458" y="838568"/>
                </a:lnTo>
                <a:lnTo>
                  <a:pt x="273050" y="869188"/>
                </a:lnTo>
                <a:lnTo>
                  <a:pt x="312585" y="897369"/>
                </a:lnTo>
                <a:lnTo>
                  <a:pt x="353910" y="923061"/>
                </a:lnTo>
                <a:lnTo>
                  <a:pt x="396849" y="946200"/>
                </a:lnTo>
                <a:lnTo>
                  <a:pt x="441248" y="966724"/>
                </a:lnTo>
                <a:lnTo>
                  <a:pt x="473138" y="979170"/>
                </a:lnTo>
                <a:lnTo>
                  <a:pt x="486930" y="984567"/>
                </a:lnTo>
                <a:lnTo>
                  <a:pt x="533755" y="999655"/>
                </a:lnTo>
                <a:lnTo>
                  <a:pt x="581545" y="1011936"/>
                </a:lnTo>
                <a:lnTo>
                  <a:pt x="585355" y="996696"/>
                </a:lnTo>
                <a:close/>
              </a:path>
              <a:path w="809625" h="1014729">
                <a:moveTo>
                  <a:pt x="779094" y="0"/>
                </a:moveTo>
                <a:lnTo>
                  <a:pt x="763092" y="0"/>
                </a:lnTo>
                <a:lnTo>
                  <a:pt x="762139" y="265176"/>
                </a:lnTo>
                <a:lnTo>
                  <a:pt x="778141" y="265176"/>
                </a:lnTo>
                <a:lnTo>
                  <a:pt x="779094" y="0"/>
                </a:lnTo>
                <a:close/>
              </a:path>
              <a:path w="809625" h="1014729">
                <a:moveTo>
                  <a:pt x="809383" y="694944"/>
                </a:moveTo>
                <a:lnTo>
                  <a:pt x="772045" y="567690"/>
                </a:lnTo>
                <a:lnTo>
                  <a:pt x="733183" y="694944"/>
                </a:lnTo>
                <a:lnTo>
                  <a:pt x="763600" y="694944"/>
                </a:lnTo>
                <a:lnTo>
                  <a:pt x="762292" y="979170"/>
                </a:lnTo>
                <a:lnTo>
                  <a:pt x="762139" y="1014222"/>
                </a:lnTo>
                <a:lnTo>
                  <a:pt x="778141" y="1014222"/>
                </a:lnTo>
                <a:lnTo>
                  <a:pt x="778217" y="979170"/>
                </a:lnTo>
                <a:lnTo>
                  <a:pt x="778865" y="694944"/>
                </a:lnTo>
                <a:lnTo>
                  <a:pt x="809383" y="694944"/>
                </a:lnTo>
                <a:close/>
              </a:path>
            </a:pathLst>
          </a:custGeom>
          <a:solidFill>
            <a:srgbClr val="000000"/>
          </a:solidFill>
        </p:spPr>
        <p:txBody>
          <a:bodyPr wrap="square" lIns="0" tIns="0" rIns="0" bIns="0" rtlCol="0"/>
          <a:lstStyle/>
          <a:p>
            <a:endParaRPr/>
          </a:p>
        </p:txBody>
      </p:sp>
      <p:sp>
        <p:nvSpPr>
          <p:cNvPr id="17" name="object 17"/>
          <p:cNvSpPr/>
          <p:nvPr/>
        </p:nvSpPr>
        <p:spPr>
          <a:xfrm>
            <a:off x="5894832" y="3394709"/>
            <a:ext cx="245364" cy="97536"/>
          </a:xfrm>
          <a:prstGeom prst="rect">
            <a:avLst/>
          </a:prstGeom>
          <a:blipFill>
            <a:blip r:embed="rId2" cstate="print"/>
            <a:stretch>
              <a:fillRect/>
            </a:stretch>
          </a:blipFill>
        </p:spPr>
        <p:txBody>
          <a:bodyPr wrap="square" lIns="0" tIns="0" rIns="0" bIns="0" rtlCol="0"/>
          <a:lstStyle/>
          <a:p>
            <a:endParaRPr/>
          </a:p>
        </p:txBody>
      </p:sp>
      <p:sp>
        <p:nvSpPr>
          <p:cNvPr id="18" name="object 18"/>
          <p:cNvSpPr txBox="1"/>
          <p:nvPr/>
        </p:nvSpPr>
        <p:spPr>
          <a:xfrm>
            <a:off x="5946140" y="3519932"/>
            <a:ext cx="10414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Whale</a:t>
            </a:r>
            <a:r>
              <a:rPr sz="1800" b="1" spc="-85" dirty="0">
                <a:latin typeface="Arial"/>
                <a:cs typeface="Arial"/>
              </a:rPr>
              <a:t> </a:t>
            </a:r>
            <a:r>
              <a:rPr sz="1800" dirty="0">
                <a:latin typeface="Arial"/>
                <a:cs typeface="Arial"/>
              </a:rPr>
              <a:t>(a)</a:t>
            </a:r>
            <a:endParaRPr sz="1800">
              <a:latin typeface="Arial"/>
              <a:cs typeface="Arial"/>
            </a:endParaRPr>
          </a:p>
        </p:txBody>
      </p:sp>
      <p:grpSp>
        <p:nvGrpSpPr>
          <p:cNvPr id="19" name="object 19"/>
          <p:cNvGrpSpPr/>
          <p:nvPr/>
        </p:nvGrpSpPr>
        <p:grpSpPr>
          <a:xfrm>
            <a:off x="3521964" y="3937253"/>
            <a:ext cx="1567815" cy="924560"/>
            <a:chOff x="3521964" y="3937253"/>
            <a:chExt cx="1567815" cy="924560"/>
          </a:xfrm>
        </p:grpSpPr>
        <p:sp>
          <p:nvSpPr>
            <p:cNvPr id="20" name="object 20"/>
            <p:cNvSpPr/>
            <p:nvPr/>
          </p:nvSpPr>
          <p:spPr>
            <a:xfrm>
              <a:off x="3538728" y="3954779"/>
              <a:ext cx="910590" cy="419100"/>
            </a:xfrm>
            <a:custGeom>
              <a:avLst/>
              <a:gdLst/>
              <a:ahLst/>
              <a:cxnLst/>
              <a:rect l="l" t="t" r="r" b="b"/>
              <a:pathLst>
                <a:path w="910589" h="419100">
                  <a:moveTo>
                    <a:pt x="910072" y="419100"/>
                  </a:moveTo>
                  <a:lnTo>
                    <a:pt x="68580" y="0"/>
                  </a:lnTo>
                  <a:lnTo>
                    <a:pt x="0" y="137160"/>
                  </a:lnTo>
                  <a:lnTo>
                    <a:pt x="566095" y="419100"/>
                  </a:lnTo>
                  <a:lnTo>
                    <a:pt x="910072" y="419100"/>
                  </a:lnTo>
                  <a:close/>
                </a:path>
              </a:pathLst>
            </a:custGeom>
            <a:solidFill>
              <a:srgbClr val="CC9900"/>
            </a:solidFill>
          </p:spPr>
          <p:txBody>
            <a:bodyPr wrap="square" lIns="0" tIns="0" rIns="0" bIns="0" rtlCol="0"/>
            <a:lstStyle/>
            <a:p>
              <a:endParaRPr/>
            </a:p>
          </p:txBody>
        </p:sp>
        <p:sp>
          <p:nvSpPr>
            <p:cNvPr id="21" name="object 21"/>
            <p:cNvSpPr/>
            <p:nvPr/>
          </p:nvSpPr>
          <p:spPr>
            <a:xfrm>
              <a:off x="3521964" y="3937253"/>
              <a:ext cx="955675" cy="436880"/>
            </a:xfrm>
            <a:custGeom>
              <a:avLst/>
              <a:gdLst/>
              <a:ahLst/>
              <a:cxnLst/>
              <a:rect l="l" t="t" r="r" b="b"/>
              <a:pathLst>
                <a:path w="955675" h="436879">
                  <a:moveTo>
                    <a:pt x="955414" y="436625"/>
                  </a:moveTo>
                  <a:lnTo>
                    <a:pt x="79248" y="0"/>
                  </a:lnTo>
                  <a:lnTo>
                    <a:pt x="0" y="160020"/>
                  </a:lnTo>
                  <a:lnTo>
                    <a:pt x="22098" y="171032"/>
                  </a:lnTo>
                  <a:lnTo>
                    <a:pt x="22098" y="143256"/>
                  </a:lnTo>
                  <a:lnTo>
                    <a:pt x="33689" y="149029"/>
                  </a:lnTo>
                  <a:lnTo>
                    <a:pt x="79248" y="57912"/>
                  </a:lnTo>
                  <a:lnTo>
                    <a:pt x="79248" y="28956"/>
                  </a:lnTo>
                  <a:lnTo>
                    <a:pt x="96774" y="22860"/>
                  </a:lnTo>
                  <a:lnTo>
                    <a:pt x="96774" y="37689"/>
                  </a:lnTo>
                  <a:lnTo>
                    <a:pt x="897308" y="436625"/>
                  </a:lnTo>
                  <a:lnTo>
                    <a:pt x="955414" y="436625"/>
                  </a:lnTo>
                  <a:close/>
                </a:path>
                <a:path w="955675" h="436879">
                  <a:moveTo>
                    <a:pt x="33689" y="149029"/>
                  </a:moveTo>
                  <a:lnTo>
                    <a:pt x="22098" y="143256"/>
                  </a:lnTo>
                  <a:lnTo>
                    <a:pt x="28194" y="160020"/>
                  </a:lnTo>
                  <a:lnTo>
                    <a:pt x="33689" y="149029"/>
                  </a:lnTo>
                  <a:close/>
                </a:path>
                <a:path w="955675" h="436879">
                  <a:moveTo>
                    <a:pt x="611122" y="436625"/>
                  </a:moveTo>
                  <a:lnTo>
                    <a:pt x="33689" y="149029"/>
                  </a:lnTo>
                  <a:lnTo>
                    <a:pt x="28194" y="160020"/>
                  </a:lnTo>
                  <a:lnTo>
                    <a:pt x="22098" y="143256"/>
                  </a:lnTo>
                  <a:lnTo>
                    <a:pt x="22098" y="171032"/>
                  </a:lnTo>
                  <a:lnTo>
                    <a:pt x="555058" y="436625"/>
                  </a:lnTo>
                  <a:lnTo>
                    <a:pt x="611122" y="436625"/>
                  </a:lnTo>
                  <a:close/>
                </a:path>
                <a:path w="955675" h="436879">
                  <a:moveTo>
                    <a:pt x="96774" y="22860"/>
                  </a:moveTo>
                  <a:lnTo>
                    <a:pt x="79248" y="28956"/>
                  </a:lnTo>
                  <a:lnTo>
                    <a:pt x="90838" y="34731"/>
                  </a:lnTo>
                  <a:lnTo>
                    <a:pt x="96774" y="22860"/>
                  </a:lnTo>
                  <a:close/>
                </a:path>
                <a:path w="955675" h="436879">
                  <a:moveTo>
                    <a:pt x="90838" y="34731"/>
                  </a:moveTo>
                  <a:lnTo>
                    <a:pt x="79248" y="28956"/>
                  </a:lnTo>
                  <a:lnTo>
                    <a:pt x="79248" y="57912"/>
                  </a:lnTo>
                  <a:lnTo>
                    <a:pt x="90838" y="34731"/>
                  </a:lnTo>
                  <a:close/>
                </a:path>
                <a:path w="955675" h="436879">
                  <a:moveTo>
                    <a:pt x="96774" y="37689"/>
                  </a:moveTo>
                  <a:lnTo>
                    <a:pt x="96774" y="22860"/>
                  </a:lnTo>
                  <a:lnTo>
                    <a:pt x="90838" y="34731"/>
                  </a:lnTo>
                  <a:lnTo>
                    <a:pt x="96774" y="37689"/>
                  </a:lnTo>
                  <a:close/>
                </a:path>
              </a:pathLst>
            </a:custGeom>
            <a:solidFill>
              <a:srgbClr val="956F00"/>
            </a:solidFill>
          </p:spPr>
          <p:txBody>
            <a:bodyPr wrap="square" lIns="0" tIns="0" rIns="0" bIns="0" rtlCol="0"/>
            <a:lstStyle/>
            <a:p>
              <a:endParaRPr/>
            </a:p>
          </p:txBody>
        </p:sp>
        <p:sp>
          <p:nvSpPr>
            <p:cNvPr id="22" name="object 22"/>
            <p:cNvSpPr/>
            <p:nvPr/>
          </p:nvSpPr>
          <p:spPr>
            <a:xfrm>
              <a:off x="4104823" y="4373879"/>
              <a:ext cx="969010" cy="466090"/>
            </a:xfrm>
            <a:custGeom>
              <a:avLst/>
              <a:gdLst/>
              <a:ahLst/>
              <a:cxnLst/>
              <a:rect l="l" t="t" r="r" b="b"/>
              <a:pathLst>
                <a:path w="969010" h="466089">
                  <a:moveTo>
                    <a:pt x="968572" y="397002"/>
                  </a:moveTo>
                  <a:lnTo>
                    <a:pt x="899992" y="191262"/>
                  </a:lnTo>
                  <a:lnTo>
                    <a:pt x="865702" y="259842"/>
                  </a:lnTo>
                  <a:lnTo>
                    <a:pt x="343977" y="0"/>
                  </a:lnTo>
                  <a:lnTo>
                    <a:pt x="0" y="0"/>
                  </a:lnTo>
                  <a:lnTo>
                    <a:pt x="797122" y="397002"/>
                  </a:lnTo>
                  <a:lnTo>
                    <a:pt x="762832" y="465582"/>
                  </a:lnTo>
                  <a:lnTo>
                    <a:pt x="968572" y="397002"/>
                  </a:lnTo>
                  <a:close/>
                </a:path>
              </a:pathLst>
            </a:custGeom>
            <a:solidFill>
              <a:srgbClr val="CC9900"/>
            </a:solidFill>
          </p:spPr>
          <p:txBody>
            <a:bodyPr wrap="square" lIns="0" tIns="0" rIns="0" bIns="0" rtlCol="0"/>
            <a:lstStyle/>
            <a:p>
              <a:endParaRPr/>
            </a:p>
          </p:txBody>
        </p:sp>
        <p:sp>
          <p:nvSpPr>
            <p:cNvPr id="23" name="object 23"/>
            <p:cNvSpPr/>
            <p:nvPr/>
          </p:nvSpPr>
          <p:spPr>
            <a:xfrm>
              <a:off x="4077022" y="4373879"/>
              <a:ext cx="1012825" cy="487680"/>
            </a:xfrm>
            <a:custGeom>
              <a:avLst/>
              <a:gdLst/>
              <a:ahLst/>
              <a:cxnLst/>
              <a:rect l="l" t="t" r="r" b="b"/>
              <a:pathLst>
                <a:path w="1012825" h="487679">
                  <a:moveTo>
                    <a:pt x="842449" y="391668"/>
                  </a:moveTo>
                  <a:lnTo>
                    <a:pt x="56064" y="0"/>
                  </a:lnTo>
                  <a:lnTo>
                    <a:pt x="0" y="0"/>
                  </a:lnTo>
                  <a:lnTo>
                    <a:pt x="807999" y="402656"/>
                  </a:lnTo>
                  <a:lnTo>
                    <a:pt x="813493" y="391668"/>
                  </a:lnTo>
                  <a:lnTo>
                    <a:pt x="819589" y="408432"/>
                  </a:lnTo>
                  <a:lnTo>
                    <a:pt x="819589" y="436956"/>
                  </a:lnTo>
                  <a:lnTo>
                    <a:pt x="842449" y="391668"/>
                  </a:lnTo>
                  <a:close/>
                </a:path>
                <a:path w="1012825" h="487679">
                  <a:moveTo>
                    <a:pt x="887857" y="242940"/>
                  </a:moveTo>
                  <a:lnTo>
                    <a:pt x="400355" y="0"/>
                  </a:lnTo>
                  <a:lnTo>
                    <a:pt x="342250" y="0"/>
                  </a:lnTo>
                  <a:lnTo>
                    <a:pt x="882073" y="269013"/>
                  </a:lnTo>
                  <a:lnTo>
                    <a:pt x="882073" y="254508"/>
                  </a:lnTo>
                  <a:lnTo>
                    <a:pt x="887857" y="242940"/>
                  </a:lnTo>
                  <a:close/>
                </a:path>
                <a:path w="1012825" h="487679">
                  <a:moveTo>
                    <a:pt x="819589" y="436956"/>
                  </a:moveTo>
                  <a:lnTo>
                    <a:pt x="819589" y="408432"/>
                  </a:lnTo>
                  <a:lnTo>
                    <a:pt x="807999" y="402656"/>
                  </a:lnTo>
                  <a:lnTo>
                    <a:pt x="765487" y="487680"/>
                  </a:lnTo>
                  <a:lnTo>
                    <a:pt x="786823" y="480502"/>
                  </a:lnTo>
                  <a:lnTo>
                    <a:pt x="786823" y="453390"/>
                  </a:lnTo>
                  <a:lnTo>
                    <a:pt x="816245" y="443582"/>
                  </a:lnTo>
                  <a:lnTo>
                    <a:pt x="819589" y="436956"/>
                  </a:lnTo>
                  <a:close/>
                </a:path>
                <a:path w="1012825" h="487679">
                  <a:moveTo>
                    <a:pt x="816245" y="443582"/>
                  </a:moveTo>
                  <a:lnTo>
                    <a:pt x="786823" y="453390"/>
                  </a:lnTo>
                  <a:lnTo>
                    <a:pt x="802063" y="471678"/>
                  </a:lnTo>
                  <a:lnTo>
                    <a:pt x="816245" y="443582"/>
                  </a:lnTo>
                  <a:close/>
                </a:path>
                <a:path w="1012825" h="487679">
                  <a:moveTo>
                    <a:pt x="992563" y="411287"/>
                  </a:moveTo>
                  <a:lnTo>
                    <a:pt x="992563" y="384810"/>
                  </a:lnTo>
                  <a:lnTo>
                    <a:pt x="984181" y="400812"/>
                  </a:lnTo>
                  <a:lnTo>
                    <a:pt x="980219" y="388924"/>
                  </a:lnTo>
                  <a:lnTo>
                    <a:pt x="816245" y="443582"/>
                  </a:lnTo>
                  <a:lnTo>
                    <a:pt x="802063" y="471678"/>
                  </a:lnTo>
                  <a:lnTo>
                    <a:pt x="786823" y="453390"/>
                  </a:lnTo>
                  <a:lnTo>
                    <a:pt x="786823" y="480502"/>
                  </a:lnTo>
                  <a:lnTo>
                    <a:pt x="992563" y="411287"/>
                  </a:lnTo>
                  <a:close/>
                </a:path>
                <a:path w="1012825" h="487679">
                  <a:moveTo>
                    <a:pt x="819589" y="408432"/>
                  </a:moveTo>
                  <a:lnTo>
                    <a:pt x="813493" y="391668"/>
                  </a:lnTo>
                  <a:lnTo>
                    <a:pt x="807999" y="402656"/>
                  </a:lnTo>
                  <a:lnTo>
                    <a:pt x="819589" y="408432"/>
                  </a:lnTo>
                  <a:close/>
                </a:path>
                <a:path w="1012825" h="487679">
                  <a:moveTo>
                    <a:pt x="898837" y="248412"/>
                  </a:moveTo>
                  <a:lnTo>
                    <a:pt x="887857" y="242940"/>
                  </a:lnTo>
                  <a:lnTo>
                    <a:pt x="882073" y="254508"/>
                  </a:lnTo>
                  <a:lnTo>
                    <a:pt x="898837" y="248412"/>
                  </a:lnTo>
                  <a:close/>
                </a:path>
                <a:path w="1012825" h="487679">
                  <a:moveTo>
                    <a:pt x="898837" y="277368"/>
                  </a:moveTo>
                  <a:lnTo>
                    <a:pt x="898837" y="248412"/>
                  </a:lnTo>
                  <a:lnTo>
                    <a:pt x="882073" y="254508"/>
                  </a:lnTo>
                  <a:lnTo>
                    <a:pt x="882073" y="269013"/>
                  </a:lnTo>
                  <a:lnTo>
                    <a:pt x="898837" y="277368"/>
                  </a:lnTo>
                  <a:close/>
                </a:path>
                <a:path w="1012825" h="487679">
                  <a:moveTo>
                    <a:pt x="1012375" y="404622"/>
                  </a:moveTo>
                  <a:lnTo>
                    <a:pt x="930079" y="158496"/>
                  </a:lnTo>
                  <a:lnTo>
                    <a:pt x="887857" y="242940"/>
                  </a:lnTo>
                  <a:lnTo>
                    <a:pt x="898837" y="248412"/>
                  </a:lnTo>
                  <a:lnTo>
                    <a:pt x="898837" y="277368"/>
                  </a:lnTo>
                  <a:lnTo>
                    <a:pt x="915601" y="244156"/>
                  </a:lnTo>
                  <a:lnTo>
                    <a:pt x="915601" y="195072"/>
                  </a:lnTo>
                  <a:lnTo>
                    <a:pt x="939223" y="197358"/>
                  </a:lnTo>
                  <a:lnTo>
                    <a:pt x="939223" y="265938"/>
                  </a:lnTo>
                  <a:lnTo>
                    <a:pt x="980219" y="388924"/>
                  </a:lnTo>
                  <a:lnTo>
                    <a:pt x="992563" y="384810"/>
                  </a:lnTo>
                  <a:lnTo>
                    <a:pt x="992563" y="411287"/>
                  </a:lnTo>
                  <a:lnTo>
                    <a:pt x="1012375" y="404622"/>
                  </a:lnTo>
                  <a:close/>
                </a:path>
                <a:path w="1012825" h="487679">
                  <a:moveTo>
                    <a:pt x="939223" y="197358"/>
                  </a:moveTo>
                  <a:lnTo>
                    <a:pt x="915601" y="195072"/>
                  </a:lnTo>
                  <a:lnTo>
                    <a:pt x="925455" y="224634"/>
                  </a:lnTo>
                  <a:lnTo>
                    <a:pt x="939223" y="197358"/>
                  </a:lnTo>
                  <a:close/>
                </a:path>
                <a:path w="1012825" h="487679">
                  <a:moveTo>
                    <a:pt x="925455" y="224634"/>
                  </a:moveTo>
                  <a:lnTo>
                    <a:pt x="915601" y="195072"/>
                  </a:lnTo>
                  <a:lnTo>
                    <a:pt x="915601" y="244156"/>
                  </a:lnTo>
                  <a:lnTo>
                    <a:pt x="925455" y="224634"/>
                  </a:lnTo>
                  <a:close/>
                </a:path>
                <a:path w="1012825" h="487679">
                  <a:moveTo>
                    <a:pt x="939223" y="265938"/>
                  </a:moveTo>
                  <a:lnTo>
                    <a:pt x="939223" y="197358"/>
                  </a:lnTo>
                  <a:lnTo>
                    <a:pt x="925455" y="224634"/>
                  </a:lnTo>
                  <a:lnTo>
                    <a:pt x="939223" y="265938"/>
                  </a:lnTo>
                  <a:close/>
                </a:path>
                <a:path w="1012825" h="487679">
                  <a:moveTo>
                    <a:pt x="992563" y="384810"/>
                  </a:moveTo>
                  <a:lnTo>
                    <a:pt x="980219" y="388924"/>
                  </a:lnTo>
                  <a:lnTo>
                    <a:pt x="984181" y="400812"/>
                  </a:lnTo>
                  <a:lnTo>
                    <a:pt x="992563" y="384810"/>
                  </a:lnTo>
                  <a:close/>
                </a:path>
              </a:pathLst>
            </a:custGeom>
            <a:solidFill>
              <a:srgbClr val="956F00"/>
            </a:solidFill>
          </p:spPr>
          <p:txBody>
            <a:bodyPr wrap="square" lIns="0" tIns="0" rIns="0" bIns="0" rtlCol="0"/>
            <a:lstStyle/>
            <a:p>
              <a:endParaRPr/>
            </a:p>
          </p:txBody>
        </p:sp>
      </p:grpSp>
      <p:sp>
        <p:nvSpPr>
          <p:cNvPr id="24" name="object 24"/>
          <p:cNvSpPr txBox="1"/>
          <p:nvPr/>
        </p:nvSpPr>
        <p:spPr>
          <a:xfrm>
            <a:off x="1602739" y="4434332"/>
            <a:ext cx="1041400" cy="299720"/>
          </a:xfrm>
          <a:prstGeom prst="rect">
            <a:avLst/>
          </a:prstGeom>
        </p:spPr>
        <p:txBody>
          <a:bodyPr vert="horz" wrap="square" lIns="0" tIns="12700" rIns="0" bIns="0" rtlCol="0">
            <a:spAutoFit/>
          </a:bodyPr>
          <a:lstStyle/>
          <a:p>
            <a:pPr marL="12700">
              <a:lnSpc>
                <a:spcPct val="100000"/>
              </a:lnSpc>
              <a:spcBef>
                <a:spcPts val="100"/>
              </a:spcBef>
            </a:pPr>
            <a:r>
              <a:rPr sz="1800" b="1" spc="-5" dirty="0">
                <a:latin typeface="Arial"/>
                <a:cs typeface="Arial"/>
              </a:rPr>
              <a:t>Whale</a:t>
            </a:r>
            <a:r>
              <a:rPr sz="1800" b="1" spc="-85" dirty="0">
                <a:latin typeface="Arial"/>
                <a:cs typeface="Arial"/>
              </a:rPr>
              <a:t> </a:t>
            </a:r>
            <a:r>
              <a:rPr sz="1800" dirty="0">
                <a:latin typeface="Arial"/>
                <a:cs typeface="Arial"/>
              </a:rPr>
              <a:t>(a)</a:t>
            </a:r>
            <a:endParaRPr sz="1800">
              <a:latin typeface="Arial"/>
              <a:cs typeface="Arial"/>
            </a:endParaRPr>
          </a:p>
        </p:txBody>
      </p:sp>
      <p:sp>
        <p:nvSpPr>
          <p:cNvPr id="25" name="object 25"/>
          <p:cNvSpPr txBox="1"/>
          <p:nvPr/>
        </p:nvSpPr>
        <p:spPr>
          <a:xfrm>
            <a:off x="5565140" y="4522723"/>
            <a:ext cx="1923414" cy="26987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Aquatic creature</a:t>
            </a:r>
            <a:r>
              <a:rPr sz="1600" b="1" spc="-65" dirty="0">
                <a:latin typeface="Arial"/>
                <a:cs typeface="Arial"/>
              </a:rPr>
              <a:t> </a:t>
            </a:r>
            <a:r>
              <a:rPr sz="1600" dirty="0">
                <a:latin typeface="Arial"/>
                <a:cs typeface="Arial"/>
              </a:rPr>
              <a:t>(x)</a:t>
            </a:r>
            <a:endParaRPr sz="1600">
              <a:latin typeface="Arial"/>
              <a:cs typeface="Arial"/>
            </a:endParaRPr>
          </a:p>
        </p:txBody>
      </p:sp>
      <p:sp>
        <p:nvSpPr>
          <p:cNvPr id="26" name="object 26"/>
          <p:cNvSpPr/>
          <p:nvPr/>
        </p:nvSpPr>
        <p:spPr>
          <a:xfrm>
            <a:off x="6172200" y="4879085"/>
            <a:ext cx="381000" cy="533400"/>
          </a:xfrm>
          <a:custGeom>
            <a:avLst/>
            <a:gdLst/>
            <a:ahLst/>
            <a:cxnLst/>
            <a:rect l="l" t="t" r="r" b="b"/>
            <a:pathLst>
              <a:path w="381000" h="533400">
                <a:moveTo>
                  <a:pt x="381000" y="218694"/>
                </a:moveTo>
                <a:lnTo>
                  <a:pt x="238112" y="218694"/>
                </a:lnTo>
                <a:lnTo>
                  <a:pt x="238455" y="126492"/>
                </a:lnTo>
                <a:lnTo>
                  <a:pt x="268224" y="126492"/>
                </a:lnTo>
                <a:lnTo>
                  <a:pt x="230886" y="0"/>
                </a:lnTo>
                <a:lnTo>
                  <a:pt x="192024" y="126492"/>
                </a:lnTo>
                <a:lnTo>
                  <a:pt x="222453" y="126492"/>
                </a:lnTo>
                <a:lnTo>
                  <a:pt x="222110" y="218694"/>
                </a:lnTo>
                <a:lnTo>
                  <a:pt x="0" y="218694"/>
                </a:lnTo>
                <a:lnTo>
                  <a:pt x="0" y="234696"/>
                </a:lnTo>
                <a:lnTo>
                  <a:pt x="222059" y="234696"/>
                </a:lnTo>
                <a:lnTo>
                  <a:pt x="221195" y="473964"/>
                </a:lnTo>
                <a:lnTo>
                  <a:pt x="220980" y="533400"/>
                </a:lnTo>
                <a:lnTo>
                  <a:pt x="236982" y="533400"/>
                </a:lnTo>
                <a:lnTo>
                  <a:pt x="237197" y="473964"/>
                </a:lnTo>
                <a:lnTo>
                  <a:pt x="238061" y="234696"/>
                </a:lnTo>
                <a:lnTo>
                  <a:pt x="381000" y="234696"/>
                </a:lnTo>
                <a:lnTo>
                  <a:pt x="381000" y="218694"/>
                </a:lnTo>
                <a:close/>
              </a:path>
            </a:pathLst>
          </a:custGeom>
          <a:solidFill>
            <a:srgbClr val="000000"/>
          </a:solidFill>
        </p:spPr>
        <p:txBody>
          <a:bodyPr wrap="square" lIns="0" tIns="0" rIns="0" bIns="0" rtlCol="0"/>
          <a:lstStyle/>
          <a:p>
            <a:endParaRPr/>
          </a:p>
        </p:txBody>
      </p:sp>
      <p:sp>
        <p:nvSpPr>
          <p:cNvPr id="27" name="object 27"/>
          <p:cNvSpPr/>
          <p:nvPr/>
        </p:nvSpPr>
        <p:spPr>
          <a:xfrm>
            <a:off x="6364223" y="5715000"/>
            <a:ext cx="76200" cy="447040"/>
          </a:xfrm>
          <a:custGeom>
            <a:avLst/>
            <a:gdLst/>
            <a:ahLst/>
            <a:cxnLst/>
            <a:rect l="l" t="t" r="r" b="b"/>
            <a:pathLst>
              <a:path w="76200" h="447039">
                <a:moveTo>
                  <a:pt x="76200" y="127253"/>
                </a:moveTo>
                <a:lnTo>
                  <a:pt x="38862" y="0"/>
                </a:lnTo>
                <a:lnTo>
                  <a:pt x="0" y="127253"/>
                </a:lnTo>
                <a:lnTo>
                  <a:pt x="30420" y="127253"/>
                </a:lnTo>
                <a:lnTo>
                  <a:pt x="30479" y="114300"/>
                </a:lnTo>
                <a:lnTo>
                  <a:pt x="45720" y="115062"/>
                </a:lnTo>
                <a:lnTo>
                  <a:pt x="45720" y="127253"/>
                </a:lnTo>
                <a:lnTo>
                  <a:pt x="76200" y="127253"/>
                </a:lnTo>
                <a:close/>
              </a:path>
              <a:path w="76200" h="447039">
                <a:moveTo>
                  <a:pt x="45691" y="127253"/>
                </a:moveTo>
                <a:lnTo>
                  <a:pt x="30420" y="127253"/>
                </a:lnTo>
                <a:lnTo>
                  <a:pt x="28956" y="446532"/>
                </a:lnTo>
                <a:lnTo>
                  <a:pt x="44958" y="446532"/>
                </a:lnTo>
                <a:lnTo>
                  <a:pt x="45691" y="127253"/>
                </a:lnTo>
                <a:close/>
              </a:path>
              <a:path w="76200" h="447039">
                <a:moveTo>
                  <a:pt x="45720" y="115062"/>
                </a:moveTo>
                <a:lnTo>
                  <a:pt x="30479" y="114300"/>
                </a:lnTo>
                <a:lnTo>
                  <a:pt x="30420" y="127253"/>
                </a:lnTo>
                <a:lnTo>
                  <a:pt x="45691" y="127253"/>
                </a:lnTo>
                <a:lnTo>
                  <a:pt x="45720" y="115062"/>
                </a:lnTo>
                <a:close/>
              </a:path>
              <a:path w="76200" h="447039">
                <a:moveTo>
                  <a:pt x="45720" y="127253"/>
                </a:moveTo>
                <a:lnTo>
                  <a:pt x="45720" y="115062"/>
                </a:lnTo>
                <a:lnTo>
                  <a:pt x="45691" y="127253"/>
                </a:lnTo>
                <a:close/>
              </a:path>
            </a:pathLst>
          </a:custGeom>
          <a:solidFill>
            <a:srgbClr val="000000"/>
          </a:solidFill>
        </p:spPr>
        <p:txBody>
          <a:bodyPr wrap="square" lIns="0" tIns="0" rIns="0" bIns="0" rtlCol="0"/>
          <a:lstStyle/>
          <a:p>
            <a:endParaRPr/>
          </a:p>
        </p:txBody>
      </p:sp>
      <p:sp>
        <p:nvSpPr>
          <p:cNvPr id="28" name="object 28"/>
          <p:cNvSpPr txBox="1"/>
          <p:nvPr/>
        </p:nvSpPr>
        <p:spPr>
          <a:xfrm>
            <a:off x="5946140" y="5437123"/>
            <a:ext cx="1134745" cy="1049655"/>
          </a:xfrm>
          <a:prstGeom prst="rect">
            <a:avLst/>
          </a:prstGeom>
        </p:spPr>
        <p:txBody>
          <a:bodyPr vert="horz" wrap="square" lIns="0" tIns="12700" rIns="0" bIns="0" rtlCol="0">
            <a:spAutoFit/>
          </a:bodyPr>
          <a:lstStyle/>
          <a:p>
            <a:pPr marL="12700">
              <a:lnSpc>
                <a:spcPct val="100000"/>
              </a:lnSpc>
              <a:spcBef>
                <a:spcPts val="100"/>
              </a:spcBef>
            </a:pPr>
            <a:r>
              <a:rPr sz="1600" b="1" spc="-5" dirty="0">
                <a:latin typeface="Arial"/>
                <a:cs typeface="Arial"/>
              </a:rPr>
              <a:t>Mammal</a:t>
            </a:r>
            <a:r>
              <a:rPr sz="1600" b="1" spc="-70" dirty="0">
                <a:latin typeface="Arial"/>
                <a:cs typeface="Arial"/>
              </a:rPr>
              <a:t> </a:t>
            </a:r>
            <a:r>
              <a:rPr sz="1600" dirty="0">
                <a:latin typeface="Arial"/>
                <a:cs typeface="Arial"/>
              </a:rPr>
              <a:t>(v)</a:t>
            </a:r>
            <a:endParaRPr sz="1600">
              <a:latin typeface="Arial"/>
              <a:cs typeface="Arial"/>
            </a:endParaRPr>
          </a:p>
          <a:p>
            <a:pPr>
              <a:lnSpc>
                <a:spcPct val="100000"/>
              </a:lnSpc>
            </a:pPr>
            <a:endParaRPr sz="1800">
              <a:latin typeface="Arial"/>
              <a:cs typeface="Arial"/>
            </a:endParaRPr>
          </a:p>
          <a:p>
            <a:pPr>
              <a:lnSpc>
                <a:spcPct val="100000"/>
              </a:lnSpc>
              <a:spcBef>
                <a:spcPts val="15"/>
              </a:spcBef>
            </a:pPr>
            <a:endParaRPr sz="1650">
              <a:latin typeface="Arial"/>
              <a:cs typeface="Arial"/>
            </a:endParaRPr>
          </a:p>
          <a:p>
            <a:pPr marL="88900">
              <a:lnSpc>
                <a:spcPct val="100000"/>
              </a:lnSpc>
            </a:pPr>
            <a:r>
              <a:rPr sz="1800" b="1" spc="-5" dirty="0">
                <a:latin typeface="Arial"/>
                <a:cs typeface="Arial"/>
              </a:rPr>
              <a:t>Whale</a:t>
            </a:r>
            <a:r>
              <a:rPr sz="1800" b="1" spc="-100" dirty="0">
                <a:latin typeface="Arial"/>
                <a:cs typeface="Arial"/>
              </a:rPr>
              <a:t> </a:t>
            </a:r>
            <a:r>
              <a:rPr sz="1800" dirty="0">
                <a:latin typeface="Arial"/>
                <a:cs typeface="Arial"/>
              </a:rPr>
              <a:t>(a)</a:t>
            </a:r>
            <a:endParaRPr sz="1800">
              <a:latin typeface="Arial"/>
              <a:cs typeface="Arial"/>
            </a:endParaRPr>
          </a:p>
        </p:txBody>
      </p:sp>
      <p:sp>
        <p:nvSpPr>
          <p:cNvPr id="29" name="object 2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33" name="Title 32">
            <a:extLst>
              <a:ext uri="{FF2B5EF4-FFF2-40B4-BE49-F238E27FC236}">
                <a16:creationId xmlns:a16="http://schemas.microsoft.com/office/drawing/2014/main" id="{80AFB342-3349-497C-B42A-E1BC9AE3C481}"/>
              </a:ext>
            </a:extLst>
          </p:cNvPr>
          <p:cNvSpPr>
            <a:spLocks noGrp="1"/>
          </p:cNvSpPr>
          <p:nvPr>
            <p:ph type="title"/>
          </p:nvPr>
        </p:nvSpPr>
        <p:spPr/>
        <p:txBody>
          <a:bodyPr/>
          <a:lstStyle/>
          <a:p>
            <a:r>
              <a:rPr lang="vi-VN" sz="4000" b="0" spc="-5">
                <a:latin typeface="Verdana"/>
                <a:cs typeface="Verdana"/>
              </a:rPr>
              <a:t>Sự mở rộng được ưu tiên – Ví</a:t>
            </a:r>
            <a:r>
              <a:rPr lang="vi-VN" sz="4000" b="0" spc="30">
                <a:latin typeface="Verdana"/>
                <a:cs typeface="Verdana"/>
              </a:rPr>
              <a:t> </a:t>
            </a:r>
            <a:r>
              <a:rPr lang="vi-VN" sz="4000" b="0" spc="-10">
                <a:latin typeface="Verdana"/>
                <a:cs typeface="Verdana"/>
              </a:rPr>
              <a:t>dụ</a:t>
            </a:r>
            <a:endParaRPr lang="en-US" b="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68</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5" name="object 5"/>
          <p:cNvSpPr txBox="1"/>
          <p:nvPr/>
        </p:nvSpPr>
        <p:spPr>
          <a:xfrm>
            <a:off x="993139" y="1777238"/>
            <a:ext cx="8018145" cy="4390946"/>
          </a:xfrm>
          <a:prstGeom prst="rect">
            <a:avLst/>
          </a:prstGeom>
        </p:spPr>
        <p:txBody>
          <a:bodyPr vert="horz" wrap="square" lIns="0" tIns="12700" rIns="0" bIns="0" rtlCol="0">
            <a:spAutoFit/>
          </a:bodyPr>
          <a:lstStyle/>
          <a:p>
            <a:pPr marL="355600" marR="287020" indent="-342900">
              <a:lnSpc>
                <a:spcPct val="100000"/>
              </a:lnSpc>
              <a:spcBef>
                <a:spcPts val="100"/>
              </a:spcBef>
              <a:buClr>
                <a:srgbClr val="CC9A00"/>
              </a:buClr>
              <a:buSzPct val="64583"/>
              <a:buFont typeface="Wingdings"/>
              <a:buChar char=""/>
              <a:tabLst>
                <a:tab pos="354965" algn="l"/>
                <a:tab pos="355600" algn="l"/>
              </a:tabLst>
            </a:pPr>
            <a:r>
              <a:rPr sz="2400" spc="-5" dirty="0">
                <a:latin typeface="Arial"/>
                <a:cs typeface="Arial"/>
              </a:rPr>
              <a:t>Một </a:t>
            </a:r>
            <a:r>
              <a:rPr sz="2400" b="1" spc="-5" dirty="0">
                <a:latin typeface="Arial"/>
                <a:cs typeface="Arial"/>
              </a:rPr>
              <a:t>ontology </a:t>
            </a:r>
            <a:r>
              <a:rPr sz="2400" dirty="0">
                <a:latin typeface="Arial"/>
                <a:cs typeface="Arial"/>
              </a:rPr>
              <a:t>là </a:t>
            </a:r>
            <a:r>
              <a:rPr sz="2400" spc="-5" dirty="0">
                <a:latin typeface="Arial"/>
                <a:cs typeface="Arial"/>
              </a:rPr>
              <a:t>một đặc tả (biểu diễn) hình thức và rõ  ràng </a:t>
            </a:r>
            <a:r>
              <a:rPr sz="2400" dirty="0">
                <a:latin typeface="Arial"/>
                <a:cs typeface="Arial"/>
              </a:rPr>
              <a:t>về </a:t>
            </a:r>
            <a:r>
              <a:rPr sz="2400" spc="-5" dirty="0">
                <a:latin typeface="Arial"/>
                <a:cs typeface="Arial"/>
              </a:rPr>
              <a:t>các khái</a:t>
            </a:r>
            <a:r>
              <a:rPr sz="2400" spc="10" dirty="0">
                <a:latin typeface="Arial"/>
                <a:cs typeface="Arial"/>
              </a:rPr>
              <a:t> </a:t>
            </a:r>
            <a:r>
              <a:rPr sz="2400" spc="-5" dirty="0">
                <a:latin typeface="Arial"/>
                <a:cs typeface="Arial"/>
              </a:rPr>
              <a:t>niệm</a:t>
            </a:r>
            <a:endParaRPr sz="2400">
              <a:latin typeface="Arial"/>
              <a:cs typeface="Arial"/>
            </a:endParaRPr>
          </a:p>
          <a:p>
            <a:pPr marL="355600" indent="-342900">
              <a:lnSpc>
                <a:spcPct val="100000"/>
              </a:lnSpc>
              <a:spcBef>
                <a:spcPts val="575"/>
              </a:spcBef>
              <a:buClr>
                <a:srgbClr val="CC9A00"/>
              </a:buClr>
              <a:buSzPct val="64583"/>
              <a:buFont typeface="Wingdings"/>
              <a:buChar char=""/>
              <a:tabLst>
                <a:tab pos="354965" algn="l"/>
                <a:tab pos="355600" algn="l"/>
              </a:tabLst>
            </a:pPr>
            <a:r>
              <a:rPr sz="2400" spc="-5" dirty="0">
                <a:latin typeface="Arial"/>
                <a:cs typeface="Arial"/>
              </a:rPr>
              <a:t>Một </a:t>
            </a:r>
            <a:r>
              <a:rPr sz="2400" b="1" spc="-5" dirty="0">
                <a:latin typeface="Arial"/>
                <a:cs typeface="Arial"/>
              </a:rPr>
              <a:t>ontology </a:t>
            </a:r>
            <a:r>
              <a:rPr sz="2400" dirty="0">
                <a:latin typeface="Arial"/>
                <a:cs typeface="Arial"/>
              </a:rPr>
              <a:t>là </a:t>
            </a:r>
            <a:r>
              <a:rPr sz="2400" spc="-5" dirty="0">
                <a:latin typeface="Arial"/>
                <a:cs typeface="Arial"/>
              </a:rPr>
              <a:t>một từ vựng dùng chung, được</a:t>
            </a:r>
            <a:r>
              <a:rPr sz="2400" spc="10" dirty="0">
                <a:latin typeface="Arial"/>
                <a:cs typeface="Arial"/>
              </a:rPr>
              <a:t> </a:t>
            </a:r>
            <a:r>
              <a:rPr sz="2400" spc="-5" dirty="0">
                <a:latin typeface="Arial"/>
                <a:cs typeface="Arial"/>
              </a:rPr>
              <a:t>dùng</a:t>
            </a:r>
            <a:endParaRPr sz="2400">
              <a:latin typeface="Arial"/>
              <a:cs typeface="Arial"/>
            </a:endParaRPr>
          </a:p>
          <a:p>
            <a:pPr marL="354965">
              <a:lnSpc>
                <a:spcPct val="100000"/>
              </a:lnSpc>
            </a:pPr>
            <a:r>
              <a:rPr sz="2400" spc="-5" dirty="0">
                <a:latin typeface="Arial"/>
                <a:cs typeface="Arial"/>
              </a:rPr>
              <a:t>để biểu diễn (mô hình) một </a:t>
            </a:r>
            <a:r>
              <a:rPr sz="2400" spc="-5">
                <a:latin typeface="Arial"/>
                <a:cs typeface="Arial"/>
              </a:rPr>
              <a:t>lĩnh </a:t>
            </a:r>
            <a:r>
              <a:rPr sz="2400">
                <a:latin typeface="Arial"/>
                <a:cs typeface="Arial"/>
              </a:rPr>
              <a:t>vực</a:t>
            </a:r>
            <a:r>
              <a:rPr lang="en-US" sz="2400">
                <a:latin typeface="Arial"/>
                <a:cs typeface="Arial"/>
              </a:rPr>
              <a:t> (domain)</a:t>
            </a:r>
            <a:r>
              <a:rPr sz="2400">
                <a:latin typeface="Arial"/>
                <a:cs typeface="Arial"/>
              </a:rPr>
              <a:t> </a:t>
            </a:r>
            <a:r>
              <a:rPr sz="2400" spc="-5" dirty="0">
                <a:latin typeface="Arial"/>
                <a:cs typeface="Arial"/>
              </a:rPr>
              <a:t>cụ</a:t>
            </a:r>
            <a:r>
              <a:rPr sz="2400" spc="35" dirty="0">
                <a:latin typeface="Arial"/>
                <a:cs typeface="Arial"/>
              </a:rPr>
              <a:t> </a:t>
            </a:r>
            <a:r>
              <a:rPr sz="2400" spc="-5" dirty="0">
                <a:latin typeface="Arial"/>
                <a:cs typeface="Arial"/>
              </a:rPr>
              <a:t>thể</a:t>
            </a:r>
            <a:endParaRPr sz="2400">
              <a:latin typeface="Arial"/>
              <a:cs typeface="Arial"/>
            </a:endParaRPr>
          </a:p>
          <a:p>
            <a:pPr marL="681990" lvl="1" indent="-325755">
              <a:lnSpc>
                <a:spcPct val="100000"/>
              </a:lnSpc>
              <a:spcBef>
                <a:spcPts val="490"/>
              </a:spcBef>
              <a:buClr>
                <a:srgbClr val="3B822F"/>
              </a:buClr>
              <a:buSzPct val="60000"/>
              <a:buFont typeface="Wingdings"/>
              <a:buChar char=""/>
              <a:tabLst>
                <a:tab pos="681990" algn="l"/>
                <a:tab pos="682625" algn="l"/>
              </a:tabLst>
            </a:pPr>
            <a:r>
              <a:rPr sz="2000" spc="-5" dirty="0">
                <a:latin typeface="Arial"/>
                <a:cs typeface="Arial"/>
              </a:rPr>
              <a:t>Các đối </a:t>
            </a:r>
            <a:r>
              <a:rPr sz="2000" spc="-5">
                <a:latin typeface="Arial"/>
                <a:cs typeface="Arial"/>
              </a:rPr>
              <a:t>tượng và </a:t>
            </a:r>
            <a:r>
              <a:rPr sz="2000" spc="-5" dirty="0">
                <a:latin typeface="Arial"/>
                <a:cs typeface="Arial"/>
              </a:rPr>
              <a:t>các khái niệm</a:t>
            </a:r>
            <a:endParaRPr sz="2000">
              <a:latin typeface="Arial"/>
              <a:cs typeface="Arial"/>
            </a:endParaRPr>
          </a:p>
          <a:p>
            <a:pPr marL="681990" lvl="1" indent="-325755">
              <a:lnSpc>
                <a:spcPct val="100000"/>
              </a:lnSpc>
              <a:spcBef>
                <a:spcPts val="480"/>
              </a:spcBef>
              <a:buClr>
                <a:srgbClr val="3B822F"/>
              </a:buClr>
              <a:buSzPct val="60000"/>
              <a:buFont typeface="Wingdings"/>
              <a:buChar char=""/>
              <a:tabLst>
                <a:tab pos="681990" algn="l"/>
                <a:tab pos="682625" algn="l"/>
              </a:tabLst>
            </a:pPr>
            <a:r>
              <a:rPr sz="2000" spc="-5" dirty="0">
                <a:latin typeface="Arial"/>
                <a:cs typeface="Arial"/>
              </a:rPr>
              <a:t>Các thuộc tính và các quan hệ của</a:t>
            </a:r>
            <a:r>
              <a:rPr sz="2000" spc="-15" dirty="0">
                <a:latin typeface="Arial"/>
                <a:cs typeface="Arial"/>
              </a:rPr>
              <a:t> </a:t>
            </a:r>
            <a:r>
              <a:rPr sz="2000" spc="-10" dirty="0">
                <a:latin typeface="Arial"/>
                <a:cs typeface="Arial"/>
              </a:rPr>
              <a:t>chúng</a:t>
            </a:r>
            <a:endParaRPr sz="2000">
              <a:latin typeface="Arial"/>
              <a:cs typeface="Arial"/>
            </a:endParaRPr>
          </a:p>
          <a:p>
            <a:pPr marL="355600" indent="-342900">
              <a:lnSpc>
                <a:spcPct val="100000"/>
              </a:lnSpc>
              <a:spcBef>
                <a:spcPts val="565"/>
              </a:spcBef>
              <a:buClr>
                <a:srgbClr val="CC9A00"/>
              </a:buClr>
              <a:buSzPct val="64583"/>
              <a:buFont typeface="Wingdings"/>
              <a:buChar char=""/>
              <a:tabLst>
                <a:tab pos="354965" algn="l"/>
                <a:tab pos="355600" algn="l"/>
              </a:tabLst>
            </a:pPr>
            <a:r>
              <a:rPr sz="2400" spc="-5" dirty="0">
                <a:latin typeface="Arial"/>
                <a:cs typeface="Arial"/>
              </a:rPr>
              <a:t>Một ontology </a:t>
            </a:r>
            <a:r>
              <a:rPr sz="2400" dirty="0">
                <a:latin typeface="Arial"/>
                <a:cs typeface="Arial"/>
              </a:rPr>
              <a:t>có </a:t>
            </a:r>
            <a:r>
              <a:rPr sz="2400" spc="-5" dirty="0">
                <a:latin typeface="Arial"/>
                <a:cs typeface="Arial"/>
              </a:rPr>
              <a:t>thể được xem như </a:t>
            </a:r>
            <a:r>
              <a:rPr sz="2400" dirty="0">
                <a:latin typeface="Arial"/>
                <a:cs typeface="Arial"/>
              </a:rPr>
              <a:t>là </a:t>
            </a:r>
            <a:r>
              <a:rPr sz="2400" spc="-5" dirty="0">
                <a:latin typeface="Arial"/>
                <a:cs typeface="Arial"/>
              </a:rPr>
              <a:t>một cơ </a:t>
            </a:r>
            <a:r>
              <a:rPr sz="2400" dirty="0">
                <a:latin typeface="Arial"/>
                <a:cs typeface="Arial"/>
              </a:rPr>
              <a:t>sở </a:t>
            </a:r>
            <a:r>
              <a:rPr sz="2400" spc="-5" dirty="0">
                <a:latin typeface="Arial"/>
                <a:cs typeface="Arial"/>
              </a:rPr>
              <a:t>tri</a:t>
            </a:r>
            <a:r>
              <a:rPr sz="2400" spc="5" dirty="0">
                <a:latin typeface="Arial"/>
                <a:cs typeface="Arial"/>
              </a:rPr>
              <a:t> </a:t>
            </a:r>
            <a:r>
              <a:rPr sz="2400" spc="-5" dirty="0">
                <a:latin typeface="Arial"/>
                <a:cs typeface="Arial"/>
              </a:rPr>
              <a:t>thức</a:t>
            </a:r>
            <a:endParaRPr sz="2400">
              <a:latin typeface="Arial"/>
              <a:cs typeface="Arial"/>
            </a:endParaRPr>
          </a:p>
          <a:p>
            <a:pPr marL="355600" indent="-342900">
              <a:lnSpc>
                <a:spcPct val="100000"/>
              </a:lnSpc>
              <a:spcBef>
                <a:spcPts val="575"/>
              </a:spcBef>
              <a:buClr>
                <a:srgbClr val="CC9A00"/>
              </a:buClr>
              <a:buSzPct val="64583"/>
              <a:buFont typeface="Wingdings"/>
              <a:buChar char=""/>
              <a:tabLst>
                <a:tab pos="354965" algn="l"/>
                <a:tab pos="355600" algn="l"/>
              </a:tabLst>
            </a:pPr>
            <a:r>
              <a:rPr sz="2400" spc="-5" dirty="0">
                <a:latin typeface="Arial"/>
                <a:cs typeface="Arial"/>
              </a:rPr>
              <a:t>Một ontology có thể phục vụ </a:t>
            </a:r>
            <a:r>
              <a:rPr sz="2400" dirty="0">
                <a:latin typeface="Arial"/>
                <a:cs typeface="Arial"/>
              </a:rPr>
              <a:t>các </a:t>
            </a:r>
            <a:r>
              <a:rPr sz="2400" spc="-5" dirty="0">
                <a:latin typeface="Arial"/>
                <a:cs typeface="Arial"/>
              </a:rPr>
              <a:t>mục đích khác</a:t>
            </a:r>
            <a:r>
              <a:rPr sz="2400" spc="10" dirty="0">
                <a:latin typeface="Arial"/>
                <a:cs typeface="Arial"/>
              </a:rPr>
              <a:t> </a:t>
            </a:r>
            <a:r>
              <a:rPr sz="2400" spc="-5" dirty="0">
                <a:latin typeface="Arial"/>
                <a:cs typeface="Arial"/>
              </a:rPr>
              <a:t>nhau</a:t>
            </a:r>
            <a:endParaRPr sz="2400">
              <a:latin typeface="Arial"/>
              <a:cs typeface="Arial"/>
            </a:endParaRPr>
          </a:p>
          <a:p>
            <a:pPr marL="681990" lvl="1" indent="-325755">
              <a:lnSpc>
                <a:spcPct val="100000"/>
              </a:lnSpc>
              <a:spcBef>
                <a:spcPts val="490"/>
              </a:spcBef>
              <a:buClr>
                <a:srgbClr val="3B822F"/>
              </a:buClr>
              <a:buSzPct val="60000"/>
              <a:buFont typeface="Wingdings"/>
              <a:buChar char=""/>
              <a:tabLst>
                <a:tab pos="681990" algn="l"/>
                <a:tab pos="682625" algn="l"/>
                <a:tab pos="1483995" algn="l"/>
              </a:tabLst>
            </a:pPr>
            <a:r>
              <a:rPr sz="2000" spc="-5" dirty="0">
                <a:latin typeface="Arial"/>
                <a:cs typeface="Arial"/>
              </a:rPr>
              <a:t>Ví</a:t>
            </a:r>
            <a:r>
              <a:rPr sz="2000" spc="-10" dirty="0">
                <a:latin typeface="Arial"/>
                <a:cs typeface="Arial"/>
              </a:rPr>
              <a:t> </a:t>
            </a:r>
            <a:r>
              <a:rPr sz="2000" spc="-5" dirty="0">
                <a:latin typeface="Arial"/>
                <a:cs typeface="Arial"/>
              </a:rPr>
              <a:t>dụ:	Mô hình </a:t>
            </a:r>
            <a:r>
              <a:rPr sz="2000" dirty="0">
                <a:latin typeface="Arial"/>
                <a:cs typeface="Arial"/>
              </a:rPr>
              <a:t>cơ </a:t>
            </a:r>
            <a:r>
              <a:rPr sz="2000" spc="-5" dirty="0">
                <a:latin typeface="Arial"/>
                <a:cs typeface="Arial"/>
              </a:rPr>
              <a:t>sở dữ liệu </a:t>
            </a:r>
            <a:r>
              <a:rPr sz="2000" spc="-10" dirty="0">
                <a:latin typeface="Arial"/>
                <a:cs typeface="Arial"/>
              </a:rPr>
              <a:t>(database schema) </a:t>
            </a:r>
            <a:r>
              <a:rPr sz="2000" spc="-5" dirty="0">
                <a:latin typeface="Arial"/>
                <a:cs typeface="Arial"/>
              </a:rPr>
              <a:t>là một</a:t>
            </a:r>
            <a:r>
              <a:rPr sz="2000" spc="25" dirty="0">
                <a:latin typeface="Arial"/>
                <a:cs typeface="Arial"/>
              </a:rPr>
              <a:t> </a:t>
            </a:r>
            <a:r>
              <a:rPr sz="2000" spc="-10" dirty="0">
                <a:latin typeface="Arial"/>
                <a:cs typeface="Arial"/>
              </a:rPr>
              <a:t>ontology</a:t>
            </a:r>
            <a:endParaRPr sz="2000">
              <a:latin typeface="Arial"/>
              <a:cs typeface="Arial"/>
            </a:endParaRPr>
          </a:p>
          <a:p>
            <a:pPr marL="355600" marR="442595" indent="-342900">
              <a:lnSpc>
                <a:spcPct val="100000"/>
              </a:lnSpc>
              <a:spcBef>
                <a:spcPts val="565"/>
              </a:spcBef>
              <a:buClr>
                <a:srgbClr val="CC9A00"/>
              </a:buClr>
              <a:buSzPct val="64583"/>
              <a:buFont typeface="Wingdings"/>
              <a:buChar char=""/>
              <a:tabLst>
                <a:tab pos="354965" algn="l"/>
                <a:tab pos="355600" algn="l"/>
              </a:tabLst>
            </a:pPr>
            <a:r>
              <a:rPr sz="2400" dirty="0">
                <a:latin typeface="Arial"/>
                <a:cs typeface="Arial"/>
              </a:rPr>
              <a:t>Cơ </a:t>
            </a:r>
            <a:r>
              <a:rPr sz="2400" spc="-5" dirty="0">
                <a:latin typeface="Arial"/>
                <a:cs typeface="Arial"/>
              </a:rPr>
              <a:t>sở tri thức chứa đựng các tri thức cụ thể cần thiết  cho việc giải quyết vấn đề của một lĩnh</a:t>
            </a:r>
            <a:r>
              <a:rPr sz="2400" spc="40" dirty="0">
                <a:latin typeface="Arial"/>
                <a:cs typeface="Arial"/>
              </a:rPr>
              <a:t> </a:t>
            </a:r>
            <a:r>
              <a:rPr sz="2400" dirty="0">
                <a:latin typeface="Arial"/>
                <a:cs typeface="Arial"/>
              </a:rPr>
              <a:t>vực</a:t>
            </a:r>
            <a:endParaRPr sz="2400">
              <a:latin typeface="Arial"/>
              <a:cs typeface="Arial"/>
            </a:endParaRPr>
          </a:p>
        </p:txBody>
      </p:sp>
      <p:sp>
        <p:nvSpPr>
          <p:cNvPr id="6" name="object 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0" name="Title 9">
            <a:extLst>
              <a:ext uri="{FF2B5EF4-FFF2-40B4-BE49-F238E27FC236}">
                <a16:creationId xmlns:a16="http://schemas.microsoft.com/office/drawing/2014/main" id="{D1F1F867-E97F-4796-AF0A-9E844A597BDC}"/>
              </a:ext>
            </a:extLst>
          </p:cNvPr>
          <p:cNvSpPr>
            <a:spLocks noGrp="1"/>
          </p:cNvSpPr>
          <p:nvPr>
            <p:ph type="title"/>
          </p:nvPr>
        </p:nvSpPr>
        <p:spPr/>
        <p:txBody>
          <a:bodyPr/>
          <a:lstStyle/>
          <a:p>
            <a:r>
              <a:rPr lang="en-US" spc="-50"/>
              <a:t>Ontology</a:t>
            </a:r>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69</a:t>
            </a:fld>
            <a:endParaRPr spc="-40" dirty="0"/>
          </a:p>
        </p:txBody>
      </p:sp>
      <p:sp>
        <p:nvSpPr>
          <p:cNvPr id="3" name="object 3"/>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4" name="object 4"/>
          <p:cNvSpPr txBox="1"/>
          <p:nvPr/>
        </p:nvSpPr>
        <p:spPr>
          <a:xfrm>
            <a:off x="993139" y="1592344"/>
            <a:ext cx="8022590" cy="4966970"/>
          </a:xfrm>
          <a:prstGeom prst="rect">
            <a:avLst/>
          </a:prstGeom>
        </p:spPr>
        <p:txBody>
          <a:bodyPr vert="horz" wrap="square" lIns="0" tIns="197485" rIns="0" bIns="0" rtlCol="0">
            <a:spAutoFit/>
          </a:bodyPr>
          <a:lstStyle/>
          <a:p>
            <a:pPr marL="298450" indent="-285750">
              <a:lnSpc>
                <a:spcPct val="100000"/>
              </a:lnSpc>
              <a:spcBef>
                <a:spcPts val="1555"/>
              </a:spcBef>
              <a:buClr>
                <a:srgbClr val="CC9A00"/>
              </a:buClr>
              <a:buSzPct val="64583"/>
              <a:buFont typeface="Wingdings"/>
              <a:buChar char=""/>
              <a:tabLst>
                <a:tab pos="297815" algn="l"/>
                <a:tab pos="298450" algn="l"/>
              </a:tabLst>
            </a:pPr>
            <a:r>
              <a:rPr sz="2400" spc="-5" dirty="0">
                <a:latin typeface="Arial"/>
                <a:cs typeface="Arial"/>
              </a:rPr>
              <a:t>Các động </a:t>
            </a:r>
            <a:r>
              <a:rPr sz="2400" dirty="0">
                <a:latin typeface="Arial"/>
                <a:cs typeface="Arial"/>
              </a:rPr>
              <a:t>cơ </a:t>
            </a:r>
            <a:r>
              <a:rPr sz="2400" spc="-5" dirty="0">
                <a:latin typeface="Arial"/>
                <a:cs typeface="Arial"/>
              </a:rPr>
              <a:t>thúc đẩy về mặt công</a:t>
            </a:r>
            <a:r>
              <a:rPr sz="2400" spc="15" dirty="0">
                <a:latin typeface="Arial"/>
                <a:cs typeface="Arial"/>
              </a:rPr>
              <a:t> </a:t>
            </a:r>
            <a:r>
              <a:rPr sz="2400" spc="-5" dirty="0">
                <a:latin typeface="Arial"/>
                <a:cs typeface="Arial"/>
              </a:rPr>
              <a:t>nghệ</a:t>
            </a:r>
            <a:endParaRPr sz="2400">
              <a:latin typeface="Arial"/>
              <a:cs typeface="Arial"/>
            </a:endParaRPr>
          </a:p>
          <a:p>
            <a:pPr marL="681990" marR="312420" lvl="1" indent="-325755">
              <a:lnSpc>
                <a:spcPct val="100000"/>
              </a:lnSpc>
              <a:spcBef>
                <a:spcPts val="1210"/>
              </a:spcBef>
              <a:buClr>
                <a:srgbClr val="3B822F"/>
              </a:buClr>
              <a:buSzPct val="60000"/>
              <a:buFont typeface="Wingdings"/>
              <a:buChar char=""/>
              <a:tabLst>
                <a:tab pos="681990" algn="l"/>
                <a:tab pos="682625" algn="l"/>
              </a:tabLst>
            </a:pPr>
            <a:r>
              <a:rPr sz="2000" spc="-5" dirty="0">
                <a:latin typeface="Arial"/>
                <a:cs typeface="Arial"/>
              </a:rPr>
              <a:t>Rất nhiều các hệ thống dựa trên tri thức sử dụng một ontology  mô </a:t>
            </a:r>
            <a:r>
              <a:rPr sz="2000" dirty="0">
                <a:latin typeface="Arial"/>
                <a:cs typeface="Arial"/>
              </a:rPr>
              <a:t>tả </a:t>
            </a:r>
            <a:r>
              <a:rPr sz="2000" spc="-5" dirty="0">
                <a:latin typeface="Arial"/>
                <a:cs typeface="Arial"/>
              </a:rPr>
              <a:t>các tri thức của lĩnh vực liên</a:t>
            </a:r>
            <a:r>
              <a:rPr sz="2000" spc="-50" dirty="0">
                <a:latin typeface="Arial"/>
                <a:cs typeface="Arial"/>
              </a:rPr>
              <a:t> </a:t>
            </a:r>
            <a:r>
              <a:rPr sz="2000" spc="-10" dirty="0">
                <a:latin typeface="Arial"/>
                <a:cs typeface="Arial"/>
              </a:rPr>
              <a:t>quan</a:t>
            </a:r>
            <a:endParaRPr sz="2000">
              <a:latin typeface="Arial"/>
              <a:cs typeface="Arial"/>
            </a:endParaRPr>
          </a:p>
          <a:p>
            <a:pPr marL="681990" marR="5080" lvl="1" indent="-325755">
              <a:lnSpc>
                <a:spcPct val="100000"/>
              </a:lnSpc>
              <a:spcBef>
                <a:spcPts val="1200"/>
              </a:spcBef>
              <a:buClr>
                <a:srgbClr val="3B822F"/>
              </a:buClr>
              <a:buSzPct val="60000"/>
              <a:buFont typeface="Wingdings"/>
              <a:buChar char=""/>
              <a:tabLst>
                <a:tab pos="681990" algn="l"/>
                <a:tab pos="682625" algn="l"/>
              </a:tabLst>
            </a:pPr>
            <a:r>
              <a:rPr sz="2000" spc="-5" dirty="0">
                <a:latin typeface="Arial"/>
                <a:cs typeface="Arial"/>
              </a:rPr>
              <a:t>Việc xây dựng </a:t>
            </a:r>
            <a:r>
              <a:rPr sz="2000" spc="-10" dirty="0">
                <a:latin typeface="Arial"/>
                <a:cs typeface="Arial"/>
              </a:rPr>
              <a:t>ontology </a:t>
            </a:r>
            <a:r>
              <a:rPr sz="2000" spc="-5" dirty="0">
                <a:latin typeface="Arial"/>
                <a:cs typeface="Arial"/>
              </a:rPr>
              <a:t>là một nhiệm vụ rất tốn kém (về thời </a:t>
            </a:r>
            <a:r>
              <a:rPr sz="2000" spc="-10" dirty="0">
                <a:latin typeface="Arial"/>
                <a:cs typeface="Arial"/>
              </a:rPr>
              <a:t>gian  </a:t>
            </a:r>
            <a:r>
              <a:rPr sz="2000" spc="-5" dirty="0">
                <a:latin typeface="Arial"/>
                <a:cs typeface="Arial"/>
              </a:rPr>
              <a:t>và công </a:t>
            </a:r>
            <a:r>
              <a:rPr sz="2000" dirty="0">
                <a:latin typeface="Arial"/>
                <a:cs typeface="Arial"/>
              </a:rPr>
              <a:t>sức) </a:t>
            </a:r>
            <a:r>
              <a:rPr sz="2000" spc="-5" dirty="0">
                <a:latin typeface="Arial"/>
                <a:cs typeface="Arial"/>
              </a:rPr>
              <a:t>trong quá trình phát triển một hệ thống dựa trên tri  thức</a:t>
            </a:r>
            <a:endParaRPr sz="2000">
              <a:latin typeface="Arial"/>
              <a:cs typeface="Arial"/>
            </a:endParaRPr>
          </a:p>
          <a:p>
            <a:pPr marL="681990" lvl="1" indent="-325755">
              <a:lnSpc>
                <a:spcPct val="100000"/>
              </a:lnSpc>
              <a:spcBef>
                <a:spcPts val="1200"/>
              </a:spcBef>
              <a:buClr>
                <a:srgbClr val="3B822F"/>
              </a:buClr>
              <a:buSzPct val="60000"/>
              <a:buFont typeface="Wingdings"/>
              <a:buChar char=""/>
              <a:tabLst>
                <a:tab pos="681990" algn="l"/>
                <a:tab pos="682625" algn="l"/>
              </a:tabLst>
            </a:pPr>
            <a:r>
              <a:rPr sz="2000" spc="-5" dirty="0">
                <a:latin typeface="Arial"/>
                <a:cs typeface="Arial"/>
              </a:rPr>
              <a:t>Tại sao </a:t>
            </a:r>
            <a:r>
              <a:rPr sz="2000" spc="-10" dirty="0">
                <a:latin typeface="Arial"/>
                <a:cs typeface="Arial"/>
              </a:rPr>
              <a:t>không </a:t>
            </a:r>
            <a:r>
              <a:rPr sz="2000" spc="-5" dirty="0">
                <a:latin typeface="Arial"/>
                <a:cs typeface="Arial"/>
              </a:rPr>
              <a:t>giảm chi phí bằng cách chia sẻ các</a:t>
            </a:r>
            <a:r>
              <a:rPr sz="2000" spc="45" dirty="0">
                <a:latin typeface="Arial"/>
                <a:cs typeface="Arial"/>
              </a:rPr>
              <a:t> </a:t>
            </a:r>
            <a:r>
              <a:rPr sz="2000" spc="-10" dirty="0">
                <a:latin typeface="Arial"/>
                <a:cs typeface="Arial"/>
              </a:rPr>
              <a:t>ontology?</a:t>
            </a:r>
            <a:endParaRPr sz="2000">
              <a:latin typeface="Arial"/>
              <a:cs typeface="Arial"/>
            </a:endParaRPr>
          </a:p>
          <a:p>
            <a:pPr marL="1035050" marR="120014" lvl="2" indent="-351790">
              <a:lnSpc>
                <a:spcPct val="100000"/>
              </a:lnSpc>
              <a:spcBef>
                <a:spcPts val="480"/>
              </a:spcBef>
              <a:buClr>
                <a:srgbClr val="CC9A00"/>
              </a:buClr>
              <a:buSzPct val="65000"/>
              <a:buFont typeface="Wingdings"/>
              <a:buChar char=""/>
              <a:tabLst>
                <a:tab pos="1035050" algn="l"/>
                <a:tab pos="1035685" algn="l"/>
                <a:tab pos="1836420" algn="l"/>
              </a:tabLst>
            </a:pPr>
            <a:r>
              <a:rPr sz="2000" spc="-5" dirty="0">
                <a:latin typeface="Arial"/>
                <a:cs typeface="Arial"/>
              </a:rPr>
              <a:t>Ví</a:t>
            </a:r>
            <a:r>
              <a:rPr sz="2000" spc="-10" dirty="0">
                <a:latin typeface="Arial"/>
                <a:cs typeface="Arial"/>
              </a:rPr>
              <a:t> </a:t>
            </a:r>
            <a:r>
              <a:rPr sz="2000" spc="-5" dirty="0">
                <a:latin typeface="Arial"/>
                <a:cs typeface="Arial"/>
              </a:rPr>
              <a:t>dụ:	Các ontology “cơ bản” mô tả không gian, thời gian, số  lượng,</a:t>
            </a:r>
            <a:r>
              <a:rPr sz="2000" spc="-10" dirty="0">
                <a:latin typeface="Arial"/>
                <a:cs typeface="Arial"/>
              </a:rPr>
              <a:t> </a:t>
            </a:r>
            <a:r>
              <a:rPr sz="2000" spc="-5" dirty="0">
                <a:latin typeface="Arial"/>
                <a:cs typeface="Arial"/>
              </a:rPr>
              <a:t>…</a:t>
            </a:r>
            <a:endParaRPr sz="2000">
              <a:latin typeface="Arial"/>
              <a:cs typeface="Arial"/>
            </a:endParaRPr>
          </a:p>
          <a:p>
            <a:pPr lvl="2">
              <a:lnSpc>
                <a:spcPct val="100000"/>
              </a:lnSpc>
              <a:spcBef>
                <a:spcPts val="30"/>
              </a:spcBef>
              <a:buClr>
                <a:srgbClr val="CC9A00"/>
              </a:buClr>
              <a:buFont typeface="Wingdings"/>
              <a:buChar char=""/>
            </a:pPr>
            <a:endParaRPr sz="2050">
              <a:latin typeface="Arial"/>
              <a:cs typeface="Arial"/>
            </a:endParaRPr>
          </a:p>
          <a:p>
            <a:pPr marL="298450" indent="-285750">
              <a:lnSpc>
                <a:spcPct val="100000"/>
              </a:lnSpc>
              <a:buClr>
                <a:srgbClr val="CC9A00"/>
              </a:buClr>
              <a:buSzPct val="64583"/>
              <a:buFont typeface="Wingdings"/>
              <a:buChar char=""/>
              <a:tabLst>
                <a:tab pos="297815" algn="l"/>
                <a:tab pos="298450" algn="l"/>
              </a:tabLst>
            </a:pPr>
            <a:r>
              <a:rPr sz="2400" spc="-5" dirty="0">
                <a:latin typeface="Arial"/>
                <a:cs typeface="Arial"/>
              </a:rPr>
              <a:t>Động </a:t>
            </a:r>
            <a:r>
              <a:rPr sz="2400" dirty="0">
                <a:latin typeface="Arial"/>
                <a:cs typeface="Arial"/>
              </a:rPr>
              <a:t>cơ </a:t>
            </a:r>
            <a:r>
              <a:rPr sz="2400" spc="-5" dirty="0">
                <a:latin typeface="Arial"/>
                <a:cs typeface="Arial"/>
              </a:rPr>
              <a:t>thúc đẩy về mặt khoa</a:t>
            </a:r>
            <a:r>
              <a:rPr sz="2400" spc="10" dirty="0">
                <a:latin typeface="Arial"/>
                <a:cs typeface="Arial"/>
              </a:rPr>
              <a:t> </a:t>
            </a:r>
            <a:r>
              <a:rPr sz="2400" spc="-5" dirty="0">
                <a:latin typeface="Arial"/>
                <a:cs typeface="Arial"/>
              </a:rPr>
              <a:t>học</a:t>
            </a:r>
            <a:endParaRPr sz="2400">
              <a:latin typeface="Arial"/>
              <a:cs typeface="Arial"/>
            </a:endParaRPr>
          </a:p>
          <a:p>
            <a:pPr marL="681990" marR="59690" lvl="1" indent="-325755">
              <a:lnSpc>
                <a:spcPct val="100000"/>
              </a:lnSpc>
              <a:spcBef>
                <a:spcPts val="1210"/>
              </a:spcBef>
              <a:buClr>
                <a:srgbClr val="3B822F"/>
              </a:buClr>
              <a:buSzPct val="60000"/>
              <a:buFont typeface="Wingdings"/>
              <a:buChar char=""/>
              <a:tabLst>
                <a:tab pos="681990" algn="l"/>
                <a:tab pos="682625" algn="l"/>
              </a:tabLst>
            </a:pPr>
            <a:r>
              <a:rPr sz="2000" spc="-5" dirty="0">
                <a:latin typeface="Arial"/>
                <a:cs typeface="Arial"/>
              </a:rPr>
              <a:t>Để hiểu được các vấn đề nền tảng trong quá trình khái niệm </a:t>
            </a:r>
            <a:r>
              <a:rPr sz="2000" spc="-10" dirty="0">
                <a:latin typeface="Arial"/>
                <a:cs typeface="Arial"/>
              </a:rPr>
              <a:t>hóa  </a:t>
            </a:r>
            <a:r>
              <a:rPr sz="2000" spc="-5" dirty="0">
                <a:latin typeface="Arial"/>
                <a:cs typeface="Arial"/>
              </a:rPr>
              <a:t>(nhận thức các khái niệm) của con</a:t>
            </a:r>
            <a:r>
              <a:rPr sz="2000" spc="-15" dirty="0">
                <a:latin typeface="Arial"/>
                <a:cs typeface="Arial"/>
              </a:rPr>
              <a:t> </a:t>
            </a:r>
            <a:r>
              <a:rPr sz="2000" spc="-5" dirty="0">
                <a:latin typeface="Arial"/>
                <a:cs typeface="Arial"/>
              </a:rPr>
              <a:t>người</a:t>
            </a:r>
            <a:endParaRPr sz="20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B0665DA9-D6F4-45DB-A299-4974948E2251}"/>
              </a:ext>
            </a:extLst>
          </p:cNvPr>
          <p:cNvSpPr>
            <a:spLocks noGrp="1"/>
          </p:cNvSpPr>
          <p:nvPr>
            <p:ph type="title"/>
          </p:nvPr>
        </p:nvSpPr>
        <p:spPr/>
        <p:txBody>
          <a:bodyPr/>
          <a:lstStyle/>
          <a:p>
            <a:r>
              <a:rPr lang="vi-VN" spc="-15"/>
              <a:t>Ontology –</a:t>
            </a:r>
            <a:r>
              <a:rPr lang="en-US" spc="-15"/>
              <a:t> </a:t>
            </a:r>
            <a:r>
              <a:rPr lang="vi-VN" spc="-15"/>
              <a:t>Các động </a:t>
            </a:r>
            <a:r>
              <a:rPr lang="vi-VN" spc="-15">
                <a:latin typeface="Times New Roman (Headings)"/>
              </a:rPr>
              <a:t>cơ thúc</a:t>
            </a:r>
            <a:r>
              <a:rPr lang="en-US" spc="-15">
                <a:latin typeface="Times New Roman (Headings)"/>
              </a:rPr>
              <a:t> đẩy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9" name="object 9"/>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70</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nvGrpSpPr>
          <p:cNvPr id="4" name="object 4"/>
          <p:cNvGrpSpPr/>
          <p:nvPr/>
        </p:nvGrpSpPr>
        <p:grpSpPr>
          <a:xfrm>
            <a:off x="457200" y="6332220"/>
            <a:ext cx="9144000" cy="982980"/>
            <a:chOff x="457200" y="6332220"/>
            <a:chExt cx="9144000" cy="982980"/>
          </a:xfrm>
        </p:grpSpPr>
        <p:sp>
          <p:nvSpPr>
            <p:cNvPr id="5" name="object 5"/>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6" name="object 6"/>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7" name="object 7"/>
          <p:cNvSpPr txBox="1"/>
          <p:nvPr/>
        </p:nvSpPr>
        <p:spPr>
          <a:xfrm>
            <a:off x="993139" y="1607675"/>
            <a:ext cx="8279765" cy="5073015"/>
          </a:xfrm>
          <a:prstGeom prst="rect">
            <a:avLst/>
          </a:prstGeom>
        </p:spPr>
        <p:txBody>
          <a:bodyPr vert="horz" wrap="square" lIns="0" tIns="106045" rIns="0" bIns="0" rtlCol="0">
            <a:spAutoFit/>
          </a:bodyPr>
          <a:lstStyle/>
          <a:p>
            <a:pPr marL="298450" indent="-285750">
              <a:lnSpc>
                <a:spcPct val="100000"/>
              </a:lnSpc>
              <a:spcBef>
                <a:spcPts val="835"/>
              </a:spcBef>
              <a:buClr>
                <a:srgbClr val="CC9A00"/>
              </a:buClr>
              <a:buSzPct val="64583"/>
              <a:buFont typeface="Wingdings"/>
              <a:buChar char=""/>
              <a:tabLst>
                <a:tab pos="297815" algn="l"/>
                <a:tab pos="298450" algn="l"/>
              </a:tabLst>
            </a:pPr>
            <a:r>
              <a:rPr sz="2400" spc="-5" dirty="0">
                <a:latin typeface="Arial"/>
                <a:cs typeface="Arial"/>
              </a:rPr>
              <a:t>Nội dung của</a:t>
            </a:r>
            <a:r>
              <a:rPr sz="2400" spc="20" dirty="0">
                <a:latin typeface="Arial"/>
                <a:cs typeface="Arial"/>
              </a:rPr>
              <a:t> </a:t>
            </a:r>
            <a:r>
              <a:rPr sz="2400" spc="-5" dirty="0">
                <a:latin typeface="Arial"/>
                <a:cs typeface="Arial"/>
              </a:rPr>
              <a:t>ontology</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Các kiểu đối tượng, các kiểu quan</a:t>
            </a:r>
            <a:r>
              <a:rPr sz="2000" spc="5" dirty="0">
                <a:latin typeface="Arial"/>
                <a:cs typeface="Arial"/>
              </a:rPr>
              <a:t> </a:t>
            </a:r>
            <a:r>
              <a:rPr sz="2000" spc="-5" dirty="0">
                <a:latin typeface="Arial"/>
                <a:cs typeface="Arial"/>
              </a:rPr>
              <a:t>hệ</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 pos="1426210" algn="l"/>
              </a:tabLst>
            </a:pPr>
            <a:r>
              <a:rPr sz="2000" spc="-5" dirty="0">
                <a:latin typeface="Arial"/>
                <a:cs typeface="Arial"/>
              </a:rPr>
              <a:t>Ví</a:t>
            </a:r>
            <a:r>
              <a:rPr sz="2000" spc="-15" dirty="0">
                <a:latin typeface="Arial"/>
                <a:cs typeface="Arial"/>
              </a:rPr>
              <a:t> </a:t>
            </a:r>
            <a:r>
              <a:rPr sz="2000" spc="-5" dirty="0">
                <a:latin typeface="Arial"/>
                <a:cs typeface="Arial"/>
              </a:rPr>
              <a:t>dụ,	bài toán sắp xếp các khối</a:t>
            </a:r>
            <a:r>
              <a:rPr sz="2000" spc="-10" dirty="0">
                <a:latin typeface="Arial"/>
                <a:cs typeface="Arial"/>
              </a:rPr>
              <a:t> </a:t>
            </a:r>
            <a:r>
              <a:rPr sz="2000" spc="-5" dirty="0">
                <a:latin typeface="Arial"/>
                <a:cs typeface="Arial"/>
              </a:rPr>
              <a:t>(blocks)</a:t>
            </a:r>
            <a:endParaRPr sz="2000">
              <a:latin typeface="Arial"/>
              <a:cs typeface="Arial"/>
            </a:endParaRPr>
          </a:p>
          <a:p>
            <a:pPr marL="977900" lvl="2" indent="-286385">
              <a:lnSpc>
                <a:spcPct val="100000"/>
              </a:lnSpc>
              <a:spcBef>
                <a:spcPts val="605"/>
              </a:spcBef>
              <a:buClr>
                <a:srgbClr val="CC9A00"/>
              </a:buClr>
              <a:buSzPct val="63888"/>
              <a:buFont typeface="Wingdings"/>
              <a:buChar char=""/>
              <a:tabLst>
                <a:tab pos="977900" algn="l"/>
                <a:tab pos="978535" algn="l"/>
              </a:tabLst>
            </a:pPr>
            <a:r>
              <a:rPr sz="1800" dirty="0">
                <a:latin typeface="Arial"/>
                <a:cs typeface="Arial"/>
              </a:rPr>
              <a:t>Các lớp đối </a:t>
            </a:r>
            <a:r>
              <a:rPr sz="1800" spc="-5" dirty="0">
                <a:latin typeface="Arial"/>
                <a:cs typeface="Arial"/>
              </a:rPr>
              <a:t>tượng: Blocks, Robot</a:t>
            </a:r>
            <a:r>
              <a:rPr sz="1800" spc="-55" dirty="0">
                <a:latin typeface="Arial"/>
                <a:cs typeface="Arial"/>
              </a:rPr>
              <a:t> </a:t>
            </a:r>
            <a:r>
              <a:rPr sz="1800" spc="-5" dirty="0">
                <a:latin typeface="Arial"/>
                <a:cs typeface="Arial"/>
              </a:rPr>
              <a:t>Hands</a:t>
            </a:r>
            <a:endParaRPr sz="1800">
              <a:latin typeface="Arial"/>
              <a:cs typeface="Arial"/>
            </a:endParaRPr>
          </a:p>
          <a:p>
            <a:pPr marL="977900" lvl="2" indent="-286385">
              <a:lnSpc>
                <a:spcPct val="100000"/>
              </a:lnSpc>
              <a:spcBef>
                <a:spcPts val="600"/>
              </a:spcBef>
              <a:buClr>
                <a:srgbClr val="CC9A00"/>
              </a:buClr>
              <a:buSzPct val="63888"/>
              <a:buFont typeface="Wingdings"/>
              <a:buChar char=""/>
              <a:tabLst>
                <a:tab pos="977900" algn="l"/>
                <a:tab pos="978535" algn="l"/>
              </a:tabLst>
            </a:pPr>
            <a:r>
              <a:rPr sz="1800" dirty="0">
                <a:latin typeface="Arial"/>
                <a:cs typeface="Arial"/>
              </a:rPr>
              <a:t>Các </a:t>
            </a:r>
            <a:r>
              <a:rPr sz="1800" spc="-5" dirty="0">
                <a:latin typeface="Arial"/>
                <a:cs typeface="Arial"/>
              </a:rPr>
              <a:t>thuộc tính: </a:t>
            </a:r>
            <a:r>
              <a:rPr sz="1800" dirty="0">
                <a:latin typeface="Arial"/>
                <a:cs typeface="Arial"/>
              </a:rPr>
              <a:t>shapes of blocks, color of</a:t>
            </a:r>
            <a:r>
              <a:rPr sz="1800" spc="-60" dirty="0">
                <a:latin typeface="Arial"/>
                <a:cs typeface="Arial"/>
              </a:rPr>
              <a:t> </a:t>
            </a:r>
            <a:r>
              <a:rPr sz="1800" dirty="0">
                <a:latin typeface="Arial"/>
                <a:cs typeface="Arial"/>
              </a:rPr>
              <a:t>blocks</a:t>
            </a:r>
            <a:endParaRPr sz="1800">
              <a:latin typeface="Arial"/>
              <a:cs typeface="Arial"/>
            </a:endParaRPr>
          </a:p>
          <a:p>
            <a:pPr marL="977900" lvl="2" indent="-286385">
              <a:lnSpc>
                <a:spcPct val="100000"/>
              </a:lnSpc>
              <a:spcBef>
                <a:spcPts val="600"/>
              </a:spcBef>
              <a:buClr>
                <a:srgbClr val="CC9A00"/>
              </a:buClr>
              <a:buSzPct val="63888"/>
              <a:buFont typeface="Wingdings"/>
              <a:buChar char=""/>
              <a:tabLst>
                <a:tab pos="977900" algn="l"/>
                <a:tab pos="978535" algn="l"/>
              </a:tabLst>
            </a:pPr>
            <a:r>
              <a:rPr sz="1800" dirty="0">
                <a:latin typeface="Arial"/>
                <a:cs typeface="Arial"/>
              </a:rPr>
              <a:t>Các quan hệ: </a:t>
            </a:r>
            <a:r>
              <a:rPr sz="1800" spc="-5" dirty="0">
                <a:latin typeface="Arial"/>
                <a:cs typeface="Arial"/>
              </a:rPr>
              <a:t>On, Above, Below,</a:t>
            </a:r>
            <a:r>
              <a:rPr sz="1800" spc="-45" dirty="0">
                <a:latin typeface="Arial"/>
                <a:cs typeface="Arial"/>
              </a:rPr>
              <a:t> </a:t>
            </a:r>
            <a:r>
              <a:rPr sz="1800" spc="-5" dirty="0">
                <a:latin typeface="Arial"/>
                <a:cs typeface="Arial"/>
              </a:rPr>
              <a:t>Grasp</a:t>
            </a:r>
            <a:endParaRPr sz="1800">
              <a:latin typeface="Arial"/>
              <a:cs typeface="Arial"/>
            </a:endParaRPr>
          </a:p>
          <a:p>
            <a:pPr marL="977900" lvl="2" indent="-286385">
              <a:lnSpc>
                <a:spcPct val="100000"/>
              </a:lnSpc>
              <a:spcBef>
                <a:spcPts val="600"/>
              </a:spcBef>
              <a:buClr>
                <a:srgbClr val="CC9A00"/>
              </a:buClr>
              <a:buSzPct val="63888"/>
              <a:buFont typeface="Wingdings"/>
              <a:buChar char=""/>
              <a:tabLst>
                <a:tab pos="977900" algn="l"/>
                <a:tab pos="978535" algn="l"/>
                <a:tab pos="2539365" algn="l"/>
              </a:tabLst>
            </a:pPr>
            <a:r>
              <a:rPr sz="1800" spc="-5" dirty="0">
                <a:latin typeface="Arial"/>
                <a:cs typeface="Arial"/>
              </a:rPr>
              <a:t>Các</a:t>
            </a:r>
            <a:r>
              <a:rPr sz="1800" spc="-10" dirty="0">
                <a:latin typeface="Arial"/>
                <a:cs typeface="Arial"/>
              </a:rPr>
              <a:t> </a:t>
            </a:r>
            <a:r>
              <a:rPr sz="1800" spc="-5" dirty="0">
                <a:latin typeface="Arial"/>
                <a:cs typeface="Arial"/>
              </a:rPr>
              <a:t>quá</a:t>
            </a:r>
            <a:r>
              <a:rPr sz="1800" spc="-10" dirty="0">
                <a:latin typeface="Arial"/>
                <a:cs typeface="Arial"/>
              </a:rPr>
              <a:t> </a:t>
            </a:r>
            <a:r>
              <a:rPr sz="1800" dirty="0">
                <a:latin typeface="Arial"/>
                <a:cs typeface="Arial"/>
              </a:rPr>
              <a:t>trình:	</a:t>
            </a:r>
            <a:r>
              <a:rPr sz="1800" spc="-5">
                <a:latin typeface="Arial"/>
                <a:cs typeface="Arial"/>
              </a:rPr>
              <a:t>kế </a:t>
            </a:r>
            <a:r>
              <a:rPr lang="en-US" sz="1800">
                <a:latin typeface="Arial"/>
                <a:cs typeface="Arial"/>
              </a:rPr>
              <a:t>hoạch</a:t>
            </a:r>
            <a:r>
              <a:rPr sz="1800">
                <a:latin typeface="Arial"/>
                <a:cs typeface="Arial"/>
              </a:rPr>
              <a:t> </a:t>
            </a:r>
            <a:r>
              <a:rPr sz="1800" dirty="0">
                <a:latin typeface="Arial"/>
                <a:cs typeface="Arial"/>
              </a:rPr>
              <a:t>xây nên một </a:t>
            </a:r>
            <a:r>
              <a:rPr sz="1800" spc="-5" dirty="0">
                <a:latin typeface="Arial"/>
                <a:cs typeface="Arial"/>
              </a:rPr>
              <a:t>tòa</a:t>
            </a:r>
            <a:r>
              <a:rPr sz="1800" spc="-40" dirty="0">
                <a:latin typeface="Arial"/>
                <a:cs typeface="Arial"/>
              </a:rPr>
              <a:t> </a:t>
            </a:r>
            <a:r>
              <a:rPr sz="1800" dirty="0">
                <a:latin typeface="Arial"/>
                <a:cs typeface="Arial"/>
              </a:rPr>
              <a:t>tháp</a:t>
            </a:r>
            <a:endParaRPr sz="1800">
              <a:latin typeface="Arial"/>
              <a:cs typeface="Arial"/>
            </a:endParaRPr>
          </a:p>
          <a:p>
            <a:pPr marL="298450" indent="-285750">
              <a:lnSpc>
                <a:spcPct val="100000"/>
              </a:lnSpc>
              <a:spcBef>
                <a:spcPts val="1785"/>
              </a:spcBef>
              <a:buClr>
                <a:srgbClr val="CC9A00"/>
              </a:buClr>
              <a:buSzPct val="64583"/>
              <a:buFont typeface="Wingdings"/>
              <a:buChar char=""/>
              <a:tabLst>
                <a:tab pos="297815" algn="l"/>
                <a:tab pos="298450" algn="l"/>
              </a:tabLst>
            </a:pPr>
            <a:r>
              <a:rPr sz="2400" spc="-5" dirty="0">
                <a:latin typeface="Arial"/>
                <a:cs typeface="Arial"/>
              </a:rPr>
              <a:t>Kiểu của</a:t>
            </a:r>
            <a:r>
              <a:rPr sz="2400" dirty="0">
                <a:latin typeface="Arial"/>
                <a:cs typeface="Arial"/>
              </a:rPr>
              <a:t> </a:t>
            </a:r>
            <a:r>
              <a:rPr sz="2400" spc="-5" dirty="0">
                <a:latin typeface="Arial"/>
                <a:cs typeface="Arial"/>
              </a:rPr>
              <a:t>ontology</a:t>
            </a:r>
            <a:endParaRPr sz="2400">
              <a:latin typeface="Arial"/>
              <a:cs typeface="Arial"/>
            </a:endParaRPr>
          </a:p>
          <a:p>
            <a:pPr marL="554355" lvl="1" indent="-273050">
              <a:lnSpc>
                <a:spcPct val="100000"/>
              </a:lnSpc>
              <a:spcBef>
                <a:spcPts val="610"/>
              </a:spcBef>
              <a:buClr>
                <a:srgbClr val="3B822F"/>
              </a:buClr>
              <a:buSzPct val="60000"/>
              <a:buFont typeface="Wingdings"/>
              <a:buChar char=""/>
              <a:tabLst>
                <a:tab pos="554355" algn="l"/>
                <a:tab pos="554990" algn="l"/>
              </a:tabLst>
            </a:pPr>
            <a:r>
              <a:rPr sz="2000" spc="-5" dirty="0">
                <a:latin typeface="Arial"/>
                <a:cs typeface="Arial"/>
              </a:rPr>
              <a:t>Các quan hệ phân loại cơ bản (vd: instance-of, subclass) là</a:t>
            </a:r>
            <a:r>
              <a:rPr sz="2000" spc="30" dirty="0">
                <a:latin typeface="Arial"/>
                <a:cs typeface="Arial"/>
              </a:rPr>
              <a:t> </a:t>
            </a:r>
            <a:r>
              <a:rPr sz="2000" spc="-5" dirty="0">
                <a:latin typeface="Arial"/>
                <a:cs typeface="Arial"/>
              </a:rPr>
              <a:t>gì?</a:t>
            </a:r>
            <a:endParaRPr sz="2000">
              <a:latin typeface="Arial"/>
              <a:cs typeface="Arial"/>
            </a:endParaRPr>
          </a:p>
          <a:p>
            <a:pPr marL="554355" lvl="1" indent="-273050">
              <a:lnSpc>
                <a:spcPct val="100000"/>
              </a:lnSpc>
              <a:spcBef>
                <a:spcPts val="600"/>
              </a:spcBef>
              <a:buClr>
                <a:srgbClr val="3B822F"/>
              </a:buClr>
              <a:buSzPct val="60000"/>
              <a:buFont typeface="Wingdings"/>
              <a:buChar char=""/>
              <a:tabLst>
                <a:tab pos="554355" algn="l"/>
                <a:tab pos="554990" algn="l"/>
              </a:tabLst>
            </a:pPr>
            <a:r>
              <a:rPr sz="2000" spc="-5" dirty="0">
                <a:latin typeface="Arial"/>
                <a:cs typeface="Arial"/>
              </a:rPr>
              <a:t>Các định nghĩa của các khái niệm (và các ràng buộc đối với</a:t>
            </a:r>
            <a:r>
              <a:rPr sz="2000" spc="40" dirty="0">
                <a:latin typeface="Arial"/>
                <a:cs typeface="Arial"/>
              </a:rPr>
              <a:t> </a:t>
            </a:r>
            <a:r>
              <a:rPr sz="2000" spc="-10" dirty="0">
                <a:latin typeface="Arial"/>
                <a:cs typeface="Arial"/>
              </a:rPr>
              <a:t>chúng)?</a:t>
            </a:r>
            <a:endParaRPr sz="2000">
              <a:latin typeface="Arial"/>
              <a:cs typeface="Arial"/>
            </a:endParaRPr>
          </a:p>
          <a:p>
            <a:pPr marL="554355" lvl="1" indent="-273050">
              <a:lnSpc>
                <a:spcPct val="100000"/>
              </a:lnSpc>
              <a:spcBef>
                <a:spcPts val="600"/>
              </a:spcBef>
              <a:buClr>
                <a:srgbClr val="3B822F"/>
              </a:buClr>
              <a:buSzPct val="60000"/>
              <a:buFont typeface="Wingdings"/>
              <a:buChar char=""/>
              <a:tabLst>
                <a:tab pos="554355" algn="l"/>
                <a:tab pos="554990" algn="l"/>
              </a:tabLst>
            </a:pPr>
            <a:r>
              <a:rPr sz="2000" spc="-5" dirty="0">
                <a:latin typeface="Arial"/>
                <a:cs typeface="Arial"/>
              </a:rPr>
              <a:t>Khả năng diễn đạt của ngôn ngữ định nghĩa các khái</a:t>
            </a:r>
            <a:r>
              <a:rPr sz="2000" spc="5" dirty="0">
                <a:latin typeface="Arial"/>
                <a:cs typeface="Arial"/>
              </a:rPr>
              <a:t> </a:t>
            </a:r>
            <a:r>
              <a:rPr sz="2000" spc="-10" dirty="0">
                <a:latin typeface="Arial"/>
                <a:cs typeface="Arial"/>
              </a:rPr>
              <a:t>niệm?</a:t>
            </a:r>
            <a:endParaRPr sz="2000">
              <a:latin typeface="Arial"/>
              <a:cs typeface="Arial"/>
            </a:endParaRPr>
          </a:p>
          <a:p>
            <a:pPr marL="554355" marR="490855" lvl="1" indent="-272415">
              <a:lnSpc>
                <a:spcPct val="100000"/>
              </a:lnSpc>
              <a:spcBef>
                <a:spcPts val="600"/>
              </a:spcBef>
              <a:buClr>
                <a:srgbClr val="3B822F"/>
              </a:buClr>
              <a:buSzPct val="60000"/>
              <a:buFont typeface="Wingdings"/>
              <a:buChar char=""/>
              <a:tabLst>
                <a:tab pos="554355" algn="l"/>
                <a:tab pos="554990" algn="l"/>
              </a:tabLst>
            </a:pPr>
            <a:r>
              <a:rPr sz="2000" spc="-10" dirty="0">
                <a:latin typeface="Arial"/>
                <a:cs typeface="Arial"/>
              </a:rPr>
              <a:t>Hướng </a:t>
            </a:r>
            <a:r>
              <a:rPr sz="2000" spc="-5" dirty="0">
                <a:latin typeface="Arial"/>
                <a:cs typeface="Arial"/>
              </a:rPr>
              <a:t>quá trình (process-centric) hay </a:t>
            </a:r>
            <a:r>
              <a:rPr sz="2000" spc="-10" dirty="0">
                <a:latin typeface="Arial"/>
                <a:cs typeface="Arial"/>
              </a:rPr>
              <a:t>hướng </a:t>
            </a:r>
            <a:r>
              <a:rPr sz="2000" spc="-5" dirty="0">
                <a:latin typeface="Arial"/>
                <a:cs typeface="Arial"/>
              </a:rPr>
              <a:t>đối tượng (object-  centric)?</a:t>
            </a:r>
            <a:endParaRPr sz="2000">
              <a:latin typeface="Arial"/>
              <a:cs typeface="Arial"/>
            </a:endParaRPr>
          </a:p>
        </p:txBody>
      </p:sp>
      <p:sp>
        <p:nvSpPr>
          <p:cNvPr id="11" name="Title 10">
            <a:extLst>
              <a:ext uri="{FF2B5EF4-FFF2-40B4-BE49-F238E27FC236}">
                <a16:creationId xmlns:a16="http://schemas.microsoft.com/office/drawing/2014/main" id="{932A9359-4DF5-4780-8DBE-4780EFEC94F8}"/>
              </a:ext>
            </a:extLst>
          </p:cNvPr>
          <p:cNvSpPr>
            <a:spLocks noGrp="1"/>
          </p:cNvSpPr>
          <p:nvPr>
            <p:ph type="title"/>
          </p:nvPr>
        </p:nvSpPr>
        <p:spPr/>
        <p:txBody>
          <a:bodyPr/>
          <a:lstStyle/>
          <a:p>
            <a:r>
              <a:rPr lang="en-US" spc="-140"/>
              <a:t>Các </a:t>
            </a:r>
            <a:r>
              <a:rPr lang="en-US" spc="-114"/>
              <a:t>khía </a:t>
            </a:r>
            <a:r>
              <a:rPr lang="en-US" spc="-15"/>
              <a:t>cạnh </a:t>
            </a:r>
            <a:r>
              <a:rPr lang="en-US" spc="-90"/>
              <a:t>của </a:t>
            </a:r>
            <a:r>
              <a:rPr lang="en-US" spc="5"/>
              <a:t>một </a:t>
            </a:r>
            <a:r>
              <a:rPr lang="en-US" spc="-75"/>
              <a:t>ontology</a:t>
            </a:r>
            <a:r>
              <a:rPr lang="en-US" spc="295"/>
              <a:t> </a:t>
            </a:r>
            <a:r>
              <a:rPr lang="en-US" spc="-165"/>
              <a:t>(1)</a:t>
            </a: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idx="1"/>
          </p:nvPr>
        </p:nvSpPr>
        <p:spPr>
          <a:prstGeom prst="rect">
            <a:avLst/>
          </a:prstGeom>
        </p:spPr>
        <p:txBody>
          <a:bodyPr vert="horz" wrap="square" lIns="0" tIns="97155" rIns="0" bIns="0" rtlCol="0">
            <a:spAutoFit/>
          </a:bodyPr>
          <a:lstStyle/>
          <a:p>
            <a:pPr marL="389890" indent="-286385">
              <a:lnSpc>
                <a:spcPct val="100000"/>
              </a:lnSpc>
              <a:spcBef>
                <a:spcPts val="765"/>
              </a:spcBef>
              <a:buClr>
                <a:srgbClr val="CC9A00"/>
              </a:buClr>
              <a:buSzPct val="63636"/>
              <a:buFont typeface="Wingdings"/>
              <a:buChar char=""/>
              <a:tabLst>
                <a:tab pos="389255" algn="l"/>
                <a:tab pos="389890" algn="l"/>
              </a:tabLst>
            </a:pPr>
            <a:r>
              <a:rPr spc="-5" dirty="0"/>
              <a:t>Mục đích </a:t>
            </a:r>
            <a:r>
              <a:rPr dirty="0"/>
              <a:t>sử </a:t>
            </a:r>
            <a:r>
              <a:rPr spc="-5" dirty="0"/>
              <a:t>dụng của ontology</a:t>
            </a:r>
          </a:p>
          <a:p>
            <a:pPr marL="716280" lvl="1" indent="-286385">
              <a:lnSpc>
                <a:spcPct val="100000"/>
              </a:lnSpc>
              <a:spcBef>
                <a:spcPts val="605"/>
              </a:spcBef>
              <a:buClr>
                <a:srgbClr val="3B822F"/>
              </a:buClr>
              <a:buSzPct val="60000"/>
              <a:buFont typeface="Wingdings"/>
              <a:buChar char=""/>
              <a:tabLst>
                <a:tab pos="716280" algn="l"/>
                <a:tab pos="716915" algn="l"/>
              </a:tabLst>
            </a:pPr>
            <a:r>
              <a:rPr sz="2000" spc="-5" dirty="0">
                <a:latin typeface="Arial"/>
                <a:cs typeface="Arial"/>
              </a:rPr>
              <a:t>Chia sẻ tri thức</a:t>
            </a:r>
            <a:endParaRPr sz="2000">
              <a:latin typeface="Arial"/>
              <a:cs typeface="Arial"/>
            </a:endParaRPr>
          </a:p>
          <a:p>
            <a:pPr marL="1069340" lvl="2" indent="-286385">
              <a:lnSpc>
                <a:spcPct val="100000"/>
              </a:lnSpc>
              <a:spcBef>
                <a:spcPts val="605"/>
              </a:spcBef>
              <a:buClr>
                <a:srgbClr val="CC9A00"/>
              </a:buClr>
              <a:buSzPct val="63888"/>
              <a:buFont typeface="Wingdings"/>
              <a:buChar char=""/>
              <a:tabLst>
                <a:tab pos="1069340" algn="l"/>
                <a:tab pos="1069975" algn="l"/>
              </a:tabLst>
            </a:pPr>
            <a:r>
              <a:rPr sz="1800" spc="-5" dirty="0">
                <a:latin typeface="Arial"/>
                <a:cs typeface="Arial"/>
              </a:rPr>
              <a:t>Ví </a:t>
            </a:r>
            <a:r>
              <a:rPr sz="1800" dirty="0">
                <a:latin typeface="Arial"/>
                <a:cs typeface="Arial"/>
              </a:rPr>
              <a:t>dụ: </a:t>
            </a:r>
            <a:r>
              <a:rPr sz="1800" spc="-5" dirty="0">
                <a:latin typeface="Arial"/>
                <a:cs typeface="Arial"/>
              </a:rPr>
              <a:t>Giữa </a:t>
            </a:r>
            <a:r>
              <a:rPr sz="1800" dirty="0">
                <a:latin typeface="Arial"/>
                <a:cs typeface="Arial"/>
              </a:rPr>
              <a:t>những người sử </a:t>
            </a:r>
            <a:r>
              <a:rPr sz="1800" spc="-5" dirty="0">
                <a:latin typeface="Arial"/>
                <a:cs typeface="Arial"/>
              </a:rPr>
              <a:t>dụng, </a:t>
            </a:r>
            <a:r>
              <a:rPr sz="1800" dirty="0">
                <a:latin typeface="Arial"/>
                <a:cs typeface="Arial"/>
              </a:rPr>
              <a:t>giữa các hệ </a:t>
            </a:r>
            <a:r>
              <a:rPr sz="1800" spc="-5" dirty="0">
                <a:latin typeface="Arial"/>
                <a:cs typeface="Arial"/>
              </a:rPr>
              <a:t>thống,</a:t>
            </a:r>
            <a:r>
              <a:rPr sz="1800" spc="-110" dirty="0">
                <a:latin typeface="Arial"/>
                <a:cs typeface="Arial"/>
              </a:rPr>
              <a:t> </a:t>
            </a:r>
            <a:r>
              <a:rPr sz="1800" dirty="0">
                <a:latin typeface="Arial"/>
                <a:cs typeface="Arial"/>
              </a:rPr>
              <a:t>…</a:t>
            </a:r>
            <a:endParaRPr sz="1800">
              <a:latin typeface="Arial"/>
              <a:cs typeface="Arial"/>
            </a:endParaRPr>
          </a:p>
          <a:p>
            <a:pPr marL="716280" lvl="1" indent="-286385">
              <a:lnSpc>
                <a:spcPct val="100000"/>
              </a:lnSpc>
              <a:spcBef>
                <a:spcPts val="595"/>
              </a:spcBef>
              <a:buClr>
                <a:srgbClr val="3B822F"/>
              </a:buClr>
              <a:buSzPct val="60000"/>
              <a:buFont typeface="Wingdings"/>
              <a:buChar char=""/>
              <a:tabLst>
                <a:tab pos="716280" algn="l"/>
                <a:tab pos="716915" algn="l"/>
              </a:tabLst>
            </a:pPr>
            <a:r>
              <a:rPr sz="2000" spc="-5" dirty="0">
                <a:latin typeface="Arial"/>
                <a:cs typeface="Arial"/>
              </a:rPr>
              <a:t>Sử dụng lại tri</a:t>
            </a:r>
            <a:r>
              <a:rPr sz="2000" dirty="0">
                <a:latin typeface="Arial"/>
                <a:cs typeface="Arial"/>
              </a:rPr>
              <a:t> </a:t>
            </a:r>
            <a:r>
              <a:rPr sz="2000" spc="-5" dirty="0">
                <a:latin typeface="Arial"/>
                <a:cs typeface="Arial"/>
              </a:rPr>
              <a:t>thức</a:t>
            </a:r>
            <a:endParaRPr sz="2000">
              <a:latin typeface="Arial"/>
              <a:cs typeface="Arial"/>
            </a:endParaRPr>
          </a:p>
          <a:p>
            <a:pPr marL="1069340" marR="167005" lvl="2" indent="-285750">
              <a:lnSpc>
                <a:spcPct val="100000"/>
              </a:lnSpc>
              <a:spcBef>
                <a:spcPts val="605"/>
              </a:spcBef>
              <a:buClr>
                <a:srgbClr val="CC9A00"/>
              </a:buClr>
              <a:buSzPct val="63888"/>
              <a:buFont typeface="Wingdings"/>
              <a:buChar char=""/>
              <a:tabLst>
                <a:tab pos="1069340" algn="l"/>
                <a:tab pos="1069975" algn="l"/>
              </a:tabLst>
            </a:pPr>
            <a:r>
              <a:rPr sz="1800" spc="-5" dirty="0">
                <a:latin typeface="Arial"/>
                <a:cs typeface="Arial"/>
              </a:rPr>
              <a:t>Ví </a:t>
            </a:r>
            <a:r>
              <a:rPr sz="1800" dirty="0">
                <a:latin typeface="Arial"/>
                <a:cs typeface="Arial"/>
              </a:rPr>
              <a:t>dụ: </a:t>
            </a:r>
            <a:r>
              <a:rPr sz="1800" spc="-5" dirty="0">
                <a:latin typeface="Arial"/>
                <a:cs typeface="Arial"/>
              </a:rPr>
              <a:t>Sử </a:t>
            </a:r>
            <a:r>
              <a:rPr sz="1800" dirty="0">
                <a:latin typeface="Arial"/>
                <a:cs typeface="Arial"/>
              </a:rPr>
              <a:t>dụng lại (một phần) </a:t>
            </a:r>
            <a:r>
              <a:rPr sz="1800" spc="-5" dirty="0">
                <a:latin typeface="Arial"/>
                <a:cs typeface="Arial"/>
              </a:rPr>
              <a:t>tri thức </a:t>
            </a:r>
            <a:r>
              <a:rPr sz="1800" dirty="0">
                <a:latin typeface="Arial"/>
                <a:cs typeface="Arial"/>
              </a:rPr>
              <a:t>khi các mô </a:t>
            </a:r>
            <a:r>
              <a:rPr sz="1800" spc="-5" dirty="0">
                <a:latin typeface="Arial"/>
                <a:cs typeface="Arial"/>
              </a:rPr>
              <a:t>hình </a:t>
            </a:r>
            <a:r>
              <a:rPr sz="1800" dirty="0">
                <a:latin typeface="Arial"/>
                <a:cs typeface="Arial"/>
              </a:rPr>
              <a:t>hoặc hệ </a:t>
            </a:r>
            <a:r>
              <a:rPr sz="1800" spc="-5" dirty="0">
                <a:latin typeface="Arial"/>
                <a:cs typeface="Arial"/>
              </a:rPr>
              <a:t>thống  </a:t>
            </a:r>
            <a:r>
              <a:rPr sz="1800" dirty="0">
                <a:latin typeface="Arial"/>
                <a:cs typeface="Arial"/>
              </a:rPr>
              <a:t>thay</a:t>
            </a:r>
            <a:r>
              <a:rPr sz="1800" spc="-15" dirty="0">
                <a:latin typeface="Arial"/>
                <a:cs typeface="Arial"/>
              </a:rPr>
              <a:t> </a:t>
            </a:r>
            <a:r>
              <a:rPr sz="1800" dirty="0">
                <a:latin typeface="Arial"/>
                <a:cs typeface="Arial"/>
              </a:rPr>
              <a:t>đổi</a:t>
            </a:r>
            <a:endParaRPr sz="1800">
              <a:latin typeface="Arial"/>
              <a:cs typeface="Arial"/>
            </a:endParaRPr>
          </a:p>
          <a:p>
            <a:pPr marL="716280" lvl="1" indent="-286385">
              <a:lnSpc>
                <a:spcPct val="100000"/>
              </a:lnSpc>
              <a:spcBef>
                <a:spcPts val="595"/>
              </a:spcBef>
              <a:buClr>
                <a:srgbClr val="3B822F"/>
              </a:buClr>
              <a:buSzPct val="60000"/>
              <a:buFont typeface="Wingdings"/>
              <a:buChar char=""/>
              <a:tabLst>
                <a:tab pos="716280" algn="l"/>
                <a:tab pos="716915" algn="l"/>
              </a:tabLst>
            </a:pPr>
            <a:r>
              <a:rPr sz="2000" spc="-5" dirty="0">
                <a:latin typeface="Arial"/>
                <a:cs typeface="Arial"/>
              </a:rPr>
              <a:t>Mục đích chung (tổng quát) hay </a:t>
            </a:r>
            <a:r>
              <a:rPr sz="2000" dirty="0">
                <a:latin typeface="Arial"/>
                <a:cs typeface="Arial"/>
              </a:rPr>
              <a:t>cụ </a:t>
            </a:r>
            <a:r>
              <a:rPr sz="2000" spc="-5" dirty="0">
                <a:latin typeface="Arial"/>
                <a:cs typeface="Arial"/>
              </a:rPr>
              <a:t>thể cho một lĩnh</a:t>
            </a:r>
            <a:r>
              <a:rPr sz="2000" spc="-55" dirty="0">
                <a:latin typeface="Arial"/>
                <a:cs typeface="Arial"/>
              </a:rPr>
              <a:t> </a:t>
            </a:r>
            <a:r>
              <a:rPr sz="2000" spc="-5" dirty="0">
                <a:latin typeface="Arial"/>
                <a:cs typeface="Arial"/>
              </a:rPr>
              <a:t>vực</a:t>
            </a:r>
            <a:endParaRPr sz="2000">
              <a:latin typeface="Arial"/>
              <a:cs typeface="Arial"/>
            </a:endParaRPr>
          </a:p>
          <a:p>
            <a:pPr marL="389890" indent="-285750">
              <a:lnSpc>
                <a:spcPct val="100000"/>
              </a:lnSpc>
              <a:spcBef>
                <a:spcPts val="1195"/>
              </a:spcBef>
              <a:buClr>
                <a:srgbClr val="CC9A00"/>
              </a:buClr>
              <a:buSzPct val="63636"/>
              <a:buFont typeface="Wingdings"/>
              <a:buChar char=""/>
              <a:tabLst>
                <a:tab pos="389255" algn="l"/>
                <a:tab pos="389890" algn="l"/>
              </a:tabLst>
            </a:pPr>
            <a:r>
              <a:rPr spc="-5" dirty="0"/>
              <a:t>Việc xây dựng</a:t>
            </a:r>
            <a:r>
              <a:rPr spc="-20" dirty="0"/>
              <a:t> </a:t>
            </a:r>
            <a:r>
              <a:rPr spc="-5" dirty="0"/>
              <a:t>ontology</a:t>
            </a:r>
          </a:p>
          <a:p>
            <a:pPr marL="716280" lvl="1" indent="-286385">
              <a:lnSpc>
                <a:spcPct val="100000"/>
              </a:lnSpc>
              <a:spcBef>
                <a:spcPts val="605"/>
              </a:spcBef>
              <a:buClr>
                <a:srgbClr val="3B822F"/>
              </a:buClr>
              <a:buSzPct val="60000"/>
              <a:buFont typeface="Wingdings"/>
              <a:buChar char=""/>
              <a:tabLst>
                <a:tab pos="716280" algn="l"/>
                <a:tab pos="716915" algn="l"/>
              </a:tabLst>
            </a:pPr>
            <a:r>
              <a:rPr sz="2000" spc="-10" dirty="0">
                <a:latin typeface="Arial"/>
                <a:cs typeface="Arial"/>
              </a:rPr>
              <a:t>Ontology </a:t>
            </a:r>
            <a:r>
              <a:rPr sz="2000" dirty="0">
                <a:latin typeface="Arial"/>
                <a:cs typeface="Arial"/>
              </a:rPr>
              <a:t>sẽ </a:t>
            </a:r>
            <a:r>
              <a:rPr sz="2000" spc="-5" dirty="0">
                <a:latin typeface="Arial"/>
                <a:cs typeface="Arial"/>
              </a:rPr>
              <a:t>được thu thập hay xây</a:t>
            </a:r>
            <a:r>
              <a:rPr sz="2000" spc="-15" dirty="0">
                <a:latin typeface="Arial"/>
                <a:cs typeface="Arial"/>
              </a:rPr>
              <a:t> </a:t>
            </a:r>
            <a:r>
              <a:rPr sz="2000" spc="-5" dirty="0">
                <a:latin typeface="Arial"/>
                <a:cs typeface="Arial"/>
              </a:rPr>
              <a:t>dựng?</a:t>
            </a:r>
            <a:endParaRPr sz="2000">
              <a:latin typeface="Arial"/>
              <a:cs typeface="Arial"/>
            </a:endParaRPr>
          </a:p>
          <a:p>
            <a:pPr marL="716280" lvl="1" indent="-286385">
              <a:lnSpc>
                <a:spcPct val="100000"/>
              </a:lnSpc>
              <a:spcBef>
                <a:spcPts val="600"/>
              </a:spcBef>
              <a:buClr>
                <a:srgbClr val="3B822F"/>
              </a:buClr>
              <a:buSzPct val="60000"/>
              <a:buFont typeface="Wingdings"/>
              <a:buChar char=""/>
              <a:tabLst>
                <a:tab pos="716280" algn="l"/>
                <a:tab pos="716915" algn="l"/>
              </a:tabLst>
            </a:pPr>
            <a:r>
              <a:rPr sz="2000" spc="-5" dirty="0">
                <a:latin typeface="Arial"/>
                <a:cs typeface="Arial"/>
              </a:rPr>
              <a:t>Nếu được thu thập, thì cần kiểm</a:t>
            </a:r>
            <a:r>
              <a:rPr sz="2000" spc="-30" dirty="0">
                <a:latin typeface="Arial"/>
                <a:cs typeface="Arial"/>
              </a:rPr>
              <a:t> </a:t>
            </a:r>
            <a:r>
              <a:rPr sz="2000" spc="-10" dirty="0">
                <a:latin typeface="Arial"/>
                <a:cs typeface="Arial"/>
              </a:rPr>
              <a:t>tra:</a:t>
            </a:r>
            <a:endParaRPr sz="2000">
              <a:latin typeface="Arial"/>
              <a:cs typeface="Arial"/>
            </a:endParaRPr>
          </a:p>
          <a:p>
            <a:pPr marL="1069340" lvl="2" indent="-286385">
              <a:lnSpc>
                <a:spcPct val="100000"/>
              </a:lnSpc>
              <a:spcBef>
                <a:spcPts val="605"/>
              </a:spcBef>
              <a:buClr>
                <a:srgbClr val="CC9A00"/>
              </a:buClr>
              <a:buSzPct val="63888"/>
              <a:buFont typeface="Wingdings"/>
              <a:buChar char=""/>
              <a:tabLst>
                <a:tab pos="1069340" algn="l"/>
                <a:tab pos="1069975" algn="l"/>
              </a:tabLst>
            </a:pPr>
            <a:r>
              <a:rPr sz="1800" dirty="0">
                <a:latin typeface="Arial"/>
                <a:cs typeface="Arial"/>
              </a:rPr>
              <a:t>Chất lượng của tri</a:t>
            </a:r>
            <a:r>
              <a:rPr sz="1800" spc="-45" dirty="0">
                <a:latin typeface="Arial"/>
                <a:cs typeface="Arial"/>
              </a:rPr>
              <a:t> </a:t>
            </a:r>
            <a:r>
              <a:rPr sz="1800" spc="-5" dirty="0">
                <a:latin typeface="Arial"/>
                <a:cs typeface="Arial"/>
              </a:rPr>
              <a:t>thức?</a:t>
            </a:r>
            <a:endParaRPr sz="1800">
              <a:latin typeface="Arial"/>
              <a:cs typeface="Arial"/>
            </a:endParaRPr>
          </a:p>
          <a:p>
            <a:pPr marL="1069340" lvl="2" indent="-286385">
              <a:lnSpc>
                <a:spcPct val="100000"/>
              </a:lnSpc>
              <a:spcBef>
                <a:spcPts val="600"/>
              </a:spcBef>
              <a:buClr>
                <a:srgbClr val="CC9A00"/>
              </a:buClr>
              <a:buSzPct val="63888"/>
              <a:buFont typeface="Wingdings"/>
              <a:buChar char=""/>
              <a:tabLst>
                <a:tab pos="1069340" algn="l"/>
                <a:tab pos="1069975" algn="l"/>
              </a:tabLst>
            </a:pPr>
            <a:r>
              <a:rPr sz="1800" spc="-5" dirty="0">
                <a:latin typeface="Arial"/>
                <a:cs typeface="Arial"/>
              </a:rPr>
              <a:t>Sự </a:t>
            </a:r>
            <a:r>
              <a:rPr sz="1800" dirty="0">
                <a:latin typeface="Arial"/>
                <a:cs typeface="Arial"/>
              </a:rPr>
              <a:t>khác </a:t>
            </a:r>
            <a:r>
              <a:rPr sz="1800" spc="-5" dirty="0">
                <a:latin typeface="Arial"/>
                <a:cs typeface="Arial"/>
              </a:rPr>
              <a:t>biệt về </a:t>
            </a:r>
            <a:r>
              <a:rPr sz="1800" dirty="0">
                <a:latin typeface="Arial"/>
                <a:cs typeface="Arial"/>
              </a:rPr>
              <a:t>nội</a:t>
            </a:r>
            <a:r>
              <a:rPr sz="1800" spc="-30" dirty="0">
                <a:latin typeface="Arial"/>
                <a:cs typeface="Arial"/>
              </a:rPr>
              <a:t> </a:t>
            </a:r>
            <a:r>
              <a:rPr sz="1800" dirty="0">
                <a:latin typeface="Arial"/>
                <a:cs typeface="Arial"/>
              </a:rPr>
              <a:t>dung?</a:t>
            </a:r>
            <a:endParaRPr sz="1800">
              <a:latin typeface="Arial"/>
              <a:cs typeface="Arial"/>
            </a:endParaRPr>
          </a:p>
          <a:p>
            <a:pPr marL="1069340" lvl="2" indent="-286385">
              <a:lnSpc>
                <a:spcPct val="100000"/>
              </a:lnSpc>
              <a:spcBef>
                <a:spcPts val="600"/>
              </a:spcBef>
              <a:buClr>
                <a:srgbClr val="CC9A00"/>
              </a:buClr>
              <a:buSzPct val="63888"/>
              <a:buFont typeface="Wingdings"/>
              <a:buChar char=""/>
              <a:tabLst>
                <a:tab pos="1069340" algn="l"/>
                <a:tab pos="1069975" algn="l"/>
              </a:tabLst>
            </a:pPr>
            <a:r>
              <a:rPr sz="1800" spc="-5" dirty="0">
                <a:latin typeface="Arial"/>
                <a:cs typeface="Arial"/>
              </a:rPr>
              <a:t>Sự </a:t>
            </a:r>
            <a:r>
              <a:rPr sz="1800" dirty="0">
                <a:latin typeface="Arial"/>
                <a:cs typeface="Arial"/>
              </a:rPr>
              <a:t>tin </a:t>
            </a:r>
            <a:r>
              <a:rPr sz="1800" spc="-5" dirty="0">
                <a:latin typeface="Arial"/>
                <a:cs typeface="Arial"/>
              </a:rPr>
              <a:t>cậy </a:t>
            </a:r>
            <a:r>
              <a:rPr sz="1800" dirty="0">
                <a:latin typeface="Arial"/>
                <a:cs typeface="Arial"/>
              </a:rPr>
              <a:t>của </a:t>
            </a:r>
            <a:r>
              <a:rPr sz="1800" spc="-5" dirty="0">
                <a:latin typeface="Arial"/>
                <a:cs typeface="Arial"/>
              </a:rPr>
              <a:t>tri</a:t>
            </a:r>
            <a:r>
              <a:rPr sz="1800" spc="-30" dirty="0">
                <a:latin typeface="Arial"/>
                <a:cs typeface="Arial"/>
              </a:rPr>
              <a:t> </a:t>
            </a:r>
            <a:r>
              <a:rPr sz="1800" spc="-5" dirty="0">
                <a:latin typeface="Arial"/>
                <a:cs typeface="Arial"/>
              </a:rPr>
              <a:t>thức?</a:t>
            </a:r>
            <a:endParaRPr sz="1800">
              <a:latin typeface="Arial"/>
              <a:cs typeface="Arial"/>
            </a:endParaRPr>
          </a:p>
          <a:p>
            <a:pPr marL="12700">
              <a:lnSpc>
                <a:spcPct val="100000"/>
              </a:lnSpc>
              <a:spcBef>
                <a:spcPts val="600"/>
              </a:spcBef>
              <a:tabLst>
                <a:tab pos="783590" algn="l"/>
                <a:tab pos="1069340" algn="l"/>
                <a:tab pos="8241665" algn="l"/>
              </a:tabLst>
            </a:pPr>
            <a:r>
              <a:rPr sz="1150" u="heavy" spc="5" dirty="0">
                <a:solidFill>
                  <a:srgbClr val="CC9A00"/>
                </a:solidFill>
                <a:uFill>
                  <a:solidFill>
                    <a:srgbClr val="CC9900"/>
                  </a:solidFill>
                </a:uFill>
                <a:latin typeface="Times New Roman"/>
                <a:cs typeface="Times New Roman"/>
              </a:rPr>
              <a:t> 	</a:t>
            </a:r>
            <a:r>
              <a:rPr sz="1150" u="heavy" spc="10" dirty="0">
                <a:solidFill>
                  <a:srgbClr val="CC9A00"/>
                </a:solidFill>
                <a:uFill>
                  <a:solidFill>
                    <a:srgbClr val="CC9900"/>
                  </a:solidFill>
                </a:uFill>
                <a:latin typeface="Wingdings"/>
                <a:cs typeface="Wingdings"/>
              </a:rPr>
              <a:t></a:t>
            </a:r>
            <a:r>
              <a:rPr sz="1150" u="heavy" spc="10" dirty="0">
                <a:solidFill>
                  <a:srgbClr val="CC9A00"/>
                </a:solidFill>
                <a:uFill>
                  <a:solidFill>
                    <a:srgbClr val="CC9900"/>
                  </a:solidFill>
                </a:uFill>
                <a:latin typeface="Times New Roman"/>
                <a:cs typeface="Times New Roman"/>
              </a:rPr>
              <a:t>	</a:t>
            </a:r>
            <a:r>
              <a:rPr sz="1800" u="heavy" spc="-5" dirty="0">
                <a:uFill>
                  <a:solidFill>
                    <a:srgbClr val="CC9900"/>
                  </a:solidFill>
                </a:uFill>
              </a:rPr>
              <a:t>Các </a:t>
            </a:r>
            <a:r>
              <a:rPr sz="1800" u="heavy" dirty="0">
                <a:uFill>
                  <a:solidFill>
                    <a:srgbClr val="CC9900"/>
                  </a:solidFill>
                </a:uFill>
              </a:rPr>
              <a:t>khả năng sử dụng trong </a:t>
            </a:r>
            <a:r>
              <a:rPr sz="1800" u="heavy" spc="-5" dirty="0">
                <a:uFill>
                  <a:solidFill>
                    <a:srgbClr val="CC9900"/>
                  </a:solidFill>
                </a:uFill>
              </a:rPr>
              <a:t>tương</a:t>
            </a:r>
            <a:r>
              <a:rPr sz="1800" u="heavy" spc="-145" dirty="0">
                <a:uFill>
                  <a:solidFill>
                    <a:srgbClr val="CC9900"/>
                  </a:solidFill>
                </a:uFill>
              </a:rPr>
              <a:t> </a:t>
            </a:r>
            <a:r>
              <a:rPr sz="1800" u="heavy" dirty="0">
                <a:uFill>
                  <a:solidFill>
                    <a:srgbClr val="CC9900"/>
                  </a:solidFill>
                </a:uFill>
              </a:rPr>
              <a:t>lai?	</a:t>
            </a:r>
            <a:endParaRPr sz="1800">
              <a:latin typeface="Times New Roman"/>
              <a:cs typeface="Times New Roman"/>
            </a:endParaRPr>
          </a:p>
        </p:txBody>
      </p:sp>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71</a:t>
            </a:fld>
            <a:endParaRPr spc="-40" dirty="0"/>
          </a:p>
        </p:txBody>
      </p:sp>
      <p:sp>
        <p:nvSpPr>
          <p:cNvPr id="9" name="Title 8">
            <a:extLst>
              <a:ext uri="{FF2B5EF4-FFF2-40B4-BE49-F238E27FC236}">
                <a16:creationId xmlns:a16="http://schemas.microsoft.com/office/drawing/2014/main" id="{3E0FFDFF-4852-4265-B58E-98705C9FAD84}"/>
              </a:ext>
            </a:extLst>
          </p:cNvPr>
          <p:cNvSpPr>
            <a:spLocks noGrp="1"/>
          </p:cNvSpPr>
          <p:nvPr>
            <p:ph type="title"/>
          </p:nvPr>
        </p:nvSpPr>
        <p:spPr/>
        <p:txBody>
          <a:bodyPr/>
          <a:lstStyle/>
          <a:p>
            <a:r>
              <a:rPr lang="en-US" spc="-140"/>
              <a:t>Các </a:t>
            </a:r>
            <a:r>
              <a:rPr lang="en-US" spc="-114"/>
              <a:t>khía </a:t>
            </a:r>
            <a:r>
              <a:rPr lang="en-US" spc="-15"/>
              <a:t>cạnh </a:t>
            </a:r>
            <a:r>
              <a:rPr lang="en-US" spc="-90"/>
              <a:t>của </a:t>
            </a:r>
            <a:r>
              <a:rPr lang="en-US" spc="5"/>
              <a:t>một </a:t>
            </a:r>
            <a:r>
              <a:rPr lang="en-US" spc="-75"/>
              <a:t>ontology</a:t>
            </a:r>
            <a:r>
              <a:rPr lang="en-US" spc="295"/>
              <a:t> </a:t>
            </a:r>
            <a:r>
              <a:rPr lang="en-US" spc="-165"/>
              <a:t>(2)</a:t>
            </a: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72</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624838"/>
            <a:ext cx="7432040" cy="1061720"/>
          </a:xfrm>
          <a:prstGeom prst="rect">
            <a:avLst/>
          </a:prstGeom>
        </p:spPr>
        <p:txBody>
          <a:bodyPr vert="horz" wrap="square" lIns="0" tIns="165100" rIns="0" bIns="0" rtlCol="0">
            <a:spAutoFit/>
          </a:bodyPr>
          <a:lstStyle/>
          <a:p>
            <a:pPr marL="298450" indent="-285750">
              <a:lnSpc>
                <a:spcPct val="100000"/>
              </a:lnSpc>
              <a:spcBef>
                <a:spcPts val="1300"/>
              </a:spcBef>
              <a:buClr>
                <a:srgbClr val="CC9A00"/>
              </a:buClr>
              <a:buSzPct val="64583"/>
              <a:buFont typeface="Wingdings"/>
              <a:buChar char=""/>
              <a:tabLst>
                <a:tab pos="297815" algn="l"/>
                <a:tab pos="298450" algn="l"/>
              </a:tabLst>
            </a:pPr>
            <a:r>
              <a:rPr sz="2400" spc="-5" dirty="0">
                <a:latin typeface="Arial"/>
                <a:cs typeface="Arial"/>
              </a:rPr>
              <a:t>Xác định giới hạn (phạm vi) và mục đích sử</a:t>
            </a:r>
            <a:r>
              <a:rPr sz="2400" spc="40" dirty="0">
                <a:latin typeface="Arial"/>
                <a:cs typeface="Arial"/>
              </a:rPr>
              <a:t> </a:t>
            </a:r>
            <a:r>
              <a:rPr sz="2400" spc="-5" dirty="0">
                <a:latin typeface="Arial"/>
                <a:cs typeface="Arial"/>
              </a:rPr>
              <a:t>dụng</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Cân nhắc việc sử dụng lại các ontology đã có và</a:t>
            </a:r>
            <a:r>
              <a:rPr sz="2400" spc="85" dirty="0">
                <a:latin typeface="Arial"/>
                <a:cs typeface="Arial"/>
              </a:rPr>
              <a:t> </a:t>
            </a:r>
            <a:r>
              <a:rPr sz="2400" spc="-5" dirty="0">
                <a:latin typeface="Arial"/>
                <a:cs typeface="Arial"/>
              </a:rPr>
              <a:t>liên</a:t>
            </a:r>
            <a:endParaRPr sz="2400">
              <a:latin typeface="Arial"/>
              <a:cs typeface="Arial"/>
            </a:endParaRPr>
          </a:p>
        </p:txBody>
      </p:sp>
      <p:sp>
        <p:nvSpPr>
          <p:cNvPr id="7" name="object 7"/>
          <p:cNvSpPr/>
          <p:nvPr/>
        </p:nvSpPr>
        <p:spPr>
          <a:xfrm>
            <a:off x="457200" y="339470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8" name="object 8"/>
          <p:cNvSpPr txBox="1"/>
          <p:nvPr/>
        </p:nvSpPr>
        <p:spPr>
          <a:xfrm>
            <a:off x="993139" y="2508758"/>
            <a:ext cx="4007485" cy="1061720"/>
          </a:xfrm>
          <a:prstGeom prst="rect">
            <a:avLst/>
          </a:prstGeom>
        </p:spPr>
        <p:txBody>
          <a:bodyPr vert="horz" wrap="square" lIns="0" tIns="165100" rIns="0" bIns="0" rtlCol="0">
            <a:spAutoFit/>
          </a:bodyPr>
          <a:lstStyle/>
          <a:p>
            <a:pPr marL="298450">
              <a:lnSpc>
                <a:spcPct val="100000"/>
              </a:lnSpc>
              <a:spcBef>
                <a:spcPts val="1300"/>
              </a:spcBef>
            </a:pPr>
            <a:r>
              <a:rPr sz="2400" spc="-5" dirty="0">
                <a:latin typeface="Arial"/>
                <a:cs typeface="Arial"/>
              </a:rPr>
              <a:t>quan đến lĩnh </a:t>
            </a:r>
            <a:r>
              <a:rPr sz="2400" dirty="0">
                <a:latin typeface="Arial"/>
                <a:cs typeface="Arial"/>
              </a:rPr>
              <a:t>vực </a:t>
            </a:r>
            <a:r>
              <a:rPr sz="2400" spc="-5" dirty="0">
                <a:latin typeface="Arial"/>
                <a:cs typeface="Arial"/>
              </a:rPr>
              <a:t>đang</a:t>
            </a:r>
            <a:r>
              <a:rPr sz="2400" spc="-35" dirty="0">
                <a:latin typeface="Arial"/>
                <a:cs typeface="Arial"/>
              </a:rPr>
              <a:t> </a:t>
            </a:r>
            <a:r>
              <a:rPr sz="2400" spc="-5" dirty="0">
                <a:latin typeface="Arial"/>
                <a:cs typeface="Arial"/>
              </a:rPr>
              <a:t>xét</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Liệt </a:t>
            </a:r>
            <a:r>
              <a:rPr sz="2400" dirty="0">
                <a:latin typeface="Arial"/>
                <a:cs typeface="Arial"/>
              </a:rPr>
              <a:t>kê </a:t>
            </a:r>
            <a:r>
              <a:rPr sz="2400" spc="-5" dirty="0">
                <a:latin typeface="Arial"/>
                <a:cs typeface="Arial"/>
              </a:rPr>
              <a:t>các khái</a:t>
            </a:r>
            <a:r>
              <a:rPr sz="2400" spc="-10" dirty="0">
                <a:latin typeface="Arial"/>
                <a:cs typeface="Arial"/>
              </a:rPr>
              <a:t> </a:t>
            </a:r>
            <a:r>
              <a:rPr sz="2400" spc="-5" dirty="0">
                <a:latin typeface="Arial"/>
                <a:cs typeface="Arial"/>
              </a:rPr>
              <a:t>niệm</a:t>
            </a:r>
            <a:endParaRPr sz="2400">
              <a:latin typeface="Arial"/>
              <a:cs typeface="Arial"/>
            </a:endParaRPr>
          </a:p>
        </p:txBody>
      </p:sp>
      <p:sp>
        <p:nvSpPr>
          <p:cNvPr id="9" name="object 9"/>
          <p:cNvSpPr txBox="1"/>
          <p:nvPr/>
        </p:nvSpPr>
        <p:spPr>
          <a:xfrm>
            <a:off x="993138" y="3545078"/>
            <a:ext cx="7160261" cy="2628925"/>
          </a:xfrm>
          <a:prstGeom prst="rect">
            <a:avLst/>
          </a:prstGeom>
        </p:spPr>
        <p:txBody>
          <a:bodyPr vert="horz" wrap="square" lIns="0" tIns="165100" rIns="0" bIns="0" rtlCol="0">
            <a:spAutoFit/>
          </a:bodyPr>
          <a:lstStyle/>
          <a:p>
            <a:pPr marL="298450" indent="-285750">
              <a:lnSpc>
                <a:spcPct val="100000"/>
              </a:lnSpc>
              <a:spcBef>
                <a:spcPts val="1300"/>
              </a:spcBef>
              <a:buClr>
                <a:srgbClr val="CC9A00"/>
              </a:buClr>
              <a:buSzPct val="64583"/>
              <a:buFont typeface="Wingdings"/>
              <a:buChar char=""/>
              <a:tabLst>
                <a:tab pos="297815" algn="l"/>
                <a:tab pos="298450" algn="l"/>
              </a:tabLst>
            </a:pPr>
            <a:r>
              <a:rPr sz="2400" spc="-5" dirty="0">
                <a:latin typeface="Arial"/>
                <a:cs typeface="Arial"/>
              </a:rPr>
              <a:t>Định nghĩa </a:t>
            </a:r>
            <a:r>
              <a:rPr sz="2400" dirty="0">
                <a:latin typeface="Arial"/>
                <a:cs typeface="Arial"/>
              </a:rPr>
              <a:t>sự </a:t>
            </a:r>
            <a:r>
              <a:rPr sz="2400" spc="-5" dirty="0">
                <a:latin typeface="Arial"/>
                <a:cs typeface="Arial"/>
              </a:rPr>
              <a:t>phân</a:t>
            </a:r>
            <a:r>
              <a:rPr sz="2400" spc="25" dirty="0">
                <a:latin typeface="Arial"/>
                <a:cs typeface="Arial"/>
              </a:rPr>
              <a:t> </a:t>
            </a:r>
            <a:r>
              <a:rPr sz="2400" spc="-5" dirty="0">
                <a:latin typeface="Arial"/>
                <a:cs typeface="Arial"/>
              </a:rPr>
              <a:t>loại</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Định nghĩa các thuộc</a:t>
            </a:r>
            <a:r>
              <a:rPr sz="2400" spc="20" dirty="0">
                <a:latin typeface="Arial"/>
                <a:cs typeface="Arial"/>
              </a:rPr>
              <a:t> </a:t>
            </a:r>
            <a:r>
              <a:rPr sz="2400" spc="-5" dirty="0">
                <a:latin typeface="Arial"/>
                <a:cs typeface="Arial"/>
              </a:rPr>
              <a:t>tính</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Định nghĩa các khía cạnh (các ràng</a:t>
            </a:r>
            <a:r>
              <a:rPr sz="2400" spc="15" dirty="0">
                <a:latin typeface="Arial"/>
                <a:cs typeface="Arial"/>
              </a:rPr>
              <a:t> </a:t>
            </a:r>
            <a:r>
              <a:rPr sz="2400" spc="-5" dirty="0">
                <a:latin typeface="Arial"/>
                <a:cs typeface="Arial"/>
              </a:rPr>
              <a:t>buộc)</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Xác định </a:t>
            </a:r>
            <a:r>
              <a:rPr sz="2400" spc="-5">
                <a:latin typeface="Arial"/>
                <a:cs typeface="Arial"/>
              </a:rPr>
              <a:t>các </a:t>
            </a:r>
            <a:r>
              <a:rPr lang="en-US" sz="2400" spc="-5">
                <a:latin typeface="Arial"/>
                <a:cs typeface="Arial"/>
              </a:rPr>
              <a:t>thể hiện/ví dụ </a:t>
            </a:r>
            <a:r>
              <a:rPr sz="2400" spc="-5">
                <a:latin typeface="Arial"/>
                <a:cs typeface="Arial"/>
              </a:rPr>
              <a:t>cụ </a:t>
            </a:r>
            <a:r>
              <a:rPr sz="2400" spc="-5" dirty="0">
                <a:latin typeface="Arial"/>
                <a:cs typeface="Arial"/>
              </a:rPr>
              <a:t>thể</a:t>
            </a:r>
            <a:r>
              <a:rPr sz="2400" spc="-20" dirty="0">
                <a:latin typeface="Arial"/>
                <a:cs typeface="Arial"/>
              </a:rPr>
              <a:t> </a:t>
            </a:r>
            <a:r>
              <a:rPr sz="2400" spc="-5" dirty="0">
                <a:latin typeface="Arial"/>
                <a:cs typeface="Arial"/>
              </a:rPr>
              <a:t>(instances)</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Kiểm tra các bất thường</a:t>
            </a:r>
            <a:r>
              <a:rPr sz="2400" spc="-40" dirty="0">
                <a:latin typeface="Arial"/>
                <a:cs typeface="Arial"/>
              </a:rPr>
              <a:t> </a:t>
            </a:r>
            <a:r>
              <a:rPr sz="2400" dirty="0">
                <a:latin typeface="Arial"/>
                <a:cs typeface="Arial"/>
              </a:rPr>
              <a:t>(anomalies)</a:t>
            </a:r>
            <a:endParaRPr sz="2400">
              <a:latin typeface="Arial"/>
              <a:cs typeface="Arial"/>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4" name="Title 13">
            <a:extLst>
              <a:ext uri="{FF2B5EF4-FFF2-40B4-BE49-F238E27FC236}">
                <a16:creationId xmlns:a16="http://schemas.microsoft.com/office/drawing/2014/main" id="{111BBBF8-DBAE-49EE-B83F-B34FA64F38E2}"/>
              </a:ext>
            </a:extLst>
          </p:cNvPr>
          <p:cNvSpPr>
            <a:spLocks noGrp="1"/>
          </p:cNvSpPr>
          <p:nvPr>
            <p:ph type="title"/>
          </p:nvPr>
        </p:nvSpPr>
        <p:spPr/>
        <p:txBody>
          <a:bodyPr/>
          <a:lstStyle/>
          <a:p>
            <a:r>
              <a:rPr lang="en-US" b="0" spc="-5">
                <a:latin typeface="Verdana"/>
                <a:cs typeface="Verdana"/>
              </a:rPr>
              <a:t>Xây dựng</a:t>
            </a:r>
            <a:r>
              <a:rPr lang="en-US" b="0" spc="-55">
                <a:latin typeface="Verdana"/>
                <a:cs typeface="Verdana"/>
              </a:rPr>
              <a:t> </a:t>
            </a:r>
            <a:r>
              <a:rPr lang="en-US" b="0" spc="-5">
                <a:latin typeface="Verdana"/>
                <a:cs typeface="Verdana"/>
              </a:rPr>
              <a:t>ontology</a:t>
            </a:r>
            <a:endParaRPr lang="en-US" b="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73</a:t>
            </a:fld>
            <a:endParaRPr spc="-40" dirty="0"/>
          </a:p>
        </p:txBody>
      </p:sp>
      <p:sp>
        <p:nvSpPr>
          <p:cNvPr id="3" name="object 3"/>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4" name="object 4"/>
          <p:cNvSpPr txBox="1"/>
          <p:nvPr/>
        </p:nvSpPr>
        <p:spPr>
          <a:xfrm>
            <a:off x="993139" y="1693515"/>
            <a:ext cx="7783195" cy="826769"/>
          </a:xfrm>
          <a:prstGeom prst="rect">
            <a:avLst/>
          </a:prstGeom>
        </p:spPr>
        <p:txBody>
          <a:bodyPr vert="horz" wrap="square" lIns="0" tIns="97155" rIns="0" bIns="0" rtlCol="0">
            <a:spAutoFit/>
          </a:bodyPr>
          <a:lstStyle/>
          <a:p>
            <a:pPr marL="298450" indent="-285750">
              <a:lnSpc>
                <a:spcPct val="100000"/>
              </a:lnSpc>
              <a:spcBef>
                <a:spcPts val="765"/>
              </a:spcBef>
              <a:buClr>
                <a:srgbClr val="CC9A00"/>
              </a:buClr>
              <a:buSzPct val="63636"/>
              <a:buFont typeface="Wingdings"/>
              <a:buChar char=""/>
              <a:tabLst>
                <a:tab pos="297815" algn="l"/>
                <a:tab pos="298450" algn="l"/>
              </a:tabLst>
            </a:pPr>
            <a:r>
              <a:rPr sz="2200" spc="-5" dirty="0">
                <a:latin typeface="Arial"/>
                <a:cs typeface="Arial"/>
              </a:rPr>
              <a:t>Không tồn tại một ontology “chuẩn” cho một lĩnh </a:t>
            </a:r>
            <a:r>
              <a:rPr sz="2200" dirty="0">
                <a:latin typeface="Arial"/>
                <a:cs typeface="Arial"/>
              </a:rPr>
              <a:t>vực cụ</a:t>
            </a:r>
            <a:r>
              <a:rPr sz="2200" spc="65" dirty="0">
                <a:latin typeface="Arial"/>
                <a:cs typeface="Arial"/>
              </a:rPr>
              <a:t> </a:t>
            </a:r>
            <a:r>
              <a:rPr sz="2200" spc="-5" dirty="0">
                <a:latin typeface="Arial"/>
                <a:cs typeface="Arial"/>
              </a:rPr>
              <a:t>thể</a:t>
            </a:r>
            <a:endParaRPr sz="2200">
              <a:latin typeface="Arial"/>
              <a:cs typeface="Arial"/>
            </a:endParaRPr>
          </a:p>
          <a:p>
            <a:pPr marL="624840" lvl="1" indent="-286385">
              <a:lnSpc>
                <a:spcPct val="100000"/>
              </a:lnSpc>
              <a:spcBef>
                <a:spcPts val="605"/>
              </a:spcBef>
              <a:buClr>
                <a:srgbClr val="3B822F"/>
              </a:buClr>
              <a:buSzPct val="60000"/>
              <a:buFont typeface="Wingdings"/>
              <a:buChar char=""/>
              <a:tabLst>
                <a:tab pos="624840" algn="l"/>
                <a:tab pos="625475" algn="l"/>
              </a:tabLst>
            </a:pPr>
            <a:r>
              <a:rPr sz="2000" spc="-5" dirty="0">
                <a:latin typeface="Arial"/>
                <a:cs typeface="Arial"/>
              </a:rPr>
              <a:t>Một </a:t>
            </a:r>
            <a:r>
              <a:rPr sz="2000" spc="-10" dirty="0">
                <a:latin typeface="Arial"/>
                <a:cs typeface="Arial"/>
              </a:rPr>
              <a:t>ontology </a:t>
            </a:r>
            <a:r>
              <a:rPr sz="2000" spc="-5" dirty="0">
                <a:latin typeface="Arial"/>
                <a:cs typeface="Arial"/>
              </a:rPr>
              <a:t>là một sự khái quát hóa </a:t>
            </a:r>
            <a:r>
              <a:rPr sz="2000" dirty="0">
                <a:latin typeface="Arial"/>
                <a:cs typeface="Arial"/>
              </a:rPr>
              <a:t>về </a:t>
            </a:r>
            <a:r>
              <a:rPr sz="2000" spc="-5" dirty="0">
                <a:latin typeface="Arial"/>
                <a:cs typeface="Arial"/>
              </a:rPr>
              <a:t>một lĩnh vực cụ thể,</a:t>
            </a:r>
            <a:r>
              <a:rPr sz="2000" spc="-20" dirty="0">
                <a:latin typeface="Arial"/>
                <a:cs typeface="Arial"/>
              </a:rPr>
              <a:t> </a:t>
            </a:r>
            <a:r>
              <a:rPr sz="2000" spc="-5" dirty="0">
                <a:latin typeface="Arial"/>
                <a:cs typeface="Arial"/>
              </a:rPr>
              <a:t>và</a:t>
            </a:r>
            <a:endParaRPr sz="2000">
              <a:latin typeface="Arial"/>
              <a:cs typeface="Arial"/>
            </a:endParaRPr>
          </a:p>
        </p:txBody>
      </p:sp>
      <p:sp>
        <p:nvSpPr>
          <p:cNvPr id="5" name="object 5"/>
          <p:cNvSpPr txBox="1"/>
          <p:nvPr/>
        </p:nvSpPr>
        <p:spPr>
          <a:xfrm>
            <a:off x="993139" y="2369183"/>
            <a:ext cx="5259070" cy="972819"/>
          </a:xfrm>
          <a:prstGeom prst="rect">
            <a:avLst/>
          </a:prstGeom>
        </p:spPr>
        <p:txBody>
          <a:bodyPr vert="horz" wrap="square" lIns="0" tIns="138430" rIns="0" bIns="0" rtlCol="0">
            <a:spAutoFit/>
          </a:bodyPr>
          <a:lstStyle/>
          <a:p>
            <a:pPr marL="624840">
              <a:lnSpc>
                <a:spcPct val="100000"/>
              </a:lnSpc>
              <a:spcBef>
                <a:spcPts val="1090"/>
              </a:spcBef>
            </a:pPr>
            <a:r>
              <a:rPr sz="2000" spc="-5" dirty="0">
                <a:latin typeface="Arial"/>
                <a:cs typeface="Arial"/>
              </a:rPr>
              <a:t>luôn tồn tại nhiều </a:t>
            </a:r>
            <a:r>
              <a:rPr sz="2000" spc="-10" dirty="0">
                <a:latin typeface="Arial"/>
                <a:cs typeface="Arial"/>
              </a:rPr>
              <a:t>ontologies </a:t>
            </a:r>
            <a:r>
              <a:rPr sz="2000" spc="-5" dirty="0">
                <a:latin typeface="Arial"/>
                <a:cs typeface="Arial"/>
              </a:rPr>
              <a:t>phù</a:t>
            </a:r>
            <a:r>
              <a:rPr sz="2000" spc="15" dirty="0">
                <a:latin typeface="Arial"/>
                <a:cs typeface="Arial"/>
              </a:rPr>
              <a:t> </a:t>
            </a:r>
            <a:r>
              <a:rPr sz="2000" spc="-5" dirty="0">
                <a:latin typeface="Arial"/>
                <a:cs typeface="Arial"/>
              </a:rPr>
              <a:t>hợp</a:t>
            </a:r>
            <a:endParaRPr sz="2000">
              <a:latin typeface="Arial"/>
              <a:cs typeface="Arial"/>
            </a:endParaRPr>
          </a:p>
          <a:p>
            <a:pPr marL="298450" indent="-285750">
              <a:lnSpc>
                <a:spcPct val="100000"/>
              </a:lnSpc>
              <a:spcBef>
                <a:spcPts val="1190"/>
              </a:spcBef>
              <a:buClr>
                <a:srgbClr val="CC9A00"/>
              </a:buClr>
              <a:buSzPct val="64583"/>
              <a:buFont typeface="Wingdings"/>
              <a:buChar char=""/>
              <a:tabLst>
                <a:tab pos="297815" algn="l"/>
                <a:tab pos="298450" algn="l"/>
              </a:tabLst>
            </a:pPr>
            <a:r>
              <a:rPr sz="2400" spc="-5" dirty="0">
                <a:latin typeface="Arial"/>
                <a:cs typeface="Arial"/>
              </a:rPr>
              <a:t>Việc khái quát hóa này nên tính đến:</a:t>
            </a:r>
            <a:endParaRPr sz="2400">
              <a:latin typeface="Arial"/>
              <a:cs typeface="Arial"/>
            </a:endParaRPr>
          </a:p>
        </p:txBody>
      </p:sp>
      <p:grpSp>
        <p:nvGrpSpPr>
          <p:cNvPr id="6" name="object 6"/>
          <p:cNvGrpSpPr/>
          <p:nvPr/>
        </p:nvGrpSpPr>
        <p:grpSpPr>
          <a:xfrm>
            <a:off x="457200" y="5353050"/>
            <a:ext cx="9144000" cy="1962150"/>
            <a:chOff x="457200" y="5353050"/>
            <a:chExt cx="9144000" cy="1962150"/>
          </a:xfrm>
        </p:grpSpPr>
        <p:sp>
          <p:nvSpPr>
            <p:cNvPr id="7" name="object 7"/>
            <p:cNvSpPr/>
            <p:nvPr/>
          </p:nvSpPr>
          <p:spPr>
            <a:xfrm>
              <a:off x="457200" y="5353049"/>
              <a:ext cx="9144000" cy="1962150"/>
            </a:xfrm>
            <a:custGeom>
              <a:avLst/>
              <a:gdLst/>
              <a:ahLst/>
              <a:cxnLst/>
              <a:rect l="l" t="t" r="r" b="b"/>
              <a:pathLst>
                <a:path w="9144000" h="1962150">
                  <a:moveTo>
                    <a:pt x="9144000" y="0"/>
                  </a:moveTo>
                  <a:lnTo>
                    <a:pt x="0" y="0"/>
                  </a:lnTo>
                  <a:lnTo>
                    <a:pt x="0" y="979170"/>
                  </a:lnTo>
                  <a:lnTo>
                    <a:pt x="0" y="1962150"/>
                  </a:lnTo>
                  <a:lnTo>
                    <a:pt x="9144000" y="1962150"/>
                  </a:lnTo>
                  <a:lnTo>
                    <a:pt x="9144000" y="979170"/>
                  </a:lnTo>
                  <a:lnTo>
                    <a:pt x="9144000" y="0"/>
                  </a:lnTo>
                  <a:close/>
                </a:path>
              </a:pathLst>
            </a:custGeom>
            <a:solidFill>
              <a:srgbClr val="FFFFFF"/>
            </a:solidFill>
          </p:spPr>
          <p:txBody>
            <a:bodyPr wrap="square" lIns="0" tIns="0" rIns="0" bIns="0" rtlCol="0"/>
            <a:lstStyle/>
            <a:p>
              <a:endParaRPr/>
            </a:p>
          </p:txBody>
        </p:sp>
        <p:sp>
          <p:nvSpPr>
            <p:cNvPr id="8" name="object 8"/>
            <p:cNvSpPr/>
            <p:nvPr/>
          </p:nvSpPr>
          <p:spPr>
            <a:xfrm>
              <a:off x="914400" y="6696455"/>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9" name="object 9"/>
          <p:cNvSpPr txBox="1"/>
          <p:nvPr/>
        </p:nvSpPr>
        <p:spPr>
          <a:xfrm>
            <a:off x="993139" y="3317697"/>
            <a:ext cx="7691120" cy="3134360"/>
          </a:xfrm>
          <a:prstGeom prst="rect">
            <a:avLst/>
          </a:prstGeom>
        </p:spPr>
        <p:txBody>
          <a:bodyPr vert="horz" wrap="square" lIns="0" tIns="88900" rIns="0" bIns="0" rtlCol="0">
            <a:spAutoFit/>
          </a:bodyPr>
          <a:lstStyle/>
          <a:p>
            <a:pPr marL="624840" indent="-286385">
              <a:lnSpc>
                <a:spcPct val="100000"/>
              </a:lnSpc>
              <a:spcBef>
                <a:spcPts val="700"/>
              </a:spcBef>
              <a:buClr>
                <a:srgbClr val="3B822F"/>
              </a:buClr>
              <a:buSzPct val="60000"/>
              <a:buFont typeface="Wingdings"/>
              <a:buChar char=""/>
              <a:tabLst>
                <a:tab pos="624840" algn="l"/>
                <a:tab pos="625475" algn="l"/>
              </a:tabLst>
            </a:pPr>
            <a:r>
              <a:rPr sz="2000" spc="-5" dirty="0">
                <a:latin typeface="Arial"/>
                <a:cs typeface="Arial"/>
              </a:rPr>
              <a:t>Việc sử dụng trong tương lai của </a:t>
            </a:r>
            <a:r>
              <a:rPr sz="2000" spc="-10" dirty="0">
                <a:latin typeface="Arial"/>
                <a:cs typeface="Arial"/>
              </a:rPr>
              <a:t>ontology </a:t>
            </a:r>
            <a:r>
              <a:rPr sz="2000" spc="-5" dirty="0">
                <a:latin typeface="Arial"/>
                <a:cs typeface="Arial"/>
              </a:rPr>
              <a:t>(mục đích sử</a:t>
            </a:r>
            <a:r>
              <a:rPr sz="2000" spc="40" dirty="0">
                <a:latin typeface="Arial"/>
                <a:cs typeface="Arial"/>
              </a:rPr>
              <a:t> </a:t>
            </a:r>
            <a:r>
              <a:rPr sz="2000" spc="-10" dirty="0">
                <a:latin typeface="Arial"/>
                <a:cs typeface="Arial"/>
              </a:rPr>
              <a:t>dụng)</a:t>
            </a:r>
            <a:endParaRPr sz="2000">
              <a:latin typeface="Arial"/>
              <a:cs typeface="Arial"/>
            </a:endParaRPr>
          </a:p>
          <a:p>
            <a:pPr marL="624840"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Các khả năng mở rộng (của </a:t>
            </a:r>
            <a:r>
              <a:rPr sz="2000" spc="-10" dirty="0">
                <a:latin typeface="Arial"/>
                <a:cs typeface="Arial"/>
              </a:rPr>
              <a:t>ontology) </a:t>
            </a:r>
            <a:r>
              <a:rPr sz="2000" spc="-5" dirty="0">
                <a:latin typeface="Arial"/>
                <a:cs typeface="Arial"/>
              </a:rPr>
              <a:t>có </a:t>
            </a:r>
            <a:r>
              <a:rPr sz="2000" dirty="0">
                <a:latin typeface="Arial"/>
                <a:cs typeface="Arial"/>
              </a:rPr>
              <a:t>thể </a:t>
            </a:r>
            <a:r>
              <a:rPr sz="2000" spc="-5" dirty="0">
                <a:latin typeface="Arial"/>
                <a:cs typeface="Arial"/>
              </a:rPr>
              <a:t>dự đoán</a:t>
            </a:r>
            <a:r>
              <a:rPr sz="2000" spc="-10" dirty="0">
                <a:latin typeface="Arial"/>
                <a:cs typeface="Arial"/>
              </a:rPr>
              <a:t> </a:t>
            </a:r>
            <a:r>
              <a:rPr sz="2000" spc="-5" dirty="0">
                <a:latin typeface="Arial"/>
                <a:cs typeface="Arial"/>
              </a:rPr>
              <a:t>trước</a:t>
            </a:r>
            <a:endParaRPr sz="2000">
              <a:latin typeface="Arial"/>
              <a:cs typeface="Arial"/>
            </a:endParaRPr>
          </a:p>
          <a:p>
            <a:pPr marL="298450" indent="-285750">
              <a:lnSpc>
                <a:spcPct val="100000"/>
              </a:lnSpc>
              <a:spcBef>
                <a:spcPts val="1190"/>
              </a:spcBef>
              <a:buClr>
                <a:srgbClr val="CC9A00"/>
              </a:buClr>
              <a:buSzPct val="64583"/>
              <a:buFont typeface="Wingdings"/>
              <a:buChar char=""/>
              <a:tabLst>
                <a:tab pos="297815" algn="l"/>
                <a:tab pos="298450" algn="l"/>
              </a:tabLst>
            </a:pPr>
            <a:r>
              <a:rPr sz="2400" spc="-5" dirty="0">
                <a:latin typeface="Arial"/>
                <a:cs typeface="Arial"/>
              </a:rPr>
              <a:t>Các câu hỏi cần phải được trả lời </a:t>
            </a:r>
            <a:r>
              <a:rPr sz="2400" dirty="0">
                <a:latin typeface="Arial"/>
                <a:cs typeface="Arial"/>
              </a:rPr>
              <a:t>ở </a:t>
            </a:r>
            <a:r>
              <a:rPr sz="2400" spc="-5" dirty="0">
                <a:latin typeface="Arial"/>
                <a:cs typeface="Arial"/>
              </a:rPr>
              <a:t>giai đoạn</a:t>
            </a:r>
            <a:r>
              <a:rPr sz="2400" spc="75" dirty="0">
                <a:latin typeface="Arial"/>
                <a:cs typeface="Arial"/>
              </a:rPr>
              <a:t> </a:t>
            </a:r>
            <a:r>
              <a:rPr sz="2400" spc="-5" dirty="0">
                <a:latin typeface="Arial"/>
                <a:cs typeface="Arial"/>
              </a:rPr>
              <a:t>này:</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Ontology này được dùng cho lĩnh vực</a:t>
            </a:r>
            <a:r>
              <a:rPr sz="2000" spc="-10" dirty="0">
                <a:latin typeface="Arial"/>
                <a:cs typeface="Arial"/>
              </a:rPr>
              <a:t> nào?</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Ontology này sẽ được dùng để làm gì?</a:t>
            </a:r>
            <a:endParaRPr sz="2000">
              <a:latin typeface="Arial"/>
              <a:cs typeface="Arial"/>
            </a:endParaRPr>
          </a:p>
          <a:p>
            <a:pPr marL="624840" marR="508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Những kiểu câu hỏi nào mà </a:t>
            </a:r>
            <a:r>
              <a:rPr sz="2000" spc="-10" dirty="0">
                <a:latin typeface="Arial"/>
                <a:cs typeface="Arial"/>
              </a:rPr>
              <a:t>ontology </a:t>
            </a:r>
            <a:r>
              <a:rPr sz="2000" spc="-5" dirty="0">
                <a:latin typeface="Arial"/>
                <a:cs typeface="Arial"/>
              </a:rPr>
              <a:t>này có </a:t>
            </a:r>
            <a:r>
              <a:rPr sz="2000" dirty="0">
                <a:latin typeface="Arial"/>
                <a:cs typeface="Arial"/>
              </a:rPr>
              <a:t>thể </a:t>
            </a:r>
            <a:r>
              <a:rPr sz="2000" spc="-5" dirty="0">
                <a:latin typeface="Arial"/>
                <a:cs typeface="Arial"/>
              </a:rPr>
              <a:t>đưa ra câu trả  lời?</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Ai sẽ dùng và bảo trì </a:t>
            </a:r>
            <a:r>
              <a:rPr sz="2000" spc="-10" dirty="0">
                <a:latin typeface="Arial"/>
                <a:cs typeface="Arial"/>
              </a:rPr>
              <a:t>ontology</a:t>
            </a:r>
            <a:r>
              <a:rPr sz="2000" spc="-15" dirty="0">
                <a:latin typeface="Arial"/>
                <a:cs typeface="Arial"/>
              </a:rPr>
              <a:t> </a:t>
            </a:r>
            <a:r>
              <a:rPr sz="2000" spc="-10" dirty="0">
                <a:latin typeface="Arial"/>
                <a:cs typeface="Arial"/>
              </a:rPr>
              <a:t>này?</a:t>
            </a:r>
            <a:endParaRPr sz="2000">
              <a:latin typeface="Arial"/>
              <a:cs typeface="Arial"/>
            </a:endParaRPr>
          </a:p>
        </p:txBody>
      </p:sp>
      <p:sp>
        <p:nvSpPr>
          <p:cNvPr id="13" name="Title 12">
            <a:extLst>
              <a:ext uri="{FF2B5EF4-FFF2-40B4-BE49-F238E27FC236}">
                <a16:creationId xmlns:a16="http://schemas.microsoft.com/office/drawing/2014/main" id="{95E4392B-2DD8-41A7-8771-C4FDD9285957}"/>
              </a:ext>
            </a:extLst>
          </p:cNvPr>
          <p:cNvSpPr>
            <a:spLocks noGrp="1"/>
          </p:cNvSpPr>
          <p:nvPr>
            <p:ph type="title"/>
          </p:nvPr>
        </p:nvSpPr>
        <p:spPr/>
        <p:txBody>
          <a:bodyPr/>
          <a:lstStyle/>
          <a:p>
            <a:r>
              <a:rPr lang="en-US" sz="3600" b="0" spc="-5">
                <a:latin typeface="Verdana"/>
                <a:cs typeface="Verdana"/>
              </a:rPr>
              <a:t>Phạm </a:t>
            </a:r>
            <a:r>
              <a:rPr lang="en-US" sz="3600" b="0">
                <a:latin typeface="Verdana"/>
                <a:cs typeface="Verdana"/>
              </a:rPr>
              <a:t>vi và </a:t>
            </a:r>
            <a:r>
              <a:rPr lang="en-US" sz="3600" b="0" spc="-5">
                <a:latin typeface="Verdana"/>
                <a:cs typeface="Verdana"/>
              </a:rPr>
              <a:t>mục đích </a:t>
            </a:r>
            <a:r>
              <a:rPr lang="en-US" sz="3600" b="0" spc="5">
                <a:latin typeface="Verdana"/>
                <a:cs typeface="Verdana"/>
              </a:rPr>
              <a:t>sử</a:t>
            </a:r>
            <a:r>
              <a:rPr lang="en-US" sz="3600" b="0" spc="-25">
                <a:latin typeface="Verdana"/>
                <a:cs typeface="Verdana"/>
              </a:rPr>
              <a:t> </a:t>
            </a:r>
            <a:r>
              <a:rPr lang="en-US" sz="3600" b="0">
                <a:latin typeface="Verdana"/>
                <a:cs typeface="Verdana"/>
              </a:rPr>
              <a:t>dụng</a:t>
            </a:r>
            <a:endParaRPr lang="en-US" b="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74</a:t>
            </a:fld>
            <a:endParaRPr spc="-40" dirty="0"/>
          </a:p>
        </p:txBody>
      </p:sp>
      <p:sp>
        <p:nvSpPr>
          <p:cNvPr id="3" name="object 3"/>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sp>
        <p:nvSpPr>
          <p:cNvPr id="4" name="object 4"/>
          <p:cNvSpPr txBox="1"/>
          <p:nvPr/>
        </p:nvSpPr>
        <p:spPr>
          <a:xfrm>
            <a:off x="993139" y="1777238"/>
            <a:ext cx="7967980" cy="3227070"/>
          </a:xfrm>
          <a:prstGeom prst="rect">
            <a:avLst/>
          </a:prstGeom>
        </p:spPr>
        <p:txBody>
          <a:bodyPr vert="horz" wrap="square" lIns="0" tIns="12700" rIns="0" bIns="0" rtlCol="0">
            <a:spAutoFit/>
          </a:bodyPr>
          <a:lstStyle/>
          <a:p>
            <a:pPr marL="297815" marR="42862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Với </a:t>
            </a:r>
            <a:r>
              <a:rPr sz="2400" dirty="0">
                <a:latin typeface="Arial"/>
                <a:cs typeface="Arial"/>
              </a:rPr>
              <a:t>sự </a:t>
            </a:r>
            <a:r>
              <a:rPr sz="2400" spc="-5" dirty="0">
                <a:latin typeface="Arial"/>
                <a:cs typeface="Arial"/>
              </a:rPr>
              <a:t>phát triển rất nhanh chóng của Internet và của  lĩnh </a:t>
            </a:r>
            <a:r>
              <a:rPr sz="2400" dirty="0">
                <a:latin typeface="Arial"/>
                <a:cs typeface="Arial"/>
              </a:rPr>
              <a:t>vực </a:t>
            </a:r>
            <a:r>
              <a:rPr sz="2400" spc="-5" dirty="0">
                <a:latin typeface="Arial"/>
                <a:cs typeface="Arial"/>
              </a:rPr>
              <a:t>Semantic Web, sẽ tồn tại (có) rất nhiều  ontologies có thể khai</a:t>
            </a:r>
            <a:r>
              <a:rPr sz="2400" spc="25" dirty="0">
                <a:latin typeface="Arial"/>
                <a:cs typeface="Arial"/>
              </a:rPr>
              <a:t> </a:t>
            </a:r>
            <a:r>
              <a:rPr sz="2400" spc="-5" dirty="0">
                <a:latin typeface="Arial"/>
                <a:cs typeface="Arial"/>
              </a:rPr>
              <a:t>thác</a:t>
            </a:r>
            <a:endParaRPr sz="2400">
              <a:latin typeface="Arial"/>
              <a:cs typeface="Arial"/>
            </a:endParaRPr>
          </a:p>
          <a:p>
            <a:pPr marL="298450" marR="190500" indent="-285750">
              <a:lnSpc>
                <a:spcPct val="100000"/>
              </a:lnSpc>
              <a:spcBef>
                <a:spcPts val="2400"/>
              </a:spcBef>
              <a:buClr>
                <a:srgbClr val="CC9A00"/>
              </a:buClr>
              <a:buSzPct val="64583"/>
              <a:buFont typeface="Wingdings"/>
              <a:buChar char=""/>
              <a:tabLst>
                <a:tab pos="297815" algn="l"/>
                <a:tab pos="298450" algn="l"/>
              </a:tabLst>
            </a:pPr>
            <a:r>
              <a:rPr sz="2400" spc="-5" dirty="0">
                <a:latin typeface="Arial"/>
                <a:cs typeface="Arial"/>
              </a:rPr>
              <a:t>Ít khi chúng ta phải bắt đầu việc xây dựng một ontology  từ đầu (từ chỗ chưa có gì</a:t>
            </a:r>
            <a:r>
              <a:rPr sz="2400" spc="15" dirty="0">
                <a:latin typeface="Arial"/>
                <a:cs typeface="Arial"/>
              </a:rPr>
              <a:t> </a:t>
            </a:r>
            <a:r>
              <a:rPr sz="2400" spc="-5" dirty="0">
                <a:latin typeface="Arial"/>
                <a:cs typeface="Arial"/>
              </a:rPr>
              <a:t>cả)</a:t>
            </a:r>
            <a:endParaRPr sz="2400">
              <a:latin typeface="Arial"/>
              <a:cs typeface="Arial"/>
            </a:endParaRPr>
          </a:p>
          <a:p>
            <a:pPr marL="624840" marR="5080" lvl="1" indent="-285750">
              <a:lnSpc>
                <a:spcPct val="100000"/>
              </a:lnSpc>
              <a:spcBef>
                <a:spcPts val="1210"/>
              </a:spcBef>
              <a:buClr>
                <a:srgbClr val="3B822F"/>
              </a:buClr>
              <a:buSzPct val="60000"/>
              <a:buFont typeface="Wingdings"/>
              <a:buChar char=""/>
              <a:tabLst>
                <a:tab pos="624840" algn="l"/>
                <a:tab pos="625475" algn="l"/>
              </a:tabLst>
            </a:pPr>
            <a:r>
              <a:rPr sz="2000" spc="-5" dirty="0">
                <a:latin typeface="Arial"/>
                <a:cs typeface="Arial"/>
              </a:rPr>
              <a:t>Gần như luôn tồn tại một số ontology có thể khai thác, hoặc là </a:t>
            </a:r>
            <a:r>
              <a:rPr sz="2000" spc="-10" dirty="0">
                <a:latin typeface="Arial"/>
                <a:cs typeface="Arial"/>
              </a:rPr>
              <a:t>để  </a:t>
            </a:r>
            <a:r>
              <a:rPr sz="2000" spc="-5" dirty="0">
                <a:latin typeface="Arial"/>
                <a:cs typeface="Arial"/>
              </a:rPr>
              <a:t>sử dụng luôn, hoặc là để bắt đầu cho việc xây dựng </a:t>
            </a:r>
            <a:r>
              <a:rPr sz="2000" spc="-10" dirty="0">
                <a:latin typeface="Arial"/>
                <a:cs typeface="Arial"/>
              </a:rPr>
              <a:t>ontology  </a:t>
            </a:r>
            <a:r>
              <a:rPr sz="2000" spc="-5" dirty="0">
                <a:latin typeface="Arial"/>
                <a:cs typeface="Arial"/>
              </a:rPr>
              <a:t>mong</a:t>
            </a:r>
            <a:r>
              <a:rPr sz="2000" spc="-15" dirty="0">
                <a:latin typeface="Arial"/>
                <a:cs typeface="Arial"/>
              </a:rPr>
              <a:t> </a:t>
            </a:r>
            <a:r>
              <a:rPr sz="2000" spc="-5" dirty="0">
                <a:latin typeface="Arial"/>
                <a:cs typeface="Arial"/>
              </a:rPr>
              <a:t>muốn</a:t>
            </a:r>
            <a:endParaRPr sz="2000">
              <a:latin typeface="Arial"/>
              <a:cs typeface="Arial"/>
            </a:endParaRPr>
          </a:p>
        </p:txBody>
      </p:sp>
      <p:sp>
        <p:nvSpPr>
          <p:cNvPr id="5" name="object 5"/>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9" name="Title 8">
            <a:extLst>
              <a:ext uri="{FF2B5EF4-FFF2-40B4-BE49-F238E27FC236}">
                <a16:creationId xmlns:a16="http://schemas.microsoft.com/office/drawing/2014/main" id="{94E71805-B14C-490C-9999-402624617807}"/>
              </a:ext>
            </a:extLst>
          </p:cNvPr>
          <p:cNvSpPr>
            <a:spLocks noGrp="1"/>
          </p:cNvSpPr>
          <p:nvPr>
            <p:ph type="title"/>
          </p:nvPr>
        </p:nvSpPr>
        <p:spPr>
          <a:xfrm>
            <a:off x="537844" y="-98957"/>
            <a:ext cx="9143999" cy="1502305"/>
          </a:xfrm>
        </p:spPr>
        <p:txBody>
          <a:bodyPr>
            <a:normAutofit/>
          </a:bodyPr>
          <a:lstStyle/>
          <a:p>
            <a:r>
              <a:rPr lang="en-US" sz="3600" b="0" spc="-5">
                <a:latin typeface="Verdana"/>
                <a:cs typeface="Verdana"/>
              </a:rPr>
              <a:t>Cân nhắc </a:t>
            </a:r>
            <a:r>
              <a:rPr lang="en-US" sz="3600" b="0">
                <a:latin typeface="Verdana"/>
                <a:cs typeface="Verdana"/>
              </a:rPr>
              <a:t>sử </a:t>
            </a:r>
            <a:r>
              <a:rPr lang="en-US" sz="3600" b="0" spc="-5">
                <a:latin typeface="Verdana"/>
                <a:cs typeface="Verdana"/>
              </a:rPr>
              <a:t>dụng lại </a:t>
            </a:r>
            <a:r>
              <a:rPr lang="en-US" sz="3600" b="0">
                <a:latin typeface="Verdana"/>
                <a:cs typeface="Verdana"/>
              </a:rPr>
              <a:t>các</a:t>
            </a:r>
            <a:r>
              <a:rPr lang="en-US" sz="3600" b="0" spc="-105">
                <a:latin typeface="Verdana"/>
                <a:cs typeface="Verdana"/>
              </a:rPr>
              <a:t> </a:t>
            </a:r>
            <a:r>
              <a:rPr lang="en-US" sz="3600" b="0">
                <a:latin typeface="Verdana"/>
                <a:cs typeface="Verdana"/>
              </a:rPr>
              <a:t>ontology</a:t>
            </a:r>
            <a:endParaRPr lang="en-US" sz="3600" b="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75</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8003540" cy="3562350"/>
          </a:xfrm>
          <a:prstGeom prst="rect">
            <a:avLst/>
          </a:prstGeom>
        </p:spPr>
        <p:txBody>
          <a:bodyPr vert="horz" wrap="square" lIns="0" tIns="12700" rIns="0" bIns="0" rtlCol="0">
            <a:spAutoFit/>
          </a:bodyPr>
          <a:lstStyle/>
          <a:p>
            <a:pPr marL="298450" marR="20955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Xác định (theo một danh sách) tất cả các khái niệm liên  quan </a:t>
            </a:r>
            <a:r>
              <a:rPr sz="2400" dirty="0">
                <a:latin typeface="Arial"/>
                <a:cs typeface="Arial"/>
              </a:rPr>
              <a:t>sẽ </a:t>
            </a:r>
            <a:r>
              <a:rPr sz="2400" spc="-5" dirty="0">
                <a:latin typeface="Arial"/>
                <a:cs typeface="Arial"/>
              </a:rPr>
              <a:t>xuất hiện trong</a:t>
            </a:r>
            <a:r>
              <a:rPr sz="2400" spc="25" dirty="0">
                <a:latin typeface="Arial"/>
                <a:cs typeface="Arial"/>
              </a:rPr>
              <a:t> </a:t>
            </a:r>
            <a:r>
              <a:rPr sz="2400" spc="-5" dirty="0">
                <a:latin typeface="Arial"/>
                <a:cs typeface="Arial"/>
              </a:rPr>
              <a:t>ontology</a:t>
            </a:r>
            <a:endParaRPr sz="2400">
              <a:latin typeface="Arial"/>
              <a:cs typeface="Arial"/>
            </a:endParaRPr>
          </a:p>
          <a:p>
            <a:pPr marL="624840" marR="45847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Các danh từ (nouns) thường là cơ sở để xác định các tên lớp  (class</a:t>
            </a:r>
            <a:r>
              <a:rPr sz="2000" spc="-15" dirty="0">
                <a:latin typeface="Arial"/>
                <a:cs typeface="Arial"/>
              </a:rPr>
              <a:t> </a:t>
            </a:r>
            <a:r>
              <a:rPr sz="2000" spc="-5" dirty="0">
                <a:latin typeface="Arial"/>
                <a:cs typeface="Arial"/>
              </a:rPr>
              <a:t>names)</a:t>
            </a:r>
            <a:endParaRPr sz="2000">
              <a:latin typeface="Arial"/>
              <a:cs typeface="Arial"/>
            </a:endParaRPr>
          </a:p>
          <a:p>
            <a:pPr marL="624840" marR="12827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Các động từ (verbs) hoặc cụm động từ (verb phrases) thường </a:t>
            </a:r>
            <a:r>
              <a:rPr sz="2000" spc="-10" dirty="0">
                <a:latin typeface="Arial"/>
                <a:cs typeface="Arial"/>
              </a:rPr>
              <a:t>là  </a:t>
            </a:r>
            <a:r>
              <a:rPr sz="2000" spc="-5" dirty="0">
                <a:latin typeface="Arial"/>
                <a:cs typeface="Arial"/>
              </a:rPr>
              <a:t>cơ sở để xác định các tên thuộc tính (property</a:t>
            </a:r>
            <a:r>
              <a:rPr sz="2000" spc="-30" dirty="0">
                <a:latin typeface="Arial"/>
                <a:cs typeface="Arial"/>
              </a:rPr>
              <a:t> </a:t>
            </a:r>
            <a:r>
              <a:rPr sz="2000" spc="-5" dirty="0">
                <a:latin typeface="Arial"/>
                <a:cs typeface="Arial"/>
              </a:rPr>
              <a:t>names)</a:t>
            </a:r>
            <a:endParaRPr sz="2000">
              <a:latin typeface="Arial"/>
              <a:cs typeface="Arial"/>
            </a:endParaRPr>
          </a:p>
          <a:p>
            <a:pPr lvl="1">
              <a:lnSpc>
                <a:spcPct val="100000"/>
              </a:lnSpc>
              <a:spcBef>
                <a:spcPts val="30"/>
              </a:spcBef>
              <a:buClr>
                <a:srgbClr val="3B822F"/>
              </a:buClr>
              <a:buFont typeface="Wingdings"/>
              <a:buChar char=""/>
            </a:pPr>
            <a:endParaRPr sz="2050">
              <a:latin typeface="Arial"/>
              <a:cs typeface="Arial"/>
            </a:endParaRPr>
          </a:p>
          <a:p>
            <a:pPr marL="298450" indent="-285750">
              <a:lnSpc>
                <a:spcPct val="100000"/>
              </a:lnSpc>
              <a:buClr>
                <a:srgbClr val="CC9A00"/>
              </a:buClr>
              <a:buSzPct val="64583"/>
              <a:buFont typeface="Wingdings"/>
              <a:buChar char=""/>
              <a:tabLst>
                <a:tab pos="297815" algn="l"/>
                <a:tab pos="298450" algn="l"/>
              </a:tabLst>
            </a:pPr>
            <a:r>
              <a:rPr sz="2400" spc="-5" dirty="0">
                <a:latin typeface="Arial"/>
                <a:cs typeface="Arial"/>
              </a:rPr>
              <a:t>Nên </a:t>
            </a:r>
            <a:r>
              <a:rPr sz="2400" dirty="0">
                <a:latin typeface="Arial"/>
                <a:cs typeface="Arial"/>
              </a:rPr>
              <a:t>sử </a:t>
            </a:r>
            <a:r>
              <a:rPr sz="2400" spc="-5" dirty="0">
                <a:latin typeface="Arial"/>
                <a:cs typeface="Arial"/>
              </a:rPr>
              <a:t>dụng các công </a:t>
            </a:r>
            <a:r>
              <a:rPr sz="2400" dirty="0">
                <a:latin typeface="Arial"/>
                <a:cs typeface="Arial"/>
              </a:rPr>
              <a:t>cụ </a:t>
            </a:r>
            <a:r>
              <a:rPr sz="2400" spc="-5" dirty="0">
                <a:latin typeface="Arial"/>
                <a:cs typeface="Arial"/>
              </a:rPr>
              <a:t>xây dựng tri thức, để thu</a:t>
            </a:r>
            <a:r>
              <a:rPr sz="2400" spc="25" dirty="0">
                <a:latin typeface="Arial"/>
                <a:cs typeface="Arial"/>
              </a:rPr>
              <a:t> </a:t>
            </a:r>
            <a:r>
              <a:rPr sz="2400" spc="-5" dirty="0">
                <a:latin typeface="Arial"/>
                <a:cs typeface="Arial"/>
              </a:rPr>
              <a:t>được</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Tập các khái niệm</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Cấu trúc (phân cấp) ban đầu của các khái niệm</a:t>
            </a:r>
            <a:r>
              <a:rPr sz="2000" dirty="0">
                <a:latin typeface="Arial"/>
                <a:cs typeface="Arial"/>
              </a:rPr>
              <a:t> </a:t>
            </a:r>
            <a:r>
              <a:rPr sz="2000" spc="-10" dirty="0">
                <a:latin typeface="Arial"/>
                <a:cs typeface="Arial"/>
              </a:rPr>
              <a:t>này</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AD633808-270D-4857-987E-A9E5419F6E12}"/>
              </a:ext>
            </a:extLst>
          </p:cNvPr>
          <p:cNvSpPr>
            <a:spLocks noGrp="1"/>
          </p:cNvSpPr>
          <p:nvPr>
            <p:ph type="title"/>
          </p:nvPr>
        </p:nvSpPr>
        <p:spPr/>
        <p:txBody>
          <a:bodyPr/>
          <a:lstStyle/>
          <a:p>
            <a:r>
              <a:rPr lang="en-US" b="0" spc="-5">
                <a:latin typeface="Verdana"/>
                <a:cs typeface="Verdana"/>
              </a:rPr>
              <a:t>Liệt </a:t>
            </a:r>
            <a:r>
              <a:rPr lang="en-US" b="0">
                <a:latin typeface="Verdana"/>
                <a:cs typeface="Verdana"/>
              </a:rPr>
              <a:t>kê các khái</a:t>
            </a:r>
            <a:r>
              <a:rPr lang="en-US" b="0" spc="-75">
                <a:latin typeface="Verdana"/>
                <a:cs typeface="Verdana"/>
              </a:rPr>
              <a:t> </a:t>
            </a:r>
            <a:r>
              <a:rPr lang="en-US" b="0" spc="-10">
                <a:latin typeface="Verdana"/>
                <a:cs typeface="Verdana"/>
              </a:rPr>
              <a:t>niệm</a:t>
            </a:r>
            <a:endParaRPr lang="en-US" b="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76</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p:nvPr/>
        </p:nvSpPr>
        <p:spPr>
          <a:xfrm>
            <a:off x="457200" y="5353050"/>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8" name="object 8"/>
          <p:cNvSpPr txBox="1"/>
          <p:nvPr/>
        </p:nvSpPr>
        <p:spPr>
          <a:xfrm>
            <a:off x="993139" y="1777238"/>
            <a:ext cx="8035290" cy="3912870"/>
          </a:xfrm>
          <a:prstGeom prst="rect">
            <a:avLst/>
          </a:prstGeom>
        </p:spPr>
        <p:txBody>
          <a:bodyPr vert="horz" wrap="square" lIns="0" tIns="12700" rIns="0" bIns="0" rtlCol="0">
            <a:spAutoFit/>
          </a:bodyPr>
          <a:lstStyle/>
          <a:p>
            <a:pPr marL="298450" marR="327025"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Các khái niệm liên quan </a:t>
            </a:r>
            <a:r>
              <a:rPr sz="2400" dirty="0">
                <a:latin typeface="Arial"/>
                <a:cs typeface="Arial"/>
              </a:rPr>
              <a:t>cần </a:t>
            </a:r>
            <a:r>
              <a:rPr sz="2400" spc="-5" dirty="0">
                <a:latin typeface="Arial"/>
                <a:cs typeface="Arial"/>
              </a:rPr>
              <a:t>được tổ chức lại với nhau  thành một cấu trúc phân cấp phân loại (a taxonomic  hierarchy)</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Hai chiến lược thường được dùng: top-down vs.</a:t>
            </a:r>
            <a:r>
              <a:rPr sz="2000" spc="10" dirty="0">
                <a:latin typeface="Arial"/>
                <a:cs typeface="Arial"/>
              </a:rPr>
              <a:t> </a:t>
            </a:r>
            <a:r>
              <a:rPr sz="2000" spc="-10" dirty="0">
                <a:latin typeface="Arial"/>
                <a:cs typeface="Arial"/>
              </a:rPr>
              <a:t>bottom-up</a:t>
            </a:r>
            <a:endParaRPr sz="2000">
              <a:latin typeface="Arial"/>
              <a:cs typeface="Arial"/>
            </a:endParaRPr>
          </a:p>
          <a:p>
            <a:pPr marL="624840" marR="156210" lvl="1" indent="-286385">
              <a:lnSpc>
                <a:spcPct val="100000"/>
              </a:lnSpc>
              <a:spcBef>
                <a:spcPts val="600"/>
              </a:spcBef>
              <a:buClr>
                <a:srgbClr val="3B822F"/>
              </a:buClr>
              <a:buSzPct val="60000"/>
              <a:buFont typeface="Wingdings"/>
              <a:buChar char=""/>
              <a:tabLst>
                <a:tab pos="624840" algn="l"/>
                <a:tab pos="625475" algn="l"/>
                <a:tab pos="4065270" algn="l"/>
              </a:tabLst>
            </a:pPr>
            <a:r>
              <a:rPr sz="2000" spc="-5" dirty="0">
                <a:latin typeface="Arial"/>
                <a:cs typeface="Arial"/>
              </a:rPr>
              <a:t>Cần cân nhắc đến hai</a:t>
            </a:r>
            <a:r>
              <a:rPr sz="2000" spc="30" dirty="0">
                <a:latin typeface="Arial"/>
                <a:cs typeface="Arial"/>
              </a:rPr>
              <a:t> </a:t>
            </a:r>
            <a:r>
              <a:rPr sz="2000" spc="-5" dirty="0">
                <a:latin typeface="Arial"/>
                <a:cs typeface="Arial"/>
              </a:rPr>
              <a:t>yếu</a:t>
            </a:r>
            <a:r>
              <a:rPr sz="2000" spc="5" dirty="0">
                <a:latin typeface="Arial"/>
                <a:cs typeface="Arial"/>
              </a:rPr>
              <a:t> </a:t>
            </a:r>
            <a:r>
              <a:rPr sz="2000" spc="-5" dirty="0">
                <a:latin typeface="Arial"/>
                <a:cs typeface="Arial"/>
              </a:rPr>
              <a:t>tố:	sự tin cậy (chính xác) và hiệu quả  (suy</a:t>
            </a:r>
            <a:r>
              <a:rPr sz="2000" spc="-20" dirty="0">
                <a:latin typeface="Arial"/>
                <a:cs typeface="Arial"/>
              </a:rPr>
              <a:t> </a:t>
            </a:r>
            <a:r>
              <a:rPr sz="2000" spc="-5" dirty="0">
                <a:latin typeface="Arial"/>
                <a:cs typeface="Arial"/>
              </a:rPr>
              <a:t>diễn)</a:t>
            </a:r>
            <a:endParaRPr sz="2000">
              <a:latin typeface="Arial"/>
              <a:cs typeface="Arial"/>
            </a:endParaRPr>
          </a:p>
          <a:p>
            <a:pPr lvl="1">
              <a:lnSpc>
                <a:spcPct val="100000"/>
              </a:lnSpc>
              <a:spcBef>
                <a:spcPts val="30"/>
              </a:spcBef>
              <a:buClr>
                <a:srgbClr val="3B822F"/>
              </a:buClr>
              <a:buFont typeface="Wingdings"/>
              <a:buChar char=""/>
            </a:pPr>
            <a:endParaRPr sz="2050">
              <a:latin typeface="Arial"/>
              <a:cs typeface="Arial"/>
            </a:endParaRPr>
          </a:p>
          <a:p>
            <a:pPr marL="298450" marR="324485" indent="-285750">
              <a:lnSpc>
                <a:spcPct val="100000"/>
              </a:lnSpc>
              <a:buClr>
                <a:srgbClr val="CC9A00"/>
              </a:buClr>
              <a:buSzPct val="64583"/>
              <a:buFont typeface="Wingdings"/>
              <a:buChar char=""/>
              <a:tabLst>
                <a:tab pos="297815" algn="l"/>
                <a:tab pos="298450" algn="l"/>
              </a:tabLst>
            </a:pPr>
            <a:r>
              <a:rPr sz="2400" spc="-5" dirty="0">
                <a:latin typeface="Arial"/>
                <a:cs typeface="Arial"/>
              </a:rPr>
              <a:t>Đảm bảo rằng phân cấp thu được thực sự </a:t>
            </a:r>
            <a:r>
              <a:rPr sz="2400" dirty="0">
                <a:latin typeface="Arial"/>
                <a:cs typeface="Arial"/>
              </a:rPr>
              <a:t>là </a:t>
            </a:r>
            <a:r>
              <a:rPr sz="2400" spc="-5" dirty="0">
                <a:latin typeface="Arial"/>
                <a:cs typeface="Arial"/>
              </a:rPr>
              <a:t>một phân  loại khái</a:t>
            </a:r>
            <a:r>
              <a:rPr sz="2400" spc="10" dirty="0">
                <a:latin typeface="Arial"/>
                <a:cs typeface="Arial"/>
              </a:rPr>
              <a:t> </a:t>
            </a:r>
            <a:r>
              <a:rPr sz="2400" spc="-5" dirty="0">
                <a:latin typeface="Arial"/>
                <a:cs typeface="Arial"/>
              </a:rPr>
              <a:t>niệm</a:t>
            </a:r>
            <a:endParaRPr sz="2400">
              <a:latin typeface="Arial"/>
              <a:cs typeface="Arial"/>
            </a:endParaRPr>
          </a:p>
          <a:p>
            <a:pPr marL="624840" marR="5080" lvl="1" indent="-285750">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Nếu A là một lớp con của B, thì </a:t>
            </a:r>
            <a:r>
              <a:rPr sz="2000" spc="-10" dirty="0">
                <a:latin typeface="Arial"/>
                <a:cs typeface="Arial"/>
              </a:rPr>
              <a:t>mọi </a:t>
            </a:r>
            <a:r>
              <a:rPr sz="2000" spc="-5" dirty="0">
                <a:latin typeface="Arial"/>
                <a:cs typeface="Arial"/>
              </a:rPr>
              <a:t>ví dụ của A cũng phải là ví </a:t>
            </a:r>
            <a:r>
              <a:rPr sz="2000" spc="-10" dirty="0">
                <a:latin typeface="Arial"/>
                <a:cs typeface="Arial"/>
              </a:rPr>
              <a:t>dụ  </a:t>
            </a:r>
            <a:r>
              <a:rPr sz="2000" spc="-5" dirty="0">
                <a:latin typeface="Arial"/>
                <a:cs typeface="Arial"/>
              </a:rPr>
              <a:t>của</a:t>
            </a:r>
            <a:r>
              <a:rPr sz="2000" spc="-20" dirty="0">
                <a:latin typeface="Arial"/>
                <a:cs typeface="Arial"/>
              </a:rPr>
              <a:t> </a:t>
            </a:r>
            <a:r>
              <a:rPr sz="2000" spc="-5" dirty="0">
                <a:latin typeface="Arial"/>
                <a:cs typeface="Arial"/>
              </a:rPr>
              <a:t>B</a:t>
            </a:r>
            <a:endParaRPr sz="20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325B186E-6F91-4D30-95AD-0B0607DB5B16}"/>
              </a:ext>
            </a:extLst>
          </p:cNvPr>
          <p:cNvSpPr>
            <a:spLocks noGrp="1"/>
          </p:cNvSpPr>
          <p:nvPr>
            <p:ph type="title"/>
          </p:nvPr>
        </p:nvSpPr>
        <p:spPr/>
        <p:txBody>
          <a:bodyPr/>
          <a:lstStyle/>
          <a:p>
            <a:r>
              <a:rPr lang="en-US" b="0" spc="-5">
                <a:latin typeface="Verdana"/>
                <a:cs typeface="Verdana"/>
              </a:rPr>
              <a:t>Định nghĩa sự phân</a:t>
            </a:r>
            <a:r>
              <a:rPr lang="en-US" b="0" spc="-15">
                <a:latin typeface="Verdana"/>
                <a:cs typeface="Verdana"/>
              </a:rPr>
              <a:t> </a:t>
            </a:r>
            <a:r>
              <a:rPr lang="en-US" b="0" spc="-5">
                <a:latin typeface="Verdana"/>
                <a:cs typeface="Verdana"/>
              </a:rPr>
              <a:t>loại</a:t>
            </a:r>
            <a:endParaRPr lang="en-US" b="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7A4DB-19B2-4F22-902C-386E5B06F471}"/>
              </a:ext>
            </a:extLst>
          </p:cNvPr>
          <p:cNvSpPr>
            <a:spLocks noGrp="1"/>
          </p:cNvSpPr>
          <p:nvPr>
            <p:ph type="title"/>
          </p:nvPr>
        </p:nvSpPr>
        <p:spPr/>
        <p:txBody>
          <a:bodyPr/>
          <a:lstStyle/>
          <a:p>
            <a:r>
              <a:rPr lang="en-US"/>
              <a:t>Ví dụ taxonomy về Học máy</a:t>
            </a:r>
          </a:p>
        </p:txBody>
      </p:sp>
      <p:pic>
        <p:nvPicPr>
          <p:cNvPr id="1026" name="Picture 2" descr="A Brief Taxonomy of AI - SharperAI">
            <a:extLst>
              <a:ext uri="{FF2B5EF4-FFF2-40B4-BE49-F238E27FC236}">
                <a16:creationId xmlns:a16="http://schemas.microsoft.com/office/drawing/2014/main" id="{51C9A3CC-72E4-4BCE-BC6B-F9DE839693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365" y="1631181"/>
            <a:ext cx="7620000" cy="558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40776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1" name="object 11"/>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78</a:t>
            </a:fld>
            <a:endParaRPr spc="-40" dirty="0"/>
          </a:p>
        </p:txBody>
      </p:sp>
      <p:grpSp>
        <p:nvGrpSpPr>
          <p:cNvPr id="3" name="object 3"/>
          <p:cNvGrpSpPr/>
          <p:nvPr/>
        </p:nvGrpSpPr>
        <p:grpSpPr>
          <a:xfrm>
            <a:off x="457200" y="1436369"/>
            <a:ext cx="9144000" cy="2937510"/>
            <a:chOff x="457200" y="1436369"/>
            <a:chExt cx="9144000" cy="293751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1958339"/>
            </a:xfrm>
            <a:custGeom>
              <a:avLst/>
              <a:gdLst/>
              <a:ahLst/>
              <a:cxnLst/>
              <a:rect l="l" t="t" r="r" b="b"/>
              <a:pathLst>
                <a:path w="9144000" h="1958339">
                  <a:moveTo>
                    <a:pt x="9144000" y="0"/>
                  </a:moveTo>
                  <a:lnTo>
                    <a:pt x="0" y="0"/>
                  </a:lnTo>
                  <a:lnTo>
                    <a:pt x="0" y="979170"/>
                  </a:lnTo>
                  <a:lnTo>
                    <a:pt x="0" y="195834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945755" cy="3728720"/>
          </a:xfrm>
          <a:prstGeom prst="rect">
            <a:avLst/>
          </a:prstGeom>
        </p:spPr>
        <p:txBody>
          <a:bodyPr vert="horz" wrap="square" lIns="0" tIns="12700" rIns="0" bIns="0" rtlCol="0">
            <a:spAutoFit/>
          </a:bodyPr>
          <a:lstStyle/>
          <a:p>
            <a:pPr marL="298450" marR="353060" indent="-285750">
              <a:lnSpc>
                <a:spcPct val="100000"/>
              </a:lnSpc>
              <a:spcBef>
                <a:spcPts val="100"/>
              </a:spcBef>
              <a:buClr>
                <a:srgbClr val="CC9A00"/>
              </a:buClr>
              <a:buSzPct val="64583"/>
              <a:buFont typeface="Wingdings"/>
              <a:buChar char=""/>
              <a:tabLst>
                <a:tab pos="297815" algn="l"/>
                <a:tab pos="298450" algn="l"/>
              </a:tabLst>
            </a:pPr>
            <a:r>
              <a:rPr sz="2400" spc="-5" dirty="0">
                <a:latin typeface="Arial"/>
                <a:cs typeface="Arial"/>
              </a:rPr>
              <a:t>Thường được thực hiện kết hợp với bước trước (định  nghĩa </a:t>
            </a:r>
            <a:r>
              <a:rPr sz="2400" dirty="0">
                <a:latin typeface="Arial"/>
                <a:cs typeface="Arial"/>
              </a:rPr>
              <a:t>sự </a:t>
            </a:r>
            <a:r>
              <a:rPr sz="2400" spc="-5" dirty="0">
                <a:latin typeface="Arial"/>
                <a:cs typeface="Arial"/>
              </a:rPr>
              <a:t>phân</a:t>
            </a:r>
            <a:r>
              <a:rPr sz="2400" spc="15" dirty="0">
                <a:latin typeface="Arial"/>
                <a:cs typeface="Arial"/>
              </a:rPr>
              <a:t> </a:t>
            </a:r>
            <a:r>
              <a:rPr sz="2400" spc="-5" dirty="0">
                <a:latin typeface="Arial"/>
                <a:cs typeface="Arial"/>
              </a:rPr>
              <a:t>loại)</a:t>
            </a:r>
            <a:endParaRPr sz="2400">
              <a:latin typeface="Arial"/>
              <a:cs typeface="Arial"/>
            </a:endParaRPr>
          </a:p>
          <a:p>
            <a:pPr marL="298450" marR="39370" indent="-285750">
              <a:lnSpc>
                <a:spcPct val="100000"/>
              </a:lnSpc>
              <a:spcBef>
                <a:spcPts val="1800"/>
              </a:spcBef>
              <a:buClr>
                <a:srgbClr val="CC9A00"/>
              </a:buClr>
              <a:buSzPct val="64583"/>
              <a:buFont typeface="Wingdings"/>
              <a:buChar char=""/>
              <a:tabLst>
                <a:tab pos="297815" algn="l"/>
                <a:tab pos="298450" algn="l"/>
                <a:tab pos="1668780" algn="l"/>
              </a:tabLst>
            </a:pPr>
            <a:r>
              <a:rPr sz="2400" spc="-5" dirty="0">
                <a:latin typeface="Arial"/>
                <a:cs typeface="Arial"/>
              </a:rPr>
              <a:t>Yêu</a:t>
            </a:r>
            <a:r>
              <a:rPr sz="2400" dirty="0">
                <a:latin typeface="Arial"/>
                <a:cs typeface="Arial"/>
              </a:rPr>
              <a:t> </a:t>
            </a:r>
            <a:r>
              <a:rPr sz="2400" spc="-5" dirty="0">
                <a:latin typeface="Arial"/>
                <a:cs typeface="Arial"/>
              </a:rPr>
              <a:t>cầu:	Nếu </a:t>
            </a:r>
            <a:r>
              <a:rPr sz="2400" i="1" dirty="0">
                <a:latin typeface="Arial"/>
                <a:cs typeface="Arial"/>
              </a:rPr>
              <a:t>A </a:t>
            </a:r>
            <a:r>
              <a:rPr sz="2400" dirty="0">
                <a:latin typeface="Arial"/>
                <a:cs typeface="Arial"/>
              </a:rPr>
              <a:t>là </a:t>
            </a:r>
            <a:r>
              <a:rPr sz="2400" spc="-5" dirty="0">
                <a:latin typeface="Arial"/>
                <a:cs typeface="Arial"/>
              </a:rPr>
              <a:t>một lớp con của </a:t>
            </a:r>
            <a:r>
              <a:rPr sz="2400" i="1" dirty="0">
                <a:latin typeface="Arial"/>
                <a:cs typeface="Arial"/>
              </a:rPr>
              <a:t>B</a:t>
            </a:r>
            <a:r>
              <a:rPr sz="2400" dirty="0">
                <a:latin typeface="Arial"/>
                <a:cs typeface="Arial"/>
              </a:rPr>
              <a:t>, </a:t>
            </a:r>
            <a:r>
              <a:rPr sz="2400" spc="-5" dirty="0">
                <a:latin typeface="Arial"/>
                <a:cs typeface="Arial"/>
              </a:rPr>
              <a:t>thì mọi thuộc tính  của </a:t>
            </a:r>
            <a:r>
              <a:rPr sz="2400" i="1" dirty="0">
                <a:latin typeface="Arial"/>
                <a:cs typeface="Arial"/>
              </a:rPr>
              <a:t>B </a:t>
            </a:r>
            <a:r>
              <a:rPr sz="2400" spc="-5" dirty="0">
                <a:latin typeface="Arial"/>
                <a:cs typeface="Arial"/>
              </a:rPr>
              <a:t>đều phải được áp dụng cho</a:t>
            </a:r>
            <a:r>
              <a:rPr sz="2400" spc="40" dirty="0">
                <a:latin typeface="Arial"/>
                <a:cs typeface="Arial"/>
              </a:rPr>
              <a:t> </a:t>
            </a:r>
            <a:r>
              <a:rPr sz="2400" i="1" dirty="0">
                <a:latin typeface="Arial"/>
                <a:cs typeface="Arial"/>
              </a:rPr>
              <a:t>A</a:t>
            </a:r>
            <a:endParaRPr sz="2400">
              <a:latin typeface="Arial"/>
              <a:cs typeface="Arial"/>
            </a:endParaRPr>
          </a:p>
          <a:p>
            <a:pPr marL="624840" marR="508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Nên gắn các thuộc tính với lớp cao nhất (phù hợp) trong cấu trúc  phân</a:t>
            </a:r>
            <a:r>
              <a:rPr sz="2000" spc="-15" dirty="0">
                <a:latin typeface="Arial"/>
                <a:cs typeface="Arial"/>
              </a:rPr>
              <a:t> </a:t>
            </a:r>
            <a:r>
              <a:rPr sz="2000" spc="-5" dirty="0">
                <a:latin typeface="Arial"/>
                <a:cs typeface="Arial"/>
              </a:rPr>
              <a:t>cấp</a:t>
            </a:r>
            <a:endParaRPr sz="2000">
              <a:latin typeface="Arial"/>
              <a:cs typeface="Arial"/>
            </a:endParaRPr>
          </a:p>
          <a:p>
            <a:pPr marL="298450" marR="370840" indent="-285750" algn="just">
              <a:lnSpc>
                <a:spcPct val="100000"/>
              </a:lnSpc>
              <a:spcBef>
                <a:spcPts val="1790"/>
              </a:spcBef>
              <a:buClr>
                <a:srgbClr val="CC9A00"/>
              </a:buClr>
              <a:buSzPct val="64583"/>
              <a:buFont typeface="Wingdings"/>
              <a:buChar char=""/>
              <a:tabLst>
                <a:tab pos="298450" algn="l"/>
              </a:tabLst>
            </a:pPr>
            <a:r>
              <a:rPr sz="2400" spc="-5" dirty="0">
                <a:latin typeface="Arial"/>
                <a:cs typeface="Arial"/>
              </a:rPr>
              <a:t>Khi xác định một thuộc tính cho một lớp, cần ngay lập  tức xác định các thông tin về miền và giá trị của thuộc  tính</a:t>
            </a:r>
            <a:r>
              <a:rPr sz="2400" spc="-20" dirty="0">
                <a:latin typeface="Arial"/>
                <a:cs typeface="Arial"/>
              </a:rPr>
              <a:t> </a:t>
            </a:r>
            <a:r>
              <a:rPr sz="2400" spc="-5" dirty="0">
                <a:latin typeface="Arial"/>
                <a:cs typeface="Arial"/>
              </a:rPr>
              <a:t>đó</a:t>
            </a:r>
            <a:endParaRPr sz="2400">
              <a:latin typeface="Arial"/>
              <a:cs typeface="Arial"/>
            </a:endParaRPr>
          </a:p>
        </p:txBody>
      </p:sp>
      <p:sp>
        <p:nvSpPr>
          <p:cNvPr id="9" name="object 9"/>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3" name="Title 12">
            <a:extLst>
              <a:ext uri="{FF2B5EF4-FFF2-40B4-BE49-F238E27FC236}">
                <a16:creationId xmlns:a16="http://schemas.microsoft.com/office/drawing/2014/main" id="{C9F1B1CD-5E4A-4787-8B3D-E4AF39A56E23}"/>
              </a:ext>
            </a:extLst>
          </p:cNvPr>
          <p:cNvSpPr>
            <a:spLocks noGrp="1"/>
          </p:cNvSpPr>
          <p:nvPr>
            <p:ph type="title"/>
          </p:nvPr>
        </p:nvSpPr>
        <p:spPr/>
        <p:txBody>
          <a:bodyPr/>
          <a:lstStyle/>
          <a:p>
            <a:r>
              <a:rPr lang="en-US" b="0" spc="-5">
                <a:latin typeface="Verdana"/>
                <a:cs typeface="Verdana"/>
              </a:rPr>
              <a:t>Định nghĩa các thuộc</a:t>
            </a:r>
            <a:r>
              <a:rPr lang="en-US" b="0" spc="-35">
                <a:latin typeface="Verdana"/>
                <a:cs typeface="Verdana"/>
              </a:rPr>
              <a:t> </a:t>
            </a:r>
            <a:r>
              <a:rPr lang="en-US" b="0">
                <a:latin typeface="Verdana"/>
                <a:cs typeface="Verdana"/>
              </a:rPr>
              <a:t>tính</a:t>
            </a:r>
            <a:endParaRPr lang="en-US" b="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bject 16"/>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7" name="object 17"/>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79</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txBox="1"/>
          <p:nvPr/>
        </p:nvSpPr>
        <p:spPr>
          <a:xfrm>
            <a:off x="993139" y="1624838"/>
            <a:ext cx="7966075" cy="1962150"/>
          </a:xfrm>
          <a:prstGeom prst="rect">
            <a:avLst/>
          </a:prstGeom>
        </p:spPr>
        <p:txBody>
          <a:bodyPr vert="horz" wrap="square" lIns="0" tIns="165100" rIns="0" bIns="0" rtlCol="0">
            <a:spAutoFit/>
          </a:bodyPr>
          <a:lstStyle/>
          <a:p>
            <a:pPr marL="298450" indent="-285750">
              <a:lnSpc>
                <a:spcPct val="100000"/>
              </a:lnSpc>
              <a:spcBef>
                <a:spcPts val="1300"/>
              </a:spcBef>
              <a:buClr>
                <a:srgbClr val="CC9A00"/>
              </a:buClr>
              <a:buSzPct val="64583"/>
              <a:buFont typeface="Wingdings"/>
              <a:buChar char=""/>
              <a:tabLst>
                <a:tab pos="297815" algn="l"/>
                <a:tab pos="298450" algn="l"/>
              </a:tabLst>
            </a:pPr>
            <a:r>
              <a:rPr sz="2400" spc="-5" dirty="0">
                <a:latin typeface="Arial"/>
                <a:cs typeface="Arial"/>
              </a:rPr>
              <a:t>Các ràng buộc về số chiều (số phần tử của một tập</a:t>
            </a:r>
            <a:r>
              <a:rPr sz="2400" spc="40" dirty="0">
                <a:latin typeface="Arial"/>
                <a:cs typeface="Arial"/>
              </a:rPr>
              <a:t> </a:t>
            </a:r>
            <a:r>
              <a:rPr sz="2400" spc="-5" dirty="0">
                <a:latin typeface="Arial"/>
                <a:cs typeface="Arial"/>
              </a:rPr>
              <a:t>hợp)</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Các giá trị có thể được gán</a:t>
            </a:r>
            <a:r>
              <a:rPr sz="2400" spc="25" dirty="0">
                <a:latin typeface="Arial"/>
                <a:cs typeface="Arial"/>
              </a:rPr>
              <a:t> </a:t>
            </a:r>
            <a:r>
              <a:rPr sz="2400" spc="-5" dirty="0">
                <a:latin typeface="Arial"/>
                <a:cs typeface="Arial"/>
              </a:rPr>
              <a:t>cho</a:t>
            </a:r>
            <a:endParaRPr sz="2400">
              <a:latin typeface="Arial"/>
              <a:cs typeface="Arial"/>
            </a:endParaRPr>
          </a:p>
          <a:p>
            <a:pPr marL="298450" indent="-285750">
              <a:lnSpc>
                <a:spcPct val="100000"/>
              </a:lnSpc>
              <a:spcBef>
                <a:spcPts val="1200"/>
              </a:spcBef>
              <a:buClr>
                <a:srgbClr val="CC9A00"/>
              </a:buClr>
              <a:buSzPct val="64583"/>
              <a:buFont typeface="Wingdings"/>
              <a:buChar char=""/>
              <a:tabLst>
                <a:tab pos="297815" algn="l"/>
                <a:tab pos="298450" algn="l"/>
              </a:tabLst>
            </a:pPr>
            <a:r>
              <a:rPr sz="2400" spc="-5" dirty="0">
                <a:latin typeface="Arial"/>
                <a:cs typeface="Arial"/>
              </a:rPr>
              <a:t>Các đặc điểm của quan</a:t>
            </a:r>
            <a:r>
              <a:rPr sz="2400" spc="40" dirty="0">
                <a:latin typeface="Arial"/>
                <a:cs typeface="Arial"/>
              </a:rPr>
              <a:t> </a:t>
            </a:r>
            <a:r>
              <a:rPr sz="2400" dirty="0">
                <a:latin typeface="Arial"/>
                <a:cs typeface="Arial"/>
              </a:rPr>
              <a:t>hệ</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Tính đối xứng, bắc cầu, đảo,</a:t>
            </a:r>
            <a:r>
              <a:rPr sz="2000" spc="-30" dirty="0">
                <a:latin typeface="Arial"/>
                <a:cs typeface="Arial"/>
              </a:rPr>
              <a:t> </a:t>
            </a:r>
            <a:r>
              <a:rPr sz="2000" spc="-5" dirty="0">
                <a:latin typeface="Arial"/>
                <a:cs typeface="Arial"/>
              </a:rPr>
              <a:t>…</a:t>
            </a:r>
            <a:endParaRPr sz="2000">
              <a:latin typeface="Arial"/>
              <a:cs typeface="Arial"/>
            </a:endParaRPr>
          </a:p>
        </p:txBody>
      </p:sp>
      <p:grpSp>
        <p:nvGrpSpPr>
          <p:cNvPr id="7" name="object 7"/>
          <p:cNvGrpSpPr/>
          <p:nvPr/>
        </p:nvGrpSpPr>
        <p:grpSpPr>
          <a:xfrm>
            <a:off x="1290827" y="3729228"/>
            <a:ext cx="7401559" cy="2454910"/>
            <a:chOff x="1290827" y="3729228"/>
            <a:chExt cx="7401559" cy="2454910"/>
          </a:xfrm>
        </p:grpSpPr>
        <p:sp>
          <p:nvSpPr>
            <p:cNvPr id="8" name="object 8"/>
            <p:cNvSpPr/>
            <p:nvPr/>
          </p:nvSpPr>
          <p:spPr>
            <a:xfrm>
              <a:off x="1295399" y="3733800"/>
              <a:ext cx="7377683" cy="640080"/>
            </a:xfrm>
            <a:prstGeom prst="rect">
              <a:avLst/>
            </a:prstGeom>
            <a:blipFill>
              <a:blip r:embed="rId2" cstate="print"/>
              <a:stretch>
                <a:fillRect/>
              </a:stretch>
            </a:blipFill>
          </p:spPr>
          <p:txBody>
            <a:bodyPr wrap="square" lIns="0" tIns="0" rIns="0" bIns="0" rtlCol="0"/>
            <a:lstStyle/>
            <a:p>
              <a:endParaRPr/>
            </a:p>
          </p:txBody>
        </p:sp>
        <p:sp>
          <p:nvSpPr>
            <p:cNvPr id="9" name="object 9"/>
            <p:cNvSpPr/>
            <p:nvPr/>
          </p:nvSpPr>
          <p:spPr>
            <a:xfrm>
              <a:off x="1290827" y="3729228"/>
              <a:ext cx="7401559" cy="645160"/>
            </a:xfrm>
            <a:custGeom>
              <a:avLst/>
              <a:gdLst/>
              <a:ahLst/>
              <a:cxnLst/>
              <a:rect l="l" t="t" r="r" b="b"/>
              <a:pathLst>
                <a:path w="7401559" h="645160">
                  <a:moveTo>
                    <a:pt x="7401306" y="644651"/>
                  </a:moveTo>
                  <a:lnTo>
                    <a:pt x="7401306" y="0"/>
                  </a:lnTo>
                  <a:lnTo>
                    <a:pt x="0" y="0"/>
                  </a:lnTo>
                  <a:lnTo>
                    <a:pt x="0" y="644652"/>
                  </a:lnTo>
                  <a:lnTo>
                    <a:pt x="4571" y="644652"/>
                  </a:lnTo>
                  <a:lnTo>
                    <a:pt x="4571" y="9906"/>
                  </a:lnTo>
                  <a:lnTo>
                    <a:pt x="9905" y="4572"/>
                  </a:lnTo>
                  <a:lnTo>
                    <a:pt x="9905" y="9906"/>
                  </a:lnTo>
                  <a:lnTo>
                    <a:pt x="7391400" y="9906"/>
                  </a:lnTo>
                  <a:lnTo>
                    <a:pt x="7391400" y="4572"/>
                  </a:lnTo>
                  <a:lnTo>
                    <a:pt x="7395972" y="9906"/>
                  </a:lnTo>
                  <a:lnTo>
                    <a:pt x="7395972" y="644651"/>
                  </a:lnTo>
                  <a:lnTo>
                    <a:pt x="7401306" y="644651"/>
                  </a:lnTo>
                  <a:close/>
                </a:path>
                <a:path w="7401559" h="645160">
                  <a:moveTo>
                    <a:pt x="9905" y="9906"/>
                  </a:moveTo>
                  <a:lnTo>
                    <a:pt x="9905" y="4572"/>
                  </a:lnTo>
                  <a:lnTo>
                    <a:pt x="4571" y="9906"/>
                  </a:lnTo>
                  <a:lnTo>
                    <a:pt x="9905" y="9906"/>
                  </a:lnTo>
                  <a:close/>
                </a:path>
                <a:path w="7401559" h="645160">
                  <a:moveTo>
                    <a:pt x="9905" y="644652"/>
                  </a:moveTo>
                  <a:lnTo>
                    <a:pt x="9905" y="9906"/>
                  </a:lnTo>
                  <a:lnTo>
                    <a:pt x="4571" y="9906"/>
                  </a:lnTo>
                  <a:lnTo>
                    <a:pt x="4571" y="644652"/>
                  </a:lnTo>
                  <a:lnTo>
                    <a:pt x="9905" y="644652"/>
                  </a:lnTo>
                  <a:close/>
                </a:path>
                <a:path w="7401559" h="645160">
                  <a:moveTo>
                    <a:pt x="7395972" y="9906"/>
                  </a:moveTo>
                  <a:lnTo>
                    <a:pt x="7391400" y="4572"/>
                  </a:lnTo>
                  <a:lnTo>
                    <a:pt x="7391400" y="9906"/>
                  </a:lnTo>
                  <a:lnTo>
                    <a:pt x="7395972" y="9906"/>
                  </a:lnTo>
                  <a:close/>
                </a:path>
                <a:path w="7401559" h="645160">
                  <a:moveTo>
                    <a:pt x="7395972" y="644651"/>
                  </a:moveTo>
                  <a:lnTo>
                    <a:pt x="7395972" y="9906"/>
                  </a:lnTo>
                  <a:lnTo>
                    <a:pt x="7391400" y="9906"/>
                  </a:lnTo>
                  <a:lnTo>
                    <a:pt x="7391400" y="644651"/>
                  </a:lnTo>
                  <a:lnTo>
                    <a:pt x="7395972" y="644651"/>
                  </a:lnTo>
                  <a:close/>
                </a:path>
              </a:pathLst>
            </a:custGeom>
            <a:solidFill>
              <a:srgbClr val="000000"/>
            </a:solidFill>
          </p:spPr>
          <p:txBody>
            <a:bodyPr wrap="square" lIns="0" tIns="0" rIns="0" bIns="0" rtlCol="0"/>
            <a:lstStyle/>
            <a:p>
              <a:endParaRPr/>
            </a:p>
          </p:txBody>
        </p:sp>
        <p:sp>
          <p:nvSpPr>
            <p:cNvPr id="10" name="object 10"/>
            <p:cNvSpPr/>
            <p:nvPr/>
          </p:nvSpPr>
          <p:spPr>
            <a:xfrm>
              <a:off x="1295399" y="4373880"/>
              <a:ext cx="7377683" cy="979170"/>
            </a:xfrm>
            <a:prstGeom prst="rect">
              <a:avLst/>
            </a:prstGeom>
            <a:blipFill>
              <a:blip r:embed="rId3" cstate="print"/>
              <a:stretch>
                <a:fillRect/>
              </a:stretch>
            </a:blipFill>
          </p:spPr>
          <p:txBody>
            <a:bodyPr wrap="square" lIns="0" tIns="0" rIns="0" bIns="0" rtlCol="0"/>
            <a:lstStyle/>
            <a:p>
              <a:endParaRPr/>
            </a:p>
          </p:txBody>
        </p:sp>
        <p:sp>
          <p:nvSpPr>
            <p:cNvPr id="11" name="object 11"/>
            <p:cNvSpPr/>
            <p:nvPr/>
          </p:nvSpPr>
          <p:spPr>
            <a:xfrm>
              <a:off x="1290828" y="4373880"/>
              <a:ext cx="7401559" cy="979169"/>
            </a:xfrm>
            <a:custGeom>
              <a:avLst/>
              <a:gdLst/>
              <a:ahLst/>
              <a:cxnLst/>
              <a:rect l="l" t="t" r="r" b="b"/>
              <a:pathLst>
                <a:path w="7401559" h="979170">
                  <a:moveTo>
                    <a:pt x="9893" y="0"/>
                  </a:moveTo>
                  <a:lnTo>
                    <a:pt x="0" y="0"/>
                  </a:lnTo>
                  <a:lnTo>
                    <a:pt x="0" y="979170"/>
                  </a:lnTo>
                  <a:lnTo>
                    <a:pt x="9893" y="979170"/>
                  </a:lnTo>
                  <a:lnTo>
                    <a:pt x="9893" y="0"/>
                  </a:lnTo>
                  <a:close/>
                </a:path>
                <a:path w="7401559" h="979170">
                  <a:moveTo>
                    <a:pt x="7401306" y="0"/>
                  </a:moveTo>
                  <a:lnTo>
                    <a:pt x="7391400" y="0"/>
                  </a:lnTo>
                  <a:lnTo>
                    <a:pt x="7391400" y="979170"/>
                  </a:lnTo>
                  <a:lnTo>
                    <a:pt x="7401306" y="979170"/>
                  </a:lnTo>
                  <a:lnTo>
                    <a:pt x="7401306" y="0"/>
                  </a:lnTo>
                  <a:close/>
                </a:path>
              </a:pathLst>
            </a:custGeom>
            <a:solidFill>
              <a:srgbClr val="000000"/>
            </a:solidFill>
          </p:spPr>
          <p:txBody>
            <a:bodyPr wrap="square" lIns="0" tIns="0" rIns="0" bIns="0" rtlCol="0"/>
            <a:lstStyle/>
            <a:p>
              <a:endParaRPr/>
            </a:p>
          </p:txBody>
        </p:sp>
        <p:sp>
          <p:nvSpPr>
            <p:cNvPr id="12" name="object 12"/>
            <p:cNvSpPr/>
            <p:nvPr/>
          </p:nvSpPr>
          <p:spPr>
            <a:xfrm>
              <a:off x="1295399" y="5353050"/>
              <a:ext cx="7377683" cy="816102"/>
            </a:xfrm>
            <a:prstGeom prst="rect">
              <a:avLst/>
            </a:prstGeom>
            <a:blipFill>
              <a:blip r:embed="rId4" cstate="print"/>
              <a:stretch>
                <a:fillRect/>
              </a:stretch>
            </a:blipFill>
          </p:spPr>
          <p:txBody>
            <a:bodyPr wrap="square" lIns="0" tIns="0" rIns="0" bIns="0" rtlCol="0"/>
            <a:lstStyle/>
            <a:p>
              <a:endParaRPr/>
            </a:p>
          </p:txBody>
        </p:sp>
        <p:sp>
          <p:nvSpPr>
            <p:cNvPr id="13" name="object 13"/>
            <p:cNvSpPr/>
            <p:nvPr/>
          </p:nvSpPr>
          <p:spPr>
            <a:xfrm>
              <a:off x="1290827" y="5353050"/>
              <a:ext cx="7401559" cy="830580"/>
            </a:xfrm>
            <a:custGeom>
              <a:avLst/>
              <a:gdLst/>
              <a:ahLst/>
              <a:cxnLst/>
              <a:rect l="l" t="t" r="r" b="b"/>
              <a:pathLst>
                <a:path w="7401559" h="830579">
                  <a:moveTo>
                    <a:pt x="9906" y="821436"/>
                  </a:moveTo>
                  <a:lnTo>
                    <a:pt x="9906" y="0"/>
                  </a:lnTo>
                  <a:lnTo>
                    <a:pt x="0" y="0"/>
                  </a:lnTo>
                  <a:lnTo>
                    <a:pt x="0" y="830580"/>
                  </a:lnTo>
                  <a:lnTo>
                    <a:pt x="4572" y="830580"/>
                  </a:lnTo>
                  <a:lnTo>
                    <a:pt x="4572" y="821436"/>
                  </a:lnTo>
                  <a:lnTo>
                    <a:pt x="9906" y="821436"/>
                  </a:lnTo>
                  <a:close/>
                </a:path>
                <a:path w="7401559" h="830579">
                  <a:moveTo>
                    <a:pt x="7395972" y="821436"/>
                  </a:moveTo>
                  <a:lnTo>
                    <a:pt x="4572" y="821436"/>
                  </a:lnTo>
                  <a:lnTo>
                    <a:pt x="9906" y="826008"/>
                  </a:lnTo>
                  <a:lnTo>
                    <a:pt x="9905" y="830580"/>
                  </a:lnTo>
                  <a:lnTo>
                    <a:pt x="7391400" y="830579"/>
                  </a:lnTo>
                  <a:lnTo>
                    <a:pt x="7391400" y="826008"/>
                  </a:lnTo>
                  <a:lnTo>
                    <a:pt x="7395972" y="821436"/>
                  </a:lnTo>
                  <a:close/>
                </a:path>
                <a:path w="7401559" h="830579">
                  <a:moveTo>
                    <a:pt x="9905" y="830580"/>
                  </a:moveTo>
                  <a:lnTo>
                    <a:pt x="9906" y="826008"/>
                  </a:lnTo>
                  <a:lnTo>
                    <a:pt x="4572" y="821436"/>
                  </a:lnTo>
                  <a:lnTo>
                    <a:pt x="4572" y="830580"/>
                  </a:lnTo>
                  <a:lnTo>
                    <a:pt x="9905" y="830580"/>
                  </a:lnTo>
                  <a:close/>
                </a:path>
                <a:path w="7401559" h="830579">
                  <a:moveTo>
                    <a:pt x="7401306" y="830579"/>
                  </a:moveTo>
                  <a:lnTo>
                    <a:pt x="7401306" y="0"/>
                  </a:lnTo>
                  <a:lnTo>
                    <a:pt x="7391400" y="0"/>
                  </a:lnTo>
                  <a:lnTo>
                    <a:pt x="7391400" y="821436"/>
                  </a:lnTo>
                  <a:lnTo>
                    <a:pt x="7395972" y="821436"/>
                  </a:lnTo>
                  <a:lnTo>
                    <a:pt x="7395972" y="830579"/>
                  </a:lnTo>
                  <a:lnTo>
                    <a:pt x="7401306" y="830579"/>
                  </a:lnTo>
                  <a:close/>
                </a:path>
                <a:path w="7401559" h="830579">
                  <a:moveTo>
                    <a:pt x="7395972" y="830579"/>
                  </a:moveTo>
                  <a:lnTo>
                    <a:pt x="7395972" y="821436"/>
                  </a:lnTo>
                  <a:lnTo>
                    <a:pt x="7391400" y="826008"/>
                  </a:lnTo>
                  <a:lnTo>
                    <a:pt x="7391400" y="830579"/>
                  </a:lnTo>
                  <a:lnTo>
                    <a:pt x="7395972" y="830579"/>
                  </a:lnTo>
                  <a:close/>
                </a:path>
              </a:pathLst>
            </a:custGeom>
            <a:solidFill>
              <a:srgbClr val="000000"/>
            </a:solidFill>
          </p:spPr>
          <p:txBody>
            <a:bodyPr wrap="square" lIns="0" tIns="0" rIns="0" bIns="0" rtlCol="0"/>
            <a:lstStyle/>
            <a:p>
              <a:endParaRPr/>
            </a:p>
          </p:txBody>
        </p:sp>
      </p:grpSp>
      <p:sp>
        <p:nvSpPr>
          <p:cNvPr id="14" name="object 14"/>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5" name="object 15"/>
          <p:cNvSpPr txBox="1"/>
          <p:nvPr/>
        </p:nvSpPr>
        <p:spPr>
          <a:xfrm>
            <a:off x="1374139" y="6353047"/>
            <a:ext cx="4357370" cy="238760"/>
          </a:xfrm>
          <a:prstGeom prst="rect">
            <a:avLst/>
          </a:prstGeom>
        </p:spPr>
        <p:txBody>
          <a:bodyPr vert="horz" wrap="square" lIns="0" tIns="12065" rIns="0" bIns="0" rtlCol="0">
            <a:spAutoFit/>
          </a:bodyPr>
          <a:lstStyle/>
          <a:p>
            <a:pPr marL="12700">
              <a:lnSpc>
                <a:spcPct val="100000"/>
              </a:lnSpc>
              <a:spcBef>
                <a:spcPts val="95"/>
              </a:spcBef>
            </a:pPr>
            <a:r>
              <a:rPr sz="1400" spc="-10" dirty="0">
                <a:latin typeface="Arial"/>
                <a:cs typeface="Arial"/>
              </a:rPr>
              <a:t>(</a:t>
            </a:r>
            <a:r>
              <a:rPr sz="1400" i="1" spc="-10" dirty="0">
                <a:latin typeface="Arial"/>
                <a:cs typeface="Arial"/>
              </a:rPr>
              <a:t>protege.stanford.edu/amia2003/AMIA2003Tutorial.ppt</a:t>
            </a:r>
            <a:r>
              <a:rPr sz="1400" spc="-10" dirty="0">
                <a:latin typeface="Arial"/>
                <a:cs typeface="Arial"/>
              </a:rPr>
              <a:t>)</a:t>
            </a:r>
            <a:endParaRPr sz="1400">
              <a:latin typeface="Arial"/>
              <a:cs typeface="Arial"/>
            </a:endParaRPr>
          </a:p>
        </p:txBody>
      </p:sp>
      <p:sp>
        <p:nvSpPr>
          <p:cNvPr id="19" name="Title 18">
            <a:extLst>
              <a:ext uri="{FF2B5EF4-FFF2-40B4-BE49-F238E27FC236}">
                <a16:creationId xmlns:a16="http://schemas.microsoft.com/office/drawing/2014/main" id="{AD2C6DDC-A31C-4BA1-B68A-BB369AC99215}"/>
              </a:ext>
            </a:extLst>
          </p:cNvPr>
          <p:cNvSpPr>
            <a:spLocks noGrp="1"/>
          </p:cNvSpPr>
          <p:nvPr>
            <p:ph type="title"/>
          </p:nvPr>
        </p:nvSpPr>
        <p:spPr/>
        <p:txBody>
          <a:bodyPr/>
          <a:lstStyle/>
          <a:p>
            <a:r>
              <a:rPr lang="en-US" b="0" spc="-5">
                <a:latin typeface="Verdana"/>
                <a:cs typeface="Verdana"/>
              </a:rPr>
              <a:t>Định nghĩa các ràng</a:t>
            </a:r>
            <a:r>
              <a:rPr lang="en-US" b="0" spc="-25">
                <a:latin typeface="Verdana"/>
                <a:cs typeface="Verdana"/>
              </a:rPr>
              <a:t> </a:t>
            </a:r>
            <a:r>
              <a:rPr lang="en-US" b="0" spc="-5">
                <a:latin typeface="Verdana"/>
                <a:cs typeface="Verdana"/>
              </a:rPr>
              <a:t>buộc</a:t>
            </a:r>
            <a:endParaRPr lang="en-US" b="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80</a:t>
            </a:fld>
            <a:endParaRPr spc="-40" dirty="0"/>
          </a:p>
        </p:txBody>
      </p:sp>
      <p:grpSp>
        <p:nvGrpSpPr>
          <p:cNvPr id="3" name="object 3"/>
          <p:cNvGrpSpPr/>
          <p:nvPr/>
        </p:nvGrpSpPr>
        <p:grpSpPr>
          <a:xfrm>
            <a:off x="457200" y="1436369"/>
            <a:ext cx="9144000" cy="979169"/>
            <a:chOff x="457200" y="1436369"/>
            <a:chExt cx="9144000" cy="97916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grpSp>
      <p:sp>
        <p:nvSpPr>
          <p:cNvPr id="6" name="object 6"/>
          <p:cNvSpPr/>
          <p:nvPr/>
        </p:nvSpPr>
        <p:spPr>
          <a:xfrm>
            <a:off x="457200" y="4373879"/>
            <a:ext cx="9144000" cy="979169"/>
          </a:xfrm>
          <a:custGeom>
            <a:avLst/>
            <a:gdLst/>
            <a:ahLst/>
            <a:cxnLst/>
            <a:rect l="l" t="t" r="r" b="b"/>
            <a:pathLst>
              <a:path w="9144000" h="979170">
                <a:moveTo>
                  <a:pt x="9144000" y="979170"/>
                </a:moveTo>
                <a:lnTo>
                  <a:pt x="9144000" y="0"/>
                </a:lnTo>
                <a:lnTo>
                  <a:pt x="0" y="0"/>
                </a:lnTo>
                <a:lnTo>
                  <a:pt x="0" y="979170"/>
                </a:lnTo>
                <a:lnTo>
                  <a:pt x="9144000" y="979170"/>
                </a:lnTo>
                <a:close/>
              </a:path>
            </a:pathLst>
          </a:custGeom>
          <a:solidFill>
            <a:srgbClr val="FFFFFF"/>
          </a:solidFill>
        </p:spPr>
        <p:txBody>
          <a:bodyPr wrap="square" lIns="0" tIns="0" rIns="0" bIns="0" rtlCol="0"/>
          <a:lstStyle/>
          <a:p>
            <a:endParaRPr/>
          </a:p>
        </p:txBody>
      </p:sp>
      <p:sp>
        <p:nvSpPr>
          <p:cNvPr id="7" name="object 7"/>
          <p:cNvSpPr txBox="1"/>
          <p:nvPr/>
        </p:nvSpPr>
        <p:spPr>
          <a:xfrm>
            <a:off x="993139" y="1777238"/>
            <a:ext cx="8009255" cy="3074670"/>
          </a:xfrm>
          <a:prstGeom prst="rect">
            <a:avLst/>
          </a:prstGeom>
        </p:spPr>
        <p:txBody>
          <a:bodyPr vert="horz" wrap="square" lIns="0" tIns="12700" rIns="0" bIns="0" rtlCol="0">
            <a:spAutoFit/>
          </a:bodyPr>
          <a:lstStyle/>
          <a:p>
            <a:pPr marL="298450" indent="-285750">
              <a:lnSpc>
                <a:spcPct val="100000"/>
              </a:lnSpc>
              <a:spcBef>
                <a:spcPts val="100"/>
              </a:spcBef>
              <a:buClr>
                <a:srgbClr val="CC9A00"/>
              </a:buClr>
              <a:buSzPct val="64583"/>
              <a:buFont typeface="Wingdings"/>
              <a:buChar char=""/>
              <a:tabLst>
                <a:tab pos="297815" algn="l"/>
                <a:tab pos="298450" algn="l"/>
              </a:tabLst>
            </a:pPr>
            <a:r>
              <a:rPr sz="2400" dirty="0">
                <a:latin typeface="Arial"/>
                <a:cs typeface="Arial"/>
              </a:rPr>
              <a:t>Bổ </a:t>
            </a:r>
            <a:r>
              <a:rPr sz="2400" spc="-5" dirty="0">
                <a:latin typeface="Arial"/>
                <a:cs typeface="Arial"/>
              </a:rPr>
              <a:t>sung vào ontology các ví </a:t>
            </a:r>
            <a:r>
              <a:rPr sz="2400" dirty="0">
                <a:latin typeface="Arial"/>
                <a:cs typeface="Arial"/>
              </a:rPr>
              <a:t>dụ </a:t>
            </a:r>
            <a:r>
              <a:rPr sz="2400" spc="-5" dirty="0">
                <a:latin typeface="Arial"/>
                <a:cs typeface="Arial"/>
              </a:rPr>
              <a:t>(instances) cụ</a:t>
            </a:r>
            <a:r>
              <a:rPr sz="2400" spc="15" dirty="0">
                <a:latin typeface="Arial"/>
                <a:cs typeface="Arial"/>
              </a:rPr>
              <a:t> </a:t>
            </a:r>
            <a:r>
              <a:rPr sz="2400" spc="-5" dirty="0">
                <a:latin typeface="Arial"/>
                <a:cs typeface="Arial"/>
              </a:rPr>
              <a:t>thể</a:t>
            </a:r>
            <a:endParaRPr sz="2400">
              <a:latin typeface="Arial"/>
              <a:cs typeface="Arial"/>
            </a:endParaRPr>
          </a:p>
          <a:p>
            <a:pPr marL="298450" marR="5080" indent="-285750">
              <a:lnSpc>
                <a:spcPct val="100000"/>
              </a:lnSpc>
              <a:spcBef>
                <a:spcPts val="1800"/>
              </a:spcBef>
              <a:buClr>
                <a:srgbClr val="CC9A00"/>
              </a:buClr>
              <a:buSzPct val="64583"/>
              <a:buFont typeface="Wingdings"/>
              <a:buChar char=""/>
              <a:tabLst>
                <a:tab pos="297815" algn="l"/>
                <a:tab pos="298450" algn="l"/>
              </a:tabLst>
            </a:pPr>
            <a:r>
              <a:rPr sz="2400" dirty="0">
                <a:latin typeface="Arial"/>
                <a:cs typeface="Arial"/>
              </a:rPr>
              <a:t>Số </a:t>
            </a:r>
            <a:r>
              <a:rPr sz="2400" spc="-5" dirty="0">
                <a:latin typeface="Arial"/>
                <a:cs typeface="Arial"/>
              </a:rPr>
              <a:t>lượng các ví </a:t>
            </a:r>
            <a:r>
              <a:rPr sz="2400" dirty="0">
                <a:latin typeface="Arial"/>
                <a:cs typeface="Arial"/>
              </a:rPr>
              <a:t>dụ </a:t>
            </a:r>
            <a:r>
              <a:rPr sz="2400" spc="-5" dirty="0">
                <a:latin typeface="Arial"/>
                <a:cs typeface="Arial"/>
              </a:rPr>
              <a:t>thường lớn hơn (nhiều) </a:t>
            </a:r>
            <a:r>
              <a:rPr sz="2400" dirty="0">
                <a:latin typeface="Arial"/>
                <a:cs typeface="Arial"/>
              </a:rPr>
              <a:t>số </a:t>
            </a:r>
            <a:r>
              <a:rPr sz="2400" spc="-5" dirty="0">
                <a:latin typeface="Arial"/>
                <a:cs typeface="Arial"/>
              </a:rPr>
              <a:t>lượng các  lớp</a:t>
            </a:r>
            <a:r>
              <a:rPr sz="2400" spc="-10" dirty="0">
                <a:latin typeface="Arial"/>
                <a:cs typeface="Arial"/>
              </a:rPr>
              <a:t> </a:t>
            </a:r>
            <a:r>
              <a:rPr sz="2400" spc="-5" dirty="0">
                <a:latin typeface="Arial"/>
                <a:cs typeface="Arial"/>
              </a:rPr>
              <a:t>(classes)</a:t>
            </a:r>
            <a:endParaRPr sz="2400">
              <a:latin typeface="Arial"/>
              <a:cs typeface="Arial"/>
            </a:endParaRPr>
          </a:p>
          <a:p>
            <a:pPr marL="298450" indent="-285750">
              <a:lnSpc>
                <a:spcPct val="100000"/>
              </a:lnSpc>
              <a:spcBef>
                <a:spcPts val="1800"/>
              </a:spcBef>
              <a:buClr>
                <a:srgbClr val="CC9A00"/>
              </a:buClr>
              <a:buSzPct val="64583"/>
              <a:buFont typeface="Wingdings"/>
              <a:buChar char=""/>
              <a:tabLst>
                <a:tab pos="297815" algn="l"/>
                <a:tab pos="298450" algn="l"/>
              </a:tabLst>
            </a:pPr>
            <a:r>
              <a:rPr sz="2400" dirty="0">
                <a:latin typeface="Arial"/>
                <a:cs typeface="Arial"/>
              </a:rPr>
              <a:t>Vì </a:t>
            </a:r>
            <a:r>
              <a:rPr sz="2400" spc="-5" dirty="0">
                <a:latin typeface="Arial"/>
                <a:cs typeface="Arial"/>
              </a:rPr>
              <a:t>vậy, việc bổ sung các ví dụ vào một ontology</a:t>
            </a:r>
            <a:r>
              <a:rPr sz="2400" spc="15" dirty="0">
                <a:latin typeface="Arial"/>
                <a:cs typeface="Arial"/>
              </a:rPr>
              <a:t> </a:t>
            </a:r>
            <a:r>
              <a:rPr sz="2400" spc="-5" dirty="0">
                <a:latin typeface="Arial"/>
                <a:cs typeface="Arial"/>
              </a:rPr>
              <a:t>thường</a:t>
            </a:r>
            <a:endParaRPr sz="2400">
              <a:latin typeface="Arial"/>
              <a:cs typeface="Arial"/>
            </a:endParaRPr>
          </a:p>
          <a:p>
            <a:pPr marL="297815">
              <a:lnSpc>
                <a:spcPct val="100000"/>
              </a:lnSpc>
            </a:pPr>
            <a:r>
              <a:rPr sz="2400" spc="-5" dirty="0">
                <a:latin typeface="Arial"/>
                <a:cs typeface="Arial"/>
              </a:rPr>
              <a:t>được làm thủ công</a:t>
            </a:r>
            <a:r>
              <a:rPr sz="2400" spc="20" dirty="0">
                <a:latin typeface="Arial"/>
                <a:cs typeface="Arial"/>
              </a:rPr>
              <a:t> </a:t>
            </a:r>
            <a:r>
              <a:rPr sz="2400" spc="-5" dirty="0">
                <a:latin typeface="Arial"/>
                <a:cs typeface="Arial"/>
              </a:rPr>
              <a:t>(manually)</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5" dirty="0">
                <a:latin typeface="Arial"/>
                <a:cs typeface="Arial"/>
              </a:rPr>
              <a:t>Lấy từ các nguồn dữ liệu sẵn có (vd: từ các cơ sở dữ</a:t>
            </a:r>
            <a:r>
              <a:rPr sz="2000" spc="-50" dirty="0">
                <a:latin typeface="Arial"/>
                <a:cs typeface="Arial"/>
              </a:rPr>
              <a:t> </a:t>
            </a:r>
            <a:r>
              <a:rPr sz="2000" spc="-5" dirty="0">
                <a:latin typeface="Arial"/>
                <a:cs typeface="Arial"/>
              </a:rPr>
              <a:t>liệu)</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5" dirty="0">
                <a:latin typeface="Arial"/>
                <a:cs typeface="Arial"/>
              </a:rPr>
              <a:t>Trích tự động từ một tập các dữ liệu văn</a:t>
            </a:r>
            <a:r>
              <a:rPr sz="2000" spc="-45" dirty="0">
                <a:latin typeface="Arial"/>
                <a:cs typeface="Arial"/>
              </a:rPr>
              <a:t> </a:t>
            </a:r>
            <a:r>
              <a:rPr sz="2000" spc="-5" dirty="0">
                <a:latin typeface="Arial"/>
                <a:cs typeface="Arial"/>
              </a:rPr>
              <a:t>bản</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1E26ABB6-2B5D-4FE0-AE2A-6935A30E0372}"/>
              </a:ext>
            </a:extLst>
          </p:cNvPr>
          <p:cNvSpPr>
            <a:spLocks noGrp="1"/>
          </p:cNvSpPr>
          <p:nvPr>
            <p:ph type="title"/>
          </p:nvPr>
        </p:nvSpPr>
        <p:spPr/>
        <p:txBody>
          <a:bodyPr/>
          <a:lstStyle/>
          <a:p>
            <a:r>
              <a:rPr lang="en-US" b="0">
                <a:latin typeface="Verdana"/>
                <a:cs typeface="Verdana"/>
              </a:rPr>
              <a:t>Xác </a:t>
            </a:r>
            <a:r>
              <a:rPr lang="en-US" b="0" spc="-5">
                <a:latin typeface="Verdana"/>
                <a:cs typeface="Verdana"/>
              </a:rPr>
              <a:t>định </a:t>
            </a:r>
            <a:r>
              <a:rPr lang="en-US" b="0">
                <a:latin typeface="Verdana"/>
                <a:cs typeface="Verdana"/>
              </a:rPr>
              <a:t>các ví</a:t>
            </a:r>
            <a:r>
              <a:rPr lang="en-US" b="0" spc="-95">
                <a:latin typeface="Verdana"/>
                <a:cs typeface="Verdana"/>
              </a:rPr>
              <a:t> </a:t>
            </a:r>
            <a:r>
              <a:rPr lang="en-US" b="0" spc="-10">
                <a:latin typeface="Verdana"/>
                <a:cs typeface="Verdana"/>
              </a:rPr>
              <a:t>dụ</a:t>
            </a:r>
            <a:endParaRPr lang="en-US" b="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81</a:t>
            </a:fld>
            <a:endParaRPr spc="-40" dirty="0"/>
          </a:p>
        </p:txBody>
      </p:sp>
      <p:grpSp>
        <p:nvGrpSpPr>
          <p:cNvPr id="3" name="object 3"/>
          <p:cNvGrpSpPr/>
          <p:nvPr/>
        </p:nvGrpSpPr>
        <p:grpSpPr>
          <a:xfrm>
            <a:off x="457200" y="1436369"/>
            <a:ext cx="9144000" cy="1958339"/>
            <a:chOff x="457200" y="1436369"/>
            <a:chExt cx="9144000" cy="1958339"/>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979169"/>
            </a:xfrm>
            <a:custGeom>
              <a:avLst/>
              <a:gdLst/>
              <a:ahLst/>
              <a:cxnLst/>
              <a:rect l="l" t="t" r="r" b="b"/>
              <a:pathLst>
                <a:path w="9144000" h="979170">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grpSp>
      <p:sp>
        <p:nvSpPr>
          <p:cNvPr id="7" name="object 7"/>
          <p:cNvSpPr txBox="1"/>
          <p:nvPr/>
        </p:nvSpPr>
        <p:spPr>
          <a:xfrm>
            <a:off x="993139" y="1777238"/>
            <a:ext cx="7966075" cy="2495550"/>
          </a:xfrm>
          <a:prstGeom prst="rect">
            <a:avLst/>
          </a:prstGeom>
        </p:spPr>
        <p:txBody>
          <a:bodyPr vert="horz" wrap="square" lIns="0" tIns="12700" rIns="0" bIns="0" rtlCol="0">
            <a:spAutoFit/>
          </a:bodyPr>
          <a:lstStyle/>
          <a:p>
            <a:pPr marL="298450" marR="5080" indent="-285750">
              <a:lnSpc>
                <a:spcPct val="100000"/>
              </a:lnSpc>
              <a:spcBef>
                <a:spcPts val="100"/>
              </a:spcBef>
              <a:buClr>
                <a:srgbClr val="CC9A00"/>
              </a:buClr>
              <a:buSzPct val="64583"/>
              <a:buFont typeface="Wingdings"/>
              <a:buChar char=""/>
              <a:tabLst>
                <a:tab pos="297815" algn="l"/>
                <a:tab pos="298450" algn="l"/>
              </a:tabLst>
            </a:pPr>
            <a:r>
              <a:rPr sz="2400" dirty="0">
                <a:latin typeface="Arial"/>
                <a:cs typeface="Arial"/>
              </a:rPr>
              <a:t>Để </a:t>
            </a:r>
            <a:r>
              <a:rPr sz="2400" spc="-5" dirty="0">
                <a:latin typeface="Arial"/>
                <a:cs typeface="Arial"/>
              </a:rPr>
              <a:t>kiểm tra các mâu thuẫn có thể có trong </a:t>
            </a:r>
            <a:r>
              <a:rPr sz="2400" spc="-10" dirty="0">
                <a:latin typeface="Arial"/>
                <a:cs typeface="Arial"/>
              </a:rPr>
              <a:t>một </a:t>
            </a:r>
            <a:r>
              <a:rPr sz="2400" spc="-5" dirty="0">
                <a:latin typeface="Arial"/>
                <a:cs typeface="Arial"/>
              </a:rPr>
              <a:t>ontology,  (hoặc </a:t>
            </a:r>
            <a:r>
              <a:rPr sz="2400" dirty="0">
                <a:latin typeface="Arial"/>
                <a:cs typeface="Arial"/>
              </a:rPr>
              <a:t>có </a:t>
            </a:r>
            <a:r>
              <a:rPr sz="2400" spc="-5" dirty="0">
                <a:latin typeface="Arial"/>
                <a:cs typeface="Arial"/>
              </a:rPr>
              <a:t>trong một ontology đi kèm với các ví</a:t>
            </a:r>
            <a:r>
              <a:rPr sz="2400" spc="40" dirty="0">
                <a:latin typeface="Arial"/>
                <a:cs typeface="Arial"/>
              </a:rPr>
              <a:t> </a:t>
            </a:r>
            <a:r>
              <a:rPr sz="2400" spc="-5" dirty="0">
                <a:latin typeface="Arial"/>
                <a:cs typeface="Arial"/>
              </a:rPr>
              <a:t>dụ)</a:t>
            </a:r>
            <a:endParaRPr sz="2400">
              <a:latin typeface="Arial"/>
              <a:cs typeface="Arial"/>
            </a:endParaRPr>
          </a:p>
          <a:p>
            <a:pPr marL="298450" indent="-285750">
              <a:lnSpc>
                <a:spcPct val="100000"/>
              </a:lnSpc>
              <a:spcBef>
                <a:spcPts val="2400"/>
              </a:spcBef>
              <a:buClr>
                <a:srgbClr val="CC9A00"/>
              </a:buClr>
              <a:buSzPct val="64583"/>
              <a:buFont typeface="Wingdings"/>
              <a:buChar char=""/>
              <a:tabLst>
                <a:tab pos="297815" algn="l"/>
                <a:tab pos="298450" algn="l"/>
              </a:tabLst>
            </a:pPr>
            <a:r>
              <a:rPr sz="2400" spc="-5" dirty="0">
                <a:latin typeface="Arial"/>
                <a:cs typeface="Arial"/>
              </a:rPr>
              <a:t>Các ví </a:t>
            </a:r>
            <a:r>
              <a:rPr sz="2400" dirty="0">
                <a:latin typeface="Arial"/>
                <a:cs typeface="Arial"/>
              </a:rPr>
              <a:t>dụ </a:t>
            </a:r>
            <a:r>
              <a:rPr sz="2400" spc="-5" dirty="0">
                <a:latin typeface="Arial"/>
                <a:cs typeface="Arial"/>
              </a:rPr>
              <a:t>của các mâu thuẫn</a:t>
            </a:r>
            <a:endParaRPr sz="2400">
              <a:latin typeface="Arial"/>
              <a:cs typeface="Arial"/>
            </a:endParaRPr>
          </a:p>
          <a:p>
            <a:pPr marL="624840" lvl="1" indent="-286385">
              <a:lnSpc>
                <a:spcPct val="100000"/>
              </a:lnSpc>
              <a:spcBef>
                <a:spcPts val="610"/>
              </a:spcBef>
              <a:buClr>
                <a:srgbClr val="3B822F"/>
              </a:buClr>
              <a:buSzPct val="60000"/>
              <a:buFont typeface="Wingdings"/>
              <a:buChar char=""/>
              <a:tabLst>
                <a:tab pos="624840" algn="l"/>
                <a:tab pos="625475" algn="l"/>
              </a:tabLst>
            </a:pPr>
            <a:r>
              <a:rPr sz="2000" spc="-10" dirty="0">
                <a:latin typeface="Arial"/>
                <a:cs typeface="Arial"/>
              </a:rPr>
              <a:t>Không </a:t>
            </a:r>
            <a:r>
              <a:rPr sz="2000" spc="-5" dirty="0">
                <a:latin typeface="Arial"/>
                <a:cs typeface="Arial"/>
              </a:rPr>
              <a:t>tương thích về miền, về giá trị, về các đặc tính bắc cầu,</a:t>
            </a:r>
            <a:endParaRPr sz="2000">
              <a:latin typeface="Arial"/>
              <a:cs typeface="Arial"/>
            </a:endParaRPr>
          </a:p>
          <a:p>
            <a:pPr marL="624840">
              <a:lnSpc>
                <a:spcPct val="100000"/>
              </a:lnSpc>
            </a:pPr>
            <a:r>
              <a:rPr sz="2000" spc="-5" dirty="0">
                <a:latin typeface="Arial"/>
                <a:cs typeface="Arial"/>
              </a:rPr>
              <a:t>đối xứng,</a:t>
            </a:r>
            <a:r>
              <a:rPr sz="2000" spc="-15" dirty="0">
                <a:latin typeface="Arial"/>
                <a:cs typeface="Arial"/>
              </a:rPr>
              <a:t> </a:t>
            </a:r>
            <a:r>
              <a:rPr sz="2000" spc="-5" dirty="0">
                <a:latin typeface="Arial"/>
                <a:cs typeface="Arial"/>
              </a:rPr>
              <a:t>đảo,...</a:t>
            </a:r>
            <a:endParaRPr sz="2000">
              <a:latin typeface="Arial"/>
              <a:cs typeface="Arial"/>
            </a:endParaRPr>
          </a:p>
          <a:p>
            <a:pPr marL="624840" lvl="1" indent="-286385">
              <a:lnSpc>
                <a:spcPct val="100000"/>
              </a:lnSpc>
              <a:spcBef>
                <a:spcPts val="600"/>
              </a:spcBef>
              <a:buClr>
                <a:srgbClr val="3B822F"/>
              </a:buClr>
              <a:buSzPct val="60000"/>
              <a:buFont typeface="Wingdings"/>
              <a:buChar char=""/>
              <a:tabLst>
                <a:tab pos="624840" algn="l"/>
                <a:tab pos="625475" algn="l"/>
              </a:tabLst>
            </a:pPr>
            <a:r>
              <a:rPr sz="2000" spc="-10" dirty="0">
                <a:latin typeface="Arial"/>
                <a:cs typeface="Arial"/>
              </a:rPr>
              <a:t>Không </a:t>
            </a:r>
            <a:r>
              <a:rPr sz="2000" spc="-5" dirty="0">
                <a:latin typeface="Arial"/>
                <a:cs typeface="Arial"/>
              </a:rPr>
              <a:t>tương thích với ràng buộc về số chiều của một thuộc</a:t>
            </a:r>
            <a:r>
              <a:rPr sz="2000" dirty="0">
                <a:latin typeface="Arial"/>
                <a:cs typeface="Arial"/>
              </a:rPr>
              <a:t> </a:t>
            </a:r>
            <a:r>
              <a:rPr sz="2000" spc="-5" dirty="0">
                <a:latin typeface="Arial"/>
                <a:cs typeface="Arial"/>
              </a:rPr>
              <a:t>tính</a:t>
            </a:r>
            <a:endParaRPr sz="2000">
              <a:latin typeface="Arial"/>
              <a:cs typeface="Arial"/>
            </a:endParaRPr>
          </a:p>
        </p:txBody>
      </p:sp>
      <p:sp>
        <p:nvSpPr>
          <p:cNvPr id="8" name="object 8"/>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12" name="Title 11">
            <a:extLst>
              <a:ext uri="{FF2B5EF4-FFF2-40B4-BE49-F238E27FC236}">
                <a16:creationId xmlns:a16="http://schemas.microsoft.com/office/drawing/2014/main" id="{BA2BB0F0-B401-4EF8-A186-94B0B4D63625}"/>
              </a:ext>
            </a:extLst>
          </p:cNvPr>
          <p:cNvSpPr>
            <a:spLocks noGrp="1"/>
          </p:cNvSpPr>
          <p:nvPr>
            <p:ph type="title"/>
          </p:nvPr>
        </p:nvSpPr>
        <p:spPr/>
        <p:txBody>
          <a:bodyPr/>
          <a:lstStyle/>
          <a:p>
            <a:r>
              <a:rPr lang="vi-VN" b="0" spc="-5">
                <a:latin typeface="Verdana"/>
                <a:cs typeface="Verdana"/>
              </a:rPr>
              <a:t>Kiểm tra </a:t>
            </a:r>
            <a:r>
              <a:rPr lang="vi-VN" b="0">
                <a:latin typeface="Verdana"/>
                <a:cs typeface="Verdana"/>
              </a:rPr>
              <a:t>các </a:t>
            </a:r>
            <a:r>
              <a:rPr lang="vi-VN" b="0" spc="-5">
                <a:latin typeface="Verdana"/>
                <a:cs typeface="Verdana"/>
              </a:rPr>
              <a:t>bất</a:t>
            </a:r>
            <a:r>
              <a:rPr lang="vi-VN" b="0" spc="-70">
                <a:latin typeface="Verdana"/>
                <a:cs typeface="Verdana"/>
              </a:rPr>
              <a:t> </a:t>
            </a:r>
            <a:r>
              <a:rPr lang="vi-VN" b="0" spc="-5">
                <a:latin typeface="Verdana"/>
                <a:cs typeface="Verdana"/>
              </a:rPr>
              <a:t>thường</a:t>
            </a:r>
            <a:endParaRPr lang="en-US" b="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82</a:t>
            </a:fld>
            <a:endParaRPr spc="-40" dirty="0"/>
          </a:p>
        </p:txBody>
      </p:sp>
      <p:grpSp>
        <p:nvGrpSpPr>
          <p:cNvPr id="3" name="object 3"/>
          <p:cNvGrpSpPr/>
          <p:nvPr/>
        </p:nvGrpSpPr>
        <p:grpSpPr>
          <a:xfrm>
            <a:off x="457200" y="1436369"/>
            <a:ext cx="9144000" cy="4895850"/>
            <a:chOff x="457200" y="1436369"/>
            <a:chExt cx="9144000" cy="4895850"/>
          </a:xfrm>
        </p:grpSpPr>
        <p:sp>
          <p:nvSpPr>
            <p:cNvPr id="4" name="object 4"/>
            <p:cNvSpPr/>
            <p:nvPr/>
          </p:nvSpPr>
          <p:spPr>
            <a:xfrm>
              <a:off x="457200" y="1436369"/>
              <a:ext cx="9144000" cy="979169"/>
            </a:xfrm>
            <a:custGeom>
              <a:avLst/>
              <a:gdLst/>
              <a:ahLst/>
              <a:cxnLst/>
              <a:rect l="l" t="t" r="r" b="b"/>
              <a:pathLst>
                <a:path w="9144000" h="979169">
                  <a:moveTo>
                    <a:pt x="9144000" y="979169"/>
                  </a:moveTo>
                  <a:lnTo>
                    <a:pt x="9144000" y="0"/>
                  </a:lnTo>
                  <a:lnTo>
                    <a:pt x="0" y="0"/>
                  </a:lnTo>
                  <a:lnTo>
                    <a:pt x="0" y="979170"/>
                  </a:lnTo>
                  <a:lnTo>
                    <a:pt x="9144000" y="979169"/>
                  </a:lnTo>
                  <a:close/>
                </a:path>
              </a:pathLst>
            </a:custGeom>
            <a:solidFill>
              <a:srgbClr val="FFFFFF"/>
            </a:solidFill>
          </p:spPr>
          <p:txBody>
            <a:bodyPr wrap="square" lIns="0" tIns="0" rIns="0" bIns="0" rtlCol="0"/>
            <a:lstStyle/>
            <a:p>
              <a:endParaRPr/>
            </a:p>
          </p:txBody>
        </p:sp>
        <p:sp>
          <p:nvSpPr>
            <p:cNvPr id="5" name="object 5"/>
            <p:cNvSpPr/>
            <p:nvPr/>
          </p:nvSpPr>
          <p:spPr>
            <a:xfrm>
              <a:off x="829056" y="1436369"/>
              <a:ext cx="8249284" cy="97790"/>
            </a:xfrm>
            <a:custGeom>
              <a:avLst/>
              <a:gdLst/>
              <a:ahLst/>
              <a:cxnLst/>
              <a:rect l="l" t="t" r="r" b="b"/>
              <a:pathLst>
                <a:path w="8249284" h="97790">
                  <a:moveTo>
                    <a:pt x="8248904" y="0"/>
                  </a:moveTo>
                  <a:lnTo>
                    <a:pt x="8238744" y="0"/>
                  </a:lnTo>
                  <a:lnTo>
                    <a:pt x="8229600" y="0"/>
                  </a:lnTo>
                  <a:lnTo>
                    <a:pt x="8229600" y="78486"/>
                  </a:lnTo>
                  <a:lnTo>
                    <a:pt x="19050" y="78486"/>
                  </a:lnTo>
                  <a:lnTo>
                    <a:pt x="19050" y="0"/>
                  </a:lnTo>
                  <a:lnTo>
                    <a:pt x="0" y="0"/>
                  </a:lnTo>
                  <a:lnTo>
                    <a:pt x="0" y="87630"/>
                  </a:lnTo>
                  <a:lnTo>
                    <a:pt x="9144" y="87630"/>
                  </a:lnTo>
                  <a:lnTo>
                    <a:pt x="9144" y="97536"/>
                  </a:lnTo>
                  <a:lnTo>
                    <a:pt x="8229600" y="97536"/>
                  </a:lnTo>
                  <a:lnTo>
                    <a:pt x="8229854" y="97536"/>
                  </a:lnTo>
                  <a:lnTo>
                    <a:pt x="8238744" y="97536"/>
                  </a:lnTo>
                  <a:lnTo>
                    <a:pt x="8248904" y="97536"/>
                  </a:lnTo>
                  <a:lnTo>
                    <a:pt x="8248904" y="0"/>
                  </a:lnTo>
                  <a:close/>
                </a:path>
              </a:pathLst>
            </a:custGeom>
            <a:solidFill>
              <a:srgbClr val="CC9900"/>
            </a:solidFill>
          </p:spPr>
          <p:txBody>
            <a:bodyPr wrap="square" lIns="0" tIns="0" rIns="0" bIns="0" rtlCol="0"/>
            <a:lstStyle/>
            <a:p>
              <a:endParaRPr/>
            </a:p>
          </p:txBody>
        </p:sp>
        <p:sp>
          <p:nvSpPr>
            <p:cNvPr id="6" name="object 6"/>
            <p:cNvSpPr/>
            <p:nvPr/>
          </p:nvSpPr>
          <p:spPr>
            <a:xfrm>
              <a:off x="457200" y="2415539"/>
              <a:ext cx="9144000" cy="3916679"/>
            </a:xfrm>
            <a:custGeom>
              <a:avLst/>
              <a:gdLst/>
              <a:ahLst/>
              <a:cxnLst/>
              <a:rect l="l" t="t" r="r" b="b"/>
              <a:pathLst>
                <a:path w="9144000" h="3916679">
                  <a:moveTo>
                    <a:pt x="9144000" y="0"/>
                  </a:moveTo>
                  <a:lnTo>
                    <a:pt x="0" y="0"/>
                  </a:lnTo>
                  <a:lnTo>
                    <a:pt x="0" y="979170"/>
                  </a:lnTo>
                  <a:lnTo>
                    <a:pt x="0" y="1958340"/>
                  </a:lnTo>
                  <a:lnTo>
                    <a:pt x="0" y="2937510"/>
                  </a:lnTo>
                  <a:lnTo>
                    <a:pt x="0" y="3916680"/>
                  </a:lnTo>
                  <a:lnTo>
                    <a:pt x="9144000" y="3916680"/>
                  </a:lnTo>
                  <a:lnTo>
                    <a:pt x="9144000" y="2937510"/>
                  </a:lnTo>
                  <a:lnTo>
                    <a:pt x="9144000" y="1958340"/>
                  </a:lnTo>
                  <a:lnTo>
                    <a:pt x="9144000" y="979170"/>
                  </a:lnTo>
                  <a:lnTo>
                    <a:pt x="9144000" y="0"/>
                  </a:lnTo>
                  <a:close/>
                </a:path>
              </a:pathLst>
            </a:custGeom>
            <a:solidFill>
              <a:srgbClr val="FFFFFF"/>
            </a:solidFill>
          </p:spPr>
          <p:txBody>
            <a:bodyPr wrap="square" lIns="0" tIns="0" rIns="0" bIns="0" rtlCol="0"/>
            <a:lstStyle/>
            <a:p>
              <a:endParaRPr/>
            </a:p>
          </p:txBody>
        </p:sp>
      </p:grpSp>
      <p:sp>
        <p:nvSpPr>
          <p:cNvPr id="7" name="object 7"/>
          <p:cNvSpPr txBox="1"/>
          <p:nvPr/>
        </p:nvSpPr>
        <p:spPr>
          <a:xfrm>
            <a:off x="916939" y="1702181"/>
            <a:ext cx="8470900" cy="4717958"/>
          </a:xfrm>
          <a:prstGeom prst="rect">
            <a:avLst/>
          </a:prstGeom>
        </p:spPr>
        <p:txBody>
          <a:bodyPr vert="horz" wrap="square" lIns="0" tIns="87630" rIns="0" bIns="0" rtlCol="0">
            <a:spAutoFit/>
          </a:bodyPr>
          <a:lstStyle/>
          <a:p>
            <a:pPr marL="431800" indent="-342900">
              <a:lnSpc>
                <a:spcPct val="100000"/>
              </a:lnSpc>
              <a:spcBef>
                <a:spcPts val="690"/>
              </a:spcBef>
              <a:buClr>
                <a:srgbClr val="CC9A00"/>
              </a:buClr>
              <a:buSzPct val="64583"/>
              <a:buFont typeface="Wingdings"/>
              <a:buChar char=""/>
              <a:tabLst>
                <a:tab pos="431165" algn="l"/>
                <a:tab pos="431800" algn="l"/>
                <a:tab pos="1242695" algn="l"/>
              </a:tabLst>
            </a:pPr>
            <a:r>
              <a:rPr sz="2400" spc="-5" dirty="0">
                <a:latin typeface="Arial"/>
                <a:cs typeface="Arial"/>
              </a:rPr>
              <a:t>CYC	(dùng chung, tổng</a:t>
            </a:r>
            <a:r>
              <a:rPr sz="2400" spc="30" dirty="0">
                <a:latin typeface="Arial"/>
                <a:cs typeface="Arial"/>
              </a:rPr>
              <a:t> </a:t>
            </a:r>
            <a:r>
              <a:rPr sz="2400" spc="-5" dirty="0">
                <a:latin typeface="Arial"/>
                <a:cs typeface="Arial"/>
              </a:rPr>
              <a:t>quát)</a:t>
            </a:r>
            <a:endParaRPr sz="2400">
              <a:latin typeface="Arial"/>
              <a:cs typeface="Arial"/>
            </a:endParaRPr>
          </a:p>
          <a:p>
            <a:pPr marL="758190" lvl="1" indent="-325755">
              <a:lnSpc>
                <a:spcPct val="100000"/>
              </a:lnSpc>
              <a:spcBef>
                <a:spcPts val="490"/>
              </a:spcBef>
              <a:buClr>
                <a:srgbClr val="3B822F"/>
              </a:buClr>
              <a:buSzPct val="60000"/>
              <a:buFont typeface="Wingdings"/>
              <a:buChar char=""/>
              <a:tabLst>
                <a:tab pos="758190" algn="l"/>
                <a:tab pos="758825" algn="l"/>
              </a:tabLst>
            </a:pPr>
            <a:r>
              <a:rPr sz="2000" dirty="0">
                <a:latin typeface="Arial"/>
                <a:cs typeface="Arial"/>
              </a:rPr>
              <a:t>10</a:t>
            </a:r>
            <a:r>
              <a:rPr sz="1950" baseline="25641" dirty="0">
                <a:latin typeface="Arial"/>
                <a:cs typeface="Arial"/>
              </a:rPr>
              <a:t>5 </a:t>
            </a:r>
            <a:r>
              <a:rPr sz="2000" spc="-5" dirty="0">
                <a:latin typeface="Arial"/>
                <a:cs typeface="Arial"/>
              </a:rPr>
              <a:t>kiểu khái niệm, </a:t>
            </a:r>
            <a:r>
              <a:rPr sz="2000" dirty="0">
                <a:latin typeface="Arial"/>
                <a:cs typeface="Arial"/>
              </a:rPr>
              <a:t>10</a:t>
            </a:r>
            <a:r>
              <a:rPr sz="1950" baseline="25641" dirty="0">
                <a:latin typeface="Arial"/>
                <a:cs typeface="Arial"/>
              </a:rPr>
              <a:t>6 </a:t>
            </a:r>
            <a:r>
              <a:rPr sz="2000" spc="-5" dirty="0">
                <a:latin typeface="Arial"/>
                <a:cs typeface="Arial"/>
              </a:rPr>
              <a:t>tiên</a:t>
            </a:r>
            <a:r>
              <a:rPr sz="2000" spc="-345" dirty="0">
                <a:latin typeface="Arial"/>
                <a:cs typeface="Arial"/>
              </a:rPr>
              <a:t> </a:t>
            </a:r>
            <a:r>
              <a:rPr sz="2000" spc="-10" dirty="0">
                <a:latin typeface="Arial"/>
                <a:cs typeface="Arial"/>
              </a:rPr>
              <a:t>đề</a:t>
            </a:r>
            <a:endParaRPr sz="2000">
              <a:latin typeface="Arial"/>
              <a:cs typeface="Arial"/>
            </a:endParaRPr>
          </a:p>
          <a:p>
            <a:pPr marL="431800" indent="-342900">
              <a:lnSpc>
                <a:spcPct val="100000"/>
              </a:lnSpc>
              <a:spcBef>
                <a:spcPts val="1789"/>
              </a:spcBef>
              <a:buClr>
                <a:srgbClr val="CC9A00"/>
              </a:buClr>
              <a:buSzPct val="64583"/>
              <a:buFont typeface="Wingdings"/>
              <a:buChar char=""/>
              <a:tabLst>
                <a:tab pos="431165" algn="l"/>
                <a:tab pos="431800" algn="l"/>
                <a:tab pos="1852930" algn="l"/>
              </a:tabLst>
            </a:pPr>
            <a:r>
              <a:rPr sz="2400" dirty="0">
                <a:latin typeface="Arial"/>
                <a:cs typeface="Arial"/>
              </a:rPr>
              <a:t>SENSUS	</a:t>
            </a:r>
            <a:r>
              <a:rPr sz="2400" spc="-5" dirty="0">
                <a:latin typeface="Arial"/>
                <a:cs typeface="Arial"/>
              </a:rPr>
              <a:t>(mở rộng của WordNet, dùng cho </a:t>
            </a:r>
            <a:r>
              <a:rPr sz="2400" dirty="0">
                <a:latin typeface="Arial"/>
                <a:cs typeface="Arial"/>
              </a:rPr>
              <a:t>xử lý </a:t>
            </a:r>
            <a:r>
              <a:rPr sz="2400" spc="-5" dirty="0">
                <a:latin typeface="Arial"/>
                <a:cs typeface="Arial"/>
              </a:rPr>
              <a:t>văn</a:t>
            </a:r>
            <a:r>
              <a:rPr sz="2400" spc="5" dirty="0">
                <a:latin typeface="Arial"/>
                <a:cs typeface="Arial"/>
              </a:rPr>
              <a:t> </a:t>
            </a:r>
            <a:r>
              <a:rPr sz="2400" spc="-5" dirty="0">
                <a:latin typeface="Arial"/>
                <a:cs typeface="Arial"/>
              </a:rPr>
              <a:t>bản)</a:t>
            </a:r>
            <a:endParaRPr sz="2400">
              <a:latin typeface="Arial"/>
              <a:cs typeface="Arial"/>
            </a:endParaRPr>
          </a:p>
          <a:p>
            <a:pPr marL="758190" lvl="1" indent="-325755">
              <a:lnSpc>
                <a:spcPct val="100000"/>
              </a:lnSpc>
              <a:spcBef>
                <a:spcPts val="490"/>
              </a:spcBef>
              <a:buClr>
                <a:srgbClr val="3B822F"/>
              </a:buClr>
              <a:buSzPct val="60000"/>
              <a:buFont typeface="Wingdings"/>
              <a:buChar char=""/>
              <a:tabLst>
                <a:tab pos="758190" algn="l"/>
                <a:tab pos="758825" algn="l"/>
              </a:tabLst>
            </a:pPr>
            <a:r>
              <a:rPr sz="2000" spc="-5" dirty="0">
                <a:latin typeface="Arial"/>
                <a:cs typeface="Arial"/>
              </a:rPr>
              <a:t>70.000 khái</a:t>
            </a:r>
            <a:r>
              <a:rPr sz="2000" spc="-10" dirty="0">
                <a:latin typeface="Arial"/>
                <a:cs typeface="Arial"/>
              </a:rPr>
              <a:t> </a:t>
            </a:r>
            <a:r>
              <a:rPr sz="2000" spc="-5" dirty="0">
                <a:latin typeface="Arial"/>
                <a:cs typeface="Arial"/>
              </a:rPr>
              <a:t>niệm</a:t>
            </a:r>
            <a:endParaRPr sz="2000">
              <a:latin typeface="Arial"/>
              <a:cs typeface="Arial"/>
            </a:endParaRPr>
          </a:p>
          <a:p>
            <a:pPr marL="431800" indent="-342900">
              <a:lnSpc>
                <a:spcPct val="100000"/>
              </a:lnSpc>
              <a:spcBef>
                <a:spcPts val="1789"/>
              </a:spcBef>
              <a:buClr>
                <a:srgbClr val="CC9A00"/>
              </a:buClr>
              <a:buSzPct val="64583"/>
              <a:buFont typeface="Wingdings"/>
              <a:buChar char=""/>
              <a:tabLst>
                <a:tab pos="431165" algn="l"/>
                <a:tab pos="431800" algn="l"/>
                <a:tab pos="1512570" algn="l"/>
              </a:tabLst>
            </a:pPr>
            <a:r>
              <a:rPr sz="2400" spc="-5" dirty="0">
                <a:latin typeface="Arial"/>
                <a:cs typeface="Arial"/>
              </a:rPr>
              <a:t>SUMO	(tổng</a:t>
            </a:r>
            <a:r>
              <a:rPr sz="2400" dirty="0">
                <a:latin typeface="Arial"/>
                <a:cs typeface="Arial"/>
              </a:rPr>
              <a:t> </a:t>
            </a:r>
            <a:r>
              <a:rPr sz="2400" spc="-5" dirty="0">
                <a:latin typeface="Arial"/>
                <a:cs typeface="Arial"/>
              </a:rPr>
              <a:t>quát)</a:t>
            </a:r>
            <a:endParaRPr sz="2400">
              <a:latin typeface="Arial"/>
              <a:cs typeface="Arial"/>
            </a:endParaRPr>
          </a:p>
          <a:p>
            <a:pPr marL="758190" lvl="1" indent="-325755">
              <a:lnSpc>
                <a:spcPct val="100000"/>
              </a:lnSpc>
              <a:spcBef>
                <a:spcPts val="490"/>
              </a:spcBef>
              <a:buClr>
                <a:srgbClr val="3B822F"/>
              </a:buClr>
              <a:buSzPct val="60000"/>
              <a:buFont typeface="Wingdings"/>
              <a:buChar char=""/>
              <a:tabLst>
                <a:tab pos="758190" algn="l"/>
                <a:tab pos="758825" algn="l"/>
              </a:tabLst>
            </a:pPr>
            <a:r>
              <a:rPr sz="2000" spc="-5" dirty="0">
                <a:latin typeface="Arial"/>
                <a:cs typeface="Arial"/>
              </a:rPr>
              <a:t>1000 khái niệm, 4200 đánh</a:t>
            </a:r>
            <a:r>
              <a:rPr sz="2000" dirty="0">
                <a:latin typeface="Arial"/>
                <a:cs typeface="Arial"/>
              </a:rPr>
              <a:t> </a:t>
            </a:r>
            <a:r>
              <a:rPr sz="2000" spc="-10" dirty="0">
                <a:latin typeface="Arial"/>
                <a:cs typeface="Arial"/>
              </a:rPr>
              <a:t>giá</a:t>
            </a:r>
            <a:endParaRPr sz="2000">
              <a:latin typeface="Arial"/>
              <a:cs typeface="Arial"/>
            </a:endParaRPr>
          </a:p>
          <a:p>
            <a:pPr marL="431800" indent="-342900">
              <a:spcBef>
                <a:spcPts val="1789"/>
              </a:spcBef>
              <a:buClr>
                <a:srgbClr val="CC9A00"/>
              </a:buClr>
              <a:buSzPct val="64583"/>
              <a:buFont typeface="Wingdings"/>
              <a:buChar char=""/>
              <a:tabLst>
                <a:tab pos="431165" algn="l"/>
                <a:tab pos="431800" algn="l"/>
                <a:tab pos="1445895" algn="l"/>
              </a:tabLst>
            </a:pPr>
            <a:r>
              <a:rPr sz="2400" spc="-5" dirty="0">
                <a:latin typeface="Arial"/>
                <a:cs typeface="Arial"/>
              </a:rPr>
              <a:t>UMLS	(lĩnh </a:t>
            </a:r>
            <a:r>
              <a:rPr sz="2400" dirty="0">
                <a:latin typeface="Arial"/>
                <a:cs typeface="Arial"/>
              </a:rPr>
              <a:t>vực </a:t>
            </a:r>
            <a:r>
              <a:rPr sz="2400" spc="-5">
                <a:latin typeface="Arial"/>
                <a:cs typeface="Arial"/>
              </a:rPr>
              <a:t>y-sinh)</a:t>
            </a:r>
            <a:r>
              <a:rPr lang="en-US" sz="2400" spc="-5">
                <a:latin typeface="Arial"/>
                <a:cs typeface="Arial"/>
              </a:rPr>
              <a:t> </a:t>
            </a:r>
            <a:r>
              <a:rPr lang="en-US" sz="2400">
                <a:latin typeface="Arial"/>
                <a:cs typeface="Arial"/>
              </a:rPr>
              <a:t>Unified Medical Language System</a:t>
            </a:r>
            <a:endParaRPr sz="2400">
              <a:latin typeface="Arial"/>
              <a:cs typeface="Arial"/>
            </a:endParaRPr>
          </a:p>
          <a:p>
            <a:pPr marL="758190" lvl="1" indent="-325755">
              <a:lnSpc>
                <a:spcPct val="100000"/>
              </a:lnSpc>
              <a:spcBef>
                <a:spcPts val="490"/>
              </a:spcBef>
              <a:buClr>
                <a:srgbClr val="3B822F"/>
              </a:buClr>
              <a:buSzPct val="60000"/>
              <a:buFont typeface="Wingdings"/>
              <a:buChar char=""/>
              <a:tabLst>
                <a:tab pos="758190" algn="l"/>
                <a:tab pos="758825" algn="l"/>
              </a:tabLst>
            </a:pPr>
            <a:r>
              <a:rPr sz="2000" spc="-5" dirty="0">
                <a:latin typeface="Arial"/>
                <a:cs typeface="Arial"/>
              </a:rPr>
              <a:t>135 kiểu ngữ nghĩa, 54 quan hệ ngữ nghĩa, 975.354 khái</a:t>
            </a:r>
            <a:r>
              <a:rPr sz="2000" spc="-15" dirty="0">
                <a:latin typeface="Arial"/>
                <a:cs typeface="Arial"/>
              </a:rPr>
              <a:t> </a:t>
            </a:r>
            <a:r>
              <a:rPr sz="2000" spc="-5" dirty="0">
                <a:latin typeface="Arial"/>
                <a:cs typeface="Arial"/>
              </a:rPr>
              <a:t>niệm</a:t>
            </a:r>
            <a:endParaRPr sz="2000">
              <a:latin typeface="Arial"/>
              <a:cs typeface="Arial"/>
            </a:endParaRPr>
          </a:p>
          <a:p>
            <a:pPr marL="431800" indent="-342900">
              <a:lnSpc>
                <a:spcPct val="100000"/>
              </a:lnSpc>
              <a:spcBef>
                <a:spcPts val="1789"/>
              </a:spcBef>
              <a:buClr>
                <a:srgbClr val="CC9A00"/>
              </a:buClr>
              <a:buSzPct val="64583"/>
              <a:buFont typeface="Wingdings"/>
              <a:buChar char=""/>
              <a:tabLst>
                <a:tab pos="431165" algn="l"/>
                <a:tab pos="431800" algn="l"/>
                <a:tab pos="1802764" algn="l"/>
              </a:tabLst>
            </a:pPr>
            <a:r>
              <a:rPr sz="2400" spc="-5" dirty="0">
                <a:latin typeface="Arial"/>
                <a:cs typeface="Arial"/>
              </a:rPr>
              <a:t>WordNet	(từ vựng)</a:t>
            </a:r>
            <a:endParaRPr sz="2400">
              <a:latin typeface="Arial"/>
              <a:cs typeface="Arial"/>
            </a:endParaRPr>
          </a:p>
          <a:p>
            <a:pPr marL="758190" lvl="1" indent="-325755">
              <a:lnSpc>
                <a:spcPct val="100000"/>
              </a:lnSpc>
              <a:spcBef>
                <a:spcPts val="490"/>
              </a:spcBef>
              <a:buClr>
                <a:srgbClr val="3B822F"/>
              </a:buClr>
              <a:buSzPct val="60000"/>
              <a:buFont typeface="Wingdings"/>
              <a:buChar char=""/>
              <a:tabLst>
                <a:tab pos="758190" algn="l"/>
                <a:tab pos="758825" algn="l"/>
              </a:tabLst>
            </a:pPr>
            <a:r>
              <a:rPr sz="2000" spc="-10" dirty="0">
                <a:latin typeface="Arial"/>
                <a:cs typeface="Arial"/>
              </a:rPr>
              <a:t>152.059 </a:t>
            </a:r>
            <a:r>
              <a:rPr sz="2000" spc="-5" dirty="0">
                <a:latin typeface="Arial"/>
                <a:cs typeface="Arial"/>
              </a:rPr>
              <a:t>dạng từ, 115,424 cụm</a:t>
            </a:r>
            <a:r>
              <a:rPr sz="2000" spc="-15" dirty="0">
                <a:latin typeface="Arial"/>
                <a:cs typeface="Arial"/>
              </a:rPr>
              <a:t> </a:t>
            </a:r>
            <a:r>
              <a:rPr sz="2000" spc="-5" dirty="0">
                <a:latin typeface="Arial"/>
                <a:cs typeface="Arial"/>
              </a:rPr>
              <a:t>từ</a:t>
            </a:r>
            <a:endParaRPr sz="2000">
              <a:latin typeface="Arial"/>
              <a:cs typeface="Arial"/>
            </a:endParaRPr>
          </a:p>
        </p:txBody>
      </p:sp>
      <p:grpSp>
        <p:nvGrpSpPr>
          <p:cNvPr id="8" name="object 8"/>
          <p:cNvGrpSpPr/>
          <p:nvPr/>
        </p:nvGrpSpPr>
        <p:grpSpPr>
          <a:xfrm>
            <a:off x="457200" y="6332220"/>
            <a:ext cx="9144000" cy="982980"/>
            <a:chOff x="457200" y="6332220"/>
            <a:chExt cx="9144000" cy="982980"/>
          </a:xfrm>
        </p:grpSpPr>
        <p:sp>
          <p:nvSpPr>
            <p:cNvPr id="9" name="object 9"/>
            <p:cNvSpPr/>
            <p:nvPr/>
          </p:nvSpPr>
          <p:spPr>
            <a:xfrm>
              <a:off x="457200" y="6332220"/>
              <a:ext cx="9144000" cy="982980"/>
            </a:xfrm>
            <a:custGeom>
              <a:avLst/>
              <a:gdLst/>
              <a:ahLst/>
              <a:cxnLst/>
              <a:rect l="l" t="t" r="r" b="b"/>
              <a:pathLst>
                <a:path w="9144000" h="982979">
                  <a:moveTo>
                    <a:pt x="9144000" y="982980"/>
                  </a:moveTo>
                  <a:lnTo>
                    <a:pt x="9144000" y="0"/>
                  </a:lnTo>
                  <a:lnTo>
                    <a:pt x="0" y="0"/>
                  </a:lnTo>
                  <a:lnTo>
                    <a:pt x="0" y="982980"/>
                  </a:lnTo>
                  <a:lnTo>
                    <a:pt x="9144000" y="982980"/>
                  </a:lnTo>
                  <a:close/>
                </a:path>
              </a:pathLst>
            </a:custGeom>
            <a:solidFill>
              <a:srgbClr val="FFFFFF"/>
            </a:solidFill>
          </p:spPr>
          <p:txBody>
            <a:bodyPr wrap="square" lIns="0" tIns="0" rIns="0" bIns="0" rtlCol="0"/>
            <a:lstStyle/>
            <a:p>
              <a:endParaRPr/>
            </a:p>
          </p:txBody>
        </p:sp>
        <p:sp>
          <p:nvSpPr>
            <p:cNvPr id="10" name="object 10"/>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4" name="Title 13">
            <a:extLst>
              <a:ext uri="{FF2B5EF4-FFF2-40B4-BE49-F238E27FC236}">
                <a16:creationId xmlns:a16="http://schemas.microsoft.com/office/drawing/2014/main" id="{B6D8701B-D315-4371-88C1-427F4BCFC61F}"/>
              </a:ext>
            </a:extLst>
          </p:cNvPr>
          <p:cNvSpPr>
            <a:spLocks noGrp="1"/>
          </p:cNvSpPr>
          <p:nvPr>
            <p:ph type="title"/>
          </p:nvPr>
        </p:nvSpPr>
        <p:spPr/>
        <p:txBody>
          <a:bodyPr/>
          <a:lstStyle/>
          <a:p>
            <a:r>
              <a:rPr lang="en-US" b="0" spc="-5">
                <a:latin typeface="Verdana"/>
                <a:cs typeface="Verdana"/>
              </a:rPr>
              <a:t>Các </a:t>
            </a:r>
            <a:r>
              <a:rPr lang="en-US" b="0">
                <a:latin typeface="Verdana"/>
                <a:cs typeface="Verdana"/>
              </a:rPr>
              <a:t>ví </a:t>
            </a:r>
            <a:r>
              <a:rPr lang="en-US" b="0" spc="-5">
                <a:latin typeface="Verdana"/>
                <a:cs typeface="Verdana"/>
              </a:rPr>
              <a:t>dụ về</a:t>
            </a:r>
            <a:r>
              <a:rPr lang="en-US" b="0" spc="-55">
                <a:latin typeface="Verdana"/>
                <a:cs typeface="Verdana"/>
              </a:rPr>
              <a:t> </a:t>
            </a:r>
            <a:r>
              <a:rPr lang="en-US" b="0" spc="-5">
                <a:latin typeface="Verdana"/>
                <a:cs typeface="Verdana"/>
              </a:rPr>
              <a:t>ontology</a:t>
            </a:r>
            <a:endParaRPr lang="en-US" b="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10" name="object 10"/>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83</a:t>
            </a:fld>
            <a:endParaRPr spc="-40" dirty="0"/>
          </a:p>
        </p:txBody>
      </p:sp>
      <p:grpSp>
        <p:nvGrpSpPr>
          <p:cNvPr id="3" name="object 3"/>
          <p:cNvGrpSpPr/>
          <p:nvPr/>
        </p:nvGrpSpPr>
        <p:grpSpPr>
          <a:xfrm>
            <a:off x="1076705" y="2027907"/>
            <a:ext cx="7905750" cy="4258945"/>
            <a:chOff x="1076705" y="2027907"/>
            <a:chExt cx="7905750" cy="4258945"/>
          </a:xfrm>
        </p:grpSpPr>
        <p:sp>
          <p:nvSpPr>
            <p:cNvPr id="4" name="object 4"/>
            <p:cNvSpPr/>
            <p:nvPr/>
          </p:nvSpPr>
          <p:spPr>
            <a:xfrm>
              <a:off x="6220205" y="2027907"/>
              <a:ext cx="1476374" cy="387632"/>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076705" y="2415540"/>
              <a:ext cx="7905750" cy="3870960"/>
            </a:xfrm>
            <a:prstGeom prst="rect">
              <a:avLst/>
            </a:prstGeom>
            <a:blipFill>
              <a:blip r:embed="rId3" cstate="print"/>
              <a:stretch>
                <a:fillRect/>
              </a:stretch>
            </a:blipFill>
          </p:spPr>
          <p:txBody>
            <a:bodyPr wrap="square" lIns="0" tIns="0" rIns="0" bIns="0" rtlCol="0"/>
            <a:lstStyle/>
            <a:p>
              <a:endParaRPr/>
            </a:p>
          </p:txBody>
        </p:sp>
      </p:grpSp>
      <p:sp>
        <p:nvSpPr>
          <p:cNvPr id="6" name="object 6"/>
          <p:cNvSpPr txBox="1"/>
          <p:nvPr/>
        </p:nvSpPr>
        <p:spPr>
          <a:xfrm>
            <a:off x="993139" y="1777238"/>
            <a:ext cx="2580640" cy="391160"/>
          </a:xfrm>
          <a:prstGeom prst="rect">
            <a:avLst/>
          </a:prstGeom>
        </p:spPr>
        <p:txBody>
          <a:bodyPr vert="horz" wrap="square" lIns="0" tIns="12700" rIns="0" bIns="0" rtlCol="0">
            <a:spAutoFit/>
          </a:bodyPr>
          <a:lstStyle/>
          <a:p>
            <a:pPr marL="298450" indent="-285750">
              <a:lnSpc>
                <a:spcPct val="100000"/>
              </a:lnSpc>
              <a:spcBef>
                <a:spcPts val="100"/>
              </a:spcBef>
              <a:buClr>
                <a:srgbClr val="CC9A00"/>
              </a:buClr>
              <a:buSzPct val="64583"/>
              <a:buFont typeface="Wingdings"/>
              <a:buChar char=""/>
              <a:tabLst>
                <a:tab pos="297815" algn="l"/>
                <a:tab pos="298450" algn="l"/>
              </a:tabLst>
            </a:pPr>
            <a:r>
              <a:rPr sz="2400" dirty="0">
                <a:latin typeface="Arial"/>
                <a:cs typeface="Arial"/>
              </a:rPr>
              <a:t>For</a:t>
            </a:r>
            <a:r>
              <a:rPr sz="2400" spc="-90" dirty="0">
                <a:latin typeface="Arial"/>
                <a:cs typeface="Arial"/>
              </a:rPr>
              <a:t> </a:t>
            </a:r>
            <a:r>
              <a:rPr sz="2400" spc="-5" dirty="0">
                <a:latin typeface="Arial"/>
                <a:cs typeface="Arial"/>
              </a:rPr>
              <a:t>bio-medicine</a:t>
            </a:r>
            <a:endParaRPr sz="2400">
              <a:latin typeface="Arial"/>
              <a:cs typeface="Arial"/>
            </a:endParaRPr>
          </a:p>
        </p:txBody>
      </p:sp>
      <p:sp>
        <p:nvSpPr>
          <p:cNvPr id="7" name="object 7"/>
          <p:cNvSpPr/>
          <p:nvPr/>
        </p:nvSpPr>
        <p:spPr>
          <a:xfrm>
            <a:off x="914400" y="6696456"/>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sp>
        <p:nvSpPr>
          <p:cNvPr id="8" name="object 8"/>
          <p:cNvSpPr txBox="1"/>
          <p:nvPr/>
        </p:nvSpPr>
        <p:spPr>
          <a:xfrm>
            <a:off x="916939" y="6353047"/>
            <a:ext cx="1717675" cy="238760"/>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a:cs typeface="Arial"/>
              </a:rPr>
              <a:t>(</a:t>
            </a:r>
            <a:r>
              <a:rPr sz="1400" i="1" spc="-5" dirty="0">
                <a:latin typeface="Arial"/>
                <a:cs typeface="Arial"/>
              </a:rPr>
              <a:t>Figure by MIT</a:t>
            </a:r>
            <a:r>
              <a:rPr sz="1400" i="1" spc="-100" dirty="0">
                <a:latin typeface="Arial"/>
                <a:cs typeface="Arial"/>
              </a:rPr>
              <a:t> </a:t>
            </a:r>
            <a:r>
              <a:rPr sz="1400" i="1" spc="-5" dirty="0">
                <a:latin typeface="Arial"/>
                <a:cs typeface="Arial"/>
              </a:rPr>
              <a:t>OCW</a:t>
            </a:r>
            <a:r>
              <a:rPr sz="1400" spc="-5" dirty="0">
                <a:latin typeface="Arial"/>
                <a:cs typeface="Arial"/>
              </a:rPr>
              <a:t>)</a:t>
            </a:r>
            <a:endParaRPr sz="1400">
              <a:latin typeface="Arial"/>
              <a:cs typeface="Arial"/>
            </a:endParaRPr>
          </a:p>
        </p:txBody>
      </p:sp>
      <p:sp>
        <p:nvSpPr>
          <p:cNvPr id="12" name="Title 11">
            <a:extLst>
              <a:ext uri="{FF2B5EF4-FFF2-40B4-BE49-F238E27FC236}">
                <a16:creationId xmlns:a16="http://schemas.microsoft.com/office/drawing/2014/main" id="{A1E6CBDD-4F63-4825-91C9-53B76CE9FB7D}"/>
              </a:ext>
            </a:extLst>
          </p:cNvPr>
          <p:cNvSpPr>
            <a:spLocks noGrp="1"/>
          </p:cNvSpPr>
          <p:nvPr>
            <p:ph type="title"/>
          </p:nvPr>
        </p:nvSpPr>
        <p:spPr/>
        <p:txBody>
          <a:bodyPr/>
          <a:lstStyle/>
          <a:p>
            <a:r>
              <a:rPr lang="en-US" spc="-204"/>
              <a:t>UMLS</a:t>
            </a:r>
            <a:r>
              <a:rPr lang="en-US" spc="-20"/>
              <a:t> </a:t>
            </a:r>
            <a:r>
              <a:rPr lang="en-US" spc="-70"/>
              <a:t>ontology</a:t>
            </a:r>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ftr" sz="quarter" idx="11"/>
          </p:nvPr>
        </p:nvSpPr>
        <p:spPr>
          <a:prstGeom prst="rect">
            <a:avLst/>
          </a:prstGeom>
        </p:spPr>
        <p:txBody>
          <a:bodyPr vert="horz" wrap="square" lIns="0" tIns="13335" rIns="0" bIns="0" rtlCol="0">
            <a:spAutoFit/>
          </a:bodyPr>
          <a:lstStyle/>
          <a:p>
            <a:pPr marL="12700">
              <a:lnSpc>
                <a:spcPct val="100000"/>
              </a:lnSpc>
              <a:spcBef>
                <a:spcPts val="105"/>
              </a:spcBef>
            </a:pPr>
            <a:r>
              <a:rPr spc="-5" dirty="0"/>
              <a:t>Trí Tuệ </a:t>
            </a:r>
            <a:r>
              <a:rPr dirty="0"/>
              <a:t>Nhân</a:t>
            </a:r>
            <a:r>
              <a:rPr spc="-65" dirty="0"/>
              <a:t> </a:t>
            </a:r>
            <a:r>
              <a:rPr spc="-5" dirty="0"/>
              <a:t>Tạo</a:t>
            </a:r>
          </a:p>
        </p:txBody>
      </p:sp>
      <p:sp>
        <p:nvSpPr>
          <p:cNvPr id="8" name="object 8"/>
          <p:cNvSpPr txBox="1">
            <a:spLocks noGrp="1"/>
          </p:cNvSpPr>
          <p:nvPr>
            <p:ph type="sldNum" sz="quarter" idx="12"/>
          </p:nvPr>
        </p:nvSpPr>
        <p:spPr>
          <a:prstGeom prst="rect">
            <a:avLst/>
          </a:prstGeom>
        </p:spPr>
        <p:txBody>
          <a:bodyPr vert="horz" wrap="square" lIns="0" tIns="0" rIns="0" bIns="0" rtlCol="0">
            <a:spAutoFit/>
          </a:bodyPr>
          <a:lstStyle/>
          <a:p>
            <a:pPr marL="38100">
              <a:lnSpc>
                <a:spcPts val="1375"/>
              </a:lnSpc>
            </a:pPr>
            <a:fld id="{81D60167-4931-47E6-BA6A-407CBD079E47}" type="slidenum">
              <a:rPr spc="-40" dirty="0"/>
              <a:t>84</a:t>
            </a:fld>
            <a:endParaRPr spc="-40" dirty="0"/>
          </a:p>
        </p:txBody>
      </p:sp>
      <p:sp>
        <p:nvSpPr>
          <p:cNvPr id="3" name="object 3"/>
          <p:cNvSpPr txBox="1"/>
          <p:nvPr/>
        </p:nvSpPr>
        <p:spPr>
          <a:xfrm>
            <a:off x="993139" y="1625599"/>
            <a:ext cx="6306820" cy="361315"/>
          </a:xfrm>
          <a:prstGeom prst="rect">
            <a:avLst/>
          </a:prstGeom>
        </p:spPr>
        <p:txBody>
          <a:bodyPr vert="horz" wrap="square" lIns="0" tIns="12700" rIns="0" bIns="0" rtlCol="0">
            <a:spAutoFit/>
          </a:bodyPr>
          <a:lstStyle/>
          <a:p>
            <a:pPr marL="355600" indent="-342900">
              <a:lnSpc>
                <a:spcPct val="100000"/>
              </a:lnSpc>
              <a:spcBef>
                <a:spcPts val="100"/>
              </a:spcBef>
              <a:buClr>
                <a:srgbClr val="CC9A00"/>
              </a:buClr>
              <a:buSzPct val="63636"/>
              <a:buFont typeface="Wingdings"/>
              <a:buChar char=""/>
              <a:tabLst>
                <a:tab pos="354965" algn="l"/>
                <a:tab pos="355600" algn="l"/>
              </a:tabLst>
            </a:pPr>
            <a:r>
              <a:rPr sz="2200" dirty="0">
                <a:latin typeface="Arial"/>
                <a:cs typeface="Arial"/>
              </a:rPr>
              <a:t>Encode </a:t>
            </a:r>
            <a:r>
              <a:rPr sz="2200" spc="-5" dirty="0">
                <a:latin typeface="Arial"/>
                <a:cs typeface="Arial"/>
              </a:rPr>
              <a:t>all of human </a:t>
            </a:r>
            <a:r>
              <a:rPr sz="2200" dirty="0">
                <a:latin typeface="Arial"/>
                <a:cs typeface="Arial"/>
              </a:rPr>
              <a:t>common sense</a:t>
            </a:r>
            <a:r>
              <a:rPr sz="2200" spc="-45" dirty="0">
                <a:latin typeface="Arial"/>
                <a:cs typeface="Arial"/>
              </a:rPr>
              <a:t> </a:t>
            </a:r>
            <a:r>
              <a:rPr sz="2200" dirty="0">
                <a:latin typeface="Arial"/>
                <a:cs typeface="Arial"/>
              </a:rPr>
              <a:t>knowledge</a:t>
            </a:r>
            <a:endParaRPr sz="2200">
              <a:latin typeface="Arial"/>
              <a:cs typeface="Arial"/>
            </a:endParaRPr>
          </a:p>
        </p:txBody>
      </p:sp>
      <p:grpSp>
        <p:nvGrpSpPr>
          <p:cNvPr id="4" name="object 4"/>
          <p:cNvGrpSpPr/>
          <p:nvPr/>
        </p:nvGrpSpPr>
        <p:grpSpPr>
          <a:xfrm>
            <a:off x="914400" y="2057400"/>
            <a:ext cx="8229600" cy="4658360"/>
            <a:chOff x="914400" y="2057400"/>
            <a:chExt cx="8229600" cy="4658360"/>
          </a:xfrm>
        </p:grpSpPr>
        <p:sp>
          <p:nvSpPr>
            <p:cNvPr id="5" name="object 5"/>
            <p:cNvSpPr/>
            <p:nvPr/>
          </p:nvSpPr>
          <p:spPr>
            <a:xfrm>
              <a:off x="1524000" y="2057400"/>
              <a:ext cx="6686550" cy="4610100"/>
            </a:xfrm>
            <a:prstGeom prst="rect">
              <a:avLst/>
            </a:prstGeom>
            <a:blipFill>
              <a:blip r:embed="rId2" cstate="print"/>
              <a:stretch>
                <a:fillRect/>
              </a:stretch>
            </a:blipFill>
          </p:spPr>
          <p:txBody>
            <a:bodyPr wrap="square" lIns="0" tIns="0" rIns="0" bIns="0" rtlCol="0"/>
            <a:lstStyle/>
            <a:p>
              <a:endParaRPr/>
            </a:p>
          </p:txBody>
        </p:sp>
        <p:sp>
          <p:nvSpPr>
            <p:cNvPr id="6" name="object 6"/>
            <p:cNvSpPr/>
            <p:nvPr/>
          </p:nvSpPr>
          <p:spPr>
            <a:xfrm>
              <a:off x="914400" y="6696455"/>
              <a:ext cx="8229600" cy="19050"/>
            </a:xfrm>
            <a:custGeom>
              <a:avLst/>
              <a:gdLst/>
              <a:ahLst/>
              <a:cxnLst/>
              <a:rect l="l" t="t" r="r" b="b"/>
              <a:pathLst>
                <a:path w="8229600" h="19050">
                  <a:moveTo>
                    <a:pt x="8229600" y="19050"/>
                  </a:moveTo>
                  <a:lnTo>
                    <a:pt x="8229600" y="0"/>
                  </a:lnTo>
                  <a:lnTo>
                    <a:pt x="0" y="0"/>
                  </a:lnTo>
                  <a:lnTo>
                    <a:pt x="0" y="19050"/>
                  </a:lnTo>
                  <a:lnTo>
                    <a:pt x="8229600" y="19050"/>
                  </a:lnTo>
                  <a:close/>
                </a:path>
              </a:pathLst>
            </a:custGeom>
            <a:solidFill>
              <a:srgbClr val="CC9900"/>
            </a:solidFill>
          </p:spPr>
          <p:txBody>
            <a:bodyPr wrap="square" lIns="0" tIns="0" rIns="0" bIns="0" rtlCol="0"/>
            <a:lstStyle/>
            <a:p>
              <a:endParaRPr/>
            </a:p>
          </p:txBody>
        </p:sp>
      </p:grpSp>
      <p:sp>
        <p:nvSpPr>
          <p:cNvPr id="10" name="Title 9">
            <a:extLst>
              <a:ext uri="{FF2B5EF4-FFF2-40B4-BE49-F238E27FC236}">
                <a16:creationId xmlns:a16="http://schemas.microsoft.com/office/drawing/2014/main" id="{ABAFD8ED-04D0-40EA-828E-1E2A96D9A4A3}"/>
              </a:ext>
            </a:extLst>
          </p:cNvPr>
          <p:cNvSpPr>
            <a:spLocks noGrp="1"/>
          </p:cNvSpPr>
          <p:nvPr>
            <p:ph type="title"/>
          </p:nvPr>
        </p:nvSpPr>
        <p:spPr/>
        <p:txBody>
          <a:bodyPr/>
          <a:lstStyle/>
          <a:p>
            <a:r>
              <a:rPr lang="en-US" spc="-185"/>
              <a:t>CYC</a:t>
            </a:r>
            <a:r>
              <a:rPr lang="en-US" spc="-20"/>
              <a:t> </a:t>
            </a:r>
            <a:r>
              <a:rPr lang="en-US" spc="-75"/>
              <a:t>ontology</a:t>
            </a:r>
            <a:endParaRPr lang="en-US"/>
          </a:p>
        </p:txBody>
      </p:sp>
    </p:spTree>
  </p:cSld>
  <p:clrMapOvr>
    <a:masterClrMapping/>
  </p:clrMapOvr>
</p:sld>
</file>

<file path=ppt/theme/theme1.xml><?xml version="1.0" encoding="utf-8"?>
<a:theme xmlns:a="http://schemas.openxmlformats.org/drawingml/2006/main" name="BVP-Powerpoint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7A4D7F9D-CF2C-4E80-8360-F21AE36D35D4}" vid="{71563601-04E0-4A9A-AE8B-FC38A55497E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D444275E818BD4089527327482737A3" ma:contentTypeVersion="3" ma:contentTypeDescription="Create a new document." ma:contentTypeScope="" ma:versionID="3621d9875567ee96c38707b4b84c0c7f">
  <xsd:schema xmlns:xsd="http://www.w3.org/2001/XMLSchema" xmlns:xs="http://www.w3.org/2001/XMLSchema" xmlns:p="http://schemas.microsoft.com/office/2006/metadata/properties" xmlns:ns2="6dc41f47-bff2-41df-9641-f0b03d01a0b9" targetNamespace="http://schemas.microsoft.com/office/2006/metadata/properties" ma:root="true" ma:fieldsID="43e3e12f871a965d26f90b688dfad499" ns2:_="">
    <xsd:import namespace="6dc41f47-bff2-41df-9641-f0b03d01a0b9"/>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c41f47-bff2-41df-9641-f0b03d01a0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0AD2285-2EBE-4204-B348-1B4B19BD1837}"/>
</file>

<file path=customXml/itemProps2.xml><?xml version="1.0" encoding="utf-8"?>
<ds:datastoreItem xmlns:ds="http://schemas.openxmlformats.org/officeDocument/2006/customXml" ds:itemID="{60BCAE41-7A4E-4412-A7A2-82F13CB05972}"/>
</file>

<file path=customXml/itemProps3.xml><?xml version="1.0" encoding="utf-8"?>
<ds:datastoreItem xmlns:ds="http://schemas.openxmlformats.org/officeDocument/2006/customXml" ds:itemID="{294ED90A-2723-456B-B5B5-C79BD171E471}"/>
</file>

<file path=docProps/app.xml><?xml version="1.0" encoding="utf-8"?>
<Properties xmlns="http://schemas.openxmlformats.org/officeDocument/2006/extended-properties" xmlns:vt="http://schemas.openxmlformats.org/officeDocument/2006/docPropsVTypes">
  <Template>BVP-Powerpoint template</Template>
  <TotalTime>274</TotalTime>
  <Words>9340</Words>
  <Application>Microsoft Office PowerPoint</Application>
  <PresentationFormat>Custom</PresentationFormat>
  <Paragraphs>993</Paragraphs>
  <Slides>84</Slides>
  <Notes>0</Notes>
  <HiddenSlides>17</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84</vt:i4>
      </vt:variant>
    </vt:vector>
  </HeadingPairs>
  <TitlesOfParts>
    <vt:vector size="95" baseType="lpstr">
      <vt:lpstr>Jara</vt:lpstr>
      <vt:lpstr>Times New Roman (Headings)</vt:lpstr>
      <vt:lpstr>Arial</vt:lpstr>
      <vt:lpstr>Calibri</vt:lpstr>
      <vt:lpstr>Calibri Light</vt:lpstr>
      <vt:lpstr>Courier New</vt:lpstr>
      <vt:lpstr>Symbol</vt:lpstr>
      <vt:lpstr>Times New Roman</vt:lpstr>
      <vt:lpstr>Verdana</vt:lpstr>
      <vt:lpstr>Wingdings</vt:lpstr>
      <vt:lpstr>BVP-Powerpoint template</vt:lpstr>
      <vt:lpstr>CSDL nâng cao Biểu diễn tri thức</vt:lpstr>
      <vt:lpstr>Dữ liệu, Thông tin, Tri thức</vt:lpstr>
      <vt:lpstr>Dữ liệu, Thông tin, Tri thức</vt:lpstr>
      <vt:lpstr>Dữ liệu, Thông tin, Tri thức</vt:lpstr>
      <vt:lpstr>Biểu diễn tri thức</vt:lpstr>
      <vt:lpstr>Biểu diễn tri thức</vt:lpstr>
      <vt:lpstr>Biểu diễn tri thức bằng luật</vt:lpstr>
      <vt:lpstr>Biểu diễn tri thức bằng luật</vt:lpstr>
      <vt:lpstr>Các kiểu luật</vt:lpstr>
      <vt:lpstr>Đồ thị AND/OR (1)</vt:lpstr>
      <vt:lpstr>Đồ thị AND/OR (2)</vt:lpstr>
      <vt:lpstr>Các vấn đề với biểu diễn luật</vt:lpstr>
      <vt:lpstr>Sử dụng các luật trong suy diễn</vt:lpstr>
      <vt:lpstr>Giải quyết xung đột</vt:lpstr>
      <vt:lpstr>Chiến lược giải quyết xung đột</vt:lpstr>
      <vt:lpstr>Hệ thống suy diễn dựa trên luật (1)</vt:lpstr>
      <vt:lpstr>Hệ thống suy diễn dựa trên luật (2)</vt:lpstr>
      <vt:lpstr>RBS – Ưu điểm (1)</vt:lpstr>
      <vt:lpstr>RBS – Ưu điểm (2)</vt:lpstr>
      <vt:lpstr>RBS – Nhược điểm</vt:lpstr>
      <vt:lpstr>Biểu diễn tri thức bằng khung (1)</vt:lpstr>
      <vt:lpstr>Biểu diễn tri thức bằng khung (2)</vt:lpstr>
      <vt:lpstr>Biểu diễn hướng đối tượng</vt:lpstr>
      <vt:lpstr>Khung (Frame)</vt:lpstr>
      <vt:lpstr>Biểu diễn của một khung</vt:lpstr>
      <vt:lpstr>Khung đơn</vt:lpstr>
      <vt:lpstr>Khung tổng quát</vt:lpstr>
      <vt:lpstr>Suy diễn với khung (1)</vt:lpstr>
      <vt:lpstr>Suy diễn với khung (2)</vt:lpstr>
      <vt:lpstr>Khung – Giá trị mặc định (1)</vt:lpstr>
      <vt:lpstr>Khung – Giá trị mặc định (2)</vt:lpstr>
      <vt:lpstr>Khung – Tính kế thừa (1)</vt:lpstr>
      <vt:lpstr>Khung – Tính kế thừa (2)</vt:lpstr>
      <vt:lpstr>Khung – Suy diễn</vt:lpstr>
      <vt:lpstr>Biểu diễn bằng khung – Ưu điểm</vt:lpstr>
      <vt:lpstr>Biểu diễn bằng khung – Nhược điểm</vt:lpstr>
      <vt:lpstr>Mạng ngữ nghĩa (1)</vt:lpstr>
      <vt:lpstr>Mạng ngữ nghĩa (2)</vt:lpstr>
      <vt:lpstr>Mạng ngữ nghĩa – Cú pháp</vt:lpstr>
      <vt:lpstr>Mạng ngữ nghĩa – Ví dụ</vt:lpstr>
      <vt:lpstr>Mạng ngữ nghĩa – Ví dụ</vt:lpstr>
      <vt:lpstr>SN – Lan truyền tác động</vt:lpstr>
      <vt:lpstr>SN – Tính kế thừa</vt:lpstr>
      <vt:lpstr>SN – Ngữ nghĩa (1)</vt:lpstr>
      <vt:lpstr>SN – Ngữ nghĩa (2)</vt:lpstr>
      <vt:lpstr>SN – Ngữ nghĩa (3)</vt:lpstr>
      <vt:lpstr>SN – Chuyển đổi sang logic (1)</vt:lpstr>
      <vt:lpstr>SN – Chuyển đổi sang logic (2)</vt:lpstr>
      <vt:lpstr>Mạng ngữ nghĩa – Ưu điểm</vt:lpstr>
      <vt:lpstr>Mạng ngữ nghĩa – Nhược điểm</vt:lpstr>
      <vt:lpstr>Sự kế thừa – Phân loại phân cấp</vt:lpstr>
      <vt:lpstr>Biểu diễn của sự kế thừa</vt:lpstr>
      <vt:lpstr>Mạng kế thừa (1)</vt:lpstr>
      <vt:lpstr>Mạng kế thừa (2)</vt:lpstr>
      <vt:lpstr>Mạng kế thừa (3)</vt:lpstr>
      <vt:lpstr>Mạng kế thừa (4)</vt:lpstr>
      <vt:lpstr>Mạng kế thừa (5)</vt:lpstr>
      <vt:lpstr>Phân cấp kế thừa – Định nghĩa (1)</vt:lpstr>
      <vt:lpstr>Phân cấp kế thừa – Định nghĩa (2)</vt:lpstr>
      <vt:lpstr>Sự xác nhận và sự chấp nhận</vt:lpstr>
      <vt:lpstr>Sự xác nhận và sự chấp nhận (2)</vt:lpstr>
      <vt:lpstr>Sự dư thừa</vt:lpstr>
      <vt:lpstr>Nút ngăn chặn</vt:lpstr>
      <vt:lpstr>Sự mở rộng</vt:lpstr>
      <vt:lpstr>Sự mở rộng – Ví dụ</vt:lpstr>
      <vt:lpstr>Sự mở rộng được ưu tiên</vt:lpstr>
      <vt:lpstr>Sự mở rộng được ưu tiên – Ví dụ</vt:lpstr>
      <vt:lpstr>Ontology</vt:lpstr>
      <vt:lpstr>Ontology – Các động cơ thúc đẩy</vt:lpstr>
      <vt:lpstr>Các khía cạnh của một ontology (1)</vt:lpstr>
      <vt:lpstr>Các khía cạnh của một ontology (2)</vt:lpstr>
      <vt:lpstr>Xây dựng ontology</vt:lpstr>
      <vt:lpstr>Phạm vi và mục đích sử dụng</vt:lpstr>
      <vt:lpstr>Cân nhắc sử dụng lại các ontology</vt:lpstr>
      <vt:lpstr>Liệt kê các khái niệm</vt:lpstr>
      <vt:lpstr>Định nghĩa sự phân loại</vt:lpstr>
      <vt:lpstr>Ví dụ taxonomy về Học máy</vt:lpstr>
      <vt:lpstr>Định nghĩa các thuộc tính</vt:lpstr>
      <vt:lpstr>Định nghĩa các ràng buộc</vt:lpstr>
      <vt:lpstr>Xác định các ví dụ</vt:lpstr>
      <vt:lpstr>Kiểm tra các bất thường</vt:lpstr>
      <vt:lpstr>Các ví dụ về ontology</vt:lpstr>
      <vt:lpstr>UMLS ontology</vt:lpstr>
      <vt:lpstr>CYC ontology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PowerPoint - L8-Bieu_dien_tri_thuc.ppt [Compatibility Mode]</dc:title>
  <dc:creator>quangnn</dc:creator>
  <cp:lastModifiedBy>Trần Ngọc Thăng</cp:lastModifiedBy>
  <cp:revision>1</cp:revision>
  <dcterms:created xsi:type="dcterms:W3CDTF">2020-05-11T10:20:49Z</dcterms:created>
  <dcterms:modified xsi:type="dcterms:W3CDTF">2026-07-11T08:42:26Z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2010-03-03T00:00:00Z</vt:filetime>
  </property>
  <property fmtid="{D5CDD505-2E9C-101B-9397-08002B2CF9AE}" pid="3" name="Creator">
    <vt:lpwstr>PScript5.dll Version 5.2</vt:lpwstr>
  </property>
  <property fmtid="{D5CDD505-2E9C-101B-9397-08002B2CF9AE}" pid="4" name="LastSaved">
    <vt:filetime>2020-05-11T00:00:00Z</vt:filetime>
  </property>
  <property fmtid="{D5CDD505-2E9C-101B-9397-08002B2CF9AE}" pid="5" name="ContentTypeId">
    <vt:lpwstr>0x010100BD444275E818BD4089527327482737A3</vt:lpwstr>
  </property>
</Properties>
</file>