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sinh viên đến với chủ đề Cơ sở dữ liệu đồ thị. Giới thiệu ngắn gọn: đây là hướng tiếp cận lưu trữ dữ liệu theo mối quan hệ, ngày càng quan trọng trong công nghiệp.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5 mục tiêu của buổi học; nhấn mạnh rằng cuối buổi sinh viên sẽ tự viết được truy vấn Cypher cơ bản và biết khi nào nên chọn CSDL đồ thị thay cho CSDL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bố cục 5 phần để sinh viên nắm lộ trình; mỗi phần tương ứng khoảng 10 slide, đi từ khái niệm đến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Dẫn dắt: dữ liệu hiện đại bản chất là kết nối; giá trị thường nằm ở mối quan hệ giữa các thực thể chứ không chỉ ở dữ liệu đơn lẻ.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yếu cốt lõi: RDBMS không lưu quan hệ trực tiếp mà phải tái tạo bằng JOIN, nên truy vấn càng sâu chi phí càng lớn — đây chính là động lực cho CSDL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câu hỏi 'bạn của bạn của Alice': SQL cần nhiều JOIN lồng nhau, còn Cypher chỉ mô tả đường đi -[:FRIEND*2]-&gt;. Giải thích *2 nghĩa là đi qua đúng 2 quan hệ FRIEND.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trực quan: CSDL đồ thị lưu dữ liệu thành nút và cạnh. Chỉ vào sơ đồ mạng bạn bè để minh họa nút là người, cạnh là quan hệ FRIEND, và truy vấn chính là đi theo các cạnh.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các mốc: Cypher ra đời 2011, mở nguồn thành openCypher năm 2015, và đỉnh cao là GQL trở thành chuẩn quốc tế ISO/IEC 39075 năm 2024 — được ví như 'SQL của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nhóm ứng dụng tiêu biểu; điểm chung là bài toán nào nhiều mối quan hệ thì đồ thị tỏa sáng, đặc biệt xu hướng GraphRAG kết hợp đồ thị với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CSDL đồ thị vào bức tranh NoSQL: Key–Value, Document, Column tối ưu cho lưu và tra cứu quy mô lớn, còn Graph là họ duy nhất coi mối quan hệ là trung tâm.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lý thuyết. Ta sẽ ôn lại khái niệm đồ thị trong toán học, rồi xây dựng mô hình đồ thị thuộc tính — nền tảng dữ liệu của Neo4j.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Ôn lại nền tảng toán học: đồ thị là tập đỉnh và tập cạnh. Đây là cạnh vô hướng. Nhấn mạnh bậc và đường đi vì sẽ dùng lại khi truy vấn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kiểu đồ thị cơ bản. Nhấn: mô hình của Neo4j là đồ thị có hướng, có nhãn và có thể gắn trọng số thông qua thuộc tính trên cạnh.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trung tâm của cả bài. Màu xanh = node Person, xanh ngọc = node Movie. Quan hệ ACTED_IN và FRIEND đều có hướng và có thể mang thuộc tính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là đơn vị cơ bản. Nhấn mạnh: nhãn để phân loại (giống 'kiểu'), thuộc tính để lưu dữ liệu. Một node có thể có nhiều nhãn hoặc không nhãn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 hệ là 'công dân hạng nhất' của đồ thị: có kiểu, có hướng, có thuộc tính. Điểm mấu chốt so với RDBMS là không cần bảng nối (junction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sơ đồ: hình tròn xanh là người (:Person), hình xanh ngọc là bài viết (:Post). FRIEND là kết bạn, FOLLOWS là theo dõi một chiều. Cho thấy sức biểu đạt tự nhiên của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trường phái chính của công nghệ đồ thị. RDF dùng bộ ba Subject–Predicate–Object và truy vấn bằng SPARQL. Bài học tập trung vào Property Graph vì đó là mô hình của Neo4j.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RDBMS phải thiết kế schema cứng từ đầu, đồ thị cho phép vừa làm vừa mở rộng mô hình — nhưng vẫn có ràng buộc và index khi cần để đảm bảo chất lượng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tổng kết Phần 2: ánh xạ khái niệm quan hệ sang đồ thị. Điểm nhấn: truy vấn đa bước — JOIN chồng chất trong SQL trở thành duyệt cạnh tự nhiên trong đồ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Phần 3: chuyển từ lý thuyết sang công cụ thực tế — hệ quản trị Neo4j và ngôn ngữ Cypher. Đây là phần trọng tâm và nhiều thực hành nhất của bài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là hệ quản trị đồ thị gốc phổ biến nhất hiện nay. Nhấn mạnh bốn điểm: native, ACID, mô hình property graph và vị trí dẫn đầu bảng xếp hạng DB-Engines.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các cách trải nghiệm Neo4j. Khuyến khích sinh viên dùng Neo4j Sandbox hoặc AuraDB Free để thực hành ngay mà không cần cài đặt phức tạp.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Cypher là ngôn ngữ truy vấn khai báo, dùng 'ASCII-art' để vẽ mẫu đồ thị. Đây cũng chính là nền tảng cho chuẩn quốc tế GQL.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ba khối: mẫu node, mẫu quan hệ và mẫu đường đi. Nhấn mạnh dấu ngoặc là node, mũi tên là quan hệ có hướng — đọc câu Cypher gần như đọc một hình vẽ.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họa tạo hai người và một quan hệ FRIEND có thuộc tính since. Lưu ý dấu ngoặc nhọn chứa thuộc tính, và RETURN để xem lại dữ liệu vừa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khớp mẫu, RETURN chọn cột, ORDER BY sắp xếp và LIMIT giới hạn số dòng. Panel bên phải minh họa bảng kết quả mà truy vấn trả về.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lọc theo điều kiện thuộc tính, ở đây tìm bạn của Alice có tuổi lớn hơn 21. Từ khóa AS dùng để đặt tên lại cho cột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lấy node nếu đã tồn tại, ngược lại tạo mới — tránh trùng lặp. SET gán thuộc tính; DETACH DELETE xóa node cùng mọi quan hệ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Truy vấn thứ nhất tìm bạn-của-bạn bằng đường đi độ dài biến đổi FRIEND*2..2. Truy vấn thứ hai dùng count() để đếm số bạn của mỗi người rồi sắp xếp giảm dần.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4: điểm qua các ứng dụng tiêu biểu của cơ sở dữ liệu đồ thị và bức tranh các hệ quản trị hiện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gợi ý là ứng dụng kinh điển: khai thác hàng xóm trong đồ thị người dùng–sản phẩm để đề xuất sản phẩm chéo (lọc cộng tác).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chống gian lận, đồ thị làm lộ ra các nhóm tài khoản chia sẻ chung định danh (SĐT, thiết bị) — điều rất khó thấy trên bảng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 biểu diễn tri thức dạng thực thể–quan hệ, là nền tảng cho tìm kiếm ngữ nghĩa và social graph của các mạng xã hội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ba nhóm chính, đồ thị còn được dùng rộng rãi trong định tuyến, quản lý phụ thuộc hệ thống CNTT, chuỗi cung ứng và y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GraphRAG là xu hướng nóng: dùng đồ thị tri thức làm ngữ cảnh có cấu trúc cho LLM, giúp câu trả lời chính xác và giảm ảo giác.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Vài con số cho thấy vị thế của đồ thị: Neo4j dẫn đầu tuyệt đối trên DB-Engines và GQL đã trở thành chuẩn ISO năm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 trường có nhiều hệ quản trị đồ thị: từ dịch vụ đám mây (Neptune, Cosmos DB) tới đa mô hình (ArangoDB, OrientDB) và phân tích lớn (TigerGraph).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xếp hạng DB-Engines cho thấy Neo4j (50.49) bỏ xa các hệ còn lại về mức độ phổ biến.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GQL (ISO/IEC 39075:2024) là chuẩn quốc tế đầu tiên cho ngôn ngữ truy vấn đồ thị — 'SQL cho đồ thị' — kế thừa Cypher/openCypher.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cuối tổng hợp lại: điểm mạnh và giới hạn của CSDL đồ thị, tiêu chí chọn công cụ, và gợi ý thực hành để các bạn tự củng cố kiến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cốt lõi là index-free adjacency: thế mạnh lớn nhất so với CSDL quan hệ khi truy vấn đi qua nhiều bước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đồ thị không phải 'thuốc vạn năng'. Với báo cáo tổng hợp lớn hay giao dịch bảng thuần túy, CSDL quan hệ vẫn là lựa chọn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là kim chỉ nam thực hành: nhìn vào đặc trưng của bài toán (độ sâu quan hệ, kiểu truy vấn) để quyết định, thay vì theo trào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ý tưởng hiệu năng cốt lõi: quan hệ được 'nối dây' vật lý giữa các node, nên duyệt đồ thị nhanh và ổn định bất kể dữ liệu lớn tới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Khuyến khích sinh viên bắt đầu từ dữ liệu nhỏ, tự sinh ra và chạy thử. Việc tự viết truy vấn giúp thấm mô hình đồ thị nhanh hơn nhiều so với chỉ nghe giảng.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mở để sinh viên tự luyện. Câu 3 gợi mở về mẫu (a)-[:FRIEND*2]-&gt;(fof) kèm điều kiện loại bạn trực tiếp; câu 4 luyện hàm tổng hợp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hướng tự học sau buổi: GraphAcademy để học có lộ trình, Cypher Manual để tra cứu, và Sandbox/Aura Free để thực hành ngay không cần cài đặt.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năm ý xuyên suốt cả bài. Nếu chỉ nhớ một điều: dùng đồ thị khi giá trị của dữ liệu nằm ở các liên kết chứ không chỉ ở từng bản 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và mời đặt câu hỏi. Nhắc lại lời kêu gọi hành động: mở Neo4j Sandbox và tự chạy vài truy vấn ngay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2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242"/>
          </a:solidFill>
          <a:ln/>
        </p:spPr>
      </p:sp>
      <p:sp>
        <p:nvSpPr>
          <p:cNvPr id="3" name="Shape 1"/>
          <p:cNvSpPr/>
          <p:nvPr/>
        </p:nvSpPr>
        <p:spPr>
          <a:xfrm flipV="1">
            <a:off x="8686800" y="640080"/>
            <a:ext cx="946404" cy="368046"/>
          </a:xfrm>
          <a:prstGeom prst="line">
            <a:avLst/>
          </a:prstGeom>
          <a:noFill/>
          <a:ln w="15875">
            <a:solidFill>
              <a:srgbClr val="35557E"/>
            </a:solidFill>
            <a:prstDash val="solid"/>
          </a:ln>
        </p:spPr>
      </p:sp>
      <p:sp>
        <p:nvSpPr>
          <p:cNvPr id="4" name="Shape 2"/>
          <p:cNvSpPr/>
          <p:nvPr/>
        </p:nvSpPr>
        <p:spPr>
          <a:xfrm>
            <a:off x="9633204" y="640080"/>
            <a:ext cx="841248" cy="578358"/>
          </a:xfrm>
          <a:prstGeom prst="line">
            <a:avLst/>
          </a:prstGeom>
          <a:noFill/>
          <a:ln w="15875">
            <a:solidFill>
              <a:srgbClr val="35557E"/>
            </a:solidFill>
            <a:prstDash val="solid"/>
          </a:ln>
        </p:spPr>
      </p:sp>
      <p:sp>
        <p:nvSpPr>
          <p:cNvPr id="5" name="Shape 3"/>
          <p:cNvSpPr/>
          <p:nvPr/>
        </p:nvSpPr>
        <p:spPr>
          <a:xfrm flipH="1">
            <a:off x="9843516" y="1218438"/>
            <a:ext cx="630936" cy="736092"/>
          </a:xfrm>
          <a:prstGeom prst="line">
            <a:avLst/>
          </a:prstGeom>
          <a:noFill/>
          <a:ln w="15875">
            <a:solidFill>
              <a:srgbClr val="35557E"/>
            </a:solidFill>
            <a:prstDash val="solid"/>
          </a:ln>
        </p:spPr>
      </p:sp>
      <p:sp>
        <p:nvSpPr>
          <p:cNvPr id="6" name="Shape 4"/>
          <p:cNvSpPr/>
          <p:nvPr/>
        </p:nvSpPr>
        <p:spPr>
          <a:xfrm flipH="1" flipV="1">
            <a:off x="8897112" y="1849374"/>
            <a:ext cx="946404" cy="105156"/>
          </a:xfrm>
          <a:prstGeom prst="line">
            <a:avLst/>
          </a:prstGeom>
          <a:noFill/>
          <a:ln w="15875">
            <a:solidFill>
              <a:srgbClr val="35557E"/>
            </a:solidFill>
            <a:prstDash val="solid"/>
          </a:ln>
        </p:spPr>
      </p:sp>
      <p:sp>
        <p:nvSpPr>
          <p:cNvPr id="7" name="Shape 5"/>
          <p:cNvSpPr/>
          <p:nvPr/>
        </p:nvSpPr>
        <p:spPr>
          <a:xfrm flipH="1" flipV="1">
            <a:off x="8686800" y="1008126"/>
            <a:ext cx="210312" cy="841248"/>
          </a:xfrm>
          <a:prstGeom prst="line">
            <a:avLst/>
          </a:prstGeom>
          <a:noFill/>
          <a:ln w="15875">
            <a:solidFill>
              <a:srgbClr val="35557E"/>
            </a:solidFill>
            <a:prstDash val="solid"/>
          </a:ln>
        </p:spPr>
      </p:sp>
      <p:sp>
        <p:nvSpPr>
          <p:cNvPr id="8" name="Shape 6"/>
          <p:cNvSpPr/>
          <p:nvPr/>
        </p:nvSpPr>
        <p:spPr>
          <a:xfrm>
            <a:off x="10474452" y="1218438"/>
            <a:ext cx="841248" cy="473202"/>
          </a:xfrm>
          <a:prstGeom prst="line">
            <a:avLst/>
          </a:prstGeom>
          <a:noFill/>
          <a:ln w="15875">
            <a:solidFill>
              <a:srgbClr val="35557E"/>
            </a:solidFill>
            <a:prstDash val="solid"/>
          </a:ln>
        </p:spPr>
      </p:sp>
      <p:sp>
        <p:nvSpPr>
          <p:cNvPr id="9" name="Shape 7"/>
          <p:cNvSpPr/>
          <p:nvPr/>
        </p:nvSpPr>
        <p:spPr>
          <a:xfrm flipH="1" flipV="1">
            <a:off x="10895076" y="797814"/>
            <a:ext cx="420624" cy="893826"/>
          </a:xfrm>
          <a:prstGeom prst="line">
            <a:avLst/>
          </a:prstGeom>
          <a:noFill/>
          <a:ln w="15875">
            <a:solidFill>
              <a:srgbClr val="35557E"/>
            </a:solidFill>
            <a:prstDash val="solid"/>
          </a:ln>
        </p:spPr>
      </p:sp>
      <p:sp>
        <p:nvSpPr>
          <p:cNvPr id="10" name="Shape 8"/>
          <p:cNvSpPr/>
          <p:nvPr/>
        </p:nvSpPr>
        <p:spPr>
          <a:xfrm flipH="1" flipV="1">
            <a:off x="9633204" y="640080"/>
            <a:ext cx="1261872" cy="157734"/>
          </a:xfrm>
          <a:prstGeom prst="line">
            <a:avLst/>
          </a:prstGeom>
          <a:noFill/>
          <a:ln w="15875">
            <a:solidFill>
              <a:srgbClr val="35557E"/>
            </a:solidFill>
            <a:prstDash val="solid"/>
          </a:ln>
        </p:spPr>
      </p:sp>
      <p:sp>
        <p:nvSpPr>
          <p:cNvPr id="11" name="Shape 9"/>
          <p:cNvSpPr/>
          <p:nvPr/>
        </p:nvSpPr>
        <p:spPr>
          <a:xfrm flipV="1">
            <a:off x="9843516" y="1691640"/>
            <a:ext cx="1472184" cy="262890"/>
          </a:xfrm>
          <a:prstGeom prst="line">
            <a:avLst/>
          </a:prstGeom>
          <a:noFill/>
          <a:ln w="15875">
            <a:solidFill>
              <a:srgbClr val="35557E"/>
            </a:solidFill>
            <a:prstDash val="solid"/>
          </a:ln>
        </p:spPr>
      </p:sp>
      <p:sp>
        <p:nvSpPr>
          <p:cNvPr id="12" name="Shape 10"/>
          <p:cNvSpPr/>
          <p:nvPr/>
        </p:nvSpPr>
        <p:spPr>
          <a:xfrm>
            <a:off x="8550097" y="871423"/>
            <a:ext cx="273406" cy="273406"/>
          </a:xfrm>
          <a:prstGeom prst="ellipse">
            <a:avLst/>
          </a:prstGeom>
          <a:solidFill>
            <a:srgbClr val="C88A1E">
              <a:alpha val="75000"/>
            </a:srgbClr>
          </a:solidFill>
          <a:ln w="12700">
            <a:solidFill>
              <a:srgbClr val="FFFFFF">
                <a:alpha val="70000"/>
              </a:srgbClr>
            </a:solidFill>
            <a:prstDash val="solid"/>
          </a:ln>
        </p:spPr>
      </p:sp>
      <p:sp>
        <p:nvSpPr>
          <p:cNvPr id="13" name="Shape 11"/>
          <p:cNvSpPr/>
          <p:nvPr/>
        </p:nvSpPr>
        <p:spPr>
          <a:xfrm>
            <a:off x="9538564" y="545440"/>
            <a:ext cx="189281" cy="189281"/>
          </a:xfrm>
          <a:prstGeom prst="ellipse">
            <a:avLst/>
          </a:prstGeom>
          <a:solidFill>
            <a:srgbClr val="17958A">
              <a:alpha val="75000"/>
            </a:srgbClr>
          </a:solidFill>
          <a:ln w="12700">
            <a:solidFill>
              <a:srgbClr val="FFFFFF">
                <a:alpha val="70000"/>
              </a:srgbClr>
            </a:solidFill>
            <a:prstDash val="solid"/>
          </a:ln>
        </p:spPr>
      </p:sp>
      <p:sp>
        <p:nvSpPr>
          <p:cNvPr id="14" name="Shape 12"/>
          <p:cNvSpPr/>
          <p:nvPr/>
        </p:nvSpPr>
        <p:spPr>
          <a:xfrm>
            <a:off x="10379812" y="1123798"/>
            <a:ext cx="189281" cy="189281"/>
          </a:xfrm>
          <a:prstGeom prst="ellipse">
            <a:avLst/>
          </a:prstGeom>
          <a:solidFill>
            <a:srgbClr val="C88A1E">
              <a:alpha val="75000"/>
            </a:srgbClr>
          </a:solidFill>
          <a:ln w="12700">
            <a:solidFill>
              <a:srgbClr val="FFFFFF">
                <a:alpha val="70000"/>
              </a:srgbClr>
            </a:solidFill>
            <a:prstDash val="solid"/>
          </a:ln>
        </p:spPr>
      </p:sp>
      <p:sp>
        <p:nvSpPr>
          <p:cNvPr id="15" name="Shape 13"/>
          <p:cNvSpPr/>
          <p:nvPr/>
        </p:nvSpPr>
        <p:spPr>
          <a:xfrm>
            <a:off x="9706813" y="1817827"/>
            <a:ext cx="273406" cy="273406"/>
          </a:xfrm>
          <a:prstGeom prst="ellipse">
            <a:avLst/>
          </a:prstGeom>
          <a:solidFill>
            <a:srgbClr val="17958A">
              <a:alpha val="75000"/>
            </a:srgbClr>
          </a:solidFill>
          <a:ln w="12700">
            <a:solidFill>
              <a:srgbClr val="FFFFFF">
                <a:alpha val="70000"/>
              </a:srgbClr>
            </a:solidFill>
            <a:prstDash val="solid"/>
          </a:ln>
        </p:spPr>
      </p:sp>
      <p:sp>
        <p:nvSpPr>
          <p:cNvPr id="16" name="Shape 14"/>
          <p:cNvSpPr/>
          <p:nvPr/>
        </p:nvSpPr>
        <p:spPr>
          <a:xfrm>
            <a:off x="8802472" y="1754734"/>
            <a:ext cx="189281" cy="189281"/>
          </a:xfrm>
          <a:prstGeom prst="ellipse">
            <a:avLst/>
          </a:prstGeom>
          <a:solidFill>
            <a:srgbClr val="C88A1E">
              <a:alpha val="75000"/>
            </a:srgbClr>
          </a:solidFill>
          <a:ln w="12700">
            <a:solidFill>
              <a:srgbClr val="FFFFFF">
                <a:alpha val="70000"/>
              </a:srgbClr>
            </a:solidFill>
            <a:prstDash val="solid"/>
          </a:ln>
        </p:spPr>
      </p:sp>
      <p:sp>
        <p:nvSpPr>
          <p:cNvPr id="17" name="Shape 15"/>
          <p:cNvSpPr/>
          <p:nvPr/>
        </p:nvSpPr>
        <p:spPr>
          <a:xfrm>
            <a:off x="11221060" y="1597000"/>
            <a:ext cx="189281" cy="189281"/>
          </a:xfrm>
          <a:prstGeom prst="ellipse">
            <a:avLst/>
          </a:prstGeom>
          <a:solidFill>
            <a:srgbClr val="17958A">
              <a:alpha val="75000"/>
            </a:srgbClr>
          </a:solidFill>
          <a:ln w="12700">
            <a:solidFill>
              <a:srgbClr val="FFFFFF">
                <a:alpha val="70000"/>
              </a:srgbClr>
            </a:solidFill>
            <a:prstDash val="solid"/>
          </a:ln>
        </p:spPr>
      </p:sp>
      <p:sp>
        <p:nvSpPr>
          <p:cNvPr id="18" name="Shape 16"/>
          <p:cNvSpPr/>
          <p:nvPr/>
        </p:nvSpPr>
        <p:spPr>
          <a:xfrm>
            <a:off x="10758373" y="661111"/>
            <a:ext cx="273406" cy="273406"/>
          </a:xfrm>
          <a:prstGeom prst="ellipse">
            <a:avLst/>
          </a:prstGeom>
          <a:solidFill>
            <a:srgbClr val="C88A1E">
              <a:alpha val="75000"/>
            </a:srgbClr>
          </a:solidFill>
          <a:ln w="12700">
            <a:solidFill>
              <a:srgbClr val="FFFFFF">
                <a:alpha val="70000"/>
              </a:srgbClr>
            </a:solidFill>
            <a:prstDash val="solid"/>
          </a:ln>
        </p:spPr>
      </p:sp>
      <p:sp>
        <p:nvSpPr>
          <p:cNvPr id="19" name="Text 17"/>
          <p:cNvSpPr/>
          <p:nvPr/>
        </p:nvSpPr>
        <p:spPr>
          <a:xfrm>
            <a:off x="640080" y="1965960"/>
            <a:ext cx="8229600" cy="365760"/>
          </a:xfrm>
          <a:prstGeom prst="rect">
            <a:avLst/>
          </a:prstGeom>
          <a:noFill/>
          <a:ln/>
        </p:spPr>
        <p:txBody>
          <a:bodyPr wrap="square" rtlCol="0" anchor="ctr"/>
          <a:lstStyle/>
          <a:p>
            <a:pPr indent="0" marL="0">
              <a:buNone/>
            </a:pPr>
            <a:r>
              <a:rPr lang="en-US" sz="1400" b="1" spc="300" kern="0" dirty="0">
                <a:solidFill>
                  <a:srgbClr val="E7C468"/>
                </a:solidFill>
                <a:latin typeface="Calibri" pitchFamily="34" charset="0"/>
                <a:ea typeface="Calibri" pitchFamily="34" charset="-122"/>
                <a:cs typeface="Calibri" pitchFamily="34" charset="-120"/>
              </a:rPr>
              <a:t>CƠ SỞ DỮ LIỆU • SINH VIÊN NĂM 2 CNTT</a:t>
            </a:r>
            <a:endParaRPr lang="en-US" sz="1400" dirty="0"/>
          </a:p>
        </p:txBody>
      </p:sp>
      <p:sp>
        <p:nvSpPr>
          <p:cNvPr id="20" name="Text 18"/>
          <p:cNvSpPr/>
          <p:nvPr/>
        </p:nvSpPr>
        <p:spPr>
          <a:xfrm>
            <a:off x="640080" y="2331720"/>
            <a:ext cx="7955280" cy="1828800"/>
          </a:xfrm>
          <a:prstGeom prst="rect">
            <a:avLst/>
          </a:prstGeom>
          <a:noFill/>
          <a:ln/>
        </p:spPr>
        <p:txBody>
          <a:bodyPr wrap="square"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Cơ sở dữ liệu đồ thị</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Graph Database</a:t>
            </a:r>
            <a:endParaRPr lang="en-US" sz="4600" dirty="0"/>
          </a:p>
        </p:txBody>
      </p:sp>
      <p:sp>
        <p:nvSpPr>
          <p:cNvPr id="21" name="Text 19"/>
          <p:cNvSpPr/>
          <p:nvPr/>
        </p:nvSpPr>
        <p:spPr>
          <a:xfrm>
            <a:off x="640080" y="4297680"/>
            <a:ext cx="8412480" cy="822960"/>
          </a:xfrm>
          <a:prstGeom prst="rect">
            <a:avLst/>
          </a:prstGeom>
          <a:noFill/>
          <a:ln/>
        </p:spPr>
        <p:txBody>
          <a:bodyPr wrap="square" rtlCol="0" anchor="ctr"/>
          <a:lstStyle/>
          <a:p>
            <a:pPr indent="0" marL="0">
              <a:lnSpc>
                <a:spcPct val="110000"/>
              </a:lnSpc>
              <a:buNone/>
            </a:pPr>
            <a:r>
              <a:rPr lang="en-US" sz="1800" dirty="0">
                <a:solidFill>
                  <a:srgbClr val="AFC4E0"/>
                </a:solidFill>
                <a:latin typeface="Calibri" pitchFamily="34" charset="0"/>
                <a:ea typeface="Calibri" pitchFamily="34" charset="-122"/>
                <a:cs typeface="Calibri" pitchFamily="34" charset="-120"/>
              </a:rPr>
              <a:t>Từ dữ liệu quan hệ đến dữ liệu kết nối — với Neo4j &amp; Cypher</a:t>
            </a:r>
            <a:endParaRPr lang="en-US" sz="1800" dirty="0"/>
          </a:p>
        </p:txBody>
      </p:sp>
      <p:sp>
        <p:nvSpPr>
          <p:cNvPr id="22" name="Text 20"/>
          <p:cNvSpPr/>
          <p:nvPr/>
        </p:nvSpPr>
        <p:spPr>
          <a:xfrm>
            <a:off x="640080" y="5943600"/>
            <a:ext cx="10058400" cy="365760"/>
          </a:xfrm>
          <a:prstGeom prst="rect">
            <a:avLst/>
          </a:prstGeom>
          <a:noFill/>
          <a:ln/>
        </p:spPr>
        <p:txBody>
          <a:bodyPr wrap="square" rtlCol="0" anchor="ctr"/>
          <a:lstStyle/>
          <a:p>
            <a:pPr indent="0" marL="0">
              <a:buNone/>
            </a:pPr>
            <a:r>
              <a:rPr lang="en-US" sz="1300" i="1" dirty="0">
                <a:solidFill>
                  <a:srgbClr val="6699D6"/>
                </a:solidFill>
                <a:latin typeface="Calibri" pitchFamily="34" charset="0"/>
                <a:ea typeface="Calibri" pitchFamily="34" charset="-122"/>
                <a:cs typeface="Calibri" pitchFamily="34" charset="-120"/>
              </a:rPr>
              <a:t>Bài giảng môn Cơ sở dữ liệu nâng cao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MỤC TIÊU</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Mục tiêu bài học</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56657E"/>
                </a:solidFill>
                <a:latin typeface="Calibri" pitchFamily="34" charset="0"/>
                <a:ea typeface="Calibri" pitchFamily="34" charset="-122"/>
                <a:cs typeface="Calibri" pitchFamily="34" charset="-120"/>
              </a:rPr>
              <a:t>Sau buổi học, sinh viên có thể:</a:t>
            </a:r>
            <a:endParaRPr lang="en-US" sz="1500" dirty="0"/>
          </a:p>
        </p:txBody>
      </p:sp>
      <p:sp>
        <p:nvSpPr>
          <p:cNvPr id="6" name="Text 4"/>
          <p:cNvSpPr/>
          <p:nvPr/>
        </p:nvSpPr>
        <p:spPr>
          <a:xfrm>
            <a:off x="640080" y="233172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Hiểu Graph Database là gì và khi nào nên dùng</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Nhận biết bài toán 'nhiều quan hệ' phù hợp với đồ thị.</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Nắm mô hình đồ thị thuộc tính (Property Graph)</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Node, quan hệ và thuộc tính — cách đồ thị tổ chức dữ liệu.</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Đọc và viết truy vấn Cypher cơ bản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Dùng MATCH, CREATE, RETURN để truy vấn dữ liệu đồ thị.</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Biết Neo4j và hệ sinh thái đồ thị</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Hệ quản trị đồ thị phổ biến nhất cùng công cụ đi kèm.</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Phân biệt CSDL đồ thị với CSDL quan hệ</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So sánh cách lưu trữ, truy vấn và khi nào chọn loại nào.</a:t>
            </a:r>
            <a:endParaRPr lang="en-US" sz="1550" dirty="0"/>
          </a:p>
        </p:txBody>
      </p:sp>
      <p:sp>
        <p:nvSpPr>
          <p:cNvPr id="7" name="Text 5"/>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8" name="Text 6"/>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NỘI DUNG</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Nội dung buổi học</a:t>
            </a:r>
            <a:endParaRPr lang="en-US" sz="3200" dirty="0"/>
          </a:p>
        </p:txBody>
      </p:sp>
      <p:sp>
        <p:nvSpPr>
          <p:cNvPr id="5" name="Shape 3"/>
          <p:cNvSpPr/>
          <p:nvPr/>
        </p:nvSpPr>
        <p:spPr>
          <a:xfrm>
            <a:off x="640080" y="1943100"/>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1943100"/>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Giới thiệu &amp; động lực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Vì sao cần CSDL đồ thị và 'dữ liệu kết nối' là gì.</a:t>
            </a:r>
            <a:endParaRPr lang="en-US" sz="1600" dirty="0"/>
          </a:p>
        </p:txBody>
      </p:sp>
      <p:sp>
        <p:nvSpPr>
          <p:cNvPr id="8" name="Shape 6"/>
          <p:cNvSpPr/>
          <p:nvPr/>
        </p:nvSpPr>
        <p:spPr>
          <a:xfrm>
            <a:off x="640080" y="2793492"/>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2793492"/>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724912"/>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Lý thuyết đồ thị &amp; mô hình dữ liệu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Đỉnh, cạnh và mô hình đồ thị thuộc tính.</a:t>
            </a:r>
            <a:endParaRPr lang="en-US" sz="1600" dirty="0"/>
          </a:p>
        </p:txBody>
      </p:sp>
      <p:sp>
        <p:nvSpPr>
          <p:cNvPr id="11" name="Shape 9"/>
          <p:cNvSpPr/>
          <p:nvPr/>
        </p:nvSpPr>
        <p:spPr>
          <a:xfrm>
            <a:off x="640080" y="3643884"/>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3643884"/>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575304"/>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Neo4j &amp; ngôn ngữ Cypher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Hệ quản trị đồ thị phổ biến nhất và cách truy vấn.</a:t>
            </a:r>
            <a:endParaRPr lang="en-US" sz="1600" dirty="0"/>
          </a:p>
        </p:txBody>
      </p:sp>
      <p:sp>
        <p:nvSpPr>
          <p:cNvPr id="14" name="Shape 12"/>
          <p:cNvSpPr/>
          <p:nvPr/>
        </p:nvSpPr>
        <p:spPr>
          <a:xfrm>
            <a:off x="640080" y="4494276"/>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4494276"/>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425696"/>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Ứng dụng &amp; hệ sinh thái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Gợi ý, chống gian lận, knowledge graph và các hệ khác.</a:t>
            </a:r>
            <a:endParaRPr lang="en-US" sz="1600" dirty="0"/>
          </a:p>
        </p:txBody>
      </p:sp>
      <p:sp>
        <p:nvSpPr>
          <p:cNvPr id="17" name="Shape 15"/>
          <p:cNvSpPr/>
          <p:nvPr/>
        </p:nvSpPr>
        <p:spPr>
          <a:xfrm>
            <a:off x="640080" y="5344668"/>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8" name="Text 16"/>
          <p:cNvSpPr/>
          <p:nvPr/>
        </p:nvSpPr>
        <p:spPr>
          <a:xfrm>
            <a:off x="640080" y="5344668"/>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9" name="Text 17"/>
          <p:cNvSpPr/>
          <p:nvPr/>
        </p:nvSpPr>
        <p:spPr>
          <a:xfrm>
            <a:off x="1508760" y="5276088"/>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Đánh giá, thực hành &amp; tổng kết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Ưu – nhược điểm, khi nào dùng và bài thực hành.</a:t>
            </a:r>
            <a:endParaRPr lang="en-US" sz="1600" dirty="0"/>
          </a:p>
        </p:txBody>
      </p:sp>
      <p:sp>
        <p:nvSpPr>
          <p:cNvPr id="20" name="Text 18"/>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1" name="Text 19"/>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BỐI CẢNH</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Dữ liệu ngày càng "kết nối"</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56657E"/>
                </a:solidFill>
                <a:latin typeface="Calibri" pitchFamily="34" charset="0"/>
                <a:ea typeface="Calibri" pitchFamily="34" charset="-122"/>
                <a:cs typeface="Calibri" pitchFamily="34" charset="-120"/>
              </a:rPr>
              <a:t>Thế giới số hôm nay tạo nên từ các thực thể liên kết chằng chịt.</a:t>
            </a:r>
            <a:endParaRPr lang="en-US" sz="1500" dirty="0"/>
          </a:p>
        </p:txBody>
      </p:sp>
      <p:sp>
        <p:nvSpPr>
          <p:cNvPr id="6" name="Text 4"/>
          <p:cNvSpPr/>
          <p:nvPr/>
        </p:nvSpPr>
        <p:spPr>
          <a:xfrm>
            <a:off x="640080" y="233172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Mạng xã hội</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Bạn bè, theo dõi, tương tác — hàng tỷ liên kết giữa người dùng.</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Gợi ý sản phẩm</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'Người mua X cũng mua Y' dựa trên mạng lưới hành vi.</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Tri thức &amp; IoT</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Thực thể–quan hệ trong tri thức; thiết bị kết nối trong IoT.</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Giá trị nằm ở mối quan hệ</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Câu hỏi quan trọng hỏi về liên kết, không chỉ bản thân dữ liệu.</a:t>
            </a:r>
            <a:endParaRPr lang="en-US" sz="1550" dirty="0"/>
          </a:p>
        </p:txBody>
      </p:sp>
      <p:sp>
        <p:nvSpPr>
          <p:cNvPr id="7" name="Shape 5"/>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8" name="Shape 6"/>
          <p:cNvSpPr/>
          <p:nvPr/>
        </p:nvSpPr>
        <p:spPr>
          <a:xfrm>
            <a:off x="822960" y="5943600"/>
            <a:ext cx="292608" cy="292608"/>
          </a:xfrm>
          <a:prstGeom prst="ellipse">
            <a:avLst/>
          </a:prstGeom>
          <a:solidFill>
            <a:srgbClr val="C88A1E"/>
          </a:solidFill>
          <a:ln/>
        </p:spPr>
      </p:sp>
      <p:sp>
        <p:nvSpPr>
          <p:cNvPr id="9" name="Text 7"/>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Trong CSDL đồ thị, quan hệ trở thành 'công dân hạng nhất'.</a:t>
            </a:r>
            <a:endParaRPr lang="en-US" sz="1300" dirty="0"/>
          </a:p>
        </p:txBody>
      </p:sp>
      <p:sp>
        <p:nvSpPr>
          <p:cNvPr id="11" name="Text 9"/>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2" name="Text 10"/>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VẤN ĐỀ</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CSDL quan hệ đuối sức khi nhiều quan hệ</a:t>
            </a:r>
            <a:endParaRPr lang="en-US" sz="3200" dirty="0"/>
          </a:p>
        </p:txBody>
      </p:sp>
      <p:sp>
        <p:nvSpPr>
          <p:cNvPr id="5" name="Shape 3"/>
          <p:cNvSpPr/>
          <p:nvPr/>
        </p:nvSpPr>
        <p:spPr>
          <a:xfrm>
            <a:off x="640080" y="2035683"/>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2035683"/>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Quan hệ phải 'giả lập'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Mô phỏng bằng khóa ngoại và bảng trung gian (junction).</a:t>
            </a:r>
            <a:endParaRPr lang="en-US" sz="1600" dirty="0"/>
          </a:p>
        </p:txBody>
      </p:sp>
      <p:sp>
        <p:nvSpPr>
          <p:cNvPr id="8" name="Shape 6"/>
          <p:cNvSpPr/>
          <p:nvPr/>
        </p:nvSpPr>
        <p:spPr>
          <a:xfrm>
            <a:off x="640080" y="3071241"/>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3071241"/>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910078"/>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Truy vấn nhiều bước phải JOIN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Mỗi bước quan hệ là một phép JOIN bảng mới.</a:t>
            </a:r>
            <a:endParaRPr lang="en-US" sz="1600" dirty="0"/>
          </a:p>
        </p:txBody>
      </p:sp>
      <p:sp>
        <p:nvSpPr>
          <p:cNvPr id="11" name="Shape 9"/>
          <p:cNvSpPr/>
          <p:nvPr/>
        </p:nvSpPr>
        <p:spPr>
          <a:xfrm>
            <a:off x="640080" y="4106799"/>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4106799"/>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945636"/>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Chi phí JOIN tăng nhanh theo độ sâu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Càng truy vấn sâu, hiệu năng càng giảm mạnh.</a:t>
            </a:r>
            <a:endParaRPr lang="en-US" sz="1600" dirty="0"/>
          </a:p>
        </p:txBody>
      </p:sp>
      <p:sp>
        <p:nvSpPr>
          <p:cNvPr id="14" name="Shape 12"/>
          <p:cNvSpPr/>
          <p:nvPr/>
        </p:nvSpPr>
        <p:spPr>
          <a:xfrm>
            <a:off x="640080" y="5142357"/>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5142357"/>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981194"/>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Khó biểu diễn quan hệ linh hoạt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Lược đồ cứng nhắc, thêm loại quan hệ mới rất tốn công.</a:t>
            </a:r>
            <a:endParaRPr lang="en-US" sz="1600" dirty="0"/>
          </a:p>
        </p:txBody>
      </p:sp>
      <p:sp>
        <p:nvSpPr>
          <p:cNvPr id="17" name="Text 15"/>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8" name="Text 16"/>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SO SÁNH</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Cùng câu hỏi: bạn-của-bạn của Alice</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Tìm bạn của bạn bè Alice — cùng một câu hỏi, hai cách viết.</a:t>
            </a:r>
            <a:endParaRPr lang="en-US" sz="1450" dirty="0"/>
          </a:p>
        </p:txBody>
      </p:sp>
      <p:sp>
        <p:nvSpPr>
          <p:cNvPr id="6" name="Shape 4"/>
          <p:cNvSpPr/>
          <p:nvPr/>
        </p:nvSpPr>
        <p:spPr>
          <a:xfrm>
            <a:off x="640080" y="2331720"/>
            <a:ext cx="5295748"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4929988"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SQL (quan hệ)</a:t>
            </a:r>
            <a:endParaRPr lang="en-US" sz="1200" dirty="0"/>
          </a:p>
        </p:txBody>
      </p:sp>
      <p:sp>
        <p:nvSpPr>
          <p:cNvPr id="8" name="Shape 6"/>
          <p:cNvSpPr/>
          <p:nvPr/>
        </p:nvSpPr>
        <p:spPr>
          <a:xfrm>
            <a:off x="841248" y="2770632"/>
            <a:ext cx="4893412" cy="0"/>
          </a:xfrm>
          <a:prstGeom prst="line">
            <a:avLst/>
          </a:prstGeom>
          <a:noFill/>
          <a:ln w="12700">
            <a:solidFill>
              <a:srgbClr val="26507F"/>
            </a:solidFill>
            <a:prstDash val="solid"/>
          </a:ln>
        </p:spPr>
      </p:sp>
      <p:sp>
        <p:nvSpPr>
          <p:cNvPr id="9" name="Text 7"/>
          <p:cNvSpPr/>
          <p:nvPr/>
        </p:nvSpPr>
        <p:spPr>
          <a:xfrm>
            <a:off x="841248" y="2880360"/>
            <a:ext cx="4929988"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Ban cua ban cua Alice</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SELECT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DISTINCT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p3</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FROM</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p1</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JOIN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f1</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f1</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p1</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id</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JOIN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f2</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f2</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f1</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JOIN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p3</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p3</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id</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f2</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WHERE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p1</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'Alice'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0" name="Shape 8"/>
          <p:cNvSpPr/>
          <p:nvPr/>
        </p:nvSpPr>
        <p:spPr>
          <a:xfrm>
            <a:off x="6255868" y="2331720"/>
            <a:ext cx="5295748"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11" name="Text 9"/>
          <p:cNvSpPr/>
          <p:nvPr/>
        </p:nvSpPr>
        <p:spPr>
          <a:xfrm>
            <a:off x="6457036" y="2459736"/>
            <a:ext cx="4929988"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Cypher (đồ thị)</a:t>
            </a:r>
            <a:endParaRPr lang="en-US" sz="1200" dirty="0"/>
          </a:p>
        </p:txBody>
      </p:sp>
      <p:sp>
        <p:nvSpPr>
          <p:cNvPr id="12" name="Shape 10"/>
          <p:cNvSpPr/>
          <p:nvPr/>
        </p:nvSpPr>
        <p:spPr>
          <a:xfrm>
            <a:off x="6457036" y="2770632"/>
            <a:ext cx="4893412" cy="0"/>
          </a:xfrm>
          <a:prstGeom prst="line">
            <a:avLst/>
          </a:prstGeom>
          <a:noFill/>
          <a:ln w="12700">
            <a:solidFill>
              <a:srgbClr val="26507F"/>
            </a:solidFill>
            <a:prstDash val="solid"/>
          </a:ln>
        </p:spPr>
      </p:sp>
      <p:sp>
        <p:nvSpPr>
          <p:cNvPr id="13" name="Text 11"/>
          <p:cNvSpPr/>
          <p:nvPr/>
        </p:nvSpPr>
        <p:spPr>
          <a:xfrm>
            <a:off x="6457036" y="2880360"/>
            <a:ext cx="4929988"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Ban cua ban cua Alice</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'Alice'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fof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DISTINCT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fof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4" name="Shape 12"/>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15" name="Shape 13"/>
          <p:cNvSpPr/>
          <p:nvPr/>
        </p:nvSpPr>
        <p:spPr>
          <a:xfrm>
            <a:off x="822960" y="5943600"/>
            <a:ext cx="292608" cy="292608"/>
          </a:xfrm>
          <a:prstGeom prst="ellipse">
            <a:avLst/>
          </a:prstGeom>
          <a:solidFill>
            <a:srgbClr val="C88A1E"/>
          </a:solidFill>
          <a:ln/>
        </p:spPr>
      </p:sp>
      <p:sp>
        <p:nvSpPr>
          <p:cNvPr id="16" name="Text 14"/>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7" name="Text 15"/>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Cypher diễn tả trực tiếp 'hình dạng' quan hệ — càng sâu càng lợi.</a:t>
            </a:r>
            <a:endParaRPr lang="en-US" sz="1300" dirty="0"/>
          </a:p>
        </p:txBody>
      </p:sp>
      <p:sp>
        <p:nvSpPr>
          <p:cNvPr id="18" name="Text 16"/>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9" name="Text 17"/>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KHÁI NIỆM</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Graph Database là gì?</a:t>
            </a:r>
            <a:endParaRPr lang="en-US" sz="3200" dirty="0"/>
          </a:p>
        </p:txBody>
      </p:sp>
      <p:sp>
        <p:nvSpPr>
          <p:cNvPr id="5" name="Text 3"/>
          <p:cNvSpPr/>
          <p:nvPr/>
        </p:nvSpPr>
        <p:spPr>
          <a:xfrm>
            <a:off x="640080" y="1920240"/>
            <a:ext cx="4937760" cy="914400"/>
          </a:xfrm>
          <a:prstGeom prst="rect">
            <a:avLst/>
          </a:prstGeom>
          <a:noFill/>
          <a:ln/>
        </p:spPr>
        <p:txBody>
          <a:bodyPr wrap="square" rtlCol="0" anchor="ctr"/>
          <a:lstStyle/>
          <a:p>
            <a:pPr indent="0" marL="0">
              <a:lnSpc>
                <a:spcPct val="110000"/>
              </a:lnSpc>
              <a:buNone/>
            </a:pPr>
            <a:r>
              <a:rPr lang="en-US" sz="1500" i="1" dirty="0">
                <a:solidFill>
                  <a:srgbClr val="56657E"/>
                </a:solidFill>
                <a:latin typeface="Calibri" pitchFamily="34" charset="0"/>
                <a:ea typeface="Calibri" pitchFamily="34" charset="-122"/>
                <a:cs typeface="Calibri" pitchFamily="34" charset="-120"/>
              </a:rPr>
              <a:t>Lưu dữ liệu như một mạng lưới: các thực thể và mối quan hệ giữa chúng.</a:t>
            </a:r>
            <a:endParaRPr lang="en-US" sz="1500" dirty="0"/>
          </a:p>
        </p:txBody>
      </p:sp>
      <p:sp>
        <p:nvSpPr>
          <p:cNvPr id="6" name="Text 4"/>
          <p:cNvSpPr/>
          <p:nvPr/>
        </p:nvSpPr>
        <p:spPr>
          <a:xfrm>
            <a:off x="640080" y="288036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Nút (Node)</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Biểu diễn một thực thể, ví dụ một người.</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Cạnh (Relationship)</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Biểu diễn mối quan hệ giữa hai nút.</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Thuộc tính (Property)</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Dữ liệu gắn trên cả nút lẫn cạnh.</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Truy vấn = duyệt cạnh</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Đi theo các quan hệ để trả lời câu hỏi.</a:t>
            </a:r>
            <a:endParaRPr lang="en-US" sz="1450" dirty="0"/>
          </a:p>
        </p:txBody>
      </p:sp>
      <p:sp>
        <p:nvSpPr>
          <p:cNvPr id="7" name="Shape 5"/>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8" name="Shape 6"/>
          <p:cNvSpPr/>
          <p:nvPr/>
        </p:nvSpPr>
        <p:spPr>
          <a:xfrm>
            <a:off x="9075480" y="2514460"/>
            <a:ext cx="1004045" cy="740231"/>
          </a:xfrm>
          <a:prstGeom prst="line">
            <a:avLst/>
          </a:prstGeom>
          <a:noFill/>
          <a:ln w="22225">
            <a:solidFill>
              <a:srgbClr val="17958A"/>
            </a:solidFill>
            <a:prstDash val="solid"/>
            <a:tailEnd type="triangle"/>
          </a:ln>
        </p:spPr>
      </p:sp>
      <p:sp>
        <p:nvSpPr>
          <p:cNvPr id="9" name="Text 7"/>
          <p:cNvSpPr/>
          <p:nvPr/>
        </p:nvSpPr>
        <p:spPr>
          <a:xfrm>
            <a:off x="9286806" y="2756560"/>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0" name="Shape 8"/>
          <p:cNvSpPr/>
          <p:nvPr/>
        </p:nvSpPr>
        <p:spPr>
          <a:xfrm flipH="1">
            <a:off x="9866257" y="3733111"/>
            <a:ext cx="383511" cy="1197719"/>
          </a:xfrm>
          <a:prstGeom prst="line">
            <a:avLst/>
          </a:prstGeom>
          <a:noFill/>
          <a:ln w="22225">
            <a:solidFill>
              <a:srgbClr val="17958A"/>
            </a:solidFill>
            <a:prstDash val="solid"/>
            <a:tailEnd type="triangle"/>
          </a:ln>
        </p:spPr>
      </p:sp>
      <p:sp>
        <p:nvSpPr>
          <p:cNvPr id="11" name="Text 9"/>
          <p:cNvSpPr/>
          <p:nvPr/>
        </p:nvSpPr>
        <p:spPr>
          <a:xfrm>
            <a:off x="9757093" y="4203954"/>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2" name="Shape 10"/>
          <p:cNvSpPr/>
          <p:nvPr/>
        </p:nvSpPr>
        <p:spPr>
          <a:xfrm flipH="1">
            <a:off x="8212570" y="5226509"/>
            <a:ext cx="1241068" cy="914"/>
          </a:xfrm>
          <a:prstGeom prst="line">
            <a:avLst/>
          </a:prstGeom>
          <a:noFill/>
          <a:ln w="22225">
            <a:solidFill>
              <a:srgbClr val="17958A"/>
            </a:solidFill>
            <a:prstDash val="solid"/>
            <a:tailEnd type="triangle"/>
          </a:ln>
        </p:spPr>
      </p:sp>
      <p:sp>
        <p:nvSpPr>
          <p:cNvPr id="13" name="Text 11"/>
          <p:cNvSpPr/>
          <p:nvPr/>
        </p:nvSpPr>
        <p:spPr>
          <a:xfrm>
            <a:off x="8525866" y="5098493"/>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4" name="Shape 12"/>
          <p:cNvSpPr/>
          <p:nvPr/>
        </p:nvSpPr>
        <p:spPr>
          <a:xfrm flipH="1" flipV="1">
            <a:off x="7403803" y="3733111"/>
            <a:ext cx="383511" cy="1197719"/>
          </a:xfrm>
          <a:prstGeom prst="line">
            <a:avLst/>
          </a:prstGeom>
          <a:noFill/>
          <a:ln w="22225">
            <a:solidFill>
              <a:srgbClr val="17958A"/>
            </a:solidFill>
            <a:prstDash val="solid"/>
            <a:tailEnd type="triangle"/>
          </a:ln>
        </p:spPr>
      </p:sp>
      <p:sp>
        <p:nvSpPr>
          <p:cNvPr id="15" name="Text 13"/>
          <p:cNvSpPr/>
          <p:nvPr/>
        </p:nvSpPr>
        <p:spPr>
          <a:xfrm>
            <a:off x="7294638" y="4203954"/>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6" name="Shape 14"/>
          <p:cNvSpPr/>
          <p:nvPr/>
        </p:nvSpPr>
        <p:spPr>
          <a:xfrm flipV="1">
            <a:off x="7553600" y="2514460"/>
            <a:ext cx="1004045" cy="740231"/>
          </a:xfrm>
          <a:prstGeom prst="line">
            <a:avLst/>
          </a:prstGeom>
          <a:noFill/>
          <a:ln w="22225">
            <a:solidFill>
              <a:srgbClr val="17958A"/>
            </a:solidFill>
            <a:prstDash val="solid"/>
            <a:tailEnd type="triangle"/>
          </a:ln>
        </p:spPr>
      </p:sp>
      <p:sp>
        <p:nvSpPr>
          <p:cNvPr id="17" name="Text 15"/>
          <p:cNvSpPr/>
          <p:nvPr/>
        </p:nvSpPr>
        <p:spPr>
          <a:xfrm>
            <a:off x="7764925" y="2756560"/>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8" name="Shape 16"/>
          <p:cNvSpPr/>
          <p:nvPr/>
        </p:nvSpPr>
        <p:spPr>
          <a:xfrm>
            <a:off x="8540496" y="2048256"/>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9" name="Text 17"/>
          <p:cNvSpPr/>
          <p:nvPr/>
        </p:nvSpPr>
        <p:spPr>
          <a:xfrm>
            <a:off x="8220456" y="20574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An</a:t>
            </a:r>
            <a:endParaRPr lang="en-US" sz="1050" dirty="0"/>
          </a:p>
        </p:txBody>
      </p:sp>
      <p:sp>
        <p:nvSpPr>
          <p:cNvPr id="20" name="Shape 18"/>
          <p:cNvSpPr/>
          <p:nvPr/>
        </p:nvSpPr>
        <p:spPr>
          <a:xfrm>
            <a:off x="10062377" y="3153967"/>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1" name="Text 19"/>
          <p:cNvSpPr/>
          <p:nvPr/>
        </p:nvSpPr>
        <p:spPr>
          <a:xfrm>
            <a:off x="9742337" y="316311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Bình</a:t>
            </a:r>
            <a:endParaRPr lang="en-US" sz="1050" dirty="0"/>
          </a:p>
        </p:txBody>
      </p:sp>
      <p:sp>
        <p:nvSpPr>
          <p:cNvPr id="22" name="Shape 20"/>
          <p:cNvSpPr/>
          <p:nvPr/>
        </p:nvSpPr>
        <p:spPr>
          <a:xfrm>
            <a:off x="9481070" y="4943045"/>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3" name="Text 21"/>
          <p:cNvSpPr/>
          <p:nvPr/>
        </p:nvSpPr>
        <p:spPr>
          <a:xfrm>
            <a:off x="9161030" y="4952189"/>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Chi</a:t>
            </a:r>
            <a:endParaRPr lang="en-US" sz="1050" dirty="0"/>
          </a:p>
        </p:txBody>
      </p:sp>
      <p:sp>
        <p:nvSpPr>
          <p:cNvPr id="24" name="Shape 22"/>
          <p:cNvSpPr/>
          <p:nvPr/>
        </p:nvSpPr>
        <p:spPr>
          <a:xfrm>
            <a:off x="7599922" y="4943045"/>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5" name="Text 23"/>
          <p:cNvSpPr/>
          <p:nvPr/>
        </p:nvSpPr>
        <p:spPr>
          <a:xfrm>
            <a:off x="7279882" y="4952189"/>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Dũng</a:t>
            </a:r>
            <a:endParaRPr lang="en-US" sz="1050" dirty="0"/>
          </a:p>
        </p:txBody>
      </p:sp>
      <p:sp>
        <p:nvSpPr>
          <p:cNvPr id="26" name="Shape 24"/>
          <p:cNvSpPr/>
          <p:nvPr/>
        </p:nvSpPr>
        <p:spPr>
          <a:xfrm>
            <a:off x="7018615" y="3153967"/>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7" name="Text 25"/>
          <p:cNvSpPr/>
          <p:nvPr/>
        </p:nvSpPr>
        <p:spPr>
          <a:xfrm>
            <a:off x="6698575" y="316311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Hoa</a:t>
            </a:r>
            <a:endParaRPr lang="en-US" sz="1050" dirty="0"/>
          </a:p>
        </p:txBody>
      </p:sp>
      <p:sp>
        <p:nvSpPr>
          <p:cNvPr id="28" name="Text 26"/>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Lưu trữ và truy vấn theo cách dữ liệu thực sự kết nối.</a:t>
            </a:r>
            <a:endParaRPr lang="en-US" sz="1050" dirty="0"/>
          </a:p>
        </p:txBody>
      </p:sp>
      <p:sp>
        <p:nvSpPr>
          <p:cNvPr id="29" name="Text 27"/>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30" name="Text 28"/>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LỊCH SỬ</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Chặng đường phát triển</a:t>
            </a:r>
            <a:endParaRPr lang="en-US" sz="3200" dirty="0"/>
          </a:p>
        </p:txBody>
      </p:sp>
      <p:sp>
        <p:nvSpPr>
          <p:cNvPr id="5" name="Shape 3"/>
          <p:cNvSpPr/>
          <p:nvPr/>
        </p:nvSpPr>
        <p:spPr>
          <a:xfrm>
            <a:off x="1874520" y="3611880"/>
            <a:ext cx="8442655" cy="0"/>
          </a:xfrm>
          <a:prstGeom prst="line">
            <a:avLst/>
          </a:prstGeom>
          <a:noFill/>
          <a:ln w="31750">
            <a:solidFill>
              <a:srgbClr val="2E6DB4"/>
            </a:solidFill>
            <a:prstDash val="solid"/>
          </a:ln>
        </p:spPr>
      </p:sp>
      <p:sp>
        <p:nvSpPr>
          <p:cNvPr id="6" name="Shape 4"/>
          <p:cNvSpPr/>
          <p:nvPr/>
        </p:nvSpPr>
        <p:spPr>
          <a:xfrm>
            <a:off x="1773936" y="3511296"/>
            <a:ext cx="201168" cy="201168"/>
          </a:xfrm>
          <a:prstGeom prst="ellipse">
            <a:avLst/>
          </a:prstGeom>
          <a:solidFill>
            <a:srgbClr val="C88A1E"/>
          </a:solidFill>
          <a:ln w="25400">
            <a:solidFill>
              <a:srgbClr val="FFFFFF"/>
            </a:solidFill>
            <a:prstDash val="solid"/>
          </a:ln>
        </p:spPr>
      </p:sp>
      <p:sp>
        <p:nvSpPr>
          <p:cNvPr id="7" name="Text 5"/>
          <p:cNvSpPr/>
          <p:nvPr/>
        </p:nvSpPr>
        <p:spPr>
          <a:xfrm>
            <a:off x="1051560" y="3154680"/>
            <a:ext cx="1645920" cy="274320"/>
          </a:xfrm>
          <a:prstGeom prst="rect">
            <a:avLst/>
          </a:prstGeom>
          <a:noFill/>
          <a:ln/>
        </p:spPr>
        <p:txBody>
          <a:bodyPr wrap="square" rtlCol="0" anchor="ctr"/>
          <a:lstStyle/>
          <a:p>
            <a:pPr algn="ctr" indent="0" marL="0">
              <a:buNone/>
            </a:pPr>
            <a:r>
              <a:rPr lang="en-US" sz="1500" b="1" dirty="0">
                <a:solidFill>
                  <a:srgbClr val="12305B"/>
                </a:solidFill>
                <a:latin typeface="Cambria" pitchFamily="34" charset="0"/>
                <a:ea typeface="Cambria" pitchFamily="34" charset="-122"/>
                <a:cs typeface="Cambria" pitchFamily="34" charset="-120"/>
              </a:rPr>
              <a:t>2000s</a:t>
            </a:r>
            <a:endParaRPr lang="en-US" sz="1500" dirty="0"/>
          </a:p>
        </p:txBody>
      </p:sp>
      <p:sp>
        <p:nvSpPr>
          <p:cNvPr id="8" name="Shape 6"/>
          <p:cNvSpPr/>
          <p:nvPr/>
        </p:nvSpPr>
        <p:spPr>
          <a:xfrm>
            <a:off x="692548" y="1801368"/>
            <a:ext cx="2363943" cy="1280160"/>
          </a:xfrm>
          <a:prstGeom prst="roundRect">
            <a:avLst>
              <a:gd name="adj" fmla="val 5000"/>
            </a:avLst>
          </a:prstGeom>
          <a:solidFill>
            <a:srgbClr val="EEF3FA"/>
          </a:solidFill>
          <a:ln w="12700">
            <a:solidFill>
              <a:srgbClr val="C9D6E8"/>
            </a:solidFill>
            <a:prstDash val="solid"/>
          </a:ln>
        </p:spPr>
      </p:sp>
      <p:sp>
        <p:nvSpPr>
          <p:cNvPr id="9" name="Text 7"/>
          <p:cNvSpPr/>
          <p:nvPr/>
        </p:nvSpPr>
        <p:spPr>
          <a:xfrm>
            <a:off x="783988" y="1911096"/>
            <a:ext cx="2181063" cy="1060704"/>
          </a:xfrm>
          <a:prstGeom prst="rect">
            <a:avLst/>
          </a:prstGeom>
          <a:noFill/>
          <a:ln/>
        </p:spPr>
        <p:txBody>
          <a:bodyPr wrap="square" lIns="25400" tIns="25400" rIns="25400" bIns="25400" rtlCol="0" anchor="t"/>
          <a:lstStyle/>
          <a:p>
            <a:pPr algn="ctr" indent="0" marL="0">
              <a:lnSpc>
                <a:spcPct val="100000"/>
              </a:lnSpc>
              <a:buNone/>
            </a:pPr>
            <a:r>
              <a:rPr lang="en-US" sz="1250" b="1" dirty="0">
                <a:solidFill>
                  <a:srgbClr val="12305B"/>
                </a:solidFill>
                <a:latin typeface="Calibri" pitchFamily="34" charset="0"/>
                <a:ea typeface="Calibri" pitchFamily="34" charset="-122"/>
                <a:cs typeface="Calibri" pitchFamily="34" charset="-120"/>
              </a:rPr>
              <a:t>Ý tưởng
</a:t>
            </a:r>
            <a:endParaRPr lang="en-US" sz="1250" dirty="0"/>
          </a:p>
          <a:p>
            <a:pPr algn="ctr" indent="0" marL="0">
              <a:lnSpc>
                <a:spcPct val="100000"/>
              </a:lnSpc>
              <a:buNone/>
            </a:pPr>
            <a:r>
              <a:rPr lang="en-US" sz="1050" dirty="0">
                <a:solidFill>
                  <a:srgbClr val="56657E"/>
                </a:solidFill>
                <a:latin typeface="Calibri" pitchFamily="34" charset="0"/>
                <a:ea typeface="Calibri" pitchFamily="34" charset="-122"/>
                <a:cs typeface="Calibri" pitchFamily="34" charset="-120"/>
              </a:rPr>
              <a:t>Dùng đồ thị để mô hình dữ liệu.</a:t>
            </a:r>
            <a:endParaRPr lang="en-US" sz="1250" dirty="0"/>
          </a:p>
        </p:txBody>
      </p:sp>
      <p:sp>
        <p:nvSpPr>
          <p:cNvPr id="10" name="Shape 8"/>
          <p:cNvSpPr/>
          <p:nvPr/>
        </p:nvSpPr>
        <p:spPr>
          <a:xfrm>
            <a:off x="3884600" y="3511296"/>
            <a:ext cx="201168" cy="201168"/>
          </a:xfrm>
          <a:prstGeom prst="ellipse">
            <a:avLst/>
          </a:prstGeom>
          <a:solidFill>
            <a:srgbClr val="C88A1E"/>
          </a:solidFill>
          <a:ln w="25400">
            <a:solidFill>
              <a:srgbClr val="FFFFFF"/>
            </a:solidFill>
            <a:prstDash val="solid"/>
          </a:ln>
        </p:spPr>
      </p:sp>
      <p:sp>
        <p:nvSpPr>
          <p:cNvPr id="11" name="Text 9"/>
          <p:cNvSpPr/>
          <p:nvPr/>
        </p:nvSpPr>
        <p:spPr>
          <a:xfrm>
            <a:off x="3162224" y="3849624"/>
            <a:ext cx="1645920" cy="274320"/>
          </a:xfrm>
          <a:prstGeom prst="rect">
            <a:avLst/>
          </a:prstGeom>
          <a:noFill/>
          <a:ln/>
        </p:spPr>
        <p:txBody>
          <a:bodyPr wrap="square" rtlCol="0" anchor="ctr"/>
          <a:lstStyle/>
          <a:p>
            <a:pPr algn="ctr" indent="0" marL="0">
              <a:buNone/>
            </a:pPr>
            <a:r>
              <a:rPr lang="en-US" sz="1500" b="1" dirty="0">
                <a:solidFill>
                  <a:srgbClr val="12305B"/>
                </a:solidFill>
                <a:latin typeface="Cambria" pitchFamily="34" charset="0"/>
                <a:ea typeface="Cambria" pitchFamily="34" charset="-122"/>
                <a:cs typeface="Cambria" pitchFamily="34" charset="-120"/>
              </a:rPr>
              <a:t>2010</a:t>
            </a:r>
            <a:endParaRPr lang="en-US" sz="1500" dirty="0"/>
          </a:p>
        </p:txBody>
      </p:sp>
      <p:sp>
        <p:nvSpPr>
          <p:cNvPr id="12" name="Shape 10"/>
          <p:cNvSpPr/>
          <p:nvPr/>
        </p:nvSpPr>
        <p:spPr>
          <a:xfrm>
            <a:off x="2803212" y="4178808"/>
            <a:ext cx="2363943" cy="1280160"/>
          </a:xfrm>
          <a:prstGeom prst="roundRect">
            <a:avLst>
              <a:gd name="adj" fmla="val 5000"/>
            </a:avLst>
          </a:prstGeom>
          <a:solidFill>
            <a:srgbClr val="EEF3FA"/>
          </a:solidFill>
          <a:ln w="12700">
            <a:solidFill>
              <a:srgbClr val="C9D6E8"/>
            </a:solidFill>
            <a:prstDash val="solid"/>
          </a:ln>
        </p:spPr>
      </p:sp>
      <p:sp>
        <p:nvSpPr>
          <p:cNvPr id="13" name="Text 11"/>
          <p:cNvSpPr/>
          <p:nvPr/>
        </p:nvSpPr>
        <p:spPr>
          <a:xfrm>
            <a:off x="2894652" y="4288536"/>
            <a:ext cx="2181063" cy="1060704"/>
          </a:xfrm>
          <a:prstGeom prst="rect">
            <a:avLst/>
          </a:prstGeom>
          <a:noFill/>
          <a:ln/>
        </p:spPr>
        <p:txBody>
          <a:bodyPr wrap="square" lIns="25400" tIns="25400" rIns="25400" bIns="25400" rtlCol="0" anchor="t"/>
          <a:lstStyle/>
          <a:p>
            <a:pPr algn="ctr" indent="0" marL="0">
              <a:lnSpc>
                <a:spcPct val="100000"/>
              </a:lnSpc>
              <a:buNone/>
            </a:pPr>
            <a:r>
              <a:rPr lang="en-US" sz="1250" b="1" dirty="0">
                <a:solidFill>
                  <a:srgbClr val="12305B"/>
                </a:solidFill>
                <a:latin typeface="Calibri" pitchFamily="34" charset="0"/>
                <a:ea typeface="Calibri" pitchFamily="34" charset="-122"/>
                <a:cs typeface="Calibri" pitchFamily="34" charset="-120"/>
              </a:rPr>
              <a:t>Neo4j 1.0
</a:t>
            </a:r>
            <a:endParaRPr lang="en-US" sz="1250" dirty="0"/>
          </a:p>
          <a:p>
            <a:pPr algn="ctr" indent="0" marL="0">
              <a:lnSpc>
                <a:spcPct val="100000"/>
              </a:lnSpc>
              <a:buNone/>
            </a:pPr>
            <a:r>
              <a:rPr lang="en-US" sz="1050" dirty="0">
                <a:solidFill>
                  <a:srgbClr val="56657E"/>
                </a:solidFill>
                <a:latin typeface="Calibri" pitchFamily="34" charset="0"/>
                <a:ea typeface="Calibri" pitchFamily="34" charset="-122"/>
                <a:cs typeface="Calibri" pitchFamily="34" charset="-120"/>
              </a:rPr>
              <a:t>Bản phát hành ổn định đầu tiên.</a:t>
            </a:r>
            <a:endParaRPr lang="en-US" sz="1250" dirty="0"/>
          </a:p>
        </p:txBody>
      </p:sp>
      <p:sp>
        <p:nvSpPr>
          <p:cNvPr id="14" name="Shape 12"/>
          <p:cNvSpPr/>
          <p:nvPr/>
        </p:nvSpPr>
        <p:spPr>
          <a:xfrm>
            <a:off x="5995264" y="3511296"/>
            <a:ext cx="201168" cy="201168"/>
          </a:xfrm>
          <a:prstGeom prst="ellipse">
            <a:avLst/>
          </a:prstGeom>
          <a:solidFill>
            <a:srgbClr val="C88A1E"/>
          </a:solidFill>
          <a:ln w="25400">
            <a:solidFill>
              <a:srgbClr val="FFFFFF"/>
            </a:solidFill>
            <a:prstDash val="solid"/>
          </a:ln>
        </p:spPr>
      </p:sp>
      <p:sp>
        <p:nvSpPr>
          <p:cNvPr id="15" name="Text 13"/>
          <p:cNvSpPr/>
          <p:nvPr/>
        </p:nvSpPr>
        <p:spPr>
          <a:xfrm>
            <a:off x="5272888" y="3154680"/>
            <a:ext cx="1645920" cy="274320"/>
          </a:xfrm>
          <a:prstGeom prst="rect">
            <a:avLst/>
          </a:prstGeom>
          <a:noFill/>
          <a:ln/>
        </p:spPr>
        <p:txBody>
          <a:bodyPr wrap="square" rtlCol="0" anchor="ctr"/>
          <a:lstStyle/>
          <a:p>
            <a:pPr algn="ctr" indent="0" marL="0">
              <a:buNone/>
            </a:pPr>
            <a:r>
              <a:rPr lang="en-US" sz="1500" b="1" dirty="0">
                <a:solidFill>
                  <a:srgbClr val="12305B"/>
                </a:solidFill>
                <a:latin typeface="Cambria" pitchFamily="34" charset="0"/>
                <a:ea typeface="Cambria" pitchFamily="34" charset="-122"/>
                <a:cs typeface="Cambria" pitchFamily="34" charset="-120"/>
              </a:rPr>
              <a:t>2011</a:t>
            </a:r>
            <a:endParaRPr lang="en-US" sz="1500" dirty="0"/>
          </a:p>
        </p:txBody>
      </p:sp>
      <p:sp>
        <p:nvSpPr>
          <p:cNvPr id="16" name="Shape 14"/>
          <p:cNvSpPr/>
          <p:nvPr/>
        </p:nvSpPr>
        <p:spPr>
          <a:xfrm>
            <a:off x="4913876" y="1801368"/>
            <a:ext cx="2363943" cy="1280160"/>
          </a:xfrm>
          <a:prstGeom prst="roundRect">
            <a:avLst>
              <a:gd name="adj" fmla="val 5000"/>
            </a:avLst>
          </a:prstGeom>
          <a:solidFill>
            <a:srgbClr val="EEF3FA"/>
          </a:solidFill>
          <a:ln w="12700">
            <a:solidFill>
              <a:srgbClr val="C9D6E8"/>
            </a:solidFill>
            <a:prstDash val="solid"/>
          </a:ln>
        </p:spPr>
      </p:sp>
      <p:sp>
        <p:nvSpPr>
          <p:cNvPr id="17" name="Text 15"/>
          <p:cNvSpPr/>
          <p:nvPr/>
        </p:nvSpPr>
        <p:spPr>
          <a:xfrm>
            <a:off x="5005316" y="1911096"/>
            <a:ext cx="2181063" cy="1060704"/>
          </a:xfrm>
          <a:prstGeom prst="rect">
            <a:avLst/>
          </a:prstGeom>
          <a:noFill/>
          <a:ln/>
        </p:spPr>
        <p:txBody>
          <a:bodyPr wrap="square" lIns="25400" tIns="25400" rIns="25400" bIns="25400" rtlCol="0" anchor="t"/>
          <a:lstStyle/>
          <a:p>
            <a:pPr algn="ctr" indent="0" marL="0">
              <a:lnSpc>
                <a:spcPct val="100000"/>
              </a:lnSpc>
              <a:buNone/>
            </a:pPr>
            <a:r>
              <a:rPr lang="en-US" sz="1250" b="1" dirty="0">
                <a:solidFill>
                  <a:srgbClr val="12305B"/>
                </a:solidFill>
                <a:latin typeface="Calibri" pitchFamily="34" charset="0"/>
                <a:ea typeface="Calibri" pitchFamily="34" charset="-122"/>
                <a:cs typeface="Calibri" pitchFamily="34" charset="-120"/>
              </a:rPr>
              <a:t>Cypher
</a:t>
            </a:r>
            <a:endParaRPr lang="en-US" sz="1250" dirty="0"/>
          </a:p>
          <a:p>
            <a:pPr algn="ctr" indent="0" marL="0">
              <a:lnSpc>
                <a:spcPct val="100000"/>
              </a:lnSpc>
              <a:buNone/>
            </a:pPr>
            <a:r>
              <a:rPr lang="en-US" sz="1050" dirty="0">
                <a:solidFill>
                  <a:srgbClr val="56657E"/>
                </a:solidFill>
                <a:latin typeface="Calibri" pitchFamily="34" charset="0"/>
                <a:ea typeface="Calibri" pitchFamily="34" charset="-122"/>
                <a:cs typeface="Calibri" pitchFamily="34" charset="-120"/>
              </a:rPr>
              <a:t>Ngôn ngữ truy vấn đồ thị ra đời.</a:t>
            </a:r>
            <a:endParaRPr lang="en-US" sz="1250" dirty="0"/>
          </a:p>
        </p:txBody>
      </p:sp>
      <p:sp>
        <p:nvSpPr>
          <p:cNvPr id="18" name="Shape 16"/>
          <p:cNvSpPr/>
          <p:nvPr/>
        </p:nvSpPr>
        <p:spPr>
          <a:xfrm>
            <a:off x="8105927" y="3511296"/>
            <a:ext cx="201168" cy="201168"/>
          </a:xfrm>
          <a:prstGeom prst="ellipse">
            <a:avLst/>
          </a:prstGeom>
          <a:solidFill>
            <a:srgbClr val="C88A1E"/>
          </a:solidFill>
          <a:ln w="25400">
            <a:solidFill>
              <a:srgbClr val="FFFFFF"/>
            </a:solidFill>
            <a:prstDash val="solid"/>
          </a:ln>
        </p:spPr>
      </p:sp>
      <p:sp>
        <p:nvSpPr>
          <p:cNvPr id="19" name="Text 17"/>
          <p:cNvSpPr/>
          <p:nvPr/>
        </p:nvSpPr>
        <p:spPr>
          <a:xfrm>
            <a:off x="7383551" y="3849624"/>
            <a:ext cx="1645920" cy="274320"/>
          </a:xfrm>
          <a:prstGeom prst="rect">
            <a:avLst/>
          </a:prstGeom>
          <a:noFill/>
          <a:ln/>
        </p:spPr>
        <p:txBody>
          <a:bodyPr wrap="square" rtlCol="0" anchor="ctr"/>
          <a:lstStyle/>
          <a:p>
            <a:pPr algn="ctr" indent="0" marL="0">
              <a:buNone/>
            </a:pPr>
            <a:r>
              <a:rPr lang="en-US" sz="1500" b="1" dirty="0">
                <a:solidFill>
                  <a:srgbClr val="12305B"/>
                </a:solidFill>
                <a:latin typeface="Cambria" pitchFamily="34" charset="0"/>
                <a:ea typeface="Cambria" pitchFamily="34" charset="-122"/>
                <a:cs typeface="Cambria" pitchFamily="34" charset="-120"/>
              </a:rPr>
              <a:t>2015</a:t>
            </a:r>
            <a:endParaRPr lang="en-US" sz="1500" dirty="0"/>
          </a:p>
        </p:txBody>
      </p:sp>
      <p:sp>
        <p:nvSpPr>
          <p:cNvPr id="20" name="Shape 18"/>
          <p:cNvSpPr/>
          <p:nvPr/>
        </p:nvSpPr>
        <p:spPr>
          <a:xfrm>
            <a:off x="7024540" y="4178808"/>
            <a:ext cx="2363943" cy="1280160"/>
          </a:xfrm>
          <a:prstGeom prst="roundRect">
            <a:avLst>
              <a:gd name="adj" fmla="val 5000"/>
            </a:avLst>
          </a:prstGeom>
          <a:solidFill>
            <a:srgbClr val="EEF3FA"/>
          </a:solidFill>
          <a:ln w="12700">
            <a:solidFill>
              <a:srgbClr val="C9D6E8"/>
            </a:solidFill>
            <a:prstDash val="solid"/>
          </a:ln>
        </p:spPr>
      </p:sp>
      <p:sp>
        <p:nvSpPr>
          <p:cNvPr id="21" name="Text 19"/>
          <p:cNvSpPr/>
          <p:nvPr/>
        </p:nvSpPr>
        <p:spPr>
          <a:xfrm>
            <a:off x="7115980" y="4288536"/>
            <a:ext cx="2181063" cy="1060704"/>
          </a:xfrm>
          <a:prstGeom prst="rect">
            <a:avLst/>
          </a:prstGeom>
          <a:noFill/>
          <a:ln/>
        </p:spPr>
        <p:txBody>
          <a:bodyPr wrap="square" lIns="25400" tIns="25400" rIns="25400" bIns="25400" rtlCol="0" anchor="t"/>
          <a:lstStyle/>
          <a:p>
            <a:pPr algn="ctr" indent="0" marL="0">
              <a:lnSpc>
                <a:spcPct val="100000"/>
              </a:lnSpc>
              <a:buNone/>
            </a:pPr>
            <a:r>
              <a:rPr lang="en-US" sz="1250" b="1" dirty="0">
                <a:solidFill>
                  <a:srgbClr val="12305B"/>
                </a:solidFill>
                <a:latin typeface="Calibri" pitchFamily="34" charset="0"/>
                <a:ea typeface="Calibri" pitchFamily="34" charset="-122"/>
                <a:cs typeface="Calibri" pitchFamily="34" charset="-120"/>
              </a:rPr>
              <a:t>openCypher
</a:t>
            </a:r>
            <a:endParaRPr lang="en-US" sz="1250" dirty="0"/>
          </a:p>
          <a:p>
            <a:pPr algn="ctr" indent="0" marL="0">
              <a:lnSpc>
                <a:spcPct val="100000"/>
              </a:lnSpc>
              <a:buNone/>
            </a:pPr>
            <a:r>
              <a:rPr lang="en-US" sz="1050" dirty="0">
                <a:solidFill>
                  <a:srgbClr val="56657E"/>
                </a:solidFill>
                <a:latin typeface="Calibri" pitchFamily="34" charset="0"/>
                <a:ea typeface="Calibri" pitchFamily="34" charset="-122"/>
                <a:cs typeface="Calibri" pitchFamily="34" charset="-120"/>
              </a:rPr>
              <a:t>Cypher được mở nguồn.</a:t>
            </a:r>
            <a:endParaRPr lang="en-US" sz="1250" dirty="0"/>
          </a:p>
        </p:txBody>
      </p:sp>
      <p:sp>
        <p:nvSpPr>
          <p:cNvPr id="22" name="Shape 20"/>
          <p:cNvSpPr/>
          <p:nvPr/>
        </p:nvSpPr>
        <p:spPr>
          <a:xfrm>
            <a:off x="10216591" y="3511296"/>
            <a:ext cx="201168" cy="201168"/>
          </a:xfrm>
          <a:prstGeom prst="ellipse">
            <a:avLst/>
          </a:prstGeom>
          <a:solidFill>
            <a:srgbClr val="C88A1E"/>
          </a:solidFill>
          <a:ln w="25400">
            <a:solidFill>
              <a:srgbClr val="FFFFFF"/>
            </a:solidFill>
            <a:prstDash val="solid"/>
          </a:ln>
        </p:spPr>
      </p:sp>
      <p:sp>
        <p:nvSpPr>
          <p:cNvPr id="23" name="Text 21"/>
          <p:cNvSpPr/>
          <p:nvPr/>
        </p:nvSpPr>
        <p:spPr>
          <a:xfrm>
            <a:off x="9494215" y="3154680"/>
            <a:ext cx="1645920" cy="274320"/>
          </a:xfrm>
          <a:prstGeom prst="rect">
            <a:avLst/>
          </a:prstGeom>
          <a:noFill/>
          <a:ln/>
        </p:spPr>
        <p:txBody>
          <a:bodyPr wrap="square" rtlCol="0" anchor="ctr"/>
          <a:lstStyle/>
          <a:p>
            <a:pPr algn="ctr" indent="0" marL="0">
              <a:buNone/>
            </a:pPr>
            <a:r>
              <a:rPr lang="en-US" sz="1500" b="1" dirty="0">
                <a:solidFill>
                  <a:srgbClr val="12305B"/>
                </a:solidFill>
                <a:latin typeface="Cambria" pitchFamily="34" charset="0"/>
                <a:ea typeface="Cambria" pitchFamily="34" charset="-122"/>
                <a:cs typeface="Cambria" pitchFamily="34" charset="-120"/>
              </a:rPr>
              <a:t>2024</a:t>
            </a:r>
            <a:endParaRPr lang="en-US" sz="1500" dirty="0"/>
          </a:p>
        </p:txBody>
      </p:sp>
      <p:sp>
        <p:nvSpPr>
          <p:cNvPr id="24" name="Shape 22"/>
          <p:cNvSpPr/>
          <p:nvPr/>
        </p:nvSpPr>
        <p:spPr>
          <a:xfrm>
            <a:off x="9135203" y="1801368"/>
            <a:ext cx="2363943" cy="1280160"/>
          </a:xfrm>
          <a:prstGeom prst="roundRect">
            <a:avLst>
              <a:gd name="adj" fmla="val 5000"/>
            </a:avLst>
          </a:prstGeom>
          <a:solidFill>
            <a:srgbClr val="EEF3FA"/>
          </a:solidFill>
          <a:ln w="12700">
            <a:solidFill>
              <a:srgbClr val="C9D6E8"/>
            </a:solidFill>
            <a:prstDash val="solid"/>
          </a:ln>
        </p:spPr>
      </p:sp>
      <p:sp>
        <p:nvSpPr>
          <p:cNvPr id="25" name="Text 23"/>
          <p:cNvSpPr/>
          <p:nvPr/>
        </p:nvSpPr>
        <p:spPr>
          <a:xfrm>
            <a:off x="9226643" y="1911096"/>
            <a:ext cx="2181063" cy="1060704"/>
          </a:xfrm>
          <a:prstGeom prst="rect">
            <a:avLst/>
          </a:prstGeom>
          <a:noFill/>
          <a:ln/>
        </p:spPr>
        <p:txBody>
          <a:bodyPr wrap="square" lIns="25400" tIns="25400" rIns="25400" bIns="25400" rtlCol="0" anchor="t"/>
          <a:lstStyle/>
          <a:p>
            <a:pPr algn="ctr" indent="0" marL="0">
              <a:lnSpc>
                <a:spcPct val="100000"/>
              </a:lnSpc>
              <a:buNone/>
            </a:pPr>
            <a:r>
              <a:rPr lang="en-US" sz="1250" b="1" dirty="0">
                <a:solidFill>
                  <a:srgbClr val="12305B"/>
                </a:solidFill>
                <a:latin typeface="Calibri" pitchFamily="34" charset="0"/>
                <a:ea typeface="Calibri" pitchFamily="34" charset="-122"/>
                <a:cs typeface="Calibri" pitchFamily="34" charset="-120"/>
              </a:rPr>
              <a:t>GQL
</a:t>
            </a:r>
            <a:endParaRPr lang="en-US" sz="1250" dirty="0"/>
          </a:p>
          <a:p>
            <a:pPr algn="ctr" indent="0" marL="0">
              <a:lnSpc>
                <a:spcPct val="100000"/>
              </a:lnSpc>
              <a:buNone/>
            </a:pPr>
            <a:r>
              <a:rPr lang="en-US" sz="1050" dirty="0">
                <a:solidFill>
                  <a:srgbClr val="56657E"/>
                </a:solidFill>
                <a:latin typeface="Calibri" pitchFamily="34" charset="0"/>
                <a:ea typeface="Calibri" pitchFamily="34" charset="-122"/>
                <a:cs typeface="Calibri" pitchFamily="34" charset="-120"/>
              </a:rPr>
              <a:t>Chuẩn ISO/IEC 39075 quốc tế.</a:t>
            </a:r>
            <a:endParaRPr lang="en-US" sz="1250" dirty="0"/>
          </a:p>
        </p:txBody>
      </p:sp>
      <p:sp>
        <p:nvSpPr>
          <p:cNvPr id="26" name="Text 24"/>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7" name="Text 25"/>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ỨNG DỤNG</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Graph Database dùng để làm gì?</a:t>
            </a:r>
            <a:endParaRPr lang="en-US" sz="3200" dirty="0"/>
          </a:p>
        </p:txBody>
      </p:sp>
      <p:sp>
        <p:nvSpPr>
          <p:cNvPr id="5" name="Shape 3"/>
          <p:cNvSpPr/>
          <p:nvPr/>
        </p:nvSpPr>
        <p:spPr>
          <a:xfrm>
            <a:off x="640080" y="18745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6" name="Shape 4"/>
          <p:cNvSpPr/>
          <p:nvPr/>
        </p:nvSpPr>
        <p:spPr>
          <a:xfrm>
            <a:off x="859536" y="2075688"/>
            <a:ext cx="457200" cy="457200"/>
          </a:xfrm>
          <a:prstGeom prst="ellipse">
            <a:avLst/>
          </a:prstGeom>
          <a:solidFill>
            <a:srgbClr val="2E6DB4"/>
          </a:solidFill>
          <a:ln/>
        </p:spPr>
      </p:sp>
      <p:sp>
        <p:nvSpPr>
          <p:cNvPr id="7" name="Text 5"/>
          <p:cNvSpPr/>
          <p:nvPr/>
        </p:nvSpPr>
        <p:spPr>
          <a:xfrm>
            <a:off x="859536"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859536" y="26609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Hệ gợi ý</a:t>
            </a:r>
            <a:endParaRPr lang="en-US" sz="1550" dirty="0"/>
          </a:p>
        </p:txBody>
      </p:sp>
      <p:sp>
        <p:nvSpPr>
          <p:cNvPr id="9" name="Text 7"/>
          <p:cNvSpPr/>
          <p:nvPr/>
        </p:nvSpPr>
        <p:spPr>
          <a:xfrm>
            <a:off x="859536" y="30815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Đề xuất sản phẩm, phim, bạn bè theo mạng lưới hành vi.</a:t>
            </a:r>
            <a:endParaRPr lang="en-US" sz="1250" dirty="0"/>
          </a:p>
        </p:txBody>
      </p:sp>
      <p:sp>
        <p:nvSpPr>
          <p:cNvPr id="10" name="Shape 8"/>
          <p:cNvSpPr/>
          <p:nvPr/>
        </p:nvSpPr>
        <p:spPr>
          <a:xfrm>
            <a:off x="4368698" y="18745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1" name="Shape 9"/>
          <p:cNvSpPr/>
          <p:nvPr/>
        </p:nvSpPr>
        <p:spPr>
          <a:xfrm>
            <a:off x="4588154" y="2075688"/>
            <a:ext cx="457200" cy="457200"/>
          </a:xfrm>
          <a:prstGeom prst="ellipse">
            <a:avLst/>
          </a:prstGeom>
          <a:solidFill>
            <a:srgbClr val="17958A"/>
          </a:solidFill>
          <a:ln/>
        </p:spPr>
      </p:sp>
      <p:sp>
        <p:nvSpPr>
          <p:cNvPr id="12" name="Text 10"/>
          <p:cNvSpPr/>
          <p:nvPr/>
        </p:nvSpPr>
        <p:spPr>
          <a:xfrm>
            <a:off x="4588154"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588154" y="26609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Chống gian lận</a:t>
            </a:r>
            <a:endParaRPr lang="en-US" sz="1550" dirty="0"/>
          </a:p>
        </p:txBody>
      </p:sp>
      <p:sp>
        <p:nvSpPr>
          <p:cNvPr id="14" name="Text 12"/>
          <p:cNvSpPr/>
          <p:nvPr/>
        </p:nvSpPr>
        <p:spPr>
          <a:xfrm>
            <a:off x="4588154" y="30815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Phát hiện vòng lặp, cụm bất thường theo thời gian thực.</a:t>
            </a:r>
            <a:endParaRPr lang="en-US" sz="1250" dirty="0"/>
          </a:p>
        </p:txBody>
      </p:sp>
      <p:sp>
        <p:nvSpPr>
          <p:cNvPr id="15" name="Shape 13"/>
          <p:cNvSpPr/>
          <p:nvPr/>
        </p:nvSpPr>
        <p:spPr>
          <a:xfrm>
            <a:off x="8097317" y="18745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6" name="Shape 14"/>
          <p:cNvSpPr/>
          <p:nvPr/>
        </p:nvSpPr>
        <p:spPr>
          <a:xfrm>
            <a:off x="8316773" y="2075688"/>
            <a:ext cx="457200" cy="457200"/>
          </a:xfrm>
          <a:prstGeom prst="ellipse">
            <a:avLst/>
          </a:prstGeom>
          <a:solidFill>
            <a:srgbClr val="2E6DB4"/>
          </a:solidFill>
          <a:ln/>
        </p:spPr>
      </p:sp>
      <p:sp>
        <p:nvSpPr>
          <p:cNvPr id="17" name="Text 15"/>
          <p:cNvSpPr/>
          <p:nvPr/>
        </p:nvSpPr>
        <p:spPr>
          <a:xfrm>
            <a:off x="8316773"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316773" y="26609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Knowledge Graph</a:t>
            </a:r>
            <a:endParaRPr lang="en-US" sz="1550" dirty="0"/>
          </a:p>
        </p:txBody>
      </p:sp>
      <p:sp>
        <p:nvSpPr>
          <p:cNvPr id="19" name="Text 17"/>
          <p:cNvSpPr/>
          <p:nvPr/>
        </p:nvSpPr>
        <p:spPr>
          <a:xfrm>
            <a:off x="8316773" y="30815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Đồ thị tri thức cho tìm kiếm ngữ nghĩa và hỏi đáp.</a:t>
            </a:r>
            <a:endParaRPr lang="en-US" sz="1250" dirty="0"/>
          </a:p>
        </p:txBody>
      </p:sp>
      <p:sp>
        <p:nvSpPr>
          <p:cNvPr id="20" name="Shape 18"/>
          <p:cNvSpPr/>
          <p:nvPr/>
        </p:nvSpPr>
        <p:spPr>
          <a:xfrm>
            <a:off x="640080" y="38176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1" name="Shape 19"/>
          <p:cNvSpPr/>
          <p:nvPr/>
        </p:nvSpPr>
        <p:spPr>
          <a:xfrm>
            <a:off x="859536" y="4018788"/>
            <a:ext cx="457200" cy="457200"/>
          </a:xfrm>
          <a:prstGeom prst="ellipse">
            <a:avLst/>
          </a:prstGeom>
          <a:solidFill>
            <a:srgbClr val="17958A"/>
          </a:solidFill>
          <a:ln/>
        </p:spPr>
      </p:sp>
      <p:sp>
        <p:nvSpPr>
          <p:cNvPr id="22" name="Text 20"/>
          <p:cNvSpPr/>
          <p:nvPr/>
        </p:nvSpPr>
        <p:spPr>
          <a:xfrm>
            <a:off x="859536"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859536" y="46040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Mạng xã hội</a:t>
            </a:r>
            <a:endParaRPr lang="en-US" sz="1550" dirty="0"/>
          </a:p>
        </p:txBody>
      </p:sp>
      <p:sp>
        <p:nvSpPr>
          <p:cNvPr id="24" name="Text 22"/>
          <p:cNvSpPr/>
          <p:nvPr/>
        </p:nvSpPr>
        <p:spPr>
          <a:xfrm>
            <a:off x="859536" y="50246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Bạn bè, theo dõi, tương tác — social graph quy mô lớn.</a:t>
            </a:r>
            <a:endParaRPr lang="en-US" sz="1250" dirty="0"/>
          </a:p>
        </p:txBody>
      </p:sp>
      <p:sp>
        <p:nvSpPr>
          <p:cNvPr id="25" name="Shape 23"/>
          <p:cNvSpPr/>
          <p:nvPr/>
        </p:nvSpPr>
        <p:spPr>
          <a:xfrm>
            <a:off x="4368698" y="38176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6" name="Shape 24"/>
          <p:cNvSpPr/>
          <p:nvPr/>
        </p:nvSpPr>
        <p:spPr>
          <a:xfrm>
            <a:off x="4588154" y="4018788"/>
            <a:ext cx="457200" cy="457200"/>
          </a:xfrm>
          <a:prstGeom prst="ellipse">
            <a:avLst/>
          </a:prstGeom>
          <a:solidFill>
            <a:srgbClr val="2E6DB4"/>
          </a:solidFill>
          <a:ln/>
        </p:spPr>
      </p:sp>
      <p:sp>
        <p:nvSpPr>
          <p:cNvPr id="27" name="Text 25"/>
          <p:cNvSpPr/>
          <p:nvPr/>
        </p:nvSpPr>
        <p:spPr>
          <a:xfrm>
            <a:off x="4588154"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p:nvPr/>
        </p:nvSpPr>
        <p:spPr>
          <a:xfrm>
            <a:off x="4588154" y="46040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Mạng lưới &amp; định tuyến</a:t>
            </a:r>
            <a:endParaRPr lang="en-US" sz="1550" dirty="0"/>
          </a:p>
        </p:txBody>
      </p:sp>
      <p:sp>
        <p:nvSpPr>
          <p:cNvPr id="29" name="Text 27"/>
          <p:cNvSpPr/>
          <p:nvPr/>
        </p:nvSpPr>
        <p:spPr>
          <a:xfrm>
            <a:off x="4588154" y="50246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Tìm đường đi ngắn nhất trong viễn thông, giao thông.</a:t>
            </a:r>
            <a:endParaRPr lang="en-US" sz="1250" dirty="0"/>
          </a:p>
        </p:txBody>
      </p:sp>
      <p:sp>
        <p:nvSpPr>
          <p:cNvPr id="30" name="Shape 28"/>
          <p:cNvSpPr/>
          <p:nvPr/>
        </p:nvSpPr>
        <p:spPr>
          <a:xfrm>
            <a:off x="8097317" y="38176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31" name="Shape 29"/>
          <p:cNvSpPr/>
          <p:nvPr/>
        </p:nvSpPr>
        <p:spPr>
          <a:xfrm>
            <a:off x="8316773" y="4018788"/>
            <a:ext cx="457200" cy="457200"/>
          </a:xfrm>
          <a:prstGeom prst="ellipse">
            <a:avLst/>
          </a:prstGeom>
          <a:solidFill>
            <a:srgbClr val="17958A"/>
          </a:solidFill>
          <a:ln/>
        </p:spPr>
      </p:sp>
      <p:sp>
        <p:nvSpPr>
          <p:cNvPr id="32" name="Text 30"/>
          <p:cNvSpPr/>
          <p:nvPr/>
        </p:nvSpPr>
        <p:spPr>
          <a:xfrm>
            <a:off x="8316773"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1"/>
          <p:cNvSpPr/>
          <p:nvPr/>
        </p:nvSpPr>
        <p:spPr>
          <a:xfrm>
            <a:off x="8316773" y="46040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GraphRAG &amp; AI</a:t>
            </a:r>
            <a:endParaRPr lang="en-US" sz="1550" dirty="0"/>
          </a:p>
        </p:txBody>
      </p:sp>
      <p:sp>
        <p:nvSpPr>
          <p:cNvPr id="34" name="Text 32"/>
          <p:cNvSpPr/>
          <p:nvPr/>
        </p:nvSpPr>
        <p:spPr>
          <a:xfrm>
            <a:off x="8316773" y="50246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Cấp ngữ cảnh có cấu trúc cho LLM, giảm 'ảo giác'.</a:t>
            </a:r>
            <a:endParaRPr lang="en-US" sz="1250" dirty="0"/>
          </a:p>
        </p:txBody>
      </p:sp>
      <p:sp>
        <p:nvSpPr>
          <p:cNvPr id="35" name="Text 3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36" name="Text 3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PHÂN LOẠI</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Bốn họ CSDL NoSQL và vị trí đồ thị</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2743200"/>
                <a:gridCol w="2743200"/>
                <a:gridCol w="539496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Họ</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Ví dụ</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Đặc điểm / mô hình</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Key–Value</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Redis</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Tra cứu theo khóa, siêu nhanh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MongoDB</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Tài liệu JSON linh hoạt</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Column</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Cassandra</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Cột lớn, ghi phân tán mạnh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Graph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Neo4j</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Tối ưu cho quan hệ &amp; liên kết</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bl>
          </a:graphicData>
        </a:graphic>
      </p:graphicFrame>
      <p:sp>
        <p:nvSpPr>
          <p:cNvPr id="6" name="Text 3"/>
          <p:cNvSpPr/>
          <p:nvPr/>
        </p:nvSpPr>
        <p:spPr>
          <a:xfrm>
            <a:off x="640080" y="5989320"/>
            <a:ext cx="10911535" cy="365760"/>
          </a:xfrm>
          <a:prstGeom prst="rect">
            <a:avLst/>
          </a:prstGeom>
          <a:noFill/>
          <a:ln/>
        </p:spPr>
        <p:txBody>
          <a:bodyPr wrap="square" rtlCol="0" anchor="ctr"/>
          <a:lstStyle/>
          <a:p>
            <a:pPr indent="0" marL="0">
              <a:buNone/>
            </a:pPr>
            <a:r>
              <a:rPr lang="en-US" sz="1200" i="1" dirty="0">
                <a:solidFill>
                  <a:srgbClr val="56657E"/>
                </a:solidFill>
                <a:latin typeface="Calibri" pitchFamily="34" charset="0"/>
                <a:ea typeface="Calibri" pitchFamily="34" charset="-122"/>
                <a:cs typeface="Calibri" pitchFamily="34" charset="-120"/>
              </a:rPr>
              <a:t>Bốn họ phục vụ nhu cầu khác nhau; đồ thị khác biệt vì ưu tiên chính là mối liên kết giữa dữ liệu.</a:t>
            </a:r>
            <a:endParaRPr lang="en-US" sz="1200" dirty="0"/>
          </a:p>
        </p:txBody>
      </p:sp>
      <p:sp>
        <p:nvSpPr>
          <p:cNvPr id="7" name="Text 4"/>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8" name="Text 5"/>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22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242"/>
          </a:solidFill>
          <a:ln/>
        </p:spPr>
      </p:sp>
      <p:sp>
        <p:nvSpPr>
          <p:cNvPr id="3" name="Shape 1"/>
          <p:cNvSpPr/>
          <p:nvPr/>
        </p:nvSpPr>
        <p:spPr>
          <a:xfrm flipV="1">
            <a:off x="8595360" y="3108960"/>
            <a:ext cx="946404" cy="368046"/>
          </a:xfrm>
          <a:prstGeom prst="line">
            <a:avLst/>
          </a:prstGeom>
          <a:noFill/>
          <a:ln w="15875">
            <a:solidFill>
              <a:srgbClr val="35557E"/>
            </a:solidFill>
            <a:prstDash val="solid"/>
          </a:ln>
        </p:spPr>
      </p:sp>
      <p:sp>
        <p:nvSpPr>
          <p:cNvPr id="4" name="Shape 2"/>
          <p:cNvSpPr/>
          <p:nvPr/>
        </p:nvSpPr>
        <p:spPr>
          <a:xfrm>
            <a:off x="9541764" y="3108960"/>
            <a:ext cx="841248" cy="578358"/>
          </a:xfrm>
          <a:prstGeom prst="line">
            <a:avLst/>
          </a:prstGeom>
          <a:noFill/>
          <a:ln w="15875">
            <a:solidFill>
              <a:srgbClr val="35557E"/>
            </a:solidFill>
            <a:prstDash val="solid"/>
          </a:ln>
        </p:spPr>
      </p:sp>
      <p:sp>
        <p:nvSpPr>
          <p:cNvPr id="5" name="Shape 3"/>
          <p:cNvSpPr/>
          <p:nvPr/>
        </p:nvSpPr>
        <p:spPr>
          <a:xfrm flipH="1">
            <a:off x="9752076" y="3687318"/>
            <a:ext cx="630936" cy="736092"/>
          </a:xfrm>
          <a:prstGeom prst="line">
            <a:avLst/>
          </a:prstGeom>
          <a:noFill/>
          <a:ln w="15875">
            <a:solidFill>
              <a:srgbClr val="35557E"/>
            </a:solidFill>
            <a:prstDash val="solid"/>
          </a:ln>
        </p:spPr>
      </p:sp>
      <p:sp>
        <p:nvSpPr>
          <p:cNvPr id="6" name="Shape 4"/>
          <p:cNvSpPr/>
          <p:nvPr/>
        </p:nvSpPr>
        <p:spPr>
          <a:xfrm flipH="1" flipV="1">
            <a:off x="8805672" y="4318254"/>
            <a:ext cx="946404" cy="105156"/>
          </a:xfrm>
          <a:prstGeom prst="line">
            <a:avLst/>
          </a:prstGeom>
          <a:noFill/>
          <a:ln w="15875">
            <a:solidFill>
              <a:srgbClr val="35557E"/>
            </a:solidFill>
            <a:prstDash val="solid"/>
          </a:ln>
        </p:spPr>
      </p:sp>
      <p:sp>
        <p:nvSpPr>
          <p:cNvPr id="7" name="Shape 5"/>
          <p:cNvSpPr/>
          <p:nvPr/>
        </p:nvSpPr>
        <p:spPr>
          <a:xfrm flipH="1" flipV="1">
            <a:off x="8595360" y="3477006"/>
            <a:ext cx="210312" cy="841248"/>
          </a:xfrm>
          <a:prstGeom prst="line">
            <a:avLst/>
          </a:prstGeom>
          <a:noFill/>
          <a:ln w="15875">
            <a:solidFill>
              <a:srgbClr val="35557E"/>
            </a:solidFill>
            <a:prstDash val="solid"/>
          </a:ln>
        </p:spPr>
      </p:sp>
      <p:sp>
        <p:nvSpPr>
          <p:cNvPr id="8" name="Shape 6"/>
          <p:cNvSpPr/>
          <p:nvPr/>
        </p:nvSpPr>
        <p:spPr>
          <a:xfrm>
            <a:off x="10383012" y="3687318"/>
            <a:ext cx="841248" cy="473202"/>
          </a:xfrm>
          <a:prstGeom prst="line">
            <a:avLst/>
          </a:prstGeom>
          <a:noFill/>
          <a:ln w="15875">
            <a:solidFill>
              <a:srgbClr val="35557E"/>
            </a:solidFill>
            <a:prstDash val="solid"/>
          </a:ln>
        </p:spPr>
      </p:sp>
      <p:sp>
        <p:nvSpPr>
          <p:cNvPr id="9" name="Shape 7"/>
          <p:cNvSpPr/>
          <p:nvPr/>
        </p:nvSpPr>
        <p:spPr>
          <a:xfrm flipH="1" flipV="1">
            <a:off x="10803636" y="3266694"/>
            <a:ext cx="420624" cy="893826"/>
          </a:xfrm>
          <a:prstGeom prst="line">
            <a:avLst/>
          </a:prstGeom>
          <a:noFill/>
          <a:ln w="15875">
            <a:solidFill>
              <a:srgbClr val="35557E"/>
            </a:solidFill>
            <a:prstDash val="solid"/>
          </a:ln>
        </p:spPr>
      </p:sp>
      <p:sp>
        <p:nvSpPr>
          <p:cNvPr id="10" name="Shape 8"/>
          <p:cNvSpPr/>
          <p:nvPr/>
        </p:nvSpPr>
        <p:spPr>
          <a:xfrm flipH="1" flipV="1">
            <a:off x="9541764" y="3108960"/>
            <a:ext cx="1261872" cy="157734"/>
          </a:xfrm>
          <a:prstGeom prst="line">
            <a:avLst/>
          </a:prstGeom>
          <a:noFill/>
          <a:ln w="15875">
            <a:solidFill>
              <a:srgbClr val="35557E"/>
            </a:solidFill>
            <a:prstDash val="solid"/>
          </a:ln>
        </p:spPr>
      </p:sp>
      <p:sp>
        <p:nvSpPr>
          <p:cNvPr id="11" name="Shape 9"/>
          <p:cNvSpPr/>
          <p:nvPr/>
        </p:nvSpPr>
        <p:spPr>
          <a:xfrm flipV="1">
            <a:off x="9752076" y="4160520"/>
            <a:ext cx="1472184" cy="262890"/>
          </a:xfrm>
          <a:prstGeom prst="line">
            <a:avLst/>
          </a:prstGeom>
          <a:noFill/>
          <a:ln w="15875">
            <a:solidFill>
              <a:srgbClr val="35557E"/>
            </a:solidFill>
            <a:prstDash val="solid"/>
          </a:ln>
        </p:spPr>
      </p:sp>
      <p:sp>
        <p:nvSpPr>
          <p:cNvPr id="12" name="Shape 10"/>
          <p:cNvSpPr/>
          <p:nvPr/>
        </p:nvSpPr>
        <p:spPr>
          <a:xfrm>
            <a:off x="8458657" y="3340303"/>
            <a:ext cx="273406" cy="273406"/>
          </a:xfrm>
          <a:prstGeom prst="ellipse">
            <a:avLst/>
          </a:prstGeom>
          <a:solidFill>
            <a:srgbClr val="C88A1E">
              <a:alpha val="75000"/>
            </a:srgbClr>
          </a:solidFill>
          <a:ln w="12700">
            <a:solidFill>
              <a:srgbClr val="FFFFFF">
                <a:alpha val="70000"/>
              </a:srgbClr>
            </a:solidFill>
            <a:prstDash val="solid"/>
          </a:ln>
        </p:spPr>
      </p:sp>
      <p:sp>
        <p:nvSpPr>
          <p:cNvPr id="13" name="Shape 11"/>
          <p:cNvSpPr/>
          <p:nvPr/>
        </p:nvSpPr>
        <p:spPr>
          <a:xfrm>
            <a:off x="9447124" y="3014320"/>
            <a:ext cx="189281" cy="189281"/>
          </a:xfrm>
          <a:prstGeom prst="ellipse">
            <a:avLst/>
          </a:prstGeom>
          <a:solidFill>
            <a:srgbClr val="17958A">
              <a:alpha val="75000"/>
            </a:srgbClr>
          </a:solidFill>
          <a:ln w="12700">
            <a:solidFill>
              <a:srgbClr val="FFFFFF">
                <a:alpha val="70000"/>
              </a:srgbClr>
            </a:solidFill>
            <a:prstDash val="solid"/>
          </a:ln>
        </p:spPr>
      </p:sp>
      <p:sp>
        <p:nvSpPr>
          <p:cNvPr id="14" name="Shape 12"/>
          <p:cNvSpPr/>
          <p:nvPr/>
        </p:nvSpPr>
        <p:spPr>
          <a:xfrm>
            <a:off x="10288372" y="3592678"/>
            <a:ext cx="189281" cy="189281"/>
          </a:xfrm>
          <a:prstGeom prst="ellipse">
            <a:avLst/>
          </a:prstGeom>
          <a:solidFill>
            <a:srgbClr val="C88A1E">
              <a:alpha val="75000"/>
            </a:srgbClr>
          </a:solidFill>
          <a:ln w="12700">
            <a:solidFill>
              <a:srgbClr val="FFFFFF">
                <a:alpha val="70000"/>
              </a:srgbClr>
            </a:solidFill>
            <a:prstDash val="solid"/>
          </a:ln>
        </p:spPr>
      </p:sp>
      <p:sp>
        <p:nvSpPr>
          <p:cNvPr id="15" name="Shape 13"/>
          <p:cNvSpPr/>
          <p:nvPr/>
        </p:nvSpPr>
        <p:spPr>
          <a:xfrm>
            <a:off x="9615373" y="4286707"/>
            <a:ext cx="273406" cy="273406"/>
          </a:xfrm>
          <a:prstGeom prst="ellipse">
            <a:avLst/>
          </a:prstGeom>
          <a:solidFill>
            <a:srgbClr val="17958A">
              <a:alpha val="75000"/>
            </a:srgbClr>
          </a:solidFill>
          <a:ln w="12700">
            <a:solidFill>
              <a:srgbClr val="FFFFFF">
                <a:alpha val="70000"/>
              </a:srgbClr>
            </a:solidFill>
            <a:prstDash val="solid"/>
          </a:ln>
        </p:spPr>
      </p:sp>
      <p:sp>
        <p:nvSpPr>
          <p:cNvPr id="16" name="Shape 14"/>
          <p:cNvSpPr/>
          <p:nvPr/>
        </p:nvSpPr>
        <p:spPr>
          <a:xfrm>
            <a:off x="8711032" y="4223614"/>
            <a:ext cx="189281" cy="189281"/>
          </a:xfrm>
          <a:prstGeom prst="ellipse">
            <a:avLst/>
          </a:prstGeom>
          <a:solidFill>
            <a:srgbClr val="C88A1E">
              <a:alpha val="75000"/>
            </a:srgbClr>
          </a:solidFill>
          <a:ln w="12700">
            <a:solidFill>
              <a:srgbClr val="FFFFFF">
                <a:alpha val="70000"/>
              </a:srgbClr>
            </a:solidFill>
            <a:prstDash val="solid"/>
          </a:ln>
        </p:spPr>
      </p:sp>
      <p:sp>
        <p:nvSpPr>
          <p:cNvPr id="17" name="Shape 15"/>
          <p:cNvSpPr/>
          <p:nvPr/>
        </p:nvSpPr>
        <p:spPr>
          <a:xfrm>
            <a:off x="11129620" y="4065880"/>
            <a:ext cx="189281" cy="189281"/>
          </a:xfrm>
          <a:prstGeom prst="ellipse">
            <a:avLst/>
          </a:prstGeom>
          <a:solidFill>
            <a:srgbClr val="17958A">
              <a:alpha val="75000"/>
            </a:srgbClr>
          </a:solidFill>
          <a:ln w="12700">
            <a:solidFill>
              <a:srgbClr val="FFFFFF">
                <a:alpha val="70000"/>
              </a:srgbClr>
            </a:solidFill>
            <a:prstDash val="solid"/>
          </a:ln>
        </p:spPr>
      </p:sp>
      <p:sp>
        <p:nvSpPr>
          <p:cNvPr id="18" name="Shape 16"/>
          <p:cNvSpPr/>
          <p:nvPr/>
        </p:nvSpPr>
        <p:spPr>
          <a:xfrm>
            <a:off x="10666933" y="3129991"/>
            <a:ext cx="273406" cy="273406"/>
          </a:xfrm>
          <a:prstGeom prst="ellipse">
            <a:avLst/>
          </a:prstGeom>
          <a:solidFill>
            <a:srgbClr val="C88A1E">
              <a:alpha val="75000"/>
            </a:srgbClr>
          </a:solidFill>
          <a:ln w="12700">
            <a:solidFill>
              <a:srgbClr val="FFFFFF">
                <a:alpha val="70000"/>
              </a:srgbClr>
            </a:solidFill>
            <a:prstDash val="solid"/>
          </a:ln>
        </p:spPr>
      </p:sp>
      <p:sp>
        <p:nvSpPr>
          <p:cNvPr id="19" name="Text 17"/>
          <p:cNvSpPr/>
          <p:nvPr/>
        </p:nvSpPr>
        <p:spPr>
          <a:xfrm>
            <a:off x="640080" y="1371600"/>
            <a:ext cx="3657600" cy="2011680"/>
          </a:xfrm>
          <a:prstGeom prst="rect">
            <a:avLst/>
          </a:prstGeom>
          <a:noFill/>
          <a:ln/>
        </p:spPr>
        <p:txBody>
          <a:bodyPr wrap="square" rtlCol="0" anchor="ctr"/>
          <a:lstStyle/>
          <a:p>
            <a:pPr algn="l" indent="0" marL="0">
              <a:buNone/>
            </a:pPr>
            <a:r>
              <a:rPr lang="en-US" sz="13000" b="1" dirty="0">
                <a:solidFill>
                  <a:srgbClr val="27476F"/>
                </a:solidFill>
                <a:latin typeface="Cambria" pitchFamily="34" charset="0"/>
                <a:ea typeface="Cambria" pitchFamily="34" charset="-122"/>
                <a:cs typeface="Cambria" pitchFamily="34" charset="-120"/>
              </a:rPr>
              <a:t>02</a:t>
            </a:r>
            <a:endParaRPr lang="en-US" sz="13000" dirty="0"/>
          </a:p>
        </p:txBody>
      </p:sp>
      <p:sp>
        <p:nvSpPr>
          <p:cNvPr id="20" name="Text 18"/>
          <p:cNvSpPr/>
          <p:nvPr/>
        </p:nvSpPr>
        <p:spPr>
          <a:xfrm>
            <a:off x="640080" y="3611880"/>
            <a:ext cx="8778240" cy="1280160"/>
          </a:xfrm>
          <a:prstGeom prst="rect">
            <a:avLst/>
          </a:prstGeom>
          <a:noFill/>
          <a:ln/>
        </p:spPr>
        <p:txBody>
          <a:bodyPr wrap="square" rtlCol="0" anchor="t"/>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Nền tảng lý thuyết đồ thị &amp; mô hình dữ liệu</a:t>
            </a:r>
            <a:endParaRPr lang="en-US" sz="3800" dirty="0"/>
          </a:p>
        </p:txBody>
      </p:sp>
      <p:sp>
        <p:nvSpPr>
          <p:cNvPr id="21" name="Text 19"/>
          <p:cNvSpPr/>
          <p:nvPr/>
        </p:nvSpPr>
        <p:spPr>
          <a:xfrm>
            <a:off x="640080" y="4892040"/>
            <a:ext cx="8595360" cy="914400"/>
          </a:xfrm>
          <a:prstGeom prst="rect">
            <a:avLst/>
          </a:prstGeom>
          <a:noFill/>
          <a:ln/>
        </p:spPr>
        <p:txBody>
          <a:bodyPr wrap="square" rtlCol="0" anchor="ctr"/>
          <a:lstStyle/>
          <a:p>
            <a:pPr indent="0" marL="0">
              <a:lnSpc>
                <a:spcPct val="115000"/>
              </a:lnSpc>
              <a:buNone/>
            </a:pPr>
            <a:r>
              <a:rPr lang="en-US" sz="1600" dirty="0">
                <a:solidFill>
                  <a:srgbClr val="AFC4E0"/>
                </a:solidFill>
                <a:latin typeface="Calibri" pitchFamily="34" charset="0"/>
                <a:ea typeface="Calibri" pitchFamily="34" charset="-122"/>
                <a:cs typeface="Calibri" pitchFamily="34" charset="-120"/>
              </a:rPr>
              <a:t>Đỉnh, cạnh và mô hình đồ thị thuộc tính (Property Graph)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ÔN TẬP</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Đồ thị trong toán học</a:t>
            </a:r>
            <a:endParaRPr lang="en-US" sz="3200" dirty="0"/>
          </a:p>
        </p:txBody>
      </p:sp>
      <p:sp>
        <p:nvSpPr>
          <p:cNvPr id="5" name="Text 3"/>
          <p:cNvSpPr/>
          <p:nvPr/>
        </p:nvSpPr>
        <p:spPr>
          <a:xfrm>
            <a:off x="640080" y="1920240"/>
            <a:ext cx="4937760" cy="914400"/>
          </a:xfrm>
          <a:prstGeom prst="rect">
            <a:avLst/>
          </a:prstGeom>
          <a:noFill/>
          <a:ln/>
        </p:spPr>
        <p:txBody>
          <a:bodyPr wrap="square" rtlCol="0" anchor="ctr"/>
          <a:lstStyle/>
          <a:p>
            <a:pPr indent="0" marL="0">
              <a:lnSpc>
                <a:spcPct val="110000"/>
              </a:lnSpc>
              <a:buNone/>
            </a:pPr>
            <a:r>
              <a:rPr lang="en-US" sz="1500" i="1" dirty="0">
                <a:solidFill>
                  <a:srgbClr val="56657E"/>
                </a:solidFill>
                <a:latin typeface="Calibri" pitchFamily="34" charset="0"/>
                <a:ea typeface="Calibri" pitchFamily="34" charset="-122"/>
                <a:cs typeface="Calibri" pitchFamily="34" charset="-120"/>
              </a:rPr>
              <a:t>Trong toán học, đồ thị G = (V, E) gồm tập đỉnh V và tập cạnh E nối các đỉnh với nhau.</a:t>
            </a:r>
            <a:endParaRPr lang="en-US" sz="1500" dirty="0"/>
          </a:p>
        </p:txBody>
      </p:sp>
      <p:sp>
        <p:nvSpPr>
          <p:cNvPr id="6" name="Text 4"/>
          <p:cNvSpPr/>
          <p:nvPr/>
        </p:nvSpPr>
        <p:spPr>
          <a:xfrm>
            <a:off x="640080" y="288036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V — tập đỉnh</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Các điểm (vertex): A, B, C, D, E.</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E — tập cạnh</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Các đường nối hai đỉnh (edge).</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Bậc của đỉnh</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Số cạnh nối tới một đỉnh.</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Đường đi</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Chuỗi cạnh liên tiếp giữa hai đỉnh.</a:t>
            </a:r>
            <a:endParaRPr lang="en-US" sz="1450" dirty="0"/>
          </a:p>
        </p:txBody>
      </p:sp>
      <p:sp>
        <p:nvSpPr>
          <p:cNvPr id="7" name="Shape 5"/>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8" name="Shape 6"/>
          <p:cNvSpPr/>
          <p:nvPr/>
        </p:nvSpPr>
        <p:spPr>
          <a:xfrm>
            <a:off x="9075480" y="2514460"/>
            <a:ext cx="1018840" cy="740231"/>
          </a:xfrm>
          <a:prstGeom prst="line">
            <a:avLst/>
          </a:prstGeom>
          <a:noFill/>
          <a:ln w="22225">
            <a:solidFill>
              <a:srgbClr val="17958A"/>
            </a:solidFill>
            <a:prstDash val="solid"/>
            <a:tailEnd type="none"/>
          </a:ln>
        </p:spPr>
      </p:sp>
      <p:sp>
        <p:nvSpPr>
          <p:cNvPr id="9" name="Shape 7"/>
          <p:cNvSpPr/>
          <p:nvPr/>
        </p:nvSpPr>
        <p:spPr>
          <a:xfrm flipH="1">
            <a:off x="9860606" y="3733111"/>
            <a:ext cx="389162" cy="1197719"/>
          </a:xfrm>
          <a:prstGeom prst="line">
            <a:avLst/>
          </a:prstGeom>
          <a:noFill/>
          <a:ln w="22225">
            <a:solidFill>
              <a:srgbClr val="17958A"/>
            </a:solidFill>
            <a:prstDash val="solid"/>
            <a:tailEnd type="none"/>
          </a:ln>
        </p:spPr>
      </p:sp>
      <p:sp>
        <p:nvSpPr>
          <p:cNvPr id="10" name="Shape 8"/>
          <p:cNvSpPr/>
          <p:nvPr/>
        </p:nvSpPr>
        <p:spPr>
          <a:xfrm flipH="1">
            <a:off x="8194282" y="5226509"/>
            <a:ext cx="1259356" cy="914"/>
          </a:xfrm>
          <a:prstGeom prst="line">
            <a:avLst/>
          </a:prstGeom>
          <a:noFill/>
          <a:ln w="22225">
            <a:solidFill>
              <a:srgbClr val="17958A"/>
            </a:solidFill>
            <a:prstDash val="solid"/>
            <a:tailEnd type="none"/>
          </a:ln>
        </p:spPr>
      </p:sp>
      <p:sp>
        <p:nvSpPr>
          <p:cNvPr id="11" name="Shape 9"/>
          <p:cNvSpPr/>
          <p:nvPr/>
        </p:nvSpPr>
        <p:spPr>
          <a:xfrm flipH="1" flipV="1">
            <a:off x="7398152" y="3733111"/>
            <a:ext cx="389162" cy="1197719"/>
          </a:xfrm>
          <a:prstGeom prst="line">
            <a:avLst/>
          </a:prstGeom>
          <a:noFill/>
          <a:ln w="22225">
            <a:solidFill>
              <a:srgbClr val="17958A"/>
            </a:solidFill>
            <a:prstDash val="solid"/>
            <a:tailEnd type="none"/>
          </a:ln>
        </p:spPr>
      </p:sp>
      <p:sp>
        <p:nvSpPr>
          <p:cNvPr id="12" name="Shape 10"/>
          <p:cNvSpPr/>
          <p:nvPr/>
        </p:nvSpPr>
        <p:spPr>
          <a:xfrm flipV="1">
            <a:off x="7553600" y="2514460"/>
            <a:ext cx="1018840" cy="740231"/>
          </a:xfrm>
          <a:prstGeom prst="line">
            <a:avLst/>
          </a:prstGeom>
          <a:noFill/>
          <a:ln w="22225">
            <a:solidFill>
              <a:srgbClr val="17958A"/>
            </a:solidFill>
            <a:prstDash val="solid"/>
            <a:tailEnd type="none"/>
          </a:ln>
        </p:spPr>
      </p:sp>
      <p:sp>
        <p:nvSpPr>
          <p:cNvPr id="13" name="Shape 11"/>
          <p:cNvSpPr/>
          <p:nvPr/>
        </p:nvSpPr>
        <p:spPr>
          <a:xfrm>
            <a:off x="8920032" y="2627400"/>
            <a:ext cx="748430" cy="2303430"/>
          </a:xfrm>
          <a:prstGeom prst="line">
            <a:avLst/>
          </a:prstGeom>
          <a:noFill/>
          <a:ln w="22225">
            <a:solidFill>
              <a:srgbClr val="17958A"/>
            </a:solidFill>
            <a:prstDash val="solid"/>
            <a:tailEnd type="none"/>
          </a:ln>
        </p:spPr>
      </p:sp>
      <p:sp>
        <p:nvSpPr>
          <p:cNvPr id="14" name="Shape 12"/>
          <p:cNvSpPr/>
          <p:nvPr/>
        </p:nvSpPr>
        <p:spPr>
          <a:xfrm>
            <a:off x="8540496" y="2048256"/>
            <a:ext cx="566928" cy="566928"/>
          </a:xfrm>
          <a:prstGeom prst="ellipse">
            <a:avLst/>
          </a:prstGeom>
          <a:solidFill>
            <a:srgbClr val="12305B"/>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5" name="Text 13"/>
          <p:cNvSpPr/>
          <p:nvPr/>
        </p:nvSpPr>
        <p:spPr>
          <a:xfrm>
            <a:off x="8220456" y="20574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A</a:t>
            </a:r>
            <a:endParaRPr lang="en-US" sz="1050" dirty="0"/>
          </a:p>
        </p:txBody>
      </p:sp>
      <p:sp>
        <p:nvSpPr>
          <p:cNvPr id="16" name="Shape 14"/>
          <p:cNvSpPr/>
          <p:nvPr/>
        </p:nvSpPr>
        <p:spPr>
          <a:xfrm>
            <a:off x="10062377" y="3153967"/>
            <a:ext cx="566928" cy="566928"/>
          </a:xfrm>
          <a:prstGeom prst="ellipse">
            <a:avLst/>
          </a:prstGeom>
          <a:solidFill>
            <a:srgbClr val="12305B"/>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7" name="Text 15"/>
          <p:cNvSpPr/>
          <p:nvPr/>
        </p:nvSpPr>
        <p:spPr>
          <a:xfrm>
            <a:off x="9742337" y="316311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18" name="Shape 16"/>
          <p:cNvSpPr/>
          <p:nvPr/>
        </p:nvSpPr>
        <p:spPr>
          <a:xfrm>
            <a:off x="9481070" y="4943045"/>
            <a:ext cx="566928" cy="566928"/>
          </a:xfrm>
          <a:prstGeom prst="ellipse">
            <a:avLst/>
          </a:prstGeom>
          <a:solidFill>
            <a:srgbClr val="12305B"/>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9" name="Text 17"/>
          <p:cNvSpPr/>
          <p:nvPr/>
        </p:nvSpPr>
        <p:spPr>
          <a:xfrm>
            <a:off x="9161030" y="4952189"/>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C</a:t>
            </a:r>
            <a:endParaRPr lang="en-US" sz="1050" dirty="0"/>
          </a:p>
        </p:txBody>
      </p:sp>
      <p:sp>
        <p:nvSpPr>
          <p:cNvPr id="20" name="Shape 18"/>
          <p:cNvSpPr/>
          <p:nvPr/>
        </p:nvSpPr>
        <p:spPr>
          <a:xfrm>
            <a:off x="7599922" y="4943045"/>
            <a:ext cx="566928" cy="566928"/>
          </a:xfrm>
          <a:prstGeom prst="ellipse">
            <a:avLst/>
          </a:prstGeom>
          <a:solidFill>
            <a:srgbClr val="12305B"/>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1" name="Text 19"/>
          <p:cNvSpPr/>
          <p:nvPr/>
        </p:nvSpPr>
        <p:spPr>
          <a:xfrm>
            <a:off x="7279882" y="4952189"/>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D</a:t>
            </a:r>
            <a:endParaRPr lang="en-US" sz="1050" dirty="0"/>
          </a:p>
        </p:txBody>
      </p:sp>
      <p:sp>
        <p:nvSpPr>
          <p:cNvPr id="22" name="Shape 20"/>
          <p:cNvSpPr/>
          <p:nvPr/>
        </p:nvSpPr>
        <p:spPr>
          <a:xfrm>
            <a:off x="7018615" y="3153967"/>
            <a:ext cx="566928" cy="566928"/>
          </a:xfrm>
          <a:prstGeom prst="ellipse">
            <a:avLst/>
          </a:prstGeom>
          <a:solidFill>
            <a:srgbClr val="12305B"/>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3" name="Text 21"/>
          <p:cNvSpPr/>
          <p:nvPr/>
        </p:nvSpPr>
        <p:spPr>
          <a:xfrm>
            <a:off x="6698575" y="316311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E</a:t>
            </a:r>
            <a:endParaRPr lang="en-US" sz="1050" dirty="0"/>
          </a:p>
        </p:txBody>
      </p:sp>
      <p:sp>
        <p:nvSpPr>
          <p:cNvPr id="24" name="Text 22"/>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Đồ thị G = (V, E): tập đỉnh V và tập cạnh E (ở đây cạnh vô hướng).</a:t>
            </a:r>
            <a:endParaRPr lang="en-US" sz="1050" dirty="0"/>
          </a:p>
        </p:txBody>
      </p:sp>
      <p:sp>
        <p:nvSpPr>
          <p:cNvPr id="25" name="Text 2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6" name="Text 2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PHÂN LOẠI ĐỒ THỊ</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Các loại đồ thị thường gặp</a:t>
            </a:r>
            <a:endParaRPr lang="en-US" sz="3200" dirty="0"/>
          </a:p>
        </p:txBody>
      </p:sp>
      <p:sp>
        <p:nvSpPr>
          <p:cNvPr id="5" name="Shape 3"/>
          <p:cNvSpPr/>
          <p:nvPr/>
        </p:nvSpPr>
        <p:spPr>
          <a:xfrm>
            <a:off x="640080"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6" name="Shape 4"/>
          <p:cNvSpPr/>
          <p:nvPr/>
        </p:nvSpPr>
        <p:spPr>
          <a:xfrm>
            <a:off x="859536" y="2075688"/>
            <a:ext cx="457200" cy="457200"/>
          </a:xfrm>
          <a:prstGeom prst="ellipse">
            <a:avLst/>
          </a:prstGeom>
          <a:solidFill>
            <a:srgbClr val="2E6DB4"/>
          </a:solidFill>
          <a:ln/>
        </p:spPr>
      </p:sp>
      <p:sp>
        <p:nvSpPr>
          <p:cNvPr id="7" name="Text 5"/>
          <p:cNvSpPr/>
          <p:nvPr/>
        </p:nvSpPr>
        <p:spPr>
          <a:xfrm>
            <a:off x="859536"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859536"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Đồ thị vô hướng</a:t>
            </a:r>
            <a:endParaRPr lang="en-US" sz="1550" dirty="0"/>
          </a:p>
        </p:txBody>
      </p:sp>
      <p:sp>
        <p:nvSpPr>
          <p:cNvPr id="9" name="Text 7"/>
          <p:cNvSpPr/>
          <p:nvPr/>
        </p:nvSpPr>
        <p:spPr>
          <a:xfrm>
            <a:off x="859536"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Cạnh không hướng, hai chiều như nhau. VD: đường hai chiều, quan hệ bạn bè.</a:t>
            </a:r>
            <a:endParaRPr lang="en-US" sz="1250" dirty="0"/>
          </a:p>
        </p:txBody>
      </p:sp>
      <p:sp>
        <p:nvSpPr>
          <p:cNvPr id="10" name="Shape 8"/>
          <p:cNvSpPr/>
          <p:nvPr/>
        </p:nvSpPr>
        <p:spPr>
          <a:xfrm>
            <a:off x="6233008"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1" name="Shape 9"/>
          <p:cNvSpPr/>
          <p:nvPr/>
        </p:nvSpPr>
        <p:spPr>
          <a:xfrm>
            <a:off x="6452464" y="2075688"/>
            <a:ext cx="457200" cy="457200"/>
          </a:xfrm>
          <a:prstGeom prst="ellipse">
            <a:avLst/>
          </a:prstGeom>
          <a:solidFill>
            <a:srgbClr val="17958A"/>
          </a:solidFill>
          <a:ln/>
        </p:spPr>
      </p:sp>
      <p:sp>
        <p:nvSpPr>
          <p:cNvPr id="12" name="Text 10"/>
          <p:cNvSpPr/>
          <p:nvPr/>
        </p:nvSpPr>
        <p:spPr>
          <a:xfrm>
            <a:off x="6452464"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6452464"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Đồ thị có hướng</a:t>
            </a:r>
            <a:endParaRPr lang="en-US" sz="1550" dirty="0"/>
          </a:p>
        </p:txBody>
      </p:sp>
      <p:sp>
        <p:nvSpPr>
          <p:cNvPr id="14" name="Text 12"/>
          <p:cNvSpPr/>
          <p:nvPr/>
        </p:nvSpPr>
        <p:spPr>
          <a:xfrm>
            <a:off x="6452464"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Cạnh có chiều mũi tên. VD: 'follow' trên mạng xã hội, liên kết trang web.</a:t>
            </a:r>
            <a:endParaRPr lang="en-US" sz="1250" dirty="0"/>
          </a:p>
        </p:txBody>
      </p:sp>
      <p:sp>
        <p:nvSpPr>
          <p:cNvPr id="15" name="Shape 13"/>
          <p:cNvSpPr/>
          <p:nvPr/>
        </p:nvSpPr>
        <p:spPr>
          <a:xfrm>
            <a:off x="640080"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6" name="Shape 14"/>
          <p:cNvSpPr/>
          <p:nvPr/>
        </p:nvSpPr>
        <p:spPr>
          <a:xfrm>
            <a:off x="859536" y="4018788"/>
            <a:ext cx="457200" cy="457200"/>
          </a:xfrm>
          <a:prstGeom prst="ellipse">
            <a:avLst/>
          </a:prstGeom>
          <a:solidFill>
            <a:srgbClr val="2E6DB4"/>
          </a:solidFill>
          <a:ln/>
        </p:spPr>
      </p:sp>
      <p:sp>
        <p:nvSpPr>
          <p:cNvPr id="17" name="Text 15"/>
          <p:cNvSpPr/>
          <p:nvPr/>
        </p:nvSpPr>
        <p:spPr>
          <a:xfrm>
            <a:off x="859536"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59536"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Đồ thị có trọng số</a:t>
            </a:r>
            <a:endParaRPr lang="en-US" sz="1550" dirty="0"/>
          </a:p>
        </p:txBody>
      </p:sp>
      <p:sp>
        <p:nvSpPr>
          <p:cNvPr id="19" name="Text 17"/>
          <p:cNvSpPr/>
          <p:nvPr/>
        </p:nvSpPr>
        <p:spPr>
          <a:xfrm>
            <a:off x="859536"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Mỗi cạnh mang một giá trị. VD: khoảng cách, chi phí, thời gian.</a:t>
            </a:r>
            <a:endParaRPr lang="en-US" sz="1250" dirty="0"/>
          </a:p>
        </p:txBody>
      </p:sp>
      <p:sp>
        <p:nvSpPr>
          <p:cNvPr id="20" name="Shape 18"/>
          <p:cNvSpPr/>
          <p:nvPr/>
        </p:nvSpPr>
        <p:spPr>
          <a:xfrm>
            <a:off x="6233008"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1" name="Shape 19"/>
          <p:cNvSpPr/>
          <p:nvPr/>
        </p:nvSpPr>
        <p:spPr>
          <a:xfrm>
            <a:off x="6452464" y="4018788"/>
            <a:ext cx="457200" cy="457200"/>
          </a:xfrm>
          <a:prstGeom prst="ellipse">
            <a:avLst/>
          </a:prstGeom>
          <a:solidFill>
            <a:srgbClr val="17958A"/>
          </a:solidFill>
          <a:ln/>
        </p:spPr>
      </p:sp>
      <p:sp>
        <p:nvSpPr>
          <p:cNvPr id="22" name="Text 20"/>
          <p:cNvSpPr/>
          <p:nvPr/>
        </p:nvSpPr>
        <p:spPr>
          <a:xfrm>
            <a:off x="6452464"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6452464"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Đa đồ thị / có nhãn</a:t>
            </a:r>
            <a:endParaRPr lang="en-US" sz="1550" dirty="0"/>
          </a:p>
        </p:txBody>
      </p:sp>
      <p:sp>
        <p:nvSpPr>
          <p:cNvPr id="24" name="Text 22"/>
          <p:cNvSpPr/>
          <p:nvPr/>
        </p:nvSpPr>
        <p:spPr>
          <a:xfrm>
            <a:off x="6452464"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Nhiều cạnh giữa hai đỉnh; mỗi cạnh mang nhãn phân loại riêng.</a:t>
            </a:r>
            <a:endParaRPr lang="en-US" sz="1250" dirty="0"/>
          </a:p>
        </p:txBody>
      </p:sp>
      <p:sp>
        <p:nvSpPr>
          <p:cNvPr id="25" name="Text 2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6" name="Text 2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MÔ HÌNH</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Mô hình đồ thị thuộc tính (Property Graph)</a:t>
            </a:r>
            <a:endParaRPr lang="en-US" sz="3200" dirty="0"/>
          </a:p>
        </p:txBody>
      </p:sp>
      <p:sp>
        <p:nvSpPr>
          <p:cNvPr id="5" name="Text 3"/>
          <p:cNvSpPr/>
          <p:nvPr/>
        </p:nvSpPr>
        <p:spPr>
          <a:xfrm>
            <a:off x="640080" y="1920240"/>
            <a:ext cx="4937760" cy="914400"/>
          </a:xfrm>
          <a:prstGeom prst="rect">
            <a:avLst/>
          </a:prstGeom>
          <a:noFill/>
          <a:ln/>
        </p:spPr>
        <p:txBody>
          <a:bodyPr wrap="square" rtlCol="0" anchor="ctr"/>
          <a:lstStyle/>
          <a:p>
            <a:pPr indent="0" marL="0">
              <a:lnSpc>
                <a:spcPct val="110000"/>
              </a:lnSpc>
              <a:buNone/>
            </a:pPr>
            <a:r>
              <a:rPr lang="en-US" sz="1500" i="1" dirty="0">
                <a:solidFill>
                  <a:srgbClr val="56657E"/>
                </a:solidFill>
                <a:latin typeface="Calibri" pitchFamily="34" charset="0"/>
                <a:ea typeface="Calibri" pitchFamily="34" charset="-122"/>
                <a:cs typeface="Calibri" pitchFamily="34" charset="-120"/>
              </a:rPr>
              <a:t>Mô hình dữ liệu của Neo4j, xây từ bốn thành phần cốt lõi.</a:t>
            </a:r>
            <a:endParaRPr lang="en-US" sz="1500" dirty="0"/>
          </a:p>
        </p:txBody>
      </p:sp>
      <p:sp>
        <p:nvSpPr>
          <p:cNvPr id="6" name="Text 4"/>
          <p:cNvSpPr/>
          <p:nvPr/>
        </p:nvSpPr>
        <p:spPr>
          <a:xfrm>
            <a:off x="640080" y="288036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Node (Nút)</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Thực thể: :Person, :Movie</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Relationship</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Quan hệ có hướng: :ACTED_IN</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Property</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Cặp key–value: name, year</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Label (Nhãn)</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Phân loại node theo loại</a:t>
            </a:r>
            <a:endParaRPr lang="en-US" sz="1450" dirty="0"/>
          </a:p>
        </p:txBody>
      </p:sp>
      <p:sp>
        <p:nvSpPr>
          <p:cNvPr id="7" name="Shape 5"/>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8" name="Shape 6"/>
          <p:cNvSpPr/>
          <p:nvPr/>
        </p:nvSpPr>
        <p:spPr>
          <a:xfrm flipH="1">
            <a:off x="7602738" y="2600964"/>
            <a:ext cx="1065774" cy="1861812"/>
          </a:xfrm>
          <a:prstGeom prst="line">
            <a:avLst/>
          </a:prstGeom>
          <a:noFill/>
          <a:ln w="22225">
            <a:solidFill>
              <a:srgbClr val="17958A"/>
            </a:solidFill>
            <a:prstDash val="solid"/>
            <a:tailEnd type="triangle"/>
          </a:ln>
        </p:spPr>
      </p:sp>
      <p:sp>
        <p:nvSpPr>
          <p:cNvPr id="9" name="Text 7"/>
          <p:cNvSpPr/>
          <p:nvPr/>
        </p:nvSpPr>
        <p:spPr>
          <a:xfrm>
            <a:off x="7757978" y="3403854"/>
            <a:ext cx="746150"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ACTED_IN</a:t>
            </a:r>
            <a:endParaRPr lang="en-US" sz="900" dirty="0"/>
          </a:p>
        </p:txBody>
      </p:sp>
      <p:sp>
        <p:nvSpPr>
          <p:cNvPr id="10" name="Shape 8"/>
          <p:cNvSpPr/>
          <p:nvPr/>
        </p:nvSpPr>
        <p:spPr>
          <a:xfrm flipH="1">
            <a:off x="7767330" y="4732020"/>
            <a:ext cx="2131548" cy="0"/>
          </a:xfrm>
          <a:prstGeom prst="line">
            <a:avLst/>
          </a:prstGeom>
          <a:noFill/>
          <a:ln w="22225">
            <a:solidFill>
              <a:srgbClr val="17958A"/>
            </a:solidFill>
            <a:prstDash val="solid"/>
            <a:tailEnd type="triangle"/>
          </a:ln>
        </p:spPr>
      </p:sp>
      <p:sp>
        <p:nvSpPr>
          <p:cNvPr id="11" name="Text 9"/>
          <p:cNvSpPr/>
          <p:nvPr/>
        </p:nvSpPr>
        <p:spPr>
          <a:xfrm>
            <a:off x="8450885" y="4604004"/>
            <a:ext cx="746150"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ACTED_IN</a:t>
            </a:r>
            <a:endParaRPr lang="en-US" sz="900" dirty="0"/>
          </a:p>
        </p:txBody>
      </p:sp>
      <p:sp>
        <p:nvSpPr>
          <p:cNvPr id="12" name="Shape 10"/>
          <p:cNvSpPr/>
          <p:nvPr/>
        </p:nvSpPr>
        <p:spPr>
          <a:xfrm>
            <a:off x="8979408" y="2600964"/>
            <a:ext cx="1065774" cy="1861812"/>
          </a:xfrm>
          <a:prstGeom prst="line">
            <a:avLst/>
          </a:prstGeom>
          <a:noFill/>
          <a:ln w="22225">
            <a:solidFill>
              <a:srgbClr val="17958A"/>
            </a:solidFill>
            <a:prstDash val="solid"/>
            <a:tailEnd type="triangle"/>
          </a:ln>
        </p:spPr>
      </p:sp>
      <p:sp>
        <p:nvSpPr>
          <p:cNvPr id="13" name="Text 11"/>
          <p:cNvSpPr/>
          <p:nvPr/>
        </p:nvSpPr>
        <p:spPr>
          <a:xfrm>
            <a:off x="9218773" y="3403854"/>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4" name="Shape 12"/>
          <p:cNvSpPr/>
          <p:nvPr/>
        </p:nvSpPr>
        <p:spPr>
          <a:xfrm>
            <a:off x="8540496" y="2048256"/>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5" name="Text 13"/>
          <p:cNvSpPr/>
          <p:nvPr/>
        </p:nvSpPr>
        <p:spPr>
          <a:xfrm>
            <a:off x="8220456" y="20574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Alice</a:t>
            </a:r>
            <a:endParaRPr lang="en-US" sz="1050" dirty="0"/>
          </a:p>
        </p:txBody>
      </p:sp>
      <p:sp>
        <p:nvSpPr>
          <p:cNvPr id="16" name="Shape 14"/>
          <p:cNvSpPr/>
          <p:nvPr/>
        </p:nvSpPr>
        <p:spPr>
          <a:xfrm>
            <a:off x="9926310" y="4448556"/>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7" name="Text 15"/>
          <p:cNvSpPr/>
          <p:nvPr/>
        </p:nvSpPr>
        <p:spPr>
          <a:xfrm>
            <a:off x="9606270" y="44577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Bob</a:t>
            </a:r>
            <a:endParaRPr lang="en-US" sz="1050" dirty="0"/>
          </a:p>
        </p:txBody>
      </p:sp>
      <p:sp>
        <p:nvSpPr>
          <p:cNvPr id="18" name="Shape 16"/>
          <p:cNvSpPr/>
          <p:nvPr/>
        </p:nvSpPr>
        <p:spPr>
          <a:xfrm>
            <a:off x="7154682" y="4448556"/>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9" name="Text 17"/>
          <p:cNvSpPr/>
          <p:nvPr/>
        </p:nvSpPr>
        <p:spPr>
          <a:xfrm>
            <a:off x="6834642" y="44577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Phim</a:t>
            </a:r>
            <a:endParaRPr lang="en-US" sz="1050" dirty="0"/>
          </a:p>
        </p:txBody>
      </p:sp>
      <p:sp>
        <p:nvSpPr>
          <p:cNvPr id="20" name="Text 18"/>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Property Graph — mô hình dữ liệu chuẩn của Neo4j.</a:t>
            </a:r>
            <a:endParaRPr lang="en-US" sz="1050" dirty="0"/>
          </a:p>
        </p:txBody>
      </p:sp>
      <p:sp>
        <p:nvSpPr>
          <p:cNvPr id="21" name="Text 19"/>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2" name="Text 20"/>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THÀNH PHẦN</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Node — Nút (thực thể)</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56657E"/>
                </a:solidFill>
                <a:latin typeface="Calibri" pitchFamily="34" charset="0"/>
                <a:ea typeface="Calibri" pitchFamily="34" charset="-122"/>
                <a:cs typeface="Calibri" pitchFamily="34" charset="-120"/>
              </a:rPr>
              <a:t>Node biểu diễn một thực thể trong miền dữ liệu: người, phim, thành phố...</a:t>
            </a:r>
            <a:endParaRPr lang="en-US" sz="1500" dirty="0"/>
          </a:p>
        </p:txBody>
      </p:sp>
      <p:sp>
        <p:nvSpPr>
          <p:cNvPr id="6" name="Text 4"/>
          <p:cNvSpPr/>
          <p:nvPr/>
        </p:nvSpPr>
        <p:spPr>
          <a:xfrm>
            <a:off x="640080" y="233172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Biểu diễn thực thể</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Mỗi node là một đối tượng: một người, một sản phẩm, một địa điểm.</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Có 0..n nhãn (Label)</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Nhãn phân loại node, ví dụ :Person, :Movie. Một node có thể mang nhiều nhãn.</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Mang thuộc tính (Property)</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Dữ liệu dạng key–value: name, age, title... lưu ngay trên node.</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Có định danh nội bộ</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Hệ thống tự gán id để tham chiếu và gắn các quan hệ.</a:t>
            </a:r>
            <a:endParaRPr lang="en-US" sz="1550" dirty="0"/>
          </a:p>
        </p:txBody>
      </p:sp>
      <p:sp>
        <p:nvSpPr>
          <p:cNvPr id="7" name="Shape 5"/>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8" name="Shape 6"/>
          <p:cNvSpPr/>
          <p:nvPr/>
        </p:nvSpPr>
        <p:spPr>
          <a:xfrm>
            <a:off x="822960" y="5943600"/>
            <a:ext cx="292608" cy="292608"/>
          </a:xfrm>
          <a:prstGeom prst="ellipse">
            <a:avLst/>
          </a:prstGeom>
          <a:solidFill>
            <a:srgbClr val="C88A1E"/>
          </a:solidFill>
          <a:ln/>
        </p:spPr>
      </p:sp>
      <p:sp>
        <p:nvSpPr>
          <p:cNvPr id="9" name="Text 7"/>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Ví dụ: (:Person {name:'Alice', age:20}) — một node nhãn Person với hai thuộc tính.</a:t>
            </a:r>
            <a:endParaRPr lang="en-US" sz="1300" dirty="0"/>
          </a:p>
        </p:txBody>
      </p:sp>
      <p:sp>
        <p:nvSpPr>
          <p:cNvPr id="11" name="Text 9"/>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2" name="Text 10"/>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THÀNH PHẦN</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Relationship — Quan hệ</a:t>
            </a:r>
            <a:endParaRPr lang="en-US" sz="3200" dirty="0"/>
          </a:p>
        </p:txBody>
      </p:sp>
      <p:sp>
        <p:nvSpPr>
          <p:cNvPr id="5" name="Shape 3"/>
          <p:cNvSpPr/>
          <p:nvPr/>
        </p:nvSpPr>
        <p:spPr>
          <a:xfrm>
            <a:off x="640080" y="1943100"/>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1943100"/>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Luôn có kiểu (Type)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Mỗi quan hệ mang một type, ví dụ :FRIEND, :ACTED_IN.</a:t>
            </a:r>
            <a:endParaRPr lang="en-US" sz="1600" dirty="0"/>
          </a:p>
        </p:txBody>
      </p:sp>
      <p:sp>
        <p:nvSpPr>
          <p:cNvPr id="8" name="Shape 6"/>
          <p:cNvSpPr/>
          <p:nvPr/>
        </p:nvSpPr>
        <p:spPr>
          <a:xfrm>
            <a:off x="640080" y="2793492"/>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2793492"/>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724912"/>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Luôn có hướng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Đi từ node nguồn tới node đích; nhưng truy vấn được cả hai chiều.</a:t>
            </a:r>
            <a:endParaRPr lang="en-US" sz="1600" dirty="0"/>
          </a:p>
        </p:txBody>
      </p:sp>
      <p:sp>
        <p:nvSpPr>
          <p:cNvPr id="11" name="Shape 9"/>
          <p:cNvSpPr/>
          <p:nvPr/>
        </p:nvSpPr>
        <p:spPr>
          <a:xfrm>
            <a:off x="640080" y="3643884"/>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3643884"/>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575304"/>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Nối đúng hai node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Một quan hệ luôn liên kết chính xác hai node với nhau.</a:t>
            </a:r>
            <a:endParaRPr lang="en-US" sz="1600" dirty="0"/>
          </a:p>
        </p:txBody>
      </p:sp>
      <p:sp>
        <p:nvSpPr>
          <p:cNvPr id="14" name="Shape 12"/>
          <p:cNvSpPr/>
          <p:nvPr/>
        </p:nvSpPr>
        <p:spPr>
          <a:xfrm>
            <a:off x="640080" y="4494276"/>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4494276"/>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425696"/>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Có thể mang thuộc tính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Property nằm trên chính cạnh, ví dụ since, weight, role.</a:t>
            </a:r>
            <a:endParaRPr lang="en-US" sz="1600" dirty="0"/>
          </a:p>
        </p:txBody>
      </p:sp>
      <p:sp>
        <p:nvSpPr>
          <p:cNvPr id="17" name="Shape 15"/>
          <p:cNvSpPr/>
          <p:nvPr/>
        </p:nvSpPr>
        <p:spPr>
          <a:xfrm>
            <a:off x="640080" y="5344668"/>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8" name="Text 16"/>
          <p:cNvSpPr/>
          <p:nvPr/>
        </p:nvSpPr>
        <p:spPr>
          <a:xfrm>
            <a:off x="640080" y="5344668"/>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9" name="Text 17"/>
          <p:cNvSpPr/>
          <p:nvPr/>
        </p:nvSpPr>
        <p:spPr>
          <a:xfrm>
            <a:off x="1508760" y="5276088"/>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Lưu trực tiếp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Quan hệ được lưu ngay trong đồ thị — không cần bảng trung gian như RDBMS.</a:t>
            </a:r>
            <a:endParaRPr lang="en-US" sz="1600" dirty="0"/>
          </a:p>
        </p:txBody>
      </p:sp>
      <p:sp>
        <p:nvSpPr>
          <p:cNvPr id="20" name="Text 18"/>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1" name="Text 19"/>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VÍ DỤ</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Ví dụ: một mạng xã hội nhỏ</a:t>
            </a:r>
            <a:endParaRPr lang="en-US" sz="3200" dirty="0"/>
          </a:p>
        </p:txBody>
      </p:sp>
      <p:sp>
        <p:nvSpPr>
          <p:cNvPr id="5" name="Text 3"/>
          <p:cNvSpPr/>
          <p:nvPr/>
        </p:nvSpPr>
        <p:spPr>
          <a:xfrm>
            <a:off x="640080" y="192024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Node :Person</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An, Bình, Chi, Dũng, Lan</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Quan hệ FRIEND</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Kết bạn giữa hai người</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Quan hệ FOLLOWS</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Theo dõi một chiều</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Node :Post + LIKED</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Người thích một bài viết</a:t>
            </a:r>
            <a:endParaRPr lang="en-US" sz="1450" dirty="0"/>
          </a:p>
        </p:txBody>
      </p:sp>
      <p:sp>
        <p:nvSpPr>
          <p:cNvPr id="6" name="Shape 4"/>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7" name="Shape 5"/>
          <p:cNvSpPr/>
          <p:nvPr/>
        </p:nvSpPr>
        <p:spPr>
          <a:xfrm flipH="1">
            <a:off x="7605979" y="2694876"/>
            <a:ext cx="1077214" cy="2137589"/>
          </a:xfrm>
          <a:prstGeom prst="line">
            <a:avLst/>
          </a:prstGeom>
          <a:noFill/>
          <a:ln w="22225">
            <a:solidFill>
              <a:srgbClr val="17958A"/>
            </a:solidFill>
            <a:prstDash val="solid"/>
            <a:tailEnd type="triangle"/>
          </a:ln>
        </p:spPr>
      </p:sp>
      <p:sp>
        <p:nvSpPr>
          <p:cNvPr id="8" name="Text 6"/>
          <p:cNvSpPr/>
          <p:nvPr/>
        </p:nvSpPr>
        <p:spPr>
          <a:xfrm>
            <a:off x="7842352" y="3635654"/>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9" name="Shape 7"/>
          <p:cNvSpPr/>
          <p:nvPr/>
        </p:nvSpPr>
        <p:spPr>
          <a:xfrm>
            <a:off x="8917830" y="2714060"/>
            <a:ext cx="579405" cy="1846847"/>
          </a:xfrm>
          <a:prstGeom prst="line">
            <a:avLst/>
          </a:prstGeom>
          <a:noFill/>
          <a:ln w="22225">
            <a:solidFill>
              <a:srgbClr val="17958A"/>
            </a:solidFill>
            <a:prstDash val="solid"/>
            <a:tailEnd type="triangle"/>
          </a:ln>
        </p:spPr>
      </p:sp>
      <p:sp>
        <p:nvSpPr>
          <p:cNvPr id="10" name="Text 8"/>
          <p:cNvSpPr/>
          <p:nvPr/>
        </p:nvSpPr>
        <p:spPr>
          <a:xfrm>
            <a:off x="8912200" y="3509467"/>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1" name="Shape 9"/>
          <p:cNvSpPr/>
          <p:nvPr/>
        </p:nvSpPr>
        <p:spPr>
          <a:xfrm flipV="1">
            <a:off x="7765688" y="4893710"/>
            <a:ext cx="1504022" cy="179540"/>
          </a:xfrm>
          <a:prstGeom prst="line">
            <a:avLst/>
          </a:prstGeom>
          <a:noFill/>
          <a:ln w="22225">
            <a:solidFill>
              <a:srgbClr val="17958A"/>
            </a:solidFill>
            <a:prstDash val="solid"/>
            <a:tailEnd type="triangle"/>
          </a:ln>
        </p:spPr>
      </p:sp>
      <p:sp>
        <p:nvSpPr>
          <p:cNvPr id="12" name="Text 10"/>
          <p:cNvSpPr/>
          <p:nvPr/>
        </p:nvSpPr>
        <p:spPr>
          <a:xfrm>
            <a:off x="8228686" y="4855464"/>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FRIEND</a:t>
            </a:r>
            <a:endParaRPr lang="en-US" sz="900" dirty="0"/>
          </a:p>
        </p:txBody>
      </p:sp>
      <p:sp>
        <p:nvSpPr>
          <p:cNvPr id="13" name="Shape 11"/>
          <p:cNvSpPr/>
          <p:nvPr/>
        </p:nvSpPr>
        <p:spPr>
          <a:xfrm flipH="1" flipV="1">
            <a:off x="9144350" y="2489054"/>
            <a:ext cx="1516715" cy="361988"/>
          </a:xfrm>
          <a:prstGeom prst="line">
            <a:avLst/>
          </a:prstGeom>
          <a:noFill/>
          <a:ln w="22225">
            <a:solidFill>
              <a:srgbClr val="17958A"/>
            </a:solidFill>
            <a:prstDash val="solid"/>
            <a:tailEnd type="triangle"/>
          </a:ln>
        </p:spPr>
      </p:sp>
      <p:sp>
        <p:nvSpPr>
          <p:cNvPr id="14" name="Text 12"/>
          <p:cNvSpPr/>
          <p:nvPr/>
        </p:nvSpPr>
        <p:spPr>
          <a:xfrm>
            <a:off x="9558223" y="2542032"/>
            <a:ext cx="671170"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FOLLOWS</a:t>
            </a:r>
            <a:endParaRPr lang="en-US" sz="900" dirty="0"/>
          </a:p>
        </p:txBody>
      </p:sp>
      <p:sp>
        <p:nvSpPr>
          <p:cNvPr id="15" name="Shape 13"/>
          <p:cNvSpPr/>
          <p:nvPr/>
        </p:nvSpPr>
        <p:spPr>
          <a:xfrm>
            <a:off x="6889133" y="3137063"/>
            <a:ext cx="476743" cy="1673839"/>
          </a:xfrm>
          <a:prstGeom prst="line">
            <a:avLst/>
          </a:prstGeom>
          <a:noFill/>
          <a:ln w="22225">
            <a:solidFill>
              <a:srgbClr val="17958A"/>
            </a:solidFill>
            <a:prstDash val="solid"/>
            <a:tailEnd type="triangle"/>
          </a:ln>
        </p:spPr>
      </p:sp>
      <p:sp>
        <p:nvSpPr>
          <p:cNvPr id="16" name="Text 14"/>
          <p:cNvSpPr/>
          <p:nvPr/>
        </p:nvSpPr>
        <p:spPr>
          <a:xfrm>
            <a:off x="6794449" y="3845966"/>
            <a:ext cx="671170"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FOLLOWS</a:t>
            </a:r>
            <a:endParaRPr lang="en-US" sz="900" dirty="0"/>
          </a:p>
        </p:txBody>
      </p:sp>
      <p:sp>
        <p:nvSpPr>
          <p:cNvPr id="17" name="Shape 15"/>
          <p:cNvSpPr/>
          <p:nvPr/>
        </p:nvSpPr>
        <p:spPr>
          <a:xfrm>
            <a:off x="9907098" y="4873568"/>
            <a:ext cx="965570" cy="51574"/>
          </a:xfrm>
          <a:prstGeom prst="line">
            <a:avLst/>
          </a:prstGeom>
          <a:noFill/>
          <a:ln w="22225">
            <a:solidFill>
              <a:srgbClr val="17958A"/>
            </a:solidFill>
            <a:prstDash val="solid"/>
            <a:tailEnd type="triangle"/>
          </a:ln>
        </p:spPr>
      </p:sp>
      <p:sp>
        <p:nvSpPr>
          <p:cNvPr id="18" name="Text 16"/>
          <p:cNvSpPr/>
          <p:nvPr/>
        </p:nvSpPr>
        <p:spPr>
          <a:xfrm>
            <a:off x="10138410" y="4771339"/>
            <a:ext cx="521208"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LIKED</a:t>
            </a:r>
            <a:endParaRPr lang="en-US" sz="900" dirty="0"/>
          </a:p>
        </p:txBody>
      </p:sp>
      <p:sp>
        <p:nvSpPr>
          <p:cNvPr id="19" name="Shape 17"/>
          <p:cNvSpPr/>
          <p:nvPr/>
        </p:nvSpPr>
        <p:spPr>
          <a:xfrm>
            <a:off x="6519672" y="2554834"/>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0" name="Text 18"/>
          <p:cNvSpPr/>
          <p:nvPr/>
        </p:nvSpPr>
        <p:spPr>
          <a:xfrm>
            <a:off x="6199632" y="2563978"/>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Lan</a:t>
            </a:r>
            <a:endParaRPr lang="en-US" sz="1050" dirty="0"/>
          </a:p>
        </p:txBody>
      </p:sp>
      <p:sp>
        <p:nvSpPr>
          <p:cNvPr id="21" name="Shape 19"/>
          <p:cNvSpPr/>
          <p:nvPr/>
        </p:nvSpPr>
        <p:spPr>
          <a:xfrm>
            <a:off x="8540496" y="2134210"/>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2" name="Text 20"/>
          <p:cNvSpPr/>
          <p:nvPr/>
        </p:nvSpPr>
        <p:spPr>
          <a:xfrm>
            <a:off x="8220456" y="2143354"/>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An</a:t>
            </a:r>
            <a:endParaRPr lang="en-US" sz="1050" dirty="0"/>
          </a:p>
        </p:txBody>
      </p:sp>
      <p:sp>
        <p:nvSpPr>
          <p:cNvPr id="23" name="Shape 21"/>
          <p:cNvSpPr/>
          <p:nvPr/>
        </p:nvSpPr>
        <p:spPr>
          <a:xfrm>
            <a:off x="10680192" y="2638958"/>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4" name="Text 22"/>
          <p:cNvSpPr/>
          <p:nvPr/>
        </p:nvSpPr>
        <p:spPr>
          <a:xfrm>
            <a:off x="10360152" y="2648102"/>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Dũng</a:t>
            </a:r>
            <a:endParaRPr lang="en-US" sz="1050" dirty="0"/>
          </a:p>
        </p:txBody>
      </p:sp>
      <p:sp>
        <p:nvSpPr>
          <p:cNvPr id="25" name="Shape 23"/>
          <p:cNvSpPr/>
          <p:nvPr/>
        </p:nvSpPr>
        <p:spPr>
          <a:xfrm>
            <a:off x="7173468" y="4826203"/>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6" name="Text 24"/>
          <p:cNvSpPr/>
          <p:nvPr/>
        </p:nvSpPr>
        <p:spPr>
          <a:xfrm>
            <a:off x="6853428" y="4835347"/>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Bình</a:t>
            </a:r>
            <a:endParaRPr lang="en-US" sz="1050" dirty="0"/>
          </a:p>
        </p:txBody>
      </p:sp>
      <p:sp>
        <p:nvSpPr>
          <p:cNvPr id="27" name="Shape 25"/>
          <p:cNvSpPr/>
          <p:nvPr/>
        </p:nvSpPr>
        <p:spPr>
          <a:xfrm>
            <a:off x="9313164" y="4573829"/>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8" name="Text 26"/>
          <p:cNvSpPr/>
          <p:nvPr/>
        </p:nvSpPr>
        <p:spPr>
          <a:xfrm>
            <a:off x="8993124" y="4582973"/>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Chi</a:t>
            </a:r>
            <a:endParaRPr lang="en-US" sz="1050" dirty="0"/>
          </a:p>
        </p:txBody>
      </p:sp>
      <p:sp>
        <p:nvSpPr>
          <p:cNvPr id="29" name="Shape 27"/>
          <p:cNvSpPr/>
          <p:nvPr/>
        </p:nvSpPr>
        <p:spPr>
          <a:xfrm>
            <a:off x="10917936" y="4657954"/>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30" name="Text 28"/>
          <p:cNvSpPr/>
          <p:nvPr/>
        </p:nvSpPr>
        <p:spPr>
          <a:xfrm>
            <a:off x="10597896" y="4667098"/>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Bài viết</a:t>
            </a:r>
            <a:endParaRPr lang="en-US" sz="1050" dirty="0"/>
          </a:p>
        </p:txBody>
      </p:sp>
      <p:sp>
        <p:nvSpPr>
          <p:cNvPr id="31" name="Text 29"/>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Chỉ vài node và quan hệ đã mô tả trọn vẹn một mạng xã hội.</a:t>
            </a:r>
            <a:endParaRPr lang="en-US" sz="1050" dirty="0"/>
          </a:p>
        </p:txBody>
      </p:sp>
      <p:sp>
        <p:nvSpPr>
          <p:cNvPr id="32" name="Text 30"/>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33" name="Text 31"/>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HAI TRƯỜNG PHÁI</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Property Graph và RDF (Triple Store)</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3017520"/>
                <a:gridCol w="3931920"/>
                <a:gridCol w="393192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Khía cạnh</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Property Graph</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RDF (Triple Store)</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Đơn vị</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Node &amp; quan hệ có thuộc tính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Bộ ba S–P–O</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Ngôn ngữ</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Cypher / GQL</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SPARQL</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Điểm mạnh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Trực quan, giàu thuộc tính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Chuẩn hoá web ngữ nghĩa</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Ví dụ hệ</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Neo4j</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GraphDB, Stardog</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bl>
          </a:graphicData>
        </a:graphic>
      </p:graphicFrame>
      <p:sp>
        <p:nvSpPr>
          <p:cNvPr id="6" name="Text 3"/>
          <p:cNvSpPr/>
          <p:nvPr/>
        </p:nvSpPr>
        <p:spPr>
          <a:xfrm>
            <a:off x="640080" y="5989320"/>
            <a:ext cx="10911535" cy="365760"/>
          </a:xfrm>
          <a:prstGeom prst="rect">
            <a:avLst/>
          </a:prstGeom>
          <a:noFill/>
          <a:ln/>
        </p:spPr>
        <p:txBody>
          <a:bodyPr wrap="square" rtlCol="0" anchor="ctr"/>
          <a:lstStyle/>
          <a:p>
            <a:pPr indent="0" marL="0">
              <a:buNone/>
            </a:pPr>
            <a:r>
              <a:rPr lang="en-US" sz="1200" i="1" dirty="0">
                <a:solidFill>
                  <a:srgbClr val="56657E"/>
                </a:solidFill>
                <a:latin typeface="Calibri" pitchFamily="34" charset="0"/>
                <a:ea typeface="Calibri" pitchFamily="34" charset="-122"/>
                <a:cs typeface="Calibri" pitchFamily="34" charset="-120"/>
              </a:rPr>
              <a:t>RDF mạnh về web ngữ nghĩa và dữ liệu liên kết mở; Property Graph trực quan, phổ biến hơn với lập trình viên.</a:t>
            </a:r>
            <a:endParaRPr lang="en-US" sz="1200" dirty="0"/>
          </a:p>
        </p:txBody>
      </p:sp>
      <p:sp>
        <p:nvSpPr>
          <p:cNvPr id="7" name="Text 4"/>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8" name="Text 5"/>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LƯỢC ĐỒ</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Lược đồ (schema) linh hoạt</a:t>
            </a:r>
            <a:endParaRPr lang="en-US" sz="3200" dirty="0"/>
          </a:p>
        </p:txBody>
      </p:sp>
      <p:sp>
        <p:nvSpPr>
          <p:cNvPr id="5" name="Shape 3"/>
          <p:cNvSpPr/>
          <p:nvPr/>
        </p:nvSpPr>
        <p:spPr>
          <a:xfrm>
            <a:off x="640080" y="2035683"/>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2035683"/>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Schema-optional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Không bắt buộc khai báo cấu trúc trước khi thêm dữ liệu.</a:t>
            </a:r>
            <a:endParaRPr lang="en-US" sz="1600" dirty="0"/>
          </a:p>
        </p:txBody>
      </p:sp>
      <p:sp>
        <p:nvSpPr>
          <p:cNvPr id="8" name="Shape 6"/>
          <p:cNvSpPr/>
          <p:nvPr/>
        </p:nvSpPr>
        <p:spPr>
          <a:xfrm>
            <a:off x="640080" y="3071241"/>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3071241"/>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910078"/>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Thêm linh hoạt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Có thể bổ sung nhãn và thuộc tính mới bất cứ lúc nào.</a:t>
            </a:r>
            <a:endParaRPr lang="en-US" sz="1600" dirty="0"/>
          </a:p>
        </p:txBody>
      </p:sp>
      <p:sp>
        <p:nvSpPr>
          <p:cNvPr id="11" name="Shape 9"/>
          <p:cNvSpPr/>
          <p:nvPr/>
        </p:nvSpPr>
        <p:spPr>
          <a:xfrm>
            <a:off x="640080" y="4106799"/>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4106799"/>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945636"/>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Ràng buộc &amp; index tùy chọn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Khai báo uniqueness, tạo index để đảm bảo toàn vẹn và tăng tốc truy vấn.</a:t>
            </a:r>
            <a:endParaRPr lang="en-US" sz="1600" dirty="0"/>
          </a:p>
        </p:txBody>
      </p:sp>
      <p:sp>
        <p:nvSpPr>
          <p:cNvPr id="14" name="Shape 12"/>
          <p:cNvSpPr/>
          <p:nvPr/>
        </p:nvSpPr>
        <p:spPr>
          <a:xfrm>
            <a:off x="640080" y="5142357"/>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5142357"/>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981194"/>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Hợp dữ liệu tiến hóa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Lý tưởng khi mô hình dữ liệu thay đổi và mở rộng theo thời gian.</a:t>
            </a:r>
            <a:endParaRPr lang="en-US" sz="1600" dirty="0"/>
          </a:p>
        </p:txBody>
      </p:sp>
      <p:sp>
        <p:nvSpPr>
          <p:cNvPr id="17" name="Text 15"/>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8" name="Text 16"/>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ĐỐI CHIẾU</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Mô hình quan hệ và mô hình đồ thị</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3108960"/>
                <a:gridCol w="4114800"/>
                <a:gridCol w="365760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Khái niệm</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Quan hệ (RDBMS)</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Đồ thị</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Thực thể</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Hàng trong bảng</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Node</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Liên kết</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Khóa ngoại + JOIN</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Relationship</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Lược đồ</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Cố định, khai báo trước</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Linh hoạt</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Thuộc tính</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Cột của bảng</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Property (key–value)</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Truy vấn đa bước</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JOIN nhiều bảng</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Duyệt cạnh liên tiếp</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989320"/>
            <a:ext cx="10911535" cy="365760"/>
          </a:xfrm>
          <a:prstGeom prst="rect">
            <a:avLst/>
          </a:prstGeom>
          <a:noFill/>
          <a:ln/>
        </p:spPr>
        <p:txBody>
          <a:bodyPr wrap="square" rtlCol="0" anchor="ctr"/>
          <a:lstStyle/>
          <a:p>
            <a:pPr indent="0" marL="0">
              <a:buNone/>
            </a:pPr>
            <a:r>
              <a:rPr lang="en-US" sz="1200" i="1" dirty="0">
                <a:solidFill>
                  <a:srgbClr val="56657E"/>
                </a:solidFill>
                <a:latin typeface="Calibri" pitchFamily="34" charset="0"/>
                <a:ea typeface="Calibri" pitchFamily="34" charset="-122"/>
                <a:cs typeface="Calibri" pitchFamily="34" charset="-120"/>
              </a:rPr>
              <a:t>Đồ thị không thay thế hoàn toàn RDBMS — mỗi mô hình mạnh ở một loại bài toán khác nhau.</a:t>
            </a:r>
            <a:endParaRPr lang="en-US" sz="1200" dirty="0"/>
          </a:p>
        </p:txBody>
      </p:sp>
      <p:sp>
        <p:nvSpPr>
          <p:cNvPr id="7" name="Text 4"/>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8" name="Text 5"/>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22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242"/>
          </a:solidFill>
          <a:ln/>
        </p:spPr>
      </p:sp>
      <p:sp>
        <p:nvSpPr>
          <p:cNvPr id="3" name="Shape 1"/>
          <p:cNvSpPr/>
          <p:nvPr/>
        </p:nvSpPr>
        <p:spPr>
          <a:xfrm flipV="1">
            <a:off x="8595360" y="3108960"/>
            <a:ext cx="946404" cy="368046"/>
          </a:xfrm>
          <a:prstGeom prst="line">
            <a:avLst/>
          </a:prstGeom>
          <a:noFill/>
          <a:ln w="15875">
            <a:solidFill>
              <a:srgbClr val="35557E"/>
            </a:solidFill>
            <a:prstDash val="solid"/>
          </a:ln>
        </p:spPr>
      </p:sp>
      <p:sp>
        <p:nvSpPr>
          <p:cNvPr id="4" name="Shape 2"/>
          <p:cNvSpPr/>
          <p:nvPr/>
        </p:nvSpPr>
        <p:spPr>
          <a:xfrm>
            <a:off x="9541764" y="3108960"/>
            <a:ext cx="841248" cy="578358"/>
          </a:xfrm>
          <a:prstGeom prst="line">
            <a:avLst/>
          </a:prstGeom>
          <a:noFill/>
          <a:ln w="15875">
            <a:solidFill>
              <a:srgbClr val="35557E"/>
            </a:solidFill>
            <a:prstDash val="solid"/>
          </a:ln>
        </p:spPr>
      </p:sp>
      <p:sp>
        <p:nvSpPr>
          <p:cNvPr id="5" name="Shape 3"/>
          <p:cNvSpPr/>
          <p:nvPr/>
        </p:nvSpPr>
        <p:spPr>
          <a:xfrm flipH="1">
            <a:off x="9752076" y="3687318"/>
            <a:ext cx="630936" cy="736092"/>
          </a:xfrm>
          <a:prstGeom prst="line">
            <a:avLst/>
          </a:prstGeom>
          <a:noFill/>
          <a:ln w="15875">
            <a:solidFill>
              <a:srgbClr val="35557E"/>
            </a:solidFill>
            <a:prstDash val="solid"/>
          </a:ln>
        </p:spPr>
      </p:sp>
      <p:sp>
        <p:nvSpPr>
          <p:cNvPr id="6" name="Shape 4"/>
          <p:cNvSpPr/>
          <p:nvPr/>
        </p:nvSpPr>
        <p:spPr>
          <a:xfrm flipH="1" flipV="1">
            <a:off x="8805672" y="4318254"/>
            <a:ext cx="946404" cy="105156"/>
          </a:xfrm>
          <a:prstGeom prst="line">
            <a:avLst/>
          </a:prstGeom>
          <a:noFill/>
          <a:ln w="15875">
            <a:solidFill>
              <a:srgbClr val="35557E"/>
            </a:solidFill>
            <a:prstDash val="solid"/>
          </a:ln>
        </p:spPr>
      </p:sp>
      <p:sp>
        <p:nvSpPr>
          <p:cNvPr id="7" name="Shape 5"/>
          <p:cNvSpPr/>
          <p:nvPr/>
        </p:nvSpPr>
        <p:spPr>
          <a:xfrm flipH="1" flipV="1">
            <a:off x="8595360" y="3477006"/>
            <a:ext cx="210312" cy="841248"/>
          </a:xfrm>
          <a:prstGeom prst="line">
            <a:avLst/>
          </a:prstGeom>
          <a:noFill/>
          <a:ln w="15875">
            <a:solidFill>
              <a:srgbClr val="35557E"/>
            </a:solidFill>
            <a:prstDash val="solid"/>
          </a:ln>
        </p:spPr>
      </p:sp>
      <p:sp>
        <p:nvSpPr>
          <p:cNvPr id="8" name="Shape 6"/>
          <p:cNvSpPr/>
          <p:nvPr/>
        </p:nvSpPr>
        <p:spPr>
          <a:xfrm>
            <a:off x="10383012" y="3687318"/>
            <a:ext cx="841248" cy="473202"/>
          </a:xfrm>
          <a:prstGeom prst="line">
            <a:avLst/>
          </a:prstGeom>
          <a:noFill/>
          <a:ln w="15875">
            <a:solidFill>
              <a:srgbClr val="35557E"/>
            </a:solidFill>
            <a:prstDash val="solid"/>
          </a:ln>
        </p:spPr>
      </p:sp>
      <p:sp>
        <p:nvSpPr>
          <p:cNvPr id="9" name="Shape 7"/>
          <p:cNvSpPr/>
          <p:nvPr/>
        </p:nvSpPr>
        <p:spPr>
          <a:xfrm flipH="1" flipV="1">
            <a:off x="10803636" y="3266694"/>
            <a:ext cx="420624" cy="893826"/>
          </a:xfrm>
          <a:prstGeom prst="line">
            <a:avLst/>
          </a:prstGeom>
          <a:noFill/>
          <a:ln w="15875">
            <a:solidFill>
              <a:srgbClr val="35557E"/>
            </a:solidFill>
            <a:prstDash val="solid"/>
          </a:ln>
        </p:spPr>
      </p:sp>
      <p:sp>
        <p:nvSpPr>
          <p:cNvPr id="10" name="Shape 8"/>
          <p:cNvSpPr/>
          <p:nvPr/>
        </p:nvSpPr>
        <p:spPr>
          <a:xfrm flipH="1" flipV="1">
            <a:off x="9541764" y="3108960"/>
            <a:ext cx="1261872" cy="157734"/>
          </a:xfrm>
          <a:prstGeom prst="line">
            <a:avLst/>
          </a:prstGeom>
          <a:noFill/>
          <a:ln w="15875">
            <a:solidFill>
              <a:srgbClr val="35557E"/>
            </a:solidFill>
            <a:prstDash val="solid"/>
          </a:ln>
        </p:spPr>
      </p:sp>
      <p:sp>
        <p:nvSpPr>
          <p:cNvPr id="11" name="Shape 9"/>
          <p:cNvSpPr/>
          <p:nvPr/>
        </p:nvSpPr>
        <p:spPr>
          <a:xfrm flipV="1">
            <a:off x="9752076" y="4160520"/>
            <a:ext cx="1472184" cy="262890"/>
          </a:xfrm>
          <a:prstGeom prst="line">
            <a:avLst/>
          </a:prstGeom>
          <a:noFill/>
          <a:ln w="15875">
            <a:solidFill>
              <a:srgbClr val="35557E"/>
            </a:solidFill>
            <a:prstDash val="solid"/>
          </a:ln>
        </p:spPr>
      </p:sp>
      <p:sp>
        <p:nvSpPr>
          <p:cNvPr id="12" name="Shape 10"/>
          <p:cNvSpPr/>
          <p:nvPr/>
        </p:nvSpPr>
        <p:spPr>
          <a:xfrm>
            <a:off x="8458657" y="3340303"/>
            <a:ext cx="273406" cy="273406"/>
          </a:xfrm>
          <a:prstGeom prst="ellipse">
            <a:avLst/>
          </a:prstGeom>
          <a:solidFill>
            <a:srgbClr val="C88A1E">
              <a:alpha val="75000"/>
            </a:srgbClr>
          </a:solidFill>
          <a:ln w="12700">
            <a:solidFill>
              <a:srgbClr val="FFFFFF">
                <a:alpha val="70000"/>
              </a:srgbClr>
            </a:solidFill>
            <a:prstDash val="solid"/>
          </a:ln>
        </p:spPr>
      </p:sp>
      <p:sp>
        <p:nvSpPr>
          <p:cNvPr id="13" name="Shape 11"/>
          <p:cNvSpPr/>
          <p:nvPr/>
        </p:nvSpPr>
        <p:spPr>
          <a:xfrm>
            <a:off x="9447124" y="3014320"/>
            <a:ext cx="189281" cy="189281"/>
          </a:xfrm>
          <a:prstGeom prst="ellipse">
            <a:avLst/>
          </a:prstGeom>
          <a:solidFill>
            <a:srgbClr val="17958A">
              <a:alpha val="75000"/>
            </a:srgbClr>
          </a:solidFill>
          <a:ln w="12700">
            <a:solidFill>
              <a:srgbClr val="FFFFFF">
                <a:alpha val="70000"/>
              </a:srgbClr>
            </a:solidFill>
            <a:prstDash val="solid"/>
          </a:ln>
        </p:spPr>
      </p:sp>
      <p:sp>
        <p:nvSpPr>
          <p:cNvPr id="14" name="Shape 12"/>
          <p:cNvSpPr/>
          <p:nvPr/>
        </p:nvSpPr>
        <p:spPr>
          <a:xfrm>
            <a:off x="10288372" y="3592678"/>
            <a:ext cx="189281" cy="189281"/>
          </a:xfrm>
          <a:prstGeom prst="ellipse">
            <a:avLst/>
          </a:prstGeom>
          <a:solidFill>
            <a:srgbClr val="C88A1E">
              <a:alpha val="75000"/>
            </a:srgbClr>
          </a:solidFill>
          <a:ln w="12700">
            <a:solidFill>
              <a:srgbClr val="FFFFFF">
                <a:alpha val="70000"/>
              </a:srgbClr>
            </a:solidFill>
            <a:prstDash val="solid"/>
          </a:ln>
        </p:spPr>
      </p:sp>
      <p:sp>
        <p:nvSpPr>
          <p:cNvPr id="15" name="Shape 13"/>
          <p:cNvSpPr/>
          <p:nvPr/>
        </p:nvSpPr>
        <p:spPr>
          <a:xfrm>
            <a:off x="9615373" y="4286707"/>
            <a:ext cx="273406" cy="273406"/>
          </a:xfrm>
          <a:prstGeom prst="ellipse">
            <a:avLst/>
          </a:prstGeom>
          <a:solidFill>
            <a:srgbClr val="17958A">
              <a:alpha val="75000"/>
            </a:srgbClr>
          </a:solidFill>
          <a:ln w="12700">
            <a:solidFill>
              <a:srgbClr val="FFFFFF">
                <a:alpha val="70000"/>
              </a:srgbClr>
            </a:solidFill>
            <a:prstDash val="solid"/>
          </a:ln>
        </p:spPr>
      </p:sp>
      <p:sp>
        <p:nvSpPr>
          <p:cNvPr id="16" name="Shape 14"/>
          <p:cNvSpPr/>
          <p:nvPr/>
        </p:nvSpPr>
        <p:spPr>
          <a:xfrm>
            <a:off x="8711032" y="4223614"/>
            <a:ext cx="189281" cy="189281"/>
          </a:xfrm>
          <a:prstGeom prst="ellipse">
            <a:avLst/>
          </a:prstGeom>
          <a:solidFill>
            <a:srgbClr val="C88A1E">
              <a:alpha val="75000"/>
            </a:srgbClr>
          </a:solidFill>
          <a:ln w="12700">
            <a:solidFill>
              <a:srgbClr val="FFFFFF">
                <a:alpha val="70000"/>
              </a:srgbClr>
            </a:solidFill>
            <a:prstDash val="solid"/>
          </a:ln>
        </p:spPr>
      </p:sp>
      <p:sp>
        <p:nvSpPr>
          <p:cNvPr id="17" name="Shape 15"/>
          <p:cNvSpPr/>
          <p:nvPr/>
        </p:nvSpPr>
        <p:spPr>
          <a:xfrm>
            <a:off x="11129620" y="4065880"/>
            <a:ext cx="189281" cy="189281"/>
          </a:xfrm>
          <a:prstGeom prst="ellipse">
            <a:avLst/>
          </a:prstGeom>
          <a:solidFill>
            <a:srgbClr val="17958A">
              <a:alpha val="75000"/>
            </a:srgbClr>
          </a:solidFill>
          <a:ln w="12700">
            <a:solidFill>
              <a:srgbClr val="FFFFFF">
                <a:alpha val="70000"/>
              </a:srgbClr>
            </a:solidFill>
            <a:prstDash val="solid"/>
          </a:ln>
        </p:spPr>
      </p:sp>
      <p:sp>
        <p:nvSpPr>
          <p:cNvPr id="18" name="Shape 16"/>
          <p:cNvSpPr/>
          <p:nvPr/>
        </p:nvSpPr>
        <p:spPr>
          <a:xfrm>
            <a:off x="10666933" y="3129991"/>
            <a:ext cx="273406" cy="273406"/>
          </a:xfrm>
          <a:prstGeom prst="ellipse">
            <a:avLst/>
          </a:prstGeom>
          <a:solidFill>
            <a:srgbClr val="C88A1E">
              <a:alpha val="75000"/>
            </a:srgbClr>
          </a:solidFill>
          <a:ln w="12700">
            <a:solidFill>
              <a:srgbClr val="FFFFFF">
                <a:alpha val="70000"/>
              </a:srgbClr>
            </a:solidFill>
            <a:prstDash val="solid"/>
          </a:ln>
        </p:spPr>
      </p:sp>
      <p:sp>
        <p:nvSpPr>
          <p:cNvPr id="19" name="Text 17"/>
          <p:cNvSpPr/>
          <p:nvPr/>
        </p:nvSpPr>
        <p:spPr>
          <a:xfrm>
            <a:off x="640080" y="1371600"/>
            <a:ext cx="3657600" cy="2011680"/>
          </a:xfrm>
          <a:prstGeom prst="rect">
            <a:avLst/>
          </a:prstGeom>
          <a:noFill/>
          <a:ln/>
        </p:spPr>
        <p:txBody>
          <a:bodyPr wrap="square" rtlCol="0" anchor="ctr"/>
          <a:lstStyle/>
          <a:p>
            <a:pPr algn="l" indent="0" marL="0">
              <a:buNone/>
            </a:pPr>
            <a:r>
              <a:rPr lang="en-US" sz="13000" b="1" dirty="0">
                <a:solidFill>
                  <a:srgbClr val="27476F"/>
                </a:solidFill>
                <a:latin typeface="Cambria" pitchFamily="34" charset="0"/>
                <a:ea typeface="Cambria" pitchFamily="34" charset="-122"/>
                <a:cs typeface="Cambria" pitchFamily="34" charset="-120"/>
              </a:rPr>
              <a:t>03</a:t>
            </a:r>
            <a:endParaRPr lang="en-US" sz="13000" dirty="0"/>
          </a:p>
        </p:txBody>
      </p:sp>
      <p:sp>
        <p:nvSpPr>
          <p:cNvPr id="20" name="Text 18"/>
          <p:cNvSpPr/>
          <p:nvPr/>
        </p:nvSpPr>
        <p:spPr>
          <a:xfrm>
            <a:off x="640080" y="3611880"/>
            <a:ext cx="8778240" cy="1280160"/>
          </a:xfrm>
          <a:prstGeom prst="rect">
            <a:avLst/>
          </a:prstGeom>
          <a:noFill/>
          <a:ln/>
        </p:spPr>
        <p:txBody>
          <a:bodyPr wrap="square" rtlCol="0" anchor="t"/>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Neo4j &amp; ngôn ngữ truy vấn Cypher</a:t>
            </a:r>
            <a:endParaRPr lang="en-US" sz="3800" dirty="0"/>
          </a:p>
        </p:txBody>
      </p:sp>
      <p:sp>
        <p:nvSpPr>
          <p:cNvPr id="21" name="Text 19"/>
          <p:cNvSpPr/>
          <p:nvPr/>
        </p:nvSpPr>
        <p:spPr>
          <a:xfrm>
            <a:off x="640080" y="4892040"/>
            <a:ext cx="8595360" cy="914400"/>
          </a:xfrm>
          <a:prstGeom prst="rect">
            <a:avLst/>
          </a:prstGeom>
          <a:noFill/>
          <a:ln/>
        </p:spPr>
        <p:txBody>
          <a:bodyPr wrap="square" rtlCol="0" anchor="ctr"/>
          <a:lstStyle/>
          <a:p>
            <a:pPr indent="0" marL="0">
              <a:lnSpc>
                <a:spcPct val="115000"/>
              </a:lnSpc>
              <a:buNone/>
            </a:pPr>
            <a:r>
              <a:rPr lang="en-US" sz="1600" dirty="0">
                <a:solidFill>
                  <a:srgbClr val="AFC4E0"/>
                </a:solidFill>
                <a:latin typeface="Calibri" pitchFamily="34" charset="0"/>
                <a:ea typeface="Calibri" pitchFamily="34" charset="-122"/>
                <a:cs typeface="Calibri" pitchFamily="34" charset="-120"/>
              </a:rPr>
              <a:t>Hệ quản trị đồ thị phổ biến nhất và cách truy vấn nó</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NEO4J</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Giới thiệu Neo4j</a:t>
            </a:r>
            <a:endParaRPr lang="en-US" sz="3200" dirty="0"/>
          </a:p>
        </p:txBody>
      </p:sp>
      <p:sp>
        <p:nvSpPr>
          <p:cNvPr id="5" name="Shape 3"/>
          <p:cNvSpPr/>
          <p:nvPr/>
        </p:nvSpPr>
        <p:spPr>
          <a:xfrm>
            <a:off x="640080" y="1943100"/>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1943100"/>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Native graph database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Lưu trữ đồ thị gốc, không mô phỏng quan hệ trên bảng như RDBMS.</a:t>
            </a:r>
            <a:endParaRPr lang="en-US" sz="1600" dirty="0"/>
          </a:p>
        </p:txBody>
      </p:sp>
      <p:sp>
        <p:nvSpPr>
          <p:cNvPr id="8" name="Shape 6"/>
          <p:cNvSpPr/>
          <p:nvPr/>
        </p:nvSpPr>
        <p:spPr>
          <a:xfrm>
            <a:off x="640080" y="2793492"/>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2793492"/>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724912"/>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Tuân thủ ACID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Giao dịch tin cậy, đảm bảo toàn vẹn dữ liệu như CSDL truyền thống.</a:t>
            </a:r>
            <a:endParaRPr lang="en-US" sz="1600" dirty="0"/>
          </a:p>
        </p:txBody>
      </p:sp>
      <p:sp>
        <p:nvSpPr>
          <p:cNvPr id="11" name="Shape 9"/>
          <p:cNvSpPr/>
          <p:nvPr/>
        </p:nvSpPr>
        <p:spPr>
          <a:xfrm>
            <a:off x="640080" y="3643884"/>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3643884"/>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575304"/>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Mô hình Property Graph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Node và quan hệ đều mang nhãn (label) và thuộc tính key-value.</a:t>
            </a:r>
            <a:endParaRPr lang="en-US" sz="1600" dirty="0"/>
          </a:p>
        </p:txBody>
      </p:sp>
      <p:sp>
        <p:nvSpPr>
          <p:cNvPr id="14" name="Shape 12"/>
          <p:cNvSpPr/>
          <p:nvPr/>
        </p:nvSpPr>
        <p:spPr>
          <a:xfrm>
            <a:off x="640080" y="4494276"/>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4494276"/>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425696"/>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Dẫn đầu DB-Engines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50.49 điểm (7/2026) — graph database phổ biến nhất, bỏ xa phần còn lại.</a:t>
            </a:r>
            <a:endParaRPr lang="en-US" sz="1600" dirty="0"/>
          </a:p>
        </p:txBody>
      </p:sp>
      <p:sp>
        <p:nvSpPr>
          <p:cNvPr id="17" name="Shape 15"/>
          <p:cNvSpPr/>
          <p:nvPr/>
        </p:nvSpPr>
        <p:spPr>
          <a:xfrm>
            <a:off x="640080" y="5344668"/>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8" name="Text 16"/>
          <p:cNvSpPr/>
          <p:nvPr/>
        </p:nvSpPr>
        <p:spPr>
          <a:xfrm>
            <a:off x="640080" y="5344668"/>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9" name="Text 17"/>
          <p:cNvSpPr/>
          <p:nvPr/>
        </p:nvSpPr>
        <p:spPr>
          <a:xfrm>
            <a:off x="1508760" y="5276088"/>
            <a:ext cx="9951415" cy="740664"/>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Hệ sinh thái phong phú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Mã nguồn mở + bản thương mại; driver Java, Python, JavaScript, Go...</a:t>
            </a:r>
            <a:endParaRPr lang="en-US" sz="1600" dirty="0"/>
          </a:p>
        </p:txBody>
      </p:sp>
      <p:sp>
        <p:nvSpPr>
          <p:cNvPr id="20" name="Text 18"/>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1" name="Text 19"/>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CÔNG CỤ</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Bắt đầu với Neo4j</a:t>
            </a:r>
            <a:endParaRPr lang="en-US" sz="3200" dirty="0"/>
          </a:p>
        </p:txBody>
      </p:sp>
      <p:sp>
        <p:nvSpPr>
          <p:cNvPr id="5" name="Shape 3"/>
          <p:cNvSpPr/>
          <p:nvPr/>
        </p:nvSpPr>
        <p:spPr>
          <a:xfrm>
            <a:off x="640080"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6" name="Shape 4"/>
          <p:cNvSpPr/>
          <p:nvPr/>
        </p:nvSpPr>
        <p:spPr>
          <a:xfrm>
            <a:off x="859536" y="2075688"/>
            <a:ext cx="457200" cy="457200"/>
          </a:xfrm>
          <a:prstGeom prst="ellipse">
            <a:avLst/>
          </a:prstGeom>
          <a:solidFill>
            <a:srgbClr val="2E6DB4"/>
          </a:solidFill>
          <a:ln/>
        </p:spPr>
      </p:sp>
      <p:sp>
        <p:nvSpPr>
          <p:cNvPr id="7" name="Text 5"/>
          <p:cNvSpPr/>
          <p:nvPr/>
        </p:nvSpPr>
        <p:spPr>
          <a:xfrm>
            <a:off x="859536"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8" name="Text 6"/>
          <p:cNvSpPr/>
          <p:nvPr/>
        </p:nvSpPr>
        <p:spPr>
          <a:xfrm>
            <a:off x="859536"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Neo4j Desktop</a:t>
            </a:r>
            <a:endParaRPr lang="en-US" sz="1550" dirty="0"/>
          </a:p>
        </p:txBody>
      </p:sp>
      <p:sp>
        <p:nvSpPr>
          <p:cNvPr id="9" name="Text 7"/>
          <p:cNvSpPr/>
          <p:nvPr/>
        </p:nvSpPr>
        <p:spPr>
          <a:xfrm>
            <a:off x="859536"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Cài đặt trên máy cá nhân để phát triển và học tập.</a:t>
            </a:r>
            <a:endParaRPr lang="en-US" sz="1250" dirty="0"/>
          </a:p>
        </p:txBody>
      </p:sp>
      <p:sp>
        <p:nvSpPr>
          <p:cNvPr id="10" name="Shape 8"/>
          <p:cNvSpPr/>
          <p:nvPr/>
        </p:nvSpPr>
        <p:spPr>
          <a:xfrm>
            <a:off x="6233008"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1" name="Shape 9"/>
          <p:cNvSpPr/>
          <p:nvPr/>
        </p:nvSpPr>
        <p:spPr>
          <a:xfrm>
            <a:off x="6452464" y="2075688"/>
            <a:ext cx="457200" cy="457200"/>
          </a:xfrm>
          <a:prstGeom prst="ellipse">
            <a:avLst/>
          </a:prstGeom>
          <a:solidFill>
            <a:srgbClr val="17958A"/>
          </a:solidFill>
          <a:ln/>
        </p:spPr>
      </p:sp>
      <p:sp>
        <p:nvSpPr>
          <p:cNvPr id="12" name="Text 10"/>
          <p:cNvSpPr/>
          <p:nvPr/>
        </p:nvSpPr>
        <p:spPr>
          <a:xfrm>
            <a:off x="6452464"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3" name="Text 11"/>
          <p:cNvSpPr/>
          <p:nvPr/>
        </p:nvSpPr>
        <p:spPr>
          <a:xfrm>
            <a:off x="6452464"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Neo4j Aura</a:t>
            </a:r>
            <a:endParaRPr lang="en-US" sz="1550" dirty="0"/>
          </a:p>
        </p:txBody>
      </p:sp>
      <p:sp>
        <p:nvSpPr>
          <p:cNvPr id="14" name="Text 12"/>
          <p:cNvSpPr/>
          <p:nvPr/>
        </p:nvSpPr>
        <p:spPr>
          <a:xfrm>
            <a:off x="6452464"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Dịch vụ đám mây được quản lý, có gói AuraDB Free miễn phí.</a:t>
            </a:r>
            <a:endParaRPr lang="en-US" sz="1250" dirty="0"/>
          </a:p>
        </p:txBody>
      </p:sp>
      <p:sp>
        <p:nvSpPr>
          <p:cNvPr id="15" name="Shape 13"/>
          <p:cNvSpPr/>
          <p:nvPr/>
        </p:nvSpPr>
        <p:spPr>
          <a:xfrm>
            <a:off x="640080"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6" name="Shape 14"/>
          <p:cNvSpPr/>
          <p:nvPr/>
        </p:nvSpPr>
        <p:spPr>
          <a:xfrm>
            <a:off x="859536" y="4018788"/>
            <a:ext cx="457200" cy="457200"/>
          </a:xfrm>
          <a:prstGeom prst="ellipse">
            <a:avLst/>
          </a:prstGeom>
          <a:solidFill>
            <a:srgbClr val="2E6DB4"/>
          </a:solidFill>
          <a:ln/>
        </p:spPr>
      </p:sp>
      <p:sp>
        <p:nvSpPr>
          <p:cNvPr id="17" name="Text 15"/>
          <p:cNvSpPr/>
          <p:nvPr/>
        </p:nvSpPr>
        <p:spPr>
          <a:xfrm>
            <a:off x="859536"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8" name="Text 16"/>
          <p:cNvSpPr/>
          <p:nvPr/>
        </p:nvSpPr>
        <p:spPr>
          <a:xfrm>
            <a:off x="859536"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Neo4j Browser</a:t>
            </a:r>
            <a:endParaRPr lang="en-US" sz="1550" dirty="0"/>
          </a:p>
        </p:txBody>
      </p:sp>
      <p:sp>
        <p:nvSpPr>
          <p:cNvPr id="19" name="Text 17"/>
          <p:cNvSpPr/>
          <p:nvPr/>
        </p:nvSpPr>
        <p:spPr>
          <a:xfrm>
            <a:off x="859536"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Giao diện web chạy Cypher và xem kết quả đồ thị trực quan.</a:t>
            </a:r>
            <a:endParaRPr lang="en-US" sz="1250" dirty="0"/>
          </a:p>
        </p:txBody>
      </p:sp>
      <p:sp>
        <p:nvSpPr>
          <p:cNvPr id="20" name="Shape 18"/>
          <p:cNvSpPr/>
          <p:nvPr/>
        </p:nvSpPr>
        <p:spPr>
          <a:xfrm>
            <a:off x="6233008"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1" name="Shape 19"/>
          <p:cNvSpPr/>
          <p:nvPr/>
        </p:nvSpPr>
        <p:spPr>
          <a:xfrm>
            <a:off x="6452464" y="4018788"/>
            <a:ext cx="457200" cy="457200"/>
          </a:xfrm>
          <a:prstGeom prst="ellipse">
            <a:avLst/>
          </a:prstGeom>
          <a:solidFill>
            <a:srgbClr val="17958A"/>
          </a:solidFill>
          <a:ln/>
        </p:spPr>
      </p:sp>
      <p:sp>
        <p:nvSpPr>
          <p:cNvPr id="22" name="Text 20"/>
          <p:cNvSpPr/>
          <p:nvPr/>
        </p:nvSpPr>
        <p:spPr>
          <a:xfrm>
            <a:off x="6452464"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23" name="Text 21"/>
          <p:cNvSpPr/>
          <p:nvPr/>
        </p:nvSpPr>
        <p:spPr>
          <a:xfrm>
            <a:off x="6452464"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Neo4j Sandbox</a:t>
            </a:r>
            <a:endParaRPr lang="en-US" sz="1550" dirty="0"/>
          </a:p>
        </p:txBody>
      </p:sp>
      <p:sp>
        <p:nvSpPr>
          <p:cNvPr id="24" name="Text 22"/>
          <p:cNvSpPr/>
          <p:nvPr/>
        </p:nvSpPr>
        <p:spPr>
          <a:xfrm>
            <a:off x="6452464"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Thử trực tuyến miễn phí, có sẵn nhiều bộ dữ liệu mẫu.</a:t>
            </a:r>
            <a:endParaRPr lang="en-US" sz="1250" dirty="0"/>
          </a:p>
        </p:txBody>
      </p:sp>
      <p:sp>
        <p:nvSpPr>
          <p:cNvPr id="25" name="Text 2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6" name="Text 2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CYPHER</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Cypher là gì?</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56657E"/>
                </a:solidFill>
                <a:latin typeface="Calibri" pitchFamily="34" charset="0"/>
                <a:ea typeface="Calibri" pitchFamily="34" charset="-122"/>
                <a:cs typeface="Calibri" pitchFamily="34" charset="-120"/>
              </a:rPr>
              <a:t>Ngôn ngữ truy vấn được thiết kế riêng cho dữ liệu đồ thị.</a:t>
            </a:r>
            <a:endParaRPr lang="en-US" sz="1500" dirty="0"/>
          </a:p>
        </p:txBody>
      </p:sp>
      <p:sp>
        <p:nvSpPr>
          <p:cNvPr id="6" name="Text 4"/>
          <p:cNvSpPr/>
          <p:nvPr/>
        </p:nvSpPr>
        <p:spPr>
          <a:xfrm>
            <a:off x="640080" y="233172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Ngôn ngữ khai báo</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Mô tả "cần tìm gì" thay vì "tìm như thế nào", tương tự tinh thần của SQL.</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Triết lý ASCII-art</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Vẽ mẫu (pattern) cần tìm ngay trong câu truy vấn bằng các ký tự.</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 là node, --&gt; là quan hệ</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Dấu ngoặc mô tả nút, mũi tên mô tả quan hệ có hướng giữa các nút.</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Dễ đọc, trực quan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Câu truy vấn nhìn gần giống hình vẽ sơ đồ đồ thị trên giấy.</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Nền tảng của chuẩn GQL</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Cypher/openCypher là cơ sở cho chuẩn quốc tế ISO/IEC 39075 (GQL).</a:t>
            </a:r>
            <a:endParaRPr lang="en-US" sz="1550" dirty="0"/>
          </a:p>
        </p:txBody>
      </p:sp>
      <p:sp>
        <p:nvSpPr>
          <p:cNvPr id="7" name="Shape 5"/>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8" name="Shape 6"/>
          <p:cNvSpPr/>
          <p:nvPr/>
        </p:nvSpPr>
        <p:spPr>
          <a:xfrm>
            <a:off x="822960" y="5943600"/>
            <a:ext cx="292608" cy="292608"/>
          </a:xfrm>
          <a:prstGeom prst="ellipse">
            <a:avLst/>
          </a:prstGeom>
          <a:solidFill>
            <a:srgbClr val="C88A1E"/>
          </a:solidFill>
          <a:ln/>
        </p:spPr>
      </p:sp>
      <p:sp>
        <p:nvSpPr>
          <p:cNvPr id="9" name="Text 7"/>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Cypher giúp diễn đạt mối quan hệ một cách trực quan và ngắn gọn.</a:t>
            </a:r>
            <a:endParaRPr lang="en-US" sz="1300" dirty="0"/>
          </a:p>
        </p:txBody>
      </p:sp>
      <p:sp>
        <p:nvSpPr>
          <p:cNvPr id="11" name="Text 9"/>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2" name="Text 10"/>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CÚ PHÁP</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Cú pháp mẫu (pattern)</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Cypher mô tả dữ liệu bằng các mẫu node và quan hệ.</a:t>
            </a:r>
            <a:endParaRPr lang="en-US" sz="1450" dirty="0"/>
          </a:p>
        </p:txBody>
      </p:sp>
      <p:sp>
        <p:nvSpPr>
          <p:cNvPr id="6" name="Shape 4"/>
          <p:cNvSpPr/>
          <p:nvPr/>
        </p:nvSpPr>
        <p:spPr>
          <a:xfrm>
            <a:off x="640080" y="2331720"/>
            <a:ext cx="10911535" cy="3931920"/>
          </a:xfrm>
          <a:prstGeom prst="roundRect">
            <a:avLst>
              <a:gd name="adj" fmla="val 1628"/>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10545775"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Cypher</a:t>
            </a:r>
            <a:endParaRPr lang="en-US" sz="1200" dirty="0"/>
          </a:p>
        </p:txBody>
      </p:sp>
      <p:sp>
        <p:nvSpPr>
          <p:cNvPr id="8" name="Shape 6"/>
          <p:cNvSpPr/>
          <p:nvPr/>
        </p:nvSpPr>
        <p:spPr>
          <a:xfrm>
            <a:off x="841248" y="2770632"/>
            <a:ext cx="10509199" cy="0"/>
          </a:xfrm>
          <a:prstGeom prst="line">
            <a:avLst/>
          </a:prstGeom>
          <a:noFill/>
          <a:ln w="12700">
            <a:solidFill>
              <a:srgbClr val="26507F"/>
            </a:solidFill>
            <a:prstDash val="solid"/>
          </a:ln>
        </p:spPr>
      </p:sp>
      <p:sp>
        <p:nvSpPr>
          <p:cNvPr id="9" name="Text 7"/>
          <p:cNvSpPr/>
          <p:nvPr/>
        </p:nvSpPr>
        <p:spPr>
          <a:xfrm>
            <a:off x="841248" y="2880360"/>
            <a:ext cx="10545775" cy="325526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Node pattern</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any node</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bind variable n</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has a label</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age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20</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add a property</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Relationship</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--&gt;                   // directed</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typed</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r</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bind variable r</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Path pattern</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0" name="Text 8"/>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1" name="Text 9"/>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CREATE</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Tạo dữ liệu — CREATE</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Dùng CREATE để tạo node và quan hệ mới.</a:t>
            </a:r>
            <a:endParaRPr lang="en-US" sz="1450" dirty="0"/>
          </a:p>
        </p:txBody>
      </p:sp>
      <p:sp>
        <p:nvSpPr>
          <p:cNvPr id="6" name="Shape 4"/>
          <p:cNvSpPr/>
          <p:nvPr/>
        </p:nvSpPr>
        <p:spPr>
          <a:xfrm>
            <a:off x="640080" y="2331720"/>
            <a:ext cx="10911535"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10545775"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Cypher</a:t>
            </a:r>
            <a:endParaRPr lang="en-US" sz="1200" dirty="0"/>
          </a:p>
        </p:txBody>
      </p:sp>
      <p:sp>
        <p:nvSpPr>
          <p:cNvPr id="8" name="Shape 6"/>
          <p:cNvSpPr/>
          <p:nvPr/>
        </p:nvSpPr>
        <p:spPr>
          <a:xfrm>
            <a:off x="841248" y="2770632"/>
            <a:ext cx="10509199" cy="0"/>
          </a:xfrm>
          <a:prstGeom prst="line">
            <a:avLst/>
          </a:prstGeom>
          <a:noFill/>
          <a:ln w="12700">
            <a:solidFill>
              <a:srgbClr val="26507F"/>
            </a:solidFill>
            <a:prstDash val="solid"/>
          </a:ln>
        </p:spPr>
      </p:sp>
      <p:sp>
        <p:nvSpPr>
          <p:cNvPr id="9" name="Text 7"/>
          <p:cNvSpPr/>
          <p:nvPr/>
        </p:nvSpPr>
        <p:spPr>
          <a:xfrm>
            <a:off x="841248" y="2880360"/>
            <a:ext cx="10545775"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Tao 2 nguoi va quan he FRIEND</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CREATE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'Alice'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age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20</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CREATE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'Bob'</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age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22</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CREATE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since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2021</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0" name="Shape 8"/>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11" name="Shape 9"/>
          <p:cNvSpPr/>
          <p:nvPr/>
        </p:nvSpPr>
        <p:spPr>
          <a:xfrm>
            <a:off x="822960" y="5943600"/>
            <a:ext cx="292608" cy="292608"/>
          </a:xfrm>
          <a:prstGeom prst="ellipse">
            <a:avLst/>
          </a:prstGeom>
          <a:solidFill>
            <a:srgbClr val="C88A1E"/>
          </a:solidFill>
          <a:ln/>
        </p:spPr>
      </p:sp>
      <p:sp>
        <p:nvSpPr>
          <p:cNvPr id="12" name="Text 10"/>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Chỉ vài dòng đã tạo được hai node và một quan hệ giữa chúng.</a:t>
            </a:r>
            <a:endParaRPr lang="en-US" sz="1300" dirty="0"/>
          </a:p>
        </p:txBody>
      </p:sp>
      <p:sp>
        <p:nvSpPr>
          <p:cNvPr id="14" name="Text 12"/>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5" name="Text 13"/>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MATCH</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Truy vấn — MATCH ... RETURN</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MATCH tìm mẫu trong đồ thị, RETURN chọn dữ liệu trả về.</a:t>
            </a:r>
            <a:endParaRPr lang="en-US" sz="1450" dirty="0"/>
          </a:p>
        </p:txBody>
      </p:sp>
      <p:sp>
        <p:nvSpPr>
          <p:cNvPr id="6" name="Shape 4"/>
          <p:cNvSpPr/>
          <p:nvPr/>
        </p:nvSpPr>
        <p:spPr>
          <a:xfrm>
            <a:off x="640080" y="2331720"/>
            <a:ext cx="5295748" cy="3931920"/>
          </a:xfrm>
          <a:prstGeom prst="roundRect">
            <a:avLst>
              <a:gd name="adj" fmla="val 1628"/>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4929988"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Truy vấn</a:t>
            </a:r>
            <a:endParaRPr lang="en-US" sz="1200" dirty="0"/>
          </a:p>
        </p:txBody>
      </p:sp>
      <p:sp>
        <p:nvSpPr>
          <p:cNvPr id="8" name="Shape 6"/>
          <p:cNvSpPr/>
          <p:nvPr/>
        </p:nvSpPr>
        <p:spPr>
          <a:xfrm>
            <a:off x="841248" y="2770632"/>
            <a:ext cx="4893412" cy="0"/>
          </a:xfrm>
          <a:prstGeom prst="line">
            <a:avLst/>
          </a:prstGeom>
          <a:noFill/>
          <a:ln w="12700">
            <a:solidFill>
              <a:srgbClr val="26507F"/>
            </a:solidFill>
            <a:prstDash val="solid"/>
          </a:ln>
        </p:spPr>
      </p:sp>
      <p:sp>
        <p:nvSpPr>
          <p:cNvPr id="9" name="Text 7"/>
          <p:cNvSpPr/>
          <p:nvPr/>
        </p:nvSpPr>
        <p:spPr>
          <a:xfrm>
            <a:off x="841248" y="2880360"/>
            <a:ext cx="4929988" cy="3255264"/>
          </a:xfrm>
          <a:prstGeom prst="rect">
            <a:avLst/>
          </a:prstGeom>
          <a:noFill/>
          <a:ln/>
        </p:spPr>
        <p:txBody>
          <a:bodyPr wrap="square" lIns="0" tIns="0" rIns="0" bIns="0" rtlCol="0" anchor="t"/>
          <a:lstStyle/>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age</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ORDER</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BY</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age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DESC</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LIMIT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3</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0" name="Shape 8"/>
          <p:cNvSpPr/>
          <p:nvPr/>
        </p:nvSpPr>
        <p:spPr>
          <a:xfrm>
            <a:off x="6255868" y="2331720"/>
            <a:ext cx="5295748" cy="3931920"/>
          </a:xfrm>
          <a:prstGeom prst="roundRect">
            <a:avLst>
              <a:gd name="adj" fmla="val 1628"/>
            </a:avLst>
          </a:prstGeom>
          <a:solidFill>
            <a:srgbClr val="0E1E33"/>
          </a:solidFill>
          <a:ln/>
          <a:effectLst>
            <a:outerShdw sx="100000" sy="100000" kx="0" ky="0" algn="bl" rotWithShape="0" blurRad="76200" dist="25400" dir="5400000">
              <a:srgbClr val="9FB2CC">
                <a:alpha val="28000"/>
              </a:srgbClr>
            </a:outerShdw>
          </a:effectLst>
        </p:spPr>
      </p:sp>
      <p:sp>
        <p:nvSpPr>
          <p:cNvPr id="11" name="Text 9"/>
          <p:cNvSpPr/>
          <p:nvPr/>
        </p:nvSpPr>
        <p:spPr>
          <a:xfrm>
            <a:off x="6457036" y="2459736"/>
            <a:ext cx="4929988"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Kết quả</a:t>
            </a:r>
            <a:endParaRPr lang="en-US" sz="1200" dirty="0"/>
          </a:p>
        </p:txBody>
      </p:sp>
      <p:sp>
        <p:nvSpPr>
          <p:cNvPr id="12" name="Shape 10"/>
          <p:cNvSpPr/>
          <p:nvPr/>
        </p:nvSpPr>
        <p:spPr>
          <a:xfrm>
            <a:off x="6457036" y="2770632"/>
            <a:ext cx="4893412" cy="0"/>
          </a:xfrm>
          <a:prstGeom prst="line">
            <a:avLst/>
          </a:prstGeom>
          <a:noFill/>
          <a:ln w="12700">
            <a:solidFill>
              <a:srgbClr val="26507F"/>
            </a:solidFill>
            <a:prstDash val="solid"/>
          </a:ln>
        </p:spPr>
      </p:sp>
      <p:sp>
        <p:nvSpPr>
          <p:cNvPr id="13" name="Text 11"/>
          <p:cNvSpPr/>
          <p:nvPr/>
        </p:nvSpPr>
        <p:spPr>
          <a:xfrm>
            <a:off x="6457036" y="2880360"/>
            <a:ext cx="4929988" cy="325526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p.name | p.age</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Bob    | 22</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Alice  | 20</a:t>
            </a:r>
            <a:endParaRPr lang="en-US" sz="1250" dirty="0"/>
          </a:p>
        </p:txBody>
      </p:sp>
      <p:sp>
        <p:nvSpPr>
          <p:cNvPr id="14" name="Text 12"/>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5" name="Text 13"/>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WHERE</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Lọc dữ liệu — WHERE</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Mệnh đề WHERE thêm điều kiện lọc cho mẫu đã khớp.</a:t>
            </a:r>
            <a:endParaRPr lang="en-US" sz="1450" dirty="0"/>
          </a:p>
        </p:txBody>
      </p:sp>
      <p:sp>
        <p:nvSpPr>
          <p:cNvPr id="6" name="Shape 4"/>
          <p:cNvSpPr/>
          <p:nvPr/>
        </p:nvSpPr>
        <p:spPr>
          <a:xfrm>
            <a:off x="640080" y="2331720"/>
            <a:ext cx="10911535"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10545775"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Cypher</a:t>
            </a:r>
            <a:endParaRPr lang="en-US" sz="1200" dirty="0"/>
          </a:p>
        </p:txBody>
      </p:sp>
      <p:sp>
        <p:nvSpPr>
          <p:cNvPr id="8" name="Shape 6"/>
          <p:cNvSpPr/>
          <p:nvPr/>
        </p:nvSpPr>
        <p:spPr>
          <a:xfrm>
            <a:off x="841248" y="2770632"/>
            <a:ext cx="10509199" cy="0"/>
          </a:xfrm>
          <a:prstGeom prst="line">
            <a:avLst/>
          </a:prstGeom>
          <a:noFill/>
          <a:ln w="12700">
            <a:solidFill>
              <a:srgbClr val="26507F"/>
            </a:solidFill>
            <a:prstDash val="solid"/>
          </a:ln>
        </p:spPr>
      </p:sp>
      <p:sp>
        <p:nvSpPr>
          <p:cNvPr id="9" name="Text 7"/>
          <p:cNvSpPr/>
          <p:nvPr/>
        </p:nvSpPr>
        <p:spPr>
          <a:xfrm>
            <a:off x="841248" y="2880360"/>
            <a:ext cx="10545775"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Ban cua Alice va tren 21 tuoi</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WHERE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'Alice'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AND</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age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21</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AS</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0" name="Shape 8"/>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11" name="Shape 9"/>
          <p:cNvSpPr/>
          <p:nvPr/>
        </p:nvSpPr>
        <p:spPr>
          <a:xfrm>
            <a:off x="822960" y="5943600"/>
            <a:ext cx="292608" cy="292608"/>
          </a:xfrm>
          <a:prstGeom prst="ellipse">
            <a:avLst/>
          </a:prstGeom>
          <a:solidFill>
            <a:srgbClr val="C88A1E"/>
          </a:solidFill>
          <a:ln/>
        </p:spPr>
      </p:sp>
      <p:sp>
        <p:nvSpPr>
          <p:cNvPr id="12" name="Text 10"/>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Kết hợp mẫu quan hệ với điều kiện thuộc tính để lọc chính xác.</a:t>
            </a:r>
            <a:endParaRPr lang="en-US" sz="1300" dirty="0"/>
          </a:p>
        </p:txBody>
      </p:sp>
      <p:sp>
        <p:nvSpPr>
          <p:cNvPr id="14" name="Text 12"/>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5" name="Text 13"/>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CẬP NHẬT</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Cập nhật — MERGE, SET, DELETE</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Cập nhật dữ liệu với MERGE, SET và xóa với DELETE.</a:t>
            </a:r>
            <a:endParaRPr lang="en-US" sz="1450" dirty="0"/>
          </a:p>
        </p:txBody>
      </p:sp>
      <p:sp>
        <p:nvSpPr>
          <p:cNvPr id="6" name="Shape 4"/>
          <p:cNvSpPr/>
          <p:nvPr/>
        </p:nvSpPr>
        <p:spPr>
          <a:xfrm>
            <a:off x="640080" y="2331720"/>
            <a:ext cx="10911535"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10545775"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Cypher</a:t>
            </a:r>
            <a:endParaRPr lang="en-US" sz="1200" dirty="0"/>
          </a:p>
        </p:txBody>
      </p:sp>
      <p:sp>
        <p:nvSpPr>
          <p:cNvPr id="8" name="Shape 6"/>
          <p:cNvSpPr/>
          <p:nvPr/>
        </p:nvSpPr>
        <p:spPr>
          <a:xfrm>
            <a:off x="841248" y="2770632"/>
            <a:ext cx="10509199" cy="0"/>
          </a:xfrm>
          <a:prstGeom prst="line">
            <a:avLst/>
          </a:prstGeom>
          <a:noFill/>
          <a:ln w="12700">
            <a:solidFill>
              <a:srgbClr val="26507F"/>
            </a:solidFill>
            <a:prstDash val="solid"/>
          </a:ln>
        </p:spPr>
      </p:sp>
      <p:sp>
        <p:nvSpPr>
          <p:cNvPr id="9" name="Text 7"/>
          <p:cNvSpPr/>
          <p:nvPr/>
        </p:nvSpPr>
        <p:spPr>
          <a:xfrm>
            <a:off x="841248" y="2880360"/>
            <a:ext cx="10545775"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MERGE: co thi lay, chua co thi tao</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MERGE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c</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:City</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'Hanoi'</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SET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c</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country</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'Vietnam'</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WITH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c</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'Bob'</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DETACH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DELETE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xoa ca quan he</a:t>
            </a:r>
            <a:endParaRPr lang="en-US" sz="1250" dirty="0"/>
          </a:p>
        </p:txBody>
      </p:sp>
      <p:sp>
        <p:nvSpPr>
          <p:cNvPr id="10" name="Shape 8"/>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11" name="Shape 9"/>
          <p:cNvSpPr/>
          <p:nvPr/>
        </p:nvSpPr>
        <p:spPr>
          <a:xfrm>
            <a:off x="822960" y="5943600"/>
            <a:ext cx="292608" cy="292608"/>
          </a:xfrm>
          <a:prstGeom prst="ellipse">
            <a:avLst/>
          </a:prstGeom>
          <a:solidFill>
            <a:srgbClr val="C88A1E"/>
          </a:solidFill>
          <a:ln/>
        </p:spPr>
      </p:sp>
      <p:sp>
        <p:nvSpPr>
          <p:cNvPr id="12" name="Text 10"/>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MERGE tránh tạo trùng; DETACH DELETE gỡ cả node lẫn quan hệ.</a:t>
            </a:r>
            <a:endParaRPr lang="en-US" sz="1300" dirty="0"/>
          </a:p>
        </p:txBody>
      </p:sp>
      <p:sp>
        <p:nvSpPr>
          <p:cNvPr id="14" name="Text 12"/>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5" name="Text 13"/>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NÂNG CAO</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Đường đi &amp; tổng hợp</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Thế mạnh đồ thị: đường đi nhiều bước và hàm tổng hợp.</a:t>
            </a:r>
            <a:endParaRPr lang="en-US" sz="1450" dirty="0"/>
          </a:p>
        </p:txBody>
      </p:sp>
      <p:sp>
        <p:nvSpPr>
          <p:cNvPr id="6" name="Shape 4"/>
          <p:cNvSpPr/>
          <p:nvPr/>
        </p:nvSpPr>
        <p:spPr>
          <a:xfrm>
            <a:off x="640080" y="2331720"/>
            <a:ext cx="10911535"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10545775"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Cypher</a:t>
            </a:r>
            <a:endParaRPr lang="en-US" sz="1200" dirty="0"/>
          </a:p>
        </p:txBody>
      </p:sp>
      <p:sp>
        <p:nvSpPr>
          <p:cNvPr id="8" name="Shape 6"/>
          <p:cNvSpPr/>
          <p:nvPr/>
        </p:nvSpPr>
        <p:spPr>
          <a:xfrm>
            <a:off x="841248" y="2770632"/>
            <a:ext cx="10509199" cy="0"/>
          </a:xfrm>
          <a:prstGeom prst="line">
            <a:avLst/>
          </a:prstGeom>
          <a:noFill/>
          <a:ln w="12700">
            <a:solidFill>
              <a:srgbClr val="26507F"/>
            </a:solidFill>
            <a:prstDash val="solid"/>
          </a:ln>
        </p:spPr>
      </p:sp>
      <p:sp>
        <p:nvSpPr>
          <p:cNvPr id="9" name="Text 7"/>
          <p:cNvSpPr/>
          <p:nvPr/>
        </p:nvSpPr>
        <p:spPr>
          <a:xfrm>
            <a:off x="841248" y="2880360"/>
            <a:ext cx="10545775"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ban cua ban (2 buoc)</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me</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'Alice'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E39A6E"/>
                </a:solidFill>
                <a:latin typeface="Consolas" pitchFamily="34" charset="0"/>
                <a:ea typeface="Consolas" pitchFamily="34" charset="-122"/>
                <a:cs typeface="Consolas" pitchFamily="34" charset="-120"/>
              </a:rPr>
              <a:t>2</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fof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DISTINCT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fof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dem so ban moi nguoi</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count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AS</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so_ban</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ORDER</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BY</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so_ban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DESC</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p:txBody>
      </p:sp>
      <p:sp>
        <p:nvSpPr>
          <p:cNvPr id="10" name="Shape 8"/>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11" name="Shape 9"/>
          <p:cNvSpPr/>
          <p:nvPr/>
        </p:nvSpPr>
        <p:spPr>
          <a:xfrm>
            <a:off x="822960" y="5943600"/>
            <a:ext cx="292608" cy="292608"/>
          </a:xfrm>
          <a:prstGeom prst="ellipse">
            <a:avLst/>
          </a:prstGeom>
          <a:solidFill>
            <a:srgbClr val="C88A1E"/>
          </a:solidFill>
          <a:ln/>
        </p:spPr>
      </p:sp>
      <p:sp>
        <p:nvSpPr>
          <p:cNvPr id="12" name="Text 10"/>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Ký hiệu *2..2 duyệt đường đi 2 bước; count() tổng hợp theo node.</a:t>
            </a:r>
            <a:endParaRPr lang="en-US" sz="1300" dirty="0"/>
          </a:p>
        </p:txBody>
      </p:sp>
      <p:sp>
        <p:nvSpPr>
          <p:cNvPr id="14" name="Text 12"/>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5" name="Text 13"/>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22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242"/>
          </a:solidFill>
          <a:ln/>
        </p:spPr>
      </p:sp>
      <p:sp>
        <p:nvSpPr>
          <p:cNvPr id="3" name="Shape 1"/>
          <p:cNvSpPr/>
          <p:nvPr/>
        </p:nvSpPr>
        <p:spPr>
          <a:xfrm flipV="1">
            <a:off x="8595360" y="3108960"/>
            <a:ext cx="946404" cy="368046"/>
          </a:xfrm>
          <a:prstGeom prst="line">
            <a:avLst/>
          </a:prstGeom>
          <a:noFill/>
          <a:ln w="15875">
            <a:solidFill>
              <a:srgbClr val="35557E"/>
            </a:solidFill>
            <a:prstDash val="solid"/>
          </a:ln>
        </p:spPr>
      </p:sp>
      <p:sp>
        <p:nvSpPr>
          <p:cNvPr id="4" name="Shape 2"/>
          <p:cNvSpPr/>
          <p:nvPr/>
        </p:nvSpPr>
        <p:spPr>
          <a:xfrm>
            <a:off x="9541764" y="3108960"/>
            <a:ext cx="841248" cy="578358"/>
          </a:xfrm>
          <a:prstGeom prst="line">
            <a:avLst/>
          </a:prstGeom>
          <a:noFill/>
          <a:ln w="15875">
            <a:solidFill>
              <a:srgbClr val="35557E"/>
            </a:solidFill>
            <a:prstDash val="solid"/>
          </a:ln>
        </p:spPr>
      </p:sp>
      <p:sp>
        <p:nvSpPr>
          <p:cNvPr id="5" name="Shape 3"/>
          <p:cNvSpPr/>
          <p:nvPr/>
        </p:nvSpPr>
        <p:spPr>
          <a:xfrm flipH="1">
            <a:off x="9752076" y="3687318"/>
            <a:ext cx="630936" cy="736092"/>
          </a:xfrm>
          <a:prstGeom prst="line">
            <a:avLst/>
          </a:prstGeom>
          <a:noFill/>
          <a:ln w="15875">
            <a:solidFill>
              <a:srgbClr val="35557E"/>
            </a:solidFill>
            <a:prstDash val="solid"/>
          </a:ln>
        </p:spPr>
      </p:sp>
      <p:sp>
        <p:nvSpPr>
          <p:cNvPr id="6" name="Shape 4"/>
          <p:cNvSpPr/>
          <p:nvPr/>
        </p:nvSpPr>
        <p:spPr>
          <a:xfrm flipH="1" flipV="1">
            <a:off x="8805672" y="4318254"/>
            <a:ext cx="946404" cy="105156"/>
          </a:xfrm>
          <a:prstGeom prst="line">
            <a:avLst/>
          </a:prstGeom>
          <a:noFill/>
          <a:ln w="15875">
            <a:solidFill>
              <a:srgbClr val="35557E"/>
            </a:solidFill>
            <a:prstDash val="solid"/>
          </a:ln>
        </p:spPr>
      </p:sp>
      <p:sp>
        <p:nvSpPr>
          <p:cNvPr id="7" name="Shape 5"/>
          <p:cNvSpPr/>
          <p:nvPr/>
        </p:nvSpPr>
        <p:spPr>
          <a:xfrm flipH="1" flipV="1">
            <a:off x="8595360" y="3477006"/>
            <a:ext cx="210312" cy="841248"/>
          </a:xfrm>
          <a:prstGeom prst="line">
            <a:avLst/>
          </a:prstGeom>
          <a:noFill/>
          <a:ln w="15875">
            <a:solidFill>
              <a:srgbClr val="35557E"/>
            </a:solidFill>
            <a:prstDash val="solid"/>
          </a:ln>
        </p:spPr>
      </p:sp>
      <p:sp>
        <p:nvSpPr>
          <p:cNvPr id="8" name="Shape 6"/>
          <p:cNvSpPr/>
          <p:nvPr/>
        </p:nvSpPr>
        <p:spPr>
          <a:xfrm>
            <a:off x="10383012" y="3687318"/>
            <a:ext cx="841248" cy="473202"/>
          </a:xfrm>
          <a:prstGeom prst="line">
            <a:avLst/>
          </a:prstGeom>
          <a:noFill/>
          <a:ln w="15875">
            <a:solidFill>
              <a:srgbClr val="35557E"/>
            </a:solidFill>
            <a:prstDash val="solid"/>
          </a:ln>
        </p:spPr>
      </p:sp>
      <p:sp>
        <p:nvSpPr>
          <p:cNvPr id="9" name="Shape 7"/>
          <p:cNvSpPr/>
          <p:nvPr/>
        </p:nvSpPr>
        <p:spPr>
          <a:xfrm flipH="1" flipV="1">
            <a:off x="10803636" y="3266694"/>
            <a:ext cx="420624" cy="893826"/>
          </a:xfrm>
          <a:prstGeom prst="line">
            <a:avLst/>
          </a:prstGeom>
          <a:noFill/>
          <a:ln w="15875">
            <a:solidFill>
              <a:srgbClr val="35557E"/>
            </a:solidFill>
            <a:prstDash val="solid"/>
          </a:ln>
        </p:spPr>
      </p:sp>
      <p:sp>
        <p:nvSpPr>
          <p:cNvPr id="10" name="Shape 8"/>
          <p:cNvSpPr/>
          <p:nvPr/>
        </p:nvSpPr>
        <p:spPr>
          <a:xfrm flipH="1" flipV="1">
            <a:off x="9541764" y="3108960"/>
            <a:ext cx="1261872" cy="157734"/>
          </a:xfrm>
          <a:prstGeom prst="line">
            <a:avLst/>
          </a:prstGeom>
          <a:noFill/>
          <a:ln w="15875">
            <a:solidFill>
              <a:srgbClr val="35557E"/>
            </a:solidFill>
            <a:prstDash val="solid"/>
          </a:ln>
        </p:spPr>
      </p:sp>
      <p:sp>
        <p:nvSpPr>
          <p:cNvPr id="11" name="Shape 9"/>
          <p:cNvSpPr/>
          <p:nvPr/>
        </p:nvSpPr>
        <p:spPr>
          <a:xfrm flipV="1">
            <a:off x="9752076" y="4160520"/>
            <a:ext cx="1472184" cy="262890"/>
          </a:xfrm>
          <a:prstGeom prst="line">
            <a:avLst/>
          </a:prstGeom>
          <a:noFill/>
          <a:ln w="15875">
            <a:solidFill>
              <a:srgbClr val="35557E"/>
            </a:solidFill>
            <a:prstDash val="solid"/>
          </a:ln>
        </p:spPr>
      </p:sp>
      <p:sp>
        <p:nvSpPr>
          <p:cNvPr id="12" name="Shape 10"/>
          <p:cNvSpPr/>
          <p:nvPr/>
        </p:nvSpPr>
        <p:spPr>
          <a:xfrm>
            <a:off x="8458657" y="3340303"/>
            <a:ext cx="273406" cy="273406"/>
          </a:xfrm>
          <a:prstGeom prst="ellipse">
            <a:avLst/>
          </a:prstGeom>
          <a:solidFill>
            <a:srgbClr val="C88A1E">
              <a:alpha val="75000"/>
            </a:srgbClr>
          </a:solidFill>
          <a:ln w="12700">
            <a:solidFill>
              <a:srgbClr val="FFFFFF">
                <a:alpha val="70000"/>
              </a:srgbClr>
            </a:solidFill>
            <a:prstDash val="solid"/>
          </a:ln>
        </p:spPr>
      </p:sp>
      <p:sp>
        <p:nvSpPr>
          <p:cNvPr id="13" name="Shape 11"/>
          <p:cNvSpPr/>
          <p:nvPr/>
        </p:nvSpPr>
        <p:spPr>
          <a:xfrm>
            <a:off x="9447124" y="3014320"/>
            <a:ext cx="189281" cy="189281"/>
          </a:xfrm>
          <a:prstGeom prst="ellipse">
            <a:avLst/>
          </a:prstGeom>
          <a:solidFill>
            <a:srgbClr val="17958A">
              <a:alpha val="75000"/>
            </a:srgbClr>
          </a:solidFill>
          <a:ln w="12700">
            <a:solidFill>
              <a:srgbClr val="FFFFFF">
                <a:alpha val="70000"/>
              </a:srgbClr>
            </a:solidFill>
            <a:prstDash val="solid"/>
          </a:ln>
        </p:spPr>
      </p:sp>
      <p:sp>
        <p:nvSpPr>
          <p:cNvPr id="14" name="Shape 12"/>
          <p:cNvSpPr/>
          <p:nvPr/>
        </p:nvSpPr>
        <p:spPr>
          <a:xfrm>
            <a:off x="10288372" y="3592678"/>
            <a:ext cx="189281" cy="189281"/>
          </a:xfrm>
          <a:prstGeom prst="ellipse">
            <a:avLst/>
          </a:prstGeom>
          <a:solidFill>
            <a:srgbClr val="C88A1E">
              <a:alpha val="75000"/>
            </a:srgbClr>
          </a:solidFill>
          <a:ln w="12700">
            <a:solidFill>
              <a:srgbClr val="FFFFFF">
                <a:alpha val="70000"/>
              </a:srgbClr>
            </a:solidFill>
            <a:prstDash val="solid"/>
          </a:ln>
        </p:spPr>
      </p:sp>
      <p:sp>
        <p:nvSpPr>
          <p:cNvPr id="15" name="Shape 13"/>
          <p:cNvSpPr/>
          <p:nvPr/>
        </p:nvSpPr>
        <p:spPr>
          <a:xfrm>
            <a:off x="9615373" y="4286707"/>
            <a:ext cx="273406" cy="273406"/>
          </a:xfrm>
          <a:prstGeom prst="ellipse">
            <a:avLst/>
          </a:prstGeom>
          <a:solidFill>
            <a:srgbClr val="17958A">
              <a:alpha val="75000"/>
            </a:srgbClr>
          </a:solidFill>
          <a:ln w="12700">
            <a:solidFill>
              <a:srgbClr val="FFFFFF">
                <a:alpha val="70000"/>
              </a:srgbClr>
            </a:solidFill>
            <a:prstDash val="solid"/>
          </a:ln>
        </p:spPr>
      </p:sp>
      <p:sp>
        <p:nvSpPr>
          <p:cNvPr id="16" name="Shape 14"/>
          <p:cNvSpPr/>
          <p:nvPr/>
        </p:nvSpPr>
        <p:spPr>
          <a:xfrm>
            <a:off x="8711032" y="4223614"/>
            <a:ext cx="189281" cy="189281"/>
          </a:xfrm>
          <a:prstGeom prst="ellipse">
            <a:avLst/>
          </a:prstGeom>
          <a:solidFill>
            <a:srgbClr val="C88A1E">
              <a:alpha val="75000"/>
            </a:srgbClr>
          </a:solidFill>
          <a:ln w="12700">
            <a:solidFill>
              <a:srgbClr val="FFFFFF">
                <a:alpha val="70000"/>
              </a:srgbClr>
            </a:solidFill>
            <a:prstDash val="solid"/>
          </a:ln>
        </p:spPr>
      </p:sp>
      <p:sp>
        <p:nvSpPr>
          <p:cNvPr id="17" name="Shape 15"/>
          <p:cNvSpPr/>
          <p:nvPr/>
        </p:nvSpPr>
        <p:spPr>
          <a:xfrm>
            <a:off x="11129620" y="4065880"/>
            <a:ext cx="189281" cy="189281"/>
          </a:xfrm>
          <a:prstGeom prst="ellipse">
            <a:avLst/>
          </a:prstGeom>
          <a:solidFill>
            <a:srgbClr val="17958A">
              <a:alpha val="75000"/>
            </a:srgbClr>
          </a:solidFill>
          <a:ln w="12700">
            <a:solidFill>
              <a:srgbClr val="FFFFFF">
                <a:alpha val="70000"/>
              </a:srgbClr>
            </a:solidFill>
            <a:prstDash val="solid"/>
          </a:ln>
        </p:spPr>
      </p:sp>
      <p:sp>
        <p:nvSpPr>
          <p:cNvPr id="18" name="Shape 16"/>
          <p:cNvSpPr/>
          <p:nvPr/>
        </p:nvSpPr>
        <p:spPr>
          <a:xfrm>
            <a:off x="10666933" y="3129991"/>
            <a:ext cx="273406" cy="273406"/>
          </a:xfrm>
          <a:prstGeom prst="ellipse">
            <a:avLst/>
          </a:prstGeom>
          <a:solidFill>
            <a:srgbClr val="C88A1E">
              <a:alpha val="75000"/>
            </a:srgbClr>
          </a:solidFill>
          <a:ln w="12700">
            <a:solidFill>
              <a:srgbClr val="FFFFFF">
                <a:alpha val="70000"/>
              </a:srgbClr>
            </a:solidFill>
            <a:prstDash val="solid"/>
          </a:ln>
        </p:spPr>
      </p:sp>
      <p:sp>
        <p:nvSpPr>
          <p:cNvPr id="19" name="Text 17"/>
          <p:cNvSpPr/>
          <p:nvPr/>
        </p:nvSpPr>
        <p:spPr>
          <a:xfrm>
            <a:off x="640080" y="1371600"/>
            <a:ext cx="3657600" cy="2011680"/>
          </a:xfrm>
          <a:prstGeom prst="rect">
            <a:avLst/>
          </a:prstGeom>
          <a:noFill/>
          <a:ln/>
        </p:spPr>
        <p:txBody>
          <a:bodyPr wrap="square" rtlCol="0" anchor="ctr"/>
          <a:lstStyle/>
          <a:p>
            <a:pPr algn="l" indent="0" marL="0">
              <a:buNone/>
            </a:pPr>
            <a:r>
              <a:rPr lang="en-US" sz="13000" b="1" dirty="0">
                <a:solidFill>
                  <a:srgbClr val="27476F"/>
                </a:solidFill>
                <a:latin typeface="Cambria" pitchFamily="34" charset="0"/>
                <a:ea typeface="Cambria" pitchFamily="34" charset="-122"/>
                <a:cs typeface="Cambria" pitchFamily="34" charset="-120"/>
              </a:rPr>
              <a:t>04</a:t>
            </a:r>
            <a:endParaRPr lang="en-US" sz="13000" dirty="0"/>
          </a:p>
        </p:txBody>
      </p:sp>
      <p:sp>
        <p:nvSpPr>
          <p:cNvPr id="20" name="Text 18"/>
          <p:cNvSpPr/>
          <p:nvPr/>
        </p:nvSpPr>
        <p:spPr>
          <a:xfrm>
            <a:off x="640080" y="3611880"/>
            <a:ext cx="8778240" cy="1280160"/>
          </a:xfrm>
          <a:prstGeom prst="rect">
            <a:avLst/>
          </a:prstGeom>
          <a:noFill/>
          <a:ln/>
        </p:spPr>
        <p:txBody>
          <a:bodyPr wrap="square" rtlCol="0" anchor="t"/>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Ứng dụng thực tế &amp; hệ sinh thái</a:t>
            </a:r>
            <a:endParaRPr lang="en-US" sz="3800" dirty="0"/>
          </a:p>
        </p:txBody>
      </p:sp>
      <p:sp>
        <p:nvSpPr>
          <p:cNvPr id="21" name="Text 19"/>
          <p:cNvSpPr/>
          <p:nvPr/>
        </p:nvSpPr>
        <p:spPr>
          <a:xfrm>
            <a:off x="640080" y="4892040"/>
            <a:ext cx="8595360" cy="914400"/>
          </a:xfrm>
          <a:prstGeom prst="rect">
            <a:avLst/>
          </a:prstGeom>
          <a:noFill/>
          <a:ln/>
        </p:spPr>
        <p:txBody>
          <a:bodyPr wrap="square" rtlCol="0" anchor="ctr"/>
          <a:lstStyle/>
          <a:p>
            <a:pPr indent="0" marL="0">
              <a:lnSpc>
                <a:spcPct val="115000"/>
              </a:lnSpc>
              <a:buNone/>
            </a:pPr>
            <a:r>
              <a:rPr lang="en-US" sz="1600" dirty="0">
                <a:solidFill>
                  <a:srgbClr val="AFC4E0"/>
                </a:solidFill>
                <a:latin typeface="Calibri" pitchFamily="34" charset="0"/>
                <a:ea typeface="Calibri" pitchFamily="34" charset="-122"/>
                <a:cs typeface="Calibri" pitchFamily="34" charset="-120"/>
              </a:rPr>
              <a:t>Graph database giải quyết bài toán gì, và có những hệ nào.</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ỨNG DỤNG 1</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Hệ thống gợi ý (Recommendation)</a:t>
            </a:r>
            <a:endParaRPr lang="en-US" sz="3200" dirty="0"/>
          </a:p>
        </p:txBody>
      </p:sp>
      <p:sp>
        <p:nvSpPr>
          <p:cNvPr id="5" name="Text 3"/>
          <p:cNvSpPr/>
          <p:nvPr/>
        </p:nvSpPr>
        <p:spPr>
          <a:xfrm>
            <a:off x="640080" y="192024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Lọc cộng tác</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Gợi ý dựa trên hàng xóm gần trong đồ thị người dùng–sản phẩm.</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“Mua X cũng mua Y”</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Tìm sản phẩm mà những người dùng tương tự đã mua.</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Thời gian thực</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Chỉ cần duyệt vài bước quan hệ, phản hồi tức thì.</a:t>
            </a:r>
            <a:endParaRPr lang="en-US" sz="1450" dirty="0"/>
          </a:p>
        </p:txBody>
      </p:sp>
      <p:sp>
        <p:nvSpPr>
          <p:cNvPr id="6" name="Shape 4"/>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7" name="Shape 5"/>
          <p:cNvSpPr/>
          <p:nvPr/>
        </p:nvSpPr>
        <p:spPr>
          <a:xfrm>
            <a:off x="6888956" y="2988176"/>
            <a:ext cx="1123911" cy="1298615"/>
          </a:xfrm>
          <a:prstGeom prst="line">
            <a:avLst/>
          </a:prstGeom>
          <a:noFill/>
          <a:ln w="22225">
            <a:solidFill>
              <a:srgbClr val="17958A"/>
            </a:solidFill>
            <a:prstDash val="solid"/>
            <a:tailEnd type="triangle"/>
          </a:ln>
        </p:spPr>
      </p:sp>
      <p:sp>
        <p:nvSpPr>
          <p:cNvPr id="8" name="Text 6"/>
          <p:cNvSpPr/>
          <p:nvPr/>
        </p:nvSpPr>
        <p:spPr>
          <a:xfrm>
            <a:off x="7246620" y="3509467"/>
            <a:ext cx="420624"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MUA</a:t>
            </a:r>
            <a:endParaRPr lang="en-US" sz="900" dirty="0"/>
          </a:p>
        </p:txBody>
      </p:sp>
      <p:sp>
        <p:nvSpPr>
          <p:cNvPr id="9" name="Shape 7"/>
          <p:cNvSpPr/>
          <p:nvPr/>
        </p:nvSpPr>
        <p:spPr>
          <a:xfrm flipV="1">
            <a:off x="6969302" y="4644929"/>
            <a:ext cx="958492" cy="424728"/>
          </a:xfrm>
          <a:prstGeom prst="line">
            <a:avLst/>
          </a:prstGeom>
          <a:noFill/>
          <a:ln w="22225">
            <a:solidFill>
              <a:srgbClr val="17958A"/>
            </a:solidFill>
            <a:prstDash val="solid"/>
            <a:tailEnd type="triangle"/>
          </a:ln>
        </p:spPr>
      </p:sp>
      <p:sp>
        <p:nvSpPr>
          <p:cNvPr id="10" name="Text 8"/>
          <p:cNvSpPr/>
          <p:nvPr/>
        </p:nvSpPr>
        <p:spPr>
          <a:xfrm>
            <a:off x="7246620" y="4729277"/>
            <a:ext cx="420624"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MUA</a:t>
            </a:r>
            <a:endParaRPr lang="en-US" sz="900" dirty="0"/>
          </a:p>
        </p:txBody>
      </p:sp>
      <p:sp>
        <p:nvSpPr>
          <p:cNvPr id="11" name="Shape 9"/>
          <p:cNvSpPr/>
          <p:nvPr/>
        </p:nvSpPr>
        <p:spPr>
          <a:xfrm>
            <a:off x="6994176" y="2778885"/>
            <a:ext cx="3581901" cy="287074"/>
          </a:xfrm>
          <a:prstGeom prst="line">
            <a:avLst/>
          </a:prstGeom>
          <a:noFill/>
          <a:ln w="22225">
            <a:solidFill>
              <a:srgbClr val="17958A"/>
            </a:solidFill>
            <a:prstDash val="solid"/>
            <a:tailEnd type="triangle"/>
          </a:ln>
        </p:spPr>
      </p:sp>
      <p:sp>
        <p:nvSpPr>
          <p:cNvPr id="12" name="Text 10"/>
          <p:cNvSpPr/>
          <p:nvPr/>
        </p:nvSpPr>
        <p:spPr>
          <a:xfrm>
            <a:off x="8583930" y="2794406"/>
            <a:ext cx="420624"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MUA</a:t>
            </a:r>
            <a:endParaRPr lang="en-US" sz="900" dirty="0"/>
          </a:p>
        </p:txBody>
      </p:sp>
      <p:sp>
        <p:nvSpPr>
          <p:cNvPr id="13" name="Shape 11"/>
          <p:cNvSpPr/>
          <p:nvPr/>
        </p:nvSpPr>
        <p:spPr>
          <a:xfrm>
            <a:off x="6995098" y="5199988"/>
            <a:ext cx="3580003" cy="71732"/>
          </a:xfrm>
          <a:prstGeom prst="line">
            <a:avLst/>
          </a:prstGeom>
          <a:noFill/>
          <a:ln w="22225">
            <a:solidFill>
              <a:srgbClr val="17958A"/>
            </a:solidFill>
            <a:prstDash val="solid"/>
            <a:tailEnd type="triangle"/>
          </a:ln>
        </p:spPr>
      </p:sp>
      <p:sp>
        <p:nvSpPr>
          <p:cNvPr id="14" name="Text 12"/>
          <p:cNvSpPr/>
          <p:nvPr/>
        </p:nvSpPr>
        <p:spPr>
          <a:xfrm>
            <a:off x="8583930" y="5107838"/>
            <a:ext cx="420624"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MUA</a:t>
            </a:r>
            <a:endParaRPr lang="en-US" sz="900" dirty="0"/>
          </a:p>
        </p:txBody>
      </p:sp>
      <p:sp>
        <p:nvSpPr>
          <p:cNvPr id="15" name="Shape 13"/>
          <p:cNvSpPr/>
          <p:nvPr/>
        </p:nvSpPr>
        <p:spPr>
          <a:xfrm>
            <a:off x="6951084" y="2913745"/>
            <a:ext cx="3670620" cy="2204600"/>
          </a:xfrm>
          <a:prstGeom prst="line">
            <a:avLst/>
          </a:prstGeom>
          <a:noFill/>
          <a:ln w="22225">
            <a:solidFill>
              <a:srgbClr val="17958A"/>
            </a:solidFill>
            <a:prstDash val="solid"/>
            <a:tailEnd type="triangle"/>
          </a:ln>
        </p:spPr>
      </p:sp>
      <p:sp>
        <p:nvSpPr>
          <p:cNvPr id="16" name="Text 14"/>
          <p:cNvSpPr/>
          <p:nvPr/>
        </p:nvSpPr>
        <p:spPr>
          <a:xfrm>
            <a:off x="8533638" y="3888029"/>
            <a:ext cx="521208"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GỢI Ý</a:t>
            </a:r>
            <a:endParaRPr lang="en-US" sz="900" dirty="0"/>
          </a:p>
        </p:txBody>
      </p:sp>
      <p:sp>
        <p:nvSpPr>
          <p:cNvPr id="17" name="Shape 15"/>
          <p:cNvSpPr/>
          <p:nvPr/>
        </p:nvSpPr>
        <p:spPr>
          <a:xfrm>
            <a:off x="6400800" y="2470709"/>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8" name="Text 16"/>
          <p:cNvSpPr/>
          <p:nvPr/>
        </p:nvSpPr>
        <p:spPr>
          <a:xfrm>
            <a:off x="6080760" y="2479853"/>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An</a:t>
            </a:r>
            <a:endParaRPr lang="en-US" sz="1050" dirty="0"/>
          </a:p>
        </p:txBody>
      </p:sp>
      <p:sp>
        <p:nvSpPr>
          <p:cNvPr id="19" name="Shape 17"/>
          <p:cNvSpPr/>
          <p:nvPr/>
        </p:nvSpPr>
        <p:spPr>
          <a:xfrm>
            <a:off x="6400800" y="4910328"/>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0" name="Text 18"/>
          <p:cNvSpPr/>
          <p:nvPr/>
        </p:nvSpPr>
        <p:spPr>
          <a:xfrm>
            <a:off x="6080760" y="4919472"/>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Bình</a:t>
            </a:r>
            <a:endParaRPr lang="en-US" sz="1050" dirty="0"/>
          </a:p>
        </p:txBody>
      </p:sp>
      <p:sp>
        <p:nvSpPr>
          <p:cNvPr id="21" name="Shape 19"/>
          <p:cNvSpPr/>
          <p:nvPr/>
        </p:nvSpPr>
        <p:spPr>
          <a:xfrm>
            <a:off x="7946136" y="4237330"/>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2" name="Text 20"/>
          <p:cNvSpPr/>
          <p:nvPr/>
        </p:nvSpPr>
        <p:spPr>
          <a:xfrm>
            <a:off x="7626096" y="4246474"/>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SP A</a:t>
            </a:r>
            <a:endParaRPr lang="en-US" sz="1050" dirty="0"/>
          </a:p>
        </p:txBody>
      </p:sp>
      <p:sp>
        <p:nvSpPr>
          <p:cNvPr id="23" name="Shape 21"/>
          <p:cNvSpPr/>
          <p:nvPr/>
        </p:nvSpPr>
        <p:spPr>
          <a:xfrm>
            <a:off x="10620756" y="2807208"/>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4" name="Text 22"/>
          <p:cNvSpPr/>
          <p:nvPr/>
        </p:nvSpPr>
        <p:spPr>
          <a:xfrm>
            <a:off x="10300716" y="2816352"/>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SP B</a:t>
            </a:r>
            <a:endParaRPr lang="en-US" sz="1050" dirty="0"/>
          </a:p>
        </p:txBody>
      </p:sp>
      <p:sp>
        <p:nvSpPr>
          <p:cNvPr id="25" name="Shape 23"/>
          <p:cNvSpPr/>
          <p:nvPr/>
        </p:nvSpPr>
        <p:spPr>
          <a:xfrm>
            <a:off x="10620756" y="4994453"/>
            <a:ext cx="566928" cy="566928"/>
          </a:xfrm>
          <a:prstGeom prst="ellipse">
            <a:avLst/>
          </a:prstGeom>
          <a:solidFill>
            <a:srgbClr val="C88A1E"/>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6" name="Text 24"/>
          <p:cNvSpPr/>
          <p:nvPr/>
        </p:nvSpPr>
        <p:spPr>
          <a:xfrm>
            <a:off x="10300716" y="5003597"/>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SP C</a:t>
            </a:r>
            <a:endParaRPr lang="en-US" sz="1050" dirty="0"/>
          </a:p>
        </p:txBody>
      </p:sp>
      <p:sp>
        <p:nvSpPr>
          <p:cNvPr id="27" name="Text 25"/>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Cùng mua SP A ⇒ gợi ý cho An sản phẩm SP C mà người tương tự đã mua.</a:t>
            </a:r>
            <a:endParaRPr lang="en-US" sz="1050" dirty="0"/>
          </a:p>
        </p:txBody>
      </p:sp>
      <p:sp>
        <p:nvSpPr>
          <p:cNvPr id="28" name="Text 26"/>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9" name="Text 27"/>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ỨNG DỤNG 2</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Phát hiện gian lận (Fraud detection)</a:t>
            </a:r>
            <a:endParaRPr lang="en-US" sz="3200" dirty="0"/>
          </a:p>
        </p:txBody>
      </p:sp>
      <p:sp>
        <p:nvSpPr>
          <p:cNvPr id="5" name="Text 3"/>
          <p:cNvSpPr/>
          <p:nvPr/>
        </p:nvSpPr>
        <p:spPr>
          <a:xfrm>
            <a:off x="640080" y="192024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Tìm vòng &amp; cụm</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Phát hiện nhóm tài khoản liên kết bất thường, khép vòng.</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Định danh dùng chung</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Chung SĐT, thiết bị, địa chỉ hay thẻ thanh toán.</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Thời gian thực</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Chặn giao dịch đáng ngờ ngay khi phát sinh.</a:t>
            </a:r>
            <a:endParaRPr lang="en-US" sz="1450" dirty="0"/>
          </a:p>
        </p:txBody>
      </p:sp>
      <p:sp>
        <p:nvSpPr>
          <p:cNvPr id="6" name="Shape 4"/>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7" name="Shape 5"/>
          <p:cNvSpPr/>
          <p:nvPr/>
        </p:nvSpPr>
        <p:spPr>
          <a:xfrm>
            <a:off x="8823960" y="2688336"/>
            <a:ext cx="914" cy="932688"/>
          </a:xfrm>
          <a:prstGeom prst="line">
            <a:avLst/>
          </a:prstGeom>
          <a:noFill/>
          <a:ln w="22225">
            <a:solidFill>
              <a:srgbClr val="17958A"/>
            </a:solidFill>
            <a:prstDash val="solid"/>
            <a:tailEnd type="triangle"/>
          </a:ln>
        </p:spPr>
      </p:sp>
      <p:sp>
        <p:nvSpPr>
          <p:cNvPr id="8" name="Shape 6"/>
          <p:cNvSpPr/>
          <p:nvPr/>
        </p:nvSpPr>
        <p:spPr>
          <a:xfrm flipH="1">
            <a:off x="9137033" y="3547631"/>
            <a:ext cx="869646" cy="288216"/>
          </a:xfrm>
          <a:prstGeom prst="line">
            <a:avLst/>
          </a:prstGeom>
          <a:noFill/>
          <a:ln w="22225">
            <a:solidFill>
              <a:srgbClr val="17958A"/>
            </a:solidFill>
            <a:prstDash val="solid"/>
            <a:tailEnd type="triangle"/>
          </a:ln>
        </p:spPr>
      </p:sp>
      <p:sp>
        <p:nvSpPr>
          <p:cNvPr id="9" name="Shape 7"/>
          <p:cNvSpPr/>
          <p:nvPr/>
        </p:nvSpPr>
        <p:spPr>
          <a:xfrm flipH="1" flipV="1">
            <a:off x="9017450" y="4183440"/>
            <a:ext cx="537471" cy="754560"/>
          </a:xfrm>
          <a:prstGeom prst="line">
            <a:avLst/>
          </a:prstGeom>
          <a:noFill/>
          <a:ln w="22225">
            <a:solidFill>
              <a:srgbClr val="17958A"/>
            </a:solidFill>
            <a:prstDash val="solid"/>
            <a:tailEnd type="triangle"/>
          </a:ln>
        </p:spPr>
      </p:sp>
      <p:sp>
        <p:nvSpPr>
          <p:cNvPr id="10" name="Shape 8"/>
          <p:cNvSpPr/>
          <p:nvPr/>
        </p:nvSpPr>
        <p:spPr>
          <a:xfrm flipV="1">
            <a:off x="8093000" y="4183440"/>
            <a:ext cx="537471" cy="754560"/>
          </a:xfrm>
          <a:prstGeom prst="line">
            <a:avLst/>
          </a:prstGeom>
          <a:noFill/>
          <a:ln w="22225">
            <a:solidFill>
              <a:srgbClr val="17958A"/>
            </a:solidFill>
            <a:prstDash val="solid"/>
            <a:tailEnd type="triangle"/>
          </a:ln>
        </p:spPr>
      </p:sp>
      <p:sp>
        <p:nvSpPr>
          <p:cNvPr id="11" name="Shape 9"/>
          <p:cNvSpPr/>
          <p:nvPr/>
        </p:nvSpPr>
        <p:spPr>
          <a:xfrm>
            <a:off x="7641241" y="3547631"/>
            <a:ext cx="869646" cy="288216"/>
          </a:xfrm>
          <a:prstGeom prst="line">
            <a:avLst/>
          </a:prstGeom>
          <a:noFill/>
          <a:ln w="22225">
            <a:solidFill>
              <a:srgbClr val="17958A"/>
            </a:solidFill>
            <a:prstDash val="solid"/>
            <a:tailEnd type="triangle"/>
          </a:ln>
        </p:spPr>
      </p:sp>
      <p:sp>
        <p:nvSpPr>
          <p:cNvPr id="12" name="Shape 10"/>
          <p:cNvSpPr/>
          <p:nvPr/>
        </p:nvSpPr>
        <p:spPr>
          <a:xfrm>
            <a:off x="8540496" y="3648456"/>
            <a:ext cx="566928" cy="566928"/>
          </a:xfrm>
          <a:prstGeom prst="ellipse">
            <a:avLst/>
          </a:prstGeom>
          <a:solidFill>
            <a:srgbClr val="B4544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3" name="Text 11"/>
          <p:cNvSpPr/>
          <p:nvPr/>
        </p:nvSpPr>
        <p:spPr>
          <a:xfrm>
            <a:off x="8220456" y="36576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1 SĐT</a:t>
            </a:r>
            <a:endParaRPr lang="en-US" sz="1050" dirty="0"/>
          </a:p>
        </p:txBody>
      </p:sp>
      <p:sp>
        <p:nvSpPr>
          <p:cNvPr id="14" name="Shape 12"/>
          <p:cNvSpPr/>
          <p:nvPr/>
        </p:nvSpPr>
        <p:spPr>
          <a:xfrm>
            <a:off x="8540496" y="2093976"/>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5" name="Text 13"/>
          <p:cNvSpPr/>
          <p:nvPr/>
        </p:nvSpPr>
        <p:spPr>
          <a:xfrm>
            <a:off x="8220456" y="210312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TK 1</a:t>
            </a:r>
            <a:endParaRPr lang="en-US" sz="1050" dirty="0"/>
          </a:p>
        </p:txBody>
      </p:sp>
      <p:sp>
        <p:nvSpPr>
          <p:cNvPr id="16" name="Shape 14"/>
          <p:cNvSpPr/>
          <p:nvPr/>
        </p:nvSpPr>
        <p:spPr>
          <a:xfrm>
            <a:off x="10018894" y="3168095"/>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7" name="Text 15"/>
          <p:cNvSpPr/>
          <p:nvPr/>
        </p:nvSpPr>
        <p:spPr>
          <a:xfrm>
            <a:off x="9698854" y="3177239"/>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TK 2</a:t>
            </a:r>
            <a:endParaRPr lang="en-US" sz="1050" dirty="0"/>
          </a:p>
        </p:txBody>
      </p:sp>
      <p:sp>
        <p:nvSpPr>
          <p:cNvPr id="18" name="Shape 16"/>
          <p:cNvSpPr/>
          <p:nvPr/>
        </p:nvSpPr>
        <p:spPr>
          <a:xfrm>
            <a:off x="9454196" y="4906057"/>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9" name="Text 17"/>
          <p:cNvSpPr/>
          <p:nvPr/>
        </p:nvSpPr>
        <p:spPr>
          <a:xfrm>
            <a:off x="9134156" y="491520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TK 3</a:t>
            </a:r>
            <a:endParaRPr lang="en-US" sz="1050" dirty="0"/>
          </a:p>
        </p:txBody>
      </p:sp>
      <p:sp>
        <p:nvSpPr>
          <p:cNvPr id="20" name="Shape 18"/>
          <p:cNvSpPr/>
          <p:nvPr/>
        </p:nvSpPr>
        <p:spPr>
          <a:xfrm>
            <a:off x="7626796" y="4906057"/>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1" name="Text 19"/>
          <p:cNvSpPr/>
          <p:nvPr/>
        </p:nvSpPr>
        <p:spPr>
          <a:xfrm>
            <a:off x="7306756" y="491520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TK 4</a:t>
            </a:r>
            <a:endParaRPr lang="en-US" sz="1050" dirty="0"/>
          </a:p>
        </p:txBody>
      </p:sp>
      <p:sp>
        <p:nvSpPr>
          <p:cNvPr id="22" name="Shape 20"/>
          <p:cNvSpPr/>
          <p:nvPr/>
        </p:nvSpPr>
        <p:spPr>
          <a:xfrm>
            <a:off x="7062098" y="3168095"/>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3" name="Text 21"/>
          <p:cNvSpPr/>
          <p:nvPr/>
        </p:nvSpPr>
        <p:spPr>
          <a:xfrm>
            <a:off x="6742058" y="3177239"/>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TK 5</a:t>
            </a:r>
            <a:endParaRPr lang="en-US" sz="1050" dirty="0"/>
          </a:p>
        </p:txBody>
      </p:sp>
      <p:sp>
        <p:nvSpPr>
          <p:cNvPr id="24" name="Text 22"/>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Nhiều tài khoản cùng dùng một SĐT/thiết bị — dấu hiệu của một vòng gian lận.</a:t>
            </a:r>
            <a:endParaRPr lang="en-US" sz="1050" dirty="0"/>
          </a:p>
        </p:txBody>
      </p:sp>
      <p:sp>
        <p:nvSpPr>
          <p:cNvPr id="25" name="Text 2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6" name="Text 2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ỨNG DỤNG 3</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Knowledge Graph &amp; Mạng xã hội</a:t>
            </a:r>
            <a:endParaRPr lang="en-US" sz="3200" dirty="0"/>
          </a:p>
        </p:txBody>
      </p:sp>
      <p:sp>
        <p:nvSpPr>
          <p:cNvPr id="5" name="Text 3"/>
          <p:cNvSpPr/>
          <p:nvPr/>
        </p:nvSpPr>
        <p:spPr>
          <a:xfrm>
            <a:off x="640080" y="192024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Tri thức có cấu trúc</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Thực thể và quan hệ tường minh để máy hiểu được.</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Tìm kiếm ngữ nghĩa</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Nền tảng của Google Knowledge Graph, trợ lý ảo.</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Social graph</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Bạn bè, theo dõi, kết nối trên Facebook, LinkedIn.</a:t>
            </a:r>
            <a:endParaRPr lang="en-US" sz="1450" dirty="0"/>
          </a:p>
        </p:txBody>
      </p:sp>
      <p:sp>
        <p:nvSpPr>
          <p:cNvPr id="6" name="Shape 4"/>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7" name="Shape 5"/>
          <p:cNvSpPr/>
          <p:nvPr/>
        </p:nvSpPr>
        <p:spPr>
          <a:xfrm>
            <a:off x="7820486" y="3659987"/>
            <a:ext cx="2940036" cy="627990"/>
          </a:xfrm>
          <a:prstGeom prst="line">
            <a:avLst/>
          </a:prstGeom>
          <a:noFill/>
          <a:ln w="22225">
            <a:solidFill>
              <a:srgbClr val="17958A"/>
            </a:solidFill>
            <a:prstDash val="solid"/>
            <a:tailEnd type="triangle"/>
          </a:ln>
        </p:spPr>
      </p:sp>
      <p:sp>
        <p:nvSpPr>
          <p:cNvPr id="8" name="Text 6"/>
          <p:cNvSpPr/>
          <p:nvPr/>
        </p:nvSpPr>
        <p:spPr>
          <a:xfrm>
            <a:off x="9038844" y="3845966"/>
            <a:ext cx="521208"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làm ở</a:t>
            </a:r>
            <a:endParaRPr lang="en-US" sz="900" dirty="0"/>
          </a:p>
        </p:txBody>
      </p:sp>
      <p:sp>
        <p:nvSpPr>
          <p:cNvPr id="9" name="Shape 7"/>
          <p:cNvSpPr/>
          <p:nvPr/>
        </p:nvSpPr>
        <p:spPr>
          <a:xfrm>
            <a:off x="10434442" y="2870766"/>
            <a:ext cx="516176" cy="1196934"/>
          </a:xfrm>
          <a:prstGeom prst="line">
            <a:avLst/>
          </a:prstGeom>
          <a:noFill/>
          <a:ln w="22225">
            <a:solidFill>
              <a:srgbClr val="17958A"/>
            </a:solidFill>
            <a:prstDash val="solid"/>
            <a:tailEnd type="triangle"/>
          </a:ln>
        </p:spPr>
      </p:sp>
      <p:sp>
        <p:nvSpPr>
          <p:cNvPr id="10" name="Text 8"/>
          <p:cNvSpPr/>
          <p:nvPr/>
        </p:nvSpPr>
        <p:spPr>
          <a:xfrm>
            <a:off x="10435590" y="3341218"/>
            <a:ext cx="521208"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làm ở</a:t>
            </a:r>
            <a:endParaRPr lang="en-US" sz="900" dirty="0"/>
          </a:p>
        </p:txBody>
      </p:sp>
      <p:sp>
        <p:nvSpPr>
          <p:cNvPr id="11" name="Shape 9"/>
          <p:cNvSpPr/>
          <p:nvPr/>
        </p:nvSpPr>
        <p:spPr>
          <a:xfrm>
            <a:off x="7740929" y="3810430"/>
            <a:ext cx="1558494" cy="1504852"/>
          </a:xfrm>
          <a:prstGeom prst="line">
            <a:avLst/>
          </a:prstGeom>
          <a:noFill/>
          <a:ln w="22225">
            <a:solidFill>
              <a:srgbClr val="17958A"/>
            </a:solidFill>
            <a:prstDash val="solid"/>
            <a:tailEnd type="triangle"/>
          </a:ln>
        </p:spPr>
      </p:sp>
      <p:sp>
        <p:nvSpPr>
          <p:cNvPr id="12" name="Text 10"/>
          <p:cNvSpPr/>
          <p:nvPr/>
        </p:nvSpPr>
        <p:spPr>
          <a:xfrm>
            <a:off x="8228686" y="4434840"/>
            <a:ext cx="596189"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sống ở</a:t>
            </a:r>
            <a:endParaRPr lang="en-US" sz="900" dirty="0"/>
          </a:p>
        </p:txBody>
      </p:sp>
      <p:sp>
        <p:nvSpPr>
          <p:cNvPr id="13" name="Shape 11"/>
          <p:cNvSpPr/>
          <p:nvPr/>
        </p:nvSpPr>
        <p:spPr>
          <a:xfrm flipV="1">
            <a:off x="7808758" y="2691586"/>
            <a:ext cx="2191513" cy="798173"/>
          </a:xfrm>
          <a:prstGeom prst="line">
            <a:avLst/>
          </a:prstGeom>
          <a:noFill/>
          <a:ln w="22225">
            <a:solidFill>
              <a:srgbClr val="17958A"/>
            </a:solidFill>
            <a:prstDash val="solid"/>
            <a:tailEnd type="triangle"/>
          </a:ln>
        </p:spPr>
      </p:sp>
      <p:sp>
        <p:nvSpPr>
          <p:cNvPr id="14" name="Text 12"/>
          <p:cNvSpPr/>
          <p:nvPr/>
        </p:nvSpPr>
        <p:spPr>
          <a:xfrm>
            <a:off x="8702802" y="2962656"/>
            <a:ext cx="420624"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bạn</a:t>
            </a:r>
            <a:endParaRPr lang="en-US" sz="900" dirty="0"/>
          </a:p>
        </p:txBody>
      </p:sp>
      <p:sp>
        <p:nvSpPr>
          <p:cNvPr id="15" name="Shape 13"/>
          <p:cNvSpPr/>
          <p:nvPr/>
        </p:nvSpPr>
        <p:spPr>
          <a:xfrm flipH="1">
            <a:off x="6623153" y="3857770"/>
            <a:ext cx="726395" cy="1157797"/>
          </a:xfrm>
          <a:prstGeom prst="line">
            <a:avLst/>
          </a:prstGeom>
          <a:noFill/>
          <a:ln w="22225">
            <a:solidFill>
              <a:srgbClr val="17958A"/>
            </a:solidFill>
            <a:prstDash val="solid"/>
            <a:tailEnd type="triangle"/>
          </a:ln>
        </p:spPr>
      </p:sp>
      <p:sp>
        <p:nvSpPr>
          <p:cNvPr id="16" name="Text 14"/>
          <p:cNvSpPr/>
          <p:nvPr/>
        </p:nvSpPr>
        <p:spPr>
          <a:xfrm>
            <a:off x="6758330" y="4308653"/>
            <a:ext cx="446227" cy="256032"/>
          </a:xfrm>
          <a:prstGeom prst="rect">
            <a:avLst/>
          </a:prstGeom>
          <a:solidFill>
            <a:srgbClr val="FFFFFF"/>
          </a:solidFill>
          <a:ln w="9525">
            <a:solidFill>
              <a:srgbClr val="C9D6E8"/>
            </a:solidFill>
          </a:ln>
        </p:spPr>
        <p:txBody>
          <a:bodyPr wrap="square" lIns="12700" tIns="12700" rIns="12700" bIns="12700" rtlCol="0" anchor="ctr"/>
          <a:lstStyle/>
          <a:p>
            <a:pPr algn="ctr" indent="0" marL="0">
              <a:buNone/>
            </a:pPr>
            <a:r>
              <a:rPr lang="en-US" sz="900" i="1" dirty="0">
                <a:solidFill>
                  <a:srgbClr val="12305B"/>
                </a:solidFill>
                <a:latin typeface="Calibri" pitchFamily="34" charset="0"/>
                <a:ea typeface="Calibri" pitchFamily="34" charset="-122"/>
                <a:cs typeface="Calibri" pitchFamily="34" charset="-120"/>
              </a:rPr>
              <a:t>biết</a:t>
            </a:r>
            <a:endParaRPr lang="en-US" sz="900" dirty="0"/>
          </a:p>
        </p:txBody>
      </p:sp>
      <p:sp>
        <p:nvSpPr>
          <p:cNvPr id="17" name="Shape 15"/>
          <p:cNvSpPr/>
          <p:nvPr/>
        </p:nvSpPr>
        <p:spPr>
          <a:xfrm>
            <a:off x="7232904" y="3311957"/>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8" name="Text 16"/>
          <p:cNvSpPr/>
          <p:nvPr/>
        </p:nvSpPr>
        <p:spPr>
          <a:xfrm>
            <a:off x="6912864" y="332110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Lan</a:t>
            </a:r>
            <a:endParaRPr lang="en-US" sz="1050" dirty="0"/>
          </a:p>
        </p:txBody>
      </p:sp>
      <p:sp>
        <p:nvSpPr>
          <p:cNvPr id="19" name="Shape 17"/>
          <p:cNvSpPr/>
          <p:nvPr/>
        </p:nvSpPr>
        <p:spPr>
          <a:xfrm>
            <a:off x="10026396" y="2302459"/>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0" name="Text 18"/>
          <p:cNvSpPr/>
          <p:nvPr/>
        </p:nvSpPr>
        <p:spPr>
          <a:xfrm>
            <a:off x="9706356" y="2311603"/>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Minh</a:t>
            </a:r>
            <a:endParaRPr lang="en-US" sz="1050" dirty="0"/>
          </a:p>
        </p:txBody>
      </p:sp>
      <p:sp>
        <p:nvSpPr>
          <p:cNvPr id="21" name="Shape 19"/>
          <p:cNvSpPr/>
          <p:nvPr/>
        </p:nvSpPr>
        <p:spPr>
          <a:xfrm>
            <a:off x="10799064" y="4069080"/>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2" name="Text 20"/>
          <p:cNvSpPr/>
          <p:nvPr/>
        </p:nvSpPr>
        <p:spPr>
          <a:xfrm>
            <a:off x="10479024" y="4078224"/>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FPT</a:t>
            </a:r>
            <a:endParaRPr lang="en-US" sz="1050" dirty="0"/>
          </a:p>
        </p:txBody>
      </p:sp>
      <p:sp>
        <p:nvSpPr>
          <p:cNvPr id="23" name="Shape 21"/>
          <p:cNvSpPr/>
          <p:nvPr/>
        </p:nvSpPr>
        <p:spPr>
          <a:xfrm>
            <a:off x="9253728" y="5246827"/>
            <a:ext cx="566928" cy="566928"/>
          </a:xfrm>
          <a:prstGeom prst="ellipse">
            <a:avLst/>
          </a:prstGeom>
          <a:solidFill>
            <a:srgbClr val="C88A1E"/>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4" name="Text 22"/>
          <p:cNvSpPr/>
          <p:nvPr/>
        </p:nvSpPr>
        <p:spPr>
          <a:xfrm>
            <a:off x="8933688" y="5255971"/>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Hà Nội</a:t>
            </a:r>
            <a:endParaRPr lang="en-US" sz="1050" dirty="0"/>
          </a:p>
        </p:txBody>
      </p:sp>
      <p:sp>
        <p:nvSpPr>
          <p:cNvPr id="25" name="Shape 23"/>
          <p:cNvSpPr/>
          <p:nvPr/>
        </p:nvSpPr>
        <p:spPr>
          <a:xfrm>
            <a:off x="6163056" y="4994453"/>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26" name="Text 24"/>
          <p:cNvSpPr/>
          <p:nvPr/>
        </p:nvSpPr>
        <p:spPr>
          <a:xfrm>
            <a:off x="5843016" y="5003597"/>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Java</a:t>
            </a:r>
            <a:endParaRPr lang="en-US" sz="1050" dirty="0"/>
          </a:p>
        </p:txBody>
      </p:sp>
      <p:sp>
        <p:nvSpPr>
          <p:cNvPr id="27" name="Text 25"/>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Đồ thị tri thức: thực thể (người, công ty, nơi chốn) nối bằng quan hệ có nghĩa.</a:t>
            </a:r>
            <a:endParaRPr lang="en-US" sz="1050" dirty="0"/>
          </a:p>
        </p:txBody>
      </p:sp>
      <p:sp>
        <p:nvSpPr>
          <p:cNvPr id="28" name="Text 26"/>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9" name="Text 27"/>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ỨNG DỤNG 4</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Thêm nhiều lĩnh vực</a:t>
            </a:r>
            <a:endParaRPr lang="en-US" sz="3200" dirty="0"/>
          </a:p>
        </p:txBody>
      </p:sp>
      <p:sp>
        <p:nvSpPr>
          <p:cNvPr id="5" name="Shape 3"/>
          <p:cNvSpPr/>
          <p:nvPr/>
        </p:nvSpPr>
        <p:spPr>
          <a:xfrm>
            <a:off x="640080"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6" name="Shape 4"/>
          <p:cNvSpPr/>
          <p:nvPr/>
        </p:nvSpPr>
        <p:spPr>
          <a:xfrm>
            <a:off x="859536" y="2075688"/>
            <a:ext cx="457200" cy="457200"/>
          </a:xfrm>
          <a:prstGeom prst="ellipse">
            <a:avLst/>
          </a:prstGeom>
          <a:solidFill>
            <a:srgbClr val="2E6DB4"/>
          </a:solidFill>
          <a:ln/>
        </p:spPr>
      </p:sp>
      <p:sp>
        <p:nvSpPr>
          <p:cNvPr id="7" name="Text 5"/>
          <p:cNvSpPr/>
          <p:nvPr/>
        </p:nvSpPr>
        <p:spPr>
          <a:xfrm>
            <a:off x="859536"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859536"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Định tuyến &amp; viễn thông</a:t>
            </a:r>
            <a:endParaRPr lang="en-US" sz="1550" dirty="0"/>
          </a:p>
        </p:txBody>
      </p:sp>
      <p:sp>
        <p:nvSpPr>
          <p:cNvPr id="9" name="Text 7"/>
          <p:cNvSpPr/>
          <p:nvPr/>
        </p:nvSpPr>
        <p:spPr>
          <a:xfrm>
            <a:off x="859536"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Tìm đường đi ngắn nhất, tối ưu mạng lưới, cân bằng tải.</a:t>
            </a:r>
            <a:endParaRPr lang="en-US" sz="1250" dirty="0"/>
          </a:p>
        </p:txBody>
      </p:sp>
      <p:sp>
        <p:nvSpPr>
          <p:cNvPr id="10" name="Shape 8"/>
          <p:cNvSpPr/>
          <p:nvPr/>
        </p:nvSpPr>
        <p:spPr>
          <a:xfrm>
            <a:off x="6233008"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1" name="Shape 9"/>
          <p:cNvSpPr/>
          <p:nvPr/>
        </p:nvSpPr>
        <p:spPr>
          <a:xfrm>
            <a:off x="6452464" y="2075688"/>
            <a:ext cx="457200" cy="457200"/>
          </a:xfrm>
          <a:prstGeom prst="ellipse">
            <a:avLst/>
          </a:prstGeom>
          <a:solidFill>
            <a:srgbClr val="17958A"/>
          </a:solidFill>
          <a:ln/>
        </p:spPr>
      </p:sp>
      <p:sp>
        <p:nvSpPr>
          <p:cNvPr id="12" name="Text 10"/>
          <p:cNvSpPr/>
          <p:nvPr/>
        </p:nvSpPr>
        <p:spPr>
          <a:xfrm>
            <a:off x="6452464"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6452464"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Quản lý phụ thuộc CNTT</a:t>
            </a:r>
            <a:endParaRPr lang="en-US" sz="1550" dirty="0"/>
          </a:p>
        </p:txBody>
      </p:sp>
      <p:sp>
        <p:nvSpPr>
          <p:cNvPr id="14" name="Text 12"/>
          <p:cNvSpPr/>
          <p:nvPr/>
        </p:nvSpPr>
        <p:spPr>
          <a:xfrm>
            <a:off x="6452464"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Phân tích tác động khi một dịch vụ trong hệ thống gặp sự cố.</a:t>
            </a:r>
            <a:endParaRPr lang="en-US" sz="1250" dirty="0"/>
          </a:p>
        </p:txBody>
      </p:sp>
      <p:sp>
        <p:nvSpPr>
          <p:cNvPr id="15" name="Shape 13"/>
          <p:cNvSpPr/>
          <p:nvPr/>
        </p:nvSpPr>
        <p:spPr>
          <a:xfrm>
            <a:off x="640080"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6" name="Shape 14"/>
          <p:cNvSpPr/>
          <p:nvPr/>
        </p:nvSpPr>
        <p:spPr>
          <a:xfrm>
            <a:off x="859536" y="4018788"/>
            <a:ext cx="457200" cy="457200"/>
          </a:xfrm>
          <a:prstGeom prst="ellipse">
            <a:avLst/>
          </a:prstGeom>
          <a:solidFill>
            <a:srgbClr val="2E6DB4"/>
          </a:solidFill>
          <a:ln/>
        </p:spPr>
      </p:sp>
      <p:sp>
        <p:nvSpPr>
          <p:cNvPr id="17" name="Text 15"/>
          <p:cNvSpPr/>
          <p:nvPr/>
        </p:nvSpPr>
        <p:spPr>
          <a:xfrm>
            <a:off x="859536"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59536"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Chuỗi cung ứng</a:t>
            </a:r>
            <a:endParaRPr lang="en-US" sz="1550" dirty="0"/>
          </a:p>
        </p:txBody>
      </p:sp>
      <p:sp>
        <p:nvSpPr>
          <p:cNvPr id="19" name="Text 17"/>
          <p:cNvSpPr/>
          <p:nvPr/>
        </p:nvSpPr>
        <p:spPr>
          <a:xfrm>
            <a:off x="859536"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Truy vết nguồn gốc, phát hiện điểm nghẽn, đánh giá rủi ro.</a:t>
            </a:r>
            <a:endParaRPr lang="en-US" sz="1250" dirty="0"/>
          </a:p>
        </p:txBody>
      </p:sp>
      <p:sp>
        <p:nvSpPr>
          <p:cNvPr id="20" name="Shape 18"/>
          <p:cNvSpPr/>
          <p:nvPr/>
        </p:nvSpPr>
        <p:spPr>
          <a:xfrm>
            <a:off x="6233008"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1" name="Shape 19"/>
          <p:cNvSpPr/>
          <p:nvPr/>
        </p:nvSpPr>
        <p:spPr>
          <a:xfrm>
            <a:off x="6452464" y="4018788"/>
            <a:ext cx="457200" cy="457200"/>
          </a:xfrm>
          <a:prstGeom prst="ellipse">
            <a:avLst/>
          </a:prstGeom>
          <a:solidFill>
            <a:srgbClr val="17958A"/>
          </a:solidFill>
          <a:ln/>
        </p:spPr>
      </p:sp>
      <p:sp>
        <p:nvSpPr>
          <p:cNvPr id="22" name="Text 20"/>
          <p:cNvSpPr/>
          <p:nvPr/>
        </p:nvSpPr>
        <p:spPr>
          <a:xfrm>
            <a:off x="6452464"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6452464"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Y sinh &amp; dược</a:t>
            </a:r>
            <a:endParaRPr lang="en-US" sz="1550" dirty="0"/>
          </a:p>
        </p:txBody>
      </p:sp>
      <p:sp>
        <p:nvSpPr>
          <p:cNvPr id="24" name="Text 22"/>
          <p:cNvSpPr/>
          <p:nvPr/>
        </p:nvSpPr>
        <p:spPr>
          <a:xfrm>
            <a:off x="6452464"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Mạng gen–bệnh–thuốc, hỗ trợ tìm thuốc mới và chẩn đoán.</a:t>
            </a:r>
            <a:endParaRPr lang="en-US" sz="1250" dirty="0"/>
          </a:p>
        </p:txBody>
      </p:sp>
      <p:sp>
        <p:nvSpPr>
          <p:cNvPr id="25" name="Text 2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6" name="Text 2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XU HƯỚNG</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GraphRAG &amp; AI</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56657E"/>
                </a:solidFill>
                <a:latin typeface="Calibri" pitchFamily="34" charset="0"/>
                <a:ea typeface="Calibri" pitchFamily="34" charset="-122"/>
                <a:cs typeface="Calibri" pitchFamily="34" charset="-120"/>
              </a:rPr>
              <a:t>Kết hợp cơ sở dữ liệu đồ thị với mô hình ngôn ngữ lớn (LLM).</a:t>
            </a:r>
            <a:endParaRPr lang="en-US" sz="1500" dirty="0"/>
          </a:p>
        </p:txBody>
      </p:sp>
      <p:sp>
        <p:nvSpPr>
          <p:cNvPr id="6" name="Text 4"/>
          <p:cNvSpPr/>
          <p:nvPr/>
        </p:nvSpPr>
        <p:spPr>
          <a:xfrm>
            <a:off x="640080" y="233172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Ngữ cảnh có cấu trúc</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Đồ thị tri thức cấp dữ kiện tường minh cho LLM khi sinh câu trả lời.</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Giảm “ảo giác” (hallucination)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Câu trả lời bám vào dữ kiện thật, có thể dẫn nguồn và kiểm chứng.</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Truy hồi theo quan hệ</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Không chỉ tìm theo từ khóa mà lần theo các liên kết nhiều bước.</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Xu hướng nóng 2024–2026</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Được Microsoft, Neo4j và cộng đồng AI đẩy mạnh áp dụng.</a:t>
            </a:r>
            <a:endParaRPr lang="en-US" sz="1550" dirty="0"/>
          </a:p>
        </p:txBody>
      </p:sp>
      <p:sp>
        <p:nvSpPr>
          <p:cNvPr id="7" name="Shape 5"/>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8" name="Shape 6"/>
          <p:cNvSpPr/>
          <p:nvPr/>
        </p:nvSpPr>
        <p:spPr>
          <a:xfrm>
            <a:off x="822960" y="5943600"/>
            <a:ext cx="292608" cy="292608"/>
          </a:xfrm>
          <a:prstGeom prst="ellipse">
            <a:avLst/>
          </a:prstGeom>
          <a:solidFill>
            <a:srgbClr val="C88A1E"/>
          </a:solidFill>
          <a:ln/>
        </p:spPr>
      </p:sp>
      <p:sp>
        <p:nvSpPr>
          <p:cNvPr id="9" name="Text 7"/>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GraphRAG = đồ thị (dữ kiện) + LLM (ngôn ngữ) ⇒ câu trả lời đáng tin hơn.</a:t>
            </a:r>
            <a:endParaRPr lang="en-US" sz="1300" dirty="0"/>
          </a:p>
        </p:txBody>
      </p:sp>
      <p:sp>
        <p:nvSpPr>
          <p:cNvPr id="11" name="Text 9"/>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2" name="Text 10"/>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MINH CHỨNG</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Vì sao doanh nghiệp chọn đồ thị</a:t>
            </a:r>
            <a:endParaRPr lang="en-US" sz="3200" dirty="0"/>
          </a:p>
        </p:txBody>
      </p:sp>
      <p:sp>
        <p:nvSpPr>
          <p:cNvPr id="5" name="Shape 3"/>
          <p:cNvSpPr/>
          <p:nvPr/>
        </p:nvSpPr>
        <p:spPr>
          <a:xfrm>
            <a:off x="640080" y="2194560"/>
            <a:ext cx="3393338" cy="2103120"/>
          </a:xfrm>
          <a:prstGeom prst="roundRect">
            <a:avLst>
              <a:gd name="adj" fmla="val 3913"/>
            </a:avLst>
          </a:prstGeom>
          <a:solidFill>
            <a:srgbClr val="EEF3FA"/>
          </a:solidFill>
          <a:ln w="12700">
            <a:solidFill>
              <a:srgbClr val="C9D6E8"/>
            </a:solidFill>
            <a:prstDash val="solid"/>
          </a:ln>
          <a:effectLst>
            <a:outerShdw sx="100000" sy="100000" kx="0" ky="0" algn="bl" rotWithShape="0" blurRad="76200" dist="25400" dir="5400000">
              <a:srgbClr val="9FB2CC">
                <a:alpha val="28000"/>
              </a:srgbClr>
            </a:outerShdw>
          </a:effectLst>
        </p:spPr>
      </p:sp>
      <p:sp>
        <p:nvSpPr>
          <p:cNvPr id="6" name="Text 4"/>
          <p:cNvSpPr/>
          <p:nvPr/>
        </p:nvSpPr>
        <p:spPr>
          <a:xfrm>
            <a:off x="731520" y="2450592"/>
            <a:ext cx="3210458" cy="1005840"/>
          </a:xfrm>
          <a:prstGeom prst="rect">
            <a:avLst/>
          </a:prstGeom>
          <a:noFill/>
          <a:ln/>
        </p:spPr>
        <p:txBody>
          <a:bodyPr wrap="square" rtlCol="0" anchor="ctr"/>
          <a:lstStyle/>
          <a:p>
            <a:pPr algn="ctr" indent="0" marL="0">
              <a:buNone/>
            </a:pPr>
            <a:r>
              <a:rPr lang="en-US" sz="4600" b="1" dirty="0">
                <a:solidFill>
                  <a:srgbClr val="2E6DB4"/>
                </a:solidFill>
                <a:latin typeface="Cambria" pitchFamily="34" charset="0"/>
                <a:ea typeface="Cambria" pitchFamily="34" charset="-122"/>
                <a:cs typeface="Cambria" pitchFamily="34" charset="-120"/>
              </a:rPr>
              <a:t>50.49</a:t>
            </a:r>
            <a:endParaRPr lang="en-US" sz="4600" dirty="0"/>
          </a:p>
        </p:txBody>
      </p:sp>
      <p:sp>
        <p:nvSpPr>
          <p:cNvPr id="7" name="Text 5"/>
          <p:cNvSpPr/>
          <p:nvPr/>
        </p:nvSpPr>
        <p:spPr>
          <a:xfrm>
            <a:off x="804672" y="3493008"/>
            <a:ext cx="3064154" cy="685800"/>
          </a:xfrm>
          <a:prstGeom prst="rect">
            <a:avLst/>
          </a:prstGeom>
          <a:noFill/>
          <a:ln/>
        </p:spPr>
        <p:txBody>
          <a:bodyPr wrap="square" rtlCol="0" anchor="t"/>
          <a:lstStyle/>
          <a:p>
            <a:pPr algn="ctr" indent="0" marL="0">
              <a:lnSpc>
                <a:spcPct val="100000"/>
              </a:lnSpc>
              <a:buNone/>
            </a:pPr>
            <a:r>
              <a:rPr lang="en-US" sz="1300" dirty="0">
                <a:solidFill>
                  <a:srgbClr val="56657E"/>
                </a:solidFill>
                <a:latin typeface="Calibri" pitchFamily="34" charset="0"/>
                <a:ea typeface="Calibri" pitchFamily="34" charset="-122"/>
                <a:cs typeface="Calibri" pitchFamily="34" charset="-120"/>
              </a:rPr>
              <a:t>Điểm DB-Engines của Neo4j — dẫn đầu graph DBMS (7/2026)</a:t>
            </a:r>
            <a:endParaRPr lang="en-US" sz="1300" dirty="0"/>
          </a:p>
        </p:txBody>
      </p:sp>
      <p:sp>
        <p:nvSpPr>
          <p:cNvPr id="8" name="Shape 6"/>
          <p:cNvSpPr/>
          <p:nvPr/>
        </p:nvSpPr>
        <p:spPr>
          <a:xfrm>
            <a:off x="4399178" y="2194560"/>
            <a:ext cx="3393338" cy="2103120"/>
          </a:xfrm>
          <a:prstGeom prst="roundRect">
            <a:avLst>
              <a:gd name="adj" fmla="val 3913"/>
            </a:avLst>
          </a:prstGeom>
          <a:solidFill>
            <a:srgbClr val="EEF3FA"/>
          </a:solidFill>
          <a:ln w="12700">
            <a:solidFill>
              <a:srgbClr val="C9D6E8"/>
            </a:solidFill>
            <a:prstDash val="solid"/>
          </a:ln>
          <a:effectLst>
            <a:outerShdw sx="100000" sy="100000" kx="0" ky="0" algn="bl" rotWithShape="0" blurRad="76200" dist="25400" dir="5400000">
              <a:srgbClr val="9FB2CC">
                <a:alpha val="28000"/>
              </a:srgbClr>
            </a:outerShdw>
          </a:effectLst>
        </p:spPr>
      </p:sp>
      <p:sp>
        <p:nvSpPr>
          <p:cNvPr id="9" name="Text 7"/>
          <p:cNvSpPr/>
          <p:nvPr/>
        </p:nvSpPr>
        <p:spPr>
          <a:xfrm>
            <a:off x="4490618" y="2450592"/>
            <a:ext cx="3210458" cy="1005840"/>
          </a:xfrm>
          <a:prstGeom prst="rect">
            <a:avLst/>
          </a:prstGeom>
          <a:noFill/>
          <a:ln/>
        </p:spPr>
        <p:txBody>
          <a:bodyPr wrap="square" rtlCol="0" anchor="ctr"/>
          <a:lstStyle/>
          <a:p>
            <a:pPr algn="ctr" indent="0" marL="0">
              <a:buNone/>
            </a:pPr>
            <a:r>
              <a:rPr lang="en-US" sz="4600" b="1" dirty="0">
                <a:solidFill>
                  <a:srgbClr val="17958A"/>
                </a:solidFill>
                <a:latin typeface="Cambria" pitchFamily="34" charset="0"/>
                <a:ea typeface="Cambria" pitchFamily="34" charset="-122"/>
                <a:cs typeface="Cambria" pitchFamily="34" charset="-120"/>
              </a:rPr>
              <a:t>#1</a:t>
            </a:r>
            <a:endParaRPr lang="en-US" sz="4600" dirty="0"/>
          </a:p>
        </p:txBody>
      </p:sp>
      <p:sp>
        <p:nvSpPr>
          <p:cNvPr id="10" name="Text 8"/>
          <p:cNvSpPr/>
          <p:nvPr/>
        </p:nvSpPr>
        <p:spPr>
          <a:xfrm>
            <a:off x="4563770" y="3493008"/>
            <a:ext cx="3064154" cy="685800"/>
          </a:xfrm>
          <a:prstGeom prst="rect">
            <a:avLst/>
          </a:prstGeom>
          <a:noFill/>
          <a:ln/>
        </p:spPr>
        <p:txBody>
          <a:bodyPr wrap="square" rtlCol="0" anchor="t"/>
          <a:lstStyle/>
          <a:p>
            <a:pPr algn="ctr" indent="0" marL="0">
              <a:lnSpc>
                <a:spcPct val="100000"/>
              </a:lnSpc>
              <a:buNone/>
            </a:pPr>
            <a:r>
              <a:rPr lang="en-US" sz="1300" dirty="0">
                <a:solidFill>
                  <a:srgbClr val="56657E"/>
                </a:solidFill>
                <a:latin typeface="Calibri" pitchFamily="34" charset="0"/>
                <a:ea typeface="Calibri" pitchFamily="34" charset="-122"/>
                <a:cs typeface="Calibri" pitchFamily="34" charset="-120"/>
              </a:rPr>
              <a:t>Graph database phổ biến nhất thế giới</a:t>
            </a:r>
            <a:endParaRPr lang="en-US" sz="1300" dirty="0"/>
          </a:p>
        </p:txBody>
      </p:sp>
      <p:sp>
        <p:nvSpPr>
          <p:cNvPr id="11" name="Shape 9"/>
          <p:cNvSpPr/>
          <p:nvPr/>
        </p:nvSpPr>
        <p:spPr>
          <a:xfrm>
            <a:off x="8158277" y="2194560"/>
            <a:ext cx="3393338" cy="2103120"/>
          </a:xfrm>
          <a:prstGeom prst="roundRect">
            <a:avLst>
              <a:gd name="adj" fmla="val 3913"/>
            </a:avLst>
          </a:prstGeom>
          <a:solidFill>
            <a:srgbClr val="EEF3FA"/>
          </a:solidFill>
          <a:ln w="12700">
            <a:solidFill>
              <a:srgbClr val="C9D6E8"/>
            </a:solidFill>
            <a:prstDash val="solid"/>
          </a:ln>
          <a:effectLst>
            <a:outerShdw sx="100000" sy="100000" kx="0" ky="0" algn="bl" rotWithShape="0" blurRad="76200" dist="25400" dir="5400000">
              <a:srgbClr val="9FB2CC">
                <a:alpha val="28000"/>
              </a:srgbClr>
            </a:outerShdw>
          </a:effectLst>
        </p:spPr>
      </p:sp>
      <p:sp>
        <p:nvSpPr>
          <p:cNvPr id="12" name="Text 10"/>
          <p:cNvSpPr/>
          <p:nvPr/>
        </p:nvSpPr>
        <p:spPr>
          <a:xfrm>
            <a:off x="8249717" y="2450592"/>
            <a:ext cx="3210458" cy="1005840"/>
          </a:xfrm>
          <a:prstGeom prst="rect">
            <a:avLst/>
          </a:prstGeom>
          <a:noFill/>
          <a:ln/>
        </p:spPr>
        <p:txBody>
          <a:bodyPr wrap="square" rtlCol="0" anchor="ctr"/>
          <a:lstStyle/>
          <a:p>
            <a:pPr algn="ctr" indent="0" marL="0">
              <a:buNone/>
            </a:pPr>
            <a:r>
              <a:rPr lang="en-US" sz="4600" b="1" dirty="0">
                <a:solidFill>
                  <a:srgbClr val="2E6DB4"/>
                </a:solidFill>
                <a:latin typeface="Cambria" pitchFamily="34" charset="0"/>
                <a:ea typeface="Cambria" pitchFamily="34" charset="-122"/>
                <a:cs typeface="Cambria" pitchFamily="34" charset="-120"/>
              </a:rPr>
              <a:t>2024</a:t>
            </a:r>
            <a:endParaRPr lang="en-US" sz="4600" dirty="0"/>
          </a:p>
        </p:txBody>
      </p:sp>
      <p:sp>
        <p:nvSpPr>
          <p:cNvPr id="13" name="Text 11"/>
          <p:cNvSpPr/>
          <p:nvPr/>
        </p:nvSpPr>
        <p:spPr>
          <a:xfrm>
            <a:off x="8322869" y="3493008"/>
            <a:ext cx="3064154" cy="685800"/>
          </a:xfrm>
          <a:prstGeom prst="rect">
            <a:avLst/>
          </a:prstGeom>
          <a:noFill/>
          <a:ln/>
        </p:spPr>
        <p:txBody>
          <a:bodyPr wrap="square" rtlCol="0" anchor="t"/>
          <a:lstStyle/>
          <a:p>
            <a:pPr algn="ctr" indent="0" marL="0">
              <a:lnSpc>
                <a:spcPct val="100000"/>
              </a:lnSpc>
              <a:buNone/>
            </a:pPr>
            <a:r>
              <a:rPr lang="en-US" sz="1300" dirty="0">
                <a:solidFill>
                  <a:srgbClr val="56657E"/>
                </a:solidFill>
                <a:latin typeface="Calibri" pitchFamily="34" charset="0"/>
                <a:ea typeface="Calibri" pitchFamily="34" charset="-122"/>
                <a:cs typeface="Calibri" pitchFamily="34" charset="-120"/>
              </a:rPr>
              <a:t>GQL trở thành chuẩn quốc tế ISO/IEC 39075</a:t>
            </a:r>
            <a:endParaRPr lang="en-US" sz="1300" dirty="0"/>
          </a:p>
        </p:txBody>
      </p:sp>
      <p:sp>
        <p:nvSpPr>
          <p:cNvPr id="14" name="Text 12"/>
          <p:cNvSpPr/>
          <p:nvPr/>
        </p:nvSpPr>
        <p:spPr>
          <a:xfrm>
            <a:off x="640080" y="4892040"/>
            <a:ext cx="10911535" cy="914400"/>
          </a:xfrm>
          <a:prstGeom prst="rect">
            <a:avLst/>
          </a:prstGeom>
          <a:noFill/>
          <a:ln/>
        </p:spPr>
        <p:txBody>
          <a:bodyPr wrap="square" rtlCol="0" anchor="ctr"/>
          <a:lstStyle/>
          <a:p>
            <a:pPr algn="ctr" indent="0" marL="0">
              <a:lnSpc>
                <a:spcPct val="115000"/>
              </a:lnSpc>
              <a:buNone/>
            </a:pPr>
            <a:r>
              <a:rPr lang="en-US" sz="1500" i="1" dirty="0">
                <a:solidFill>
                  <a:srgbClr val="12305B"/>
                </a:solidFill>
                <a:latin typeface="Calibri" pitchFamily="34" charset="0"/>
                <a:ea typeface="Calibri" pitchFamily="34" charset="-122"/>
                <a:cs typeface="Calibri" pitchFamily="34" charset="-120"/>
              </a:rPr>
              <a:t>Đồ thị là một trong những lĩnh vực cơ sở dữ liệu tăng trưởng mạnh nhất hiện nay.</a:t>
            </a:r>
            <a:endParaRPr lang="en-US" sz="1500" dirty="0"/>
          </a:p>
        </p:txBody>
      </p:sp>
      <p:sp>
        <p:nvSpPr>
          <p:cNvPr id="15" name="Text 1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6" name="Text 1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HỆ SINH THÁI</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Các hệ quản trị đồ thị khác</a:t>
            </a:r>
            <a:endParaRPr lang="en-US" sz="3200" dirty="0"/>
          </a:p>
        </p:txBody>
      </p:sp>
      <p:sp>
        <p:nvSpPr>
          <p:cNvPr id="5" name="Shape 3"/>
          <p:cNvSpPr/>
          <p:nvPr/>
        </p:nvSpPr>
        <p:spPr>
          <a:xfrm>
            <a:off x="640080" y="18745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6" name="Shape 4"/>
          <p:cNvSpPr/>
          <p:nvPr/>
        </p:nvSpPr>
        <p:spPr>
          <a:xfrm>
            <a:off x="859536" y="2075688"/>
            <a:ext cx="457200" cy="457200"/>
          </a:xfrm>
          <a:prstGeom prst="ellipse">
            <a:avLst/>
          </a:prstGeom>
          <a:solidFill>
            <a:srgbClr val="2E6DB4"/>
          </a:solidFill>
          <a:ln/>
        </p:spPr>
      </p:sp>
      <p:sp>
        <p:nvSpPr>
          <p:cNvPr id="7" name="Text 5"/>
          <p:cNvSpPr/>
          <p:nvPr/>
        </p:nvSpPr>
        <p:spPr>
          <a:xfrm>
            <a:off x="859536"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859536" y="26609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Amazon Neptune</a:t>
            </a:r>
            <a:endParaRPr lang="en-US" sz="1550" dirty="0"/>
          </a:p>
        </p:txBody>
      </p:sp>
      <p:sp>
        <p:nvSpPr>
          <p:cNvPr id="9" name="Text 7"/>
          <p:cNvSpPr/>
          <p:nvPr/>
        </p:nvSpPr>
        <p:spPr>
          <a:xfrm>
            <a:off x="859536" y="30815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Dịch vụ managed của AWS; hỗ trợ property graph và RDF.</a:t>
            </a:r>
            <a:endParaRPr lang="en-US" sz="1250" dirty="0"/>
          </a:p>
        </p:txBody>
      </p:sp>
      <p:sp>
        <p:nvSpPr>
          <p:cNvPr id="10" name="Shape 8"/>
          <p:cNvSpPr/>
          <p:nvPr/>
        </p:nvSpPr>
        <p:spPr>
          <a:xfrm>
            <a:off x="4368698" y="18745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1" name="Shape 9"/>
          <p:cNvSpPr/>
          <p:nvPr/>
        </p:nvSpPr>
        <p:spPr>
          <a:xfrm>
            <a:off x="4588154" y="2075688"/>
            <a:ext cx="457200" cy="457200"/>
          </a:xfrm>
          <a:prstGeom prst="ellipse">
            <a:avLst/>
          </a:prstGeom>
          <a:solidFill>
            <a:srgbClr val="17958A"/>
          </a:solidFill>
          <a:ln/>
        </p:spPr>
      </p:sp>
      <p:sp>
        <p:nvSpPr>
          <p:cNvPr id="12" name="Text 10"/>
          <p:cNvSpPr/>
          <p:nvPr/>
        </p:nvSpPr>
        <p:spPr>
          <a:xfrm>
            <a:off x="4588154"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588154" y="26609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ArangoDB</a:t>
            </a:r>
            <a:endParaRPr lang="en-US" sz="1550" dirty="0"/>
          </a:p>
        </p:txBody>
      </p:sp>
      <p:sp>
        <p:nvSpPr>
          <p:cNvPr id="14" name="Text 12"/>
          <p:cNvSpPr/>
          <p:nvPr/>
        </p:nvSpPr>
        <p:spPr>
          <a:xfrm>
            <a:off x="4588154" y="30815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Đa mô hình: đồ thị, tài liệu và key–value.</a:t>
            </a:r>
            <a:endParaRPr lang="en-US" sz="1250" dirty="0"/>
          </a:p>
        </p:txBody>
      </p:sp>
      <p:sp>
        <p:nvSpPr>
          <p:cNvPr id="15" name="Shape 13"/>
          <p:cNvSpPr/>
          <p:nvPr/>
        </p:nvSpPr>
        <p:spPr>
          <a:xfrm>
            <a:off x="8097317" y="18745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6" name="Shape 14"/>
          <p:cNvSpPr/>
          <p:nvPr/>
        </p:nvSpPr>
        <p:spPr>
          <a:xfrm>
            <a:off x="8316773" y="2075688"/>
            <a:ext cx="457200" cy="457200"/>
          </a:xfrm>
          <a:prstGeom prst="ellipse">
            <a:avLst/>
          </a:prstGeom>
          <a:solidFill>
            <a:srgbClr val="2E6DB4"/>
          </a:solidFill>
          <a:ln/>
        </p:spPr>
      </p:sp>
      <p:sp>
        <p:nvSpPr>
          <p:cNvPr id="17" name="Text 15"/>
          <p:cNvSpPr/>
          <p:nvPr/>
        </p:nvSpPr>
        <p:spPr>
          <a:xfrm>
            <a:off x="8316773"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316773" y="26609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TigerGraph</a:t>
            </a:r>
            <a:endParaRPr lang="en-US" sz="1550" dirty="0"/>
          </a:p>
        </p:txBody>
      </p:sp>
      <p:sp>
        <p:nvSpPr>
          <p:cNvPr id="19" name="Text 17"/>
          <p:cNvSpPr/>
          <p:nvPr/>
        </p:nvSpPr>
        <p:spPr>
          <a:xfrm>
            <a:off x="8316773" y="30815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Phân tích đồ thị quy mô lớn, hiệu năng cao.</a:t>
            </a:r>
            <a:endParaRPr lang="en-US" sz="1250" dirty="0"/>
          </a:p>
        </p:txBody>
      </p:sp>
      <p:sp>
        <p:nvSpPr>
          <p:cNvPr id="20" name="Shape 18"/>
          <p:cNvSpPr/>
          <p:nvPr/>
        </p:nvSpPr>
        <p:spPr>
          <a:xfrm>
            <a:off x="640080" y="38176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1" name="Shape 19"/>
          <p:cNvSpPr/>
          <p:nvPr/>
        </p:nvSpPr>
        <p:spPr>
          <a:xfrm>
            <a:off x="859536" y="4018788"/>
            <a:ext cx="457200" cy="457200"/>
          </a:xfrm>
          <a:prstGeom prst="ellipse">
            <a:avLst/>
          </a:prstGeom>
          <a:solidFill>
            <a:srgbClr val="17958A"/>
          </a:solidFill>
          <a:ln/>
        </p:spPr>
      </p:sp>
      <p:sp>
        <p:nvSpPr>
          <p:cNvPr id="22" name="Text 20"/>
          <p:cNvSpPr/>
          <p:nvPr/>
        </p:nvSpPr>
        <p:spPr>
          <a:xfrm>
            <a:off x="859536"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859536" y="46040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JanusGraph</a:t>
            </a:r>
            <a:endParaRPr lang="en-US" sz="1550" dirty="0"/>
          </a:p>
        </p:txBody>
      </p:sp>
      <p:sp>
        <p:nvSpPr>
          <p:cNvPr id="24" name="Text 22"/>
          <p:cNvSpPr/>
          <p:nvPr/>
        </p:nvSpPr>
        <p:spPr>
          <a:xfrm>
            <a:off x="859536" y="50246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Mã nguồn mở, phân tán trên Cassandra/HBase.</a:t>
            </a:r>
            <a:endParaRPr lang="en-US" sz="1250" dirty="0"/>
          </a:p>
        </p:txBody>
      </p:sp>
      <p:sp>
        <p:nvSpPr>
          <p:cNvPr id="25" name="Shape 23"/>
          <p:cNvSpPr/>
          <p:nvPr/>
        </p:nvSpPr>
        <p:spPr>
          <a:xfrm>
            <a:off x="4368698" y="38176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6" name="Shape 24"/>
          <p:cNvSpPr/>
          <p:nvPr/>
        </p:nvSpPr>
        <p:spPr>
          <a:xfrm>
            <a:off x="4588154" y="4018788"/>
            <a:ext cx="457200" cy="457200"/>
          </a:xfrm>
          <a:prstGeom prst="ellipse">
            <a:avLst/>
          </a:prstGeom>
          <a:solidFill>
            <a:srgbClr val="2E6DB4"/>
          </a:solidFill>
          <a:ln/>
        </p:spPr>
      </p:sp>
      <p:sp>
        <p:nvSpPr>
          <p:cNvPr id="27" name="Text 25"/>
          <p:cNvSpPr/>
          <p:nvPr/>
        </p:nvSpPr>
        <p:spPr>
          <a:xfrm>
            <a:off x="4588154"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p:nvPr/>
        </p:nvSpPr>
        <p:spPr>
          <a:xfrm>
            <a:off x="4588154" y="46040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OrientDB</a:t>
            </a:r>
            <a:endParaRPr lang="en-US" sz="1550" dirty="0"/>
          </a:p>
        </p:txBody>
      </p:sp>
      <p:sp>
        <p:nvSpPr>
          <p:cNvPr id="29" name="Text 27"/>
          <p:cNvSpPr/>
          <p:nvPr/>
        </p:nvSpPr>
        <p:spPr>
          <a:xfrm>
            <a:off x="4588154" y="50246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Đa mô hình đồ thị + tài liệu, mã nguồn mở.</a:t>
            </a:r>
            <a:endParaRPr lang="en-US" sz="1250" dirty="0"/>
          </a:p>
        </p:txBody>
      </p:sp>
      <p:sp>
        <p:nvSpPr>
          <p:cNvPr id="30" name="Shape 28"/>
          <p:cNvSpPr/>
          <p:nvPr/>
        </p:nvSpPr>
        <p:spPr>
          <a:xfrm>
            <a:off x="8097317" y="3817620"/>
            <a:ext cx="345429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31" name="Shape 29"/>
          <p:cNvSpPr/>
          <p:nvPr/>
        </p:nvSpPr>
        <p:spPr>
          <a:xfrm>
            <a:off x="8316773" y="4018788"/>
            <a:ext cx="457200" cy="457200"/>
          </a:xfrm>
          <a:prstGeom prst="ellipse">
            <a:avLst/>
          </a:prstGeom>
          <a:solidFill>
            <a:srgbClr val="17958A"/>
          </a:solidFill>
          <a:ln/>
        </p:spPr>
      </p:sp>
      <p:sp>
        <p:nvSpPr>
          <p:cNvPr id="32" name="Text 30"/>
          <p:cNvSpPr/>
          <p:nvPr/>
        </p:nvSpPr>
        <p:spPr>
          <a:xfrm>
            <a:off x="8316773"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1"/>
          <p:cNvSpPr/>
          <p:nvPr/>
        </p:nvSpPr>
        <p:spPr>
          <a:xfrm>
            <a:off x="8316773" y="4604004"/>
            <a:ext cx="301538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Azure Cosmos DB</a:t>
            </a:r>
            <a:endParaRPr lang="en-US" sz="1550" dirty="0"/>
          </a:p>
        </p:txBody>
      </p:sp>
      <p:sp>
        <p:nvSpPr>
          <p:cNvPr id="34" name="Text 32"/>
          <p:cNvSpPr/>
          <p:nvPr/>
        </p:nvSpPr>
        <p:spPr>
          <a:xfrm>
            <a:off x="8316773" y="5024628"/>
            <a:ext cx="301538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CSDL phân tán của Microsoft, API Gremlin.</a:t>
            </a:r>
            <a:endParaRPr lang="en-US" sz="1250" dirty="0"/>
          </a:p>
        </p:txBody>
      </p:sp>
      <p:sp>
        <p:nvSpPr>
          <p:cNvPr id="35" name="Text 3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36" name="Text 3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XẾP HẠNG</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Mức độ phổ biến (DB-Engines 7/2026)</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1463040"/>
                <a:gridCol w="5943600"/>
                <a:gridCol w="347472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Hạng</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Hệ quản trị</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Điểm</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Neo4j</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50.49</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Microsoft Azure Cosmos DB</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21.23</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Aerospike</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3.97</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ArangoDB</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3.54</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Amazon Neptune</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2.67</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989320"/>
            <a:ext cx="10911535" cy="365760"/>
          </a:xfrm>
          <a:prstGeom prst="rect">
            <a:avLst/>
          </a:prstGeom>
          <a:noFill/>
          <a:ln/>
        </p:spPr>
        <p:txBody>
          <a:bodyPr wrap="square" rtlCol="0" anchor="ctr"/>
          <a:lstStyle/>
          <a:p>
            <a:pPr indent="0" marL="0">
              <a:buNone/>
            </a:pPr>
            <a:r>
              <a:rPr lang="en-US" sz="1200" i="1" dirty="0">
                <a:solidFill>
                  <a:srgbClr val="56657E"/>
                </a:solidFill>
                <a:latin typeface="Calibri" pitchFamily="34" charset="0"/>
                <a:ea typeface="Calibri" pitchFamily="34" charset="-122"/>
                <a:cs typeface="Calibri" pitchFamily="34" charset="-120"/>
              </a:rPr>
              <a:t>Neo4j bỏ xa phần còn lại — dẫn đầu tuyệt đối về mức độ phổ biến.</a:t>
            </a:r>
            <a:endParaRPr lang="en-US" sz="1200" dirty="0"/>
          </a:p>
        </p:txBody>
      </p:sp>
      <p:sp>
        <p:nvSpPr>
          <p:cNvPr id="7" name="Text 4"/>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8" name="Text 5"/>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CHUẨN HÓA</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GQL — chuẩn ISO/IEC 39075:2024</a:t>
            </a:r>
            <a:endParaRPr lang="en-US" sz="3200" dirty="0"/>
          </a:p>
        </p:txBody>
      </p:sp>
      <p:sp>
        <p:nvSpPr>
          <p:cNvPr id="5" name="Text 3"/>
          <p:cNvSpPr/>
          <p:nvPr/>
        </p:nvSpPr>
        <p:spPr>
          <a:xfrm>
            <a:off x="640080" y="182880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Chuẩn quốc tế đầu tiên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Ngôn ngữ truy vấn đồ thị chuẩn hóa đầu tiên của thế giới (2024).</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“SQL cho đồ thị”</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Vai trò với đồ thị giống như SQL với cơ sở dữ liệu quan hệ.</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Kế thừa Cypher</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Dựa trên tinh thần Cypher và openCypher đã phổ biến.</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Khả chuyển giữa các hệ</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Truy vấn có thể di chuyển giữa nhiều hệ quản trị đồ thị.</a:t>
            </a:r>
            <a:endParaRPr lang="en-US" sz="1550" dirty="0"/>
          </a:p>
        </p:txBody>
      </p:sp>
      <p:sp>
        <p:nvSpPr>
          <p:cNvPr id="6" name="Shape 4"/>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7" name="Shape 5"/>
          <p:cNvSpPr/>
          <p:nvPr/>
        </p:nvSpPr>
        <p:spPr>
          <a:xfrm>
            <a:off x="822960" y="5943600"/>
            <a:ext cx="292608" cy="292608"/>
          </a:xfrm>
          <a:prstGeom prst="ellipse">
            <a:avLst/>
          </a:prstGeom>
          <a:solidFill>
            <a:srgbClr val="C88A1E"/>
          </a:solidFill>
          <a:ln/>
        </p:spPr>
      </p:sp>
      <p:sp>
        <p:nvSpPr>
          <p:cNvPr id="8" name="Text 6"/>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9" name="Text 7"/>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Neo4j đang hội tụ Cypher về GQL — đồ thị đã có “ngôn ngữ chung”.</a:t>
            </a:r>
            <a:endParaRPr lang="en-US" sz="1300" dirty="0"/>
          </a:p>
        </p:txBody>
      </p:sp>
      <p:sp>
        <p:nvSpPr>
          <p:cNvPr id="10" name="Text 8"/>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1" name="Text 9"/>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22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242"/>
          </a:solidFill>
          <a:ln/>
        </p:spPr>
      </p:sp>
      <p:sp>
        <p:nvSpPr>
          <p:cNvPr id="3" name="Shape 1"/>
          <p:cNvSpPr/>
          <p:nvPr/>
        </p:nvSpPr>
        <p:spPr>
          <a:xfrm flipV="1">
            <a:off x="8595360" y="3108960"/>
            <a:ext cx="946404" cy="368046"/>
          </a:xfrm>
          <a:prstGeom prst="line">
            <a:avLst/>
          </a:prstGeom>
          <a:noFill/>
          <a:ln w="15875">
            <a:solidFill>
              <a:srgbClr val="35557E"/>
            </a:solidFill>
            <a:prstDash val="solid"/>
          </a:ln>
        </p:spPr>
      </p:sp>
      <p:sp>
        <p:nvSpPr>
          <p:cNvPr id="4" name="Shape 2"/>
          <p:cNvSpPr/>
          <p:nvPr/>
        </p:nvSpPr>
        <p:spPr>
          <a:xfrm>
            <a:off x="9541764" y="3108960"/>
            <a:ext cx="841248" cy="578358"/>
          </a:xfrm>
          <a:prstGeom prst="line">
            <a:avLst/>
          </a:prstGeom>
          <a:noFill/>
          <a:ln w="15875">
            <a:solidFill>
              <a:srgbClr val="35557E"/>
            </a:solidFill>
            <a:prstDash val="solid"/>
          </a:ln>
        </p:spPr>
      </p:sp>
      <p:sp>
        <p:nvSpPr>
          <p:cNvPr id="5" name="Shape 3"/>
          <p:cNvSpPr/>
          <p:nvPr/>
        </p:nvSpPr>
        <p:spPr>
          <a:xfrm flipH="1">
            <a:off x="9752076" y="3687318"/>
            <a:ext cx="630936" cy="736092"/>
          </a:xfrm>
          <a:prstGeom prst="line">
            <a:avLst/>
          </a:prstGeom>
          <a:noFill/>
          <a:ln w="15875">
            <a:solidFill>
              <a:srgbClr val="35557E"/>
            </a:solidFill>
            <a:prstDash val="solid"/>
          </a:ln>
        </p:spPr>
      </p:sp>
      <p:sp>
        <p:nvSpPr>
          <p:cNvPr id="6" name="Shape 4"/>
          <p:cNvSpPr/>
          <p:nvPr/>
        </p:nvSpPr>
        <p:spPr>
          <a:xfrm flipH="1" flipV="1">
            <a:off x="8805672" y="4318254"/>
            <a:ext cx="946404" cy="105156"/>
          </a:xfrm>
          <a:prstGeom prst="line">
            <a:avLst/>
          </a:prstGeom>
          <a:noFill/>
          <a:ln w="15875">
            <a:solidFill>
              <a:srgbClr val="35557E"/>
            </a:solidFill>
            <a:prstDash val="solid"/>
          </a:ln>
        </p:spPr>
      </p:sp>
      <p:sp>
        <p:nvSpPr>
          <p:cNvPr id="7" name="Shape 5"/>
          <p:cNvSpPr/>
          <p:nvPr/>
        </p:nvSpPr>
        <p:spPr>
          <a:xfrm flipH="1" flipV="1">
            <a:off x="8595360" y="3477006"/>
            <a:ext cx="210312" cy="841248"/>
          </a:xfrm>
          <a:prstGeom prst="line">
            <a:avLst/>
          </a:prstGeom>
          <a:noFill/>
          <a:ln w="15875">
            <a:solidFill>
              <a:srgbClr val="35557E"/>
            </a:solidFill>
            <a:prstDash val="solid"/>
          </a:ln>
        </p:spPr>
      </p:sp>
      <p:sp>
        <p:nvSpPr>
          <p:cNvPr id="8" name="Shape 6"/>
          <p:cNvSpPr/>
          <p:nvPr/>
        </p:nvSpPr>
        <p:spPr>
          <a:xfrm>
            <a:off x="10383012" y="3687318"/>
            <a:ext cx="841248" cy="473202"/>
          </a:xfrm>
          <a:prstGeom prst="line">
            <a:avLst/>
          </a:prstGeom>
          <a:noFill/>
          <a:ln w="15875">
            <a:solidFill>
              <a:srgbClr val="35557E"/>
            </a:solidFill>
            <a:prstDash val="solid"/>
          </a:ln>
        </p:spPr>
      </p:sp>
      <p:sp>
        <p:nvSpPr>
          <p:cNvPr id="9" name="Shape 7"/>
          <p:cNvSpPr/>
          <p:nvPr/>
        </p:nvSpPr>
        <p:spPr>
          <a:xfrm flipH="1" flipV="1">
            <a:off x="10803636" y="3266694"/>
            <a:ext cx="420624" cy="893826"/>
          </a:xfrm>
          <a:prstGeom prst="line">
            <a:avLst/>
          </a:prstGeom>
          <a:noFill/>
          <a:ln w="15875">
            <a:solidFill>
              <a:srgbClr val="35557E"/>
            </a:solidFill>
            <a:prstDash val="solid"/>
          </a:ln>
        </p:spPr>
      </p:sp>
      <p:sp>
        <p:nvSpPr>
          <p:cNvPr id="10" name="Shape 8"/>
          <p:cNvSpPr/>
          <p:nvPr/>
        </p:nvSpPr>
        <p:spPr>
          <a:xfrm flipH="1" flipV="1">
            <a:off x="9541764" y="3108960"/>
            <a:ext cx="1261872" cy="157734"/>
          </a:xfrm>
          <a:prstGeom prst="line">
            <a:avLst/>
          </a:prstGeom>
          <a:noFill/>
          <a:ln w="15875">
            <a:solidFill>
              <a:srgbClr val="35557E"/>
            </a:solidFill>
            <a:prstDash val="solid"/>
          </a:ln>
        </p:spPr>
      </p:sp>
      <p:sp>
        <p:nvSpPr>
          <p:cNvPr id="11" name="Shape 9"/>
          <p:cNvSpPr/>
          <p:nvPr/>
        </p:nvSpPr>
        <p:spPr>
          <a:xfrm flipV="1">
            <a:off x="9752076" y="4160520"/>
            <a:ext cx="1472184" cy="262890"/>
          </a:xfrm>
          <a:prstGeom prst="line">
            <a:avLst/>
          </a:prstGeom>
          <a:noFill/>
          <a:ln w="15875">
            <a:solidFill>
              <a:srgbClr val="35557E"/>
            </a:solidFill>
            <a:prstDash val="solid"/>
          </a:ln>
        </p:spPr>
      </p:sp>
      <p:sp>
        <p:nvSpPr>
          <p:cNvPr id="12" name="Shape 10"/>
          <p:cNvSpPr/>
          <p:nvPr/>
        </p:nvSpPr>
        <p:spPr>
          <a:xfrm>
            <a:off x="8458657" y="3340303"/>
            <a:ext cx="273406" cy="273406"/>
          </a:xfrm>
          <a:prstGeom prst="ellipse">
            <a:avLst/>
          </a:prstGeom>
          <a:solidFill>
            <a:srgbClr val="C88A1E">
              <a:alpha val="75000"/>
            </a:srgbClr>
          </a:solidFill>
          <a:ln w="12700">
            <a:solidFill>
              <a:srgbClr val="FFFFFF">
                <a:alpha val="70000"/>
              </a:srgbClr>
            </a:solidFill>
            <a:prstDash val="solid"/>
          </a:ln>
        </p:spPr>
      </p:sp>
      <p:sp>
        <p:nvSpPr>
          <p:cNvPr id="13" name="Shape 11"/>
          <p:cNvSpPr/>
          <p:nvPr/>
        </p:nvSpPr>
        <p:spPr>
          <a:xfrm>
            <a:off x="9447124" y="3014320"/>
            <a:ext cx="189281" cy="189281"/>
          </a:xfrm>
          <a:prstGeom prst="ellipse">
            <a:avLst/>
          </a:prstGeom>
          <a:solidFill>
            <a:srgbClr val="17958A">
              <a:alpha val="75000"/>
            </a:srgbClr>
          </a:solidFill>
          <a:ln w="12700">
            <a:solidFill>
              <a:srgbClr val="FFFFFF">
                <a:alpha val="70000"/>
              </a:srgbClr>
            </a:solidFill>
            <a:prstDash val="solid"/>
          </a:ln>
        </p:spPr>
      </p:sp>
      <p:sp>
        <p:nvSpPr>
          <p:cNvPr id="14" name="Shape 12"/>
          <p:cNvSpPr/>
          <p:nvPr/>
        </p:nvSpPr>
        <p:spPr>
          <a:xfrm>
            <a:off x="10288372" y="3592678"/>
            <a:ext cx="189281" cy="189281"/>
          </a:xfrm>
          <a:prstGeom prst="ellipse">
            <a:avLst/>
          </a:prstGeom>
          <a:solidFill>
            <a:srgbClr val="C88A1E">
              <a:alpha val="75000"/>
            </a:srgbClr>
          </a:solidFill>
          <a:ln w="12700">
            <a:solidFill>
              <a:srgbClr val="FFFFFF">
                <a:alpha val="70000"/>
              </a:srgbClr>
            </a:solidFill>
            <a:prstDash val="solid"/>
          </a:ln>
        </p:spPr>
      </p:sp>
      <p:sp>
        <p:nvSpPr>
          <p:cNvPr id="15" name="Shape 13"/>
          <p:cNvSpPr/>
          <p:nvPr/>
        </p:nvSpPr>
        <p:spPr>
          <a:xfrm>
            <a:off x="9615373" y="4286707"/>
            <a:ext cx="273406" cy="273406"/>
          </a:xfrm>
          <a:prstGeom prst="ellipse">
            <a:avLst/>
          </a:prstGeom>
          <a:solidFill>
            <a:srgbClr val="17958A">
              <a:alpha val="75000"/>
            </a:srgbClr>
          </a:solidFill>
          <a:ln w="12700">
            <a:solidFill>
              <a:srgbClr val="FFFFFF">
                <a:alpha val="70000"/>
              </a:srgbClr>
            </a:solidFill>
            <a:prstDash val="solid"/>
          </a:ln>
        </p:spPr>
      </p:sp>
      <p:sp>
        <p:nvSpPr>
          <p:cNvPr id="16" name="Shape 14"/>
          <p:cNvSpPr/>
          <p:nvPr/>
        </p:nvSpPr>
        <p:spPr>
          <a:xfrm>
            <a:off x="8711032" y="4223614"/>
            <a:ext cx="189281" cy="189281"/>
          </a:xfrm>
          <a:prstGeom prst="ellipse">
            <a:avLst/>
          </a:prstGeom>
          <a:solidFill>
            <a:srgbClr val="C88A1E">
              <a:alpha val="75000"/>
            </a:srgbClr>
          </a:solidFill>
          <a:ln w="12700">
            <a:solidFill>
              <a:srgbClr val="FFFFFF">
                <a:alpha val="70000"/>
              </a:srgbClr>
            </a:solidFill>
            <a:prstDash val="solid"/>
          </a:ln>
        </p:spPr>
      </p:sp>
      <p:sp>
        <p:nvSpPr>
          <p:cNvPr id="17" name="Shape 15"/>
          <p:cNvSpPr/>
          <p:nvPr/>
        </p:nvSpPr>
        <p:spPr>
          <a:xfrm>
            <a:off x="11129620" y="4065880"/>
            <a:ext cx="189281" cy="189281"/>
          </a:xfrm>
          <a:prstGeom prst="ellipse">
            <a:avLst/>
          </a:prstGeom>
          <a:solidFill>
            <a:srgbClr val="17958A">
              <a:alpha val="75000"/>
            </a:srgbClr>
          </a:solidFill>
          <a:ln w="12700">
            <a:solidFill>
              <a:srgbClr val="FFFFFF">
                <a:alpha val="70000"/>
              </a:srgbClr>
            </a:solidFill>
            <a:prstDash val="solid"/>
          </a:ln>
        </p:spPr>
      </p:sp>
      <p:sp>
        <p:nvSpPr>
          <p:cNvPr id="18" name="Shape 16"/>
          <p:cNvSpPr/>
          <p:nvPr/>
        </p:nvSpPr>
        <p:spPr>
          <a:xfrm>
            <a:off x="10666933" y="3129991"/>
            <a:ext cx="273406" cy="273406"/>
          </a:xfrm>
          <a:prstGeom prst="ellipse">
            <a:avLst/>
          </a:prstGeom>
          <a:solidFill>
            <a:srgbClr val="C88A1E">
              <a:alpha val="75000"/>
            </a:srgbClr>
          </a:solidFill>
          <a:ln w="12700">
            <a:solidFill>
              <a:srgbClr val="FFFFFF">
                <a:alpha val="70000"/>
              </a:srgbClr>
            </a:solidFill>
            <a:prstDash val="solid"/>
          </a:ln>
        </p:spPr>
      </p:sp>
      <p:sp>
        <p:nvSpPr>
          <p:cNvPr id="19" name="Text 17"/>
          <p:cNvSpPr/>
          <p:nvPr/>
        </p:nvSpPr>
        <p:spPr>
          <a:xfrm>
            <a:off x="640080" y="1371600"/>
            <a:ext cx="3657600" cy="2011680"/>
          </a:xfrm>
          <a:prstGeom prst="rect">
            <a:avLst/>
          </a:prstGeom>
          <a:noFill/>
          <a:ln/>
        </p:spPr>
        <p:txBody>
          <a:bodyPr wrap="square" rtlCol="0" anchor="ctr"/>
          <a:lstStyle/>
          <a:p>
            <a:pPr algn="l" indent="0" marL="0">
              <a:buNone/>
            </a:pPr>
            <a:r>
              <a:rPr lang="en-US" sz="13000" b="1" dirty="0">
                <a:solidFill>
                  <a:srgbClr val="27476F"/>
                </a:solidFill>
                <a:latin typeface="Cambria" pitchFamily="34" charset="0"/>
                <a:ea typeface="Cambria" pitchFamily="34" charset="-122"/>
                <a:cs typeface="Cambria" pitchFamily="34" charset="-120"/>
              </a:rPr>
              <a:t>05</a:t>
            </a:r>
            <a:endParaRPr lang="en-US" sz="13000" dirty="0"/>
          </a:p>
        </p:txBody>
      </p:sp>
      <p:sp>
        <p:nvSpPr>
          <p:cNvPr id="20" name="Text 18"/>
          <p:cNvSpPr/>
          <p:nvPr/>
        </p:nvSpPr>
        <p:spPr>
          <a:xfrm>
            <a:off x="640080" y="3611880"/>
            <a:ext cx="8778240" cy="1280160"/>
          </a:xfrm>
          <a:prstGeom prst="rect">
            <a:avLst/>
          </a:prstGeom>
          <a:noFill/>
          <a:ln/>
        </p:spPr>
        <p:txBody>
          <a:bodyPr wrap="square" rtlCol="0" anchor="t"/>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Đánh giá, thực hành &amp; tổng kết</a:t>
            </a:r>
            <a:endParaRPr lang="en-US" sz="3800" dirty="0"/>
          </a:p>
        </p:txBody>
      </p:sp>
      <p:sp>
        <p:nvSpPr>
          <p:cNvPr id="21" name="Text 19"/>
          <p:cNvSpPr/>
          <p:nvPr/>
        </p:nvSpPr>
        <p:spPr>
          <a:xfrm>
            <a:off x="640080" y="4892040"/>
            <a:ext cx="8595360" cy="914400"/>
          </a:xfrm>
          <a:prstGeom prst="rect">
            <a:avLst/>
          </a:prstGeom>
          <a:noFill/>
          <a:ln/>
        </p:spPr>
        <p:txBody>
          <a:bodyPr wrap="square" rtlCol="0" anchor="ctr"/>
          <a:lstStyle/>
          <a:p>
            <a:pPr indent="0" marL="0">
              <a:lnSpc>
                <a:spcPct val="115000"/>
              </a:lnSpc>
              <a:buNone/>
            </a:pPr>
            <a:r>
              <a:rPr lang="en-US" sz="1600" dirty="0">
                <a:solidFill>
                  <a:srgbClr val="AFC4E0"/>
                </a:solidFill>
                <a:latin typeface="Calibri" pitchFamily="34" charset="0"/>
                <a:ea typeface="Calibri" pitchFamily="34" charset="-122"/>
                <a:cs typeface="Calibri" pitchFamily="34" charset="-120"/>
              </a:rPr>
              <a:t>Ưu – nhược điểm, khi nào dùng, và bắt tay thực hành với Neo4j.</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ƯU ĐIỂM</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Ưu điểm của Graph Database</a:t>
            </a:r>
            <a:endParaRPr lang="en-US" sz="3200" dirty="0"/>
          </a:p>
        </p:txBody>
      </p:sp>
      <p:sp>
        <p:nvSpPr>
          <p:cNvPr id="5" name="Shape 3"/>
          <p:cNvSpPr/>
          <p:nvPr/>
        </p:nvSpPr>
        <p:spPr>
          <a:xfrm>
            <a:off x="640080" y="2035683"/>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2035683"/>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Truy vấn quan hệ sâu nhanh &amp; ổn định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Nhờ index-free adjacency, duyệt mỗi bước ~ O(1), gần như không phụ thuộc kích thước dữ liệu.</a:t>
            </a:r>
            <a:endParaRPr lang="en-US" sz="1600" dirty="0"/>
          </a:p>
        </p:txBody>
      </p:sp>
      <p:sp>
        <p:nvSpPr>
          <p:cNvPr id="8" name="Shape 6"/>
          <p:cNvSpPr/>
          <p:nvPr/>
        </p:nvSpPr>
        <p:spPr>
          <a:xfrm>
            <a:off x="640080" y="3071241"/>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3071241"/>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910078"/>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Mô hình trực quan, sát thực tế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Node và quan hệ ánh xạ thẳng vào cách con người hình dung bài toán.</a:t>
            </a:r>
            <a:endParaRPr lang="en-US" sz="1600" dirty="0"/>
          </a:p>
        </p:txBody>
      </p:sp>
      <p:sp>
        <p:nvSpPr>
          <p:cNvPr id="11" name="Shape 9"/>
          <p:cNvSpPr/>
          <p:nvPr/>
        </p:nvSpPr>
        <p:spPr>
          <a:xfrm>
            <a:off x="640080" y="4106799"/>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4106799"/>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945636"/>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Lược đồ linh hoạt, dễ tiến hóa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Thêm nhãn, thuộc tính hay quan hệ mới mà không phải đổi một schema cứng.</a:t>
            </a:r>
            <a:endParaRPr lang="en-US" sz="1600" dirty="0"/>
          </a:p>
        </p:txBody>
      </p:sp>
      <p:sp>
        <p:nvSpPr>
          <p:cNvPr id="14" name="Shape 12"/>
          <p:cNvSpPr/>
          <p:nvPr/>
        </p:nvSpPr>
        <p:spPr>
          <a:xfrm>
            <a:off x="640080" y="5142357"/>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5142357"/>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981194"/>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Cypher biểu đạt mạnh, ngắn gọn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Diễn tả 'hình dạng' quan hệ bằng vài dòng thay cho chuỗi JOIN phức tạp.</a:t>
            </a:r>
            <a:endParaRPr lang="en-US" sz="1600" dirty="0"/>
          </a:p>
        </p:txBody>
      </p:sp>
      <p:sp>
        <p:nvSpPr>
          <p:cNvPr id="17" name="Text 15"/>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8" name="Text 16"/>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HẠN CHẾ</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Nhược điểm &amp; lưu ý khi dùng</a:t>
            </a:r>
            <a:endParaRPr lang="en-US" sz="3200" dirty="0"/>
          </a:p>
        </p:txBody>
      </p:sp>
      <p:sp>
        <p:nvSpPr>
          <p:cNvPr id="5" name="Shape 3"/>
          <p:cNvSpPr/>
          <p:nvPr/>
        </p:nvSpPr>
        <p:spPr>
          <a:xfrm>
            <a:off x="640080" y="2035683"/>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6" name="Text 4"/>
          <p:cNvSpPr/>
          <p:nvPr/>
        </p:nvSpPr>
        <p:spPr>
          <a:xfrm>
            <a:off x="640080" y="2035683"/>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874520"/>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Không tối ưu cho analytics toàn bảng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Tổng hợp kiểu OLAP quét toàn bộ dữ liệu hợp với CSDL quan hệ hoặc kho dữ liệu hơn.</a:t>
            </a:r>
            <a:endParaRPr lang="en-US" sz="1600" dirty="0"/>
          </a:p>
        </p:txBody>
      </p:sp>
      <p:sp>
        <p:nvSpPr>
          <p:cNvPr id="8" name="Shape 6"/>
          <p:cNvSpPr/>
          <p:nvPr/>
        </p:nvSpPr>
        <p:spPr>
          <a:xfrm>
            <a:off x="640080" y="3071241"/>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9" name="Text 7"/>
          <p:cNvSpPr/>
          <p:nvPr/>
        </p:nvSpPr>
        <p:spPr>
          <a:xfrm>
            <a:off x="640080" y="3071241"/>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508760" y="2910078"/>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Ít phổ biến hơn SQL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Đường học tập dốc hơn; nhân lực, thư viện và công cụ chưa nhiều bằng hệ quan hệ.</a:t>
            </a:r>
            <a:endParaRPr lang="en-US" sz="1600" dirty="0"/>
          </a:p>
        </p:txBody>
      </p:sp>
      <p:sp>
        <p:nvSpPr>
          <p:cNvPr id="11" name="Shape 9"/>
          <p:cNvSpPr/>
          <p:nvPr/>
        </p:nvSpPr>
        <p:spPr>
          <a:xfrm>
            <a:off x="640080" y="4106799"/>
            <a:ext cx="603504" cy="603504"/>
          </a:xfrm>
          <a:prstGeom prst="ellipse">
            <a:avLst/>
          </a:prstGeom>
          <a:solidFill>
            <a:srgbClr val="2E6DB4"/>
          </a:solidFill>
          <a:ln/>
          <a:effectLst>
            <a:outerShdw sx="100000" sy="100000" kx="0" ky="0" algn="bl" rotWithShape="0" blurRad="76200" dist="25400" dir="5400000">
              <a:srgbClr val="9FB2CC">
                <a:alpha val="28000"/>
              </a:srgbClr>
            </a:outerShdw>
          </a:effectLst>
        </p:spPr>
      </p:sp>
      <p:sp>
        <p:nvSpPr>
          <p:cNvPr id="12" name="Text 10"/>
          <p:cNvSpPr/>
          <p:nvPr/>
        </p:nvSpPr>
        <p:spPr>
          <a:xfrm>
            <a:off x="640080" y="4106799"/>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508760" y="3945636"/>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Mở rộng phân tán khó hơn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Sharding đồ thị phức tạp vì một quan hệ có thể cắt ngang nhiều máy chủ.</a:t>
            </a:r>
            <a:endParaRPr lang="en-US" sz="1600" dirty="0"/>
          </a:p>
        </p:txBody>
      </p:sp>
      <p:sp>
        <p:nvSpPr>
          <p:cNvPr id="14" name="Shape 12"/>
          <p:cNvSpPr/>
          <p:nvPr/>
        </p:nvSpPr>
        <p:spPr>
          <a:xfrm>
            <a:off x="640080" y="5142357"/>
            <a:ext cx="603504" cy="603504"/>
          </a:xfrm>
          <a:prstGeom prst="ellipse">
            <a:avLst/>
          </a:prstGeom>
          <a:solidFill>
            <a:srgbClr val="17958A"/>
          </a:solidFill>
          <a:ln/>
          <a:effectLst>
            <a:outerShdw sx="100000" sy="100000" kx="0" ky="0" algn="bl" rotWithShape="0" blurRad="76200" dist="25400" dir="5400000">
              <a:srgbClr val="9FB2CC">
                <a:alpha val="28000"/>
              </a:srgbClr>
            </a:outerShdw>
          </a:effectLst>
        </p:spPr>
      </p:sp>
      <p:sp>
        <p:nvSpPr>
          <p:cNvPr id="15" name="Text 13"/>
          <p:cNvSpPr/>
          <p:nvPr/>
        </p:nvSpPr>
        <p:spPr>
          <a:xfrm>
            <a:off x="640080" y="5142357"/>
            <a:ext cx="603504" cy="603504"/>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p:nvPr/>
        </p:nvSpPr>
        <p:spPr>
          <a:xfrm>
            <a:off x="1508760" y="4981194"/>
            <a:ext cx="9951415" cy="925830"/>
          </a:xfrm>
          <a:prstGeom prst="rect">
            <a:avLst/>
          </a:prstGeom>
          <a:noFill/>
          <a:ln/>
        </p:spPr>
        <p:txBody>
          <a:bodyPr wrap="square" lIns="0" tIns="0" rIns="0" bIns="0" rtlCol="0" anchor="ctr"/>
          <a:lstStyle/>
          <a:p>
            <a:pPr indent="0" marL="0">
              <a:lnSpc>
                <a:spcPct val="105000"/>
              </a:lnSpc>
              <a:buNone/>
            </a:pPr>
            <a:r>
              <a:rPr lang="en-US" sz="1600" b="1" dirty="0">
                <a:solidFill>
                  <a:srgbClr val="12305B"/>
                </a:solidFill>
                <a:latin typeface="Calibri" pitchFamily="34" charset="0"/>
                <a:ea typeface="Calibri" pitchFamily="34" charset="-122"/>
                <a:cs typeface="Calibri" pitchFamily="34" charset="-120"/>
              </a:rPr>
              <a:t>Không thay thế mọi CSDL
</a:t>
            </a:r>
            <a:endParaRPr lang="en-US" sz="1600" dirty="0"/>
          </a:p>
          <a:p>
            <a:pPr indent="0" marL="0">
              <a:lnSpc>
                <a:spcPct val="105000"/>
              </a:lnSpc>
              <a:buNone/>
            </a:pPr>
            <a:r>
              <a:rPr lang="en-US" sz="1300" dirty="0">
                <a:solidFill>
                  <a:srgbClr val="56657E"/>
                </a:solidFill>
                <a:latin typeface="Calibri" pitchFamily="34" charset="0"/>
                <a:ea typeface="Calibri" pitchFamily="34" charset="-122"/>
                <a:cs typeface="Calibri" pitchFamily="34" charset="-120"/>
              </a:rPr>
              <a:t>Là công cụ chuyên biệt — cần chọn đúng bài toán mới phát huy hiệu quả.</a:t>
            </a:r>
            <a:endParaRPr lang="en-US" sz="1600" dirty="0"/>
          </a:p>
        </p:txBody>
      </p:sp>
      <p:sp>
        <p:nvSpPr>
          <p:cNvPr id="17" name="Text 15"/>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8" name="Text 16"/>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QUYẾT ĐỊNH</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Khi nào chọn đồ thị, khi nào chọn quan hệ</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6400800"/>
                <a:gridCol w="448056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Tình huống</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Nên dùng</a:t>
                      </a:r>
                      <a:endParaRPr lang="en-US" sz="13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12305B"/>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Truy vấn quan hệ nhiều bước, sâu</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Đồ thị</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Gợi ý, mạng lưới, phát hiện gian lận</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Đồ thị</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Giao dịch tài chính chuẩn hóa</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Quan hệ</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Báo cáo tổng hợp lớn (OLAP)</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Kho dữ liệu / Quan hệ</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EEF3FA"/>
                    </a:solidFill>
                  </a:tcPr>
                </a:tc>
              </a:tr>
              <a:tr h="457200">
                <a:tc>
                  <a:txBody>
                    <a:bodyPr/>
                    <a:lstStyle/>
                    <a:p>
                      <a:pPr algn="l" indent="0" marL="0">
                        <a:buNone/>
                      </a:pPr>
                      <a:r>
                        <a:rPr lang="en-US" sz="1250" b="1" dirty="0">
                          <a:solidFill>
                            <a:srgbClr val="12305B"/>
                          </a:solidFill>
                          <a:latin typeface="Calibri" pitchFamily="34" charset="0"/>
                          <a:ea typeface="Calibri" pitchFamily="34" charset="-122"/>
                          <a:cs typeface="Calibri" pitchFamily="34" charset="-120"/>
                        </a:rPr>
                        <a:t>Dữ liệu bảng đơn giản, ít liên kết</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B"/>
                          </a:solidFill>
                          <a:latin typeface="Calibri" pitchFamily="34" charset="0"/>
                          <a:ea typeface="Calibri" pitchFamily="34" charset="-122"/>
                          <a:cs typeface="Calibri" pitchFamily="34" charset="-120"/>
                        </a:rPr>
                        <a:t>Quan hệ</a:t>
                      </a:r>
                      <a:endParaRPr lang="en-US" sz="1250" dirty="0">
                        <a:latin typeface="Calibri" charset="0"/>
                        <a:ea typeface="Calibri" charset="0"/>
                        <a:cs typeface="Calibri" charset="0"/>
                      </a:endParaRPr>
                    </a:p>
                  </a:txBody>
                  <a:tcPr marL="76200" marR="76200" marT="38100" marB="38100" anchor="ctr">
                    <a:lnL w="12700" cap="flat" cmpd="sng" algn="ctr">
                      <a:solidFill>
                        <a:srgbClr val="C9D6E8"/>
                      </a:solidFill>
                      <a:prstDash val="solid"/>
                      <a:round/>
                      <a:headEnd type="none" w="med" len="med"/>
                      <a:tailEnd type="none" w="med" len="med"/>
                    </a:lnL>
                    <a:lnR w="12700" cap="flat" cmpd="sng" algn="ctr">
                      <a:solidFill>
                        <a:srgbClr val="C9D6E8"/>
                      </a:solidFill>
                      <a:prstDash val="solid"/>
                      <a:round/>
                      <a:headEnd type="none" w="med" len="med"/>
                      <a:tailEnd type="none" w="med" len="med"/>
                    </a:lnR>
                    <a:lnT w="12700" cap="flat" cmpd="sng" algn="ctr">
                      <a:solidFill>
                        <a:srgbClr val="C9D6E8"/>
                      </a:solidFill>
                      <a:prstDash val="solid"/>
                      <a:round/>
                      <a:headEnd type="none" w="med" len="med"/>
                      <a:tailEnd type="none" w="med" len="med"/>
                    </a:lnT>
                    <a:lnB w="12700" cap="flat" cmpd="sng" algn="ctr">
                      <a:solidFill>
                        <a:srgbClr val="C9D6E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989320"/>
            <a:ext cx="10911535" cy="365760"/>
          </a:xfrm>
          <a:prstGeom prst="rect">
            <a:avLst/>
          </a:prstGeom>
          <a:noFill/>
          <a:ln/>
        </p:spPr>
        <p:txBody>
          <a:bodyPr wrap="square" rtlCol="0" anchor="ctr"/>
          <a:lstStyle/>
          <a:p>
            <a:pPr indent="0" marL="0">
              <a:buNone/>
            </a:pPr>
            <a:r>
              <a:rPr lang="en-US" sz="1200" i="1" dirty="0">
                <a:solidFill>
                  <a:srgbClr val="56657E"/>
                </a:solidFill>
                <a:latin typeface="Calibri" pitchFamily="34" charset="0"/>
                <a:ea typeface="Calibri" pitchFamily="34" charset="-122"/>
                <a:cs typeface="Calibri" pitchFamily="34" charset="-120"/>
              </a:rPr>
              <a:t>Nhiều hệ thực tế kết hợp cả hai — 'polyglot persistence': mỗi loại dữ liệu dùng đúng công cụ.</a:t>
            </a:r>
            <a:endParaRPr lang="en-US" sz="1200" dirty="0"/>
          </a:p>
        </p:txBody>
      </p:sp>
      <p:sp>
        <p:nvSpPr>
          <p:cNvPr id="7" name="Text 4"/>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8" name="Text 5"/>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HIỆU NĂNG</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Index-free adjacency — vì sao đồ thị nhanh</a:t>
            </a:r>
            <a:endParaRPr lang="en-US" sz="3200" dirty="0"/>
          </a:p>
        </p:txBody>
      </p:sp>
      <p:sp>
        <p:nvSpPr>
          <p:cNvPr id="5" name="Text 3"/>
          <p:cNvSpPr/>
          <p:nvPr/>
        </p:nvSpPr>
        <p:spPr>
          <a:xfrm>
            <a:off x="640080" y="1920240"/>
            <a:ext cx="5029200" cy="4023360"/>
          </a:xfrm>
          <a:prstGeom prst="rect">
            <a:avLst/>
          </a:prstGeom>
          <a:noFill/>
          <a:ln/>
        </p:spPr>
        <p:txBody>
          <a:bodyPr wrap="square" lIns="0" tIns="0" rIns="0" bIns="0" rtlCol="0" anchor="t"/>
          <a:lstStyle/>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Con trỏ trực tiếp</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Mỗi node lưu sẵn con trỏ tới node kề, không qua bảng tra cứu.</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Duyệt 1 bước ~ O(1)</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Chi phí gần như không phụ thuộc tổng số bản ghi trong CSDL.</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RDBMS ~ O(log n) mỗi bước</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Mỗi JOIN phải tra index; càng nhiều bảng càng chậm.</a:t>
            </a:r>
            <a:endParaRPr lang="en-US" sz="1450" dirty="0"/>
          </a:p>
          <a:p>
            <a:pPr marL="228600" indent="-228600">
              <a:spcAft>
                <a:spcPts val="200"/>
              </a:spcAft>
              <a:buSzPct val="100000"/>
              <a:buChar char="•"/>
            </a:pPr>
            <a:r>
              <a:rPr lang="en-US" sz="1450" b="1" dirty="0">
                <a:solidFill>
                  <a:srgbClr val="1B2A3B"/>
                </a:solidFill>
                <a:latin typeface="Calibri" pitchFamily="34" charset="0"/>
                <a:ea typeface="Calibri" pitchFamily="34" charset="-122"/>
                <a:cs typeface="Calibri" pitchFamily="34" charset="-120"/>
              </a:rPr>
              <a:t>Càng sâu, đồ thị càng thắng</a:t>
            </a:r>
            <a:endParaRPr lang="en-US" sz="1450" dirty="0"/>
          </a:p>
          <a:p>
            <a:pPr lvl="1" indent="0" marL="0">
              <a:spcAft>
                <a:spcPts val="1000"/>
              </a:spcAft>
              <a:buNone/>
            </a:pPr>
            <a:r>
              <a:rPr lang="en-US" sz="1250" dirty="0">
                <a:solidFill>
                  <a:srgbClr val="56657E"/>
                </a:solidFill>
                <a:latin typeface="Calibri" pitchFamily="34" charset="0"/>
                <a:ea typeface="Calibri" pitchFamily="34" charset="-122"/>
                <a:cs typeface="Calibri" pitchFamily="34" charset="-120"/>
              </a:rPr>
              <a:t>Lợi thế tăng theo độ sâu của chuỗi quan hệ.</a:t>
            </a:r>
            <a:endParaRPr lang="en-US" sz="1450" dirty="0"/>
          </a:p>
        </p:txBody>
      </p:sp>
      <p:sp>
        <p:nvSpPr>
          <p:cNvPr id="6" name="Shape 4"/>
          <p:cNvSpPr/>
          <p:nvPr/>
        </p:nvSpPr>
        <p:spPr>
          <a:xfrm>
            <a:off x="5715000" y="1737360"/>
            <a:ext cx="6217920" cy="4389120"/>
          </a:xfrm>
          <a:prstGeom prst="roundRect">
            <a:avLst>
              <a:gd name="adj" fmla="val 1250"/>
            </a:avLst>
          </a:prstGeom>
          <a:solidFill>
            <a:srgbClr val="EEF3FA"/>
          </a:solidFill>
          <a:ln w="12700">
            <a:solidFill>
              <a:srgbClr val="C9D6E8"/>
            </a:solidFill>
            <a:prstDash val="solid"/>
          </a:ln>
        </p:spPr>
      </p:sp>
      <p:sp>
        <p:nvSpPr>
          <p:cNvPr id="7" name="Shape 5"/>
          <p:cNvSpPr/>
          <p:nvPr/>
        </p:nvSpPr>
        <p:spPr>
          <a:xfrm>
            <a:off x="7351776" y="3931920"/>
            <a:ext cx="548640" cy="914"/>
          </a:xfrm>
          <a:prstGeom prst="line">
            <a:avLst/>
          </a:prstGeom>
          <a:noFill/>
          <a:ln w="22225">
            <a:solidFill>
              <a:srgbClr val="17958A"/>
            </a:solidFill>
            <a:prstDash val="solid"/>
            <a:tailEnd type="triangle"/>
          </a:ln>
        </p:spPr>
      </p:sp>
      <p:sp>
        <p:nvSpPr>
          <p:cNvPr id="8" name="Shape 6"/>
          <p:cNvSpPr/>
          <p:nvPr/>
        </p:nvSpPr>
        <p:spPr>
          <a:xfrm>
            <a:off x="8540496" y="3931920"/>
            <a:ext cx="548640" cy="914"/>
          </a:xfrm>
          <a:prstGeom prst="line">
            <a:avLst/>
          </a:prstGeom>
          <a:noFill/>
          <a:ln w="22225">
            <a:solidFill>
              <a:srgbClr val="17958A"/>
            </a:solidFill>
            <a:prstDash val="solid"/>
            <a:tailEnd type="triangle"/>
          </a:ln>
        </p:spPr>
      </p:sp>
      <p:sp>
        <p:nvSpPr>
          <p:cNvPr id="9" name="Shape 7"/>
          <p:cNvSpPr/>
          <p:nvPr/>
        </p:nvSpPr>
        <p:spPr>
          <a:xfrm>
            <a:off x="9729216" y="3931920"/>
            <a:ext cx="548640" cy="914"/>
          </a:xfrm>
          <a:prstGeom prst="line">
            <a:avLst/>
          </a:prstGeom>
          <a:noFill/>
          <a:ln w="22225">
            <a:solidFill>
              <a:srgbClr val="17958A"/>
            </a:solidFill>
            <a:prstDash val="solid"/>
            <a:tailEnd type="triangle"/>
          </a:ln>
        </p:spPr>
      </p:sp>
      <p:sp>
        <p:nvSpPr>
          <p:cNvPr id="10" name="Shape 8"/>
          <p:cNvSpPr/>
          <p:nvPr/>
        </p:nvSpPr>
        <p:spPr>
          <a:xfrm>
            <a:off x="6757416" y="3648456"/>
            <a:ext cx="566928" cy="566928"/>
          </a:xfrm>
          <a:prstGeom prst="ellipse">
            <a:avLst/>
          </a:prstGeom>
          <a:solidFill>
            <a:srgbClr val="12305B"/>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1" name="Text 9"/>
          <p:cNvSpPr/>
          <p:nvPr/>
        </p:nvSpPr>
        <p:spPr>
          <a:xfrm>
            <a:off x="6437376" y="36576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An</a:t>
            </a:r>
            <a:endParaRPr lang="en-US" sz="1050" dirty="0"/>
          </a:p>
        </p:txBody>
      </p:sp>
      <p:sp>
        <p:nvSpPr>
          <p:cNvPr id="12" name="Shape 10"/>
          <p:cNvSpPr/>
          <p:nvPr/>
        </p:nvSpPr>
        <p:spPr>
          <a:xfrm>
            <a:off x="7946136" y="3648456"/>
            <a:ext cx="566928" cy="566928"/>
          </a:xfrm>
          <a:prstGeom prst="ellipse">
            <a:avLst/>
          </a:prstGeom>
          <a:solidFill>
            <a:srgbClr val="2E6DB4"/>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3" name="Text 11"/>
          <p:cNvSpPr/>
          <p:nvPr/>
        </p:nvSpPr>
        <p:spPr>
          <a:xfrm>
            <a:off x="7626096" y="36576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Bình</a:t>
            </a:r>
            <a:endParaRPr lang="en-US" sz="1050" dirty="0"/>
          </a:p>
        </p:txBody>
      </p:sp>
      <p:sp>
        <p:nvSpPr>
          <p:cNvPr id="14" name="Shape 12"/>
          <p:cNvSpPr/>
          <p:nvPr/>
        </p:nvSpPr>
        <p:spPr>
          <a:xfrm>
            <a:off x="9134856" y="3648456"/>
            <a:ext cx="566928" cy="566928"/>
          </a:xfrm>
          <a:prstGeom prst="ellipse">
            <a:avLst/>
          </a:prstGeom>
          <a:solidFill>
            <a:srgbClr val="17958A"/>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5" name="Text 13"/>
          <p:cNvSpPr/>
          <p:nvPr/>
        </p:nvSpPr>
        <p:spPr>
          <a:xfrm>
            <a:off x="8814816" y="36576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Chi</a:t>
            </a:r>
            <a:endParaRPr lang="en-US" sz="1050" dirty="0"/>
          </a:p>
        </p:txBody>
      </p:sp>
      <p:sp>
        <p:nvSpPr>
          <p:cNvPr id="16" name="Shape 14"/>
          <p:cNvSpPr/>
          <p:nvPr/>
        </p:nvSpPr>
        <p:spPr>
          <a:xfrm>
            <a:off x="10323576" y="3648456"/>
            <a:ext cx="566928" cy="566928"/>
          </a:xfrm>
          <a:prstGeom prst="ellipse">
            <a:avLst/>
          </a:prstGeom>
          <a:solidFill>
            <a:srgbClr val="C88A1E"/>
          </a:solidFill>
          <a:ln w="25400">
            <a:solidFill>
              <a:srgbClr val="FFFFFF"/>
            </a:solidFill>
            <a:prstDash val="solid"/>
          </a:ln>
          <a:effectLst>
            <a:outerShdw sx="100000" sy="100000" kx="0" ky="0" algn="bl" rotWithShape="0" blurRad="76200" dist="25400" dir="5400000">
              <a:srgbClr val="9FB2CC">
                <a:alpha val="28000"/>
              </a:srgbClr>
            </a:outerShdw>
          </a:effectLst>
        </p:spPr>
      </p:sp>
      <p:sp>
        <p:nvSpPr>
          <p:cNvPr id="17" name="Text 15"/>
          <p:cNvSpPr/>
          <p:nvPr/>
        </p:nvSpPr>
        <p:spPr>
          <a:xfrm>
            <a:off x="10003536" y="3657600"/>
            <a:ext cx="1207008" cy="548640"/>
          </a:xfrm>
          <a:prstGeom prst="rect">
            <a:avLst/>
          </a:prstGeom>
          <a:noFill/>
          <a:ln/>
        </p:spPr>
        <p:txBody>
          <a:bodyPr wrap="square" rtlCol="0" anchor="ctr"/>
          <a:lstStyle/>
          <a:p>
            <a:pPr algn="ctr" indent="0" marL="0">
              <a:lnSpc>
                <a:spcPct val="90000"/>
              </a:lnSpc>
              <a:buNone/>
            </a:pPr>
            <a:r>
              <a:rPr lang="en-US" sz="1050" b="1" dirty="0">
                <a:solidFill>
                  <a:srgbClr val="FFFFFF"/>
                </a:solidFill>
                <a:latin typeface="Calibri" pitchFamily="34" charset="0"/>
                <a:ea typeface="Calibri" pitchFamily="34" charset="-122"/>
                <a:cs typeface="Calibri" pitchFamily="34" charset="-120"/>
              </a:rPr>
              <a:t>Dũng</a:t>
            </a:r>
            <a:endParaRPr lang="en-US" sz="1050" dirty="0"/>
          </a:p>
        </p:txBody>
      </p:sp>
      <p:sp>
        <p:nvSpPr>
          <p:cNvPr id="18" name="Text 16"/>
          <p:cNvSpPr/>
          <p:nvPr/>
        </p:nvSpPr>
        <p:spPr>
          <a:xfrm>
            <a:off x="5715000" y="6144768"/>
            <a:ext cx="6217920" cy="274320"/>
          </a:xfrm>
          <a:prstGeom prst="rect">
            <a:avLst/>
          </a:prstGeom>
          <a:noFill/>
          <a:ln/>
        </p:spPr>
        <p:txBody>
          <a:bodyPr wrap="square" rtlCol="0" anchor="ctr"/>
          <a:lstStyle/>
          <a:p>
            <a:pPr algn="ctr" indent="0" marL="0">
              <a:buNone/>
            </a:pPr>
            <a:r>
              <a:rPr lang="en-US" sz="1050" i="1" dirty="0">
                <a:solidFill>
                  <a:srgbClr val="56657E"/>
                </a:solidFill>
                <a:latin typeface="Calibri" pitchFamily="34" charset="0"/>
                <a:ea typeface="Calibri" pitchFamily="34" charset="-122"/>
                <a:cs typeface="Calibri" pitchFamily="34" charset="-120"/>
              </a:rPr>
              <a:t>Mỗi nút giữ sẵn con trỏ tới nút kề — đi tiếp 1 bước không cần tra index.</a:t>
            </a:r>
            <a:endParaRPr lang="en-US" sz="1050" dirty="0"/>
          </a:p>
        </p:txBody>
      </p:sp>
      <p:sp>
        <p:nvSpPr>
          <p:cNvPr id="19" name="Text 17"/>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0" name="Text 18"/>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THỰC HÀNH</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Mini project đề xuất</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500" i="1" dirty="0">
                <a:solidFill>
                  <a:srgbClr val="56657E"/>
                </a:solidFill>
                <a:latin typeface="Calibri" pitchFamily="34" charset="0"/>
                <a:ea typeface="Calibri" pitchFamily="34" charset="-122"/>
                <a:cs typeface="Calibri" pitchFamily="34" charset="-120"/>
              </a:rPr>
              <a:t>Xây một 'mạng xã hội mini' trên Neo4j Sandbox rồi tự đặt câu hỏi bằng Cypher.</a:t>
            </a:r>
            <a:endParaRPr lang="en-US" sz="1500" dirty="0"/>
          </a:p>
        </p:txBody>
      </p:sp>
      <p:sp>
        <p:nvSpPr>
          <p:cNvPr id="6" name="Text 4"/>
          <p:cNvSpPr/>
          <p:nvPr/>
        </p:nvSpPr>
        <p:spPr>
          <a:xfrm>
            <a:off x="640080" y="233172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Tạo dữ liệu</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Tạo 8–10 node :Person và các quan hệ :FRIEND tùy ý.</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Bạn chung</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Tìm bạn chung giữa hai người bất kỳ trong mạng.</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Gợi ý kết bạn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Đề xuất bạn-của-bạn nhưng chưa phải là bạn trực tiếp.</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Người nhiều bạn nhất</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Đếm và xếp hạng số quan hệ FRIEND của mỗi người.</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Đường nối hai người</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Tìm đường đi ngắn nhất giữa hai node bất kỳ.</a:t>
            </a:r>
            <a:endParaRPr lang="en-US" sz="1550" dirty="0"/>
          </a:p>
        </p:txBody>
      </p:sp>
      <p:sp>
        <p:nvSpPr>
          <p:cNvPr id="7" name="Shape 5"/>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8" name="Shape 6"/>
          <p:cNvSpPr/>
          <p:nvPr/>
        </p:nvSpPr>
        <p:spPr>
          <a:xfrm>
            <a:off x="822960" y="5943600"/>
            <a:ext cx="292608" cy="292608"/>
          </a:xfrm>
          <a:prstGeom prst="ellipse">
            <a:avLst/>
          </a:prstGeom>
          <a:solidFill>
            <a:srgbClr val="C88A1E"/>
          </a:solidFill>
          <a:ln/>
        </p:spPr>
      </p:sp>
      <p:sp>
        <p:nvSpPr>
          <p:cNvPr id="9" name="Text 7"/>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0" name="Text 8"/>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Học bằng cách làm — mỗi truy vấn là một câu hỏi thực tế về mạng lưới.</a:t>
            </a:r>
            <a:endParaRPr lang="en-US" sz="1300" dirty="0"/>
          </a:p>
        </p:txBody>
      </p:sp>
      <p:sp>
        <p:nvSpPr>
          <p:cNvPr id="11" name="Text 9"/>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2" name="Text 10"/>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BÀI TẬP</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Thử sức với Cypher</a:t>
            </a:r>
            <a:endParaRPr lang="en-US" sz="3200" dirty="0"/>
          </a:p>
        </p:txBody>
      </p:sp>
      <p:sp>
        <p:nvSpPr>
          <p:cNvPr id="5" name="Text 3"/>
          <p:cNvSpPr/>
          <p:nvPr/>
        </p:nvSpPr>
        <p:spPr>
          <a:xfrm>
            <a:off x="640080" y="1783080"/>
            <a:ext cx="10911535" cy="457200"/>
          </a:xfrm>
          <a:prstGeom prst="rect">
            <a:avLst/>
          </a:prstGeom>
          <a:noFill/>
          <a:ln/>
        </p:spPr>
        <p:txBody>
          <a:bodyPr wrap="square" rtlCol="0" anchor="ctr"/>
          <a:lstStyle/>
          <a:p>
            <a:pPr indent="0" marL="0">
              <a:buNone/>
            </a:pPr>
            <a:r>
              <a:rPr lang="en-US" sz="1450" i="1" dirty="0">
                <a:solidFill>
                  <a:srgbClr val="56657E"/>
                </a:solidFill>
                <a:latin typeface="Calibri" pitchFamily="34" charset="0"/>
                <a:ea typeface="Calibri" pitchFamily="34" charset="-122"/>
                <a:cs typeface="Calibri" pitchFamily="34" charset="-120"/>
              </a:rPr>
              <a:t>Chạy trên Neo4j Sandbox; câu (1)(2) làm mẫu, tự hoàn thiện (3) và (4).</a:t>
            </a:r>
            <a:endParaRPr lang="en-US" sz="1450" dirty="0"/>
          </a:p>
        </p:txBody>
      </p:sp>
      <p:sp>
        <p:nvSpPr>
          <p:cNvPr id="6" name="Shape 4"/>
          <p:cNvSpPr/>
          <p:nvPr/>
        </p:nvSpPr>
        <p:spPr>
          <a:xfrm>
            <a:off x="640080" y="2331720"/>
            <a:ext cx="10911535" cy="3383280"/>
          </a:xfrm>
          <a:prstGeom prst="roundRect">
            <a:avLst>
              <a:gd name="adj" fmla="val 1892"/>
            </a:avLst>
          </a:prstGeom>
          <a:solidFill>
            <a:srgbClr val="0E1E33"/>
          </a:solidFill>
          <a:ln/>
          <a:effectLst>
            <a:outerShdw sx="100000" sy="100000" kx="0" ky="0" algn="bl" rotWithShape="0" blurRad="76200" dist="25400" dir="5400000">
              <a:srgbClr val="9FB2CC">
                <a:alpha val="28000"/>
              </a:srgbClr>
            </a:outerShdw>
          </a:effectLst>
        </p:spPr>
      </p:sp>
      <p:sp>
        <p:nvSpPr>
          <p:cNvPr id="7" name="Text 5"/>
          <p:cNvSpPr/>
          <p:nvPr/>
        </p:nvSpPr>
        <p:spPr>
          <a:xfrm>
            <a:off x="841248" y="2459736"/>
            <a:ext cx="10545775" cy="274320"/>
          </a:xfrm>
          <a:prstGeom prst="rect">
            <a:avLst/>
          </a:prstGeom>
          <a:noFill/>
          <a:ln/>
        </p:spPr>
        <p:txBody>
          <a:bodyPr wrap="square" rtlCol="0" anchor="ctr"/>
          <a:lstStyle/>
          <a:p>
            <a:pPr indent="0" marL="0">
              <a:buNone/>
            </a:pPr>
            <a:r>
              <a:rPr lang="en-US" sz="1200" b="1" dirty="0">
                <a:solidFill>
                  <a:srgbClr val="E7C468"/>
                </a:solidFill>
                <a:latin typeface="Calibri" pitchFamily="34" charset="0"/>
                <a:ea typeface="Calibri" pitchFamily="34" charset="-122"/>
                <a:cs typeface="Calibri" pitchFamily="34" charset="-120"/>
              </a:rPr>
              <a:t>Bai tap</a:t>
            </a:r>
            <a:endParaRPr lang="en-US" sz="1200" dirty="0"/>
          </a:p>
        </p:txBody>
      </p:sp>
      <p:sp>
        <p:nvSpPr>
          <p:cNvPr id="8" name="Shape 6"/>
          <p:cNvSpPr/>
          <p:nvPr/>
        </p:nvSpPr>
        <p:spPr>
          <a:xfrm>
            <a:off x="841248" y="2770632"/>
            <a:ext cx="10509199" cy="0"/>
          </a:xfrm>
          <a:prstGeom prst="line">
            <a:avLst/>
          </a:prstGeom>
          <a:noFill/>
          <a:ln w="12700">
            <a:solidFill>
              <a:srgbClr val="26507F"/>
            </a:solidFill>
            <a:prstDash val="solid"/>
          </a:ln>
        </p:spPr>
      </p:sp>
      <p:sp>
        <p:nvSpPr>
          <p:cNvPr id="9" name="Text 7"/>
          <p:cNvSpPr/>
          <p:nvPr/>
        </p:nvSpPr>
        <p:spPr>
          <a:xfrm>
            <a:off x="841248" y="2880360"/>
            <a:ext cx="10545775" cy="2706624"/>
          </a:xfrm>
          <a:prstGeom prst="rect">
            <a:avLst/>
          </a:prstGeom>
          <a:noFill/>
          <a:ln/>
        </p:spPr>
        <p:txBody>
          <a:bodyPr wrap="square" lIns="0" tIns="0" rIns="0" bIns="0" rtlCol="0" anchor="t"/>
          <a:lstStyle/>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1) Tao 3 Person + quan he FRIEND tuy y</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CREATE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pPr algn="l" indent="0" marL="0">
              <a:lnSpc>
                <a:spcPct val="106000"/>
              </a:lnSpc>
              <a:buNone/>
            </a:pPr>
            <a:r>
              <a:rPr lang="en-US" sz="1250" dirty="0">
                <a:solidFill>
                  <a:srgbClr val="8FD0C7"/>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'Binh'</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CREATE</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b</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 </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2) Tim tat ca ban cua 'An'  (mau)</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MATCH</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Person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84D2BE"/>
                </a:solidFill>
                <a:latin typeface="Consolas" pitchFamily="34" charset="0"/>
                <a:ea typeface="Consolas" pitchFamily="34" charset="-122"/>
                <a:cs typeface="Consolas" pitchFamily="34" charset="-120"/>
              </a:rPr>
              <a:t>'An'</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FRIEND</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]-&gt;(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b="1" dirty="0">
                <a:solidFill>
                  <a:srgbClr val="E6B94A"/>
                </a:solidFill>
                <a:latin typeface="Consolas" pitchFamily="34" charset="0"/>
                <a:ea typeface="Consolas" pitchFamily="34" charset="-122"/>
                <a:cs typeface="Consolas" pitchFamily="34" charset="-120"/>
              </a:rPr>
              <a:t>RETURN</a:t>
            </a:r>
            <a:pPr algn="l" indent="0" marL="0">
              <a:lnSpc>
                <a:spcPct val="106000"/>
              </a:lnSpc>
              <a:buNone/>
            </a:pPr>
            <a:r>
              <a:rPr lang="en-US" sz="1250" dirty="0">
                <a:solidFill>
                  <a:srgbClr val="000000"/>
                </a:solidFill>
                <a:latin typeface="Consolas" pitchFamily="34" charset="0"/>
                <a:ea typeface="Consolas" pitchFamily="34" charset="-122"/>
                <a:cs typeface="Consolas" pitchFamily="34" charset="-120"/>
              </a:rPr>
              <a:t> </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f</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name</a:t>
            </a:r>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a:t>
            </a:r>
            <a:endParaRPr lang="en-US" sz="1250" dirty="0"/>
          </a:p>
          <a:p>
            <a:pPr algn="l" indent="0" marL="0">
              <a:lnSpc>
                <a:spcPct val="106000"/>
              </a:lnSpc>
              <a:buNone/>
            </a:pPr>
            <a:r>
              <a:rPr lang="en-US" sz="1250" dirty="0">
                <a:solidFill>
                  <a:srgbClr val="D7E3F4"/>
                </a:solidFill>
                <a:latin typeface="Consolas" pitchFamily="34" charset="0"/>
                <a:ea typeface="Consolas" pitchFamily="34" charset="-122"/>
                <a:cs typeface="Consolas" pitchFamily="34" charset="-120"/>
              </a:rPr>
              <a:t> </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3) Goi y ket ban: ban cua ban,</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nhung chua la ban. -&gt; Tu lam!</a:t>
            </a:r>
            <a:endParaRPr lang="en-US" sz="1250" dirty="0"/>
          </a:p>
          <a:p>
            <a:pPr algn="l" indent="0" marL="0">
              <a:lnSpc>
                <a:spcPct val="106000"/>
              </a:lnSpc>
              <a:buNone/>
            </a:pPr>
            <a:r>
              <a:rPr lang="en-US" sz="1250" i="1" dirty="0">
                <a:solidFill>
                  <a:srgbClr val="6C7F98"/>
                </a:solidFill>
                <a:latin typeface="Consolas" pitchFamily="34" charset="0"/>
                <a:ea typeface="Consolas" pitchFamily="34" charset="-122"/>
                <a:cs typeface="Consolas" pitchFamily="34" charset="-120"/>
              </a:rPr>
              <a:t>// 4) Ai co nhieu ban nhat? -&gt; Tu lam!</a:t>
            </a:r>
            <a:endParaRPr lang="en-US" sz="1250" dirty="0"/>
          </a:p>
        </p:txBody>
      </p:sp>
      <p:sp>
        <p:nvSpPr>
          <p:cNvPr id="10" name="Shape 8"/>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11" name="Shape 9"/>
          <p:cNvSpPr/>
          <p:nvPr/>
        </p:nvSpPr>
        <p:spPr>
          <a:xfrm>
            <a:off x="822960" y="5943600"/>
            <a:ext cx="292608" cy="292608"/>
          </a:xfrm>
          <a:prstGeom prst="ellipse">
            <a:avLst/>
          </a:prstGeom>
          <a:solidFill>
            <a:srgbClr val="C88A1E"/>
          </a:solidFill>
          <a:ln/>
        </p:spPr>
      </p:sp>
      <p:sp>
        <p:nvSpPr>
          <p:cNvPr id="12" name="Text 10"/>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Gợi ý: câu (3) dùng đường đi 2 bước; câu (4) dùng count() và ORDER BY.</a:t>
            </a:r>
            <a:endParaRPr lang="en-US" sz="1300" dirty="0"/>
          </a:p>
        </p:txBody>
      </p:sp>
      <p:sp>
        <p:nvSpPr>
          <p:cNvPr id="14" name="Text 12"/>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5" name="Text 13"/>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TÀI NGUYÊN</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Học thêm ở đâu?</a:t>
            </a:r>
            <a:endParaRPr lang="en-US" sz="3200" dirty="0"/>
          </a:p>
        </p:txBody>
      </p:sp>
      <p:sp>
        <p:nvSpPr>
          <p:cNvPr id="5" name="Shape 3"/>
          <p:cNvSpPr/>
          <p:nvPr/>
        </p:nvSpPr>
        <p:spPr>
          <a:xfrm>
            <a:off x="640080"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6" name="Shape 4"/>
          <p:cNvSpPr/>
          <p:nvPr/>
        </p:nvSpPr>
        <p:spPr>
          <a:xfrm>
            <a:off x="859536" y="2075688"/>
            <a:ext cx="457200" cy="457200"/>
          </a:xfrm>
          <a:prstGeom prst="ellipse">
            <a:avLst/>
          </a:prstGeom>
          <a:solidFill>
            <a:srgbClr val="2E6DB4"/>
          </a:solidFill>
          <a:ln/>
        </p:spPr>
      </p:sp>
      <p:sp>
        <p:nvSpPr>
          <p:cNvPr id="7" name="Text 5"/>
          <p:cNvSpPr/>
          <p:nvPr/>
        </p:nvSpPr>
        <p:spPr>
          <a:xfrm>
            <a:off x="859536"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859536"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Neo4j GraphAcademy</a:t>
            </a:r>
            <a:endParaRPr lang="en-US" sz="1550" dirty="0"/>
          </a:p>
        </p:txBody>
      </p:sp>
      <p:sp>
        <p:nvSpPr>
          <p:cNvPr id="9" name="Text 7"/>
          <p:cNvSpPr/>
          <p:nvPr/>
        </p:nvSpPr>
        <p:spPr>
          <a:xfrm>
            <a:off x="859536"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Khóa học trực tuyến miễn phí, có bài lab và chứng chỉ chính thức.</a:t>
            </a:r>
            <a:endParaRPr lang="en-US" sz="1250" dirty="0"/>
          </a:p>
        </p:txBody>
      </p:sp>
      <p:sp>
        <p:nvSpPr>
          <p:cNvPr id="10" name="Shape 8"/>
          <p:cNvSpPr/>
          <p:nvPr/>
        </p:nvSpPr>
        <p:spPr>
          <a:xfrm>
            <a:off x="6233008" y="18745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1" name="Shape 9"/>
          <p:cNvSpPr/>
          <p:nvPr/>
        </p:nvSpPr>
        <p:spPr>
          <a:xfrm>
            <a:off x="6452464" y="2075688"/>
            <a:ext cx="457200" cy="457200"/>
          </a:xfrm>
          <a:prstGeom prst="ellipse">
            <a:avLst/>
          </a:prstGeom>
          <a:solidFill>
            <a:srgbClr val="17958A"/>
          </a:solidFill>
          <a:ln/>
        </p:spPr>
      </p:sp>
      <p:sp>
        <p:nvSpPr>
          <p:cNvPr id="12" name="Text 10"/>
          <p:cNvSpPr/>
          <p:nvPr/>
        </p:nvSpPr>
        <p:spPr>
          <a:xfrm>
            <a:off x="6452464" y="20756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6452464" y="26609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Cypher Manual</a:t>
            </a:r>
            <a:endParaRPr lang="en-US" sz="1550" dirty="0"/>
          </a:p>
        </p:txBody>
      </p:sp>
      <p:sp>
        <p:nvSpPr>
          <p:cNvPr id="14" name="Text 12"/>
          <p:cNvSpPr/>
          <p:nvPr/>
        </p:nvSpPr>
        <p:spPr>
          <a:xfrm>
            <a:off x="6452464" y="30815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Tài liệu tham khảo chính thức, tra cứu đầy đủ cú pháp Cypher.</a:t>
            </a:r>
            <a:endParaRPr lang="en-US" sz="1250" dirty="0"/>
          </a:p>
        </p:txBody>
      </p:sp>
      <p:sp>
        <p:nvSpPr>
          <p:cNvPr id="15" name="Shape 13"/>
          <p:cNvSpPr/>
          <p:nvPr/>
        </p:nvSpPr>
        <p:spPr>
          <a:xfrm>
            <a:off x="640080"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16" name="Shape 14"/>
          <p:cNvSpPr/>
          <p:nvPr/>
        </p:nvSpPr>
        <p:spPr>
          <a:xfrm>
            <a:off x="859536" y="4018788"/>
            <a:ext cx="457200" cy="457200"/>
          </a:xfrm>
          <a:prstGeom prst="ellipse">
            <a:avLst/>
          </a:prstGeom>
          <a:solidFill>
            <a:srgbClr val="2E6DB4"/>
          </a:solidFill>
          <a:ln/>
        </p:spPr>
      </p:sp>
      <p:sp>
        <p:nvSpPr>
          <p:cNvPr id="17" name="Text 15"/>
          <p:cNvSpPr/>
          <p:nvPr/>
        </p:nvSpPr>
        <p:spPr>
          <a:xfrm>
            <a:off x="859536"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59536"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Sách "Graph Databases"</a:t>
            </a:r>
            <a:endParaRPr lang="en-US" sz="1550" dirty="0"/>
          </a:p>
        </p:txBody>
      </p:sp>
      <p:sp>
        <p:nvSpPr>
          <p:cNvPr id="19" name="Text 17"/>
          <p:cNvSpPr/>
          <p:nvPr/>
        </p:nvSpPr>
        <p:spPr>
          <a:xfrm>
            <a:off x="859536"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O'Reilly, tải miễn phí — nền tảng lý thuyết về CSDL đồ thị.</a:t>
            </a:r>
            <a:endParaRPr lang="en-US" sz="1250" dirty="0"/>
          </a:p>
        </p:txBody>
      </p:sp>
      <p:sp>
        <p:nvSpPr>
          <p:cNvPr id="20" name="Shape 18"/>
          <p:cNvSpPr/>
          <p:nvPr/>
        </p:nvSpPr>
        <p:spPr>
          <a:xfrm>
            <a:off x="6233008" y="3817620"/>
            <a:ext cx="5318608" cy="1668780"/>
          </a:xfrm>
          <a:prstGeom prst="roundRect">
            <a:avLst>
              <a:gd name="adj" fmla="val 4384"/>
            </a:avLst>
          </a:prstGeom>
          <a:solidFill>
            <a:srgbClr val="FFFFFF"/>
          </a:solidFill>
          <a:ln w="15875">
            <a:solidFill>
              <a:srgbClr val="C9D6E8"/>
            </a:solidFill>
            <a:prstDash val="solid"/>
          </a:ln>
          <a:effectLst>
            <a:outerShdw sx="100000" sy="100000" kx="0" ky="0" algn="bl" rotWithShape="0" blurRad="76200" dist="25400" dir="5400000">
              <a:srgbClr val="9FB2CC">
                <a:alpha val="28000"/>
              </a:srgbClr>
            </a:outerShdw>
          </a:effectLst>
        </p:spPr>
      </p:sp>
      <p:sp>
        <p:nvSpPr>
          <p:cNvPr id="21" name="Shape 19"/>
          <p:cNvSpPr/>
          <p:nvPr/>
        </p:nvSpPr>
        <p:spPr>
          <a:xfrm>
            <a:off x="6452464" y="4018788"/>
            <a:ext cx="457200" cy="457200"/>
          </a:xfrm>
          <a:prstGeom prst="ellipse">
            <a:avLst/>
          </a:prstGeom>
          <a:solidFill>
            <a:srgbClr val="17958A"/>
          </a:solidFill>
          <a:ln/>
        </p:spPr>
      </p:sp>
      <p:sp>
        <p:nvSpPr>
          <p:cNvPr id="22" name="Text 20"/>
          <p:cNvSpPr/>
          <p:nvPr/>
        </p:nvSpPr>
        <p:spPr>
          <a:xfrm>
            <a:off x="6452464" y="4018788"/>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6452464" y="4604004"/>
            <a:ext cx="4879696" cy="457200"/>
          </a:xfrm>
          <a:prstGeom prst="rect">
            <a:avLst/>
          </a:prstGeom>
          <a:noFill/>
          <a:ln/>
        </p:spPr>
        <p:txBody>
          <a:bodyPr wrap="square" rtlCol="0" anchor="t"/>
          <a:lstStyle/>
          <a:p>
            <a:pPr indent="0" marL="0">
              <a:buNone/>
            </a:pPr>
            <a:r>
              <a:rPr lang="en-US" sz="1550" b="1" dirty="0">
                <a:solidFill>
                  <a:srgbClr val="12305B"/>
                </a:solidFill>
                <a:latin typeface="Calibri" pitchFamily="34" charset="0"/>
                <a:ea typeface="Calibri" pitchFamily="34" charset="-122"/>
                <a:cs typeface="Calibri" pitchFamily="34" charset="-120"/>
              </a:rPr>
              <a:t>Neo4j Sandbox / Aura Free</a:t>
            </a:r>
            <a:endParaRPr lang="en-US" sz="1550" dirty="0"/>
          </a:p>
        </p:txBody>
      </p:sp>
      <p:sp>
        <p:nvSpPr>
          <p:cNvPr id="24" name="Text 22"/>
          <p:cNvSpPr/>
          <p:nvPr/>
        </p:nvSpPr>
        <p:spPr>
          <a:xfrm>
            <a:off x="6452464" y="5024628"/>
            <a:ext cx="4879696" cy="425196"/>
          </a:xfrm>
          <a:prstGeom prst="rect">
            <a:avLst/>
          </a:prstGeom>
          <a:noFill/>
          <a:ln/>
        </p:spPr>
        <p:txBody>
          <a:bodyPr wrap="square" rtlCol="0" anchor="t"/>
          <a:lstStyle/>
          <a:p>
            <a:pPr indent="0" marL="0">
              <a:lnSpc>
                <a:spcPct val="105000"/>
              </a:lnSpc>
              <a:buNone/>
            </a:pPr>
            <a:r>
              <a:rPr lang="en-US" sz="1250" dirty="0">
                <a:solidFill>
                  <a:srgbClr val="56657E"/>
                </a:solidFill>
                <a:latin typeface="Calibri" pitchFamily="34" charset="0"/>
                <a:ea typeface="Calibri" pitchFamily="34" charset="-122"/>
                <a:cs typeface="Calibri" pitchFamily="34" charset="-120"/>
              </a:rPr>
              <a:t>Môi trường thực hành online miễn phí, có sẵn dữ liệu mẫu.</a:t>
            </a:r>
            <a:endParaRPr lang="en-US" sz="1250" dirty="0"/>
          </a:p>
        </p:txBody>
      </p:sp>
      <p:sp>
        <p:nvSpPr>
          <p:cNvPr id="25" name="Text 23"/>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26" name="Text 24"/>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25780"/>
            <a:ext cx="118872" cy="118872"/>
          </a:xfrm>
          <a:prstGeom prst="ellipse">
            <a:avLst/>
          </a:prstGeom>
          <a:solidFill>
            <a:srgbClr val="C88A1E"/>
          </a:solidFill>
          <a:ln/>
        </p:spPr>
      </p:sp>
      <p:sp>
        <p:nvSpPr>
          <p:cNvPr id="3" name="Text 1"/>
          <p:cNvSpPr/>
          <p:nvPr/>
        </p:nvSpPr>
        <p:spPr>
          <a:xfrm>
            <a:off x="859536" y="457200"/>
            <a:ext cx="10692079" cy="274320"/>
          </a:xfrm>
          <a:prstGeom prst="rect">
            <a:avLst/>
          </a:prstGeom>
          <a:noFill/>
          <a:ln/>
        </p:spPr>
        <p:txBody>
          <a:bodyPr wrap="square" rtlCol="0" anchor="ctr"/>
          <a:lstStyle/>
          <a:p>
            <a:pPr indent="0" marL="0">
              <a:buNone/>
            </a:pPr>
            <a:r>
              <a:rPr lang="en-US" sz="1200" b="1" spc="200" kern="0" dirty="0">
                <a:solidFill>
                  <a:srgbClr val="C88A1E"/>
                </a:solidFill>
                <a:latin typeface="Calibri" pitchFamily="34" charset="0"/>
                <a:ea typeface="Calibri" pitchFamily="34" charset="-122"/>
                <a:cs typeface="Calibri" pitchFamily="34" charset="-120"/>
              </a:rPr>
              <a:t>TỔNG KẾT</a:t>
            </a:r>
            <a:endParaRPr lang="en-US" sz="1200" dirty="0"/>
          </a:p>
        </p:txBody>
      </p:sp>
      <p:sp>
        <p:nvSpPr>
          <p:cNvPr id="4" name="Text 2"/>
          <p:cNvSpPr/>
          <p:nvPr/>
        </p:nvSpPr>
        <p:spPr>
          <a:xfrm>
            <a:off x="640080" y="768096"/>
            <a:ext cx="10911535" cy="868680"/>
          </a:xfrm>
          <a:prstGeom prst="rect">
            <a:avLst/>
          </a:prstGeom>
          <a:noFill/>
          <a:ln/>
        </p:spPr>
        <p:txBody>
          <a:bodyPr wrap="square" rtlCol="0" anchor="t"/>
          <a:lstStyle/>
          <a:p>
            <a:pPr algn="l" indent="0" marL="0">
              <a:lnSpc>
                <a:spcPct val="100000"/>
              </a:lnSpc>
              <a:buNone/>
            </a:pPr>
            <a:r>
              <a:rPr lang="en-US" sz="3200" b="1" dirty="0">
                <a:solidFill>
                  <a:srgbClr val="12305B"/>
                </a:solidFill>
                <a:latin typeface="Cambria" pitchFamily="34" charset="0"/>
                <a:ea typeface="Cambria" pitchFamily="34" charset="-122"/>
                <a:cs typeface="Cambria" pitchFamily="34" charset="-120"/>
              </a:rPr>
              <a:t>Những điểm chính (Key takeaways)</a:t>
            </a:r>
            <a:endParaRPr lang="en-US" sz="3200" dirty="0"/>
          </a:p>
        </p:txBody>
      </p:sp>
      <p:sp>
        <p:nvSpPr>
          <p:cNvPr id="5" name="Text 3"/>
          <p:cNvSpPr/>
          <p:nvPr/>
        </p:nvSpPr>
        <p:spPr>
          <a:xfrm>
            <a:off x="640080" y="1828800"/>
            <a:ext cx="10911535" cy="4023360"/>
          </a:xfrm>
          <a:prstGeom prst="rect">
            <a:avLst/>
          </a:prstGeom>
          <a:noFill/>
          <a:ln/>
        </p:spPr>
        <p:txBody>
          <a:bodyPr wrap="square" lIns="0" tIns="0" rIns="0" bIns="0" rtlCol="0" anchor="t"/>
          <a:lstStyle/>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Mô hình tự nhiên cho dữ liệu kết nối</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Đồ thị biểu diễn thực thể và quan hệ đúng như ta hình dung.</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Property graph: node – relationship – property</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Ba thành phần cốt lõi, kèm nhãn và thuộc tính linh hoạt.</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Cypher truy vấn quan hệ ngắn gọn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Vẽ mẫu kiểu 'ASCII-art', rất mạnh với đường đi nhiều bước.</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Neo4j dẫn đầu, GQL là chuẩn ISO</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Hệ phổ biến nhất; GQL (ISO/IEC 39075:2024) chuẩn hóa truy vấn đồ thị.</a:t>
            </a:r>
            <a:endParaRPr lang="en-US" sz="1550" dirty="0"/>
          </a:p>
          <a:p>
            <a:pPr marL="228600" indent="-228600">
              <a:spcAft>
                <a:spcPts val="200"/>
              </a:spcAft>
              <a:buSzPct val="100000"/>
              <a:buChar char="•"/>
            </a:pPr>
            <a:r>
              <a:rPr lang="en-US" sz="1550" b="1" dirty="0">
                <a:solidFill>
                  <a:srgbClr val="1B2A3B"/>
                </a:solidFill>
                <a:latin typeface="Calibri" pitchFamily="34" charset="0"/>
                <a:ea typeface="Calibri" pitchFamily="34" charset="-122"/>
                <a:cs typeface="Calibri" pitchFamily="34" charset="-120"/>
              </a:rPr>
              <a:t>Chọn công cụ theo bài toán</a:t>
            </a:r>
            <a:endParaRPr lang="en-US" sz="1550" dirty="0"/>
          </a:p>
          <a:p>
            <a:pPr lvl="1" indent="0" marL="0">
              <a:spcAft>
                <a:spcPts val="1000"/>
              </a:spcAft>
              <a:buNone/>
            </a:pPr>
            <a:r>
              <a:rPr lang="en-US" sz="1350" dirty="0">
                <a:solidFill>
                  <a:srgbClr val="56657E"/>
                </a:solidFill>
                <a:latin typeface="Calibri" pitchFamily="34" charset="0"/>
                <a:ea typeface="Calibri" pitchFamily="34" charset="-122"/>
                <a:cs typeface="Calibri" pitchFamily="34" charset="-120"/>
              </a:rPr>
              <a:t>Đồ thị mạnh ở quan hệ; quan hệ và OLAP mạnh ở tổng hợp bảng.</a:t>
            </a:r>
            <a:endParaRPr lang="en-US" sz="1550" dirty="0"/>
          </a:p>
        </p:txBody>
      </p:sp>
      <p:sp>
        <p:nvSpPr>
          <p:cNvPr id="6" name="Shape 4"/>
          <p:cNvSpPr/>
          <p:nvPr/>
        </p:nvSpPr>
        <p:spPr>
          <a:xfrm>
            <a:off x="640080" y="5806440"/>
            <a:ext cx="10911535" cy="566928"/>
          </a:xfrm>
          <a:prstGeom prst="roundRect">
            <a:avLst>
              <a:gd name="adj" fmla="val 12903"/>
            </a:avLst>
          </a:prstGeom>
          <a:solidFill>
            <a:srgbClr val="EEF3FA"/>
          </a:solidFill>
          <a:ln w="12700">
            <a:solidFill>
              <a:srgbClr val="C9D6E8"/>
            </a:solidFill>
            <a:prstDash val="solid"/>
          </a:ln>
        </p:spPr>
      </p:sp>
      <p:sp>
        <p:nvSpPr>
          <p:cNvPr id="7" name="Shape 5"/>
          <p:cNvSpPr/>
          <p:nvPr/>
        </p:nvSpPr>
        <p:spPr>
          <a:xfrm>
            <a:off x="822960" y="5943600"/>
            <a:ext cx="292608" cy="292608"/>
          </a:xfrm>
          <a:prstGeom prst="ellipse">
            <a:avLst/>
          </a:prstGeom>
          <a:solidFill>
            <a:srgbClr val="C88A1E"/>
          </a:solidFill>
          <a:ln/>
        </p:spPr>
      </p:sp>
      <p:sp>
        <p:nvSpPr>
          <p:cNvPr id="8" name="Text 6"/>
          <p:cNvSpPr/>
          <p:nvPr/>
        </p:nvSpPr>
        <p:spPr>
          <a:xfrm>
            <a:off x="822960" y="5934456"/>
            <a:ext cx="292608" cy="29260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9" name="Text 7"/>
          <p:cNvSpPr/>
          <p:nvPr/>
        </p:nvSpPr>
        <p:spPr>
          <a:xfrm>
            <a:off x="1280160" y="5852160"/>
            <a:ext cx="10042855" cy="475488"/>
          </a:xfrm>
          <a:prstGeom prst="rect">
            <a:avLst/>
          </a:prstGeom>
          <a:noFill/>
          <a:ln/>
        </p:spPr>
        <p:txBody>
          <a:bodyPr wrap="square" rtlCol="0" anchor="ctr"/>
          <a:lstStyle/>
          <a:p>
            <a:pPr indent="0" marL="0">
              <a:buNone/>
            </a:pPr>
            <a:r>
              <a:rPr lang="en-US" sz="1300" b="1" dirty="0">
                <a:solidFill>
                  <a:srgbClr val="12305B"/>
                </a:solidFill>
                <a:latin typeface="Calibri" pitchFamily="34" charset="0"/>
                <a:ea typeface="Calibri" pitchFamily="34" charset="-122"/>
                <a:cs typeface="Calibri" pitchFamily="34" charset="-120"/>
              </a:rPr>
              <a:t>Hãy nghĩ tới đồ thị khi câu trả lời nằm ở chính các mối quan hệ.</a:t>
            </a:r>
            <a:endParaRPr lang="en-US" sz="1300" dirty="0"/>
          </a:p>
        </p:txBody>
      </p:sp>
      <p:sp>
        <p:nvSpPr>
          <p:cNvPr id="10" name="Text 8"/>
          <p:cNvSpPr/>
          <p:nvPr/>
        </p:nvSpPr>
        <p:spPr>
          <a:xfrm>
            <a:off x="640080" y="6455664"/>
            <a:ext cx="5486400" cy="274320"/>
          </a:xfrm>
          <a:prstGeom prst="rect">
            <a:avLst/>
          </a:prstGeom>
          <a:noFill/>
          <a:ln/>
        </p:spPr>
        <p:txBody>
          <a:bodyPr wrap="square" rtlCol="0" anchor="ctr"/>
          <a:lstStyle/>
          <a:p>
            <a:pPr algn="l" indent="0" marL="0">
              <a:buNone/>
            </a:pPr>
            <a:r>
              <a:rPr lang="en-US" sz="900" dirty="0">
                <a:solidFill>
                  <a:srgbClr val="56657E"/>
                </a:solidFill>
                <a:latin typeface="Calibri" pitchFamily="34" charset="0"/>
                <a:ea typeface="Calibri" pitchFamily="34" charset="-122"/>
                <a:cs typeface="Calibri" pitchFamily="34" charset="-120"/>
              </a:rPr>
              <a:t>Cơ sở dữ liệu đồ thị (Graph Database)</a:t>
            </a:r>
            <a:endParaRPr lang="en-US" sz="900" dirty="0"/>
          </a:p>
        </p:txBody>
      </p:sp>
      <p:sp>
        <p:nvSpPr>
          <p:cNvPr id="11" name="Text 9"/>
          <p:cNvSpPr/>
          <p:nvPr/>
        </p:nvSpPr>
        <p:spPr>
          <a:xfrm>
            <a:off x="11002975" y="6455664"/>
            <a:ext cx="548640" cy="274320"/>
          </a:xfrm>
          <a:prstGeom prst="rect">
            <a:avLst/>
          </a:prstGeom>
          <a:noFill/>
          <a:ln/>
        </p:spPr>
        <p:txBody>
          <a:bodyPr wrap="square" rtlCol="0" anchor="ctr"/>
          <a:lstStyle/>
          <a:p>
            <a:pPr algn="r" indent="0" marL="0">
              <a:buNone/>
            </a:pPr>
            <a:r>
              <a:rPr lang="en-US" sz="900" dirty="0">
                <a:solidFill>
                  <a:srgbClr val="56657E"/>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22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242"/>
          </a:solidFill>
          <a:ln/>
        </p:spPr>
      </p:sp>
      <p:sp>
        <p:nvSpPr>
          <p:cNvPr id="3" name="Shape 1"/>
          <p:cNvSpPr/>
          <p:nvPr/>
        </p:nvSpPr>
        <p:spPr>
          <a:xfrm flipV="1">
            <a:off x="8046720" y="1097280"/>
            <a:ext cx="1028700" cy="400050"/>
          </a:xfrm>
          <a:prstGeom prst="line">
            <a:avLst/>
          </a:prstGeom>
          <a:noFill/>
          <a:ln w="15875">
            <a:solidFill>
              <a:srgbClr val="35557E"/>
            </a:solidFill>
            <a:prstDash val="solid"/>
          </a:ln>
        </p:spPr>
      </p:sp>
      <p:sp>
        <p:nvSpPr>
          <p:cNvPr id="4" name="Shape 2"/>
          <p:cNvSpPr/>
          <p:nvPr/>
        </p:nvSpPr>
        <p:spPr>
          <a:xfrm>
            <a:off x="9075420" y="1097280"/>
            <a:ext cx="914400" cy="628650"/>
          </a:xfrm>
          <a:prstGeom prst="line">
            <a:avLst/>
          </a:prstGeom>
          <a:noFill/>
          <a:ln w="15875">
            <a:solidFill>
              <a:srgbClr val="35557E"/>
            </a:solidFill>
            <a:prstDash val="solid"/>
          </a:ln>
        </p:spPr>
      </p:sp>
      <p:sp>
        <p:nvSpPr>
          <p:cNvPr id="5" name="Shape 3"/>
          <p:cNvSpPr/>
          <p:nvPr/>
        </p:nvSpPr>
        <p:spPr>
          <a:xfrm flipH="1">
            <a:off x="9304020" y="1725930"/>
            <a:ext cx="685800" cy="800100"/>
          </a:xfrm>
          <a:prstGeom prst="line">
            <a:avLst/>
          </a:prstGeom>
          <a:noFill/>
          <a:ln w="15875">
            <a:solidFill>
              <a:srgbClr val="35557E"/>
            </a:solidFill>
            <a:prstDash val="solid"/>
          </a:ln>
        </p:spPr>
      </p:sp>
      <p:sp>
        <p:nvSpPr>
          <p:cNvPr id="6" name="Shape 4"/>
          <p:cNvSpPr/>
          <p:nvPr/>
        </p:nvSpPr>
        <p:spPr>
          <a:xfrm flipH="1" flipV="1">
            <a:off x="8275320" y="2411730"/>
            <a:ext cx="1028700" cy="114300"/>
          </a:xfrm>
          <a:prstGeom prst="line">
            <a:avLst/>
          </a:prstGeom>
          <a:noFill/>
          <a:ln w="15875">
            <a:solidFill>
              <a:srgbClr val="35557E"/>
            </a:solidFill>
            <a:prstDash val="solid"/>
          </a:ln>
        </p:spPr>
      </p:sp>
      <p:sp>
        <p:nvSpPr>
          <p:cNvPr id="7" name="Shape 5"/>
          <p:cNvSpPr/>
          <p:nvPr/>
        </p:nvSpPr>
        <p:spPr>
          <a:xfrm flipH="1" flipV="1">
            <a:off x="8046720" y="1497330"/>
            <a:ext cx="228600" cy="914400"/>
          </a:xfrm>
          <a:prstGeom prst="line">
            <a:avLst/>
          </a:prstGeom>
          <a:noFill/>
          <a:ln w="15875">
            <a:solidFill>
              <a:srgbClr val="35557E"/>
            </a:solidFill>
            <a:prstDash val="solid"/>
          </a:ln>
        </p:spPr>
      </p:sp>
      <p:sp>
        <p:nvSpPr>
          <p:cNvPr id="8" name="Shape 6"/>
          <p:cNvSpPr/>
          <p:nvPr/>
        </p:nvSpPr>
        <p:spPr>
          <a:xfrm>
            <a:off x="9989820" y="1725930"/>
            <a:ext cx="914400" cy="514350"/>
          </a:xfrm>
          <a:prstGeom prst="line">
            <a:avLst/>
          </a:prstGeom>
          <a:noFill/>
          <a:ln w="15875">
            <a:solidFill>
              <a:srgbClr val="35557E"/>
            </a:solidFill>
            <a:prstDash val="solid"/>
          </a:ln>
        </p:spPr>
      </p:sp>
      <p:sp>
        <p:nvSpPr>
          <p:cNvPr id="9" name="Shape 7"/>
          <p:cNvSpPr/>
          <p:nvPr/>
        </p:nvSpPr>
        <p:spPr>
          <a:xfrm flipH="1" flipV="1">
            <a:off x="10447020" y="1268730"/>
            <a:ext cx="457200" cy="971550"/>
          </a:xfrm>
          <a:prstGeom prst="line">
            <a:avLst/>
          </a:prstGeom>
          <a:noFill/>
          <a:ln w="15875">
            <a:solidFill>
              <a:srgbClr val="35557E"/>
            </a:solidFill>
            <a:prstDash val="solid"/>
          </a:ln>
        </p:spPr>
      </p:sp>
      <p:sp>
        <p:nvSpPr>
          <p:cNvPr id="10" name="Shape 8"/>
          <p:cNvSpPr/>
          <p:nvPr/>
        </p:nvSpPr>
        <p:spPr>
          <a:xfrm flipH="1" flipV="1">
            <a:off x="9075420" y="1097280"/>
            <a:ext cx="1371600" cy="171450"/>
          </a:xfrm>
          <a:prstGeom prst="line">
            <a:avLst/>
          </a:prstGeom>
          <a:noFill/>
          <a:ln w="15875">
            <a:solidFill>
              <a:srgbClr val="35557E"/>
            </a:solidFill>
            <a:prstDash val="solid"/>
          </a:ln>
        </p:spPr>
      </p:sp>
      <p:sp>
        <p:nvSpPr>
          <p:cNvPr id="11" name="Shape 9"/>
          <p:cNvSpPr/>
          <p:nvPr/>
        </p:nvSpPr>
        <p:spPr>
          <a:xfrm flipV="1">
            <a:off x="9304020" y="2240280"/>
            <a:ext cx="1600200" cy="285750"/>
          </a:xfrm>
          <a:prstGeom prst="line">
            <a:avLst/>
          </a:prstGeom>
          <a:noFill/>
          <a:ln w="15875">
            <a:solidFill>
              <a:srgbClr val="35557E"/>
            </a:solidFill>
            <a:prstDash val="solid"/>
          </a:ln>
        </p:spPr>
      </p:sp>
      <p:sp>
        <p:nvSpPr>
          <p:cNvPr id="12" name="Shape 10"/>
          <p:cNvSpPr/>
          <p:nvPr/>
        </p:nvSpPr>
        <p:spPr>
          <a:xfrm>
            <a:off x="7898130" y="1348740"/>
            <a:ext cx="297180" cy="297180"/>
          </a:xfrm>
          <a:prstGeom prst="ellipse">
            <a:avLst/>
          </a:prstGeom>
          <a:solidFill>
            <a:srgbClr val="C88A1E">
              <a:alpha val="75000"/>
            </a:srgbClr>
          </a:solidFill>
          <a:ln w="12700">
            <a:solidFill>
              <a:srgbClr val="FFFFFF">
                <a:alpha val="70000"/>
              </a:srgbClr>
            </a:solidFill>
            <a:prstDash val="solid"/>
          </a:ln>
        </p:spPr>
      </p:sp>
      <p:sp>
        <p:nvSpPr>
          <p:cNvPr id="13" name="Shape 11"/>
          <p:cNvSpPr/>
          <p:nvPr/>
        </p:nvSpPr>
        <p:spPr>
          <a:xfrm>
            <a:off x="8972550" y="994410"/>
            <a:ext cx="205740" cy="205740"/>
          </a:xfrm>
          <a:prstGeom prst="ellipse">
            <a:avLst/>
          </a:prstGeom>
          <a:solidFill>
            <a:srgbClr val="17958A">
              <a:alpha val="75000"/>
            </a:srgbClr>
          </a:solidFill>
          <a:ln w="12700">
            <a:solidFill>
              <a:srgbClr val="FFFFFF">
                <a:alpha val="70000"/>
              </a:srgbClr>
            </a:solidFill>
            <a:prstDash val="solid"/>
          </a:ln>
        </p:spPr>
      </p:sp>
      <p:sp>
        <p:nvSpPr>
          <p:cNvPr id="14" name="Shape 12"/>
          <p:cNvSpPr/>
          <p:nvPr/>
        </p:nvSpPr>
        <p:spPr>
          <a:xfrm>
            <a:off x="9886950" y="1623060"/>
            <a:ext cx="205740" cy="205740"/>
          </a:xfrm>
          <a:prstGeom prst="ellipse">
            <a:avLst/>
          </a:prstGeom>
          <a:solidFill>
            <a:srgbClr val="C88A1E">
              <a:alpha val="75000"/>
            </a:srgbClr>
          </a:solidFill>
          <a:ln w="12700">
            <a:solidFill>
              <a:srgbClr val="FFFFFF">
                <a:alpha val="70000"/>
              </a:srgbClr>
            </a:solidFill>
            <a:prstDash val="solid"/>
          </a:ln>
        </p:spPr>
      </p:sp>
      <p:sp>
        <p:nvSpPr>
          <p:cNvPr id="15" name="Shape 13"/>
          <p:cNvSpPr/>
          <p:nvPr/>
        </p:nvSpPr>
        <p:spPr>
          <a:xfrm>
            <a:off x="9155430" y="2377440"/>
            <a:ext cx="297180" cy="297180"/>
          </a:xfrm>
          <a:prstGeom prst="ellipse">
            <a:avLst/>
          </a:prstGeom>
          <a:solidFill>
            <a:srgbClr val="17958A">
              <a:alpha val="75000"/>
            </a:srgbClr>
          </a:solidFill>
          <a:ln w="12700">
            <a:solidFill>
              <a:srgbClr val="FFFFFF">
                <a:alpha val="70000"/>
              </a:srgbClr>
            </a:solidFill>
            <a:prstDash val="solid"/>
          </a:ln>
        </p:spPr>
      </p:sp>
      <p:sp>
        <p:nvSpPr>
          <p:cNvPr id="16" name="Shape 14"/>
          <p:cNvSpPr/>
          <p:nvPr/>
        </p:nvSpPr>
        <p:spPr>
          <a:xfrm>
            <a:off x="8172450" y="2308860"/>
            <a:ext cx="205740" cy="205740"/>
          </a:xfrm>
          <a:prstGeom prst="ellipse">
            <a:avLst/>
          </a:prstGeom>
          <a:solidFill>
            <a:srgbClr val="C88A1E">
              <a:alpha val="75000"/>
            </a:srgbClr>
          </a:solidFill>
          <a:ln w="12700">
            <a:solidFill>
              <a:srgbClr val="FFFFFF">
                <a:alpha val="70000"/>
              </a:srgbClr>
            </a:solidFill>
            <a:prstDash val="solid"/>
          </a:ln>
        </p:spPr>
      </p:sp>
      <p:sp>
        <p:nvSpPr>
          <p:cNvPr id="17" name="Shape 15"/>
          <p:cNvSpPr/>
          <p:nvPr/>
        </p:nvSpPr>
        <p:spPr>
          <a:xfrm>
            <a:off x="10801350" y="2137410"/>
            <a:ext cx="205740" cy="205740"/>
          </a:xfrm>
          <a:prstGeom prst="ellipse">
            <a:avLst/>
          </a:prstGeom>
          <a:solidFill>
            <a:srgbClr val="17958A">
              <a:alpha val="75000"/>
            </a:srgbClr>
          </a:solidFill>
          <a:ln w="12700">
            <a:solidFill>
              <a:srgbClr val="FFFFFF">
                <a:alpha val="70000"/>
              </a:srgbClr>
            </a:solidFill>
            <a:prstDash val="solid"/>
          </a:ln>
        </p:spPr>
      </p:sp>
      <p:sp>
        <p:nvSpPr>
          <p:cNvPr id="18" name="Shape 16"/>
          <p:cNvSpPr/>
          <p:nvPr/>
        </p:nvSpPr>
        <p:spPr>
          <a:xfrm>
            <a:off x="10298430" y="1120140"/>
            <a:ext cx="297180" cy="297180"/>
          </a:xfrm>
          <a:prstGeom prst="ellipse">
            <a:avLst/>
          </a:prstGeom>
          <a:solidFill>
            <a:srgbClr val="C88A1E">
              <a:alpha val="75000"/>
            </a:srgbClr>
          </a:solidFill>
          <a:ln w="12700">
            <a:solidFill>
              <a:srgbClr val="FFFFFF">
                <a:alpha val="70000"/>
              </a:srgbClr>
            </a:solidFill>
            <a:prstDash val="solid"/>
          </a:ln>
        </p:spPr>
      </p:sp>
      <p:sp>
        <p:nvSpPr>
          <p:cNvPr id="19" name="Text 17"/>
          <p:cNvSpPr/>
          <p:nvPr/>
        </p:nvSpPr>
        <p:spPr>
          <a:xfrm>
            <a:off x="640080" y="2286000"/>
            <a:ext cx="8229600" cy="128016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Cảm ơn!</a:t>
            </a:r>
            <a:endParaRPr lang="en-US" sz="4800" dirty="0"/>
          </a:p>
        </p:txBody>
      </p:sp>
      <p:sp>
        <p:nvSpPr>
          <p:cNvPr id="20" name="Text 18"/>
          <p:cNvSpPr/>
          <p:nvPr/>
        </p:nvSpPr>
        <p:spPr>
          <a:xfrm>
            <a:off x="640080" y="3611880"/>
            <a:ext cx="8229600" cy="1097280"/>
          </a:xfrm>
          <a:prstGeom prst="rect">
            <a:avLst/>
          </a:prstGeom>
          <a:noFill/>
          <a:ln/>
        </p:spPr>
        <p:txBody>
          <a:bodyPr wrap="square" rtlCol="0" anchor="ctr"/>
          <a:lstStyle/>
          <a:p>
            <a:pPr indent="0" marL="0">
              <a:lnSpc>
                <a:spcPct val="115000"/>
              </a:lnSpc>
              <a:buNone/>
            </a:pPr>
            <a:r>
              <a:rPr lang="en-US" sz="1800" dirty="0">
                <a:solidFill>
                  <a:srgbClr val="AFC4E0"/>
                </a:solidFill>
                <a:latin typeface="Calibri" pitchFamily="34" charset="0"/>
                <a:ea typeface="Calibri" pitchFamily="34" charset="-122"/>
                <a:cs typeface="Calibri" pitchFamily="34" charset="-120"/>
              </a:rPr>
              <a:t>Hỏi &amp; đáp về Graph Database</a:t>
            </a:r>
            <a:endParaRPr lang="en-US" sz="1800" dirty="0"/>
          </a:p>
        </p:txBody>
      </p:sp>
      <p:sp>
        <p:nvSpPr>
          <p:cNvPr id="21" name="Text 19"/>
          <p:cNvSpPr/>
          <p:nvPr/>
        </p:nvSpPr>
        <p:spPr>
          <a:xfrm>
            <a:off x="640080" y="4663440"/>
            <a:ext cx="8229600" cy="146304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AFC4E0"/>
                </a:solidFill>
                <a:latin typeface="Calibri" pitchFamily="34" charset="0"/>
                <a:ea typeface="Calibri" pitchFamily="34" charset="-122"/>
                <a:cs typeface="Calibri" pitchFamily="34" charset="-120"/>
              </a:rPr>
              <a:t>Thực hành ngay với Neo4j Sandbox (miễn phí)</a:t>
            </a:r>
            <a:endParaRPr lang="en-US" sz="1500" dirty="0"/>
          </a:p>
          <a:p>
            <a:pPr marL="228600" indent="-228600">
              <a:spcAft>
                <a:spcPts val="900"/>
              </a:spcAft>
              <a:buSzPct val="100000"/>
              <a:buChar char="•"/>
            </a:pPr>
            <a:r>
              <a:rPr lang="en-US" sz="1500" dirty="0">
                <a:solidFill>
                  <a:srgbClr val="AFC4E0"/>
                </a:solidFill>
                <a:latin typeface="Calibri" pitchFamily="34" charset="0"/>
                <a:ea typeface="Calibri" pitchFamily="34" charset="-122"/>
                <a:cs typeface="Calibri" pitchFamily="34" charset="-120"/>
              </a:rPr>
              <a:t>Tài liệu: Cypher Manual &amp; GQL ISO/IEC 39075</a:t>
            </a:r>
            <a:endParaRPr lang="en-US" sz="1500" dirty="0"/>
          </a:p>
        </p:txBody>
      </p:sp>
      <p:sp>
        <p:nvSpPr>
          <p:cNvPr id="22" name="Text 20"/>
          <p:cNvSpPr/>
          <p:nvPr/>
        </p:nvSpPr>
        <p:spPr>
          <a:xfrm>
            <a:off x="640080" y="6035040"/>
            <a:ext cx="10058400" cy="365760"/>
          </a:xfrm>
          <a:prstGeom prst="rect">
            <a:avLst/>
          </a:prstGeom>
          <a:noFill/>
          <a:ln/>
        </p:spPr>
        <p:txBody>
          <a:bodyPr wrap="square" rtlCol="0" anchor="ctr"/>
          <a:lstStyle/>
          <a:p>
            <a:pPr indent="0" marL="0">
              <a:buNone/>
            </a:pPr>
            <a:r>
              <a:rPr lang="en-US" sz="1300" i="1" dirty="0">
                <a:solidFill>
                  <a:srgbClr val="6699D6"/>
                </a:solidFill>
                <a:latin typeface="Calibri" pitchFamily="34" charset="0"/>
                <a:ea typeface="Calibri" pitchFamily="34" charset="-122"/>
                <a:cs typeface="Calibri" pitchFamily="34" charset="-120"/>
              </a:rPr>
              <a:t>Chúc các bạn học tốt môn Cơ sở dữ liệu!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44275E818BD4089527327482737A3" ma:contentTypeVersion="3" ma:contentTypeDescription="Create a new document." ma:contentTypeScope="" ma:versionID="3621d9875567ee96c38707b4b84c0c7f">
  <xsd:schema xmlns:xsd="http://www.w3.org/2001/XMLSchema" xmlns:xs="http://www.w3.org/2001/XMLSchema" xmlns:p="http://schemas.microsoft.com/office/2006/metadata/properties" xmlns:ns2="6dc41f47-bff2-41df-9641-f0b03d01a0b9" targetNamespace="http://schemas.microsoft.com/office/2006/metadata/properties" ma:root="true" ma:fieldsID="43e3e12f871a965d26f90b688dfad499" ns2:_="">
    <xsd:import namespace="6dc41f47-bff2-41df-9641-f0b03d01a0b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c41f47-bff2-41df-9641-f0b03d01a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9134663-AFB1-4280-8230-B198A0013F31}"/>
</file>

<file path=customXml/itemProps2.xml><?xml version="1.0" encoding="utf-8"?>
<ds:datastoreItem xmlns:ds="http://schemas.openxmlformats.org/officeDocument/2006/customXml" ds:itemID="{5FC5CD8E-144F-4F23-A524-8F3283212029}"/>
</file>

<file path=customXml/itemProps3.xml><?xml version="1.0" encoding="utf-8"?>
<ds:datastoreItem xmlns:ds="http://schemas.openxmlformats.org/officeDocument/2006/customXml" ds:itemID="{06CC1700-E0C8-497C-B729-8FE10F8DF998}"/>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dữ liệu đồ thị (Graph Database)</dc:title>
  <dc:subject>PptxGenJS Presentation</dc:subject>
  <dc:creator>Cowork</dc:creator>
  <cp:lastModifiedBy>Cowork</cp:lastModifiedBy>
  <cp:revision>1</cp:revision>
  <dcterms:created xsi:type="dcterms:W3CDTF">2026-07-11T08:50:57Z</dcterms:created>
  <dcterms:modified xsi:type="dcterms:W3CDTF">2026-07-11T08:50:57Z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0x010100BD444275E818BD4089527327482737A3</vt:lpwstr>
  </property>
</Properties>
</file>