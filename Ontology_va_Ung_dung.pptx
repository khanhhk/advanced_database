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openxmlformats.org/officeDocument/2006/relationships/customXml" Target="../customXml/item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ustomXml" Target="../customXml/item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mừng sinh viên đến với buổi học về Ontology. Đây là nền tảng quan trọng của Web ngữ nghĩa và trí tuệ nhân tạo hiện đại. Buổi học tập trung vào cả lý thuyết cơ bản lẫn thực hành với công cụ Protégé.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học gồm năm phần, đi từ lý thuyết đến thực hành cụ thể. Sinh viên sẽ làm quen với các chuẩn của W3C và công cụ Protégé thông dụng. Cuối buổi có bài tập để củng cố kiến thức đã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Ontology bắt nguồn từ triết học nhưng trong CNTT được hiểu là công cụ mô hình hoá tri thức. Định nghĩa của Gruber năm 1993 được xem là kinh điển và được trích dẫn rộng rãi. Cần nhấn mạnh ontology không chỉ là danh sách từ vựng mà còn có cấu trúc và ràng buộc rõ ràng.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minh hoạ quan hệ phân cấp is-a, nền tảng của mọi ontology. Lớp con kế thừa đặc điểm của lớp cha thông qua quan hệ subClassOf. Cá thể là đối tượng cụ thể, ví dụ chú chó nhà em là một cá thể thuộc lớp Dog.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Ontology giải quyết bài toán tích hợp dữ liệu giữa nhiều hệ thống khác nhau về cấu trúc. Nhờ suy luận tự động, máy tính có thể suy ra tri thức mới từ tri thức đã có sẵn. Đây chính là nền tảng của Web ngữ nghĩa mà Tim Berners-Lee đề xuất.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thành phần cơ bản tạo nên cấu trúc của mọi ontology hiện đại. Object Property nối hai cá thể với nhau, còn Data Property nối cá thể với giá trị dữ liệu. Axiom giúp ràng buộc logic, ví dụ như domain, range, hoặc quan hệ disjoint giữa các lớp.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Taxonomy chỉ là phân cấp đơn giản theo quan hệ is-a, còn ontology có nhiều loại quan hệ khác. Ontology cho phép suy luận tự động nhờ các ràng buộc logic chặt chẽ hơn. Ví dụ taxonomy như cây thư mục danh mục, còn ontology là OWL và RDF hiện đại.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CSDL quan hệ phù hợp lưu trữ dữ liệu lớn với schema cố định và hiệu năng cao. Ontology linh hoạt hơn về ngữ nghĩa nhưng đánh đổi bằng chi phí suy luận. CWA nghĩa là điều chưa biết coi như sai, còn OWA thì điều chưa biết vẫn có thể đúng.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Ontology hiện diện trong rất nhiều ứng dụng quen thuộc hàng ngày của chúng ta. Google sử dụng knowledge graph để hiển thị thông tin ngay trên trang kết quả tìm kiếm. Các ứng dụng chi tiết hơn sẽ được trình bày kỹ ở Phần 4 của buổi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1 đã giới thiệu khái niệm cốt lõi về ontology và các thành phần của nó. Sinh viên cần nắm vững sự khác biệt giữa ontology, taxonomy và CSDL truyền thống. Phần tiếp theo sẽ đi sâu vào các chuẩn kỹ thuật RDF, RDFS, OWL và SPARQL.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khái niệm biểu diễn tri thức là nền tảng của AI và hệ chuyên gia. Nêu ví dụ logic, luật, mạng ngữ nghĩa trước khi dẫn vào ontology. Nhấn mạnh ontology là công cụ KR phù hợp nhất cho Web ngữ nghĩa.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RDF như chuẩn W3C nền tảng của Linked Data. Nhấn mạnh mọi câu RDF luôn có dạng bộ ba. Đây là kiến thức nền để học Turtle và SPARQL ở các slide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Dùng sơ đồ trực quan để sinh viên hình dung cấu trúc triple. Nhấn mạnh Subject và Object là tài nguyên, Predicate là quan hệ giữa chúng. Đây là đơn vị dữ liệu nhỏ nhất trong mô hình RDF.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ví dụ Turtle thực tế, giải thích từng dòng cú pháp. Nhấn mạnh Turtle giúp viết RDF ngắn gọn hơn XML rất nhiều. Có thể demo trực tiếp trên Protégé nếu còn thời 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RDFS như lớp ngữ nghĩa bổ sung cho RDF thuần. So sánh subClassOf với kế thừa lớp trong lập trình hướng đối tượng. Domain và range giúp kiểm soát dữ liệu hợp lệ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OWL mạnh hơn RDFS nhờ nền tảng Description Logic. Giới thiệu sơ lược 3 phân mức OWL và sự đánh đổi giữa biểu cảm và khả năng suy luận. Đây là ngôn ngữ chính được dùng trong Protégé.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liệt kê nhanh các cấu trúc OWL thường gặp. Đi qua từng ví dụ để sinh viên thấy khác biệt so với RDFS. Cardinality và TransitiveProperty sẽ được thực hành trong Protégé ở phần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vai trò của reasoner trong việc suy ra tri thức ẩn. Ví dụ phân cấp Chó, Thú, Động vật minh hoạ suy luận subClassOf bắc cầu. Nhấn mạnh reasoner còn giúp phát hiện mâu thuẫn logic trong ontology.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SPARQL với SQL để sinh viên dễ liên tưởng. Giải thích cấu trúc PREFIX, SELECT, WHERE qua ví dụ tìm sinh viên học tại Bách Khoa. Đây là kỹ năng thực hành quan trọng cho phần sau của khoá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lại 4 khái niệm cốt lõi: RDF, RDFS, OWL, SPARQL. Nhấn mạnh mối liên hệ giữa các tầng: RDF là dữ liệu, RDFS/OWL là ngữ nghĩa, SPARQL là truy vấn. Chuẩn bị chuyển sang phần thực hành Protégé ở phần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Xây dựng ontology là một quá trình lặp đi lặp lại, không phải làm một lần là xong. Cần xác định rõ phạm vi và mục đích trước khi bắt tay vào thiết kế. Competency questions giúp kiểm tra ontology có đáp ứng được nhu cầu thực tế hay không. Nên ưu tiên tái sử dụng các ontology đã có thay vì xây mới từ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quy trình sáu bước kinh điển được đề xuất trong tài liệu Ontology 101 của Stanford. Bắt đầu từ xác định phạm vi, sau đó xem xét tái sử dụng, liệt kê thuật ngữ quan trọng trong miền tri thức. Tiếp theo là định nghĩa lớp, phân cấp, thuộc tính và cuối cùng tạo các cá thể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Protégé là công cụ chuẩn mực được dùng rộng rãi trong giảng dạy và nghiên cứu ontology. Giao diện trực quan giúp sinh viên dễ dàng thao tác với các khái niệm OWL mà không cần viết code trực tiếp. Reasoner tích hợp cho phép kiểm tra tính nhất quán và suy diễn tri thức mới. Chúng ta sẽ thực hành trực tiếp trên phần mềm này trong các slide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Protégé, mọi thao tác tạo lớp đều bắt đầu từ tab Entities. Owl:Thing là lớp gốc mặc định, tất cả các lớp khác đều kế thừa từ đó. Sinh viên nhấn nút Add subclass để tạo lớp con ngay dưới lớp đang chọn. Cây phân cấp lớp thể hiện quan hệ is-a giữa các khái niệm trong ontology.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Protégé phân biệt rõ hai loại thuộc tính trong tab Object Properties và Data Properties. Object Property dùng để liên kết hai cá thể, ví dụ sinh viên hocTai một trường đại học. Data Property gán giá trị cụ thể như họ tên hay tuổi cho cá thể. Domain và Range giúp ràng buộc thuộc tính đúng ngữ cảnh, còn các đặc tính logic giúp reasoner suy diễn chính xác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 thể (individual) là các đối tượng cụ thể trong thế giới thực mà ontology mô tả. Sau khi tạo cá thể, cần gán nó vào một hoặc nhiều lớp thông qua mục Types trong tab Individuals. Property assertions dùng để khai báo cụ thể quan hệ và giá trị dữ liệu cho từng cá thể. Ví dụ sinh viên An là một Student và hocTai trường BachKhoa.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Reasoner là thành phần cốt lõi giúp kiểm tra và suy diễn tri thức trong ontology. Sau khi chọn reasoner từ menu, sinh viên chỉ cần chọn Start reasoner để hệ thống phân tích toàn bộ ontology. Kết quả suy diễn hiển thị bằng màu vàng trong cây phân cấp, giúp phân biệt với các khai báo thủ công. Nếu có lớp mâu thuẫn logic, Protégé sẽ tô đỏ để cảnh báo ngay lập tức.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ví dụ minh họa ontology mô tả một trường đại học. Lớp Person là gốc, phân thành hai nhánh chính là Student và Staff, mỗi nhánh lại có các lớp con chi tiết hơn. Quan hệ object property như teaches và enrolledIn liên kết các cá thể giữa hai nhánh này. Sinh viên sẽ thực hành xây dựng ontology tương tự trong bài tập.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những lỗi phổ biến mà người mới học ontology hay mắc phải khi dùng Protégé. Nhầm lẫn giữa lớp và cá thể là lỗi cơ bản nhất, cần phân biệt rõ khái niệm trừu tượng và đối tượng cụ thể. Bên cạnh đó, việc không đặt domain/range hay bỏ qua reasoner khiến ontology thiếu chặt chẽ. Cột bên phải liệt kê các thực hành tốt giúp ontology rõ ràng, dễ bảo trì và mở rộng.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3 đã giới thiệu quy trình xây dựng ontology theo các bước chuẩn và cách thực hành trên Protégé. Chúng ta đã học cách tạo lớp, thuộc tính, cá thể và chạy reasoner để kiểm tra ontology. Việc nhận biết và tránh các lỗi thường gặp giúp xây dựng ontology chất lượng cao hơn. Phần tiếp theo sẽ đi sâu vào RDF, OWL và truy vấn SPARQL.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giới thiệu tổng quan các lĩnh vực ứng dụng ontology sẽ trình bày chi tiết trong các slide tiếp theo. Nhấn mạnh rằng ontology không chỉ là lý thuyết mà đã trở thành hạ tầng của nhiều hệ thống công nghệ phổ biến. Giảng viên có thể hỏi sinh viên đã từng dùng sản phẩm nào liên quan đến các lĩnh vực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khái niệm Linked Data và cách nó biến Web thành một cơ sở dữ liệu khổng lồ có thể truy vấn. Có thể minh hoạ bằng sơ đồ LOD Cloud và cho sinh viên xem trang DBpedia hoặc Wikidata trực tiếp. Nhấn mạnh vai trò của URI trong việc định danh và liên kết thực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hoạ bằng cách tìm kiếm trực tiếp trên Google từ khoá Albert Einstein và chỉ ra Knowledge Panel bên phải màn hình. Giải thích sự khác biệt giữa tìm kiếm dựa trên chuỗi ký tự và tìm kiếm dựa trên thực thể có ngữ nghĩa. Có thể so sánh với kết quả tìm kiếm của các công cụ không dùng ontology.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tầm quan trọng của chuẩn hoá thuật ngữ y khoa trong việc trao đổi dữ liệu giữa các hệ thống bệnh viện khác nhau. Có thể giới thiệu ngắn gọn cấu trúc phân cấp khái niệm trong SNOMED CT hoặc Gene Ontology. Đây là ví dụ điển hình cho ứng dụng ontology trong lĩnh vực có tính chuyên môn cao.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sinh viên xem ví dụ đoạn mã đánh dấu schema.org trên một trang sản phẩm thực tế và kết quả rich result tương ứng trên Google. Giải thích cách máy tìm kiếm khai thác dữ liệu có cấu trúc để hiển thị giá, đánh giá ngay trên trang kết quả. Liên hệ với GoodRelations như một ontology chuyên sâu hơn cho thương mại điện tử.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Thảo luận vai trò của ontology như tri thức nền giúp AI suy luận chính xác hơn, đặc biệt trong bối cảnh kết hợp với LLM hiện nay. Có thể nhắc đến WordNet như ví dụ ontology ngôn ngữ kinh điển. Đây là cầu nối quan trọng giữa ontology truyền thống và các hệ thống AI hiện đại như 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khuyến nghị dựa trên tri thức với lọc cộng tác (collaborative filtering) để làm rõ ưu điểm giải thích được và không cần nhiều dữ liệu lịch sử. Ví dụ minh hoạ bằng gợi ý phim trên các nền tảng xem phim trực tuyến. Nhấn mạnh khả năng giải quyết cold-start là điểm mạnh nổi bật.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SSN/SOSA là ontology chuẩn W3C dùng để mô tả cảm biến và dữ liệu quan trắc trong IoT. Minh hoạ bằng ví dụ nhà thông minh với nhiều thiết bị từ các hãng khác nhau cần giao tiếp qua mô hình dữ liệu chung. Liên hệ đến khả năng suy luận ngữ cảnh để tự động hoá hành vi thiết bị.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khái niệm Enterprise Knowledge Graph như cách doanh nghiệp lớn tổ chức tri thức nội bộ. Có thể nhắc đến các ví dụ thực tế như Knowledge Graph của eBay, LinkedIn, Amazon. Nhấn mạnh lợi ích trong tìm kiếm nội bộ, ra quyết định và tuân thủ quy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Dùng bảng tổng hợp để sinh viên ôn lại nhanh các lĩnh vực và chuẩn ontology tiêu biểu đã học trong phần này. Có thể yêu cầu sinh viên tự bổ sung thêm ví dụ khác mà họ biết. Đây là slide chuyển tiếp phù hợp trước khi sang phần thực hành hoặc bài tập.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giới thiệu tổng quan cấu trúc phần thực hành gồm sáu bài tập từ cơ bản đến nâng cao. Sinh viên cần cài đặt sẵn Protégé trước khi bắt đầu làm bài. Việc nộp đúng định dạng file giúp giảng viên chấm điểm chính xác và nhanh chóng.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đầu tiên giúp sinh viên làm quen với việc phân biệt lớp, thuộc tính và cá thể trong một miền quen thuộc. Đây là bước nền tảng trước khi xây dựng ontology hình thức trong Protégé. Giảng viên nên kiểm tra kỹ phần giải thích khác biệt giữa taxonomy và ontology.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rèn kỹ năng tư duy phân cấp, vốn là nền tảng của mọi ontology. Sinh viên có thể vẽ tay hoặc dùng công cụ vẽ sơ đồ đơn giản để trình bày. Gợi ý phân nhóm theo môi trường di chuyển như đường bộ, đường thuỷ và đường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bài tập viết cú pháp Turtle đầu tiên, chuẩn bị dữ liệu cho bài truy vấn SPARQL kế tiếp. Sinh viên nên kiểm tra cú pháp bằng công cụ kiểm tra online hoặc nạp thử vào Protégé trước khi nộp. Dữ liệu tạo ra ở bài này sẽ được tái sử dụng ở Bài tập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giúp sinh viên thực hành cú pháp truy vấn SPARQL trên chính dữ liệu mình đã tạo. Nên khuyến khích sinh viên chạy thử truy vấn bằng tab SPARQL Query trong Protégé hoặc Apache Jena. Đây là kỹ năng quan trọng để khai thác tri thức từ ontology.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tổng hợp kỹ năng thao tác trực tiếp trên Protégé, từ tạo lớp đến chạy reasoner kiểm tra lỗi logic. Sinh viên cần bật reasoner và xem tab Inferred hierarchy để xác nhận kết quả suy diễn. Đây là bước chuẩn bị trực tiếp cho đồ án nhỏ ở phần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Đồ án nhỏ tổng hợp toàn bộ kiến thức đã học, cho phép sinh viên tự do chọn miền quen thuộc để tăng hứng thú. Nên khuyến khích áp dụng quy trình Ontology Development 101 đã học ở phần trước. Kết quả đồ án có thể dùng làm cơ sở đánh giá cuối chuyên đề.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tổng hợp các tài nguyên chính thức và miễn phí để sinh viên tự học thêm sau môn học. Protégé và Apache Jena là hai công cụ thực hành quan trọng nhất cần nắm vững. Khuyến khích sinh viên khám phá DBpedia và Wikidata để thấy ontology quy mô lớn trong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tổng kết nhấn mạnh lại các ý chính xuyên suốt toàn bộ bài giảng về ontology. Nên dành thời gian để sinh viên tự nhắc lại từng điểm trước khi chuyển sang phần hỏi đáp. Đây cũng là dịp liên hệ ontology với các môn học liên quan như cơ sở dữ liệu và trí tuệ nhân tạo.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khép lại bài giảng với danh mục tài liệu tham khảo để sinh viên tra cứu thêm. Dành thời gian cuối buổi cho phần hỏi đáp trực tiếp với sinh viên. Nhắc sinh viên hoàn thành đầy đủ bài tập và đồ án nhỏ đúng hạn nộp.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315C"/>
        </a:solidFill>
      </p:bgPr>
    </p:bg>
    <p:spTree>
      <p:nvGrpSpPr>
        <p:cNvPr id="1" name=""/>
        <p:cNvGrpSpPr/>
        <p:nvPr/>
      </p:nvGrpSpPr>
      <p:grpSpPr>
        <a:xfrm>
          <a:off x="0" y="0"/>
          <a:ext cx="0" cy="0"/>
          <a:chOff x="0" y="0"/>
          <a:chExt cx="0" cy="0"/>
        </a:xfrm>
      </p:grpSpPr>
      <p:sp>
        <p:nvSpPr>
          <p:cNvPr id="2" name="Shape 0"/>
          <p:cNvSpPr/>
          <p:nvPr/>
        </p:nvSpPr>
        <p:spPr>
          <a:xfrm>
            <a:off x="8686800" y="-365760"/>
            <a:ext cx="3840480" cy="3840480"/>
          </a:xfrm>
          <a:prstGeom prst="ellipse">
            <a:avLst/>
          </a:prstGeom>
          <a:ln w="17780">
            <a:solidFill>
              <a:srgbClr val="2E6CB5">
                <a:alpha val="70000"/>
              </a:srgbClr>
            </a:solidFill>
            <a:prstDash val="solid"/>
          </a:ln>
        </p:spPr>
      </p:sp>
      <p:sp>
        <p:nvSpPr>
          <p:cNvPr id="3" name="Shape 1"/>
          <p:cNvSpPr/>
          <p:nvPr/>
        </p:nvSpPr>
        <p:spPr>
          <a:xfrm>
            <a:off x="9235440" y="-365760"/>
            <a:ext cx="2743200" cy="2743200"/>
          </a:xfrm>
          <a:prstGeom prst="ellipse">
            <a:avLst/>
          </a:prstGeom>
          <a:ln w="17780">
            <a:solidFill>
              <a:srgbClr val="2E6CB5">
                <a:alpha val="55000"/>
              </a:srgbClr>
            </a:solidFill>
            <a:prstDash val="solid"/>
          </a:ln>
        </p:spPr>
      </p:sp>
      <p:sp>
        <p:nvSpPr>
          <p:cNvPr id="4" name="Shape 2"/>
          <p:cNvSpPr/>
          <p:nvPr/>
        </p:nvSpPr>
        <p:spPr>
          <a:xfrm>
            <a:off x="9784080" y="-365760"/>
            <a:ext cx="1645920" cy="1645920"/>
          </a:xfrm>
          <a:prstGeom prst="ellipse">
            <a:avLst/>
          </a:prstGeom>
          <a:ln w="17780">
            <a:solidFill>
              <a:srgbClr val="2E6CB5">
                <a:alpha val="40000"/>
              </a:srgbClr>
            </a:solidFill>
            <a:prstDash val="solid"/>
          </a:ln>
        </p:spPr>
      </p:sp>
      <p:sp>
        <p:nvSpPr>
          <p:cNvPr id="5" name="Shape 3"/>
          <p:cNvSpPr/>
          <p:nvPr/>
        </p:nvSpPr>
        <p:spPr>
          <a:xfrm>
            <a:off x="822960" y="1700784"/>
            <a:ext cx="4434840" cy="475488"/>
          </a:xfrm>
          <a:prstGeom prst="roundRect">
            <a:avLst/>
          </a:prstGeom>
          <a:solidFill>
            <a:srgbClr val="E2A233"/>
          </a:solidFill>
          <a:ln/>
        </p:spPr>
      </p:sp>
      <p:sp>
        <p:nvSpPr>
          <p:cNvPr id="6" name="Text 4"/>
          <p:cNvSpPr/>
          <p:nvPr/>
        </p:nvSpPr>
        <p:spPr>
          <a:xfrm>
            <a:off x="822960" y="1700784"/>
            <a:ext cx="4434840" cy="475488"/>
          </a:xfrm>
          <a:prstGeom prst="rect">
            <a:avLst/>
          </a:prstGeom>
          <a:noFill/>
          <a:ln/>
        </p:spPr>
        <p:txBody>
          <a:bodyPr wrap="square" rtlCol="0" anchor="ctr"/>
          <a:lstStyle/>
          <a:p>
            <a:pPr algn="ctr" indent="0" marL="0">
              <a:buNone/>
            </a:pPr>
            <a:r>
              <a:rPr lang="en-US" sz="1250" b="1" spc="100" kern="0" dirty="0">
                <a:solidFill>
                  <a:srgbClr val="13315C"/>
                </a:solidFill>
                <a:latin typeface="Calibri" pitchFamily="34" charset="0"/>
                <a:ea typeface="Calibri" pitchFamily="34" charset="-122"/>
                <a:cs typeface="Calibri" pitchFamily="34" charset="-120"/>
              </a:rPr>
              <a:t>BÀI GIẢNG · CÔNG NGHỆ THÔNG TIN</a:t>
            </a:r>
            <a:endParaRPr lang="en-US" sz="1250" dirty="0"/>
          </a:p>
        </p:txBody>
      </p:sp>
      <p:sp>
        <p:nvSpPr>
          <p:cNvPr id="7" name="Text 5"/>
          <p:cNvSpPr/>
          <p:nvPr/>
        </p:nvSpPr>
        <p:spPr>
          <a:xfrm>
            <a:off x="804672" y="2377440"/>
            <a:ext cx="10424160" cy="137160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Ontology và Ứng dụng</a:t>
            </a:r>
            <a:endParaRPr lang="en-US" sz="4800" dirty="0"/>
          </a:p>
        </p:txBody>
      </p:sp>
      <p:sp>
        <p:nvSpPr>
          <p:cNvPr id="8" name="Text 6"/>
          <p:cNvSpPr/>
          <p:nvPr/>
        </p:nvSpPr>
        <p:spPr>
          <a:xfrm>
            <a:off x="841248" y="3794760"/>
            <a:ext cx="10058400" cy="640080"/>
          </a:xfrm>
          <a:prstGeom prst="rect">
            <a:avLst/>
          </a:prstGeom>
          <a:noFill/>
          <a:ln/>
        </p:spPr>
        <p:txBody>
          <a:bodyPr wrap="square" rtlCol="0" anchor="ctr"/>
          <a:lstStyle/>
          <a:p>
            <a:pPr indent="0" marL="0">
              <a:buNone/>
            </a:pPr>
            <a:r>
              <a:rPr lang="en-US" sz="2200" dirty="0">
                <a:solidFill>
                  <a:srgbClr val="EAF2FB"/>
                </a:solidFill>
                <a:latin typeface="Calibri" pitchFamily="34" charset="0"/>
                <a:ea typeface="Calibri" pitchFamily="34" charset="-122"/>
                <a:cs typeface="Calibri" pitchFamily="34" charset="-120"/>
              </a:rPr>
              <a:t>Nhập môn: Khái niệm – Công cụ – Thực hành</a:t>
            </a:r>
            <a:endParaRPr lang="en-US" sz="2200" dirty="0"/>
          </a:p>
        </p:txBody>
      </p:sp>
      <p:sp>
        <p:nvSpPr>
          <p:cNvPr id="9" name="Text 7"/>
          <p:cNvSpPr/>
          <p:nvPr/>
        </p:nvSpPr>
        <p:spPr>
          <a:xfrm>
            <a:off x="841248" y="5074920"/>
            <a:ext cx="10058400" cy="457200"/>
          </a:xfrm>
          <a:prstGeom prst="rect">
            <a:avLst/>
          </a:prstGeom>
          <a:noFill/>
          <a:ln/>
        </p:spPr>
        <p:txBody>
          <a:bodyPr wrap="square" rtlCol="0" anchor="ctr"/>
          <a:lstStyle/>
          <a:p>
            <a:pPr indent="0" marL="0">
              <a:buNone/>
            </a:pPr>
            <a:r>
              <a:rPr lang="en-US" sz="1600" b="1" dirty="0">
                <a:solidFill>
                  <a:srgbClr val="E2A233"/>
                </a:solidFill>
                <a:latin typeface="Calibri" pitchFamily="34" charset="0"/>
                <a:ea typeface="Calibri" pitchFamily="34" charset="-122"/>
                <a:cs typeface="Calibri" pitchFamily="34" charset="-120"/>
              </a:rPr>
              <a:t>Dành cho sinh viên năm 2 ngành Công nghệ Thông tin</a:t>
            </a:r>
            <a:endParaRPr lang="en-US" sz="1600" dirty="0"/>
          </a:p>
        </p:txBody>
      </p:sp>
      <p:sp>
        <p:nvSpPr>
          <p:cNvPr id="10" name="Text 8"/>
          <p:cNvSpPr/>
          <p:nvPr/>
        </p:nvSpPr>
        <p:spPr>
          <a:xfrm>
            <a:off x="841248" y="5943600"/>
            <a:ext cx="10058400" cy="365760"/>
          </a:xfrm>
          <a:prstGeom prst="rect">
            <a:avLst/>
          </a:prstGeom>
          <a:noFill/>
          <a:ln/>
        </p:spPr>
        <p:txBody>
          <a:bodyPr wrap="square" rtlCol="0" anchor="ctr"/>
          <a:lstStyle/>
          <a:p>
            <a:pPr indent="0" marL="0">
              <a:buNone/>
            </a:pPr>
            <a:r>
              <a:rPr lang="en-US" sz="1300" spc="100" kern="0" dirty="0">
                <a:solidFill>
                  <a:srgbClr val="5B8FD0"/>
                </a:solidFill>
                <a:latin typeface="Calibri" pitchFamily="34" charset="0"/>
                <a:ea typeface="Calibri" pitchFamily="34" charset="-122"/>
                <a:cs typeface="Calibri" pitchFamily="34" charset="-120"/>
              </a:rPr>
              <a:t>RDF  ·  RDFS  ·  OWL  ·  SPARQL  ·  Protégé</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1  ·  NHẬP MÔN &amp; KHÁI NIỆM</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Nội dung buổi học</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2</a:t>
            </a:r>
            <a:endParaRPr lang="en-US" sz="1100" dirty="0"/>
          </a:p>
        </p:txBody>
      </p:sp>
      <p:sp>
        <p:nvSpPr>
          <p:cNvPr id="6" name="Shape 4"/>
          <p:cNvSpPr/>
          <p:nvPr/>
        </p:nvSpPr>
        <p:spPr>
          <a:xfrm>
            <a:off x="713232" y="1671523"/>
            <a:ext cx="329184" cy="329184"/>
          </a:xfrm>
          <a:prstGeom prst="roundRect">
            <a:avLst>
              <a:gd name="adj" fmla="val 16667"/>
            </a:avLst>
          </a:prstGeom>
          <a:solidFill>
            <a:srgbClr val="13315C"/>
          </a:solidFill>
          <a:ln/>
        </p:spPr>
      </p:sp>
      <p:sp>
        <p:nvSpPr>
          <p:cNvPr id="7" name="Text 5"/>
          <p:cNvSpPr/>
          <p:nvPr/>
        </p:nvSpPr>
        <p:spPr>
          <a:xfrm>
            <a:off x="713232" y="1671523"/>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Phần 1: Nhập môn và khái niệm cơ bản về ontology</a:t>
            </a:r>
            <a:endParaRPr lang="en-US" sz="1700" dirty="0"/>
          </a:p>
        </p:txBody>
      </p:sp>
      <p:sp>
        <p:nvSpPr>
          <p:cNvPr id="9" name="Shape 7"/>
          <p:cNvSpPr/>
          <p:nvPr/>
        </p:nvSpPr>
        <p:spPr>
          <a:xfrm>
            <a:off x="713232" y="2381098"/>
            <a:ext cx="329184" cy="329184"/>
          </a:xfrm>
          <a:prstGeom prst="roundRect">
            <a:avLst>
              <a:gd name="adj" fmla="val 16667"/>
            </a:avLst>
          </a:prstGeom>
          <a:solidFill>
            <a:srgbClr val="13315C"/>
          </a:solidFill>
          <a:ln/>
        </p:spPr>
      </p:sp>
      <p:sp>
        <p:nvSpPr>
          <p:cNvPr id="10" name="Text 8"/>
          <p:cNvSpPr/>
          <p:nvPr/>
        </p:nvSpPr>
        <p:spPr>
          <a:xfrm>
            <a:off x="713232" y="238109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190902"/>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Phần 2: Nền tảng biểu diễn tri thức RDF, RDFS, OWL, SPARQL</a:t>
            </a:r>
            <a:endParaRPr lang="en-US" sz="1700" dirty="0"/>
          </a:p>
        </p:txBody>
      </p:sp>
      <p:sp>
        <p:nvSpPr>
          <p:cNvPr id="12" name="Shape 10"/>
          <p:cNvSpPr/>
          <p:nvPr/>
        </p:nvSpPr>
        <p:spPr>
          <a:xfrm>
            <a:off x="713232" y="3090672"/>
            <a:ext cx="329184" cy="329184"/>
          </a:xfrm>
          <a:prstGeom prst="roundRect">
            <a:avLst>
              <a:gd name="adj" fmla="val 16667"/>
            </a:avLst>
          </a:prstGeom>
          <a:solidFill>
            <a:srgbClr val="13315C"/>
          </a:solidFill>
          <a:ln/>
        </p:spPr>
      </p:sp>
      <p:sp>
        <p:nvSpPr>
          <p:cNvPr id="13" name="Text 11"/>
          <p:cNvSpPr/>
          <p:nvPr/>
        </p:nvSpPr>
        <p:spPr>
          <a:xfrm>
            <a:off x="713232" y="309067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2900477"/>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Phần 3: Xây dựng ontology với công cụ Protégé</a:t>
            </a:r>
            <a:endParaRPr lang="en-US" sz="1700" dirty="0"/>
          </a:p>
        </p:txBody>
      </p:sp>
      <p:sp>
        <p:nvSpPr>
          <p:cNvPr id="15" name="Shape 13"/>
          <p:cNvSpPr/>
          <p:nvPr/>
        </p:nvSpPr>
        <p:spPr>
          <a:xfrm>
            <a:off x="713232" y="3800246"/>
            <a:ext cx="329184" cy="329184"/>
          </a:xfrm>
          <a:prstGeom prst="roundRect">
            <a:avLst>
              <a:gd name="adj" fmla="val 16667"/>
            </a:avLst>
          </a:prstGeom>
          <a:solidFill>
            <a:srgbClr val="13315C"/>
          </a:solidFill>
          <a:ln/>
        </p:spPr>
      </p:sp>
      <p:sp>
        <p:nvSpPr>
          <p:cNvPr id="16" name="Text 14"/>
          <p:cNvSpPr/>
          <p:nvPr/>
        </p:nvSpPr>
        <p:spPr>
          <a:xfrm>
            <a:off x="713232" y="380024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3610051"/>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Phần 4: Ứng dụng thực tế của ontology</a:t>
            </a:r>
            <a:endParaRPr lang="en-US" sz="1700" dirty="0"/>
          </a:p>
        </p:txBody>
      </p:sp>
      <p:sp>
        <p:nvSpPr>
          <p:cNvPr id="18" name="Shape 16"/>
          <p:cNvSpPr/>
          <p:nvPr/>
        </p:nvSpPr>
        <p:spPr>
          <a:xfrm>
            <a:off x="713232" y="4509821"/>
            <a:ext cx="329184" cy="329184"/>
          </a:xfrm>
          <a:prstGeom prst="roundRect">
            <a:avLst>
              <a:gd name="adj" fmla="val 16667"/>
            </a:avLst>
          </a:prstGeom>
          <a:solidFill>
            <a:srgbClr val="13315C"/>
          </a:solidFill>
          <a:ln/>
        </p:spPr>
      </p:sp>
      <p:sp>
        <p:nvSpPr>
          <p:cNvPr id="19" name="Text 17"/>
          <p:cNvSpPr/>
          <p:nvPr/>
        </p:nvSpPr>
        <p:spPr>
          <a:xfrm>
            <a:off x="713232" y="4509821"/>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07008" y="4319626"/>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Phần 5: Bài tập và đồ án thực hành</a:t>
            </a:r>
            <a:endParaRPr lang="en-US" sz="1700" dirty="0"/>
          </a:p>
        </p:txBody>
      </p:sp>
      <p:sp>
        <p:nvSpPr>
          <p:cNvPr id="21" name="Shape 19"/>
          <p:cNvSpPr/>
          <p:nvPr/>
        </p:nvSpPr>
        <p:spPr>
          <a:xfrm>
            <a:off x="685800" y="5193792"/>
            <a:ext cx="10835640" cy="1024128"/>
          </a:xfrm>
          <a:prstGeom prst="roundRect">
            <a:avLst>
              <a:gd name="adj" fmla="val 7143"/>
            </a:avLst>
          </a:prstGeom>
          <a:solidFill>
            <a:srgbClr val="FBF1DA"/>
          </a:solidFill>
          <a:ln w="12700">
            <a:solidFill>
              <a:srgbClr val="E2A233"/>
            </a:solidFill>
            <a:prstDash val="solid"/>
          </a:ln>
          <a:effectLst>
            <a:outerShdw sx="100000" sy="100000" kx="0" ky="0" algn="bl" rotWithShape="0" blurRad="76200" dist="25400" dir="5400000">
              <a:srgbClr val="9FB1C4">
                <a:alpha val="32000"/>
              </a:srgbClr>
            </a:outerShdw>
          </a:effectLst>
        </p:spPr>
      </p:sp>
      <p:sp>
        <p:nvSpPr>
          <p:cNvPr id="22" name="Text 20"/>
          <p:cNvSpPr/>
          <p:nvPr/>
        </p:nvSpPr>
        <p:spPr>
          <a:xfrm>
            <a:off x="932688" y="5312664"/>
            <a:ext cx="10332720" cy="274320"/>
          </a:xfrm>
          <a:prstGeom prst="rect">
            <a:avLst/>
          </a:prstGeom>
          <a:noFill/>
          <a:ln/>
        </p:spPr>
        <p:txBody>
          <a:bodyPr wrap="square" rtlCol="0" anchor="ctr"/>
          <a:lstStyle/>
          <a:p>
            <a:pPr indent="0" marL="0">
              <a:buNone/>
            </a:pPr>
            <a:r>
              <a:rPr lang="en-US" sz="1200" b="1" spc="100" kern="0" dirty="0">
                <a:solidFill>
                  <a:srgbClr val="C1801F"/>
                </a:solidFill>
                <a:latin typeface="Calibri" pitchFamily="34" charset="0"/>
                <a:ea typeface="Calibri" pitchFamily="34" charset="-122"/>
                <a:cs typeface="Calibri" pitchFamily="34" charset="-120"/>
              </a:rPr>
              <a:t>MỤC TIÊU</a:t>
            </a:r>
            <a:endParaRPr lang="en-US" sz="1200" dirty="0"/>
          </a:p>
        </p:txBody>
      </p:sp>
      <p:sp>
        <p:nvSpPr>
          <p:cNvPr id="23" name="Text 21"/>
          <p:cNvSpPr/>
          <p:nvPr/>
        </p:nvSpPr>
        <p:spPr>
          <a:xfrm>
            <a:off x="932688" y="5596128"/>
            <a:ext cx="10332720" cy="53035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Hiểu ontology là gì và tự xây được một ontology nhỏ bằng Protégé.</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1  ·  NHẬP MÔN &amp; KHÁI NIỆM</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Ontology là gì?</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3</a:t>
            </a:r>
            <a:endParaRPr lang="en-US" sz="1100" dirty="0"/>
          </a:p>
        </p:txBody>
      </p:sp>
      <p:sp>
        <p:nvSpPr>
          <p:cNvPr id="6" name="Shape 4"/>
          <p:cNvSpPr/>
          <p:nvPr/>
        </p:nvSpPr>
        <p:spPr>
          <a:xfrm>
            <a:off x="713232" y="1671523"/>
            <a:ext cx="329184" cy="329184"/>
          </a:xfrm>
          <a:prstGeom prst="roundRect">
            <a:avLst>
              <a:gd name="adj" fmla="val 16667"/>
            </a:avLst>
          </a:prstGeom>
          <a:solidFill>
            <a:srgbClr val="13315C"/>
          </a:solidFill>
          <a:ln/>
        </p:spPr>
      </p:sp>
      <p:sp>
        <p:nvSpPr>
          <p:cNvPr id="7" name="Text 5"/>
          <p:cNvSpPr/>
          <p:nvPr/>
        </p:nvSpPr>
        <p:spPr>
          <a:xfrm>
            <a:off x="713232" y="1671523"/>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Mô hình biểu diễn tri thức về một lĩnh vực cụ thể</a:t>
            </a:r>
            <a:endParaRPr lang="en-US" sz="1700" dirty="0"/>
          </a:p>
        </p:txBody>
      </p:sp>
      <p:sp>
        <p:nvSpPr>
          <p:cNvPr id="9" name="Shape 7"/>
          <p:cNvSpPr/>
          <p:nvPr/>
        </p:nvSpPr>
        <p:spPr>
          <a:xfrm>
            <a:off x="713232" y="2381098"/>
            <a:ext cx="329184" cy="329184"/>
          </a:xfrm>
          <a:prstGeom prst="roundRect">
            <a:avLst>
              <a:gd name="adj" fmla="val 16667"/>
            </a:avLst>
          </a:prstGeom>
          <a:solidFill>
            <a:srgbClr val="13315C"/>
          </a:solidFill>
          <a:ln/>
        </p:spPr>
      </p:sp>
      <p:sp>
        <p:nvSpPr>
          <p:cNvPr id="10" name="Text 8"/>
          <p:cNvSpPr/>
          <p:nvPr/>
        </p:nvSpPr>
        <p:spPr>
          <a:xfrm>
            <a:off x="713232" y="238109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190902"/>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Gồm các khái niệm, quan hệ giữa khái niệm và ràng buộc</a:t>
            </a:r>
            <a:endParaRPr lang="en-US" sz="1700" dirty="0"/>
          </a:p>
        </p:txBody>
      </p:sp>
      <p:sp>
        <p:nvSpPr>
          <p:cNvPr id="12" name="Shape 10"/>
          <p:cNvSpPr/>
          <p:nvPr/>
        </p:nvSpPr>
        <p:spPr>
          <a:xfrm>
            <a:off x="713232" y="3090672"/>
            <a:ext cx="329184" cy="329184"/>
          </a:xfrm>
          <a:prstGeom prst="roundRect">
            <a:avLst>
              <a:gd name="adj" fmla="val 16667"/>
            </a:avLst>
          </a:prstGeom>
          <a:solidFill>
            <a:srgbClr val="13315C"/>
          </a:solidFill>
          <a:ln/>
        </p:spPr>
      </p:sp>
      <p:sp>
        <p:nvSpPr>
          <p:cNvPr id="13" name="Text 11"/>
          <p:cNvSpPr/>
          <p:nvPr/>
        </p:nvSpPr>
        <p:spPr>
          <a:xfrm>
            <a:off x="713232" y="309067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2900477"/>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Mô tả cách các sự vật liên hệ với nhau trong thực tế</a:t>
            </a:r>
            <a:endParaRPr lang="en-US" sz="1700" dirty="0"/>
          </a:p>
        </p:txBody>
      </p:sp>
      <p:sp>
        <p:nvSpPr>
          <p:cNvPr id="15" name="Shape 13"/>
          <p:cNvSpPr/>
          <p:nvPr/>
        </p:nvSpPr>
        <p:spPr>
          <a:xfrm>
            <a:off x="713232" y="3800246"/>
            <a:ext cx="329184" cy="329184"/>
          </a:xfrm>
          <a:prstGeom prst="roundRect">
            <a:avLst>
              <a:gd name="adj" fmla="val 16667"/>
            </a:avLst>
          </a:prstGeom>
          <a:solidFill>
            <a:srgbClr val="13315C"/>
          </a:solidFill>
          <a:ln/>
        </p:spPr>
      </p:sp>
      <p:sp>
        <p:nvSpPr>
          <p:cNvPr id="16" name="Text 14"/>
          <p:cNvSpPr/>
          <p:nvPr/>
        </p:nvSpPr>
        <p:spPr>
          <a:xfrm>
            <a:off x="713232" y="380024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3610051"/>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Giúp con người và máy tính hiểu chung một ý nghĩa dữ liệu</a:t>
            </a:r>
            <a:endParaRPr lang="en-US" sz="1700" dirty="0"/>
          </a:p>
        </p:txBody>
      </p:sp>
      <p:sp>
        <p:nvSpPr>
          <p:cNvPr id="18" name="Shape 16"/>
          <p:cNvSpPr/>
          <p:nvPr/>
        </p:nvSpPr>
        <p:spPr>
          <a:xfrm>
            <a:off x="713232" y="4509821"/>
            <a:ext cx="329184" cy="329184"/>
          </a:xfrm>
          <a:prstGeom prst="roundRect">
            <a:avLst>
              <a:gd name="adj" fmla="val 16667"/>
            </a:avLst>
          </a:prstGeom>
          <a:solidFill>
            <a:srgbClr val="13315C"/>
          </a:solidFill>
          <a:ln/>
        </p:spPr>
      </p:sp>
      <p:sp>
        <p:nvSpPr>
          <p:cNvPr id="19" name="Text 17"/>
          <p:cNvSpPr/>
          <p:nvPr/>
        </p:nvSpPr>
        <p:spPr>
          <a:xfrm>
            <a:off x="713232" y="4509821"/>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07008" y="4319626"/>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Là nền tảng để hệ thống máy tính suy luận tự động</a:t>
            </a:r>
            <a:endParaRPr lang="en-US" sz="1700" dirty="0"/>
          </a:p>
        </p:txBody>
      </p:sp>
      <p:sp>
        <p:nvSpPr>
          <p:cNvPr id="21" name="Shape 19"/>
          <p:cNvSpPr/>
          <p:nvPr/>
        </p:nvSpPr>
        <p:spPr>
          <a:xfrm>
            <a:off x="685800" y="5193792"/>
            <a:ext cx="10835640" cy="1024128"/>
          </a:xfrm>
          <a:prstGeom prst="roundRect">
            <a:avLst>
              <a:gd name="adj" fmla="val 7143"/>
            </a:avLst>
          </a:prstGeom>
          <a:solidFill>
            <a:srgbClr val="FBF1DA"/>
          </a:solidFill>
          <a:ln w="12700">
            <a:solidFill>
              <a:srgbClr val="E2A233"/>
            </a:solidFill>
            <a:prstDash val="solid"/>
          </a:ln>
          <a:effectLst>
            <a:outerShdw sx="100000" sy="100000" kx="0" ky="0" algn="bl" rotWithShape="0" blurRad="76200" dist="25400" dir="5400000">
              <a:srgbClr val="9FB1C4">
                <a:alpha val="32000"/>
              </a:srgbClr>
            </a:outerShdw>
          </a:effectLst>
        </p:spPr>
      </p:sp>
      <p:sp>
        <p:nvSpPr>
          <p:cNvPr id="22" name="Text 20"/>
          <p:cNvSpPr/>
          <p:nvPr/>
        </p:nvSpPr>
        <p:spPr>
          <a:xfrm>
            <a:off x="932688" y="5312664"/>
            <a:ext cx="10332720" cy="274320"/>
          </a:xfrm>
          <a:prstGeom prst="rect">
            <a:avLst/>
          </a:prstGeom>
          <a:noFill/>
          <a:ln/>
        </p:spPr>
        <p:txBody>
          <a:bodyPr wrap="square" rtlCol="0" anchor="ctr"/>
          <a:lstStyle/>
          <a:p>
            <a:pPr indent="0" marL="0">
              <a:buNone/>
            </a:pPr>
            <a:r>
              <a:rPr lang="en-US" sz="1200" b="1" spc="100" kern="0" dirty="0">
                <a:solidFill>
                  <a:srgbClr val="C1801F"/>
                </a:solidFill>
                <a:latin typeface="Calibri" pitchFamily="34" charset="0"/>
                <a:ea typeface="Calibri" pitchFamily="34" charset="-122"/>
                <a:cs typeface="Calibri" pitchFamily="34" charset="-120"/>
              </a:rPr>
              <a:t>ĐỊNH NGHĨA KINH ĐIỂN</a:t>
            </a:r>
            <a:endParaRPr lang="en-US" sz="1200" dirty="0"/>
          </a:p>
        </p:txBody>
      </p:sp>
      <p:sp>
        <p:nvSpPr>
          <p:cNvPr id="23" name="Text 21"/>
          <p:cNvSpPr/>
          <p:nvPr/>
        </p:nvSpPr>
        <p:spPr>
          <a:xfrm>
            <a:off x="932688" y="5596128"/>
            <a:ext cx="10332720" cy="53035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Theo Gruber: Ontology là một đặc tả tường minh của một khái niệm hoá (conceptualization).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1  ·  NHẬP MÔN &amp; KHÁI NIỆM</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Ví dụ trực quan: Ontology Động vật</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4</a:t>
            </a:r>
            <a:endParaRPr lang="en-US" sz="1100" dirty="0"/>
          </a:p>
        </p:txBody>
      </p:sp>
      <p:sp>
        <p:nvSpPr>
          <p:cNvPr id="6" name="Shape 4"/>
          <p:cNvSpPr/>
          <p:nvPr/>
        </p:nvSpPr>
        <p:spPr>
          <a:xfrm>
            <a:off x="4626864" y="1572768"/>
            <a:ext cx="2926080" cy="713232"/>
          </a:xfrm>
          <a:prstGeom prst="roundRect">
            <a:avLst>
              <a:gd name="adj" fmla="val 10256"/>
            </a:avLst>
          </a:prstGeom>
          <a:solidFill>
            <a:srgbClr val="13315C"/>
          </a:solidFill>
          <a:ln/>
          <a:effectLst>
            <a:outerShdw sx="100000" sy="100000" kx="0" ky="0" algn="bl" rotWithShape="0" blurRad="76200" dist="25400" dir="5400000">
              <a:srgbClr val="9FB1C4">
                <a:alpha val="32000"/>
              </a:srgbClr>
            </a:outerShdw>
          </a:effectLst>
        </p:spPr>
      </p:sp>
      <p:sp>
        <p:nvSpPr>
          <p:cNvPr id="7" name="Text 5"/>
          <p:cNvSpPr/>
          <p:nvPr/>
        </p:nvSpPr>
        <p:spPr>
          <a:xfrm>
            <a:off x="4681728" y="1572768"/>
            <a:ext cx="2816352" cy="713232"/>
          </a:xfrm>
          <a:prstGeom prst="rect">
            <a:avLst/>
          </a:prstGeom>
          <a:noFill/>
          <a:ln/>
        </p:spPr>
        <p:txBody>
          <a:bodyPr wrap="square"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Động vật (Animal)</a:t>
            </a:r>
            <a:endParaRPr lang="en-US" sz="1600" dirty="0"/>
          </a:p>
        </p:txBody>
      </p:sp>
      <p:sp>
        <p:nvSpPr>
          <p:cNvPr id="8" name="Shape 6"/>
          <p:cNvSpPr/>
          <p:nvPr/>
        </p:nvSpPr>
        <p:spPr>
          <a:xfrm flipH="1">
            <a:off x="3367278" y="2286000"/>
            <a:ext cx="2722626" cy="566928"/>
          </a:xfrm>
          <a:prstGeom prst="line">
            <a:avLst/>
          </a:prstGeom>
          <a:noFill/>
          <a:ln w="22225">
            <a:solidFill>
              <a:srgbClr val="2E6CB5"/>
            </a:solidFill>
            <a:prstDash val="solid"/>
          </a:ln>
        </p:spPr>
      </p:sp>
      <p:sp>
        <p:nvSpPr>
          <p:cNvPr id="9" name="Shape 7"/>
          <p:cNvSpPr/>
          <p:nvPr/>
        </p:nvSpPr>
        <p:spPr>
          <a:xfrm>
            <a:off x="1995678" y="2852928"/>
            <a:ext cx="2743200" cy="658368"/>
          </a:xfrm>
          <a:prstGeom prst="roundRect">
            <a:avLst>
              <a:gd name="adj" fmla="val 11111"/>
            </a:avLst>
          </a:prstGeom>
          <a:solidFill>
            <a:srgbClr val="2E6CB5"/>
          </a:solidFill>
          <a:ln/>
          <a:effectLst>
            <a:outerShdw sx="100000" sy="100000" kx="0" ky="0" algn="bl" rotWithShape="0" blurRad="76200" dist="25400" dir="5400000">
              <a:srgbClr val="9FB1C4">
                <a:alpha val="32000"/>
              </a:srgbClr>
            </a:outerShdw>
          </a:effectLst>
        </p:spPr>
      </p:sp>
      <p:sp>
        <p:nvSpPr>
          <p:cNvPr id="10" name="Text 8"/>
          <p:cNvSpPr/>
          <p:nvPr/>
        </p:nvSpPr>
        <p:spPr>
          <a:xfrm>
            <a:off x="2050542" y="2852928"/>
            <a:ext cx="2633472" cy="658368"/>
          </a:xfrm>
          <a:prstGeom prst="rect">
            <a:avLst/>
          </a:prstGeom>
          <a:noFill/>
          <a:ln/>
        </p:spPr>
        <p:txBody>
          <a:bodyPr wrap="square"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Thú (Mammal)</a:t>
            </a:r>
            <a:endParaRPr lang="en-US" sz="1500" dirty="0"/>
          </a:p>
        </p:txBody>
      </p:sp>
      <p:sp>
        <p:nvSpPr>
          <p:cNvPr id="11" name="Shape 9"/>
          <p:cNvSpPr/>
          <p:nvPr/>
        </p:nvSpPr>
        <p:spPr>
          <a:xfrm>
            <a:off x="3367278" y="3511296"/>
            <a:ext cx="0" cy="402336"/>
          </a:xfrm>
          <a:prstGeom prst="line">
            <a:avLst/>
          </a:prstGeom>
          <a:noFill/>
          <a:ln w="22225">
            <a:solidFill>
              <a:srgbClr val="5B8FD0"/>
            </a:solidFill>
            <a:prstDash val="solid"/>
          </a:ln>
        </p:spPr>
      </p:sp>
      <p:sp>
        <p:nvSpPr>
          <p:cNvPr id="12" name="Shape 10"/>
          <p:cNvSpPr/>
          <p:nvPr/>
        </p:nvSpPr>
        <p:spPr>
          <a:xfrm>
            <a:off x="2132838" y="3913632"/>
            <a:ext cx="2468880" cy="457200"/>
          </a:xfrm>
          <a:prstGeom prst="roundRect">
            <a:avLst>
              <a:gd name="adj" fmla="val 16000"/>
            </a:avLst>
          </a:prstGeom>
          <a:solidFill>
            <a:srgbClr val="EAF2FB"/>
          </a:solidFill>
          <a:ln/>
          <a:effectLst>
            <a:outerShdw sx="100000" sy="100000" kx="0" ky="0" algn="bl" rotWithShape="0" blurRad="76200" dist="25400" dir="5400000">
              <a:srgbClr val="9FB1C4">
                <a:alpha val="32000"/>
              </a:srgbClr>
            </a:outerShdw>
          </a:effectLst>
        </p:spPr>
      </p:sp>
      <p:sp>
        <p:nvSpPr>
          <p:cNvPr id="13" name="Text 11"/>
          <p:cNvSpPr/>
          <p:nvPr/>
        </p:nvSpPr>
        <p:spPr>
          <a:xfrm>
            <a:off x="2187702" y="3913632"/>
            <a:ext cx="2359152" cy="457200"/>
          </a:xfrm>
          <a:prstGeom prst="rect">
            <a:avLst/>
          </a:prstGeom>
          <a:noFill/>
          <a:ln/>
        </p:spPr>
        <p:txBody>
          <a:bodyPr wrap="square" rtlCol="0" anchor="ctr">
            <a:normAutofit/>
          </a:bodyPr>
          <a:lstStyle/>
          <a:p>
            <a:pPr algn="ctr" indent="0" marL="0">
              <a:buNone/>
            </a:pPr>
            <a:r>
              <a:rPr lang="en-US" sz="1300" dirty="0">
                <a:solidFill>
                  <a:srgbClr val="1F2D3A"/>
                </a:solidFill>
                <a:latin typeface="Calibri" pitchFamily="34" charset="0"/>
                <a:ea typeface="Calibri" pitchFamily="34" charset="-122"/>
                <a:cs typeface="Calibri" pitchFamily="34" charset="-120"/>
              </a:rPr>
              <a:t>Chó (Dog)</a:t>
            </a:r>
            <a:endParaRPr lang="en-US" sz="1300" dirty="0"/>
          </a:p>
        </p:txBody>
      </p:sp>
      <p:sp>
        <p:nvSpPr>
          <p:cNvPr id="14" name="Shape 12"/>
          <p:cNvSpPr/>
          <p:nvPr/>
        </p:nvSpPr>
        <p:spPr>
          <a:xfrm>
            <a:off x="2132838" y="4498848"/>
            <a:ext cx="2468880" cy="457200"/>
          </a:xfrm>
          <a:prstGeom prst="roundRect">
            <a:avLst>
              <a:gd name="adj" fmla="val 16000"/>
            </a:avLst>
          </a:prstGeom>
          <a:solidFill>
            <a:srgbClr val="EAF2FB"/>
          </a:solidFill>
          <a:ln/>
          <a:effectLst>
            <a:outerShdw sx="100000" sy="100000" kx="0" ky="0" algn="bl" rotWithShape="0" blurRad="76200" dist="25400" dir="5400000">
              <a:srgbClr val="9FB1C4">
                <a:alpha val="32000"/>
              </a:srgbClr>
            </a:outerShdw>
          </a:effectLst>
        </p:spPr>
      </p:sp>
      <p:sp>
        <p:nvSpPr>
          <p:cNvPr id="15" name="Text 13"/>
          <p:cNvSpPr/>
          <p:nvPr/>
        </p:nvSpPr>
        <p:spPr>
          <a:xfrm>
            <a:off x="2187702" y="4498848"/>
            <a:ext cx="2359152" cy="457200"/>
          </a:xfrm>
          <a:prstGeom prst="rect">
            <a:avLst/>
          </a:prstGeom>
          <a:noFill/>
          <a:ln/>
        </p:spPr>
        <p:txBody>
          <a:bodyPr wrap="square" rtlCol="0" anchor="ctr">
            <a:normAutofit/>
          </a:bodyPr>
          <a:lstStyle/>
          <a:p>
            <a:pPr algn="ctr" indent="0" marL="0">
              <a:buNone/>
            </a:pPr>
            <a:r>
              <a:rPr lang="en-US" sz="1300" dirty="0">
                <a:solidFill>
                  <a:srgbClr val="1F2D3A"/>
                </a:solidFill>
                <a:latin typeface="Calibri" pitchFamily="34" charset="0"/>
                <a:ea typeface="Calibri" pitchFamily="34" charset="-122"/>
                <a:cs typeface="Calibri" pitchFamily="34" charset="-120"/>
              </a:rPr>
              <a:t>Mèo (Cat)</a:t>
            </a:r>
            <a:endParaRPr lang="en-US" sz="1300" dirty="0"/>
          </a:p>
        </p:txBody>
      </p:sp>
      <p:sp>
        <p:nvSpPr>
          <p:cNvPr id="16" name="Shape 14"/>
          <p:cNvSpPr/>
          <p:nvPr/>
        </p:nvSpPr>
        <p:spPr>
          <a:xfrm>
            <a:off x="6089904" y="2286000"/>
            <a:ext cx="2731770" cy="566928"/>
          </a:xfrm>
          <a:prstGeom prst="line">
            <a:avLst/>
          </a:prstGeom>
          <a:noFill/>
          <a:ln w="22225">
            <a:solidFill>
              <a:srgbClr val="2E6CB5"/>
            </a:solidFill>
            <a:prstDash val="solid"/>
          </a:ln>
        </p:spPr>
      </p:sp>
      <p:sp>
        <p:nvSpPr>
          <p:cNvPr id="17" name="Shape 15"/>
          <p:cNvSpPr/>
          <p:nvPr/>
        </p:nvSpPr>
        <p:spPr>
          <a:xfrm>
            <a:off x="7450074" y="2852928"/>
            <a:ext cx="2743200" cy="658368"/>
          </a:xfrm>
          <a:prstGeom prst="roundRect">
            <a:avLst>
              <a:gd name="adj" fmla="val 11111"/>
            </a:avLst>
          </a:prstGeom>
          <a:solidFill>
            <a:srgbClr val="2E6CB5"/>
          </a:solidFill>
          <a:ln/>
          <a:effectLst>
            <a:outerShdw sx="100000" sy="100000" kx="0" ky="0" algn="bl" rotWithShape="0" blurRad="76200" dist="25400" dir="5400000">
              <a:srgbClr val="9FB1C4">
                <a:alpha val="32000"/>
              </a:srgbClr>
            </a:outerShdw>
          </a:effectLst>
        </p:spPr>
      </p:sp>
      <p:sp>
        <p:nvSpPr>
          <p:cNvPr id="18" name="Text 16"/>
          <p:cNvSpPr/>
          <p:nvPr/>
        </p:nvSpPr>
        <p:spPr>
          <a:xfrm>
            <a:off x="7504938" y="2852928"/>
            <a:ext cx="2633472" cy="658368"/>
          </a:xfrm>
          <a:prstGeom prst="rect">
            <a:avLst/>
          </a:prstGeom>
          <a:noFill/>
          <a:ln/>
        </p:spPr>
        <p:txBody>
          <a:bodyPr wrap="square"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Chim (Bird)</a:t>
            </a:r>
            <a:endParaRPr lang="en-US" sz="1500" dirty="0"/>
          </a:p>
        </p:txBody>
      </p:sp>
      <p:sp>
        <p:nvSpPr>
          <p:cNvPr id="19" name="Shape 17"/>
          <p:cNvSpPr/>
          <p:nvPr/>
        </p:nvSpPr>
        <p:spPr>
          <a:xfrm>
            <a:off x="8821674" y="3511296"/>
            <a:ext cx="0" cy="402336"/>
          </a:xfrm>
          <a:prstGeom prst="line">
            <a:avLst/>
          </a:prstGeom>
          <a:noFill/>
          <a:ln w="22225">
            <a:solidFill>
              <a:srgbClr val="5B8FD0"/>
            </a:solidFill>
            <a:prstDash val="solid"/>
          </a:ln>
        </p:spPr>
      </p:sp>
      <p:sp>
        <p:nvSpPr>
          <p:cNvPr id="20" name="Shape 18"/>
          <p:cNvSpPr/>
          <p:nvPr/>
        </p:nvSpPr>
        <p:spPr>
          <a:xfrm>
            <a:off x="7587234" y="3913632"/>
            <a:ext cx="2468880" cy="457200"/>
          </a:xfrm>
          <a:prstGeom prst="roundRect">
            <a:avLst>
              <a:gd name="adj" fmla="val 16000"/>
            </a:avLst>
          </a:prstGeom>
          <a:solidFill>
            <a:srgbClr val="EAF2FB"/>
          </a:solidFill>
          <a:ln/>
          <a:effectLst>
            <a:outerShdw sx="100000" sy="100000" kx="0" ky="0" algn="bl" rotWithShape="0" blurRad="76200" dist="25400" dir="5400000">
              <a:srgbClr val="9FB1C4">
                <a:alpha val="32000"/>
              </a:srgbClr>
            </a:outerShdw>
          </a:effectLst>
        </p:spPr>
      </p:sp>
      <p:sp>
        <p:nvSpPr>
          <p:cNvPr id="21" name="Text 19"/>
          <p:cNvSpPr/>
          <p:nvPr/>
        </p:nvSpPr>
        <p:spPr>
          <a:xfrm>
            <a:off x="7642098" y="3913632"/>
            <a:ext cx="2359152" cy="457200"/>
          </a:xfrm>
          <a:prstGeom prst="rect">
            <a:avLst/>
          </a:prstGeom>
          <a:noFill/>
          <a:ln/>
        </p:spPr>
        <p:txBody>
          <a:bodyPr wrap="square" rtlCol="0" anchor="ctr">
            <a:normAutofit/>
          </a:bodyPr>
          <a:lstStyle/>
          <a:p>
            <a:pPr algn="ctr" indent="0" marL="0">
              <a:buNone/>
            </a:pPr>
            <a:r>
              <a:rPr lang="en-US" sz="1300" dirty="0">
                <a:solidFill>
                  <a:srgbClr val="1F2D3A"/>
                </a:solidFill>
                <a:latin typeface="Calibri" pitchFamily="34" charset="0"/>
                <a:ea typeface="Calibri" pitchFamily="34" charset="-122"/>
                <a:cs typeface="Calibri" pitchFamily="34" charset="-120"/>
              </a:rPr>
              <a:t>Chim sẻ</a:t>
            </a:r>
            <a:endParaRPr lang="en-US" sz="1300" dirty="0"/>
          </a:p>
        </p:txBody>
      </p:sp>
      <p:sp>
        <p:nvSpPr>
          <p:cNvPr id="22" name="Shape 20"/>
          <p:cNvSpPr/>
          <p:nvPr/>
        </p:nvSpPr>
        <p:spPr>
          <a:xfrm>
            <a:off x="7587234" y="4498848"/>
            <a:ext cx="2468880" cy="457200"/>
          </a:xfrm>
          <a:prstGeom prst="roundRect">
            <a:avLst>
              <a:gd name="adj" fmla="val 16000"/>
            </a:avLst>
          </a:prstGeom>
          <a:solidFill>
            <a:srgbClr val="EAF2FB"/>
          </a:solidFill>
          <a:ln/>
          <a:effectLst>
            <a:outerShdw sx="100000" sy="100000" kx="0" ky="0" algn="bl" rotWithShape="0" blurRad="76200" dist="25400" dir="5400000">
              <a:srgbClr val="9FB1C4">
                <a:alpha val="32000"/>
              </a:srgbClr>
            </a:outerShdw>
          </a:effectLst>
        </p:spPr>
      </p:sp>
      <p:sp>
        <p:nvSpPr>
          <p:cNvPr id="23" name="Text 21"/>
          <p:cNvSpPr/>
          <p:nvPr/>
        </p:nvSpPr>
        <p:spPr>
          <a:xfrm>
            <a:off x="7642098" y="4498848"/>
            <a:ext cx="2359152" cy="457200"/>
          </a:xfrm>
          <a:prstGeom prst="rect">
            <a:avLst/>
          </a:prstGeom>
          <a:noFill/>
          <a:ln/>
        </p:spPr>
        <p:txBody>
          <a:bodyPr wrap="square" rtlCol="0" anchor="ctr">
            <a:normAutofit/>
          </a:bodyPr>
          <a:lstStyle/>
          <a:p>
            <a:pPr algn="ctr" indent="0" marL="0">
              <a:buNone/>
            </a:pPr>
            <a:r>
              <a:rPr lang="en-US" sz="1300" dirty="0">
                <a:solidFill>
                  <a:srgbClr val="1F2D3A"/>
                </a:solidFill>
                <a:latin typeface="Calibri" pitchFamily="34" charset="0"/>
                <a:ea typeface="Calibri" pitchFamily="34" charset="-122"/>
                <a:cs typeface="Calibri" pitchFamily="34" charset="-120"/>
              </a:rPr>
              <a:t>Đại bàng</a:t>
            </a:r>
            <a:endParaRPr lang="en-US" sz="1300" dirty="0"/>
          </a:p>
        </p:txBody>
      </p:sp>
      <p:sp>
        <p:nvSpPr>
          <p:cNvPr id="24" name="Text 22"/>
          <p:cNvSpPr/>
          <p:nvPr/>
        </p:nvSpPr>
        <p:spPr>
          <a:xfrm>
            <a:off x="713232" y="5157216"/>
            <a:ext cx="10835640" cy="292608"/>
          </a:xfrm>
          <a:prstGeom prst="rect">
            <a:avLst/>
          </a:prstGeom>
          <a:noFill/>
          <a:ln/>
        </p:spPr>
        <p:txBody>
          <a:bodyPr wrap="square" rtlCol="0" anchor="ctr"/>
          <a:lstStyle/>
          <a:p>
            <a:pPr algn="ctr" indent="0" marL="0">
              <a:buNone/>
            </a:pPr>
            <a:r>
              <a:rPr lang="en-US" sz="1300" i="1" dirty="0">
                <a:solidFill>
                  <a:srgbClr val="5C6B7B"/>
                </a:solidFill>
                <a:latin typeface="Calibri" pitchFamily="34" charset="0"/>
                <a:ea typeface="Calibri" pitchFamily="34" charset="-122"/>
                <a:cs typeface="Calibri" pitchFamily="34" charset="-120"/>
              </a:rPr>
              <a:t>Quan hệ là một (is-a / subClassOf)</a:t>
            </a:r>
            <a:endParaRPr lang="en-US" sz="1300" dirty="0"/>
          </a:p>
        </p:txBody>
      </p:sp>
      <p:sp>
        <p:nvSpPr>
          <p:cNvPr id="25" name="Shape 23"/>
          <p:cNvSpPr/>
          <p:nvPr/>
        </p:nvSpPr>
        <p:spPr>
          <a:xfrm>
            <a:off x="713232" y="5504688"/>
            <a:ext cx="3429000" cy="603504"/>
          </a:xfrm>
          <a:prstGeom prst="roundRect">
            <a:avLst>
              <a:gd name="adj" fmla="val 12121"/>
            </a:avLst>
          </a:prstGeom>
          <a:solidFill>
            <a:srgbClr val="EAF2FB"/>
          </a:solidFill>
          <a:ln w="12700">
            <a:solidFill>
              <a:srgbClr val="CFDCEA"/>
            </a:solidFill>
            <a:prstDash val="solid"/>
          </a:ln>
        </p:spPr>
      </p:sp>
      <p:sp>
        <p:nvSpPr>
          <p:cNvPr id="26" name="Text 24"/>
          <p:cNvSpPr/>
          <p:nvPr/>
        </p:nvSpPr>
        <p:spPr>
          <a:xfrm>
            <a:off x="850392" y="5504688"/>
            <a:ext cx="3154680" cy="603504"/>
          </a:xfrm>
          <a:prstGeom prst="rect">
            <a:avLst/>
          </a:prstGeom>
          <a:noFill/>
          <a:ln/>
        </p:spPr>
        <p:txBody>
          <a:bodyPr wrap="square" rtlCol="0" anchor="ctr">
            <a:normAutofit/>
          </a:bodyPr>
          <a:lstStyle/>
          <a:p>
            <a:pPr algn="ctr" indent="0" marL="0">
              <a:buNone/>
            </a:pPr>
            <a:r>
              <a:rPr lang="en-US" sz="1300" dirty="0">
                <a:solidFill>
                  <a:srgbClr val="1F2D3A"/>
                </a:solidFill>
                <a:latin typeface="Calibri" pitchFamily="34" charset="0"/>
                <a:ea typeface="Calibri" pitchFamily="34" charset="-122"/>
                <a:cs typeface="Calibri" pitchFamily="34" charset="-120"/>
              </a:rPr>
              <a:t>Động vật là lớp (class) cha bao quát nhất</a:t>
            </a:r>
            <a:endParaRPr lang="en-US" sz="1300" dirty="0"/>
          </a:p>
        </p:txBody>
      </p:sp>
      <p:sp>
        <p:nvSpPr>
          <p:cNvPr id="27" name="Shape 25"/>
          <p:cNvSpPr/>
          <p:nvPr/>
        </p:nvSpPr>
        <p:spPr>
          <a:xfrm>
            <a:off x="4416552" y="5504688"/>
            <a:ext cx="3429000" cy="603504"/>
          </a:xfrm>
          <a:prstGeom prst="roundRect">
            <a:avLst>
              <a:gd name="adj" fmla="val 12121"/>
            </a:avLst>
          </a:prstGeom>
          <a:solidFill>
            <a:srgbClr val="EAF2FB"/>
          </a:solidFill>
          <a:ln w="12700">
            <a:solidFill>
              <a:srgbClr val="CFDCEA"/>
            </a:solidFill>
            <a:prstDash val="solid"/>
          </a:ln>
        </p:spPr>
      </p:sp>
      <p:sp>
        <p:nvSpPr>
          <p:cNvPr id="28" name="Text 26"/>
          <p:cNvSpPr/>
          <p:nvPr/>
        </p:nvSpPr>
        <p:spPr>
          <a:xfrm>
            <a:off x="4553712" y="5504688"/>
            <a:ext cx="3154680" cy="603504"/>
          </a:xfrm>
          <a:prstGeom prst="rect">
            <a:avLst/>
          </a:prstGeom>
          <a:noFill/>
          <a:ln/>
        </p:spPr>
        <p:txBody>
          <a:bodyPr wrap="square" rtlCol="0" anchor="ctr">
            <a:normAutofit/>
          </a:bodyPr>
          <a:lstStyle/>
          <a:p>
            <a:pPr algn="ctr" indent="0" marL="0">
              <a:buNone/>
            </a:pPr>
            <a:r>
              <a:rPr lang="en-US" sz="1300" dirty="0">
                <a:solidFill>
                  <a:srgbClr val="1F2D3A"/>
                </a:solidFill>
                <a:latin typeface="Calibri" pitchFamily="34" charset="0"/>
                <a:ea typeface="Calibri" pitchFamily="34" charset="-122"/>
                <a:cs typeface="Calibri" pitchFamily="34" charset="-120"/>
              </a:rPr>
              <a:t>Thú và Chim là lớp con (subclass) của Động vật</a:t>
            </a:r>
            <a:endParaRPr lang="en-US" sz="1300" dirty="0"/>
          </a:p>
        </p:txBody>
      </p:sp>
      <p:sp>
        <p:nvSpPr>
          <p:cNvPr id="29" name="Shape 27"/>
          <p:cNvSpPr/>
          <p:nvPr/>
        </p:nvSpPr>
        <p:spPr>
          <a:xfrm>
            <a:off x="8119872" y="5504688"/>
            <a:ext cx="3429000" cy="603504"/>
          </a:xfrm>
          <a:prstGeom prst="roundRect">
            <a:avLst>
              <a:gd name="adj" fmla="val 12121"/>
            </a:avLst>
          </a:prstGeom>
          <a:solidFill>
            <a:srgbClr val="EAF2FB"/>
          </a:solidFill>
          <a:ln w="12700">
            <a:solidFill>
              <a:srgbClr val="CFDCEA"/>
            </a:solidFill>
            <a:prstDash val="solid"/>
          </a:ln>
        </p:spPr>
      </p:sp>
      <p:sp>
        <p:nvSpPr>
          <p:cNvPr id="30" name="Text 28"/>
          <p:cNvSpPr/>
          <p:nvPr/>
        </p:nvSpPr>
        <p:spPr>
          <a:xfrm>
            <a:off x="8257032" y="5504688"/>
            <a:ext cx="3154680" cy="603504"/>
          </a:xfrm>
          <a:prstGeom prst="rect">
            <a:avLst/>
          </a:prstGeom>
          <a:noFill/>
          <a:ln/>
        </p:spPr>
        <p:txBody>
          <a:bodyPr wrap="square" rtlCol="0" anchor="ctr">
            <a:normAutofit/>
          </a:bodyPr>
          <a:lstStyle/>
          <a:p>
            <a:pPr algn="ctr" indent="0" marL="0">
              <a:buNone/>
            </a:pPr>
            <a:r>
              <a:rPr lang="en-US" sz="1300" dirty="0">
                <a:solidFill>
                  <a:srgbClr val="1F2D3A"/>
                </a:solidFill>
                <a:latin typeface="Calibri" pitchFamily="34" charset="0"/>
                <a:ea typeface="Calibri" pitchFamily="34" charset="-122"/>
                <a:cs typeface="Calibri" pitchFamily="34" charset="-120"/>
              </a:rPr>
              <a:t>Chó, Mèo, Chim sẻ là cá thể (individual) cụ thể</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1  ·  NHẬP MÔN &amp; KHÁI NIỆM</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Tại sao cần Ontology trong CNTT?</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5</a:t>
            </a:r>
            <a:endParaRPr lang="en-US" sz="1100" dirty="0"/>
          </a:p>
        </p:txBody>
      </p:sp>
      <p:sp>
        <p:nvSpPr>
          <p:cNvPr id="6" name="Shape 4"/>
          <p:cNvSpPr/>
          <p:nvPr/>
        </p:nvSpPr>
        <p:spPr>
          <a:xfrm>
            <a:off x="713232" y="1764792"/>
            <a:ext cx="329184" cy="329184"/>
          </a:xfrm>
          <a:prstGeom prst="roundRect">
            <a:avLst>
              <a:gd name="adj" fmla="val 16667"/>
            </a:avLst>
          </a:prstGeom>
          <a:solidFill>
            <a:srgbClr val="13315C"/>
          </a:solidFill>
          <a:ln/>
        </p:spPr>
      </p:sp>
      <p:sp>
        <p:nvSpPr>
          <p:cNvPr id="7" name="Text 5"/>
          <p:cNvSpPr/>
          <p:nvPr/>
        </p:nvSpPr>
        <p:spPr>
          <a:xfrm>
            <a:off x="713232" y="176479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896112"/>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Chia sẻ và tái sử dụng tri thức chung giữa các hệ thống</a:t>
            </a:r>
            <a:endParaRPr lang="en-US" sz="1700" dirty="0"/>
          </a:p>
        </p:txBody>
      </p:sp>
      <p:sp>
        <p:nvSpPr>
          <p:cNvPr id="9" name="Shape 7"/>
          <p:cNvSpPr/>
          <p:nvPr/>
        </p:nvSpPr>
        <p:spPr>
          <a:xfrm>
            <a:off x="713232" y="2660904"/>
            <a:ext cx="329184" cy="329184"/>
          </a:xfrm>
          <a:prstGeom prst="roundRect">
            <a:avLst>
              <a:gd name="adj" fmla="val 16667"/>
            </a:avLst>
          </a:prstGeom>
          <a:solidFill>
            <a:srgbClr val="13315C"/>
          </a:solidFill>
          <a:ln/>
        </p:spPr>
      </p:sp>
      <p:sp>
        <p:nvSpPr>
          <p:cNvPr id="10" name="Text 8"/>
          <p:cNvSpPr/>
          <p:nvPr/>
        </p:nvSpPr>
        <p:spPr>
          <a:xfrm>
            <a:off x="713232" y="266090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377440"/>
            <a:ext cx="10296144" cy="896112"/>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Tích hợp dữ liệu từ nhiều nguồn không đồng nhất</a:t>
            </a:r>
            <a:endParaRPr lang="en-US" sz="1700" dirty="0"/>
          </a:p>
        </p:txBody>
      </p:sp>
      <p:sp>
        <p:nvSpPr>
          <p:cNvPr id="12" name="Shape 10"/>
          <p:cNvSpPr/>
          <p:nvPr/>
        </p:nvSpPr>
        <p:spPr>
          <a:xfrm>
            <a:off x="713232" y="3557016"/>
            <a:ext cx="329184" cy="329184"/>
          </a:xfrm>
          <a:prstGeom prst="roundRect">
            <a:avLst>
              <a:gd name="adj" fmla="val 16667"/>
            </a:avLst>
          </a:prstGeom>
          <a:solidFill>
            <a:srgbClr val="13315C"/>
          </a:solidFill>
          <a:ln/>
        </p:spPr>
      </p:sp>
      <p:sp>
        <p:nvSpPr>
          <p:cNvPr id="13" name="Text 11"/>
          <p:cNvSpPr/>
          <p:nvPr/>
        </p:nvSpPr>
        <p:spPr>
          <a:xfrm>
            <a:off x="713232" y="355701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3273552"/>
            <a:ext cx="10296144" cy="896112"/>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Hỗ trợ suy luận tự động nhờ công cụ reasoner</a:t>
            </a:r>
            <a:endParaRPr lang="en-US" sz="1700" dirty="0"/>
          </a:p>
        </p:txBody>
      </p:sp>
      <p:sp>
        <p:nvSpPr>
          <p:cNvPr id="15" name="Shape 13"/>
          <p:cNvSpPr/>
          <p:nvPr/>
        </p:nvSpPr>
        <p:spPr>
          <a:xfrm>
            <a:off x="713232" y="4453128"/>
            <a:ext cx="329184" cy="329184"/>
          </a:xfrm>
          <a:prstGeom prst="roundRect">
            <a:avLst>
              <a:gd name="adj" fmla="val 16667"/>
            </a:avLst>
          </a:prstGeom>
          <a:solidFill>
            <a:srgbClr val="13315C"/>
          </a:solidFill>
          <a:ln/>
        </p:spPr>
      </p:sp>
      <p:sp>
        <p:nvSpPr>
          <p:cNvPr id="16" name="Text 14"/>
          <p:cNvSpPr/>
          <p:nvPr/>
        </p:nvSpPr>
        <p:spPr>
          <a:xfrm>
            <a:off x="713232" y="445312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4169664"/>
            <a:ext cx="10296144" cy="896112"/>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Giúp máy tính hiểu được ngữ nghĩa thật sự của dữ liệu</a:t>
            </a:r>
            <a:endParaRPr lang="en-US" sz="1700" dirty="0"/>
          </a:p>
        </p:txBody>
      </p:sp>
      <p:sp>
        <p:nvSpPr>
          <p:cNvPr id="18" name="Shape 16"/>
          <p:cNvSpPr/>
          <p:nvPr/>
        </p:nvSpPr>
        <p:spPr>
          <a:xfrm>
            <a:off x="713232" y="5349240"/>
            <a:ext cx="329184" cy="329184"/>
          </a:xfrm>
          <a:prstGeom prst="roundRect">
            <a:avLst>
              <a:gd name="adj" fmla="val 16667"/>
            </a:avLst>
          </a:prstGeom>
          <a:solidFill>
            <a:srgbClr val="13315C"/>
          </a:solidFill>
          <a:ln/>
        </p:spPr>
      </p:sp>
      <p:sp>
        <p:nvSpPr>
          <p:cNvPr id="19" name="Text 17"/>
          <p:cNvSpPr/>
          <p:nvPr/>
        </p:nvSpPr>
        <p:spPr>
          <a:xfrm>
            <a:off x="713232" y="534924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07008" y="5065776"/>
            <a:ext cx="10296144" cy="896112"/>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Là nền tảng xây dựng Web ngữ nghĩa (Semantic Web)</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1  ·  NHẬP MÔN &amp; KHÁI NIỆM</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Các thành phần của một Ontology</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6</a:t>
            </a:r>
            <a:endParaRPr lang="en-US" sz="1100" dirty="0"/>
          </a:p>
        </p:txBody>
      </p:sp>
      <p:sp>
        <p:nvSpPr>
          <p:cNvPr id="6" name="Shape 4"/>
          <p:cNvSpPr/>
          <p:nvPr/>
        </p:nvSpPr>
        <p:spPr>
          <a:xfrm>
            <a:off x="713232" y="1760220"/>
            <a:ext cx="329184" cy="329184"/>
          </a:xfrm>
          <a:prstGeom prst="roundRect">
            <a:avLst>
              <a:gd name="adj" fmla="val 16667"/>
            </a:avLst>
          </a:prstGeom>
          <a:solidFill>
            <a:srgbClr val="13315C"/>
          </a:solidFill>
          <a:ln/>
        </p:spPr>
      </p:sp>
      <p:sp>
        <p:nvSpPr>
          <p:cNvPr id="7" name="Text 5"/>
          <p:cNvSpPr/>
          <p:nvPr/>
        </p:nvSpPr>
        <p:spPr>
          <a:xfrm>
            <a:off x="713232" y="176022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Lớp (Classes): tập hợp các đối tượng có chung đặc điểm</a:t>
            </a:r>
            <a:endParaRPr lang="en-US" sz="1800" dirty="0"/>
          </a:p>
        </p:txBody>
      </p:sp>
      <p:sp>
        <p:nvSpPr>
          <p:cNvPr id="9" name="Shape 7"/>
          <p:cNvSpPr/>
          <p:nvPr/>
        </p:nvSpPr>
        <p:spPr>
          <a:xfrm>
            <a:off x="713232" y="2647188"/>
            <a:ext cx="329184" cy="329184"/>
          </a:xfrm>
          <a:prstGeom prst="roundRect">
            <a:avLst>
              <a:gd name="adj" fmla="val 16667"/>
            </a:avLst>
          </a:prstGeom>
          <a:solidFill>
            <a:srgbClr val="13315C"/>
          </a:solidFill>
          <a:ln/>
        </p:spPr>
      </p:sp>
      <p:sp>
        <p:nvSpPr>
          <p:cNvPr id="10" name="Text 8"/>
          <p:cNvSpPr/>
          <p:nvPr/>
        </p:nvSpPr>
        <p:spPr>
          <a:xfrm>
            <a:off x="713232" y="264718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368296"/>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Cá thể (Individuals): đối tượng cụ thể thuộc về một lớp</a:t>
            </a:r>
            <a:endParaRPr lang="en-US" sz="1800" dirty="0"/>
          </a:p>
        </p:txBody>
      </p:sp>
      <p:sp>
        <p:nvSpPr>
          <p:cNvPr id="12" name="Shape 10"/>
          <p:cNvSpPr/>
          <p:nvPr/>
        </p:nvSpPr>
        <p:spPr>
          <a:xfrm>
            <a:off x="713232" y="3534156"/>
            <a:ext cx="329184" cy="329184"/>
          </a:xfrm>
          <a:prstGeom prst="roundRect">
            <a:avLst>
              <a:gd name="adj" fmla="val 16667"/>
            </a:avLst>
          </a:prstGeom>
          <a:solidFill>
            <a:srgbClr val="13315C"/>
          </a:solidFill>
          <a:ln/>
        </p:spPr>
      </p:sp>
      <p:sp>
        <p:nvSpPr>
          <p:cNvPr id="13" name="Text 11"/>
          <p:cNvSpPr/>
          <p:nvPr/>
        </p:nvSpPr>
        <p:spPr>
          <a:xfrm>
            <a:off x="713232" y="353415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3255264"/>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Thuộc tính (Object và Data Properties): mô tả quan hệ và dữ liệu</a:t>
            </a:r>
            <a:endParaRPr lang="en-US" sz="1800" dirty="0"/>
          </a:p>
        </p:txBody>
      </p:sp>
      <p:sp>
        <p:nvSpPr>
          <p:cNvPr id="15" name="Shape 13"/>
          <p:cNvSpPr/>
          <p:nvPr/>
        </p:nvSpPr>
        <p:spPr>
          <a:xfrm>
            <a:off x="713232" y="4421124"/>
            <a:ext cx="329184" cy="329184"/>
          </a:xfrm>
          <a:prstGeom prst="roundRect">
            <a:avLst>
              <a:gd name="adj" fmla="val 16667"/>
            </a:avLst>
          </a:prstGeom>
          <a:solidFill>
            <a:srgbClr val="13315C"/>
          </a:solidFill>
          <a:ln/>
        </p:spPr>
      </p:sp>
      <p:sp>
        <p:nvSpPr>
          <p:cNvPr id="16" name="Text 14"/>
          <p:cNvSpPr/>
          <p:nvPr/>
        </p:nvSpPr>
        <p:spPr>
          <a:xfrm>
            <a:off x="713232" y="442112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4142232"/>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Tiên đề và ràng buộc (Axioms): quy tắc logic của ontology</a:t>
            </a:r>
            <a:endParaRPr lang="en-US" sz="1800" dirty="0"/>
          </a:p>
        </p:txBody>
      </p:sp>
      <p:sp>
        <p:nvSpPr>
          <p:cNvPr id="18" name="Shape 16"/>
          <p:cNvSpPr/>
          <p:nvPr/>
        </p:nvSpPr>
        <p:spPr>
          <a:xfrm>
            <a:off x="685800" y="5193792"/>
            <a:ext cx="10835640" cy="1024128"/>
          </a:xfrm>
          <a:prstGeom prst="roundRect">
            <a:avLst>
              <a:gd name="adj" fmla="val 7143"/>
            </a:avLst>
          </a:prstGeom>
          <a:solidFill>
            <a:srgbClr val="FBF1DA"/>
          </a:solidFill>
          <a:ln w="12700">
            <a:solidFill>
              <a:srgbClr val="E2A233"/>
            </a:solidFill>
            <a:prstDash val="solid"/>
          </a:ln>
          <a:effectLst>
            <a:outerShdw sx="100000" sy="100000" kx="0" ky="0" algn="bl" rotWithShape="0" blurRad="76200" dist="25400" dir="5400000">
              <a:srgbClr val="9FB1C4">
                <a:alpha val="32000"/>
              </a:srgbClr>
            </a:outerShdw>
          </a:effectLst>
        </p:spPr>
      </p:sp>
      <p:sp>
        <p:nvSpPr>
          <p:cNvPr id="19" name="Text 17"/>
          <p:cNvSpPr/>
          <p:nvPr/>
        </p:nvSpPr>
        <p:spPr>
          <a:xfrm>
            <a:off x="932688" y="5312664"/>
            <a:ext cx="10332720" cy="274320"/>
          </a:xfrm>
          <a:prstGeom prst="rect">
            <a:avLst/>
          </a:prstGeom>
          <a:noFill/>
          <a:ln/>
        </p:spPr>
        <p:txBody>
          <a:bodyPr wrap="square" rtlCol="0" anchor="ctr"/>
          <a:lstStyle/>
          <a:p>
            <a:pPr indent="0" marL="0">
              <a:buNone/>
            </a:pPr>
            <a:r>
              <a:rPr lang="en-US" sz="1200" b="1" spc="100" kern="0" dirty="0">
                <a:solidFill>
                  <a:srgbClr val="C1801F"/>
                </a:solidFill>
                <a:latin typeface="Calibri" pitchFamily="34" charset="0"/>
                <a:ea typeface="Calibri" pitchFamily="34" charset="-122"/>
                <a:cs typeface="Calibri" pitchFamily="34" charset="-120"/>
              </a:rPr>
              <a:t>GHI NHỚ</a:t>
            </a:r>
            <a:endParaRPr lang="en-US" sz="1200" dirty="0"/>
          </a:p>
        </p:txBody>
      </p:sp>
      <p:sp>
        <p:nvSpPr>
          <p:cNvPr id="20" name="Text 18"/>
          <p:cNvSpPr/>
          <p:nvPr/>
        </p:nvSpPr>
        <p:spPr>
          <a:xfrm>
            <a:off x="932688" y="5596128"/>
            <a:ext cx="10332720" cy="53035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Bốn thành phần này sẽ được hiện thực bằng OWL trong Protégé ở Phần 3.</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1  ·  NHẬP MÔN &amp; KHÁI NIỆM</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Taxonomy và Ontology</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7</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13232" y="1627632"/>
          <a:ext cx="10835640" cy="914400"/>
        </p:xfrm>
        <a:graphic>
          <a:graphicData uri="http://schemas.openxmlformats.org/drawingml/2006/table">
            <a:tbl>
              <a:tblPr/>
              <a:tblGrid>
                <a:gridCol w="2880360"/>
                <a:gridCol w="3977640"/>
                <a:gridCol w="3977640"/>
              </a:tblGrid>
              <a:tr h="45720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Tiêu chí</a:t>
                      </a:r>
                      <a:endParaRPr lang="en-US" sz="15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13315C"/>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Taxonomy</a:t>
                      </a:r>
                      <a:endParaRPr lang="en-US" sz="15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13315C"/>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Ontology</a:t>
                      </a:r>
                      <a:endParaRPr lang="en-US" sz="15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13315C"/>
                    </a:solidFill>
                  </a:tcPr>
                </a:tc>
              </a:tr>
              <a:tr h="457200">
                <a:tc>
                  <a:txBody>
                    <a:bodyPr/>
                    <a:lstStyle/>
                    <a:p>
                      <a:pPr algn="l" indent="0" marL="0">
                        <a:buNone/>
                      </a:pPr>
                      <a:r>
                        <a:rPr lang="en-US" sz="1400" b="1" dirty="0">
                          <a:solidFill>
                            <a:srgbClr val="1F2D3A"/>
                          </a:solidFill>
                          <a:latin typeface="Calibri" pitchFamily="34" charset="0"/>
                          <a:ea typeface="Calibri" pitchFamily="34" charset="-122"/>
                          <a:cs typeface="Calibri" pitchFamily="34" charset="-120"/>
                        </a:rPr>
                        <a:t>Quan hệ</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Chỉ phân cấp is-a</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Nhiều loại quan hệ</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1F2D3A"/>
                          </a:solidFill>
                          <a:latin typeface="Calibri" pitchFamily="34" charset="0"/>
                          <a:ea typeface="Calibri" pitchFamily="34" charset="-122"/>
                          <a:cs typeface="Calibri" pitchFamily="34" charset="-120"/>
                        </a:rPr>
                        <a:t>Suy luận</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EAF2FB"/>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Không</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EAF2FB"/>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Có</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EAF2FB"/>
                    </a:solidFill>
                  </a:tcPr>
                </a:tc>
              </a:tr>
              <a:tr h="457200">
                <a:tc>
                  <a:txBody>
                    <a:bodyPr/>
                    <a:lstStyle/>
                    <a:p>
                      <a:pPr algn="l" indent="0" marL="0">
                        <a:buNone/>
                      </a:pPr>
                      <a:r>
                        <a:rPr lang="en-US" sz="1400" b="1" dirty="0">
                          <a:solidFill>
                            <a:srgbClr val="1F2D3A"/>
                          </a:solidFill>
                          <a:latin typeface="Calibri" pitchFamily="34" charset="0"/>
                          <a:ea typeface="Calibri" pitchFamily="34" charset="-122"/>
                          <a:cs typeface="Calibri" pitchFamily="34" charset="-120"/>
                        </a:rPr>
                        <a:t>Ràng buộc</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Ít</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Phong phú</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1F2D3A"/>
                          </a:solidFill>
                          <a:latin typeface="Calibri" pitchFamily="34" charset="0"/>
                          <a:ea typeface="Calibri" pitchFamily="34" charset="-122"/>
                          <a:cs typeface="Calibri" pitchFamily="34" charset="-120"/>
                        </a:rPr>
                        <a:t>Ví dụ</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EAF2FB"/>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Cây danh mục</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EAF2FB"/>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OWL, RDF</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EAF2FB"/>
                    </a:solidFill>
                  </a:tcPr>
                </a:tc>
              </a:tr>
            </a:tbl>
          </a:graphicData>
        </a:graphic>
      </p:graphicFrame>
      <p:sp>
        <p:nvSpPr>
          <p:cNvPr id="7" name="Text 4"/>
          <p:cNvSpPr/>
          <p:nvPr/>
        </p:nvSpPr>
        <p:spPr>
          <a:xfrm>
            <a:off x="713232" y="5989320"/>
            <a:ext cx="10835640" cy="457200"/>
          </a:xfrm>
          <a:prstGeom prst="rect">
            <a:avLst/>
          </a:prstGeom>
          <a:noFill/>
          <a:ln/>
        </p:spPr>
        <p:txBody>
          <a:bodyPr wrap="square" rtlCol="0" anchor="ctr"/>
          <a:lstStyle/>
          <a:p>
            <a:pPr indent="0" marL="0">
              <a:buNone/>
            </a:pPr>
            <a:r>
              <a:rPr lang="en-US" sz="1300" i="1" dirty="0">
                <a:solidFill>
                  <a:srgbClr val="5C6B7B"/>
                </a:solidFill>
                <a:latin typeface="Calibri" pitchFamily="34" charset="0"/>
                <a:ea typeface="Calibri" pitchFamily="34" charset="-122"/>
                <a:cs typeface="Calibri" pitchFamily="34" charset="-120"/>
              </a:rPr>
              <a:t>Ontology là mở rộng của taxonomy với ngữ nghĩa phong phú hơn nhiều.</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1  ·  NHẬP MÔN &amp; KHÁI NIỆM</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Ontology và Cơ sở dữ liệu</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8</a:t>
            </a:r>
            <a:endParaRPr lang="en-US" sz="1100" dirty="0"/>
          </a:p>
        </p:txBody>
      </p:sp>
      <p:sp>
        <p:nvSpPr>
          <p:cNvPr id="6" name="Shape 4"/>
          <p:cNvSpPr/>
          <p:nvPr/>
        </p:nvSpPr>
        <p:spPr>
          <a:xfrm>
            <a:off x="713232" y="1517904"/>
            <a:ext cx="5212080" cy="4709160"/>
          </a:xfrm>
          <a:prstGeom prst="roundRect">
            <a:avLst>
              <a:gd name="adj" fmla="val 1748"/>
            </a:avLst>
          </a:prstGeom>
          <a:solidFill>
            <a:srgbClr val="EAF2FB"/>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7" name="Shape 5"/>
          <p:cNvSpPr/>
          <p:nvPr/>
        </p:nvSpPr>
        <p:spPr>
          <a:xfrm>
            <a:off x="713232" y="1517904"/>
            <a:ext cx="5212080" cy="566928"/>
          </a:xfrm>
          <a:prstGeom prst="roundRect">
            <a:avLst>
              <a:gd name="adj" fmla="val 14516"/>
            </a:avLst>
          </a:prstGeom>
          <a:solidFill>
            <a:srgbClr val="13315C"/>
          </a:solidFill>
          <a:ln/>
        </p:spPr>
      </p:sp>
      <p:sp>
        <p:nvSpPr>
          <p:cNvPr id="8" name="Shape 6"/>
          <p:cNvSpPr/>
          <p:nvPr/>
        </p:nvSpPr>
        <p:spPr>
          <a:xfrm>
            <a:off x="713232" y="1801368"/>
            <a:ext cx="5212080" cy="283464"/>
          </a:xfrm>
          <a:prstGeom prst="rect">
            <a:avLst/>
          </a:prstGeom>
          <a:solidFill>
            <a:srgbClr val="13315C"/>
          </a:solidFill>
          <a:ln/>
        </p:spPr>
      </p:sp>
      <p:sp>
        <p:nvSpPr>
          <p:cNvPr id="9" name="Text 7"/>
          <p:cNvSpPr/>
          <p:nvPr/>
        </p:nvSpPr>
        <p:spPr>
          <a:xfrm>
            <a:off x="969264" y="1517904"/>
            <a:ext cx="4754880" cy="566928"/>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Cơ sở dữ liệu (CSDL)</a:t>
            </a:r>
            <a:endParaRPr lang="en-US" sz="1700" dirty="0"/>
          </a:p>
        </p:txBody>
      </p:sp>
      <p:sp>
        <p:nvSpPr>
          <p:cNvPr id="10" name="Text 8"/>
          <p:cNvSpPr/>
          <p:nvPr/>
        </p:nvSpPr>
        <p:spPr>
          <a:xfrm>
            <a:off x="987552" y="2249424"/>
            <a:ext cx="4663440" cy="3794760"/>
          </a:xfrm>
          <a:prstGeom prst="rect">
            <a:avLst/>
          </a:prstGeom>
          <a:noFill/>
          <a:ln/>
        </p:spPr>
        <p:txBody>
          <a:bodyPr wrap="square" rtlCol="0" anchor="t">
            <a:normAutofit/>
          </a:bodyPr>
          <a:lstStyle/>
          <a:p>
            <a:pPr marL="177800" indent="-177800">
              <a:spcAft>
                <a:spcPts val="900"/>
              </a:spcAft>
              <a:buSzPct val="100000"/>
              <a:buChar char="•"/>
            </a:pPr>
            <a:r>
              <a:rPr lang="en-US" sz="1500" dirty="0">
                <a:solidFill>
                  <a:srgbClr val="1F2D3A"/>
                </a:solidFill>
                <a:latin typeface="Calibri" pitchFamily="34" charset="0"/>
                <a:ea typeface="Calibri" pitchFamily="34" charset="-122"/>
                <a:cs typeface="Calibri" pitchFamily="34" charset="-120"/>
              </a:rPr>
              <a:t>Lưu trữ và truy vấn dữ liệu có cấu trúc</a:t>
            </a:r>
            <a:endParaRPr lang="en-US" sz="1500" dirty="0"/>
          </a:p>
          <a:p>
            <a:pPr marL="177800" indent="-177800">
              <a:spcAft>
                <a:spcPts val="900"/>
              </a:spcAft>
              <a:buSzPct val="100000"/>
              <a:buChar char="•"/>
            </a:pPr>
            <a:r>
              <a:rPr lang="en-US" sz="1500" dirty="0">
                <a:solidFill>
                  <a:srgbClr val="1F2D3A"/>
                </a:solidFill>
                <a:latin typeface="Calibri" pitchFamily="34" charset="0"/>
                <a:ea typeface="Calibri" pitchFamily="34" charset="-122"/>
                <a:cs typeface="Calibri" pitchFamily="34" charset="-120"/>
              </a:rPr>
              <a:t>Schema cứng, khó thay đổi khi mở rộng</a:t>
            </a:r>
            <a:endParaRPr lang="en-US" sz="1500" dirty="0"/>
          </a:p>
          <a:p>
            <a:pPr marL="177800" indent="-177800">
              <a:spcAft>
                <a:spcPts val="900"/>
              </a:spcAft>
              <a:buSzPct val="100000"/>
              <a:buChar char="•"/>
            </a:pPr>
            <a:r>
              <a:rPr lang="en-US" sz="1500" dirty="0">
                <a:solidFill>
                  <a:srgbClr val="1F2D3A"/>
                </a:solidFill>
                <a:latin typeface="Calibri" pitchFamily="34" charset="0"/>
                <a:ea typeface="Calibri" pitchFamily="34" charset="-122"/>
                <a:cs typeface="Calibri" pitchFamily="34" charset="-120"/>
              </a:rPr>
              <a:t>Giả định thế giới đóng (Closed World Assumption)</a:t>
            </a:r>
            <a:endParaRPr lang="en-US" sz="1500" dirty="0"/>
          </a:p>
          <a:p>
            <a:pPr marL="177800" indent="-177800">
              <a:spcAft>
                <a:spcPts val="900"/>
              </a:spcAft>
              <a:buSzPct val="100000"/>
              <a:buChar char="•"/>
            </a:pPr>
            <a:r>
              <a:rPr lang="en-US" sz="1500" dirty="0">
                <a:solidFill>
                  <a:srgbClr val="1F2D3A"/>
                </a:solidFill>
                <a:latin typeface="Calibri" pitchFamily="34" charset="0"/>
                <a:ea typeface="Calibri" pitchFamily="34" charset="-122"/>
                <a:cs typeface="Calibri" pitchFamily="34" charset="-120"/>
              </a:rPr>
              <a:t>Ít hỗ trợ suy luận tự động</a:t>
            </a:r>
            <a:endParaRPr lang="en-US" sz="1500" dirty="0"/>
          </a:p>
        </p:txBody>
      </p:sp>
      <p:sp>
        <p:nvSpPr>
          <p:cNvPr id="11" name="Shape 9"/>
          <p:cNvSpPr/>
          <p:nvPr/>
        </p:nvSpPr>
        <p:spPr>
          <a:xfrm>
            <a:off x="6291072" y="1517904"/>
            <a:ext cx="5212080" cy="4709160"/>
          </a:xfrm>
          <a:prstGeom prst="roundRect">
            <a:avLst>
              <a:gd name="adj" fmla="val 1748"/>
            </a:avLst>
          </a:prstGeom>
          <a:solidFill>
            <a:srgbClr val="EAF2FB"/>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12" name="Shape 10"/>
          <p:cNvSpPr/>
          <p:nvPr/>
        </p:nvSpPr>
        <p:spPr>
          <a:xfrm>
            <a:off x="6291072" y="1517904"/>
            <a:ext cx="5212080" cy="566928"/>
          </a:xfrm>
          <a:prstGeom prst="roundRect">
            <a:avLst>
              <a:gd name="adj" fmla="val 14516"/>
            </a:avLst>
          </a:prstGeom>
          <a:solidFill>
            <a:srgbClr val="13315C"/>
          </a:solidFill>
          <a:ln/>
        </p:spPr>
      </p:sp>
      <p:sp>
        <p:nvSpPr>
          <p:cNvPr id="13" name="Shape 11"/>
          <p:cNvSpPr/>
          <p:nvPr/>
        </p:nvSpPr>
        <p:spPr>
          <a:xfrm>
            <a:off x="6291072" y="1801368"/>
            <a:ext cx="5212080" cy="283464"/>
          </a:xfrm>
          <a:prstGeom prst="rect">
            <a:avLst/>
          </a:prstGeom>
          <a:solidFill>
            <a:srgbClr val="13315C"/>
          </a:solidFill>
          <a:ln/>
        </p:spPr>
      </p:sp>
      <p:sp>
        <p:nvSpPr>
          <p:cNvPr id="14" name="Text 12"/>
          <p:cNvSpPr/>
          <p:nvPr/>
        </p:nvSpPr>
        <p:spPr>
          <a:xfrm>
            <a:off x="6547104" y="1517904"/>
            <a:ext cx="4754880" cy="566928"/>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Ontology</a:t>
            </a:r>
            <a:endParaRPr lang="en-US" sz="1700" dirty="0"/>
          </a:p>
        </p:txBody>
      </p:sp>
      <p:sp>
        <p:nvSpPr>
          <p:cNvPr id="15" name="Text 13"/>
          <p:cNvSpPr/>
          <p:nvPr/>
        </p:nvSpPr>
        <p:spPr>
          <a:xfrm>
            <a:off x="6565392" y="2249424"/>
            <a:ext cx="4663440" cy="3794760"/>
          </a:xfrm>
          <a:prstGeom prst="rect">
            <a:avLst/>
          </a:prstGeom>
          <a:noFill/>
          <a:ln/>
        </p:spPr>
        <p:txBody>
          <a:bodyPr wrap="square" rtlCol="0" anchor="t">
            <a:normAutofit/>
          </a:bodyPr>
          <a:lstStyle/>
          <a:p>
            <a:pPr marL="177800" indent="-177800">
              <a:spcAft>
                <a:spcPts val="900"/>
              </a:spcAft>
              <a:buSzPct val="100000"/>
              <a:buChar char="•"/>
            </a:pPr>
            <a:r>
              <a:rPr lang="en-US" sz="1500" dirty="0">
                <a:solidFill>
                  <a:srgbClr val="1F2D3A"/>
                </a:solidFill>
                <a:latin typeface="Calibri" pitchFamily="34" charset="0"/>
                <a:ea typeface="Calibri" pitchFamily="34" charset="-122"/>
                <a:cs typeface="Calibri" pitchFamily="34" charset="-120"/>
              </a:rPr>
              <a:t>Mô tả ngữ nghĩa và quan hệ giữa các khái niệm</a:t>
            </a:r>
            <a:endParaRPr lang="en-US" sz="1500" dirty="0"/>
          </a:p>
          <a:p>
            <a:pPr marL="177800" indent="-177800">
              <a:spcAft>
                <a:spcPts val="900"/>
              </a:spcAft>
              <a:buSzPct val="100000"/>
              <a:buChar char="•"/>
            </a:pPr>
            <a:r>
              <a:rPr lang="en-US" sz="1500" dirty="0">
                <a:solidFill>
                  <a:srgbClr val="1F2D3A"/>
                </a:solidFill>
                <a:latin typeface="Calibri" pitchFamily="34" charset="0"/>
                <a:ea typeface="Calibri" pitchFamily="34" charset="-122"/>
                <a:cs typeface="Calibri" pitchFamily="34" charset="-120"/>
              </a:rPr>
              <a:t>Linh hoạt, dễ mở rộng thêm tri thức mới</a:t>
            </a:r>
            <a:endParaRPr lang="en-US" sz="1500" dirty="0"/>
          </a:p>
          <a:p>
            <a:pPr marL="177800" indent="-177800">
              <a:spcAft>
                <a:spcPts val="900"/>
              </a:spcAft>
              <a:buSzPct val="100000"/>
              <a:buChar char="•"/>
            </a:pPr>
            <a:r>
              <a:rPr lang="en-US" sz="1500" dirty="0">
                <a:solidFill>
                  <a:srgbClr val="1F2D3A"/>
                </a:solidFill>
                <a:latin typeface="Calibri" pitchFamily="34" charset="0"/>
                <a:ea typeface="Calibri" pitchFamily="34" charset="-122"/>
                <a:cs typeface="Calibri" pitchFamily="34" charset="-120"/>
              </a:rPr>
              <a:t>Giả định thế giới mở (Open World Assumption)</a:t>
            </a:r>
            <a:endParaRPr lang="en-US" sz="1500" dirty="0"/>
          </a:p>
          <a:p>
            <a:pPr marL="177800" indent="-177800">
              <a:spcAft>
                <a:spcPts val="900"/>
              </a:spcAft>
              <a:buSzPct val="100000"/>
              <a:buChar char="•"/>
            </a:pPr>
            <a:r>
              <a:rPr lang="en-US" sz="1500" dirty="0">
                <a:solidFill>
                  <a:srgbClr val="1F2D3A"/>
                </a:solidFill>
                <a:latin typeface="Calibri" pitchFamily="34" charset="0"/>
                <a:ea typeface="Calibri" pitchFamily="34" charset="-122"/>
                <a:cs typeface="Calibri" pitchFamily="34" charset="-120"/>
              </a:rPr>
              <a:t>Hỗ trợ suy luận tự động nhờ reasoner</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1  ·  NHẬP MÔN &amp; KHÁI NIỆM</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Ontology xuất hiện ở đâu?</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9</a:t>
            </a:r>
            <a:endParaRPr lang="en-US" sz="1100" dirty="0"/>
          </a:p>
        </p:txBody>
      </p:sp>
      <p:sp>
        <p:nvSpPr>
          <p:cNvPr id="6" name="Shape 4"/>
          <p:cNvSpPr/>
          <p:nvPr/>
        </p:nvSpPr>
        <p:spPr>
          <a:xfrm>
            <a:off x="713232" y="1671523"/>
            <a:ext cx="329184" cy="329184"/>
          </a:xfrm>
          <a:prstGeom prst="roundRect">
            <a:avLst>
              <a:gd name="adj" fmla="val 16667"/>
            </a:avLst>
          </a:prstGeom>
          <a:solidFill>
            <a:srgbClr val="13315C"/>
          </a:solidFill>
          <a:ln/>
        </p:spPr>
      </p:sp>
      <p:sp>
        <p:nvSpPr>
          <p:cNvPr id="7" name="Text 5"/>
          <p:cNvSpPr/>
          <p:nvPr/>
        </p:nvSpPr>
        <p:spPr>
          <a:xfrm>
            <a:off x="713232" y="1671523"/>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Google Knowledge Graph hiển thị thông tin tóm tắt khi tìm kiếm</a:t>
            </a:r>
            <a:endParaRPr lang="en-US" sz="1700" dirty="0"/>
          </a:p>
        </p:txBody>
      </p:sp>
      <p:sp>
        <p:nvSpPr>
          <p:cNvPr id="9" name="Shape 7"/>
          <p:cNvSpPr/>
          <p:nvPr/>
        </p:nvSpPr>
        <p:spPr>
          <a:xfrm>
            <a:off x="713232" y="2381098"/>
            <a:ext cx="329184" cy="329184"/>
          </a:xfrm>
          <a:prstGeom prst="roundRect">
            <a:avLst>
              <a:gd name="adj" fmla="val 16667"/>
            </a:avLst>
          </a:prstGeom>
          <a:solidFill>
            <a:srgbClr val="13315C"/>
          </a:solidFill>
          <a:ln/>
        </p:spPr>
      </p:sp>
      <p:sp>
        <p:nvSpPr>
          <p:cNvPr id="10" name="Text 8"/>
          <p:cNvSpPr/>
          <p:nvPr/>
        </p:nvSpPr>
        <p:spPr>
          <a:xfrm>
            <a:off x="713232" y="238109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190902"/>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schema.org dùng để đánh dấu ngữ nghĩa cho trang web</a:t>
            </a:r>
            <a:endParaRPr lang="en-US" sz="1700" dirty="0"/>
          </a:p>
        </p:txBody>
      </p:sp>
      <p:sp>
        <p:nvSpPr>
          <p:cNvPr id="12" name="Shape 10"/>
          <p:cNvSpPr/>
          <p:nvPr/>
        </p:nvSpPr>
        <p:spPr>
          <a:xfrm>
            <a:off x="713232" y="3090672"/>
            <a:ext cx="329184" cy="329184"/>
          </a:xfrm>
          <a:prstGeom prst="roundRect">
            <a:avLst>
              <a:gd name="adj" fmla="val 16667"/>
            </a:avLst>
          </a:prstGeom>
          <a:solidFill>
            <a:srgbClr val="13315C"/>
          </a:solidFill>
          <a:ln/>
        </p:spPr>
      </p:sp>
      <p:sp>
        <p:nvSpPr>
          <p:cNvPr id="13" name="Text 11"/>
          <p:cNvSpPr/>
          <p:nvPr/>
        </p:nvSpPr>
        <p:spPr>
          <a:xfrm>
            <a:off x="713232" y="309067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2900477"/>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Y sinh học: SNOMED CT, Gene Ontology mô tả tri thức chuyên ngành</a:t>
            </a:r>
            <a:endParaRPr lang="en-US" sz="1700" dirty="0"/>
          </a:p>
        </p:txBody>
      </p:sp>
      <p:sp>
        <p:nvSpPr>
          <p:cNvPr id="15" name="Shape 13"/>
          <p:cNvSpPr/>
          <p:nvPr/>
        </p:nvSpPr>
        <p:spPr>
          <a:xfrm>
            <a:off x="713232" y="3800246"/>
            <a:ext cx="329184" cy="329184"/>
          </a:xfrm>
          <a:prstGeom prst="roundRect">
            <a:avLst>
              <a:gd name="adj" fmla="val 16667"/>
            </a:avLst>
          </a:prstGeom>
          <a:solidFill>
            <a:srgbClr val="13315C"/>
          </a:solidFill>
          <a:ln/>
        </p:spPr>
      </p:sp>
      <p:sp>
        <p:nvSpPr>
          <p:cNvPr id="16" name="Text 14"/>
          <p:cNvSpPr/>
          <p:nvPr/>
        </p:nvSpPr>
        <p:spPr>
          <a:xfrm>
            <a:off x="713232" y="380024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3610051"/>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Trợ lý ảo và chatbot hiểu ý định người dùng</a:t>
            </a:r>
            <a:endParaRPr lang="en-US" sz="1700" dirty="0"/>
          </a:p>
        </p:txBody>
      </p:sp>
      <p:sp>
        <p:nvSpPr>
          <p:cNvPr id="18" name="Shape 16"/>
          <p:cNvSpPr/>
          <p:nvPr/>
        </p:nvSpPr>
        <p:spPr>
          <a:xfrm>
            <a:off x="713232" y="4509821"/>
            <a:ext cx="329184" cy="329184"/>
          </a:xfrm>
          <a:prstGeom prst="roundRect">
            <a:avLst>
              <a:gd name="adj" fmla="val 16667"/>
            </a:avLst>
          </a:prstGeom>
          <a:solidFill>
            <a:srgbClr val="13315C"/>
          </a:solidFill>
          <a:ln/>
        </p:spPr>
      </p:sp>
      <p:sp>
        <p:nvSpPr>
          <p:cNvPr id="19" name="Text 17"/>
          <p:cNvSpPr/>
          <p:nvPr/>
        </p:nvSpPr>
        <p:spPr>
          <a:xfrm>
            <a:off x="713232" y="4509821"/>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07008" y="4319626"/>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Thương mại điện tử gợi ý sản phẩm liên quan</a:t>
            </a:r>
            <a:endParaRPr lang="en-US" sz="1700" dirty="0"/>
          </a:p>
        </p:txBody>
      </p:sp>
      <p:sp>
        <p:nvSpPr>
          <p:cNvPr id="21" name="Shape 19"/>
          <p:cNvSpPr/>
          <p:nvPr/>
        </p:nvSpPr>
        <p:spPr>
          <a:xfrm>
            <a:off x="685800" y="5193792"/>
            <a:ext cx="10835640" cy="1024128"/>
          </a:xfrm>
          <a:prstGeom prst="roundRect">
            <a:avLst>
              <a:gd name="adj" fmla="val 7143"/>
            </a:avLst>
          </a:prstGeom>
          <a:solidFill>
            <a:srgbClr val="FBF1DA"/>
          </a:solidFill>
          <a:ln w="12700">
            <a:solidFill>
              <a:srgbClr val="E2A233"/>
            </a:solidFill>
            <a:prstDash val="solid"/>
          </a:ln>
          <a:effectLst>
            <a:outerShdw sx="100000" sy="100000" kx="0" ky="0" algn="bl" rotWithShape="0" blurRad="76200" dist="25400" dir="5400000">
              <a:srgbClr val="9FB1C4">
                <a:alpha val="32000"/>
              </a:srgbClr>
            </a:outerShdw>
          </a:effectLst>
        </p:spPr>
      </p:sp>
      <p:sp>
        <p:nvSpPr>
          <p:cNvPr id="22" name="Text 20"/>
          <p:cNvSpPr/>
          <p:nvPr/>
        </p:nvSpPr>
        <p:spPr>
          <a:xfrm>
            <a:off x="932688" y="5312664"/>
            <a:ext cx="10332720" cy="274320"/>
          </a:xfrm>
          <a:prstGeom prst="rect">
            <a:avLst/>
          </a:prstGeom>
          <a:noFill/>
          <a:ln/>
        </p:spPr>
        <p:txBody>
          <a:bodyPr wrap="square" rtlCol="0" anchor="ctr"/>
          <a:lstStyle/>
          <a:p>
            <a:pPr indent="0" marL="0">
              <a:buNone/>
            </a:pPr>
            <a:r>
              <a:rPr lang="en-US" sz="1200" b="1" spc="100" kern="0" dirty="0">
                <a:solidFill>
                  <a:srgbClr val="C1801F"/>
                </a:solidFill>
                <a:latin typeface="Calibri" pitchFamily="34" charset="0"/>
                <a:ea typeface="Calibri" pitchFamily="34" charset="-122"/>
                <a:cs typeface="Calibri" pitchFamily="34" charset="-120"/>
              </a:rPr>
              <a:t>LƯU Ý</a:t>
            </a:r>
            <a:endParaRPr lang="en-US" sz="1200" dirty="0"/>
          </a:p>
        </p:txBody>
      </p:sp>
      <p:sp>
        <p:nvSpPr>
          <p:cNvPr id="23" name="Text 21"/>
          <p:cNvSpPr/>
          <p:nvPr/>
        </p:nvSpPr>
        <p:spPr>
          <a:xfrm>
            <a:off x="932688" y="5596128"/>
            <a:ext cx="10332720" cy="53035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Sẽ tìm hiểu kỹ ở Phần 4.</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2FB"/>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1  ·  NHẬP MÔN &amp; KHÁI NIỆM</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Tóm tắt Phần 1</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10</a:t>
            </a:r>
            <a:endParaRPr lang="en-US" sz="1100" dirty="0"/>
          </a:p>
        </p:txBody>
      </p:sp>
      <p:sp>
        <p:nvSpPr>
          <p:cNvPr id="6" name="Shape 4"/>
          <p:cNvSpPr/>
          <p:nvPr/>
        </p:nvSpPr>
        <p:spPr>
          <a:xfrm>
            <a:off x="822960" y="1655064"/>
            <a:ext cx="10561320" cy="722376"/>
          </a:xfrm>
          <a:prstGeom prst="roundRect">
            <a:avLst>
              <a:gd name="adj" fmla="val 10127"/>
            </a:avLst>
          </a:prstGeom>
          <a:solidFill>
            <a:srgbClr val="FFFFFF"/>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7" name="Shape 5"/>
          <p:cNvSpPr/>
          <p:nvPr/>
        </p:nvSpPr>
        <p:spPr>
          <a:xfrm>
            <a:off x="1024128" y="1879092"/>
            <a:ext cx="310896" cy="310896"/>
          </a:xfrm>
          <a:prstGeom prst="ellipse">
            <a:avLst/>
          </a:prstGeom>
          <a:solidFill>
            <a:srgbClr val="E2A233"/>
          </a:solidFill>
          <a:ln/>
        </p:spPr>
      </p:sp>
      <p:sp>
        <p:nvSpPr>
          <p:cNvPr id="8" name="Text 6"/>
          <p:cNvSpPr/>
          <p:nvPr/>
        </p:nvSpPr>
        <p:spPr>
          <a:xfrm>
            <a:off x="1024128" y="1879092"/>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536192" y="1600200"/>
            <a:ext cx="9646920" cy="868680"/>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Ontology là mô hình tri thức gồm khái niệm, quan hệ, ràng buộc</a:t>
            </a:r>
            <a:endParaRPr lang="en-US" sz="1700" dirty="0"/>
          </a:p>
        </p:txBody>
      </p:sp>
      <p:sp>
        <p:nvSpPr>
          <p:cNvPr id="10" name="Shape 8"/>
          <p:cNvSpPr/>
          <p:nvPr/>
        </p:nvSpPr>
        <p:spPr>
          <a:xfrm>
            <a:off x="822960" y="2523744"/>
            <a:ext cx="10561320" cy="722376"/>
          </a:xfrm>
          <a:prstGeom prst="roundRect">
            <a:avLst>
              <a:gd name="adj" fmla="val 10127"/>
            </a:avLst>
          </a:prstGeom>
          <a:solidFill>
            <a:srgbClr val="FFFFFF"/>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11" name="Shape 9"/>
          <p:cNvSpPr/>
          <p:nvPr/>
        </p:nvSpPr>
        <p:spPr>
          <a:xfrm>
            <a:off x="1024128" y="2747772"/>
            <a:ext cx="310896" cy="310896"/>
          </a:xfrm>
          <a:prstGeom prst="ellipse">
            <a:avLst/>
          </a:prstGeom>
          <a:solidFill>
            <a:srgbClr val="E2A233"/>
          </a:solidFill>
          <a:ln/>
        </p:spPr>
      </p:sp>
      <p:sp>
        <p:nvSpPr>
          <p:cNvPr id="12" name="Text 10"/>
          <p:cNvSpPr/>
          <p:nvPr/>
        </p:nvSpPr>
        <p:spPr>
          <a:xfrm>
            <a:off x="1024128" y="2747772"/>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536192" y="2468880"/>
            <a:ext cx="9646920" cy="868680"/>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Bốn thành phần chính: lớp, cá thể, thuộc tính, tiên đề</a:t>
            </a:r>
            <a:endParaRPr lang="en-US" sz="1700" dirty="0"/>
          </a:p>
        </p:txBody>
      </p:sp>
      <p:sp>
        <p:nvSpPr>
          <p:cNvPr id="14" name="Shape 12"/>
          <p:cNvSpPr/>
          <p:nvPr/>
        </p:nvSpPr>
        <p:spPr>
          <a:xfrm>
            <a:off x="822960" y="3392424"/>
            <a:ext cx="10561320" cy="722376"/>
          </a:xfrm>
          <a:prstGeom prst="roundRect">
            <a:avLst>
              <a:gd name="adj" fmla="val 10127"/>
            </a:avLst>
          </a:prstGeom>
          <a:solidFill>
            <a:srgbClr val="FFFFFF"/>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15" name="Shape 13"/>
          <p:cNvSpPr/>
          <p:nvPr/>
        </p:nvSpPr>
        <p:spPr>
          <a:xfrm>
            <a:off x="1024128" y="3616452"/>
            <a:ext cx="310896" cy="310896"/>
          </a:xfrm>
          <a:prstGeom prst="ellipse">
            <a:avLst/>
          </a:prstGeom>
          <a:solidFill>
            <a:srgbClr val="E2A233"/>
          </a:solidFill>
          <a:ln/>
        </p:spPr>
      </p:sp>
      <p:sp>
        <p:nvSpPr>
          <p:cNvPr id="16" name="Text 14"/>
          <p:cNvSpPr/>
          <p:nvPr/>
        </p:nvSpPr>
        <p:spPr>
          <a:xfrm>
            <a:off x="1024128" y="3616452"/>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536192" y="3337560"/>
            <a:ext cx="9646920" cy="868680"/>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Ontology khác taxonomy nhờ suy luận và quan hệ phong phú hơn</a:t>
            </a:r>
            <a:endParaRPr lang="en-US" sz="1700" dirty="0"/>
          </a:p>
        </p:txBody>
      </p:sp>
      <p:sp>
        <p:nvSpPr>
          <p:cNvPr id="18" name="Shape 16"/>
          <p:cNvSpPr/>
          <p:nvPr/>
        </p:nvSpPr>
        <p:spPr>
          <a:xfrm>
            <a:off x="822960" y="4261104"/>
            <a:ext cx="10561320" cy="722376"/>
          </a:xfrm>
          <a:prstGeom prst="roundRect">
            <a:avLst>
              <a:gd name="adj" fmla="val 10127"/>
            </a:avLst>
          </a:prstGeom>
          <a:solidFill>
            <a:srgbClr val="FFFFFF"/>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19" name="Shape 17"/>
          <p:cNvSpPr/>
          <p:nvPr/>
        </p:nvSpPr>
        <p:spPr>
          <a:xfrm>
            <a:off x="1024128" y="4485132"/>
            <a:ext cx="310896" cy="310896"/>
          </a:xfrm>
          <a:prstGeom prst="ellipse">
            <a:avLst/>
          </a:prstGeom>
          <a:solidFill>
            <a:srgbClr val="E2A233"/>
          </a:solidFill>
          <a:ln/>
        </p:spPr>
      </p:sp>
      <p:sp>
        <p:nvSpPr>
          <p:cNvPr id="20" name="Text 18"/>
          <p:cNvSpPr/>
          <p:nvPr/>
        </p:nvSpPr>
        <p:spPr>
          <a:xfrm>
            <a:off x="1024128" y="4485132"/>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1536192" y="4206240"/>
            <a:ext cx="9646920" cy="868680"/>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Ontology khác CSDL nhờ ngữ nghĩa và giả định thế giới mở</a:t>
            </a:r>
            <a:endParaRPr lang="en-US" sz="1700" dirty="0"/>
          </a:p>
        </p:txBody>
      </p:sp>
      <p:sp>
        <p:nvSpPr>
          <p:cNvPr id="22" name="Shape 20"/>
          <p:cNvSpPr/>
          <p:nvPr/>
        </p:nvSpPr>
        <p:spPr>
          <a:xfrm>
            <a:off x="822960" y="5129784"/>
            <a:ext cx="10561320" cy="722376"/>
          </a:xfrm>
          <a:prstGeom prst="roundRect">
            <a:avLst>
              <a:gd name="adj" fmla="val 10127"/>
            </a:avLst>
          </a:prstGeom>
          <a:solidFill>
            <a:srgbClr val="FFFFFF"/>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23" name="Shape 21"/>
          <p:cNvSpPr/>
          <p:nvPr/>
        </p:nvSpPr>
        <p:spPr>
          <a:xfrm>
            <a:off x="1024128" y="5353812"/>
            <a:ext cx="310896" cy="310896"/>
          </a:xfrm>
          <a:prstGeom prst="ellipse">
            <a:avLst/>
          </a:prstGeom>
          <a:solidFill>
            <a:srgbClr val="E2A233"/>
          </a:solidFill>
          <a:ln/>
        </p:spPr>
      </p:sp>
      <p:sp>
        <p:nvSpPr>
          <p:cNvPr id="24" name="Text 22"/>
          <p:cNvSpPr/>
          <p:nvPr/>
        </p:nvSpPr>
        <p:spPr>
          <a:xfrm>
            <a:off x="1024128" y="5353812"/>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5" name="Text 23"/>
          <p:cNvSpPr/>
          <p:nvPr/>
        </p:nvSpPr>
        <p:spPr>
          <a:xfrm>
            <a:off x="1536192" y="5074920"/>
            <a:ext cx="9646920" cy="868680"/>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Ontology là nền tảng quan trọng của Web ngữ nghĩa và AI</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2  ·  NỀN TẢNG RDF · RDFS · OWL · SPARQL</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2600" b="1" dirty="0">
                <a:solidFill>
                  <a:srgbClr val="13315C"/>
                </a:solidFill>
                <a:latin typeface="Cambria" pitchFamily="34" charset="0"/>
                <a:ea typeface="Cambria" pitchFamily="34" charset="-122"/>
                <a:cs typeface="Cambria" pitchFamily="34" charset="-120"/>
              </a:rPr>
              <a:t>Biểu diễn tri thức (Knowledge Representation)</a:t>
            </a:r>
            <a:endParaRPr lang="en-US" sz="26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11</a:t>
            </a:r>
            <a:endParaRPr lang="en-US" sz="1100" dirty="0"/>
          </a:p>
        </p:txBody>
      </p:sp>
      <p:sp>
        <p:nvSpPr>
          <p:cNvPr id="6" name="Shape 4"/>
          <p:cNvSpPr/>
          <p:nvPr/>
        </p:nvSpPr>
        <p:spPr>
          <a:xfrm>
            <a:off x="713232" y="1615631"/>
            <a:ext cx="329184" cy="329184"/>
          </a:xfrm>
          <a:prstGeom prst="roundRect">
            <a:avLst>
              <a:gd name="adj" fmla="val 16667"/>
            </a:avLst>
          </a:prstGeom>
          <a:solidFill>
            <a:srgbClr val="13315C"/>
          </a:solidFill>
          <a:ln/>
        </p:spPr>
      </p:sp>
      <p:sp>
        <p:nvSpPr>
          <p:cNvPr id="7" name="Text 5"/>
          <p:cNvSpPr/>
          <p:nvPr/>
        </p:nvSpPr>
        <p:spPr>
          <a:xfrm>
            <a:off x="713232" y="1615631"/>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597789"/>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KR là cách biểu diễn tri thức để máy tính hiểu được</a:t>
            </a:r>
            <a:endParaRPr lang="en-US" sz="1600" dirty="0"/>
          </a:p>
        </p:txBody>
      </p:sp>
      <p:sp>
        <p:nvSpPr>
          <p:cNvPr id="9" name="Shape 7"/>
          <p:cNvSpPr/>
          <p:nvPr/>
        </p:nvSpPr>
        <p:spPr>
          <a:xfrm>
            <a:off x="713232" y="2213420"/>
            <a:ext cx="329184" cy="329184"/>
          </a:xfrm>
          <a:prstGeom prst="roundRect">
            <a:avLst>
              <a:gd name="adj" fmla="val 16667"/>
            </a:avLst>
          </a:prstGeom>
          <a:solidFill>
            <a:srgbClr val="13315C"/>
          </a:solidFill>
          <a:ln/>
        </p:spPr>
      </p:sp>
      <p:sp>
        <p:nvSpPr>
          <p:cNvPr id="10" name="Text 8"/>
          <p:cNvSpPr/>
          <p:nvPr/>
        </p:nvSpPr>
        <p:spPr>
          <a:xfrm>
            <a:off x="713232" y="221342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079117"/>
            <a:ext cx="10296144" cy="597789"/>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Mã hoá tri thức giúp máy xử lý và suy luận tự động</a:t>
            </a:r>
            <a:endParaRPr lang="en-US" sz="1600" dirty="0"/>
          </a:p>
        </p:txBody>
      </p:sp>
      <p:sp>
        <p:nvSpPr>
          <p:cNvPr id="12" name="Shape 10"/>
          <p:cNvSpPr/>
          <p:nvPr/>
        </p:nvSpPr>
        <p:spPr>
          <a:xfrm>
            <a:off x="713232" y="2811209"/>
            <a:ext cx="329184" cy="329184"/>
          </a:xfrm>
          <a:prstGeom prst="roundRect">
            <a:avLst>
              <a:gd name="adj" fmla="val 16667"/>
            </a:avLst>
          </a:prstGeom>
          <a:solidFill>
            <a:srgbClr val="13315C"/>
          </a:solidFill>
          <a:ln/>
        </p:spPr>
      </p:sp>
      <p:sp>
        <p:nvSpPr>
          <p:cNvPr id="13" name="Text 11"/>
          <p:cNvSpPr/>
          <p:nvPr/>
        </p:nvSpPr>
        <p:spPr>
          <a:xfrm>
            <a:off x="713232" y="2811209"/>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2676906"/>
            <a:ext cx="10296144" cy="597789"/>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Các cách phổ biến để biểu diễn tri thức:</a:t>
            </a:r>
            <a:endParaRPr lang="en-US" sz="1600" dirty="0"/>
          </a:p>
        </p:txBody>
      </p:sp>
      <p:sp>
        <p:nvSpPr>
          <p:cNvPr id="15" name="Shape 13"/>
          <p:cNvSpPr/>
          <p:nvPr/>
        </p:nvSpPr>
        <p:spPr>
          <a:xfrm>
            <a:off x="1280160" y="3541585"/>
            <a:ext cx="164592" cy="64008"/>
          </a:xfrm>
          <a:prstGeom prst="roundRect">
            <a:avLst>
              <a:gd name="adj" fmla="val 42857"/>
            </a:avLst>
          </a:prstGeom>
          <a:solidFill>
            <a:srgbClr val="5B8FD0"/>
          </a:solidFill>
          <a:ln/>
        </p:spPr>
      </p:sp>
      <p:sp>
        <p:nvSpPr>
          <p:cNvPr id="16" name="Text 14"/>
          <p:cNvSpPr/>
          <p:nvPr/>
        </p:nvSpPr>
        <p:spPr>
          <a:xfrm>
            <a:off x="1581912" y="3274695"/>
            <a:ext cx="9921240" cy="597789"/>
          </a:xfrm>
          <a:prstGeom prst="rect">
            <a:avLst/>
          </a:prstGeom>
          <a:noFill/>
          <a:ln/>
        </p:spPr>
        <p:txBody>
          <a:bodyPr wrap="square" rtlCol="0" anchor="ctr">
            <a:normAutofit/>
          </a:bodyPr>
          <a:lstStyle/>
          <a:p>
            <a:pPr indent="0" marL="0">
              <a:buNone/>
            </a:pPr>
            <a:r>
              <a:rPr lang="en-US" sz="1400" dirty="0">
                <a:solidFill>
                  <a:srgbClr val="5C6B7B"/>
                </a:solidFill>
                <a:latin typeface="Calibri" pitchFamily="34" charset="0"/>
                <a:ea typeface="Calibri" pitchFamily="34" charset="-122"/>
                <a:cs typeface="Calibri" pitchFamily="34" charset="-120"/>
              </a:rPr>
              <a:t>Logic hình thức (First-Order Logic)</a:t>
            </a:r>
            <a:endParaRPr lang="en-US" sz="1400" dirty="0"/>
          </a:p>
        </p:txBody>
      </p:sp>
      <p:sp>
        <p:nvSpPr>
          <p:cNvPr id="17" name="Shape 15"/>
          <p:cNvSpPr/>
          <p:nvPr/>
        </p:nvSpPr>
        <p:spPr>
          <a:xfrm>
            <a:off x="1280160" y="4139374"/>
            <a:ext cx="164592" cy="64008"/>
          </a:xfrm>
          <a:prstGeom prst="roundRect">
            <a:avLst>
              <a:gd name="adj" fmla="val 42857"/>
            </a:avLst>
          </a:prstGeom>
          <a:solidFill>
            <a:srgbClr val="5B8FD0"/>
          </a:solidFill>
          <a:ln/>
        </p:spPr>
      </p:sp>
      <p:sp>
        <p:nvSpPr>
          <p:cNvPr id="18" name="Text 16"/>
          <p:cNvSpPr/>
          <p:nvPr/>
        </p:nvSpPr>
        <p:spPr>
          <a:xfrm>
            <a:off x="1581912" y="3872484"/>
            <a:ext cx="9921240" cy="597789"/>
          </a:xfrm>
          <a:prstGeom prst="rect">
            <a:avLst/>
          </a:prstGeom>
          <a:noFill/>
          <a:ln/>
        </p:spPr>
        <p:txBody>
          <a:bodyPr wrap="square" rtlCol="0" anchor="ctr">
            <a:normAutofit/>
          </a:bodyPr>
          <a:lstStyle/>
          <a:p>
            <a:pPr indent="0" marL="0">
              <a:buNone/>
            </a:pPr>
            <a:r>
              <a:rPr lang="en-US" sz="1400" dirty="0">
                <a:solidFill>
                  <a:srgbClr val="5C6B7B"/>
                </a:solidFill>
                <a:latin typeface="Calibri" pitchFamily="34" charset="0"/>
                <a:ea typeface="Calibri" pitchFamily="34" charset="-122"/>
                <a:cs typeface="Calibri" pitchFamily="34" charset="-120"/>
              </a:rPr>
              <a:t>Hệ luật (Rule-based)</a:t>
            </a:r>
            <a:endParaRPr lang="en-US" sz="1400" dirty="0"/>
          </a:p>
        </p:txBody>
      </p:sp>
      <p:sp>
        <p:nvSpPr>
          <p:cNvPr id="19" name="Shape 17"/>
          <p:cNvSpPr/>
          <p:nvPr/>
        </p:nvSpPr>
        <p:spPr>
          <a:xfrm>
            <a:off x="1280160" y="4737164"/>
            <a:ext cx="164592" cy="64008"/>
          </a:xfrm>
          <a:prstGeom prst="roundRect">
            <a:avLst>
              <a:gd name="adj" fmla="val 42857"/>
            </a:avLst>
          </a:prstGeom>
          <a:solidFill>
            <a:srgbClr val="5B8FD0"/>
          </a:solidFill>
          <a:ln/>
        </p:spPr>
      </p:sp>
      <p:sp>
        <p:nvSpPr>
          <p:cNvPr id="20" name="Text 18"/>
          <p:cNvSpPr/>
          <p:nvPr/>
        </p:nvSpPr>
        <p:spPr>
          <a:xfrm>
            <a:off x="1581912" y="4470273"/>
            <a:ext cx="9921240" cy="597789"/>
          </a:xfrm>
          <a:prstGeom prst="rect">
            <a:avLst/>
          </a:prstGeom>
          <a:noFill/>
          <a:ln/>
        </p:spPr>
        <p:txBody>
          <a:bodyPr wrap="square" rtlCol="0" anchor="ctr">
            <a:normAutofit/>
          </a:bodyPr>
          <a:lstStyle/>
          <a:p>
            <a:pPr indent="0" marL="0">
              <a:buNone/>
            </a:pPr>
            <a:r>
              <a:rPr lang="en-US" sz="1400" dirty="0">
                <a:solidFill>
                  <a:srgbClr val="5C6B7B"/>
                </a:solidFill>
                <a:latin typeface="Calibri" pitchFamily="34" charset="0"/>
                <a:ea typeface="Calibri" pitchFamily="34" charset="-122"/>
                <a:cs typeface="Calibri" pitchFamily="34" charset="-120"/>
              </a:rPr>
              <a:t>Mạng ngữ nghĩa (Semantic Network)</a:t>
            </a:r>
            <a:endParaRPr lang="en-US" sz="1400" dirty="0"/>
          </a:p>
        </p:txBody>
      </p:sp>
      <p:sp>
        <p:nvSpPr>
          <p:cNvPr id="21" name="Shape 19"/>
          <p:cNvSpPr/>
          <p:nvPr/>
        </p:nvSpPr>
        <p:spPr>
          <a:xfrm>
            <a:off x="1280160" y="5334953"/>
            <a:ext cx="164592" cy="64008"/>
          </a:xfrm>
          <a:prstGeom prst="roundRect">
            <a:avLst>
              <a:gd name="adj" fmla="val 42857"/>
            </a:avLst>
          </a:prstGeom>
          <a:solidFill>
            <a:srgbClr val="5B8FD0"/>
          </a:solidFill>
          <a:ln/>
        </p:spPr>
      </p:sp>
      <p:sp>
        <p:nvSpPr>
          <p:cNvPr id="22" name="Text 20"/>
          <p:cNvSpPr/>
          <p:nvPr/>
        </p:nvSpPr>
        <p:spPr>
          <a:xfrm>
            <a:off x="1581912" y="5068062"/>
            <a:ext cx="9921240" cy="597789"/>
          </a:xfrm>
          <a:prstGeom prst="rect">
            <a:avLst/>
          </a:prstGeom>
          <a:noFill/>
          <a:ln/>
        </p:spPr>
        <p:txBody>
          <a:bodyPr wrap="square" rtlCol="0" anchor="ctr">
            <a:normAutofit/>
          </a:bodyPr>
          <a:lstStyle/>
          <a:p>
            <a:pPr indent="0" marL="0">
              <a:buNone/>
            </a:pPr>
            <a:r>
              <a:rPr lang="en-US" sz="1400" dirty="0">
                <a:solidFill>
                  <a:srgbClr val="5C6B7B"/>
                </a:solidFill>
                <a:latin typeface="Calibri" pitchFamily="34" charset="0"/>
                <a:ea typeface="Calibri" pitchFamily="34" charset="-122"/>
                <a:cs typeface="Calibri" pitchFamily="34" charset="-120"/>
              </a:rPr>
              <a:t>Ontology (bản thể luận)</a:t>
            </a:r>
            <a:endParaRPr lang="en-US" sz="1400" dirty="0"/>
          </a:p>
        </p:txBody>
      </p:sp>
      <p:sp>
        <p:nvSpPr>
          <p:cNvPr id="23" name="Shape 21"/>
          <p:cNvSpPr/>
          <p:nvPr/>
        </p:nvSpPr>
        <p:spPr>
          <a:xfrm>
            <a:off x="713232" y="5800154"/>
            <a:ext cx="329184" cy="329184"/>
          </a:xfrm>
          <a:prstGeom prst="roundRect">
            <a:avLst>
              <a:gd name="adj" fmla="val 16667"/>
            </a:avLst>
          </a:prstGeom>
          <a:solidFill>
            <a:srgbClr val="13315C"/>
          </a:solidFill>
          <a:ln/>
        </p:spPr>
      </p:sp>
      <p:sp>
        <p:nvSpPr>
          <p:cNvPr id="24" name="Text 22"/>
          <p:cNvSpPr/>
          <p:nvPr/>
        </p:nvSpPr>
        <p:spPr>
          <a:xfrm>
            <a:off x="713232" y="580015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1207008" y="5665851"/>
            <a:ext cx="10296144" cy="597789"/>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Ontology là hình thức KR chuẩn cho Web ngữ nghĩa</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2  ·  NỀN TẢNG RDF · RDFS · OWL · SPARQL</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Mô hình RDF là gì?</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12</a:t>
            </a:r>
            <a:endParaRPr lang="en-US" sz="1100" dirty="0"/>
          </a:p>
        </p:txBody>
      </p:sp>
      <p:sp>
        <p:nvSpPr>
          <p:cNvPr id="6" name="Shape 4"/>
          <p:cNvSpPr/>
          <p:nvPr/>
        </p:nvSpPr>
        <p:spPr>
          <a:xfrm>
            <a:off x="713232" y="1760220"/>
            <a:ext cx="329184" cy="329184"/>
          </a:xfrm>
          <a:prstGeom prst="roundRect">
            <a:avLst>
              <a:gd name="adj" fmla="val 16667"/>
            </a:avLst>
          </a:prstGeom>
          <a:solidFill>
            <a:srgbClr val="13315C"/>
          </a:solidFill>
          <a:ln/>
        </p:spPr>
      </p:sp>
      <p:sp>
        <p:nvSpPr>
          <p:cNvPr id="7" name="Text 5"/>
          <p:cNvSpPr/>
          <p:nvPr/>
        </p:nvSpPr>
        <p:spPr>
          <a:xfrm>
            <a:off x="713232" y="176022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RDF (Resource Description Framework) là chuẩn mô tả tài nguyên</a:t>
            </a:r>
            <a:endParaRPr lang="en-US" sz="1800" dirty="0"/>
          </a:p>
        </p:txBody>
      </p:sp>
      <p:sp>
        <p:nvSpPr>
          <p:cNvPr id="9" name="Shape 7"/>
          <p:cNvSpPr/>
          <p:nvPr/>
        </p:nvSpPr>
        <p:spPr>
          <a:xfrm>
            <a:off x="713232" y="2647188"/>
            <a:ext cx="329184" cy="329184"/>
          </a:xfrm>
          <a:prstGeom prst="roundRect">
            <a:avLst>
              <a:gd name="adj" fmla="val 16667"/>
            </a:avLst>
          </a:prstGeom>
          <a:solidFill>
            <a:srgbClr val="13315C"/>
          </a:solidFill>
          <a:ln/>
        </p:spPr>
      </p:sp>
      <p:sp>
        <p:nvSpPr>
          <p:cNvPr id="10" name="Text 8"/>
          <p:cNvSpPr/>
          <p:nvPr/>
        </p:nvSpPr>
        <p:spPr>
          <a:xfrm>
            <a:off x="713232" y="264718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368296"/>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Do W3C ban hành, dùng cho Web ngữ nghĩa</a:t>
            </a:r>
            <a:endParaRPr lang="en-US" sz="1800" dirty="0"/>
          </a:p>
        </p:txBody>
      </p:sp>
      <p:sp>
        <p:nvSpPr>
          <p:cNvPr id="12" name="Shape 10"/>
          <p:cNvSpPr/>
          <p:nvPr/>
        </p:nvSpPr>
        <p:spPr>
          <a:xfrm>
            <a:off x="713232" y="3534156"/>
            <a:ext cx="329184" cy="329184"/>
          </a:xfrm>
          <a:prstGeom prst="roundRect">
            <a:avLst>
              <a:gd name="adj" fmla="val 16667"/>
            </a:avLst>
          </a:prstGeom>
          <a:solidFill>
            <a:srgbClr val="13315C"/>
          </a:solidFill>
          <a:ln/>
        </p:spPr>
      </p:sp>
      <p:sp>
        <p:nvSpPr>
          <p:cNvPr id="13" name="Text 11"/>
          <p:cNvSpPr/>
          <p:nvPr/>
        </p:nvSpPr>
        <p:spPr>
          <a:xfrm>
            <a:off x="713232" y="353415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3255264"/>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Mọi phát biểu được biểu diễn dưới dạng bộ ba (triple)</a:t>
            </a:r>
            <a:endParaRPr lang="en-US" sz="1800" dirty="0"/>
          </a:p>
        </p:txBody>
      </p:sp>
      <p:sp>
        <p:nvSpPr>
          <p:cNvPr id="15" name="Shape 13"/>
          <p:cNvSpPr/>
          <p:nvPr/>
        </p:nvSpPr>
        <p:spPr>
          <a:xfrm>
            <a:off x="713232" y="4421124"/>
            <a:ext cx="329184" cy="329184"/>
          </a:xfrm>
          <a:prstGeom prst="roundRect">
            <a:avLst>
              <a:gd name="adj" fmla="val 16667"/>
            </a:avLst>
          </a:prstGeom>
          <a:solidFill>
            <a:srgbClr val="13315C"/>
          </a:solidFill>
          <a:ln/>
        </p:spPr>
      </p:sp>
      <p:sp>
        <p:nvSpPr>
          <p:cNvPr id="16" name="Text 14"/>
          <p:cNvSpPr/>
          <p:nvPr/>
        </p:nvSpPr>
        <p:spPr>
          <a:xfrm>
            <a:off x="713232" y="442112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4142232"/>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Là nền tảng của dữ liệu liên kết (Linked Data)</a:t>
            </a:r>
            <a:endParaRPr lang="en-US" sz="1800" dirty="0"/>
          </a:p>
        </p:txBody>
      </p:sp>
      <p:sp>
        <p:nvSpPr>
          <p:cNvPr id="18" name="Shape 16"/>
          <p:cNvSpPr/>
          <p:nvPr/>
        </p:nvSpPr>
        <p:spPr>
          <a:xfrm>
            <a:off x="685800" y="5193792"/>
            <a:ext cx="10835640" cy="1024128"/>
          </a:xfrm>
          <a:prstGeom prst="roundRect">
            <a:avLst>
              <a:gd name="adj" fmla="val 7143"/>
            </a:avLst>
          </a:prstGeom>
          <a:solidFill>
            <a:srgbClr val="FBF1DA"/>
          </a:solidFill>
          <a:ln w="12700">
            <a:solidFill>
              <a:srgbClr val="E2A233"/>
            </a:solidFill>
            <a:prstDash val="solid"/>
          </a:ln>
          <a:effectLst>
            <a:outerShdw sx="100000" sy="100000" kx="0" ky="0" algn="bl" rotWithShape="0" blurRad="76200" dist="25400" dir="5400000">
              <a:srgbClr val="9FB1C4">
                <a:alpha val="32000"/>
              </a:srgbClr>
            </a:outerShdw>
          </a:effectLst>
        </p:spPr>
      </p:sp>
      <p:sp>
        <p:nvSpPr>
          <p:cNvPr id="19" name="Text 17"/>
          <p:cNvSpPr/>
          <p:nvPr/>
        </p:nvSpPr>
        <p:spPr>
          <a:xfrm>
            <a:off x="932688" y="5312664"/>
            <a:ext cx="10332720" cy="274320"/>
          </a:xfrm>
          <a:prstGeom prst="rect">
            <a:avLst/>
          </a:prstGeom>
          <a:noFill/>
          <a:ln/>
        </p:spPr>
        <p:txBody>
          <a:bodyPr wrap="square" rtlCol="0" anchor="ctr"/>
          <a:lstStyle/>
          <a:p>
            <a:pPr indent="0" marL="0">
              <a:buNone/>
            </a:pPr>
            <a:r>
              <a:rPr lang="en-US" sz="1200" b="1" spc="100" kern="0" dirty="0">
                <a:solidFill>
                  <a:srgbClr val="C1801F"/>
                </a:solidFill>
                <a:latin typeface="Calibri" pitchFamily="34" charset="0"/>
                <a:ea typeface="Calibri" pitchFamily="34" charset="-122"/>
                <a:cs typeface="Calibri" pitchFamily="34" charset="-120"/>
              </a:rPr>
              <a:t>RDF</a:t>
            </a:r>
            <a:endParaRPr lang="en-US" sz="1200" dirty="0"/>
          </a:p>
        </p:txBody>
      </p:sp>
      <p:sp>
        <p:nvSpPr>
          <p:cNvPr id="20" name="Text 18"/>
          <p:cNvSpPr/>
          <p:nvPr/>
        </p:nvSpPr>
        <p:spPr>
          <a:xfrm>
            <a:off x="932688" y="5596128"/>
            <a:ext cx="10332720" cy="53035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Mọi tri thức = Subject – Predicate – Object.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2  ·  NỀN TẢNG RDF · RDFS · OWL · SPARQL</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RDF: Bộ ba (Triple)</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13</a:t>
            </a:r>
            <a:endParaRPr lang="en-US" sz="1100" dirty="0"/>
          </a:p>
        </p:txBody>
      </p:sp>
      <p:sp>
        <p:nvSpPr>
          <p:cNvPr id="6" name="Shape 4"/>
          <p:cNvSpPr/>
          <p:nvPr/>
        </p:nvSpPr>
        <p:spPr>
          <a:xfrm>
            <a:off x="868680" y="2514600"/>
            <a:ext cx="3108960" cy="1051560"/>
          </a:xfrm>
          <a:prstGeom prst="roundRect">
            <a:avLst>
              <a:gd name="adj" fmla="val 6957"/>
            </a:avLst>
          </a:prstGeom>
          <a:solidFill>
            <a:srgbClr val="2E6CB5"/>
          </a:solidFill>
          <a:ln/>
          <a:effectLst>
            <a:outerShdw sx="100000" sy="100000" kx="0" ky="0" algn="bl" rotWithShape="0" blurRad="76200" dist="25400" dir="5400000">
              <a:srgbClr val="9FB1C4">
                <a:alpha val="32000"/>
              </a:srgbClr>
            </a:outerShdw>
          </a:effectLst>
        </p:spPr>
      </p:sp>
      <p:sp>
        <p:nvSpPr>
          <p:cNvPr id="7" name="Text 5"/>
          <p:cNvSpPr/>
          <p:nvPr/>
        </p:nvSpPr>
        <p:spPr>
          <a:xfrm>
            <a:off x="923544" y="2514600"/>
            <a:ext cx="2999232" cy="1051560"/>
          </a:xfrm>
          <a:prstGeom prst="rect">
            <a:avLst/>
          </a:prstGeom>
          <a:noFill/>
          <a:ln/>
        </p:spPr>
        <p:txBody>
          <a:bodyPr wrap="square"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:SinhVien_An</a:t>
            </a:r>
            <a:endParaRPr lang="en-US" sz="1600" dirty="0"/>
          </a:p>
        </p:txBody>
      </p:sp>
      <p:sp>
        <p:nvSpPr>
          <p:cNvPr id="8" name="Shape 6"/>
          <p:cNvSpPr/>
          <p:nvPr/>
        </p:nvSpPr>
        <p:spPr>
          <a:xfrm>
            <a:off x="4544568" y="2514600"/>
            <a:ext cx="3108960" cy="1051560"/>
          </a:xfrm>
          <a:prstGeom prst="roundRect">
            <a:avLst>
              <a:gd name="adj" fmla="val 6957"/>
            </a:avLst>
          </a:prstGeom>
          <a:solidFill>
            <a:srgbClr val="E2A233"/>
          </a:solidFill>
          <a:ln/>
          <a:effectLst>
            <a:outerShdw sx="100000" sy="100000" kx="0" ky="0" algn="bl" rotWithShape="0" blurRad="76200" dist="25400" dir="5400000">
              <a:srgbClr val="9FB1C4">
                <a:alpha val="32000"/>
              </a:srgbClr>
            </a:outerShdw>
          </a:effectLst>
        </p:spPr>
      </p:sp>
      <p:sp>
        <p:nvSpPr>
          <p:cNvPr id="9" name="Text 7"/>
          <p:cNvSpPr/>
          <p:nvPr/>
        </p:nvSpPr>
        <p:spPr>
          <a:xfrm>
            <a:off x="4599432" y="2514600"/>
            <a:ext cx="2999232" cy="1051560"/>
          </a:xfrm>
          <a:prstGeom prst="rect">
            <a:avLst/>
          </a:prstGeom>
          <a:noFill/>
          <a:ln/>
        </p:spPr>
        <p:txBody>
          <a:bodyPr wrap="square" rtlCol="0" anchor="ctr">
            <a:normAutofit/>
          </a:bodyPr>
          <a:lstStyle/>
          <a:p>
            <a:pPr algn="ctr" indent="0" marL="0">
              <a:buNone/>
            </a:pPr>
            <a:r>
              <a:rPr lang="en-US" sz="1600" b="1" dirty="0">
                <a:solidFill>
                  <a:srgbClr val="1F2D3A"/>
                </a:solidFill>
                <a:latin typeface="Calibri" pitchFamily="34" charset="0"/>
                <a:ea typeface="Calibri" pitchFamily="34" charset="-122"/>
                <a:cs typeface="Calibri" pitchFamily="34" charset="-120"/>
              </a:rPr>
              <a:t>:hocTai</a:t>
            </a:r>
            <a:endParaRPr lang="en-US" sz="1600" dirty="0"/>
          </a:p>
        </p:txBody>
      </p:sp>
      <p:sp>
        <p:nvSpPr>
          <p:cNvPr id="10" name="Shape 8"/>
          <p:cNvSpPr/>
          <p:nvPr/>
        </p:nvSpPr>
        <p:spPr>
          <a:xfrm>
            <a:off x="8220456" y="2514600"/>
            <a:ext cx="3108960" cy="1051560"/>
          </a:xfrm>
          <a:prstGeom prst="roundRect">
            <a:avLst>
              <a:gd name="adj" fmla="val 6957"/>
            </a:avLst>
          </a:prstGeom>
          <a:solidFill>
            <a:srgbClr val="2E6CB5"/>
          </a:solidFill>
          <a:ln/>
          <a:effectLst>
            <a:outerShdw sx="100000" sy="100000" kx="0" ky="0" algn="bl" rotWithShape="0" blurRad="76200" dist="25400" dir="5400000">
              <a:srgbClr val="9FB1C4">
                <a:alpha val="32000"/>
              </a:srgbClr>
            </a:outerShdw>
          </a:effectLst>
        </p:spPr>
      </p:sp>
      <p:sp>
        <p:nvSpPr>
          <p:cNvPr id="11" name="Text 9"/>
          <p:cNvSpPr/>
          <p:nvPr/>
        </p:nvSpPr>
        <p:spPr>
          <a:xfrm>
            <a:off x="8275320" y="2514600"/>
            <a:ext cx="2999232" cy="1051560"/>
          </a:xfrm>
          <a:prstGeom prst="rect">
            <a:avLst/>
          </a:prstGeom>
          <a:noFill/>
          <a:ln/>
        </p:spPr>
        <p:txBody>
          <a:bodyPr wrap="square"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:DaiHoc_BachKhoa</a:t>
            </a:r>
            <a:endParaRPr lang="en-US" sz="1600" dirty="0"/>
          </a:p>
        </p:txBody>
      </p:sp>
      <p:sp>
        <p:nvSpPr>
          <p:cNvPr id="12" name="Shape 10"/>
          <p:cNvSpPr/>
          <p:nvPr/>
        </p:nvSpPr>
        <p:spPr>
          <a:xfrm>
            <a:off x="3995928" y="2894076"/>
            <a:ext cx="502920" cy="292608"/>
          </a:xfrm>
          <a:prstGeom prst="rightArrow">
            <a:avLst/>
          </a:prstGeom>
          <a:solidFill>
            <a:srgbClr val="13315C"/>
          </a:solidFill>
          <a:ln/>
        </p:spPr>
      </p:sp>
      <p:sp>
        <p:nvSpPr>
          <p:cNvPr id="13" name="Shape 11"/>
          <p:cNvSpPr/>
          <p:nvPr/>
        </p:nvSpPr>
        <p:spPr>
          <a:xfrm>
            <a:off x="7671816" y="2894076"/>
            <a:ext cx="502920" cy="292608"/>
          </a:xfrm>
          <a:prstGeom prst="rightArrow">
            <a:avLst/>
          </a:prstGeom>
          <a:solidFill>
            <a:srgbClr val="13315C"/>
          </a:solidFill>
          <a:ln/>
        </p:spPr>
      </p:sp>
      <p:sp>
        <p:nvSpPr>
          <p:cNvPr id="14" name="Text 12"/>
          <p:cNvSpPr/>
          <p:nvPr/>
        </p:nvSpPr>
        <p:spPr>
          <a:xfrm>
            <a:off x="868680" y="3639312"/>
            <a:ext cx="3108960" cy="274320"/>
          </a:xfrm>
          <a:prstGeom prst="rect">
            <a:avLst/>
          </a:prstGeom>
          <a:noFill/>
          <a:ln/>
        </p:spPr>
        <p:txBody>
          <a:bodyPr wrap="square" rtlCol="0" anchor="ctr"/>
          <a:lstStyle/>
          <a:p>
            <a:pPr algn="ctr" indent="0" marL="0">
              <a:buNone/>
            </a:pPr>
            <a:r>
              <a:rPr lang="en-US" sz="1200" dirty="0">
                <a:solidFill>
                  <a:srgbClr val="5C6B7B"/>
                </a:solidFill>
                <a:latin typeface="Calibri" pitchFamily="34" charset="0"/>
                <a:ea typeface="Calibri" pitchFamily="34" charset="-122"/>
                <a:cs typeface="Calibri" pitchFamily="34" charset="-120"/>
              </a:rPr>
              <a:t>Chủ thể (Subject)</a:t>
            </a:r>
            <a:endParaRPr lang="en-US" sz="1200" dirty="0"/>
          </a:p>
        </p:txBody>
      </p:sp>
      <p:sp>
        <p:nvSpPr>
          <p:cNvPr id="15" name="Text 13"/>
          <p:cNvSpPr/>
          <p:nvPr/>
        </p:nvSpPr>
        <p:spPr>
          <a:xfrm>
            <a:off x="4544568" y="3639312"/>
            <a:ext cx="3108960" cy="274320"/>
          </a:xfrm>
          <a:prstGeom prst="rect">
            <a:avLst/>
          </a:prstGeom>
          <a:noFill/>
          <a:ln/>
        </p:spPr>
        <p:txBody>
          <a:bodyPr wrap="square" rtlCol="0" anchor="ctr"/>
          <a:lstStyle/>
          <a:p>
            <a:pPr algn="ctr" indent="0" marL="0">
              <a:buNone/>
            </a:pPr>
            <a:r>
              <a:rPr lang="en-US" sz="1200" dirty="0">
                <a:solidFill>
                  <a:srgbClr val="5C6B7B"/>
                </a:solidFill>
                <a:latin typeface="Calibri" pitchFamily="34" charset="0"/>
                <a:ea typeface="Calibri" pitchFamily="34" charset="-122"/>
                <a:cs typeface="Calibri" pitchFamily="34" charset="-120"/>
              </a:rPr>
              <a:t>Quan hệ (Predicate)</a:t>
            </a:r>
            <a:endParaRPr lang="en-US" sz="1200" dirty="0"/>
          </a:p>
        </p:txBody>
      </p:sp>
      <p:sp>
        <p:nvSpPr>
          <p:cNvPr id="16" name="Text 14"/>
          <p:cNvSpPr/>
          <p:nvPr/>
        </p:nvSpPr>
        <p:spPr>
          <a:xfrm>
            <a:off x="8220456" y="3639312"/>
            <a:ext cx="3108960" cy="274320"/>
          </a:xfrm>
          <a:prstGeom prst="rect">
            <a:avLst/>
          </a:prstGeom>
          <a:noFill/>
          <a:ln/>
        </p:spPr>
        <p:txBody>
          <a:bodyPr wrap="square" rtlCol="0" anchor="ctr"/>
          <a:lstStyle/>
          <a:p>
            <a:pPr algn="ctr" indent="0" marL="0">
              <a:buNone/>
            </a:pPr>
            <a:r>
              <a:rPr lang="en-US" sz="1200" dirty="0">
                <a:solidFill>
                  <a:srgbClr val="5C6B7B"/>
                </a:solidFill>
                <a:latin typeface="Calibri" pitchFamily="34" charset="0"/>
                <a:ea typeface="Calibri" pitchFamily="34" charset="-122"/>
                <a:cs typeface="Calibri" pitchFamily="34" charset="-120"/>
              </a:rPr>
              <a:t>Đối tượng (Object)</a:t>
            </a:r>
            <a:endParaRPr lang="en-US" sz="1200" dirty="0"/>
          </a:p>
        </p:txBody>
      </p:sp>
      <p:sp>
        <p:nvSpPr>
          <p:cNvPr id="17" name="Text 15"/>
          <p:cNvSpPr/>
          <p:nvPr/>
        </p:nvSpPr>
        <p:spPr>
          <a:xfrm>
            <a:off x="1828800" y="4315968"/>
            <a:ext cx="8503920" cy="274320"/>
          </a:xfrm>
          <a:prstGeom prst="rect">
            <a:avLst/>
          </a:prstGeom>
          <a:noFill/>
          <a:ln/>
        </p:spPr>
        <p:txBody>
          <a:bodyPr wrap="square" rtlCol="0" anchor="ctr"/>
          <a:lstStyle/>
          <a:p>
            <a:pPr algn="ctr" indent="0" marL="0">
              <a:buNone/>
            </a:pPr>
            <a:r>
              <a:rPr lang="en-US" sz="1200" dirty="0">
                <a:solidFill>
                  <a:srgbClr val="5C6B7B"/>
                </a:solidFill>
                <a:latin typeface="Calibri" pitchFamily="34" charset="0"/>
                <a:ea typeface="Calibri" pitchFamily="34" charset="-122"/>
                <a:cs typeface="Calibri" pitchFamily="34" charset="-120"/>
              </a:rPr>
              <a:t>Ví dụ (Turtle):</a:t>
            </a:r>
            <a:endParaRPr lang="en-US" sz="1200" dirty="0"/>
          </a:p>
        </p:txBody>
      </p:sp>
      <p:sp>
        <p:nvSpPr>
          <p:cNvPr id="18" name="Shape 16"/>
          <p:cNvSpPr/>
          <p:nvPr/>
        </p:nvSpPr>
        <p:spPr>
          <a:xfrm>
            <a:off x="1828800" y="4608576"/>
            <a:ext cx="8531352" cy="658368"/>
          </a:xfrm>
          <a:prstGeom prst="roundRect">
            <a:avLst>
              <a:gd name="adj" fmla="val 8333"/>
            </a:avLst>
          </a:prstGeom>
          <a:solidFill>
            <a:srgbClr val="0E2233"/>
          </a:solidFill>
          <a:ln/>
        </p:spPr>
      </p:sp>
      <p:sp>
        <p:nvSpPr>
          <p:cNvPr id="19" name="Text 17"/>
          <p:cNvSpPr/>
          <p:nvPr/>
        </p:nvSpPr>
        <p:spPr>
          <a:xfrm>
            <a:off x="1965960" y="4608576"/>
            <a:ext cx="8257032" cy="658368"/>
          </a:xfrm>
          <a:prstGeom prst="rect">
            <a:avLst/>
          </a:prstGeom>
          <a:noFill/>
          <a:ln/>
        </p:spPr>
        <p:txBody>
          <a:bodyPr wrap="square" rtlCol="0" anchor="ctr">
            <a:normAutofit/>
          </a:bodyPr>
          <a:lstStyle/>
          <a:p>
            <a:pPr algn="ctr" indent="0" marL="0">
              <a:buNone/>
            </a:pPr>
            <a:r>
              <a:rPr lang="en-US" sz="1500" dirty="0">
                <a:solidFill>
                  <a:srgbClr val="E7EEF6"/>
                </a:solidFill>
                <a:latin typeface="Courier New" pitchFamily="34" charset="0"/>
                <a:ea typeface="Courier New" pitchFamily="34" charset="-122"/>
                <a:cs typeface="Courier New" pitchFamily="34" charset="-120"/>
              </a:rPr>
              <a:t>:SinhVien_An :hocTai :DaiHoc_BachKhoa .</a:t>
            </a:r>
            <a:endParaRPr lang="en-US" sz="1500" dirty="0"/>
          </a:p>
        </p:txBody>
      </p:sp>
      <p:sp>
        <p:nvSpPr>
          <p:cNvPr id="20" name="Text 18"/>
          <p:cNvSpPr/>
          <p:nvPr/>
        </p:nvSpPr>
        <p:spPr>
          <a:xfrm>
            <a:off x="713232" y="5532120"/>
            <a:ext cx="10835640" cy="310896"/>
          </a:xfrm>
          <a:prstGeom prst="rect">
            <a:avLst/>
          </a:prstGeom>
          <a:noFill/>
          <a:ln/>
        </p:spPr>
        <p:txBody>
          <a:bodyPr wrap="square" rtlCol="0" anchor="ctr"/>
          <a:lstStyle/>
          <a:p>
            <a:pPr algn="ctr" indent="0" marL="0">
              <a:buNone/>
            </a:pPr>
            <a:r>
              <a:rPr lang="en-US" sz="1300" i="1" dirty="0">
                <a:solidFill>
                  <a:srgbClr val="5C6B7B"/>
                </a:solidFill>
                <a:latin typeface="Calibri" pitchFamily="34" charset="0"/>
                <a:ea typeface="Calibri" pitchFamily="34" charset="-122"/>
                <a:cs typeface="Calibri" pitchFamily="34" charset="-120"/>
              </a:rPr>
              <a:t>Mỗi tri thức là một bộ ba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2  ·  NỀN TẢNG RDF · RDFS · OWL · SPARQL</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URI, Namespace &amp; cú pháp Turtle</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14</a:t>
            </a:r>
            <a:endParaRPr lang="en-US" sz="1100" dirty="0"/>
          </a:p>
        </p:txBody>
      </p:sp>
      <p:sp>
        <p:nvSpPr>
          <p:cNvPr id="6" name="Text 4"/>
          <p:cNvSpPr/>
          <p:nvPr/>
        </p:nvSpPr>
        <p:spPr>
          <a:xfrm>
            <a:off x="713232" y="1417320"/>
            <a:ext cx="10789920" cy="384048"/>
          </a:xfrm>
          <a:prstGeom prst="rect">
            <a:avLst/>
          </a:prstGeom>
          <a:noFill/>
          <a:ln/>
        </p:spPr>
        <p:txBody>
          <a:bodyPr wrap="square" rtlCol="0" anchor="ctr"/>
          <a:lstStyle/>
          <a:p>
            <a:pPr indent="0" marL="0">
              <a:buNone/>
            </a:pPr>
            <a:r>
              <a:rPr lang="en-US" sz="1500" i="1" dirty="0">
                <a:solidFill>
                  <a:srgbClr val="1F2D3A"/>
                </a:solidFill>
                <a:latin typeface="Calibri" pitchFamily="34" charset="0"/>
                <a:ea typeface="Calibri" pitchFamily="34" charset="-122"/>
                <a:cs typeface="Calibri" pitchFamily="34" charset="-120"/>
              </a:rPr>
              <a:t>Turtle là cách viết RDF dễ đọc cho con người.</a:t>
            </a:r>
            <a:endParaRPr lang="en-US" sz="1500" dirty="0"/>
          </a:p>
        </p:txBody>
      </p:sp>
      <p:sp>
        <p:nvSpPr>
          <p:cNvPr id="7" name="Shape 5"/>
          <p:cNvSpPr/>
          <p:nvPr/>
        </p:nvSpPr>
        <p:spPr>
          <a:xfrm>
            <a:off x="713232" y="1901952"/>
            <a:ext cx="6537960" cy="1897380"/>
          </a:xfrm>
          <a:prstGeom prst="roundRect">
            <a:avLst>
              <a:gd name="adj" fmla="val 3373"/>
            </a:avLst>
          </a:prstGeom>
          <a:solidFill>
            <a:srgbClr val="0E2233"/>
          </a:solidFill>
          <a:ln/>
          <a:effectLst>
            <a:outerShdw sx="100000" sy="100000" kx="0" ky="0" algn="bl" rotWithShape="0" blurRad="76200" dist="25400" dir="5400000">
              <a:srgbClr val="9FB1C4">
                <a:alpha val="32000"/>
              </a:srgbClr>
            </a:outerShdw>
          </a:effectLst>
        </p:spPr>
      </p:sp>
      <p:sp>
        <p:nvSpPr>
          <p:cNvPr id="8" name="Text 6"/>
          <p:cNvSpPr/>
          <p:nvPr/>
        </p:nvSpPr>
        <p:spPr>
          <a:xfrm>
            <a:off x="896112" y="2048256"/>
            <a:ext cx="6172200" cy="1604772"/>
          </a:xfrm>
          <a:prstGeom prst="rect">
            <a:avLst/>
          </a:prstGeom>
          <a:noFill/>
          <a:ln/>
        </p:spPr>
        <p:txBody>
          <a:bodyPr wrap="square" rtlCol="0" anchor="t"/>
          <a:lstStyle/>
          <a:p>
            <a:pPr algn="l" indent="0" marL="0">
              <a:buNone/>
            </a:pPr>
            <a:r>
              <a:rPr lang="en-US" sz="1400" dirty="0">
                <a:solidFill>
                  <a:srgbClr val="E7EEF6"/>
                </a:solidFill>
                <a:latin typeface="Courier New" pitchFamily="34" charset="0"/>
                <a:ea typeface="Courier New" pitchFamily="34" charset="-122"/>
                <a:cs typeface="Courier New" pitchFamily="34" charset="-120"/>
              </a:rPr>
              <a:t>@prefix ex: &lt;http://vidu.org/&gt; .</a:t>
            </a:r>
            <a:endParaRPr lang="en-US" sz="1400" dirty="0"/>
          </a:p>
          <a:p>
            <a:pPr algn="l" indent="0" marL="0">
              <a:buNone/>
            </a:pPr>
            <a:r>
              <a:rPr lang="en-US" sz="1400" dirty="0">
                <a:solidFill>
                  <a:srgbClr val="E7EEF6"/>
                </a:solidFill>
                <a:latin typeface="Courier New" pitchFamily="34" charset="0"/>
                <a:ea typeface="Courier New" pitchFamily="34" charset="-122"/>
                <a:cs typeface="Courier New" pitchFamily="34" charset="-120"/>
              </a:rPr>
              <a:t> </a:t>
            </a:r>
            <a:endParaRPr lang="en-US" sz="1400" dirty="0"/>
          </a:p>
          <a:p>
            <a:pPr algn="l" indent="0" marL="0">
              <a:buNone/>
            </a:pPr>
            <a:r>
              <a:rPr lang="en-US" sz="1400" dirty="0">
                <a:solidFill>
                  <a:srgbClr val="E7EEF6"/>
                </a:solidFill>
                <a:latin typeface="Courier New" pitchFamily="34" charset="0"/>
                <a:ea typeface="Courier New" pitchFamily="34" charset="-122"/>
                <a:cs typeface="Courier New" pitchFamily="34" charset="-120"/>
              </a:rPr>
              <a:t>ex:An a ex:SinhVien ;</a:t>
            </a:r>
            <a:endParaRPr lang="en-US" sz="1400" dirty="0"/>
          </a:p>
          <a:p>
            <a:pPr algn="l" indent="0" marL="0">
              <a:buNone/>
            </a:pPr>
            <a:r>
              <a:rPr lang="en-US" sz="1400" dirty="0">
                <a:solidFill>
                  <a:srgbClr val="E7EEF6"/>
                </a:solidFill>
                <a:latin typeface="Courier New" pitchFamily="34" charset="0"/>
                <a:ea typeface="Courier New" pitchFamily="34" charset="-122"/>
                <a:cs typeface="Courier New" pitchFamily="34" charset="-120"/>
              </a:rPr>
              <a:t>    ex:hocTai ex:BachKhoa ;</a:t>
            </a:r>
            <a:endParaRPr lang="en-US" sz="1400" dirty="0"/>
          </a:p>
          <a:p>
            <a:pPr algn="l" indent="0" marL="0">
              <a:buNone/>
            </a:pPr>
            <a:r>
              <a:rPr lang="en-US" sz="1400" dirty="0">
                <a:solidFill>
                  <a:srgbClr val="E7EEF6"/>
                </a:solidFill>
                <a:latin typeface="Courier New" pitchFamily="34" charset="0"/>
                <a:ea typeface="Courier New" pitchFamily="34" charset="-122"/>
                <a:cs typeface="Courier New" pitchFamily="34" charset="-120"/>
              </a:rPr>
              <a:t>    ex:hoTen "Nguyen Van An" .</a:t>
            </a:r>
            <a:endParaRPr lang="en-US" sz="1400" dirty="0"/>
          </a:p>
        </p:txBody>
      </p:sp>
      <p:sp>
        <p:nvSpPr>
          <p:cNvPr id="9" name="Text 7"/>
          <p:cNvSpPr/>
          <p:nvPr/>
        </p:nvSpPr>
        <p:spPr>
          <a:xfrm>
            <a:off x="7571232" y="1901952"/>
            <a:ext cx="3977640" cy="310896"/>
          </a:xfrm>
          <a:prstGeom prst="rect">
            <a:avLst/>
          </a:prstGeom>
          <a:noFill/>
          <a:ln/>
        </p:spPr>
        <p:txBody>
          <a:bodyPr wrap="square" rtlCol="0" anchor="ctr"/>
          <a:lstStyle/>
          <a:p>
            <a:pPr indent="0" marL="0">
              <a:buNone/>
            </a:pPr>
            <a:r>
              <a:rPr lang="en-US" sz="1200" b="1" spc="100" kern="0" dirty="0">
                <a:solidFill>
                  <a:srgbClr val="C1801F"/>
                </a:solidFill>
                <a:latin typeface="Calibri" pitchFamily="34" charset="0"/>
                <a:ea typeface="Calibri" pitchFamily="34" charset="-122"/>
                <a:cs typeface="Calibri" pitchFamily="34" charset="-120"/>
              </a:rPr>
              <a:t>GIẢI THÍCH</a:t>
            </a:r>
            <a:endParaRPr lang="en-US" sz="1200" dirty="0"/>
          </a:p>
        </p:txBody>
      </p:sp>
      <p:sp>
        <p:nvSpPr>
          <p:cNvPr id="10" name="Text 8"/>
          <p:cNvSpPr/>
          <p:nvPr/>
        </p:nvSpPr>
        <p:spPr>
          <a:xfrm>
            <a:off x="7571232" y="2286000"/>
            <a:ext cx="3977640" cy="1513332"/>
          </a:xfrm>
          <a:prstGeom prst="rect">
            <a:avLst/>
          </a:prstGeom>
          <a:noFill/>
          <a:ln/>
        </p:spPr>
        <p:txBody>
          <a:bodyPr wrap="square" rtlCol="0" anchor="t">
            <a:normAutofit/>
          </a:bodyPr>
          <a:lstStyle/>
          <a:p>
            <a:pPr marL="165100" indent="-165100">
              <a:spcAft>
                <a:spcPts val="800"/>
              </a:spcAft>
              <a:buSzPct val="100000"/>
              <a:buChar char="•"/>
            </a:pPr>
            <a:r>
              <a:rPr lang="en-US" sz="1400" dirty="0">
                <a:solidFill>
                  <a:srgbClr val="1F2D3A"/>
                </a:solidFill>
                <a:latin typeface="Calibri" pitchFamily="34" charset="0"/>
                <a:ea typeface="Calibri" pitchFamily="34" charset="-122"/>
                <a:cs typeface="Calibri" pitchFamily="34" charset="-120"/>
              </a:rPr>
              <a:t>@prefix giúp rút gọn URI dài thành tiền tố ngắn</a:t>
            </a:r>
            <a:endParaRPr lang="en-US" sz="1400" dirty="0"/>
          </a:p>
          <a:p>
            <a:pPr marL="165100" indent="-165100">
              <a:spcAft>
                <a:spcPts val="800"/>
              </a:spcAft>
              <a:buSzPct val="100000"/>
              <a:buChar char="•"/>
            </a:pPr>
            <a:r>
              <a:rPr lang="en-US" sz="1400" dirty="0">
                <a:solidFill>
                  <a:srgbClr val="1F2D3A"/>
                </a:solidFill>
                <a:latin typeface="Calibri" pitchFamily="34" charset="0"/>
                <a:ea typeface="Calibri" pitchFamily="34" charset="-122"/>
                <a:cs typeface="Calibri" pitchFamily="34" charset="-120"/>
              </a:rPr>
              <a:t>Từ khoá 'a' nghĩa là rdf:type</a:t>
            </a:r>
            <a:endParaRPr lang="en-US" sz="1400" dirty="0"/>
          </a:p>
          <a:p>
            <a:pPr marL="165100" indent="-165100">
              <a:spcAft>
                <a:spcPts val="800"/>
              </a:spcAft>
              <a:buSzPct val="100000"/>
              <a:buChar char="•"/>
            </a:pPr>
            <a:r>
              <a:rPr lang="en-US" sz="1400" dirty="0">
                <a:solidFill>
                  <a:srgbClr val="1F2D3A"/>
                </a:solidFill>
                <a:latin typeface="Calibri" pitchFamily="34" charset="0"/>
                <a:ea typeface="Calibri" pitchFamily="34" charset="-122"/>
                <a:cs typeface="Calibri" pitchFamily="34" charset="-120"/>
              </a:rPr>
              <a:t>Dấu ';' dùng để nối nhiều thuộc tính cùng chủ thể</a:t>
            </a:r>
            <a:endParaRPr lang="en-US" sz="1400" dirty="0"/>
          </a:p>
          <a:p>
            <a:pPr marL="165100" indent="-165100">
              <a:spcAft>
                <a:spcPts val="800"/>
              </a:spcAft>
              <a:buSzPct val="100000"/>
              <a:buChar char="•"/>
            </a:pPr>
            <a:r>
              <a:rPr lang="en-US" sz="1400" dirty="0">
                <a:solidFill>
                  <a:srgbClr val="1F2D3A"/>
                </a:solidFill>
                <a:latin typeface="Calibri" pitchFamily="34" charset="0"/>
                <a:ea typeface="Calibri" pitchFamily="34" charset="-122"/>
                <a:cs typeface="Calibri" pitchFamily="34" charset="-120"/>
              </a:rPr>
              <a:t>Mỗi phát biểu kết thúc bằng dấu chấm</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2  ·  NỀN TẢNG RDF · RDFS · OWL · SPARQL</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RDF Schema (RDFS)</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15</a:t>
            </a:r>
            <a:endParaRPr lang="en-US" sz="1100" dirty="0"/>
          </a:p>
        </p:txBody>
      </p:sp>
      <p:sp>
        <p:nvSpPr>
          <p:cNvPr id="6" name="Shape 4"/>
          <p:cNvSpPr/>
          <p:nvPr/>
        </p:nvSpPr>
        <p:spPr>
          <a:xfrm>
            <a:off x="713232" y="1760220"/>
            <a:ext cx="329184" cy="329184"/>
          </a:xfrm>
          <a:prstGeom prst="roundRect">
            <a:avLst>
              <a:gd name="adj" fmla="val 16667"/>
            </a:avLst>
          </a:prstGeom>
          <a:solidFill>
            <a:srgbClr val="13315C"/>
          </a:solidFill>
          <a:ln/>
        </p:spPr>
      </p:sp>
      <p:sp>
        <p:nvSpPr>
          <p:cNvPr id="7" name="Text 5"/>
          <p:cNvSpPr/>
          <p:nvPr/>
        </p:nvSpPr>
        <p:spPr>
          <a:xfrm>
            <a:off x="713232" y="176022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RDFS bổ sung ngữ nghĩa cho dữ liệu RDF thuần</a:t>
            </a:r>
            <a:endParaRPr lang="en-US" sz="1800" dirty="0"/>
          </a:p>
        </p:txBody>
      </p:sp>
      <p:sp>
        <p:nvSpPr>
          <p:cNvPr id="9" name="Shape 7"/>
          <p:cNvSpPr/>
          <p:nvPr/>
        </p:nvSpPr>
        <p:spPr>
          <a:xfrm>
            <a:off x="713232" y="2647188"/>
            <a:ext cx="329184" cy="329184"/>
          </a:xfrm>
          <a:prstGeom prst="roundRect">
            <a:avLst>
              <a:gd name="adj" fmla="val 16667"/>
            </a:avLst>
          </a:prstGeom>
          <a:solidFill>
            <a:srgbClr val="13315C"/>
          </a:solidFill>
          <a:ln/>
        </p:spPr>
      </p:sp>
      <p:sp>
        <p:nvSpPr>
          <p:cNvPr id="10" name="Text 8"/>
          <p:cNvSpPr/>
          <p:nvPr/>
        </p:nvSpPr>
        <p:spPr>
          <a:xfrm>
            <a:off x="713232" y="264718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368296"/>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rdfs:Class và rdfs:subClassOf tạo phân cấp lớp</a:t>
            </a:r>
            <a:endParaRPr lang="en-US" sz="1800" dirty="0"/>
          </a:p>
        </p:txBody>
      </p:sp>
      <p:sp>
        <p:nvSpPr>
          <p:cNvPr id="12" name="Shape 10"/>
          <p:cNvSpPr/>
          <p:nvPr/>
        </p:nvSpPr>
        <p:spPr>
          <a:xfrm>
            <a:off x="713232" y="3534156"/>
            <a:ext cx="329184" cy="329184"/>
          </a:xfrm>
          <a:prstGeom prst="roundRect">
            <a:avLst>
              <a:gd name="adj" fmla="val 16667"/>
            </a:avLst>
          </a:prstGeom>
          <a:solidFill>
            <a:srgbClr val="13315C"/>
          </a:solidFill>
          <a:ln/>
        </p:spPr>
      </p:sp>
      <p:sp>
        <p:nvSpPr>
          <p:cNvPr id="13" name="Text 11"/>
          <p:cNvSpPr/>
          <p:nvPr/>
        </p:nvSpPr>
        <p:spPr>
          <a:xfrm>
            <a:off x="713232" y="353415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3255264"/>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rdfs:domain và rdfs:range xác định miền và phạm vi thuộc tính</a:t>
            </a:r>
            <a:endParaRPr lang="en-US" sz="1800" dirty="0"/>
          </a:p>
        </p:txBody>
      </p:sp>
      <p:sp>
        <p:nvSpPr>
          <p:cNvPr id="15" name="Shape 13"/>
          <p:cNvSpPr/>
          <p:nvPr/>
        </p:nvSpPr>
        <p:spPr>
          <a:xfrm>
            <a:off x="713232" y="4421124"/>
            <a:ext cx="329184" cy="329184"/>
          </a:xfrm>
          <a:prstGeom prst="roundRect">
            <a:avLst>
              <a:gd name="adj" fmla="val 16667"/>
            </a:avLst>
          </a:prstGeom>
          <a:solidFill>
            <a:srgbClr val="13315C"/>
          </a:solidFill>
          <a:ln/>
        </p:spPr>
      </p:sp>
      <p:sp>
        <p:nvSpPr>
          <p:cNvPr id="16" name="Text 14"/>
          <p:cNvSpPr/>
          <p:nvPr/>
        </p:nvSpPr>
        <p:spPr>
          <a:xfrm>
            <a:off x="713232" y="442112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4142232"/>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rdfs:subPropertyOf tạo phân cấp thuộc tính</a:t>
            </a:r>
            <a:endParaRPr lang="en-US" sz="1800" dirty="0"/>
          </a:p>
        </p:txBody>
      </p:sp>
      <p:sp>
        <p:nvSpPr>
          <p:cNvPr id="18" name="Shape 16"/>
          <p:cNvSpPr/>
          <p:nvPr/>
        </p:nvSpPr>
        <p:spPr>
          <a:xfrm>
            <a:off x="685800" y="5193792"/>
            <a:ext cx="10835640" cy="1024128"/>
          </a:xfrm>
          <a:prstGeom prst="roundRect">
            <a:avLst>
              <a:gd name="adj" fmla="val 7143"/>
            </a:avLst>
          </a:prstGeom>
          <a:solidFill>
            <a:srgbClr val="FBF1DA"/>
          </a:solidFill>
          <a:ln w="12700">
            <a:solidFill>
              <a:srgbClr val="E2A233"/>
            </a:solidFill>
            <a:prstDash val="solid"/>
          </a:ln>
          <a:effectLst>
            <a:outerShdw sx="100000" sy="100000" kx="0" ky="0" algn="bl" rotWithShape="0" blurRad="76200" dist="25400" dir="5400000">
              <a:srgbClr val="9FB1C4">
                <a:alpha val="32000"/>
              </a:srgbClr>
            </a:outerShdw>
          </a:effectLst>
        </p:spPr>
      </p:sp>
      <p:sp>
        <p:nvSpPr>
          <p:cNvPr id="19" name="Text 17"/>
          <p:cNvSpPr/>
          <p:nvPr/>
        </p:nvSpPr>
        <p:spPr>
          <a:xfrm>
            <a:off x="932688" y="5312664"/>
            <a:ext cx="10332720" cy="274320"/>
          </a:xfrm>
          <a:prstGeom prst="rect">
            <a:avLst/>
          </a:prstGeom>
          <a:noFill/>
          <a:ln/>
        </p:spPr>
        <p:txBody>
          <a:bodyPr wrap="square" rtlCol="0" anchor="ctr"/>
          <a:lstStyle/>
          <a:p>
            <a:pPr indent="0" marL="0">
              <a:buNone/>
            </a:pPr>
            <a:r>
              <a:rPr lang="en-US" sz="1200" b="1" spc="100" kern="0" dirty="0">
                <a:solidFill>
                  <a:srgbClr val="C1801F"/>
                </a:solidFill>
                <a:latin typeface="Calibri" pitchFamily="34" charset="0"/>
                <a:ea typeface="Calibri" pitchFamily="34" charset="-122"/>
                <a:cs typeface="Calibri" pitchFamily="34" charset="-120"/>
              </a:rPr>
              <a:t>LƯU Ý</a:t>
            </a:r>
            <a:endParaRPr lang="en-US" sz="1200" dirty="0"/>
          </a:p>
        </p:txBody>
      </p:sp>
      <p:sp>
        <p:nvSpPr>
          <p:cNvPr id="20" name="Text 18"/>
          <p:cNvSpPr/>
          <p:nvPr/>
        </p:nvSpPr>
        <p:spPr>
          <a:xfrm>
            <a:off x="932688" y="5596128"/>
            <a:ext cx="10332720" cy="53035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RDFS mô tả cấu trúc phân cấp nhưng chưa suy luận phức tạp như OWL.</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2  ·  NỀN TẢNG RDF · RDFS · OWL · SPARQL</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OWL – Web Ontology Language</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16</a:t>
            </a:r>
            <a:endParaRPr lang="en-US" sz="1100" dirty="0"/>
          </a:p>
        </p:txBody>
      </p:sp>
      <p:sp>
        <p:nvSpPr>
          <p:cNvPr id="6" name="Shape 4"/>
          <p:cNvSpPr/>
          <p:nvPr/>
        </p:nvSpPr>
        <p:spPr>
          <a:xfrm>
            <a:off x="713232" y="1764792"/>
            <a:ext cx="329184" cy="329184"/>
          </a:xfrm>
          <a:prstGeom prst="roundRect">
            <a:avLst>
              <a:gd name="adj" fmla="val 16667"/>
            </a:avLst>
          </a:prstGeom>
          <a:solidFill>
            <a:srgbClr val="13315C"/>
          </a:solidFill>
          <a:ln/>
        </p:spPr>
      </p:sp>
      <p:sp>
        <p:nvSpPr>
          <p:cNvPr id="7" name="Text 5"/>
          <p:cNvSpPr/>
          <p:nvPr/>
        </p:nvSpPr>
        <p:spPr>
          <a:xfrm>
            <a:off x="713232" y="176479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896112"/>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OWL biểu cảm mạnh hơn RDFS rất nhiều</a:t>
            </a:r>
            <a:endParaRPr lang="en-US" sz="1800" dirty="0"/>
          </a:p>
        </p:txBody>
      </p:sp>
      <p:sp>
        <p:nvSpPr>
          <p:cNvPr id="9" name="Shape 7"/>
          <p:cNvSpPr/>
          <p:nvPr/>
        </p:nvSpPr>
        <p:spPr>
          <a:xfrm>
            <a:off x="713232" y="2660904"/>
            <a:ext cx="329184" cy="329184"/>
          </a:xfrm>
          <a:prstGeom prst="roundRect">
            <a:avLst>
              <a:gd name="adj" fmla="val 16667"/>
            </a:avLst>
          </a:prstGeom>
          <a:solidFill>
            <a:srgbClr val="13315C"/>
          </a:solidFill>
          <a:ln/>
        </p:spPr>
      </p:sp>
      <p:sp>
        <p:nvSpPr>
          <p:cNvPr id="10" name="Text 8"/>
          <p:cNvSpPr/>
          <p:nvPr/>
        </p:nvSpPr>
        <p:spPr>
          <a:xfrm>
            <a:off x="713232" y="266090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377440"/>
            <a:ext cx="10296144" cy="896112"/>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Dựa trên nền tảng Description Logic (DL)</a:t>
            </a:r>
            <a:endParaRPr lang="en-US" sz="1800" dirty="0"/>
          </a:p>
        </p:txBody>
      </p:sp>
      <p:sp>
        <p:nvSpPr>
          <p:cNvPr id="12" name="Shape 10"/>
          <p:cNvSpPr/>
          <p:nvPr/>
        </p:nvSpPr>
        <p:spPr>
          <a:xfrm>
            <a:off x="713232" y="3557016"/>
            <a:ext cx="329184" cy="329184"/>
          </a:xfrm>
          <a:prstGeom prst="roundRect">
            <a:avLst>
              <a:gd name="adj" fmla="val 16667"/>
            </a:avLst>
          </a:prstGeom>
          <a:solidFill>
            <a:srgbClr val="13315C"/>
          </a:solidFill>
          <a:ln/>
        </p:spPr>
      </p:sp>
      <p:sp>
        <p:nvSpPr>
          <p:cNvPr id="13" name="Text 11"/>
          <p:cNvSpPr/>
          <p:nvPr/>
        </p:nvSpPr>
        <p:spPr>
          <a:xfrm>
            <a:off x="713232" y="355701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3273552"/>
            <a:ext cx="10296144" cy="896112"/>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Có 3 mức: OWL Lite, OWL DL, OWL Full</a:t>
            </a:r>
            <a:endParaRPr lang="en-US" sz="1800" dirty="0"/>
          </a:p>
        </p:txBody>
      </p:sp>
      <p:sp>
        <p:nvSpPr>
          <p:cNvPr id="15" name="Shape 13"/>
          <p:cNvSpPr/>
          <p:nvPr/>
        </p:nvSpPr>
        <p:spPr>
          <a:xfrm>
            <a:off x="713232" y="4453128"/>
            <a:ext cx="329184" cy="329184"/>
          </a:xfrm>
          <a:prstGeom prst="roundRect">
            <a:avLst>
              <a:gd name="adj" fmla="val 16667"/>
            </a:avLst>
          </a:prstGeom>
          <a:solidFill>
            <a:srgbClr val="13315C"/>
          </a:solidFill>
          <a:ln/>
        </p:spPr>
      </p:sp>
      <p:sp>
        <p:nvSpPr>
          <p:cNvPr id="16" name="Text 14"/>
          <p:cNvSpPr/>
          <p:nvPr/>
        </p:nvSpPr>
        <p:spPr>
          <a:xfrm>
            <a:off x="713232" y="445312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4169664"/>
            <a:ext cx="10296144" cy="896112"/>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Cho phép ràng buộc phức tạp và suy luận tự động</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2  ·  NỀN TẢNG RDF · RDFS · OWL · SPARQL</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Một số khả năng của OWL</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17</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13232" y="1627632"/>
          <a:ext cx="10835640" cy="914400"/>
        </p:xfrm>
        <a:graphic>
          <a:graphicData uri="http://schemas.openxmlformats.org/drawingml/2006/table">
            <a:tbl>
              <a:tblPr/>
              <a:tblGrid>
                <a:gridCol w="2880360"/>
                <a:gridCol w="3977640"/>
                <a:gridCol w="3977640"/>
              </a:tblGrid>
              <a:tr h="45720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Cấu trúc</a:t>
                      </a:r>
                      <a:endParaRPr lang="en-US" sz="15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13315C"/>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Ý nghĩa</a:t>
                      </a:r>
                      <a:endParaRPr lang="en-US" sz="15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13315C"/>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Ví dụ</a:t>
                      </a:r>
                      <a:endParaRPr lang="en-US" sz="15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13315C"/>
                    </a:solidFill>
                  </a:tcPr>
                </a:tc>
              </a:tr>
              <a:tr h="457200">
                <a:tc>
                  <a:txBody>
                    <a:bodyPr/>
                    <a:lstStyle/>
                    <a:p>
                      <a:pPr algn="l" indent="0" marL="0">
                        <a:buNone/>
                      </a:pPr>
                      <a:r>
                        <a:rPr lang="en-US" sz="1400" b="1" dirty="0">
                          <a:solidFill>
                            <a:srgbClr val="1F2D3A"/>
                          </a:solidFill>
                          <a:latin typeface="Calibri" pitchFamily="34" charset="0"/>
                          <a:ea typeface="Calibri" pitchFamily="34" charset="-122"/>
                          <a:cs typeface="Calibri" pitchFamily="34" charset="-120"/>
                        </a:rPr>
                        <a:t>owl:equivalentClass</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Hai lớp tương đương</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GiangVien ≡ Lecturer</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1F2D3A"/>
                          </a:solidFill>
                          <a:latin typeface="Calibri" pitchFamily="34" charset="0"/>
                          <a:ea typeface="Calibri" pitchFamily="34" charset="-122"/>
                          <a:cs typeface="Calibri" pitchFamily="34" charset="-120"/>
                        </a:rPr>
                        <a:t>owl:disjointWith</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EAF2FB"/>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Hai lớp rời nhau</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EAF2FB"/>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Nam và Nữ</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EAF2FB"/>
                    </a:solidFill>
                  </a:tcPr>
                </a:tc>
              </a:tr>
              <a:tr h="457200">
                <a:tc>
                  <a:txBody>
                    <a:bodyPr/>
                    <a:lstStyle/>
                    <a:p>
                      <a:pPr algn="l" indent="0" marL="0">
                        <a:buNone/>
                      </a:pPr>
                      <a:r>
                        <a:rPr lang="en-US" sz="1400" b="1" dirty="0">
                          <a:solidFill>
                            <a:srgbClr val="1F2D3A"/>
                          </a:solidFill>
                          <a:latin typeface="Calibri" pitchFamily="34" charset="0"/>
                          <a:ea typeface="Calibri" pitchFamily="34" charset="-122"/>
                          <a:cs typeface="Calibri" pitchFamily="34" charset="-120"/>
                        </a:rPr>
                        <a:t>owl:inverseOf</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Quan hệ nghịch đảo</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dạy ↔ đượcDạyBởi</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1F2D3A"/>
                          </a:solidFill>
                          <a:latin typeface="Calibri" pitchFamily="34" charset="0"/>
                          <a:ea typeface="Calibri" pitchFamily="34" charset="-122"/>
                          <a:cs typeface="Calibri" pitchFamily="34" charset="-120"/>
                        </a:rPr>
                        <a:t>Cardinality</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EAF2FB"/>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Ràng buộc số lượng</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EAF2FB"/>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Mỗi SV có đúng 1 MSSV</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EAF2FB"/>
                    </a:solidFill>
                  </a:tcPr>
                </a:tc>
              </a:tr>
              <a:tr h="457200">
                <a:tc>
                  <a:txBody>
                    <a:bodyPr/>
                    <a:lstStyle/>
                    <a:p>
                      <a:pPr algn="l" indent="0" marL="0">
                        <a:buNone/>
                      </a:pPr>
                      <a:r>
                        <a:rPr lang="en-US" sz="1400" b="1" dirty="0">
                          <a:solidFill>
                            <a:srgbClr val="1F2D3A"/>
                          </a:solidFill>
                          <a:latin typeface="Calibri" pitchFamily="34" charset="0"/>
                          <a:ea typeface="Calibri" pitchFamily="34" charset="-122"/>
                          <a:cs typeface="Calibri" pitchFamily="34" charset="-120"/>
                        </a:rPr>
                        <a:t>TransitiveProperty</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Quan hệ bắc cầu</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tổ tiên</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r>
            </a:tbl>
          </a:graphicData>
        </a:graphic>
      </p:graphicFrame>
      <p:sp>
        <p:nvSpPr>
          <p:cNvPr id="7" name="Text 4"/>
          <p:cNvSpPr/>
          <p:nvPr/>
        </p:nvSpPr>
        <p:spPr>
          <a:xfrm>
            <a:off x="713232" y="5989320"/>
            <a:ext cx="10835640" cy="457200"/>
          </a:xfrm>
          <a:prstGeom prst="rect">
            <a:avLst/>
          </a:prstGeom>
          <a:noFill/>
          <a:ln/>
        </p:spPr>
        <p:txBody>
          <a:bodyPr wrap="square" rtlCol="0" anchor="ctr"/>
          <a:lstStyle/>
          <a:p>
            <a:pPr indent="0" marL="0">
              <a:buNone/>
            </a:pPr>
            <a:r>
              <a:rPr lang="en-US" sz="1300" i="1" dirty="0">
                <a:solidFill>
                  <a:srgbClr val="5C6B7B"/>
                </a:solidFill>
                <a:latin typeface="Calibri" pitchFamily="34" charset="0"/>
                <a:ea typeface="Calibri" pitchFamily="34" charset="-122"/>
                <a:cs typeface="Calibri" pitchFamily="34" charset="-120"/>
              </a:rPr>
              <a:t>OWL mở rộng khả năng biểu diễn ngữ nghĩa so với RDFS.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2  ·  NỀN TẢNG RDF · RDFS · OWL · SPARQL</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Suy diễn (Reasoning) &amp; Description Logic</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18</a:t>
            </a:r>
            <a:endParaRPr lang="en-US" sz="1100" dirty="0"/>
          </a:p>
        </p:txBody>
      </p:sp>
      <p:sp>
        <p:nvSpPr>
          <p:cNvPr id="6" name="Shape 4"/>
          <p:cNvSpPr/>
          <p:nvPr/>
        </p:nvSpPr>
        <p:spPr>
          <a:xfrm>
            <a:off x="713232" y="1760220"/>
            <a:ext cx="329184" cy="329184"/>
          </a:xfrm>
          <a:prstGeom prst="roundRect">
            <a:avLst>
              <a:gd name="adj" fmla="val 16667"/>
            </a:avLst>
          </a:prstGeom>
          <a:solidFill>
            <a:srgbClr val="13315C"/>
          </a:solidFill>
          <a:ln/>
        </p:spPr>
      </p:sp>
      <p:sp>
        <p:nvSpPr>
          <p:cNvPr id="7" name="Text 5"/>
          <p:cNvSpPr/>
          <p:nvPr/>
        </p:nvSpPr>
        <p:spPr>
          <a:xfrm>
            <a:off x="713232" y="176022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Reasoner suy ra tri thức ẩn từ tri thức đã có</a:t>
            </a:r>
            <a:endParaRPr lang="en-US" sz="1800" dirty="0"/>
          </a:p>
        </p:txBody>
      </p:sp>
      <p:sp>
        <p:nvSpPr>
          <p:cNvPr id="9" name="Shape 7"/>
          <p:cNvSpPr/>
          <p:nvPr/>
        </p:nvSpPr>
        <p:spPr>
          <a:xfrm>
            <a:off x="713232" y="2647188"/>
            <a:ext cx="329184" cy="329184"/>
          </a:xfrm>
          <a:prstGeom prst="roundRect">
            <a:avLst>
              <a:gd name="adj" fmla="val 16667"/>
            </a:avLst>
          </a:prstGeom>
          <a:solidFill>
            <a:srgbClr val="13315C"/>
          </a:solidFill>
          <a:ln/>
        </p:spPr>
      </p:sp>
      <p:sp>
        <p:nvSpPr>
          <p:cNvPr id="10" name="Text 8"/>
          <p:cNvSpPr/>
          <p:nvPr/>
        </p:nvSpPr>
        <p:spPr>
          <a:xfrm>
            <a:off x="713232" y="264718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368296"/>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Kiểm tra tính nhất quán (consistency) của ontology</a:t>
            </a:r>
            <a:endParaRPr lang="en-US" sz="1800" dirty="0"/>
          </a:p>
        </p:txBody>
      </p:sp>
      <p:sp>
        <p:nvSpPr>
          <p:cNvPr id="12" name="Shape 10"/>
          <p:cNvSpPr/>
          <p:nvPr/>
        </p:nvSpPr>
        <p:spPr>
          <a:xfrm>
            <a:off x="713232" y="3534156"/>
            <a:ext cx="329184" cy="329184"/>
          </a:xfrm>
          <a:prstGeom prst="roundRect">
            <a:avLst>
              <a:gd name="adj" fmla="val 16667"/>
            </a:avLst>
          </a:prstGeom>
          <a:solidFill>
            <a:srgbClr val="13315C"/>
          </a:solidFill>
          <a:ln/>
        </p:spPr>
      </p:sp>
      <p:sp>
        <p:nvSpPr>
          <p:cNvPr id="13" name="Text 11"/>
          <p:cNvSpPr/>
          <p:nvPr/>
        </p:nvSpPr>
        <p:spPr>
          <a:xfrm>
            <a:off x="713232" y="353415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3255264"/>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Tự động phân loại lớp (classification)</a:t>
            </a:r>
            <a:endParaRPr lang="en-US" sz="1800" dirty="0"/>
          </a:p>
        </p:txBody>
      </p:sp>
      <p:sp>
        <p:nvSpPr>
          <p:cNvPr id="15" name="Shape 13"/>
          <p:cNvSpPr/>
          <p:nvPr/>
        </p:nvSpPr>
        <p:spPr>
          <a:xfrm>
            <a:off x="713232" y="4421124"/>
            <a:ext cx="329184" cy="329184"/>
          </a:xfrm>
          <a:prstGeom prst="roundRect">
            <a:avLst>
              <a:gd name="adj" fmla="val 16667"/>
            </a:avLst>
          </a:prstGeom>
          <a:solidFill>
            <a:srgbClr val="13315C"/>
          </a:solidFill>
          <a:ln/>
        </p:spPr>
      </p:sp>
      <p:sp>
        <p:nvSpPr>
          <p:cNvPr id="16" name="Text 14"/>
          <p:cNvSpPr/>
          <p:nvPr/>
        </p:nvSpPr>
        <p:spPr>
          <a:xfrm>
            <a:off x="713232" y="442112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4142232"/>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Ví dụ: Chó là Thú, Thú là Động vật, nên Chó là Động vật</a:t>
            </a:r>
            <a:endParaRPr lang="en-US" sz="1800" dirty="0"/>
          </a:p>
        </p:txBody>
      </p:sp>
      <p:sp>
        <p:nvSpPr>
          <p:cNvPr id="18" name="Shape 16"/>
          <p:cNvSpPr/>
          <p:nvPr/>
        </p:nvSpPr>
        <p:spPr>
          <a:xfrm>
            <a:off x="685800" y="5193792"/>
            <a:ext cx="10835640" cy="1024128"/>
          </a:xfrm>
          <a:prstGeom prst="roundRect">
            <a:avLst>
              <a:gd name="adj" fmla="val 7143"/>
            </a:avLst>
          </a:prstGeom>
          <a:solidFill>
            <a:srgbClr val="FBF1DA"/>
          </a:solidFill>
          <a:ln w="12700">
            <a:solidFill>
              <a:srgbClr val="E2A233"/>
            </a:solidFill>
            <a:prstDash val="solid"/>
          </a:ln>
          <a:effectLst>
            <a:outerShdw sx="100000" sy="100000" kx="0" ky="0" algn="bl" rotWithShape="0" blurRad="76200" dist="25400" dir="5400000">
              <a:srgbClr val="9FB1C4">
                <a:alpha val="32000"/>
              </a:srgbClr>
            </a:outerShdw>
          </a:effectLst>
        </p:spPr>
      </p:sp>
      <p:sp>
        <p:nvSpPr>
          <p:cNvPr id="19" name="Text 17"/>
          <p:cNvSpPr/>
          <p:nvPr/>
        </p:nvSpPr>
        <p:spPr>
          <a:xfrm>
            <a:off x="932688" y="5312664"/>
            <a:ext cx="10332720" cy="274320"/>
          </a:xfrm>
          <a:prstGeom prst="rect">
            <a:avLst/>
          </a:prstGeom>
          <a:noFill/>
          <a:ln/>
        </p:spPr>
        <p:txBody>
          <a:bodyPr wrap="square" rtlCol="0" anchor="ctr"/>
          <a:lstStyle/>
          <a:p>
            <a:pPr indent="0" marL="0">
              <a:buNone/>
            </a:pPr>
            <a:r>
              <a:rPr lang="en-US" sz="1200" b="1" spc="100" kern="0" dirty="0">
                <a:solidFill>
                  <a:srgbClr val="C1801F"/>
                </a:solidFill>
                <a:latin typeface="Calibri" pitchFamily="34" charset="0"/>
                <a:ea typeface="Calibri" pitchFamily="34" charset="-122"/>
                <a:cs typeface="Calibri" pitchFamily="34" charset="-120"/>
              </a:rPr>
              <a:t>GHI NHỚ</a:t>
            </a:r>
            <a:endParaRPr lang="en-US" sz="1200" dirty="0"/>
          </a:p>
        </p:txBody>
      </p:sp>
      <p:sp>
        <p:nvSpPr>
          <p:cNvPr id="20" name="Text 18"/>
          <p:cNvSpPr/>
          <p:nvPr/>
        </p:nvSpPr>
        <p:spPr>
          <a:xfrm>
            <a:off x="932688" y="5596128"/>
            <a:ext cx="10332720" cy="53035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Reasoner tự động suy ra tri thức mới từ quan hệ đã khai báo.</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2  ·  NỀN TẢNG RDF · RDFS · OWL · SPARQL</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SPARQL – Ngôn ngữ truy vấn</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19</a:t>
            </a:r>
            <a:endParaRPr lang="en-US" sz="1100" dirty="0"/>
          </a:p>
        </p:txBody>
      </p:sp>
      <p:sp>
        <p:nvSpPr>
          <p:cNvPr id="6" name="Text 4"/>
          <p:cNvSpPr/>
          <p:nvPr/>
        </p:nvSpPr>
        <p:spPr>
          <a:xfrm>
            <a:off x="713232" y="1417320"/>
            <a:ext cx="10789920" cy="384048"/>
          </a:xfrm>
          <a:prstGeom prst="rect">
            <a:avLst/>
          </a:prstGeom>
          <a:noFill/>
          <a:ln/>
        </p:spPr>
        <p:txBody>
          <a:bodyPr wrap="square" rtlCol="0" anchor="ctr"/>
          <a:lstStyle/>
          <a:p>
            <a:pPr indent="0" marL="0">
              <a:buNone/>
            </a:pPr>
            <a:r>
              <a:rPr lang="en-US" sz="1500" i="1" dirty="0">
                <a:solidFill>
                  <a:srgbClr val="1F2D3A"/>
                </a:solidFill>
                <a:latin typeface="Calibri" pitchFamily="34" charset="0"/>
                <a:ea typeface="Calibri" pitchFamily="34" charset="-122"/>
                <a:cs typeface="Calibri" pitchFamily="34" charset="-120"/>
              </a:rPr>
              <a:t>SPARQL truy vấn dữ liệu RDF, tương tự SQL cho CSDL.</a:t>
            </a:r>
            <a:endParaRPr lang="en-US" sz="1500" dirty="0"/>
          </a:p>
        </p:txBody>
      </p:sp>
      <p:sp>
        <p:nvSpPr>
          <p:cNvPr id="7" name="Shape 5"/>
          <p:cNvSpPr/>
          <p:nvPr/>
        </p:nvSpPr>
        <p:spPr>
          <a:xfrm>
            <a:off x="713232" y="1901952"/>
            <a:ext cx="6537960" cy="2473452"/>
          </a:xfrm>
          <a:prstGeom prst="roundRect">
            <a:avLst>
              <a:gd name="adj" fmla="val 2588"/>
            </a:avLst>
          </a:prstGeom>
          <a:solidFill>
            <a:srgbClr val="0E2233"/>
          </a:solidFill>
          <a:ln/>
          <a:effectLst>
            <a:outerShdw sx="100000" sy="100000" kx="0" ky="0" algn="bl" rotWithShape="0" blurRad="76200" dist="25400" dir="5400000">
              <a:srgbClr val="9FB1C4">
                <a:alpha val="32000"/>
              </a:srgbClr>
            </a:outerShdw>
          </a:effectLst>
        </p:spPr>
      </p:sp>
      <p:sp>
        <p:nvSpPr>
          <p:cNvPr id="8" name="Text 6"/>
          <p:cNvSpPr/>
          <p:nvPr/>
        </p:nvSpPr>
        <p:spPr>
          <a:xfrm>
            <a:off x="896112" y="2048256"/>
            <a:ext cx="6172200" cy="2180844"/>
          </a:xfrm>
          <a:prstGeom prst="rect">
            <a:avLst/>
          </a:prstGeom>
          <a:noFill/>
          <a:ln/>
        </p:spPr>
        <p:txBody>
          <a:bodyPr wrap="square" rtlCol="0" anchor="t"/>
          <a:lstStyle/>
          <a:p>
            <a:pPr algn="l" indent="0" marL="0">
              <a:buNone/>
            </a:pPr>
            <a:r>
              <a:rPr lang="en-US" sz="1400" dirty="0">
                <a:solidFill>
                  <a:srgbClr val="E7EEF6"/>
                </a:solidFill>
                <a:latin typeface="Courier New" pitchFamily="34" charset="0"/>
                <a:ea typeface="Courier New" pitchFamily="34" charset="-122"/>
                <a:cs typeface="Courier New" pitchFamily="34" charset="-120"/>
              </a:rPr>
              <a:t>PREFIX ex: &lt;http://vidu.org/&gt;</a:t>
            </a:r>
            <a:endParaRPr lang="en-US" sz="1400" dirty="0"/>
          </a:p>
          <a:p>
            <a:pPr algn="l" indent="0" marL="0">
              <a:buNone/>
            </a:pPr>
            <a:r>
              <a:rPr lang="en-US" sz="1400" dirty="0">
                <a:solidFill>
                  <a:srgbClr val="E7EEF6"/>
                </a:solidFill>
                <a:latin typeface="Courier New" pitchFamily="34" charset="0"/>
                <a:ea typeface="Courier New" pitchFamily="34" charset="-122"/>
                <a:cs typeface="Courier New" pitchFamily="34" charset="-120"/>
              </a:rPr>
              <a:t> </a:t>
            </a:r>
            <a:endParaRPr lang="en-US" sz="1400" dirty="0"/>
          </a:p>
          <a:p>
            <a:pPr algn="l" indent="0" marL="0">
              <a:buNone/>
            </a:pPr>
            <a:r>
              <a:rPr lang="en-US" sz="1400" dirty="0">
                <a:solidFill>
                  <a:srgbClr val="E7EEF6"/>
                </a:solidFill>
                <a:latin typeface="Courier New" pitchFamily="34" charset="0"/>
                <a:ea typeface="Courier New" pitchFamily="34" charset="-122"/>
                <a:cs typeface="Courier New" pitchFamily="34" charset="-120"/>
              </a:rPr>
              <a:t>SELECT ?ten</a:t>
            </a:r>
            <a:endParaRPr lang="en-US" sz="1400" dirty="0"/>
          </a:p>
          <a:p>
            <a:pPr algn="l" indent="0" marL="0">
              <a:buNone/>
            </a:pPr>
            <a:r>
              <a:rPr lang="en-US" sz="1400" dirty="0">
                <a:solidFill>
                  <a:srgbClr val="E7EEF6"/>
                </a:solidFill>
                <a:latin typeface="Courier New" pitchFamily="34" charset="0"/>
                <a:ea typeface="Courier New" pitchFamily="34" charset="-122"/>
                <a:cs typeface="Courier New" pitchFamily="34" charset="-120"/>
              </a:rPr>
              <a:t>WHERE {</a:t>
            </a:r>
            <a:endParaRPr lang="en-US" sz="1400" dirty="0"/>
          </a:p>
          <a:p>
            <a:pPr algn="l" indent="0" marL="0">
              <a:buNone/>
            </a:pPr>
            <a:r>
              <a:rPr lang="en-US" sz="1400" dirty="0">
                <a:solidFill>
                  <a:srgbClr val="E7EEF6"/>
                </a:solidFill>
                <a:latin typeface="Courier New" pitchFamily="34" charset="0"/>
                <a:ea typeface="Courier New" pitchFamily="34" charset="-122"/>
                <a:cs typeface="Courier New" pitchFamily="34" charset="-120"/>
              </a:rPr>
              <a:t>  ?sv ex:hocTai ex:BachKhoa .</a:t>
            </a:r>
            <a:endParaRPr lang="en-US" sz="1400" dirty="0"/>
          </a:p>
          <a:p>
            <a:pPr algn="l" indent="0" marL="0">
              <a:buNone/>
            </a:pPr>
            <a:r>
              <a:rPr lang="en-US" sz="1400" dirty="0">
                <a:solidFill>
                  <a:srgbClr val="E7EEF6"/>
                </a:solidFill>
                <a:latin typeface="Courier New" pitchFamily="34" charset="0"/>
                <a:ea typeface="Courier New" pitchFamily="34" charset="-122"/>
                <a:cs typeface="Courier New" pitchFamily="34" charset="-120"/>
              </a:rPr>
              <a:t>  ?sv ex:hoTen ?ten .</a:t>
            </a:r>
            <a:endParaRPr lang="en-US" sz="1400" dirty="0"/>
          </a:p>
          <a:p>
            <a:pPr algn="l" indent="0" marL="0">
              <a:buNone/>
            </a:pPr>
            <a:r>
              <a:rPr lang="en-US" sz="1400" dirty="0">
                <a:solidFill>
                  <a:srgbClr val="E7EEF6"/>
                </a:solidFill>
                <a:latin typeface="Courier New" pitchFamily="34" charset="0"/>
                <a:ea typeface="Courier New" pitchFamily="34" charset="-122"/>
                <a:cs typeface="Courier New" pitchFamily="34" charset="-120"/>
              </a:rPr>
              <a:t>}</a:t>
            </a:r>
            <a:endParaRPr lang="en-US" sz="1400" dirty="0"/>
          </a:p>
        </p:txBody>
      </p:sp>
      <p:sp>
        <p:nvSpPr>
          <p:cNvPr id="9" name="Text 7"/>
          <p:cNvSpPr/>
          <p:nvPr/>
        </p:nvSpPr>
        <p:spPr>
          <a:xfrm>
            <a:off x="7571232" y="1901952"/>
            <a:ext cx="3977640" cy="310896"/>
          </a:xfrm>
          <a:prstGeom prst="rect">
            <a:avLst/>
          </a:prstGeom>
          <a:noFill/>
          <a:ln/>
        </p:spPr>
        <p:txBody>
          <a:bodyPr wrap="square" rtlCol="0" anchor="ctr"/>
          <a:lstStyle/>
          <a:p>
            <a:pPr indent="0" marL="0">
              <a:buNone/>
            </a:pPr>
            <a:r>
              <a:rPr lang="en-US" sz="1200" b="1" spc="100" kern="0" dirty="0">
                <a:solidFill>
                  <a:srgbClr val="C1801F"/>
                </a:solidFill>
                <a:latin typeface="Calibri" pitchFamily="34" charset="0"/>
                <a:ea typeface="Calibri" pitchFamily="34" charset="-122"/>
                <a:cs typeface="Calibri" pitchFamily="34" charset="-120"/>
              </a:rPr>
              <a:t>GIẢI THÍCH</a:t>
            </a:r>
            <a:endParaRPr lang="en-US" sz="1200" dirty="0"/>
          </a:p>
        </p:txBody>
      </p:sp>
      <p:sp>
        <p:nvSpPr>
          <p:cNvPr id="10" name="Text 8"/>
          <p:cNvSpPr/>
          <p:nvPr/>
        </p:nvSpPr>
        <p:spPr>
          <a:xfrm>
            <a:off x="7571232" y="2286000"/>
            <a:ext cx="3977640" cy="2089404"/>
          </a:xfrm>
          <a:prstGeom prst="rect">
            <a:avLst/>
          </a:prstGeom>
          <a:noFill/>
          <a:ln/>
        </p:spPr>
        <p:txBody>
          <a:bodyPr wrap="square" rtlCol="0" anchor="t">
            <a:normAutofit/>
          </a:bodyPr>
          <a:lstStyle/>
          <a:p>
            <a:pPr marL="165100" indent="-165100">
              <a:spcAft>
                <a:spcPts val="800"/>
              </a:spcAft>
              <a:buSzPct val="100000"/>
              <a:buChar char="•"/>
            </a:pPr>
            <a:r>
              <a:rPr lang="en-US" sz="1400" dirty="0">
                <a:solidFill>
                  <a:srgbClr val="1F2D3A"/>
                </a:solidFill>
                <a:latin typeface="Calibri" pitchFamily="34" charset="0"/>
                <a:ea typeface="Calibri" pitchFamily="34" charset="-122"/>
                <a:cs typeface="Calibri" pitchFamily="34" charset="-120"/>
              </a:rPr>
              <a:t>PREFIX khai báo namespace rút gọn</a:t>
            </a:r>
            <a:endParaRPr lang="en-US" sz="1400" dirty="0"/>
          </a:p>
          <a:p>
            <a:pPr marL="165100" indent="-165100">
              <a:spcAft>
                <a:spcPts val="800"/>
              </a:spcAft>
              <a:buSzPct val="100000"/>
              <a:buChar char="•"/>
            </a:pPr>
            <a:r>
              <a:rPr lang="en-US" sz="1400" dirty="0">
                <a:solidFill>
                  <a:srgbClr val="1F2D3A"/>
                </a:solidFill>
                <a:latin typeface="Calibri" pitchFamily="34" charset="0"/>
                <a:ea typeface="Calibri" pitchFamily="34" charset="-122"/>
                <a:cs typeface="Calibri" pitchFamily="34" charset="-120"/>
              </a:rPr>
              <a:t>SELECT chọn các biến cần lấy kết quả</a:t>
            </a:r>
            <a:endParaRPr lang="en-US" sz="1400" dirty="0"/>
          </a:p>
          <a:p>
            <a:pPr marL="165100" indent="-165100">
              <a:spcAft>
                <a:spcPts val="800"/>
              </a:spcAft>
              <a:buSzPct val="100000"/>
              <a:buChar char="•"/>
            </a:pPr>
            <a:r>
              <a:rPr lang="en-US" sz="1400" dirty="0">
                <a:solidFill>
                  <a:srgbClr val="1F2D3A"/>
                </a:solidFill>
                <a:latin typeface="Calibri" pitchFamily="34" charset="0"/>
                <a:ea typeface="Calibri" pitchFamily="34" charset="-122"/>
                <a:cs typeface="Calibri" pitchFamily="34" charset="-120"/>
              </a:rPr>
              <a:t>WHERE chứa mẫu bộ ba để đối chiếu dữ liệu</a:t>
            </a:r>
            <a:endParaRPr lang="en-US" sz="1400" dirty="0"/>
          </a:p>
          <a:p>
            <a:pPr marL="165100" indent="-165100">
              <a:spcAft>
                <a:spcPts val="800"/>
              </a:spcAft>
              <a:buSzPct val="100000"/>
              <a:buChar char="•"/>
            </a:pPr>
            <a:r>
              <a:rPr lang="en-US" sz="1400" dirty="0">
                <a:solidFill>
                  <a:srgbClr val="1F2D3A"/>
                </a:solidFill>
                <a:latin typeface="Calibri" pitchFamily="34" charset="0"/>
                <a:ea typeface="Calibri" pitchFamily="34" charset="-122"/>
                <a:cs typeface="Calibri" pitchFamily="34" charset="-120"/>
              </a:rPr>
              <a:t>?ten là biến sẽ được trả về</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AF2FB"/>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2  ·  NỀN TẢNG RDF · RDFS · OWL · SPARQL</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Tóm tắt Phần 2</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20</a:t>
            </a:r>
            <a:endParaRPr lang="en-US" sz="1100" dirty="0"/>
          </a:p>
        </p:txBody>
      </p:sp>
      <p:sp>
        <p:nvSpPr>
          <p:cNvPr id="6" name="Shape 4"/>
          <p:cNvSpPr/>
          <p:nvPr/>
        </p:nvSpPr>
        <p:spPr>
          <a:xfrm>
            <a:off x="822960" y="1655064"/>
            <a:ext cx="10561320" cy="722376"/>
          </a:xfrm>
          <a:prstGeom prst="roundRect">
            <a:avLst>
              <a:gd name="adj" fmla="val 10127"/>
            </a:avLst>
          </a:prstGeom>
          <a:solidFill>
            <a:srgbClr val="FFFFFF"/>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7" name="Shape 5"/>
          <p:cNvSpPr/>
          <p:nvPr/>
        </p:nvSpPr>
        <p:spPr>
          <a:xfrm>
            <a:off x="1024128" y="1879092"/>
            <a:ext cx="310896" cy="310896"/>
          </a:xfrm>
          <a:prstGeom prst="ellipse">
            <a:avLst/>
          </a:prstGeom>
          <a:solidFill>
            <a:srgbClr val="E2A233"/>
          </a:solidFill>
          <a:ln/>
        </p:spPr>
      </p:sp>
      <p:sp>
        <p:nvSpPr>
          <p:cNvPr id="8" name="Text 6"/>
          <p:cNvSpPr/>
          <p:nvPr/>
        </p:nvSpPr>
        <p:spPr>
          <a:xfrm>
            <a:off x="1024128" y="1879092"/>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536192" y="1600200"/>
            <a:ext cx="9646920" cy="868680"/>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RDF biểu diễn tri thức dưới dạng bộ ba Subject-Predicate-Object</a:t>
            </a:r>
            <a:endParaRPr lang="en-US" sz="1700" dirty="0"/>
          </a:p>
        </p:txBody>
      </p:sp>
      <p:sp>
        <p:nvSpPr>
          <p:cNvPr id="10" name="Shape 8"/>
          <p:cNvSpPr/>
          <p:nvPr/>
        </p:nvSpPr>
        <p:spPr>
          <a:xfrm>
            <a:off x="822960" y="2523744"/>
            <a:ext cx="10561320" cy="722376"/>
          </a:xfrm>
          <a:prstGeom prst="roundRect">
            <a:avLst>
              <a:gd name="adj" fmla="val 10127"/>
            </a:avLst>
          </a:prstGeom>
          <a:solidFill>
            <a:srgbClr val="FFFFFF"/>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11" name="Shape 9"/>
          <p:cNvSpPr/>
          <p:nvPr/>
        </p:nvSpPr>
        <p:spPr>
          <a:xfrm>
            <a:off x="1024128" y="2747772"/>
            <a:ext cx="310896" cy="310896"/>
          </a:xfrm>
          <a:prstGeom prst="ellipse">
            <a:avLst/>
          </a:prstGeom>
          <a:solidFill>
            <a:srgbClr val="E2A233"/>
          </a:solidFill>
          <a:ln/>
        </p:spPr>
      </p:sp>
      <p:sp>
        <p:nvSpPr>
          <p:cNvPr id="12" name="Text 10"/>
          <p:cNvSpPr/>
          <p:nvPr/>
        </p:nvSpPr>
        <p:spPr>
          <a:xfrm>
            <a:off x="1024128" y="2747772"/>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536192" y="2468880"/>
            <a:ext cx="9646920" cy="868680"/>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RDFS thêm phân cấp lớp và thuộc tính</a:t>
            </a:r>
            <a:endParaRPr lang="en-US" sz="1700" dirty="0"/>
          </a:p>
        </p:txBody>
      </p:sp>
      <p:sp>
        <p:nvSpPr>
          <p:cNvPr id="14" name="Shape 12"/>
          <p:cNvSpPr/>
          <p:nvPr/>
        </p:nvSpPr>
        <p:spPr>
          <a:xfrm>
            <a:off x="822960" y="3392424"/>
            <a:ext cx="10561320" cy="722376"/>
          </a:xfrm>
          <a:prstGeom prst="roundRect">
            <a:avLst>
              <a:gd name="adj" fmla="val 10127"/>
            </a:avLst>
          </a:prstGeom>
          <a:solidFill>
            <a:srgbClr val="FFFFFF"/>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15" name="Shape 13"/>
          <p:cNvSpPr/>
          <p:nvPr/>
        </p:nvSpPr>
        <p:spPr>
          <a:xfrm>
            <a:off x="1024128" y="3616452"/>
            <a:ext cx="310896" cy="310896"/>
          </a:xfrm>
          <a:prstGeom prst="ellipse">
            <a:avLst/>
          </a:prstGeom>
          <a:solidFill>
            <a:srgbClr val="E2A233"/>
          </a:solidFill>
          <a:ln/>
        </p:spPr>
      </p:sp>
      <p:sp>
        <p:nvSpPr>
          <p:cNvPr id="16" name="Text 14"/>
          <p:cNvSpPr/>
          <p:nvPr/>
        </p:nvSpPr>
        <p:spPr>
          <a:xfrm>
            <a:off x="1024128" y="3616452"/>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536192" y="3337560"/>
            <a:ext cx="9646920" cy="868680"/>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OWL biểu cảm mạnh hơn, hỗ trợ suy luận tự động</a:t>
            </a:r>
            <a:endParaRPr lang="en-US" sz="1700" dirty="0"/>
          </a:p>
        </p:txBody>
      </p:sp>
      <p:sp>
        <p:nvSpPr>
          <p:cNvPr id="18" name="Shape 16"/>
          <p:cNvSpPr/>
          <p:nvPr/>
        </p:nvSpPr>
        <p:spPr>
          <a:xfrm>
            <a:off x="822960" y="4261104"/>
            <a:ext cx="10561320" cy="722376"/>
          </a:xfrm>
          <a:prstGeom prst="roundRect">
            <a:avLst>
              <a:gd name="adj" fmla="val 10127"/>
            </a:avLst>
          </a:prstGeom>
          <a:solidFill>
            <a:srgbClr val="FFFFFF"/>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19" name="Shape 17"/>
          <p:cNvSpPr/>
          <p:nvPr/>
        </p:nvSpPr>
        <p:spPr>
          <a:xfrm>
            <a:off x="1024128" y="4485132"/>
            <a:ext cx="310896" cy="310896"/>
          </a:xfrm>
          <a:prstGeom prst="ellipse">
            <a:avLst/>
          </a:prstGeom>
          <a:solidFill>
            <a:srgbClr val="E2A233"/>
          </a:solidFill>
          <a:ln/>
        </p:spPr>
      </p:sp>
      <p:sp>
        <p:nvSpPr>
          <p:cNvPr id="20" name="Text 18"/>
          <p:cNvSpPr/>
          <p:nvPr/>
        </p:nvSpPr>
        <p:spPr>
          <a:xfrm>
            <a:off x="1024128" y="4485132"/>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1536192" y="4206240"/>
            <a:ext cx="9646920" cy="868680"/>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SPARQL là ngôn ngữ truy vấn dữ liệu RDF</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3  ·  XÂY DỰNG ONTOLOGY VỚI PROTÉGÉ</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Quy trình xây dựng Ontology</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21</a:t>
            </a:r>
            <a:endParaRPr lang="en-US" sz="1100" dirty="0"/>
          </a:p>
        </p:txBody>
      </p:sp>
      <p:sp>
        <p:nvSpPr>
          <p:cNvPr id="6" name="Shape 4"/>
          <p:cNvSpPr/>
          <p:nvPr/>
        </p:nvSpPr>
        <p:spPr>
          <a:xfrm>
            <a:off x="713232" y="1760220"/>
            <a:ext cx="329184" cy="329184"/>
          </a:xfrm>
          <a:prstGeom prst="roundRect">
            <a:avLst>
              <a:gd name="adj" fmla="val 16667"/>
            </a:avLst>
          </a:prstGeom>
          <a:solidFill>
            <a:srgbClr val="13315C"/>
          </a:solidFill>
          <a:ln/>
        </p:spPr>
      </p:sp>
      <p:sp>
        <p:nvSpPr>
          <p:cNvPr id="7" name="Text 5"/>
          <p:cNvSpPr/>
          <p:nvPr/>
        </p:nvSpPr>
        <p:spPr>
          <a:xfrm>
            <a:off x="713232" y="176022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Xác định phạm vi và mục đích sử dụng ontology</a:t>
            </a:r>
            <a:endParaRPr lang="en-US" sz="1800" dirty="0"/>
          </a:p>
        </p:txBody>
      </p:sp>
      <p:sp>
        <p:nvSpPr>
          <p:cNvPr id="9" name="Shape 7"/>
          <p:cNvSpPr/>
          <p:nvPr/>
        </p:nvSpPr>
        <p:spPr>
          <a:xfrm>
            <a:off x="713232" y="2647188"/>
            <a:ext cx="329184" cy="329184"/>
          </a:xfrm>
          <a:prstGeom prst="roundRect">
            <a:avLst>
              <a:gd name="adj" fmla="val 16667"/>
            </a:avLst>
          </a:prstGeom>
          <a:solidFill>
            <a:srgbClr val="13315C"/>
          </a:solidFill>
          <a:ln/>
        </p:spPr>
      </p:sp>
      <p:sp>
        <p:nvSpPr>
          <p:cNvPr id="10" name="Text 8"/>
          <p:cNvSpPr/>
          <p:nvPr/>
        </p:nvSpPr>
        <p:spPr>
          <a:xfrm>
            <a:off x="713232" y="264718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368296"/>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Đặt câu hỏi năng lực (competency questions) cần trả lời</a:t>
            </a:r>
            <a:endParaRPr lang="en-US" sz="1800" dirty="0"/>
          </a:p>
        </p:txBody>
      </p:sp>
      <p:sp>
        <p:nvSpPr>
          <p:cNvPr id="12" name="Shape 10"/>
          <p:cNvSpPr/>
          <p:nvPr/>
        </p:nvSpPr>
        <p:spPr>
          <a:xfrm>
            <a:off x="713232" y="3534156"/>
            <a:ext cx="329184" cy="329184"/>
          </a:xfrm>
          <a:prstGeom prst="roundRect">
            <a:avLst>
              <a:gd name="adj" fmla="val 16667"/>
            </a:avLst>
          </a:prstGeom>
          <a:solidFill>
            <a:srgbClr val="13315C"/>
          </a:solidFill>
          <a:ln/>
        </p:spPr>
      </p:sp>
      <p:sp>
        <p:nvSpPr>
          <p:cNvPr id="13" name="Text 11"/>
          <p:cNvSpPr/>
          <p:nvPr/>
        </p:nvSpPr>
        <p:spPr>
          <a:xfrm>
            <a:off x="713232" y="353415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3255264"/>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Xem xét tái sử dụng ontology có sẵn trong lĩnh vực</a:t>
            </a:r>
            <a:endParaRPr lang="en-US" sz="1800" dirty="0"/>
          </a:p>
        </p:txBody>
      </p:sp>
      <p:sp>
        <p:nvSpPr>
          <p:cNvPr id="15" name="Shape 13"/>
          <p:cNvSpPr/>
          <p:nvPr/>
        </p:nvSpPr>
        <p:spPr>
          <a:xfrm>
            <a:off x="713232" y="4421124"/>
            <a:ext cx="329184" cy="329184"/>
          </a:xfrm>
          <a:prstGeom prst="roundRect">
            <a:avLst>
              <a:gd name="adj" fmla="val 16667"/>
            </a:avLst>
          </a:prstGeom>
          <a:solidFill>
            <a:srgbClr val="13315C"/>
          </a:solidFill>
          <a:ln/>
        </p:spPr>
      </p:sp>
      <p:sp>
        <p:nvSpPr>
          <p:cNvPr id="16" name="Text 14"/>
          <p:cNvSpPr/>
          <p:nvPr/>
        </p:nvSpPr>
        <p:spPr>
          <a:xfrm>
            <a:off x="713232" y="442112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4142232"/>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Xây dựng theo hướng lặp (iterative), tinh chỉnh dần từng bước</a:t>
            </a:r>
            <a:endParaRPr lang="en-US" sz="1800" dirty="0"/>
          </a:p>
        </p:txBody>
      </p:sp>
      <p:sp>
        <p:nvSpPr>
          <p:cNvPr id="18" name="Shape 16"/>
          <p:cNvSpPr/>
          <p:nvPr/>
        </p:nvSpPr>
        <p:spPr>
          <a:xfrm>
            <a:off x="685800" y="5193792"/>
            <a:ext cx="10835640" cy="1024128"/>
          </a:xfrm>
          <a:prstGeom prst="roundRect">
            <a:avLst>
              <a:gd name="adj" fmla="val 7143"/>
            </a:avLst>
          </a:prstGeom>
          <a:solidFill>
            <a:srgbClr val="FBF1DA"/>
          </a:solidFill>
          <a:ln w="12700">
            <a:solidFill>
              <a:srgbClr val="E2A233"/>
            </a:solidFill>
            <a:prstDash val="solid"/>
          </a:ln>
          <a:effectLst>
            <a:outerShdw sx="100000" sy="100000" kx="0" ky="0" algn="bl" rotWithShape="0" blurRad="76200" dist="25400" dir="5400000">
              <a:srgbClr val="9FB1C4">
                <a:alpha val="32000"/>
              </a:srgbClr>
            </a:outerShdw>
          </a:effectLst>
        </p:spPr>
      </p:sp>
      <p:sp>
        <p:nvSpPr>
          <p:cNvPr id="19" name="Text 17"/>
          <p:cNvSpPr/>
          <p:nvPr/>
        </p:nvSpPr>
        <p:spPr>
          <a:xfrm>
            <a:off x="932688" y="5312664"/>
            <a:ext cx="10332720" cy="274320"/>
          </a:xfrm>
          <a:prstGeom prst="rect">
            <a:avLst/>
          </a:prstGeom>
          <a:noFill/>
          <a:ln/>
        </p:spPr>
        <p:txBody>
          <a:bodyPr wrap="square" rtlCol="0" anchor="ctr"/>
          <a:lstStyle/>
          <a:p>
            <a:pPr indent="0" marL="0">
              <a:buNone/>
            </a:pPr>
            <a:r>
              <a:rPr lang="en-US" sz="1200" b="1" spc="100" kern="0" dirty="0">
                <a:solidFill>
                  <a:srgbClr val="C1801F"/>
                </a:solidFill>
                <a:latin typeface="Calibri" pitchFamily="34" charset="0"/>
                <a:ea typeface="Calibri" pitchFamily="34" charset="-122"/>
                <a:cs typeface="Calibri" pitchFamily="34" charset="-120"/>
              </a:rPr>
              <a:t>LƯU Ý</a:t>
            </a:r>
            <a:endParaRPr lang="en-US" sz="1200" dirty="0"/>
          </a:p>
        </p:txBody>
      </p:sp>
      <p:sp>
        <p:nvSpPr>
          <p:cNvPr id="20" name="Text 18"/>
          <p:cNvSpPr/>
          <p:nvPr/>
        </p:nvSpPr>
        <p:spPr>
          <a:xfrm>
            <a:off x="932688" y="5596128"/>
            <a:ext cx="10332720" cy="53035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Không có một ontology đúng duy nhất cho mọi bài toán</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3  ·  XÂY DỰNG ONTOLOGY VỚI PROTÉGÉ</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Các bước xây dựng Ontology</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22</a:t>
            </a:r>
            <a:endParaRPr lang="en-US" sz="1100" dirty="0"/>
          </a:p>
        </p:txBody>
      </p:sp>
      <p:sp>
        <p:nvSpPr>
          <p:cNvPr id="6" name="Shape 4"/>
          <p:cNvSpPr/>
          <p:nvPr/>
        </p:nvSpPr>
        <p:spPr>
          <a:xfrm>
            <a:off x="926592" y="2011680"/>
            <a:ext cx="3063240" cy="914400"/>
          </a:xfrm>
          <a:prstGeom prst="roundRect">
            <a:avLst>
              <a:gd name="adj" fmla="val 8000"/>
            </a:avLst>
          </a:prstGeom>
          <a:solidFill>
            <a:srgbClr val="EAF2FB"/>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7" name="Shape 5"/>
          <p:cNvSpPr/>
          <p:nvPr/>
        </p:nvSpPr>
        <p:spPr>
          <a:xfrm>
            <a:off x="1072896" y="1847088"/>
            <a:ext cx="475488" cy="475488"/>
          </a:xfrm>
          <a:prstGeom prst="ellipse">
            <a:avLst/>
          </a:prstGeom>
          <a:solidFill>
            <a:srgbClr val="13315C"/>
          </a:solidFill>
          <a:ln/>
        </p:spPr>
      </p:sp>
      <p:sp>
        <p:nvSpPr>
          <p:cNvPr id="8" name="Text 6"/>
          <p:cNvSpPr/>
          <p:nvPr/>
        </p:nvSpPr>
        <p:spPr>
          <a:xfrm>
            <a:off x="1072896" y="1847088"/>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612392" y="2057400"/>
            <a:ext cx="2240280" cy="822960"/>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Xác định phạm vi</a:t>
            </a:r>
            <a:endParaRPr lang="en-US" sz="1400" dirty="0"/>
          </a:p>
        </p:txBody>
      </p:sp>
      <p:sp>
        <p:nvSpPr>
          <p:cNvPr id="10" name="Shape 8"/>
          <p:cNvSpPr/>
          <p:nvPr/>
        </p:nvSpPr>
        <p:spPr>
          <a:xfrm>
            <a:off x="4008120" y="2340864"/>
            <a:ext cx="365760" cy="256032"/>
          </a:xfrm>
          <a:prstGeom prst="rightArrow">
            <a:avLst/>
          </a:prstGeom>
          <a:solidFill>
            <a:srgbClr val="E2A233"/>
          </a:solidFill>
          <a:ln/>
        </p:spPr>
      </p:sp>
      <p:sp>
        <p:nvSpPr>
          <p:cNvPr id="11" name="Shape 9"/>
          <p:cNvSpPr/>
          <p:nvPr/>
        </p:nvSpPr>
        <p:spPr>
          <a:xfrm>
            <a:off x="4562856" y="2011680"/>
            <a:ext cx="3063240" cy="914400"/>
          </a:xfrm>
          <a:prstGeom prst="roundRect">
            <a:avLst>
              <a:gd name="adj" fmla="val 8000"/>
            </a:avLst>
          </a:prstGeom>
          <a:solidFill>
            <a:srgbClr val="EAF2FB"/>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12" name="Shape 10"/>
          <p:cNvSpPr/>
          <p:nvPr/>
        </p:nvSpPr>
        <p:spPr>
          <a:xfrm>
            <a:off x="4709160" y="1847088"/>
            <a:ext cx="475488" cy="475488"/>
          </a:xfrm>
          <a:prstGeom prst="ellipse">
            <a:avLst/>
          </a:prstGeom>
          <a:solidFill>
            <a:srgbClr val="13315C"/>
          </a:solidFill>
          <a:ln/>
        </p:spPr>
      </p:sp>
      <p:sp>
        <p:nvSpPr>
          <p:cNvPr id="13" name="Text 11"/>
          <p:cNvSpPr/>
          <p:nvPr/>
        </p:nvSpPr>
        <p:spPr>
          <a:xfrm>
            <a:off x="4709160" y="1847088"/>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5248656" y="2057400"/>
            <a:ext cx="2240280" cy="822960"/>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Tái sử dụng cái có sẵn</a:t>
            </a:r>
            <a:endParaRPr lang="en-US" sz="1400" dirty="0"/>
          </a:p>
        </p:txBody>
      </p:sp>
      <p:sp>
        <p:nvSpPr>
          <p:cNvPr id="15" name="Shape 13"/>
          <p:cNvSpPr/>
          <p:nvPr/>
        </p:nvSpPr>
        <p:spPr>
          <a:xfrm>
            <a:off x="7644384" y="2340864"/>
            <a:ext cx="365760" cy="256032"/>
          </a:xfrm>
          <a:prstGeom prst="rightArrow">
            <a:avLst/>
          </a:prstGeom>
          <a:solidFill>
            <a:srgbClr val="E2A233"/>
          </a:solidFill>
          <a:ln/>
        </p:spPr>
      </p:sp>
      <p:sp>
        <p:nvSpPr>
          <p:cNvPr id="16" name="Shape 14"/>
          <p:cNvSpPr/>
          <p:nvPr/>
        </p:nvSpPr>
        <p:spPr>
          <a:xfrm>
            <a:off x="8199120" y="2011680"/>
            <a:ext cx="3063240" cy="914400"/>
          </a:xfrm>
          <a:prstGeom prst="roundRect">
            <a:avLst>
              <a:gd name="adj" fmla="val 8000"/>
            </a:avLst>
          </a:prstGeom>
          <a:solidFill>
            <a:srgbClr val="EAF2FB"/>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17" name="Shape 15"/>
          <p:cNvSpPr/>
          <p:nvPr/>
        </p:nvSpPr>
        <p:spPr>
          <a:xfrm>
            <a:off x="8345424" y="1847088"/>
            <a:ext cx="475488" cy="475488"/>
          </a:xfrm>
          <a:prstGeom prst="ellipse">
            <a:avLst/>
          </a:prstGeom>
          <a:solidFill>
            <a:srgbClr val="13315C"/>
          </a:solidFill>
          <a:ln/>
        </p:spPr>
      </p:sp>
      <p:sp>
        <p:nvSpPr>
          <p:cNvPr id="18" name="Text 16"/>
          <p:cNvSpPr/>
          <p:nvPr/>
        </p:nvSpPr>
        <p:spPr>
          <a:xfrm>
            <a:off x="8345424" y="1847088"/>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8884920" y="2057400"/>
            <a:ext cx="2240280" cy="822960"/>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Liệt kê thuật ngữ</a:t>
            </a:r>
            <a:endParaRPr lang="en-US" sz="1400" dirty="0"/>
          </a:p>
        </p:txBody>
      </p:sp>
      <p:sp>
        <p:nvSpPr>
          <p:cNvPr id="20" name="Shape 18"/>
          <p:cNvSpPr/>
          <p:nvPr/>
        </p:nvSpPr>
        <p:spPr>
          <a:xfrm>
            <a:off x="926592" y="3493008"/>
            <a:ext cx="3063240" cy="914400"/>
          </a:xfrm>
          <a:prstGeom prst="roundRect">
            <a:avLst>
              <a:gd name="adj" fmla="val 8000"/>
            </a:avLst>
          </a:prstGeom>
          <a:solidFill>
            <a:srgbClr val="EAF2FB"/>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21" name="Shape 19"/>
          <p:cNvSpPr/>
          <p:nvPr/>
        </p:nvSpPr>
        <p:spPr>
          <a:xfrm>
            <a:off x="1072896" y="3328416"/>
            <a:ext cx="475488" cy="475488"/>
          </a:xfrm>
          <a:prstGeom prst="ellipse">
            <a:avLst/>
          </a:prstGeom>
          <a:solidFill>
            <a:srgbClr val="13315C"/>
          </a:solidFill>
          <a:ln/>
        </p:spPr>
      </p:sp>
      <p:sp>
        <p:nvSpPr>
          <p:cNvPr id="22" name="Text 20"/>
          <p:cNvSpPr/>
          <p:nvPr/>
        </p:nvSpPr>
        <p:spPr>
          <a:xfrm>
            <a:off x="1072896" y="3328416"/>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1612392" y="3538728"/>
            <a:ext cx="2240280" cy="822960"/>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Định nghĩa lớp &amp; phân cấp</a:t>
            </a:r>
            <a:endParaRPr lang="en-US" sz="1400" dirty="0"/>
          </a:p>
        </p:txBody>
      </p:sp>
      <p:sp>
        <p:nvSpPr>
          <p:cNvPr id="24" name="Shape 22"/>
          <p:cNvSpPr/>
          <p:nvPr/>
        </p:nvSpPr>
        <p:spPr>
          <a:xfrm>
            <a:off x="4008120" y="3822192"/>
            <a:ext cx="365760" cy="256032"/>
          </a:xfrm>
          <a:prstGeom prst="rightArrow">
            <a:avLst/>
          </a:prstGeom>
          <a:solidFill>
            <a:srgbClr val="E2A233"/>
          </a:solidFill>
          <a:ln/>
        </p:spPr>
      </p:sp>
      <p:sp>
        <p:nvSpPr>
          <p:cNvPr id="25" name="Shape 23"/>
          <p:cNvSpPr/>
          <p:nvPr/>
        </p:nvSpPr>
        <p:spPr>
          <a:xfrm>
            <a:off x="4562856" y="3493008"/>
            <a:ext cx="3063240" cy="914400"/>
          </a:xfrm>
          <a:prstGeom prst="roundRect">
            <a:avLst>
              <a:gd name="adj" fmla="val 8000"/>
            </a:avLst>
          </a:prstGeom>
          <a:solidFill>
            <a:srgbClr val="EAF2FB"/>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26" name="Shape 24"/>
          <p:cNvSpPr/>
          <p:nvPr/>
        </p:nvSpPr>
        <p:spPr>
          <a:xfrm>
            <a:off x="4709160" y="3328416"/>
            <a:ext cx="475488" cy="475488"/>
          </a:xfrm>
          <a:prstGeom prst="ellipse">
            <a:avLst/>
          </a:prstGeom>
          <a:solidFill>
            <a:srgbClr val="13315C"/>
          </a:solidFill>
          <a:ln/>
        </p:spPr>
      </p:sp>
      <p:sp>
        <p:nvSpPr>
          <p:cNvPr id="27" name="Text 25"/>
          <p:cNvSpPr/>
          <p:nvPr/>
        </p:nvSpPr>
        <p:spPr>
          <a:xfrm>
            <a:off x="4709160" y="3328416"/>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6"/>
          <p:cNvSpPr/>
          <p:nvPr/>
        </p:nvSpPr>
        <p:spPr>
          <a:xfrm>
            <a:off x="5248656" y="3538728"/>
            <a:ext cx="2240280" cy="822960"/>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Định nghĩa thuộc tính</a:t>
            </a:r>
            <a:endParaRPr lang="en-US" sz="1400" dirty="0"/>
          </a:p>
        </p:txBody>
      </p:sp>
      <p:sp>
        <p:nvSpPr>
          <p:cNvPr id="29" name="Shape 27"/>
          <p:cNvSpPr/>
          <p:nvPr/>
        </p:nvSpPr>
        <p:spPr>
          <a:xfrm>
            <a:off x="7644384" y="3822192"/>
            <a:ext cx="365760" cy="256032"/>
          </a:xfrm>
          <a:prstGeom prst="rightArrow">
            <a:avLst/>
          </a:prstGeom>
          <a:solidFill>
            <a:srgbClr val="E2A233"/>
          </a:solidFill>
          <a:ln/>
        </p:spPr>
      </p:sp>
      <p:sp>
        <p:nvSpPr>
          <p:cNvPr id="30" name="Shape 28"/>
          <p:cNvSpPr/>
          <p:nvPr/>
        </p:nvSpPr>
        <p:spPr>
          <a:xfrm>
            <a:off x="8199120" y="3493008"/>
            <a:ext cx="3063240" cy="914400"/>
          </a:xfrm>
          <a:prstGeom prst="roundRect">
            <a:avLst>
              <a:gd name="adj" fmla="val 8000"/>
            </a:avLst>
          </a:prstGeom>
          <a:solidFill>
            <a:srgbClr val="EAF2FB"/>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31" name="Shape 29"/>
          <p:cNvSpPr/>
          <p:nvPr/>
        </p:nvSpPr>
        <p:spPr>
          <a:xfrm>
            <a:off x="8345424" y="3328416"/>
            <a:ext cx="475488" cy="475488"/>
          </a:xfrm>
          <a:prstGeom prst="ellipse">
            <a:avLst/>
          </a:prstGeom>
          <a:solidFill>
            <a:srgbClr val="13315C"/>
          </a:solidFill>
          <a:ln/>
        </p:spPr>
      </p:sp>
      <p:sp>
        <p:nvSpPr>
          <p:cNvPr id="32" name="Text 30"/>
          <p:cNvSpPr/>
          <p:nvPr/>
        </p:nvSpPr>
        <p:spPr>
          <a:xfrm>
            <a:off x="8345424" y="3328416"/>
            <a:ext cx="475488" cy="47548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1"/>
          <p:cNvSpPr/>
          <p:nvPr/>
        </p:nvSpPr>
        <p:spPr>
          <a:xfrm>
            <a:off x="8884920" y="3538728"/>
            <a:ext cx="2240280" cy="822960"/>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Tạo cá thể</a:t>
            </a:r>
            <a:endParaRPr lang="en-US" sz="1400" dirty="0"/>
          </a:p>
        </p:txBody>
      </p:sp>
      <p:sp>
        <p:nvSpPr>
          <p:cNvPr id="34" name="Text 32"/>
          <p:cNvSpPr/>
          <p:nvPr/>
        </p:nvSpPr>
        <p:spPr>
          <a:xfrm>
            <a:off x="713232" y="5989320"/>
            <a:ext cx="10835640" cy="310896"/>
          </a:xfrm>
          <a:prstGeom prst="rect">
            <a:avLst/>
          </a:prstGeom>
          <a:noFill/>
          <a:ln/>
        </p:spPr>
        <p:txBody>
          <a:bodyPr wrap="square" rtlCol="0" anchor="ctr"/>
          <a:lstStyle/>
          <a:p>
            <a:pPr algn="ctr" indent="0" marL="0">
              <a:buNone/>
            </a:pPr>
            <a:r>
              <a:rPr lang="en-US" sz="1300" i="1" dirty="0">
                <a:solidFill>
                  <a:srgbClr val="5C6B7B"/>
                </a:solidFill>
                <a:latin typeface="Calibri" pitchFamily="34" charset="0"/>
                <a:ea typeface="Calibri" pitchFamily="34" charset="-122"/>
                <a:cs typeface="Calibri" pitchFamily="34" charset="-120"/>
              </a:rPr>
              <a:t>Theo hướng dẫn Ontology 101 (Noy &amp; McGuinness, 2001)</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3  ·  XÂY DỰNG ONTOLOGY VỚI PROTÉGÉ</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Giới thiệu công cụ Protégé</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23</a:t>
            </a:r>
            <a:endParaRPr lang="en-US" sz="1100" dirty="0"/>
          </a:p>
        </p:txBody>
      </p:sp>
      <p:sp>
        <p:nvSpPr>
          <p:cNvPr id="6" name="Shape 4"/>
          <p:cNvSpPr/>
          <p:nvPr/>
        </p:nvSpPr>
        <p:spPr>
          <a:xfrm>
            <a:off x="713232" y="1671523"/>
            <a:ext cx="329184" cy="329184"/>
          </a:xfrm>
          <a:prstGeom prst="roundRect">
            <a:avLst>
              <a:gd name="adj" fmla="val 16667"/>
            </a:avLst>
          </a:prstGeom>
          <a:solidFill>
            <a:srgbClr val="13315C"/>
          </a:solidFill>
          <a:ln/>
        </p:spPr>
      </p:sp>
      <p:sp>
        <p:nvSpPr>
          <p:cNvPr id="7" name="Text 5"/>
          <p:cNvSpPr/>
          <p:nvPr/>
        </p:nvSpPr>
        <p:spPr>
          <a:xfrm>
            <a:off x="713232" y="1671523"/>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Phần mềm mã nguồn mở phát triển bởi Đại học Stanford</a:t>
            </a:r>
            <a:endParaRPr lang="en-US" sz="1700" dirty="0"/>
          </a:p>
        </p:txBody>
      </p:sp>
      <p:sp>
        <p:nvSpPr>
          <p:cNvPr id="9" name="Shape 7"/>
          <p:cNvSpPr/>
          <p:nvPr/>
        </p:nvSpPr>
        <p:spPr>
          <a:xfrm>
            <a:off x="713232" y="2381098"/>
            <a:ext cx="329184" cy="329184"/>
          </a:xfrm>
          <a:prstGeom prst="roundRect">
            <a:avLst>
              <a:gd name="adj" fmla="val 16667"/>
            </a:avLst>
          </a:prstGeom>
          <a:solidFill>
            <a:srgbClr val="13315C"/>
          </a:solidFill>
          <a:ln/>
        </p:spPr>
      </p:sp>
      <p:sp>
        <p:nvSpPr>
          <p:cNvPr id="10" name="Text 8"/>
          <p:cNvSpPr/>
          <p:nvPr/>
        </p:nvSpPr>
        <p:spPr>
          <a:xfrm>
            <a:off x="713232" y="238109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190902"/>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Tạo và chỉnh sửa ontology OWL bằng giao diện trực quan</a:t>
            </a:r>
            <a:endParaRPr lang="en-US" sz="1700" dirty="0"/>
          </a:p>
        </p:txBody>
      </p:sp>
      <p:sp>
        <p:nvSpPr>
          <p:cNvPr id="12" name="Shape 10"/>
          <p:cNvSpPr/>
          <p:nvPr/>
        </p:nvSpPr>
        <p:spPr>
          <a:xfrm>
            <a:off x="713232" y="3090672"/>
            <a:ext cx="329184" cy="329184"/>
          </a:xfrm>
          <a:prstGeom prst="roundRect">
            <a:avLst>
              <a:gd name="adj" fmla="val 16667"/>
            </a:avLst>
          </a:prstGeom>
          <a:solidFill>
            <a:srgbClr val="13315C"/>
          </a:solidFill>
          <a:ln/>
        </p:spPr>
      </p:sp>
      <p:sp>
        <p:nvSpPr>
          <p:cNvPr id="13" name="Text 11"/>
          <p:cNvSpPr/>
          <p:nvPr/>
        </p:nvSpPr>
        <p:spPr>
          <a:xfrm>
            <a:off x="713232" y="309067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2900477"/>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Tích hợp sẵn các reasoner như HermiT, Pellet</a:t>
            </a:r>
            <a:endParaRPr lang="en-US" sz="1700" dirty="0"/>
          </a:p>
        </p:txBody>
      </p:sp>
      <p:sp>
        <p:nvSpPr>
          <p:cNvPr id="15" name="Shape 13"/>
          <p:cNvSpPr/>
          <p:nvPr/>
        </p:nvSpPr>
        <p:spPr>
          <a:xfrm>
            <a:off x="713232" y="3800246"/>
            <a:ext cx="329184" cy="329184"/>
          </a:xfrm>
          <a:prstGeom prst="roundRect">
            <a:avLst>
              <a:gd name="adj" fmla="val 16667"/>
            </a:avLst>
          </a:prstGeom>
          <a:solidFill>
            <a:srgbClr val="13315C"/>
          </a:solidFill>
          <a:ln/>
        </p:spPr>
      </p:sp>
      <p:sp>
        <p:nvSpPr>
          <p:cNvPr id="16" name="Text 14"/>
          <p:cNvSpPr/>
          <p:nvPr/>
        </p:nvSpPr>
        <p:spPr>
          <a:xfrm>
            <a:off x="713232" y="380024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3610051"/>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Hỗ trợ nhiều plugin mở rộng chức năng</a:t>
            </a:r>
            <a:endParaRPr lang="en-US" sz="1700" dirty="0"/>
          </a:p>
        </p:txBody>
      </p:sp>
      <p:sp>
        <p:nvSpPr>
          <p:cNvPr id="18" name="Shape 16"/>
          <p:cNvSpPr/>
          <p:nvPr/>
        </p:nvSpPr>
        <p:spPr>
          <a:xfrm>
            <a:off x="713232" y="4509821"/>
            <a:ext cx="329184" cy="329184"/>
          </a:xfrm>
          <a:prstGeom prst="roundRect">
            <a:avLst>
              <a:gd name="adj" fmla="val 16667"/>
            </a:avLst>
          </a:prstGeom>
          <a:solidFill>
            <a:srgbClr val="13315C"/>
          </a:solidFill>
          <a:ln/>
        </p:spPr>
      </p:sp>
      <p:sp>
        <p:nvSpPr>
          <p:cNvPr id="19" name="Text 17"/>
          <p:cNvSpPr/>
          <p:nvPr/>
        </p:nvSpPr>
        <p:spPr>
          <a:xfrm>
            <a:off x="713232" y="4509821"/>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07008" y="4319626"/>
            <a:ext cx="10296144" cy="709574"/>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Có phiên bản desktop (Protégé Desktop) và bản web (WebProtégé)</a:t>
            </a:r>
            <a:endParaRPr lang="en-US" sz="1700" dirty="0"/>
          </a:p>
        </p:txBody>
      </p:sp>
      <p:sp>
        <p:nvSpPr>
          <p:cNvPr id="21" name="Shape 19"/>
          <p:cNvSpPr/>
          <p:nvPr/>
        </p:nvSpPr>
        <p:spPr>
          <a:xfrm>
            <a:off x="685800" y="5193792"/>
            <a:ext cx="10835640" cy="1024128"/>
          </a:xfrm>
          <a:prstGeom prst="roundRect">
            <a:avLst>
              <a:gd name="adj" fmla="val 7143"/>
            </a:avLst>
          </a:prstGeom>
          <a:solidFill>
            <a:srgbClr val="FBF1DA"/>
          </a:solidFill>
          <a:ln w="12700">
            <a:solidFill>
              <a:srgbClr val="E2A233"/>
            </a:solidFill>
            <a:prstDash val="solid"/>
          </a:ln>
          <a:effectLst>
            <a:outerShdw sx="100000" sy="100000" kx="0" ky="0" algn="bl" rotWithShape="0" blurRad="76200" dist="25400" dir="5400000">
              <a:srgbClr val="9FB1C4">
                <a:alpha val="32000"/>
              </a:srgbClr>
            </a:outerShdw>
          </a:effectLst>
        </p:spPr>
      </p:sp>
      <p:sp>
        <p:nvSpPr>
          <p:cNvPr id="22" name="Text 20"/>
          <p:cNvSpPr/>
          <p:nvPr/>
        </p:nvSpPr>
        <p:spPr>
          <a:xfrm>
            <a:off x="932688" y="5312664"/>
            <a:ext cx="10332720" cy="274320"/>
          </a:xfrm>
          <a:prstGeom prst="rect">
            <a:avLst/>
          </a:prstGeom>
          <a:noFill/>
          <a:ln/>
        </p:spPr>
        <p:txBody>
          <a:bodyPr wrap="square" rtlCol="0" anchor="ctr"/>
          <a:lstStyle/>
          <a:p>
            <a:pPr indent="0" marL="0">
              <a:buNone/>
            </a:pPr>
            <a:r>
              <a:rPr lang="en-US" sz="1200" b="1" spc="100" kern="0" dirty="0">
                <a:solidFill>
                  <a:srgbClr val="C1801F"/>
                </a:solidFill>
                <a:latin typeface="Calibri" pitchFamily="34" charset="0"/>
                <a:ea typeface="Calibri" pitchFamily="34" charset="-122"/>
                <a:cs typeface="Calibri" pitchFamily="34" charset="-120"/>
              </a:rPr>
              <a:t>TẢI VỀ</a:t>
            </a:r>
            <a:endParaRPr lang="en-US" sz="1200" dirty="0"/>
          </a:p>
        </p:txBody>
      </p:sp>
      <p:sp>
        <p:nvSpPr>
          <p:cNvPr id="23" name="Text 21"/>
          <p:cNvSpPr/>
          <p:nvPr/>
        </p:nvSpPr>
        <p:spPr>
          <a:xfrm>
            <a:off x="932688" y="5596128"/>
            <a:ext cx="10332720" cy="53035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Tải miễn phí tại protege.stanford.edu</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3  ·  XÂY DỰNG ONTOLOGY VỚI PROTÉGÉ</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Protégé: Tạo Lớp (Classes)</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24</a:t>
            </a:r>
            <a:endParaRPr lang="en-US" sz="1100" dirty="0"/>
          </a:p>
        </p:txBody>
      </p:sp>
      <p:sp>
        <p:nvSpPr>
          <p:cNvPr id="6" name="Shape 4"/>
          <p:cNvSpPr/>
          <p:nvPr/>
        </p:nvSpPr>
        <p:spPr>
          <a:xfrm>
            <a:off x="713232" y="1764792"/>
            <a:ext cx="329184" cy="329184"/>
          </a:xfrm>
          <a:prstGeom prst="roundRect">
            <a:avLst>
              <a:gd name="adj" fmla="val 16667"/>
            </a:avLst>
          </a:prstGeom>
          <a:solidFill>
            <a:srgbClr val="13315C"/>
          </a:solidFill>
          <a:ln/>
        </p:spPr>
      </p:sp>
      <p:sp>
        <p:nvSpPr>
          <p:cNvPr id="7" name="Text 5"/>
          <p:cNvSpPr/>
          <p:nvPr/>
        </p:nvSpPr>
        <p:spPr>
          <a:xfrm>
            <a:off x="713232" y="176479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896112"/>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Mở tab Entities, sau đó chọn tab con Classes</a:t>
            </a:r>
            <a:endParaRPr lang="en-US" sz="1700" dirty="0"/>
          </a:p>
        </p:txBody>
      </p:sp>
      <p:sp>
        <p:nvSpPr>
          <p:cNvPr id="9" name="Shape 7"/>
          <p:cNvSpPr/>
          <p:nvPr/>
        </p:nvSpPr>
        <p:spPr>
          <a:xfrm>
            <a:off x="713232" y="2660904"/>
            <a:ext cx="329184" cy="329184"/>
          </a:xfrm>
          <a:prstGeom prst="roundRect">
            <a:avLst>
              <a:gd name="adj" fmla="val 16667"/>
            </a:avLst>
          </a:prstGeom>
          <a:solidFill>
            <a:srgbClr val="13315C"/>
          </a:solidFill>
          <a:ln/>
        </p:spPr>
      </p:sp>
      <p:sp>
        <p:nvSpPr>
          <p:cNvPr id="10" name="Text 8"/>
          <p:cNvSpPr/>
          <p:nvPr/>
        </p:nvSpPr>
        <p:spPr>
          <a:xfrm>
            <a:off x="713232" y="266090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377440"/>
            <a:ext cx="10296144" cy="896112"/>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Mọi lớp mặc định là lớp con của owl:Thing</a:t>
            </a:r>
            <a:endParaRPr lang="en-US" sz="1700" dirty="0"/>
          </a:p>
        </p:txBody>
      </p:sp>
      <p:sp>
        <p:nvSpPr>
          <p:cNvPr id="12" name="Shape 10"/>
          <p:cNvSpPr/>
          <p:nvPr/>
        </p:nvSpPr>
        <p:spPr>
          <a:xfrm>
            <a:off x="713232" y="3557016"/>
            <a:ext cx="329184" cy="329184"/>
          </a:xfrm>
          <a:prstGeom prst="roundRect">
            <a:avLst>
              <a:gd name="adj" fmla="val 16667"/>
            </a:avLst>
          </a:prstGeom>
          <a:solidFill>
            <a:srgbClr val="13315C"/>
          </a:solidFill>
          <a:ln/>
        </p:spPr>
      </p:sp>
      <p:sp>
        <p:nvSpPr>
          <p:cNvPr id="13" name="Text 11"/>
          <p:cNvSpPr/>
          <p:nvPr/>
        </p:nvSpPr>
        <p:spPr>
          <a:xfrm>
            <a:off x="713232" y="355701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3273552"/>
            <a:ext cx="10296144" cy="896112"/>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Nhấn nút Add subclass để tạo lớp con mới</a:t>
            </a:r>
            <a:endParaRPr lang="en-US" sz="1700" dirty="0"/>
          </a:p>
        </p:txBody>
      </p:sp>
      <p:sp>
        <p:nvSpPr>
          <p:cNvPr id="15" name="Shape 13"/>
          <p:cNvSpPr/>
          <p:nvPr/>
        </p:nvSpPr>
        <p:spPr>
          <a:xfrm>
            <a:off x="713232" y="4453128"/>
            <a:ext cx="329184" cy="329184"/>
          </a:xfrm>
          <a:prstGeom prst="roundRect">
            <a:avLst>
              <a:gd name="adj" fmla="val 16667"/>
            </a:avLst>
          </a:prstGeom>
          <a:solidFill>
            <a:srgbClr val="13315C"/>
          </a:solidFill>
          <a:ln/>
        </p:spPr>
      </p:sp>
      <p:sp>
        <p:nvSpPr>
          <p:cNvPr id="16" name="Text 14"/>
          <p:cNvSpPr/>
          <p:nvPr/>
        </p:nvSpPr>
        <p:spPr>
          <a:xfrm>
            <a:off x="713232" y="445312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4169664"/>
            <a:ext cx="10296144" cy="896112"/>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Lặp lại thao tác để xây dựng cây phân cấp lớp</a:t>
            </a:r>
            <a:endParaRPr lang="en-US" sz="1700" dirty="0"/>
          </a:p>
        </p:txBody>
      </p:sp>
      <p:sp>
        <p:nvSpPr>
          <p:cNvPr id="18" name="Shape 16"/>
          <p:cNvSpPr/>
          <p:nvPr/>
        </p:nvSpPr>
        <p:spPr>
          <a:xfrm>
            <a:off x="713232" y="5349240"/>
            <a:ext cx="329184" cy="329184"/>
          </a:xfrm>
          <a:prstGeom prst="roundRect">
            <a:avLst>
              <a:gd name="adj" fmla="val 16667"/>
            </a:avLst>
          </a:prstGeom>
          <a:solidFill>
            <a:srgbClr val="13315C"/>
          </a:solidFill>
          <a:ln/>
        </p:spPr>
      </p:sp>
      <p:sp>
        <p:nvSpPr>
          <p:cNvPr id="19" name="Text 17"/>
          <p:cNvSpPr/>
          <p:nvPr/>
        </p:nvSpPr>
        <p:spPr>
          <a:xfrm>
            <a:off x="713232" y="534924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07008" y="5065776"/>
            <a:ext cx="10296144" cy="896112"/>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Ví dụ: lớp Person có lớp con là Student</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3  ·  XÂY DỰNG ONTOLOGY VỚI PROTÉGÉ</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Protégé: Tạo Thuộc tính (Properties)</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25</a:t>
            </a:r>
            <a:endParaRPr lang="en-US" sz="1100" dirty="0"/>
          </a:p>
        </p:txBody>
      </p:sp>
      <p:sp>
        <p:nvSpPr>
          <p:cNvPr id="6" name="Shape 4"/>
          <p:cNvSpPr/>
          <p:nvPr/>
        </p:nvSpPr>
        <p:spPr>
          <a:xfrm>
            <a:off x="713232" y="1764792"/>
            <a:ext cx="329184" cy="329184"/>
          </a:xfrm>
          <a:prstGeom prst="roundRect">
            <a:avLst>
              <a:gd name="adj" fmla="val 16667"/>
            </a:avLst>
          </a:prstGeom>
          <a:solidFill>
            <a:srgbClr val="13315C"/>
          </a:solidFill>
          <a:ln/>
        </p:spPr>
      </p:sp>
      <p:sp>
        <p:nvSpPr>
          <p:cNvPr id="7" name="Text 5"/>
          <p:cNvSpPr/>
          <p:nvPr/>
        </p:nvSpPr>
        <p:spPr>
          <a:xfrm>
            <a:off x="713232" y="176479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896112"/>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Object Property nối hai cá thể với nhau, ví dụ hocTai</a:t>
            </a:r>
            <a:endParaRPr lang="en-US" sz="1800" dirty="0"/>
          </a:p>
        </p:txBody>
      </p:sp>
      <p:sp>
        <p:nvSpPr>
          <p:cNvPr id="9" name="Shape 7"/>
          <p:cNvSpPr/>
          <p:nvPr/>
        </p:nvSpPr>
        <p:spPr>
          <a:xfrm>
            <a:off x="713232" y="2660904"/>
            <a:ext cx="329184" cy="329184"/>
          </a:xfrm>
          <a:prstGeom prst="roundRect">
            <a:avLst>
              <a:gd name="adj" fmla="val 16667"/>
            </a:avLst>
          </a:prstGeom>
          <a:solidFill>
            <a:srgbClr val="13315C"/>
          </a:solidFill>
          <a:ln/>
        </p:spPr>
      </p:sp>
      <p:sp>
        <p:nvSpPr>
          <p:cNvPr id="10" name="Text 8"/>
          <p:cNvSpPr/>
          <p:nvPr/>
        </p:nvSpPr>
        <p:spPr>
          <a:xfrm>
            <a:off x="713232" y="266090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377440"/>
            <a:ext cx="10296144" cy="896112"/>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Data Property gán giá trị dữ liệu, ví dụ hoTen, tuoi</a:t>
            </a:r>
            <a:endParaRPr lang="en-US" sz="1800" dirty="0"/>
          </a:p>
        </p:txBody>
      </p:sp>
      <p:sp>
        <p:nvSpPr>
          <p:cNvPr id="12" name="Shape 10"/>
          <p:cNvSpPr/>
          <p:nvPr/>
        </p:nvSpPr>
        <p:spPr>
          <a:xfrm>
            <a:off x="713232" y="3557016"/>
            <a:ext cx="329184" cy="329184"/>
          </a:xfrm>
          <a:prstGeom prst="roundRect">
            <a:avLst>
              <a:gd name="adj" fmla="val 16667"/>
            </a:avLst>
          </a:prstGeom>
          <a:solidFill>
            <a:srgbClr val="13315C"/>
          </a:solidFill>
          <a:ln/>
        </p:spPr>
      </p:sp>
      <p:sp>
        <p:nvSpPr>
          <p:cNvPr id="13" name="Text 11"/>
          <p:cNvSpPr/>
          <p:nvPr/>
        </p:nvSpPr>
        <p:spPr>
          <a:xfrm>
            <a:off x="713232" y="355701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3273552"/>
            <a:ext cx="10296144" cy="896112"/>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Đặt Domain (lớp nguồn) và Range (lớp/kiểu đích) cho thuộc tính</a:t>
            </a:r>
            <a:endParaRPr lang="en-US" sz="1800" dirty="0"/>
          </a:p>
        </p:txBody>
      </p:sp>
      <p:sp>
        <p:nvSpPr>
          <p:cNvPr id="15" name="Shape 13"/>
          <p:cNvSpPr/>
          <p:nvPr/>
        </p:nvSpPr>
        <p:spPr>
          <a:xfrm>
            <a:off x="713232" y="4453128"/>
            <a:ext cx="329184" cy="329184"/>
          </a:xfrm>
          <a:prstGeom prst="roundRect">
            <a:avLst>
              <a:gd name="adj" fmla="val 16667"/>
            </a:avLst>
          </a:prstGeom>
          <a:solidFill>
            <a:srgbClr val="13315C"/>
          </a:solidFill>
          <a:ln/>
        </p:spPr>
      </p:sp>
      <p:sp>
        <p:nvSpPr>
          <p:cNvPr id="16" name="Text 14"/>
          <p:cNvSpPr/>
          <p:nvPr/>
        </p:nvSpPr>
        <p:spPr>
          <a:xfrm>
            <a:off x="713232" y="445312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4169664"/>
            <a:ext cx="10296144" cy="896112"/>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Khai báo đặc tính: Functional, Transitive, Symmetric</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3  ·  XÂY DỰNG ONTOLOGY VỚI PROTÉGÉ</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Protégé: Tạo Cá thể (Individuals)</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26</a:t>
            </a:r>
            <a:endParaRPr lang="en-US" sz="1100" dirty="0"/>
          </a:p>
        </p:txBody>
      </p:sp>
      <p:sp>
        <p:nvSpPr>
          <p:cNvPr id="6" name="Shape 4"/>
          <p:cNvSpPr/>
          <p:nvPr/>
        </p:nvSpPr>
        <p:spPr>
          <a:xfrm>
            <a:off x="713232" y="1764792"/>
            <a:ext cx="329184" cy="329184"/>
          </a:xfrm>
          <a:prstGeom prst="roundRect">
            <a:avLst>
              <a:gd name="adj" fmla="val 16667"/>
            </a:avLst>
          </a:prstGeom>
          <a:solidFill>
            <a:srgbClr val="13315C"/>
          </a:solidFill>
          <a:ln/>
        </p:spPr>
      </p:sp>
      <p:sp>
        <p:nvSpPr>
          <p:cNvPr id="7" name="Text 5"/>
          <p:cNvSpPr/>
          <p:nvPr/>
        </p:nvSpPr>
        <p:spPr>
          <a:xfrm>
            <a:off x="713232" y="176479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896112"/>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Mở tab Individuals, sau đó nhấn Add individual</a:t>
            </a:r>
            <a:endParaRPr lang="en-US" sz="1800" dirty="0"/>
          </a:p>
        </p:txBody>
      </p:sp>
      <p:sp>
        <p:nvSpPr>
          <p:cNvPr id="9" name="Shape 7"/>
          <p:cNvSpPr/>
          <p:nvPr/>
        </p:nvSpPr>
        <p:spPr>
          <a:xfrm>
            <a:off x="713232" y="2660904"/>
            <a:ext cx="329184" cy="329184"/>
          </a:xfrm>
          <a:prstGeom prst="roundRect">
            <a:avLst>
              <a:gd name="adj" fmla="val 16667"/>
            </a:avLst>
          </a:prstGeom>
          <a:solidFill>
            <a:srgbClr val="13315C"/>
          </a:solidFill>
          <a:ln/>
        </p:spPr>
      </p:sp>
      <p:sp>
        <p:nvSpPr>
          <p:cNvPr id="10" name="Text 8"/>
          <p:cNvSpPr/>
          <p:nvPr/>
        </p:nvSpPr>
        <p:spPr>
          <a:xfrm>
            <a:off x="713232" y="266090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377440"/>
            <a:ext cx="10296144" cy="896112"/>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Gán cá thể vào lớp tương ứng qua mục Types</a:t>
            </a:r>
            <a:endParaRPr lang="en-US" sz="1800" dirty="0"/>
          </a:p>
        </p:txBody>
      </p:sp>
      <p:sp>
        <p:nvSpPr>
          <p:cNvPr id="12" name="Shape 10"/>
          <p:cNvSpPr/>
          <p:nvPr/>
        </p:nvSpPr>
        <p:spPr>
          <a:xfrm>
            <a:off x="713232" y="3557016"/>
            <a:ext cx="329184" cy="329184"/>
          </a:xfrm>
          <a:prstGeom prst="roundRect">
            <a:avLst>
              <a:gd name="adj" fmla="val 16667"/>
            </a:avLst>
          </a:prstGeom>
          <a:solidFill>
            <a:srgbClr val="13315C"/>
          </a:solidFill>
          <a:ln/>
        </p:spPr>
      </p:sp>
      <p:sp>
        <p:nvSpPr>
          <p:cNvPr id="13" name="Text 11"/>
          <p:cNvSpPr/>
          <p:nvPr/>
        </p:nvSpPr>
        <p:spPr>
          <a:xfrm>
            <a:off x="713232" y="355701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3273552"/>
            <a:ext cx="10296144" cy="896112"/>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Thêm Property assertions gồm Object và Data property</a:t>
            </a:r>
            <a:endParaRPr lang="en-US" sz="1800" dirty="0"/>
          </a:p>
        </p:txBody>
      </p:sp>
      <p:sp>
        <p:nvSpPr>
          <p:cNvPr id="15" name="Shape 13"/>
          <p:cNvSpPr/>
          <p:nvPr/>
        </p:nvSpPr>
        <p:spPr>
          <a:xfrm>
            <a:off x="713232" y="4453128"/>
            <a:ext cx="329184" cy="329184"/>
          </a:xfrm>
          <a:prstGeom prst="roundRect">
            <a:avLst>
              <a:gd name="adj" fmla="val 16667"/>
            </a:avLst>
          </a:prstGeom>
          <a:solidFill>
            <a:srgbClr val="13315C"/>
          </a:solidFill>
          <a:ln/>
        </p:spPr>
      </p:sp>
      <p:sp>
        <p:nvSpPr>
          <p:cNvPr id="16" name="Text 14"/>
          <p:cNvSpPr/>
          <p:nvPr/>
        </p:nvSpPr>
        <p:spPr>
          <a:xfrm>
            <a:off x="713232" y="445312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4169664"/>
            <a:ext cx="10296144" cy="896112"/>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Ví dụ: cá thể An thuộc lớp Student, hocTai BachKhoa</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3  ·  XÂY DỰNG ONTOLOGY VỚI PROTÉGÉ</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Protégé: Chạy Reasoner</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27</a:t>
            </a:r>
            <a:endParaRPr lang="en-US" sz="1100" dirty="0"/>
          </a:p>
        </p:txBody>
      </p:sp>
      <p:sp>
        <p:nvSpPr>
          <p:cNvPr id="6" name="Shape 4"/>
          <p:cNvSpPr/>
          <p:nvPr/>
        </p:nvSpPr>
        <p:spPr>
          <a:xfrm>
            <a:off x="713232" y="1760220"/>
            <a:ext cx="329184" cy="329184"/>
          </a:xfrm>
          <a:prstGeom prst="roundRect">
            <a:avLst>
              <a:gd name="adj" fmla="val 16667"/>
            </a:avLst>
          </a:prstGeom>
          <a:solidFill>
            <a:srgbClr val="13315C"/>
          </a:solidFill>
          <a:ln/>
        </p:spPr>
      </p:sp>
      <p:sp>
        <p:nvSpPr>
          <p:cNvPr id="7" name="Text 5"/>
          <p:cNvSpPr/>
          <p:nvPr/>
        </p:nvSpPr>
        <p:spPr>
          <a:xfrm>
            <a:off x="713232" y="176022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Chọn reasoner cần dùng, ví dụ HermiT</a:t>
            </a:r>
            <a:endParaRPr lang="en-US" sz="1800" dirty="0"/>
          </a:p>
        </p:txBody>
      </p:sp>
      <p:sp>
        <p:nvSpPr>
          <p:cNvPr id="9" name="Shape 7"/>
          <p:cNvSpPr/>
          <p:nvPr/>
        </p:nvSpPr>
        <p:spPr>
          <a:xfrm>
            <a:off x="713232" y="2647188"/>
            <a:ext cx="329184" cy="329184"/>
          </a:xfrm>
          <a:prstGeom prst="roundRect">
            <a:avLst>
              <a:gd name="adj" fmla="val 16667"/>
            </a:avLst>
          </a:prstGeom>
          <a:solidFill>
            <a:srgbClr val="13315C"/>
          </a:solidFill>
          <a:ln/>
        </p:spPr>
      </p:sp>
      <p:sp>
        <p:nvSpPr>
          <p:cNvPr id="10" name="Text 8"/>
          <p:cNvSpPr/>
          <p:nvPr/>
        </p:nvSpPr>
        <p:spPr>
          <a:xfrm>
            <a:off x="713232" y="264718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368296"/>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Vào menu Reasoner, chọn Start reasoner để chạy</a:t>
            </a:r>
            <a:endParaRPr lang="en-US" sz="1800" dirty="0"/>
          </a:p>
        </p:txBody>
      </p:sp>
      <p:sp>
        <p:nvSpPr>
          <p:cNvPr id="12" name="Shape 10"/>
          <p:cNvSpPr/>
          <p:nvPr/>
        </p:nvSpPr>
        <p:spPr>
          <a:xfrm>
            <a:off x="713232" y="3534156"/>
            <a:ext cx="329184" cy="329184"/>
          </a:xfrm>
          <a:prstGeom prst="roundRect">
            <a:avLst>
              <a:gd name="adj" fmla="val 16667"/>
            </a:avLst>
          </a:prstGeom>
          <a:solidFill>
            <a:srgbClr val="13315C"/>
          </a:solidFill>
          <a:ln/>
        </p:spPr>
      </p:sp>
      <p:sp>
        <p:nvSpPr>
          <p:cNvPr id="13" name="Text 11"/>
          <p:cNvSpPr/>
          <p:nvPr/>
        </p:nvSpPr>
        <p:spPr>
          <a:xfrm>
            <a:off x="713232" y="353415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3255264"/>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Xem phân cấp suy diễn, các lớp mới hiển thị màu vàng</a:t>
            </a:r>
            <a:endParaRPr lang="en-US" sz="1800" dirty="0"/>
          </a:p>
        </p:txBody>
      </p:sp>
      <p:sp>
        <p:nvSpPr>
          <p:cNvPr id="15" name="Shape 13"/>
          <p:cNvSpPr/>
          <p:nvPr/>
        </p:nvSpPr>
        <p:spPr>
          <a:xfrm>
            <a:off x="713232" y="4421124"/>
            <a:ext cx="329184" cy="329184"/>
          </a:xfrm>
          <a:prstGeom prst="roundRect">
            <a:avLst>
              <a:gd name="adj" fmla="val 16667"/>
            </a:avLst>
          </a:prstGeom>
          <a:solidFill>
            <a:srgbClr val="13315C"/>
          </a:solidFill>
          <a:ln/>
        </p:spPr>
      </p:sp>
      <p:sp>
        <p:nvSpPr>
          <p:cNvPr id="16" name="Text 14"/>
          <p:cNvSpPr/>
          <p:nvPr/>
        </p:nvSpPr>
        <p:spPr>
          <a:xfrm>
            <a:off x="713232" y="442112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4142232"/>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Kiểm tra tính nhất quán, lớp mâu thuẫn sẽ bị tô đỏ</a:t>
            </a:r>
            <a:endParaRPr lang="en-US" sz="1800" dirty="0"/>
          </a:p>
        </p:txBody>
      </p:sp>
      <p:sp>
        <p:nvSpPr>
          <p:cNvPr id="18" name="Shape 16"/>
          <p:cNvSpPr/>
          <p:nvPr/>
        </p:nvSpPr>
        <p:spPr>
          <a:xfrm>
            <a:off x="685800" y="5193792"/>
            <a:ext cx="10835640" cy="1024128"/>
          </a:xfrm>
          <a:prstGeom prst="roundRect">
            <a:avLst>
              <a:gd name="adj" fmla="val 7143"/>
            </a:avLst>
          </a:prstGeom>
          <a:solidFill>
            <a:srgbClr val="FBF1DA"/>
          </a:solidFill>
          <a:ln w="12700">
            <a:solidFill>
              <a:srgbClr val="E2A233"/>
            </a:solidFill>
            <a:prstDash val="solid"/>
          </a:ln>
          <a:effectLst>
            <a:outerShdw sx="100000" sy="100000" kx="0" ky="0" algn="bl" rotWithShape="0" blurRad="76200" dist="25400" dir="5400000">
              <a:srgbClr val="9FB1C4">
                <a:alpha val="32000"/>
              </a:srgbClr>
            </a:outerShdw>
          </a:effectLst>
        </p:spPr>
      </p:sp>
      <p:sp>
        <p:nvSpPr>
          <p:cNvPr id="19" name="Text 17"/>
          <p:cNvSpPr/>
          <p:nvPr/>
        </p:nvSpPr>
        <p:spPr>
          <a:xfrm>
            <a:off x="932688" y="5312664"/>
            <a:ext cx="10332720" cy="274320"/>
          </a:xfrm>
          <a:prstGeom prst="rect">
            <a:avLst/>
          </a:prstGeom>
          <a:noFill/>
          <a:ln/>
        </p:spPr>
        <p:txBody>
          <a:bodyPr wrap="square" rtlCol="0" anchor="ctr"/>
          <a:lstStyle/>
          <a:p>
            <a:pPr indent="0" marL="0">
              <a:buNone/>
            </a:pPr>
            <a:r>
              <a:rPr lang="en-US" sz="1200" b="1" spc="100" kern="0" dirty="0">
                <a:solidFill>
                  <a:srgbClr val="C1801F"/>
                </a:solidFill>
                <a:latin typeface="Calibri" pitchFamily="34" charset="0"/>
                <a:ea typeface="Calibri" pitchFamily="34" charset="-122"/>
                <a:cs typeface="Calibri" pitchFamily="34" charset="-120"/>
              </a:rPr>
              <a:t>MẸO</a:t>
            </a:r>
            <a:endParaRPr lang="en-US" sz="1200" dirty="0"/>
          </a:p>
        </p:txBody>
      </p:sp>
      <p:sp>
        <p:nvSpPr>
          <p:cNvPr id="20" name="Text 18"/>
          <p:cNvSpPr/>
          <p:nvPr/>
        </p:nvSpPr>
        <p:spPr>
          <a:xfrm>
            <a:off x="932688" y="5596128"/>
            <a:ext cx="10332720" cy="53035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Luôn chạy reasoner trước khi lưu ontology hoàn chỉnh</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3  ·  XÂY DỰNG ONTOLOGY VỚI PROTÉGÉ</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Ví dụ: Ontology 'Trường Đại học'</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28</a:t>
            </a:r>
            <a:endParaRPr lang="en-US" sz="1100" dirty="0"/>
          </a:p>
        </p:txBody>
      </p:sp>
      <p:sp>
        <p:nvSpPr>
          <p:cNvPr id="6" name="Shape 4"/>
          <p:cNvSpPr/>
          <p:nvPr/>
        </p:nvSpPr>
        <p:spPr>
          <a:xfrm>
            <a:off x="4626864" y="1572768"/>
            <a:ext cx="2926080" cy="713232"/>
          </a:xfrm>
          <a:prstGeom prst="roundRect">
            <a:avLst>
              <a:gd name="adj" fmla="val 10256"/>
            </a:avLst>
          </a:prstGeom>
          <a:solidFill>
            <a:srgbClr val="13315C"/>
          </a:solidFill>
          <a:ln/>
          <a:effectLst>
            <a:outerShdw sx="100000" sy="100000" kx="0" ky="0" algn="bl" rotWithShape="0" blurRad="76200" dist="25400" dir="5400000">
              <a:srgbClr val="9FB1C4">
                <a:alpha val="32000"/>
              </a:srgbClr>
            </a:outerShdw>
          </a:effectLst>
        </p:spPr>
      </p:sp>
      <p:sp>
        <p:nvSpPr>
          <p:cNvPr id="7" name="Text 5"/>
          <p:cNvSpPr/>
          <p:nvPr/>
        </p:nvSpPr>
        <p:spPr>
          <a:xfrm>
            <a:off x="4681728" y="1572768"/>
            <a:ext cx="2816352" cy="713232"/>
          </a:xfrm>
          <a:prstGeom prst="rect">
            <a:avLst/>
          </a:prstGeom>
          <a:noFill/>
          <a:ln/>
        </p:spPr>
        <p:txBody>
          <a:bodyPr wrap="square" rtlCol="0" anchor="ctr">
            <a:normAutofit/>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Person</a:t>
            </a:r>
            <a:endParaRPr lang="en-US" sz="1600" dirty="0"/>
          </a:p>
        </p:txBody>
      </p:sp>
      <p:sp>
        <p:nvSpPr>
          <p:cNvPr id="8" name="Shape 6"/>
          <p:cNvSpPr/>
          <p:nvPr/>
        </p:nvSpPr>
        <p:spPr>
          <a:xfrm flipH="1">
            <a:off x="3367278" y="2286000"/>
            <a:ext cx="2722626" cy="566928"/>
          </a:xfrm>
          <a:prstGeom prst="line">
            <a:avLst/>
          </a:prstGeom>
          <a:noFill/>
          <a:ln w="22225">
            <a:solidFill>
              <a:srgbClr val="2E6CB5"/>
            </a:solidFill>
            <a:prstDash val="solid"/>
          </a:ln>
        </p:spPr>
      </p:sp>
      <p:sp>
        <p:nvSpPr>
          <p:cNvPr id="9" name="Shape 7"/>
          <p:cNvSpPr/>
          <p:nvPr/>
        </p:nvSpPr>
        <p:spPr>
          <a:xfrm>
            <a:off x="1995678" y="2852928"/>
            <a:ext cx="2743200" cy="658368"/>
          </a:xfrm>
          <a:prstGeom prst="roundRect">
            <a:avLst>
              <a:gd name="adj" fmla="val 11111"/>
            </a:avLst>
          </a:prstGeom>
          <a:solidFill>
            <a:srgbClr val="2E6CB5"/>
          </a:solidFill>
          <a:ln/>
          <a:effectLst>
            <a:outerShdw sx="100000" sy="100000" kx="0" ky="0" algn="bl" rotWithShape="0" blurRad="76200" dist="25400" dir="5400000">
              <a:srgbClr val="9FB1C4">
                <a:alpha val="32000"/>
              </a:srgbClr>
            </a:outerShdw>
          </a:effectLst>
        </p:spPr>
      </p:sp>
      <p:sp>
        <p:nvSpPr>
          <p:cNvPr id="10" name="Text 8"/>
          <p:cNvSpPr/>
          <p:nvPr/>
        </p:nvSpPr>
        <p:spPr>
          <a:xfrm>
            <a:off x="2050542" y="2852928"/>
            <a:ext cx="2633472" cy="658368"/>
          </a:xfrm>
          <a:prstGeom prst="rect">
            <a:avLst/>
          </a:prstGeom>
          <a:noFill/>
          <a:ln/>
        </p:spPr>
        <p:txBody>
          <a:bodyPr wrap="square"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Student</a:t>
            </a:r>
            <a:endParaRPr lang="en-US" sz="1500" dirty="0"/>
          </a:p>
        </p:txBody>
      </p:sp>
      <p:sp>
        <p:nvSpPr>
          <p:cNvPr id="11" name="Shape 9"/>
          <p:cNvSpPr/>
          <p:nvPr/>
        </p:nvSpPr>
        <p:spPr>
          <a:xfrm>
            <a:off x="3367278" y="3511296"/>
            <a:ext cx="0" cy="402336"/>
          </a:xfrm>
          <a:prstGeom prst="line">
            <a:avLst/>
          </a:prstGeom>
          <a:noFill/>
          <a:ln w="22225">
            <a:solidFill>
              <a:srgbClr val="5B8FD0"/>
            </a:solidFill>
            <a:prstDash val="solid"/>
          </a:ln>
        </p:spPr>
      </p:sp>
      <p:sp>
        <p:nvSpPr>
          <p:cNvPr id="12" name="Shape 10"/>
          <p:cNvSpPr/>
          <p:nvPr/>
        </p:nvSpPr>
        <p:spPr>
          <a:xfrm>
            <a:off x="2132838" y="3913632"/>
            <a:ext cx="2468880" cy="457200"/>
          </a:xfrm>
          <a:prstGeom prst="roundRect">
            <a:avLst>
              <a:gd name="adj" fmla="val 16000"/>
            </a:avLst>
          </a:prstGeom>
          <a:solidFill>
            <a:srgbClr val="EAF2FB"/>
          </a:solidFill>
          <a:ln/>
          <a:effectLst>
            <a:outerShdw sx="100000" sy="100000" kx="0" ky="0" algn="bl" rotWithShape="0" blurRad="76200" dist="25400" dir="5400000">
              <a:srgbClr val="9FB1C4">
                <a:alpha val="32000"/>
              </a:srgbClr>
            </a:outerShdw>
          </a:effectLst>
        </p:spPr>
      </p:sp>
      <p:sp>
        <p:nvSpPr>
          <p:cNvPr id="13" name="Text 11"/>
          <p:cNvSpPr/>
          <p:nvPr/>
        </p:nvSpPr>
        <p:spPr>
          <a:xfrm>
            <a:off x="2187702" y="3913632"/>
            <a:ext cx="2359152" cy="457200"/>
          </a:xfrm>
          <a:prstGeom prst="rect">
            <a:avLst/>
          </a:prstGeom>
          <a:noFill/>
          <a:ln/>
        </p:spPr>
        <p:txBody>
          <a:bodyPr wrap="square" rtlCol="0" anchor="ctr">
            <a:normAutofit/>
          </a:bodyPr>
          <a:lstStyle/>
          <a:p>
            <a:pPr algn="ctr" indent="0" marL="0">
              <a:buNone/>
            </a:pPr>
            <a:r>
              <a:rPr lang="en-US" sz="1300" dirty="0">
                <a:solidFill>
                  <a:srgbClr val="1F2D3A"/>
                </a:solidFill>
                <a:latin typeface="Calibri" pitchFamily="34" charset="0"/>
                <a:ea typeface="Calibri" pitchFamily="34" charset="-122"/>
                <a:cs typeface="Calibri" pitchFamily="34" charset="-120"/>
              </a:rPr>
              <a:t>Undergraduate</a:t>
            </a:r>
            <a:endParaRPr lang="en-US" sz="1300" dirty="0"/>
          </a:p>
        </p:txBody>
      </p:sp>
      <p:sp>
        <p:nvSpPr>
          <p:cNvPr id="14" name="Shape 12"/>
          <p:cNvSpPr/>
          <p:nvPr/>
        </p:nvSpPr>
        <p:spPr>
          <a:xfrm>
            <a:off x="2132838" y="4498848"/>
            <a:ext cx="2468880" cy="457200"/>
          </a:xfrm>
          <a:prstGeom prst="roundRect">
            <a:avLst>
              <a:gd name="adj" fmla="val 16000"/>
            </a:avLst>
          </a:prstGeom>
          <a:solidFill>
            <a:srgbClr val="EAF2FB"/>
          </a:solidFill>
          <a:ln/>
          <a:effectLst>
            <a:outerShdw sx="100000" sy="100000" kx="0" ky="0" algn="bl" rotWithShape="0" blurRad="76200" dist="25400" dir="5400000">
              <a:srgbClr val="9FB1C4">
                <a:alpha val="32000"/>
              </a:srgbClr>
            </a:outerShdw>
          </a:effectLst>
        </p:spPr>
      </p:sp>
      <p:sp>
        <p:nvSpPr>
          <p:cNvPr id="15" name="Text 13"/>
          <p:cNvSpPr/>
          <p:nvPr/>
        </p:nvSpPr>
        <p:spPr>
          <a:xfrm>
            <a:off x="2187702" y="4498848"/>
            <a:ext cx="2359152" cy="457200"/>
          </a:xfrm>
          <a:prstGeom prst="rect">
            <a:avLst/>
          </a:prstGeom>
          <a:noFill/>
          <a:ln/>
        </p:spPr>
        <p:txBody>
          <a:bodyPr wrap="square" rtlCol="0" anchor="ctr">
            <a:normAutofit/>
          </a:bodyPr>
          <a:lstStyle/>
          <a:p>
            <a:pPr algn="ctr" indent="0" marL="0">
              <a:buNone/>
            </a:pPr>
            <a:r>
              <a:rPr lang="en-US" sz="1300" dirty="0">
                <a:solidFill>
                  <a:srgbClr val="1F2D3A"/>
                </a:solidFill>
                <a:latin typeface="Calibri" pitchFamily="34" charset="0"/>
                <a:ea typeface="Calibri" pitchFamily="34" charset="-122"/>
                <a:cs typeface="Calibri" pitchFamily="34" charset="-120"/>
              </a:rPr>
              <a:t>Postgraduate</a:t>
            </a:r>
            <a:endParaRPr lang="en-US" sz="1300" dirty="0"/>
          </a:p>
        </p:txBody>
      </p:sp>
      <p:sp>
        <p:nvSpPr>
          <p:cNvPr id="16" name="Shape 14"/>
          <p:cNvSpPr/>
          <p:nvPr/>
        </p:nvSpPr>
        <p:spPr>
          <a:xfrm>
            <a:off x="6089904" y="2286000"/>
            <a:ext cx="2731770" cy="566928"/>
          </a:xfrm>
          <a:prstGeom prst="line">
            <a:avLst/>
          </a:prstGeom>
          <a:noFill/>
          <a:ln w="22225">
            <a:solidFill>
              <a:srgbClr val="2E6CB5"/>
            </a:solidFill>
            <a:prstDash val="solid"/>
          </a:ln>
        </p:spPr>
      </p:sp>
      <p:sp>
        <p:nvSpPr>
          <p:cNvPr id="17" name="Shape 15"/>
          <p:cNvSpPr/>
          <p:nvPr/>
        </p:nvSpPr>
        <p:spPr>
          <a:xfrm>
            <a:off x="7450074" y="2852928"/>
            <a:ext cx="2743200" cy="658368"/>
          </a:xfrm>
          <a:prstGeom prst="roundRect">
            <a:avLst>
              <a:gd name="adj" fmla="val 11111"/>
            </a:avLst>
          </a:prstGeom>
          <a:solidFill>
            <a:srgbClr val="2E6CB5"/>
          </a:solidFill>
          <a:ln/>
          <a:effectLst>
            <a:outerShdw sx="100000" sy="100000" kx="0" ky="0" algn="bl" rotWithShape="0" blurRad="76200" dist="25400" dir="5400000">
              <a:srgbClr val="9FB1C4">
                <a:alpha val="32000"/>
              </a:srgbClr>
            </a:outerShdw>
          </a:effectLst>
        </p:spPr>
      </p:sp>
      <p:sp>
        <p:nvSpPr>
          <p:cNvPr id="18" name="Text 16"/>
          <p:cNvSpPr/>
          <p:nvPr/>
        </p:nvSpPr>
        <p:spPr>
          <a:xfrm>
            <a:off x="7504938" y="2852928"/>
            <a:ext cx="2633472" cy="658368"/>
          </a:xfrm>
          <a:prstGeom prst="rect">
            <a:avLst/>
          </a:prstGeom>
          <a:noFill/>
          <a:ln/>
        </p:spPr>
        <p:txBody>
          <a:bodyPr wrap="square"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Staff</a:t>
            </a:r>
            <a:endParaRPr lang="en-US" sz="1500" dirty="0"/>
          </a:p>
        </p:txBody>
      </p:sp>
      <p:sp>
        <p:nvSpPr>
          <p:cNvPr id="19" name="Shape 17"/>
          <p:cNvSpPr/>
          <p:nvPr/>
        </p:nvSpPr>
        <p:spPr>
          <a:xfrm>
            <a:off x="8821674" y="3511296"/>
            <a:ext cx="0" cy="402336"/>
          </a:xfrm>
          <a:prstGeom prst="line">
            <a:avLst/>
          </a:prstGeom>
          <a:noFill/>
          <a:ln w="22225">
            <a:solidFill>
              <a:srgbClr val="5B8FD0"/>
            </a:solidFill>
            <a:prstDash val="solid"/>
          </a:ln>
        </p:spPr>
      </p:sp>
      <p:sp>
        <p:nvSpPr>
          <p:cNvPr id="20" name="Shape 18"/>
          <p:cNvSpPr/>
          <p:nvPr/>
        </p:nvSpPr>
        <p:spPr>
          <a:xfrm>
            <a:off x="7587234" y="3913632"/>
            <a:ext cx="2468880" cy="457200"/>
          </a:xfrm>
          <a:prstGeom prst="roundRect">
            <a:avLst>
              <a:gd name="adj" fmla="val 16000"/>
            </a:avLst>
          </a:prstGeom>
          <a:solidFill>
            <a:srgbClr val="EAF2FB"/>
          </a:solidFill>
          <a:ln/>
          <a:effectLst>
            <a:outerShdw sx="100000" sy="100000" kx="0" ky="0" algn="bl" rotWithShape="0" blurRad="76200" dist="25400" dir="5400000">
              <a:srgbClr val="9FB1C4">
                <a:alpha val="32000"/>
              </a:srgbClr>
            </a:outerShdw>
          </a:effectLst>
        </p:spPr>
      </p:sp>
      <p:sp>
        <p:nvSpPr>
          <p:cNvPr id="21" name="Text 19"/>
          <p:cNvSpPr/>
          <p:nvPr/>
        </p:nvSpPr>
        <p:spPr>
          <a:xfrm>
            <a:off x="7642098" y="3913632"/>
            <a:ext cx="2359152" cy="457200"/>
          </a:xfrm>
          <a:prstGeom prst="rect">
            <a:avLst/>
          </a:prstGeom>
          <a:noFill/>
          <a:ln/>
        </p:spPr>
        <p:txBody>
          <a:bodyPr wrap="square" rtlCol="0" anchor="ctr">
            <a:normAutofit/>
          </a:bodyPr>
          <a:lstStyle/>
          <a:p>
            <a:pPr algn="ctr" indent="0" marL="0">
              <a:buNone/>
            </a:pPr>
            <a:r>
              <a:rPr lang="en-US" sz="1300" dirty="0">
                <a:solidFill>
                  <a:srgbClr val="1F2D3A"/>
                </a:solidFill>
                <a:latin typeface="Calibri" pitchFamily="34" charset="0"/>
                <a:ea typeface="Calibri" pitchFamily="34" charset="-122"/>
                <a:cs typeface="Calibri" pitchFamily="34" charset="-120"/>
              </a:rPr>
              <a:t>Lecturer</a:t>
            </a:r>
            <a:endParaRPr lang="en-US" sz="1300" dirty="0"/>
          </a:p>
        </p:txBody>
      </p:sp>
      <p:sp>
        <p:nvSpPr>
          <p:cNvPr id="22" name="Shape 20"/>
          <p:cNvSpPr/>
          <p:nvPr/>
        </p:nvSpPr>
        <p:spPr>
          <a:xfrm>
            <a:off x="7587234" y="4498848"/>
            <a:ext cx="2468880" cy="457200"/>
          </a:xfrm>
          <a:prstGeom prst="roundRect">
            <a:avLst>
              <a:gd name="adj" fmla="val 16000"/>
            </a:avLst>
          </a:prstGeom>
          <a:solidFill>
            <a:srgbClr val="EAF2FB"/>
          </a:solidFill>
          <a:ln/>
          <a:effectLst>
            <a:outerShdw sx="100000" sy="100000" kx="0" ky="0" algn="bl" rotWithShape="0" blurRad="76200" dist="25400" dir="5400000">
              <a:srgbClr val="9FB1C4">
                <a:alpha val="32000"/>
              </a:srgbClr>
            </a:outerShdw>
          </a:effectLst>
        </p:spPr>
      </p:sp>
      <p:sp>
        <p:nvSpPr>
          <p:cNvPr id="23" name="Text 21"/>
          <p:cNvSpPr/>
          <p:nvPr/>
        </p:nvSpPr>
        <p:spPr>
          <a:xfrm>
            <a:off x="7642098" y="4498848"/>
            <a:ext cx="2359152" cy="457200"/>
          </a:xfrm>
          <a:prstGeom prst="rect">
            <a:avLst/>
          </a:prstGeom>
          <a:noFill/>
          <a:ln/>
        </p:spPr>
        <p:txBody>
          <a:bodyPr wrap="square" rtlCol="0" anchor="ctr">
            <a:normAutofit/>
          </a:bodyPr>
          <a:lstStyle/>
          <a:p>
            <a:pPr algn="ctr" indent="0" marL="0">
              <a:buNone/>
            </a:pPr>
            <a:r>
              <a:rPr lang="en-US" sz="1300" dirty="0">
                <a:solidFill>
                  <a:srgbClr val="1F2D3A"/>
                </a:solidFill>
                <a:latin typeface="Calibri" pitchFamily="34" charset="0"/>
                <a:ea typeface="Calibri" pitchFamily="34" charset="-122"/>
                <a:cs typeface="Calibri" pitchFamily="34" charset="-120"/>
              </a:rPr>
              <a:t>Admin</a:t>
            </a:r>
            <a:endParaRPr lang="en-US" sz="1300" dirty="0"/>
          </a:p>
        </p:txBody>
      </p:sp>
      <p:sp>
        <p:nvSpPr>
          <p:cNvPr id="24" name="Text 22"/>
          <p:cNvSpPr/>
          <p:nvPr/>
        </p:nvSpPr>
        <p:spPr>
          <a:xfrm>
            <a:off x="713232" y="5157216"/>
            <a:ext cx="10835640" cy="292608"/>
          </a:xfrm>
          <a:prstGeom prst="rect">
            <a:avLst/>
          </a:prstGeom>
          <a:noFill/>
          <a:ln/>
        </p:spPr>
        <p:txBody>
          <a:bodyPr wrap="square" rtlCol="0" anchor="ctr"/>
          <a:lstStyle/>
          <a:p>
            <a:pPr algn="ctr" indent="0" marL="0">
              <a:buNone/>
            </a:pPr>
            <a:r>
              <a:rPr lang="en-US" sz="1300" i="1" dirty="0">
                <a:solidFill>
                  <a:srgbClr val="5C6B7B"/>
                </a:solidFill>
                <a:latin typeface="Calibri" pitchFamily="34" charset="0"/>
                <a:ea typeface="Calibri" pitchFamily="34" charset="-122"/>
                <a:cs typeface="Calibri" pitchFamily="34" charset="-120"/>
              </a:rPr>
              <a:t>Object property tiêu biểu: teaches, enrolledIn</a:t>
            </a:r>
            <a:endParaRPr lang="en-US" sz="1300" dirty="0"/>
          </a:p>
        </p:txBody>
      </p:sp>
      <p:sp>
        <p:nvSpPr>
          <p:cNvPr id="25" name="Shape 23"/>
          <p:cNvSpPr/>
          <p:nvPr/>
        </p:nvSpPr>
        <p:spPr>
          <a:xfrm>
            <a:off x="713232" y="5504688"/>
            <a:ext cx="3429000" cy="603504"/>
          </a:xfrm>
          <a:prstGeom prst="roundRect">
            <a:avLst>
              <a:gd name="adj" fmla="val 12121"/>
            </a:avLst>
          </a:prstGeom>
          <a:solidFill>
            <a:srgbClr val="EAF2FB"/>
          </a:solidFill>
          <a:ln w="12700">
            <a:solidFill>
              <a:srgbClr val="CFDCEA"/>
            </a:solidFill>
            <a:prstDash val="solid"/>
          </a:ln>
        </p:spPr>
      </p:sp>
      <p:sp>
        <p:nvSpPr>
          <p:cNvPr id="26" name="Text 24"/>
          <p:cNvSpPr/>
          <p:nvPr/>
        </p:nvSpPr>
        <p:spPr>
          <a:xfrm>
            <a:off x="850392" y="5504688"/>
            <a:ext cx="3154680" cy="603504"/>
          </a:xfrm>
          <a:prstGeom prst="rect">
            <a:avLst/>
          </a:prstGeom>
          <a:noFill/>
          <a:ln/>
        </p:spPr>
        <p:txBody>
          <a:bodyPr wrap="square" rtlCol="0" anchor="ctr">
            <a:normAutofit/>
          </a:bodyPr>
          <a:lstStyle/>
          <a:p>
            <a:pPr algn="ctr" indent="0" marL="0">
              <a:buNone/>
            </a:pPr>
            <a:r>
              <a:rPr lang="en-US" sz="1300" dirty="0">
                <a:solidFill>
                  <a:srgbClr val="1F2D3A"/>
                </a:solidFill>
                <a:latin typeface="Calibri" pitchFamily="34" charset="0"/>
                <a:ea typeface="Calibri" pitchFamily="34" charset="-122"/>
                <a:cs typeface="Calibri" pitchFamily="34" charset="-120"/>
              </a:rPr>
              <a:t>Lớp gốc Person là tổ tiên chung của toàn bộ cây</a:t>
            </a:r>
            <a:endParaRPr lang="en-US" sz="1300" dirty="0"/>
          </a:p>
        </p:txBody>
      </p:sp>
      <p:sp>
        <p:nvSpPr>
          <p:cNvPr id="27" name="Shape 25"/>
          <p:cNvSpPr/>
          <p:nvPr/>
        </p:nvSpPr>
        <p:spPr>
          <a:xfrm>
            <a:off x="4416552" y="5504688"/>
            <a:ext cx="3429000" cy="603504"/>
          </a:xfrm>
          <a:prstGeom prst="roundRect">
            <a:avLst>
              <a:gd name="adj" fmla="val 12121"/>
            </a:avLst>
          </a:prstGeom>
          <a:solidFill>
            <a:srgbClr val="EAF2FB"/>
          </a:solidFill>
          <a:ln w="12700">
            <a:solidFill>
              <a:srgbClr val="CFDCEA"/>
            </a:solidFill>
            <a:prstDash val="solid"/>
          </a:ln>
        </p:spPr>
      </p:sp>
      <p:sp>
        <p:nvSpPr>
          <p:cNvPr id="28" name="Text 26"/>
          <p:cNvSpPr/>
          <p:nvPr/>
        </p:nvSpPr>
        <p:spPr>
          <a:xfrm>
            <a:off x="4553712" y="5504688"/>
            <a:ext cx="3154680" cy="603504"/>
          </a:xfrm>
          <a:prstGeom prst="rect">
            <a:avLst/>
          </a:prstGeom>
          <a:noFill/>
          <a:ln/>
        </p:spPr>
        <p:txBody>
          <a:bodyPr wrap="square" rtlCol="0" anchor="ctr">
            <a:normAutofit/>
          </a:bodyPr>
          <a:lstStyle/>
          <a:p>
            <a:pPr algn="ctr" indent="0" marL="0">
              <a:buNone/>
            </a:pPr>
            <a:r>
              <a:rPr lang="en-US" sz="1300" dirty="0">
                <a:solidFill>
                  <a:srgbClr val="1F2D3A"/>
                </a:solidFill>
                <a:latin typeface="Calibri" pitchFamily="34" charset="0"/>
                <a:ea typeface="Calibri" pitchFamily="34" charset="-122"/>
                <a:cs typeface="Calibri" pitchFamily="34" charset="-120"/>
              </a:rPr>
              <a:t>Hai nhánh chính: Student và Staff</a:t>
            </a:r>
            <a:endParaRPr lang="en-US" sz="1300" dirty="0"/>
          </a:p>
        </p:txBody>
      </p:sp>
      <p:sp>
        <p:nvSpPr>
          <p:cNvPr id="29" name="Shape 27"/>
          <p:cNvSpPr/>
          <p:nvPr/>
        </p:nvSpPr>
        <p:spPr>
          <a:xfrm>
            <a:off x="8119872" y="5504688"/>
            <a:ext cx="3429000" cy="603504"/>
          </a:xfrm>
          <a:prstGeom prst="roundRect">
            <a:avLst>
              <a:gd name="adj" fmla="val 12121"/>
            </a:avLst>
          </a:prstGeom>
          <a:solidFill>
            <a:srgbClr val="EAF2FB"/>
          </a:solidFill>
          <a:ln w="12700">
            <a:solidFill>
              <a:srgbClr val="CFDCEA"/>
            </a:solidFill>
            <a:prstDash val="solid"/>
          </a:ln>
        </p:spPr>
      </p:sp>
      <p:sp>
        <p:nvSpPr>
          <p:cNvPr id="30" name="Text 28"/>
          <p:cNvSpPr/>
          <p:nvPr/>
        </p:nvSpPr>
        <p:spPr>
          <a:xfrm>
            <a:off x="8257032" y="5504688"/>
            <a:ext cx="3154680" cy="603504"/>
          </a:xfrm>
          <a:prstGeom prst="rect">
            <a:avLst/>
          </a:prstGeom>
          <a:noFill/>
          <a:ln/>
        </p:spPr>
        <p:txBody>
          <a:bodyPr wrap="square" rtlCol="0" anchor="ctr">
            <a:normAutofit/>
          </a:bodyPr>
          <a:lstStyle/>
          <a:p>
            <a:pPr algn="ctr" indent="0" marL="0">
              <a:buNone/>
            </a:pPr>
            <a:r>
              <a:rPr lang="en-US" sz="1300" dirty="0">
                <a:solidFill>
                  <a:srgbClr val="1F2D3A"/>
                </a:solidFill>
                <a:latin typeface="Calibri" pitchFamily="34" charset="0"/>
                <a:ea typeface="Calibri" pitchFamily="34" charset="-122"/>
                <a:cs typeface="Calibri" pitchFamily="34" charset="-120"/>
              </a:rPr>
              <a:t>Cá thể (individual) là con người cụ thể, ví dụ sinh viên An</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3  ·  XÂY DỰNG ONTOLOGY VỚI PROTÉGÉ</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Lỗi thường gặp &amp; Cách khắc phục</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29</a:t>
            </a:r>
            <a:endParaRPr lang="en-US" sz="1100" dirty="0"/>
          </a:p>
        </p:txBody>
      </p:sp>
      <p:sp>
        <p:nvSpPr>
          <p:cNvPr id="6" name="Shape 4"/>
          <p:cNvSpPr/>
          <p:nvPr/>
        </p:nvSpPr>
        <p:spPr>
          <a:xfrm>
            <a:off x="713232" y="1517904"/>
            <a:ext cx="5212080" cy="4709160"/>
          </a:xfrm>
          <a:prstGeom prst="roundRect">
            <a:avLst>
              <a:gd name="adj" fmla="val 1748"/>
            </a:avLst>
          </a:prstGeom>
          <a:solidFill>
            <a:srgbClr val="EAF2FB"/>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7" name="Shape 5"/>
          <p:cNvSpPr/>
          <p:nvPr/>
        </p:nvSpPr>
        <p:spPr>
          <a:xfrm>
            <a:off x="713232" y="1517904"/>
            <a:ext cx="5212080" cy="566928"/>
          </a:xfrm>
          <a:prstGeom prst="roundRect">
            <a:avLst>
              <a:gd name="adj" fmla="val 14516"/>
            </a:avLst>
          </a:prstGeom>
          <a:solidFill>
            <a:srgbClr val="13315C"/>
          </a:solidFill>
          <a:ln/>
        </p:spPr>
      </p:sp>
      <p:sp>
        <p:nvSpPr>
          <p:cNvPr id="8" name="Shape 6"/>
          <p:cNvSpPr/>
          <p:nvPr/>
        </p:nvSpPr>
        <p:spPr>
          <a:xfrm>
            <a:off x="713232" y="1801368"/>
            <a:ext cx="5212080" cy="283464"/>
          </a:xfrm>
          <a:prstGeom prst="rect">
            <a:avLst/>
          </a:prstGeom>
          <a:solidFill>
            <a:srgbClr val="13315C"/>
          </a:solidFill>
          <a:ln/>
        </p:spPr>
      </p:sp>
      <p:sp>
        <p:nvSpPr>
          <p:cNvPr id="9" name="Text 7"/>
          <p:cNvSpPr/>
          <p:nvPr/>
        </p:nvSpPr>
        <p:spPr>
          <a:xfrm>
            <a:off x="969264" y="1517904"/>
            <a:ext cx="4754880" cy="566928"/>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Lỗi thường gặp</a:t>
            </a:r>
            <a:endParaRPr lang="en-US" sz="1700" dirty="0"/>
          </a:p>
        </p:txBody>
      </p:sp>
      <p:sp>
        <p:nvSpPr>
          <p:cNvPr id="10" name="Text 8"/>
          <p:cNvSpPr/>
          <p:nvPr/>
        </p:nvSpPr>
        <p:spPr>
          <a:xfrm>
            <a:off x="987552" y="2249424"/>
            <a:ext cx="4663440" cy="3794760"/>
          </a:xfrm>
          <a:prstGeom prst="rect">
            <a:avLst/>
          </a:prstGeom>
          <a:noFill/>
          <a:ln/>
        </p:spPr>
        <p:txBody>
          <a:bodyPr wrap="square" rtlCol="0" anchor="t">
            <a:normAutofit/>
          </a:bodyPr>
          <a:lstStyle/>
          <a:p>
            <a:pPr marL="177800" indent="-177800">
              <a:spcAft>
                <a:spcPts val="900"/>
              </a:spcAft>
              <a:buSzPct val="100000"/>
              <a:buChar char="•"/>
            </a:pPr>
            <a:r>
              <a:rPr lang="en-US" sz="1500" dirty="0">
                <a:solidFill>
                  <a:srgbClr val="1F2D3A"/>
                </a:solidFill>
                <a:latin typeface="Calibri" pitchFamily="34" charset="0"/>
                <a:ea typeface="Calibri" pitchFamily="34" charset="-122"/>
                <a:cs typeface="Calibri" pitchFamily="34" charset="-120"/>
              </a:rPr>
              <a:t>Nhầm lẫn giữa lớp (class) và cá thể (individual)</a:t>
            </a:r>
            <a:endParaRPr lang="en-US" sz="1500" dirty="0"/>
          </a:p>
          <a:p>
            <a:pPr marL="177800" indent="-177800">
              <a:spcAft>
                <a:spcPts val="900"/>
              </a:spcAft>
              <a:buSzPct val="100000"/>
              <a:buChar char="•"/>
            </a:pPr>
            <a:r>
              <a:rPr lang="en-US" sz="1500" dirty="0">
                <a:solidFill>
                  <a:srgbClr val="1F2D3A"/>
                </a:solidFill>
                <a:latin typeface="Calibri" pitchFamily="34" charset="0"/>
                <a:ea typeface="Calibri" pitchFamily="34" charset="-122"/>
                <a:cs typeface="Calibri" pitchFamily="34" charset="-120"/>
              </a:rPr>
              <a:t>Quên đặt Domain/Range cho thuộc tính</a:t>
            </a:r>
            <a:endParaRPr lang="en-US" sz="1500" dirty="0"/>
          </a:p>
          <a:p>
            <a:pPr marL="177800" indent="-177800">
              <a:spcAft>
                <a:spcPts val="900"/>
              </a:spcAft>
              <a:buSzPct val="100000"/>
              <a:buChar char="•"/>
            </a:pPr>
            <a:r>
              <a:rPr lang="en-US" sz="1500" dirty="0">
                <a:solidFill>
                  <a:srgbClr val="1F2D3A"/>
                </a:solidFill>
                <a:latin typeface="Calibri" pitchFamily="34" charset="0"/>
                <a:ea typeface="Calibri" pitchFamily="34" charset="-122"/>
                <a:cs typeface="Calibri" pitchFamily="34" charset="-120"/>
              </a:rPr>
              <a:t>Xây dựng phân cấp is-a sai logic</a:t>
            </a:r>
            <a:endParaRPr lang="en-US" sz="1500" dirty="0"/>
          </a:p>
          <a:p>
            <a:pPr marL="177800" indent="-177800">
              <a:spcAft>
                <a:spcPts val="900"/>
              </a:spcAft>
              <a:buSzPct val="100000"/>
              <a:buChar char="•"/>
            </a:pPr>
            <a:r>
              <a:rPr lang="en-US" sz="1500" dirty="0">
                <a:solidFill>
                  <a:srgbClr val="1F2D3A"/>
                </a:solidFill>
                <a:latin typeface="Calibri" pitchFamily="34" charset="0"/>
                <a:ea typeface="Calibri" pitchFamily="34" charset="-122"/>
                <a:cs typeface="Calibri" pitchFamily="34" charset="-120"/>
              </a:rPr>
              <a:t>Không chạy reasoner để kiểm tra nhất quán</a:t>
            </a:r>
            <a:endParaRPr lang="en-US" sz="1500" dirty="0"/>
          </a:p>
        </p:txBody>
      </p:sp>
      <p:sp>
        <p:nvSpPr>
          <p:cNvPr id="11" name="Shape 9"/>
          <p:cNvSpPr/>
          <p:nvPr/>
        </p:nvSpPr>
        <p:spPr>
          <a:xfrm>
            <a:off x="6291072" y="1517904"/>
            <a:ext cx="5212080" cy="4709160"/>
          </a:xfrm>
          <a:prstGeom prst="roundRect">
            <a:avLst>
              <a:gd name="adj" fmla="val 1748"/>
            </a:avLst>
          </a:prstGeom>
          <a:solidFill>
            <a:srgbClr val="EAF2FB"/>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12" name="Shape 10"/>
          <p:cNvSpPr/>
          <p:nvPr/>
        </p:nvSpPr>
        <p:spPr>
          <a:xfrm>
            <a:off x="6291072" y="1517904"/>
            <a:ext cx="5212080" cy="566928"/>
          </a:xfrm>
          <a:prstGeom prst="roundRect">
            <a:avLst>
              <a:gd name="adj" fmla="val 14516"/>
            </a:avLst>
          </a:prstGeom>
          <a:solidFill>
            <a:srgbClr val="13315C"/>
          </a:solidFill>
          <a:ln/>
        </p:spPr>
      </p:sp>
      <p:sp>
        <p:nvSpPr>
          <p:cNvPr id="13" name="Shape 11"/>
          <p:cNvSpPr/>
          <p:nvPr/>
        </p:nvSpPr>
        <p:spPr>
          <a:xfrm>
            <a:off x="6291072" y="1801368"/>
            <a:ext cx="5212080" cy="283464"/>
          </a:xfrm>
          <a:prstGeom prst="rect">
            <a:avLst/>
          </a:prstGeom>
          <a:solidFill>
            <a:srgbClr val="13315C"/>
          </a:solidFill>
          <a:ln/>
        </p:spPr>
      </p:sp>
      <p:sp>
        <p:nvSpPr>
          <p:cNvPr id="14" name="Text 12"/>
          <p:cNvSpPr/>
          <p:nvPr/>
        </p:nvSpPr>
        <p:spPr>
          <a:xfrm>
            <a:off x="6547104" y="1517904"/>
            <a:ext cx="4754880" cy="566928"/>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Best practice</a:t>
            </a:r>
            <a:endParaRPr lang="en-US" sz="1700" dirty="0"/>
          </a:p>
        </p:txBody>
      </p:sp>
      <p:sp>
        <p:nvSpPr>
          <p:cNvPr id="15" name="Text 13"/>
          <p:cNvSpPr/>
          <p:nvPr/>
        </p:nvSpPr>
        <p:spPr>
          <a:xfrm>
            <a:off x="6565392" y="2249424"/>
            <a:ext cx="4663440" cy="3794760"/>
          </a:xfrm>
          <a:prstGeom prst="rect">
            <a:avLst/>
          </a:prstGeom>
          <a:noFill/>
          <a:ln/>
        </p:spPr>
        <p:txBody>
          <a:bodyPr wrap="square" rtlCol="0" anchor="t">
            <a:normAutofit/>
          </a:bodyPr>
          <a:lstStyle/>
          <a:p>
            <a:pPr marL="177800" indent="-177800">
              <a:spcAft>
                <a:spcPts val="900"/>
              </a:spcAft>
              <a:buSzPct val="100000"/>
              <a:buChar char="•"/>
            </a:pPr>
            <a:r>
              <a:rPr lang="en-US" sz="1500" dirty="0">
                <a:solidFill>
                  <a:srgbClr val="1F2D3A"/>
                </a:solidFill>
                <a:latin typeface="Calibri" pitchFamily="34" charset="0"/>
                <a:ea typeface="Calibri" pitchFamily="34" charset="-122"/>
                <a:cs typeface="Calibri" pitchFamily="34" charset="-120"/>
              </a:rPr>
              <a:t>Đặt tên nhất quán, lớp dùng danh từ số ít</a:t>
            </a:r>
            <a:endParaRPr lang="en-US" sz="1500" dirty="0"/>
          </a:p>
          <a:p>
            <a:pPr marL="177800" indent="-177800">
              <a:spcAft>
                <a:spcPts val="900"/>
              </a:spcAft>
              <a:buSzPct val="100000"/>
              <a:buChar char="•"/>
            </a:pPr>
            <a:r>
              <a:rPr lang="en-US" sz="1500" dirty="0">
                <a:solidFill>
                  <a:srgbClr val="1F2D3A"/>
                </a:solidFill>
                <a:latin typeface="Calibri" pitchFamily="34" charset="0"/>
                <a:ea typeface="Calibri" pitchFamily="34" charset="-122"/>
                <a:cs typeface="Calibri" pitchFamily="34" charset="-120"/>
              </a:rPr>
              <a:t>Ưu tiên tái sử dụng ontology đã có sẵn</a:t>
            </a:r>
            <a:endParaRPr lang="en-US" sz="1500" dirty="0"/>
          </a:p>
          <a:p>
            <a:pPr marL="177800" indent="-177800">
              <a:spcAft>
                <a:spcPts val="900"/>
              </a:spcAft>
              <a:buSzPct val="100000"/>
              <a:buChar char="•"/>
            </a:pPr>
            <a:r>
              <a:rPr lang="en-US" sz="1500" dirty="0">
                <a:solidFill>
                  <a:srgbClr val="1F2D3A"/>
                </a:solidFill>
                <a:latin typeface="Calibri" pitchFamily="34" charset="0"/>
                <a:ea typeface="Calibri" pitchFamily="34" charset="-122"/>
                <a:cs typeface="Calibri" pitchFamily="34" charset="-120"/>
              </a:rPr>
              <a:t>Chạy reasoner thường xuyên trong quá trình xây dựng</a:t>
            </a:r>
            <a:endParaRPr lang="en-US" sz="1500" dirty="0"/>
          </a:p>
          <a:p>
            <a:pPr marL="177800" indent="-177800">
              <a:spcAft>
                <a:spcPts val="900"/>
              </a:spcAft>
              <a:buSzPct val="100000"/>
              <a:buChar char="•"/>
            </a:pPr>
            <a:r>
              <a:rPr lang="en-US" sz="1500" dirty="0">
                <a:solidFill>
                  <a:srgbClr val="1F2D3A"/>
                </a:solidFill>
                <a:latin typeface="Calibri" pitchFamily="34" charset="0"/>
                <a:ea typeface="Calibri" pitchFamily="34" charset="-122"/>
                <a:cs typeface="Calibri" pitchFamily="34" charset="-120"/>
              </a:rPr>
              <a:t>Ghi chú, tài liệu hóa bằng annotation đầy đủ</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AF2FB"/>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3  ·  XÂY DỰNG ONTOLOGY VỚI PROTÉGÉ</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Tóm tắt Phần 3</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30</a:t>
            </a:r>
            <a:endParaRPr lang="en-US" sz="1100" dirty="0"/>
          </a:p>
        </p:txBody>
      </p:sp>
      <p:sp>
        <p:nvSpPr>
          <p:cNvPr id="6" name="Shape 4"/>
          <p:cNvSpPr/>
          <p:nvPr/>
        </p:nvSpPr>
        <p:spPr>
          <a:xfrm>
            <a:off x="822960" y="1655064"/>
            <a:ext cx="10561320" cy="722376"/>
          </a:xfrm>
          <a:prstGeom prst="roundRect">
            <a:avLst>
              <a:gd name="adj" fmla="val 10127"/>
            </a:avLst>
          </a:prstGeom>
          <a:solidFill>
            <a:srgbClr val="FFFFFF"/>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7" name="Shape 5"/>
          <p:cNvSpPr/>
          <p:nvPr/>
        </p:nvSpPr>
        <p:spPr>
          <a:xfrm>
            <a:off x="1024128" y="1879092"/>
            <a:ext cx="310896" cy="310896"/>
          </a:xfrm>
          <a:prstGeom prst="ellipse">
            <a:avLst/>
          </a:prstGeom>
          <a:solidFill>
            <a:srgbClr val="E2A233"/>
          </a:solidFill>
          <a:ln/>
        </p:spPr>
      </p:sp>
      <p:sp>
        <p:nvSpPr>
          <p:cNvPr id="8" name="Text 6"/>
          <p:cNvSpPr/>
          <p:nvPr/>
        </p:nvSpPr>
        <p:spPr>
          <a:xfrm>
            <a:off x="1024128" y="1879092"/>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536192" y="1600200"/>
            <a:ext cx="9646920" cy="868680"/>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Quy trình xây dựng ontology gồm nhiều bước lặp lại, tinh chỉnh dần</a:t>
            </a:r>
            <a:endParaRPr lang="en-US" sz="1700" dirty="0"/>
          </a:p>
        </p:txBody>
      </p:sp>
      <p:sp>
        <p:nvSpPr>
          <p:cNvPr id="10" name="Shape 8"/>
          <p:cNvSpPr/>
          <p:nvPr/>
        </p:nvSpPr>
        <p:spPr>
          <a:xfrm>
            <a:off x="822960" y="2523744"/>
            <a:ext cx="10561320" cy="722376"/>
          </a:xfrm>
          <a:prstGeom prst="roundRect">
            <a:avLst>
              <a:gd name="adj" fmla="val 10127"/>
            </a:avLst>
          </a:prstGeom>
          <a:solidFill>
            <a:srgbClr val="FFFFFF"/>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11" name="Shape 9"/>
          <p:cNvSpPr/>
          <p:nvPr/>
        </p:nvSpPr>
        <p:spPr>
          <a:xfrm>
            <a:off x="1024128" y="2747772"/>
            <a:ext cx="310896" cy="310896"/>
          </a:xfrm>
          <a:prstGeom prst="ellipse">
            <a:avLst/>
          </a:prstGeom>
          <a:solidFill>
            <a:srgbClr val="E2A233"/>
          </a:solidFill>
          <a:ln/>
        </p:spPr>
      </p:sp>
      <p:sp>
        <p:nvSpPr>
          <p:cNvPr id="12" name="Text 10"/>
          <p:cNvSpPr/>
          <p:nvPr/>
        </p:nvSpPr>
        <p:spPr>
          <a:xfrm>
            <a:off x="1024128" y="2747772"/>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536192" y="2468880"/>
            <a:ext cx="9646920" cy="868680"/>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Protégé hỗ trợ tạo lớp, thuộc tính và cá thể trực quan</a:t>
            </a:r>
            <a:endParaRPr lang="en-US" sz="1700" dirty="0"/>
          </a:p>
        </p:txBody>
      </p:sp>
      <p:sp>
        <p:nvSpPr>
          <p:cNvPr id="14" name="Shape 12"/>
          <p:cNvSpPr/>
          <p:nvPr/>
        </p:nvSpPr>
        <p:spPr>
          <a:xfrm>
            <a:off x="822960" y="3392424"/>
            <a:ext cx="10561320" cy="722376"/>
          </a:xfrm>
          <a:prstGeom prst="roundRect">
            <a:avLst>
              <a:gd name="adj" fmla="val 10127"/>
            </a:avLst>
          </a:prstGeom>
          <a:solidFill>
            <a:srgbClr val="FFFFFF"/>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15" name="Shape 13"/>
          <p:cNvSpPr/>
          <p:nvPr/>
        </p:nvSpPr>
        <p:spPr>
          <a:xfrm>
            <a:off x="1024128" y="3616452"/>
            <a:ext cx="310896" cy="310896"/>
          </a:xfrm>
          <a:prstGeom prst="ellipse">
            <a:avLst/>
          </a:prstGeom>
          <a:solidFill>
            <a:srgbClr val="E2A233"/>
          </a:solidFill>
          <a:ln/>
        </p:spPr>
      </p:sp>
      <p:sp>
        <p:nvSpPr>
          <p:cNvPr id="16" name="Text 14"/>
          <p:cNvSpPr/>
          <p:nvPr/>
        </p:nvSpPr>
        <p:spPr>
          <a:xfrm>
            <a:off x="1024128" y="3616452"/>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536192" y="3337560"/>
            <a:ext cx="9646920" cy="868680"/>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Reasoner giúp suy diễn tri thức và kiểm tra tính nhất quán</a:t>
            </a:r>
            <a:endParaRPr lang="en-US" sz="1700" dirty="0"/>
          </a:p>
        </p:txBody>
      </p:sp>
      <p:sp>
        <p:nvSpPr>
          <p:cNvPr id="18" name="Shape 16"/>
          <p:cNvSpPr/>
          <p:nvPr/>
        </p:nvSpPr>
        <p:spPr>
          <a:xfrm>
            <a:off x="822960" y="4261104"/>
            <a:ext cx="10561320" cy="722376"/>
          </a:xfrm>
          <a:prstGeom prst="roundRect">
            <a:avLst>
              <a:gd name="adj" fmla="val 10127"/>
            </a:avLst>
          </a:prstGeom>
          <a:solidFill>
            <a:srgbClr val="FFFFFF"/>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19" name="Shape 17"/>
          <p:cNvSpPr/>
          <p:nvPr/>
        </p:nvSpPr>
        <p:spPr>
          <a:xfrm>
            <a:off x="1024128" y="4485132"/>
            <a:ext cx="310896" cy="310896"/>
          </a:xfrm>
          <a:prstGeom prst="ellipse">
            <a:avLst/>
          </a:prstGeom>
          <a:solidFill>
            <a:srgbClr val="E2A233"/>
          </a:solidFill>
          <a:ln/>
        </p:spPr>
      </p:sp>
      <p:sp>
        <p:nvSpPr>
          <p:cNvPr id="20" name="Text 18"/>
          <p:cNvSpPr/>
          <p:nvPr/>
        </p:nvSpPr>
        <p:spPr>
          <a:xfrm>
            <a:off x="1024128" y="4485132"/>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1536192" y="4206240"/>
            <a:ext cx="9646920" cy="868680"/>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Cần tránh các lỗi thường gặp như nhầm lớp với cá thể</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4  ·  ỨNG DỤNG THỰC TẾ</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Ontology được ứng dụng ở đâu?</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31</a:t>
            </a:r>
            <a:endParaRPr lang="en-US" sz="1100" dirty="0"/>
          </a:p>
        </p:txBody>
      </p:sp>
      <p:sp>
        <p:nvSpPr>
          <p:cNvPr id="6" name="Shape 4"/>
          <p:cNvSpPr/>
          <p:nvPr/>
        </p:nvSpPr>
        <p:spPr>
          <a:xfrm>
            <a:off x="713232" y="1612392"/>
            <a:ext cx="329184" cy="329184"/>
          </a:xfrm>
          <a:prstGeom prst="roundRect">
            <a:avLst>
              <a:gd name="adj" fmla="val 16667"/>
            </a:avLst>
          </a:prstGeom>
          <a:solidFill>
            <a:srgbClr val="13315C"/>
          </a:solidFill>
          <a:ln/>
        </p:spPr>
      </p:sp>
      <p:sp>
        <p:nvSpPr>
          <p:cNvPr id="7" name="Text 5"/>
          <p:cNvSpPr/>
          <p:nvPr/>
        </p:nvSpPr>
        <p:spPr>
          <a:xfrm>
            <a:off x="713232" y="161239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59131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Web ngữ nghĩa: liên kết dữ liệu mở toàn cầu qua Linked Open Data</a:t>
            </a:r>
            <a:endParaRPr lang="en-US" sz="1600" dirty="0"/>
          </a:p>
        </p:txBody>
      </p:sp>
      <p:sp>
        <p:nvSpPr>
          <p:cNvPr id="9" name="Shape 7"/>
          <p:cNvSpPr/>
          <p:nvPr/>
        </p:nvSpPr>
        <p:spPr>
          <a:xfrm>
            <a:off x="713232" y="2203704"/>
            <a:ext cx="329184" cy="329184"/>
          </a:xfrm>
          <a:prstGeom prst="roundRect">
            <a:avLst>
              <a:gd name="adj" fmla="val 16667"/>
            </a:avLst>
          </a:prstGeom>
          <a:solidFill>
            <a:srgbClr val="13315C"/>
          </a:solidFill>
          <a:ln/>
        </p:spPr>
      </p:sp>
      <p:sp>
        <p:nvSpPr>
          <p:cNvPr id="10" name="Text 8"/>
          <p:cNvSpPr/>
          <p:nvPr/>
        </p:nvSpPr>
        <p:spPr>
          <a:xfrm>
            <a:off x="713232" y="220370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072640"/>
            <a:ext cx="10296144" cy="59131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Tìm kiếm thông minh: Google Knowledge Graph, Bing Satori</a:t>
            </a:r>
            <a:endParaRPr lang="en-US" sz="1600" dirty="0"/>
          </a:p>
        </p:txBody>
      </p:sp>
      <p:sp>
        <p:nvSpPr>
          <p:cNvPr id="12" name="Shape 10"/>
          <p:cNvSpPr/>
          <p:nvPr/>
        </p:nvSpPr>
        <p:spPr>
          <a:xfrm>
            <a:off x="713232" y="2795016"/>
            <a:ext cx="329184" cy="329184"/>
          </a:xfrm>
          <a:prstGeom prst="roundRect">
            <a:avLst>
              <a:gd name="adj" fmla="val 16667"/>
            </a:avLst>
          </a:prstGeom>
          <a:solidFill>
            <a:srgbClr val="13315C"/>
          </a:solidFill>
          <a:ln/>
        </p:spPr>
      </p:sp>
      <p:sp>
        <p:nvSpPr>
          <p:cNvPr id="13" name="Text 11"/>
          <p:cNvSpPr/>
          <p:nvPr/>
        </p:nvSpPr>
        <p:spPr>
          <a:xfrm>
            <a:off x="713232" y="279501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2663952"/>
            <a:ext cx="10296144" cy="59131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Y sinh: chuẩn hoá bằng SNOMED CT, Gene Ontology, ICD-11</a:t>
            </a:r>
            <a:endParaRPr lang="en-US" sz="1600" dirty="0"/>
          </a:p>
        </p:txBody>
      </p:sp>
      <p:sp>
        <p:nvSpPr>
          <p:cNvPr id="15" name="Shape 13"/>
          <p:cNvSpPr/>
          <p:nvPr/>
        </p:nvSpPr>
        <p:spPr>
          <a:xfrm>
            <a:off x="713232" y="3386328"/>
            <a:ext cx="329184" cy="329184"/>
          </a:xfrm>
          <a:prstGeom prst="roundRect">
            <a:avLst>
              <a:gd name="adj" fmla="val 16667"/>
            </a:avLst>
          </a:prstGeom>
          <a:solidFill>
            <a:srgbClr val="13315C"/>
          </a:solidFill>
          <a:ln/>
        </p:spPr>
      </p:sp>
      <p:sp>
        <p:nvSpPr>
          <p:cNvPr id="16" name="Text 14"/>
          <p:cNvSpPr/>
          <p:nvPr/>
        </p:nvSpPr>
        <p:spPr>
          <a:xfrm>
            <a:off x="713232" y="338632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3255264"/>
            <a:ext cx="10296144" cy="59131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Thương mại điện tử: schema.org, GoodRelations hỗ trợ tìm kiếm</a:t>
            </a:r>
            <a:endParaRPr lang="en-US" sz="1600" dirty="0"/>
          </a:p>
        </p:txBody>
      </p:sp>
      <p:sp>
        <p:nvSpPr>
          <p:cNvPr id="18" name="Shape 16"/>
          <p:cNvSpPr/>
          <p:nvPr/>
        </p:nvSpPr>
        <p:spPr>
          <a:xfrm>
            <a:off x="713232" y="3977640"/>
            <a:ext cx="329184" cy="329184"/>
          </a:xfrm>
          <a:prstGeom prst="roundRect">
            <a:avLst>
              <a:gd name="adj" fmla="val 16667"/>
            </a:avLst>
          </a:prstGeom>
          <a:solidFill>
            <a:srgbClr val="13315C"/>
          </a:solidFill>
          <a:ln/>
        </p:spPr>
      </p:sp>
      <p:sp>
        <p:nvSpPr>
          <p:cNvPr id="19" name="Text 17"/>
          <p:cNvSpPr/>
          <p:nvPr/>
        </p:nvSpPr>
        <p:spPr>
          <a:xfrm>
            <a:off x="713232" y="397764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07008" y="3846576"/>
            <a:ext cx="10296144" cy="59131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AI và NLP: tri thức nền cho chatbot, hệ chuyên gia</a:t>
            </a:r>
            <a:endParaRPr lang="en-US" sz="1600" dirty="0"/>
          </a:p>
        </p:txBody>
      </p:sp>
      <p:sp>
        <p:nvSpPr>
          <p:cNvPr id="21" name="Shape 19"/>
          <p:cNvSpPr/>
          <p:nvPr/>
        </p:nvSpPr>
        <p:spPr>
          <a:xfrm>
            <a:off x="713232" y="4568952"/>
            <a:ext cx="329184" cy="329184"/>
          </a:xfrm>
          <a:prstGeom prst="roundRect">
            <a:avLst>
              <a:gd name="adj" fmla="val 16667"/>
            </a:avLst>
          </a:prstGeom>
          <a:solidFill>
            <a:srgbClr val="13315C"/>
          </a:solidFill>
          <a:ln/>
        </p:spPr>
      </p:sp>
      <p:sp>
        <p:nvSpPr>
          <p:cNvPr id="22" name="Text 20"/>
          <p:cNvSpPr/>
          <p:nvPr/>
        </p:nvSpPr>
        <p:spPr>
          <a:xfrm>
            <a:off x="713232" y="456895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p:nvPr/>
        </p:nvSpPr>
        <p:spPr>
          <a:xfrm>
            <a:off x="1207008" y="4437888"/>
            <a:ext cx="10296144" cy="59131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IoT và doanh nghiệp: ontology SSN/SOSA, Enterprise Knowledge Graph</a:t>
            </a:r>
            <a:endParaRPr lang="en-US" sz="1600" dirty="0"/>
          </a:p>
        </p:txBody>
      </p:sp>
      <p:sp>
        <p:nvSpPr>
          <p:cNvPr id="24" name="Shape 22"/>
          <p:cNvSpPr/>
          <p:nvPr/>
        </p:nvSpPr>
        <p:spPr>
          <a:xfrm>
            <a:off x="685800" y="5193792"/>
            <a:ext cx="10835640" cy="1024128"/>
          </a:xfrm>
          <a:prstGeom prst="roundRect">
            <a:avLst>
              <a:gd name="adj" fmla="val 7143"/>
            </a:avLst>
          </a:prstGeom>
          <a:solidFill>
            <a:srgbClr val="FBF1DA"/>
          </a:solidFill>
          <a:ln w="12700">
            <a:solidFill>
              <a:srgbClr val="E2A233"/>
            </a:solidFill>
            <a:prstDash val="solid"/>
          </a:ln>
          <a:effectLst>
            <a:outerShdw sx="100000" sy="100000" kx="0" ky="0" algn="bl" rotWithShape="0" blurRad="76200" dist="25400" dir="5400000">
              <a:srgbClr val="9FB1C4">
                <a:alpha val="32000"/>
              </a:srgbClr>
            </a:outerShdw>
          </a:effectLst>
        </p:spPr>
      </p:sp>
      <p:sp>
        <p:nvSpPr>
          <p:cNvPr id="25" name="Text 23"/>
          <p:cNvSpPr/>
          <p:nvPr/>
        </p:nvSpPr>
        <p:spPr>
          <a:xfrm>
            <a:off x="932688" y="5312664"/>
            <a:ext cx="10332720" cy="274320"/>
          </a:xfrm>
          <a:prstGeom prst="rect">
            <a:avLst/>
          </a:prstGeom>
          <a:noFill/>
          <a:ln/>
        </p:spPr>
        <p:txBody>
          <a:bodyPr wrap="square" rtlCol="0" anchor="ctr"/>
          <a:lstStyle/>
          <a:p>
            <a:pPr indent="0" marL="0">
              <a:buNone/>
            </a:pPr>
            <a:r>
              <a:rPr lang="en-US" sz="1200" b="1" spc="100" kern="0" dirty="0">
                <a:solidFill>
                  <a:srgbClr val="C1801F"/>
                </a:solidFill>
                <a:latin typeface="Calibri" pitchFamily="34" charset="0"/>
                <a:ea typeface="Calibri" pitchFamily="34" charset="-122"/>
                <a:cs typeface="Calibri" pitchFamily="34" charset="-120"/>
              </a:rPr>
              <a:t>GHI NHỚ</a:t>
            </a:r>
            <a:endParaRPr lang="en-US" sz="1200" dirty="0"/>
          </a:p>
        </p:txBody>
      </p:sp>
      <p:sp>
        <p:nvSpPr>
          <p:cNvPr id="26" name="Text 24"/>
          <p:cNvSpPr/>
          <p:nvPr/>
        </p:nvSpPr>
        <p:spPr>
          <a:xfrm>
            <a:off x="932688" y="5596128"/>
            <a:ext cx="10332720" cy="53035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Ontology là hạ tầng tri thức cho nhiều hệ thống hiện đại.</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4  ·  ỨNG DỤNG THỰC TẾ</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Web ngữ nghĩa &amp; Linked Data</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32</a:t>
            </a:r>
            <a:endParaRPr lang="en-US" sz="1100" dirty="0"/>
          </a:p>
        </p:txBody>
      </p:sp>
      <p:sp>
        <p:nvSpPr>
          <p:cNvPr id="6" name="Shape 4"/>
          <p:cNvSpPr/>
          <p:nvPr/>
        </p:nvSpPr>
        <p:spPr>
          <a:xfrm>
            <a:off x="713232" y="1612392"/>
            <a:ext cx="329184" cy="329184"/>
          </a:xfrm>
          <a:prstGeom prst="roundRect">
            <a:avLst>
              <a:gd name="adj" fmla="val 16667"/>
            </a:avLst>
          </a:prstGeom>
          <a:solidFill>
            <a:srgbClr val="13315C"/>
          </a:solidFill>
          <a:ln/>
        </p:spPr>
      </p:sp>
      <p:sp>
        <p:nvSpPr>
          <p:cNvPr id="7" name="Text 5"/>
          <p:cNvSpPr/>
          <p:nvPr/>
        </p:nvSpPr>
        <p:spPr>
          <a:xfrm>
            <a:off x="713232" y="161239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59131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Semantic Web biến Web tài liệu thành mạng dữ liệu có ngữ nghĩa</a:t>
            </a:r>
            <a:endParaRPr lang="en-US" sz="1600" dirty="0"/>
          </a:p>
        </p:txBody>
      </p:sp>
      <p:sp>
        <p:nvSpPr>
          <p:cNvPr id="9" name="Shape 7"/>
          <p:cNvSpPr/>
          <p:nvPr/>
        </p:nvSpPr>
        <p:spPr>
          <a:xfrm>
            <a:off x="713232" y="2203704"/>
            <a:ext cx="329184" cy="329184"/>
          </a:xfrm>
          <a:prstGeom prst="roundRect">
            <a:avLst>
              <a:gd name="adj" fmla="val 16667"/>
            </a:avLst>
          </a:prstGeom>
          <a:solidFill>
            <a:srgbClr val="13315C"/>
          </a:solidFill>
          <a:ln/>
        </p:spPr>
      </p:sp>
      <p:sp>
        <p:nvSpPr>
          <p:cNvPr id="10" name="Text 8"/>
          <p:cNvSpPr/>
          <p:nvPr/>
        </p:nvSpPr>
        <p:spPr>
          <a:xfrm>
            <a:off x="713232" y="220370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072640"/>
            <a:ext cx="10296144" cy="59131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Linked Open Data (LOD) kết nối hàng nghìn bộ dữ liệu mở</a:t>
            </a:r>
            <a:endParaRPr lang="en-US" sz="1600" dirty="0"/>
          </a:p>
        </p:txBody>
      </p:sp>
      <p:sp>
        <p:nvSpPr>
          <p:cNvPr id="12" name="Shape 10"/>
          <p:cNvSpPr/>
          <p:nvPr/>
        </p:nvSpPr>
        <p:spPr>
          <a:xfrm>
            <a:off x="713232" y="2795016"/>
            <a:ext cx="329184" cy="329184"/>
          </a:xfrm>
          <a:prstGeom prst="roundRect">
            <a:avLst>
              <a:gd name="adj" fmla="val 16667"/>
            </a:avLst>
          </a:prstGeom>
          <a:solidFill>
            <a:srgbClr val="13315C"/>
          </a:solidFill>
          <a:ln/>
        </p:spPr>
      </p:sp>
      <p:sp>
        <p:nvSpPr>
          <p:cNvPr id="13" name="Text 11"/>
          <p:cNvSpPr/>
          <p:nvPr/>
        </p:nvSpPr>
        <p:spPr>
          <a:xfrm>
            <a:off x="713232" y="279501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2663952"/>
            <a:ext cx="10296144" cy="59131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DBpedia trích xuất tri thức có cấu trúc từ Wikipedia</a:t>
            </a:r>
            <a:endParaRPr lang="en-US" sz="1600" dirty="0"/>
          </a:p>
        </p:txBody>
      </p:sp>
      <p:sp>
        <p:nvSpPr>
          <p:cNvPr id="15" name="Shape 13"/>
          <p:cNvSpPr/>
          <p:nvPr/>
        </p:nvSpPr>
        <p:spPr>
          <a:xfrm>
            <a:off x="713232" y="3386328"/>
            <a:ext cx="329184" cy="329184"/>
          </a:xfrm>
          <a:prstGeom prst="roundRect">
            <a:avLst>
              <a:gd name="adj" fmla="val 16667"/>
            </a:avLst>
          </a:prstGeom>
          <a:solidFill>
            <a:srgbClr val="13315C"/>
          </a:solidFill>
          <a:ln/>
        </p:spPr>
      </p:sp>
      <p:sp>
        <p:nvSpPr>
          <p:cNvPr id="16" name="Text 14"/>
          <p:cNvSpPr/>
          <p:nvPr/>
        </p:nvSpPr>
        <p:spPr>
          <a:xfrm>
            <a:off x="713232" y="338632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3255264"/>
            <a:ext cx="10296144" cy="59131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Wikidata là kho tri thức mở do cộng đồng biên tập</a:t>
            </a:r>
            <a:endParaRPr lang="en-US" sz="1600" dirty="0"/>
          </a:p>
        </p:txBody>
      </p:sp>
      <p:sp>
        <p:nvSpPr>
          <p:cNvPr id="18" name="Shape 16"/>
          <p:cNvSpPr/>
          <p:nvPr/>
        </p:nvSpPr>
        <p:spPr>
          <a:xfrm>
            <a:off x="713232" y="3977640"/>
            <a:ext cx="329184" cy="329184"/>
          </a:xfrm>
          <a:prstGeom prst="roundRect">
            <a:avLst>
              <a:gd name="adj" fmla="val 16667"/>
            </a:avLst>
          </a:prstGeom>
          <a:solidFill>
            <a:srgbClr val="13315C"/>
          </a:solidFill>
          <a:ln/>
        </p:spPr>
      </p:sp>
      <p:sp>
        <p:nvSpPr>
          <p:cNvPr id="19" name="Text 17"/>
          <p:cNvSpPr/>
          <p:nvPr/>
        </p:nvSpPr>
        <p:spPr>
          <a:xfrm>
            <a:off x="713232" y="397764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07008" y="3846576"/>
            <a:ext cx="10296144" cy="59131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URI dùng chung giúp liên kết thực thể giữa nhiều nguồn</a:t>
            </a:r>
            <a:endParaRPr lang="en-US" sz="1600" dirty="0"/>
          </a:p>
        </p:txBody>
      </p:sp>
      <p:sp>
        <p:nvSpPr>
          <p:cNvPr id="21" name="Shape 19"/>
          <p:cNvSpPr/>
          <p:nvPr/>
        </p:nvSpPr>
        <p:spPr>
          <a:xfrm>
            <a:off x="713232" y="4568952"/>
            <a:ext cx="329184" cy="329184"/>
          </a:xfrm>
          <a:prstGeom prst="roundRect">
            <a:avLst>
              <a:gd name="adj" fmla="val 16667"/>
            </a:avLst>
          </a:prstGeom>
          <a:solidFill>
            <a:srgbClr val="13315C"/>
          </a:solidFill>
          <a:ln/>
        </p:spPr>
      </p:sp>
      <p:sp>
        <p:nvSpPr>
          <p:cNvPr id="22" name="Text 20"/>
          <p:cNvSpPr/>
          <p:nvPr/>
        </p:nvSpPr>
        <p:spPr>
          <a:xfrm>
            <a:off x="713232" y="456895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p:nvPr/>
        </p:nvSpPr>
        <p:spPr>
          <a:xfrm>
            <a:off x="1207008" y="4437888"/>
            <a:ext cx="10296144" cy="59131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RDF là nền tảng biểu diễn dữ liệu liên kết ngữ nghĩa</a:t>
            </a:r>
            <a:endParaRPr lang="en-US" sz="1600" dirty="0"/>
          </a:p>
        </p:txBody>
      </p:sp>
      <p:sp>
        <p:nvSpPr>
          <p:cNvPr id="24" name="Shape 22"/>
          <p:cNvSpPr/>
          <p:nvPr/>
        </p:nvSpPr>
        <p:spPr>
          <a:xfrm>
            <a:off x="685800" y="5193792"/>
            <a:ext cx="10835640" cy="1024128"/>
          </a:xfrm>
          <a:prstGeom prst="roundRect">
            <a:avLst>
              <a:gd name="adj" fmla="val 7143"/>
            </a:avLst>
          </a:prstGeom>
          <a:solidFill>
            <a:srgbClr val="FBF1DA"/>
          </a:solidFill>
          <a:ln w="12700">
            <a:solidFill>
              <a:srgbClr val="E2A233"/>
            </a:solidFill>
            <a:prstDash val="solid"/>
          </a:ln>
          <a:effectLst>
            <a:outerShdw sx="100000" sy="100000" kx="0" ky="0" algn="bl" rotWithShape="0" blurRad="76200" dist="25400" dir="5400000">
              <a:srgbClr val="9FB1C4">
                <a:alpha val="32000"/>
              </a:srgbClr>
            </a:outerShdw>
          </a:effectLst>
        </p:spPr>
      </p:sp>
      <p:sp>
        <p:nvSpPr>
          <p:cNvPr id="25" name="Text 23"/>
          <p:cNvSpPr/>
          <p:nvPr/>
        </p:nvSpPr>
        <p:spPr>
          <a:xfrm>
            <a:off x="932688" y="5312664"/>
            <a:ext cx="10332720" cy="274320"/>
          </a:xfrm>
          <a:prstGeom prst="rect">
            <a:avLst/>
          </a:prstGeom>
          <a:noFill/>
          <a:ln/>
        </p:spPr>
        <p:txBody>
          <a:bodyPr wrap="square" rtlCol="0" anchor="ctr"/>
          <a:lstStyle/>
          <a:p>
            <a:pPr indent="0" marL="0">
              <a:buNone/>
            </a:pPr>
            <a:r>
              <a:rPr lang="en-US" sz="1200" b="1" spc="100" kern="0" dirty="0">
                <a:solidFill>
                  <a:srgbClr val="C1801F"/>
                </a:solidFill>
                <a:latin typeface="Calibri" pitchFamily="34" charset="0"/>
                <a:ea typeface="Calibri" pitchFamily="34" charset="-122"/>
                <a:cs typeface="Calibri" pitchFamily="34" charset="-120"/>
              </a:rPr>
              <a:t>VÍ DỤ</a:t>
            </a:r>
            <a:endParaRPr lang="en-US" sz="1200" dirty="0"/>
          </a:p>
        </p:txBody>
      </p:sp>
      <p:sp>
        <p:nvSpPr>
          <p:cNvPr id="26" name="Text 24"/>
          <p:cNvSpPr/>
          <p:nvPr/>
        </p:nvSpPr>
        <p:spPr>
          <a:xfrm>
            <a:off x="932688" y="5596128"/>
            <a:ext cx="10332720" cy="53035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LOD Cloud kết nối hàng nghìn bộ dữ liệu như DBpedia, Wikidata, GeoNames.</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4  ·  ỨNG DỤNG THỰC TẾ</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Tìm kiếm ngữ nghĩa &amp; Google Knowledge Graph</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33</a:t>
            </a:r>
            <a:endParaRPr lang="en-US" sz="1100" dirty="0"/>
          </a:p>
        </p:txBody>
      </p:sp>
      <p:sp>
        <p:nvSpPr>
          <p:cNvPr id="6" name="Shape 4"/>
          <p:cNvSpPr/>
          <p:nvPr/>
        </p:nvSpPr>
        <p:spPr>
          <a:xfrm>
            <a:off x="713232" y="1715262"/>
            <a:ext cx="329184" cy="329184"/>
          </a:xfrm>
          <a:prstGeom prst="roundRect">
            <a:avLst>
              <a:gd name="adj" fmla="val 16667"/>
            </a:avLst>
          </a:prstGeom>
          <a:solidFill>
            <a:srgbClr val="13315C"/>
          </a:solidFill>
          <a:ln/>
        </p:spPr>
      </p:sp>
      <p:sp>
        <p:nvSpPr>
          <p:cNvPr id="7" name="Text 5"/>
          <p:cNvSpPr/>
          <p:nvPr/>
        </p:nvSpPr>
        <p:spPr>
          <a:xfrm>
            <a:off x="713232" y="171526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Tìm kiếm ngữ nghĩa hiểu thực thể thay vì chỉ khớp từ khoá</a:t>
            </a:r>
            <a:endParaRPr lang="en-US" sz="1600" dirty="0"/>
          </a:p>
        </p:txBody>
      </p:sp>
      <p:sp>
        <p:nvSpPr>
          <p:cNvPr id="9" name="Shape 7"/>
          <p:cNvSpPr/>
          <p:nvPr/>
        </p:nvSpPr>
        <p:spPr>
          <a:xfrm>
            <a:off x="713232" y="2512314"/>
            <a:ext cx="329184" cy="329184"/>
          </a:xfrm>
          <a:prstGeom prst="roundRect">
            <a:avLst>
              <a:gd name="adj" fmla="val 16667"/>
            </a:avLst>
          </a:prstGeom>
          <a:solidFill>
            <a:srgbClr val="13315C"/>
          </a:solidFill>
          <a:ln/>
        </p:spPr>
      </p:sp>
      <p:sp>
        <p:nvSpPr>
          <p:cNvPr id="10" name="Text 8"/>
          <p:cNvSpPr/>
          <p:nvPr/>
        </p:nvSpPr>
        <p:spPr>
          <a:xfrm>
            <a:off x="713232" y="251231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278380"/>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Google Knowledge Graph biểu diễn người, địa điểm, sự vật, khái niệm</a:t>
            </a:r>
            <a:endParaRPr lang="en-US" sz="1600" dirty="0"/>
          </a:p>
        </p:txBody>
      </p:sp>
      <p:sp>
        <p:nvSpPr>
          <p:cNvPr id="12" name="Shape 10"/>
          <p:cNvSpPr/>
          <p:nvPr/>
        </p:nvSpPr>
        <p:spPr>
          <a:xfrm>
            <a:off x="713232" y="3309366"/>
            <a:ext cx="329184" cy="329184"/>
          </a:xfrm>
          <a:prstGeom prst="roundRect">
            <a:avLst>
              <a:gd name="adj" fmla="val 16667"/>
            </a:avLst>
          </a:prstGeom>
          <a:solidFill>
            <a:srgbClr val="13315C"/>
          </a:solidFill>
          <a:ln/>
        </p:spPr>
      </p:sp>
      <p:sp>
        <p:nvSpPr>
          <p:cNvPr id="13" name="Text 11"/>
          <p:cNvSpPr/>
          <p:nvPr/>
        </p:nvSpPr>
        <p:spPr>
          <a:xfrm>
            <a:off x="713232" y="330936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3075432"/>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Knowledge Panel hiển thị thông tin tóm tắt bên phải kết quả</a:t>
            </a:r>
            <a:endParaRPr lang="en-US" sz="1600" dirty="0"/>
          </a:p>
        </p:txBody>
      </p:sp>
      <p:sp>
        <p:nvSpPr>
          <p:cNvPr id="15" name="Shape 13"/>
          <p:cNvSpPr/>
          <p:nvPr/>
        </p:nvSpPr>
        <p:spPr>
          <a:xfrm>
            <a:off x="713232" y="4106418"/>
            <a:ext cx="329184" cy="329184"/>
          </a:xfrm>
          <a:prstGeom prst="roundRect">
            <a:avLst>
              <a:gd name="adj" fmla="val 16667"/>
            </a:avLst>
          </a:prstGeom>
          <a:solidFill>
            <a:srgbClr val="13315C"/>
          </a:solidFill>
          <a:ln/>
        </p:spPr>
      </p:sp>
      <p:sp>
        <p:nvSpPr>
          <p:cNvPr id="16" name="Text 14"/>
          <p:cNvSpPr/>
          <p:nvPr/>
        </p:nvSpPr>
        <p:spPr>
          <a:xfrm>
            <a:off x="713232" y="410641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3872484"/>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Google có thể trả lời trực tiếp thay vì chỉ liệt kê link</a:t>
            </a:r>
            <a:endParaRPr lang="en-US" sz="1600" dirty="0"/>
          </a:p>
        </p:txBody>
      </p:sp>
      <p:sp>
        <p:nvSpPr>
          <p:cNvPr id="18" name="Shape 16"/>
          <p:cNvSpPr/>
          <p:nvPr/>
        </p:nvSpPr>
        <p:spPr>
          <a:xfrm>
            <a:off x="713232" y="4903470"/>
            <a:ext cx="329184" cy="329184"/>
          </a:xfrm>
          <a:prstGeom prst="roundRect">
            <a:avLst>
              <a:gd name="adj" fmla="val 16667"/>
            </a:avLst>
          </a:prstGeom>
          <a:solidFill>
            <a:srgbClr val="13315C"/>
          </a:solidFill>
          <a:ln/>
        </p:spPr>
      </p:sp>
      <p:sp>
        <p:nvSpPr>
          <p:cNvPr id="19" name="Text 17"/>
          <p:cNvSpPr/>
          <p:nvPr/>
        </p:nvSpPr>
        <p:spPr>
          <a:xfrm>
            <a:off x="713232" y="490347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07008" y="4669536"/>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Tìm Albert Einstein hiện ảnh, năm sinh, giải Nobel, trích dẫn liên quan</a:t>
            </a:r>
            <a:endParaRPr lang="en-US" sz="1600" dirty="0"/>
          </a:p>
        </p:txBody>
      </p:sp>
      <p:sp>
        <p:nvSpPr>
          <p:cNvPr id="21" name="Shape 19"/>
          <p:cNvSpPr/>
          <p:nvPr/>
        </p:nvSpPr>
        <p:spPr>
          <a:xfrm>
            <a:off x="713232" y="5700522"/>
            <a:ext cx="329184" cy="329184"/>
          </a:xfrm>
          <a:prstGeom prst="roundRect">
            <a:avLst>
              <a:gd name="adj" fmla="val 16667"/>
            </a:avLst>
          </a:prstGeom>
          <a:solidFill>
            <a:srgbClr val="13315C"/>
          </a:solidFill>
          <a:ln/>
        </p:spPr>
      </p:sp>
      <p:sp>
        <p:nvSpPr>
          <p:cNvPr id="22" name="Text 20"/>
          <p:cNvSpPr/>
          <p:nvPr/>
        </p:nvSpPr>
        <p:spPr>
          <a:xfrm>
            <a:off x="713232" y="570052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p:nvPr/>
        </p:nvSpPr>
        <p:spPr>
          <a:xfrm>
            <a:off x="1207008" y="5466588"/>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Bing Satori của Microsoft cũng khai thác Knowledge Graph tương tự</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4  ·  ỨNG DỤNG THỰC TẾ</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Y sinh học &amp; Chăm sóc sức khỏe</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34</a:t>
            </a:r>
            <a:endParaRPr lang="en-US" sz="1100" dirty="0"/>
          </a:p>
        </p:txBody>
      </p:sp>
      <p:sp>
        <p:nvSpPr>
          <p:cNvPr id="6" name="Shape 4"/>
          <p:cNvSpPr/>
          <p:nvPr/>
        </p:nvSpPr>
        <p:spPr>
          <a:xfrm>
            <a:off x="713232" y="1612392"/>
            <a:ext cx="329184" cy="329184"/>
          </a:xfrm>
          <a:prstGeom prst="roundRect">
            <a:avLst>
              <a:gd name="adj" fmla="val 16667"/>
            </a:avLst>
          </a:prstGeom>
          <a:solidFill>
            <a:srgbClr val="13315C"/>
          </a:solidFill>
          <a:ln/>
        </p:spPr>
      </p:sp>
      <p:sp>
        <p:nvSpPr>
          <p:cNvPr id="7" name="Text 5"/>
          <p:cNvSpPr/>
          <p:nvPr/>
        </p:nvSpPr>
        <p:spPr>
          <a:xfrm>
            <a:off x="713232" y="161239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59131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SNOMED CT là bộ thuật ngữ lâm sàng chuẩn dùng toàn cầu</a:t>
            </a:r>
            <a:endParaRPr lang="en-US" sz="1600" dirty="0"/>
          </a:p>
        </p:txBody>
      </p:sp>
      <p:sp>
        <p:nvSpPr>
          <p:cNvPr id="9" name="Shape 7"/>
          <p:cNvSpPr/>
          <p:nvPr/>
        </p:nvSpPr>
        <p:spPr>
          <a:xfrm>
            <a:off x="713232" y="2203704"/>
            <a:ext cx="329184" cy="329184"/>
          </a:xfrm>
          <a:prstGeom prst="roundRect">
            <a:avLst>
              <a:gd name="adj" fmla="val 16667"/>
            </a:avLst>
          </a:prstGeom>
          <a:solidFill>
            <a:srgbClr val="13315C"/>
          </a:solidFill>
          <a:ln/>
        </p:spPr>
      </p:sp>
      <p:sp>
        <p:nvSpPr>
          <p:cNvPr id="10" name="Text 8"/>
          <p:cNvSpPr/>
          <p:nvPr/>
        </p:nvSpPr>
        <p:spPr>
          <a:xfrm>
            <a:off x="713232" y="220370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072640"/>
            <a:ext cx="10296144" cy="59131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Gene Ontology (GO) mô tả chức năng và vị trí của gen, protein</a:t>
            </a:r>
            <a:endParaRPr lang="en-US" sz="1600" dirty="0"/>
          </a:p>
        </p:txBody>
      </p:sp>
      <p:sp>
        <p:nvSpPr>
          <p:cNvPr id="12" name="Shape 10"/>
          <p:cNvSpPr/>
          <p:nvPr/>
        </p:nvSpPr>
        <p:spPr>
          <a:xfrm>
            <a:off x="713232" y="2795016"/>
            <a:ext cx="329184" cy="329184"/>
          </a:xfrm>
          <a:prstGeom prst="roundRect">
            <a:avLst>
              <a:gd name="adj" fmla="val 16667"/>
            </a:avLst>
          </a:prstGeom>
          <a:solidFill>
            <a:srgbClr val="13315C"/>
          </a:solidFill>
          <a:ln/>
        </p:spPr>
      </p:sp>
      <p:sp>
        <p:nvSpPr>
          <p:cNvPr id="13" name="Text 11"/>
          <p:cNvSpPr/>
          <p:nvPr/>
        </p:nvSpPr>
        <p:spPr>
          <a:xfrm>
            <a:off x="713232" y="279501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2663952"/>
            <a:ext cx="10296144" cy="59131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ICD-11 của WHO phân loại bệnh tật theo chuẩn quốc tế</a:t>
            </a:r>
            <a:endParaRPr lang="en-US" sz="1600" dirty="0"/>
          </a:p>
        </p:txBody>
      </p:sp>
      <p:sp>
        <p:nvSpPr>
          <p:cNvPr id="15" name="Shape 13"/>
          <p:cNvSpPr/>
          <p:nvPr/>
        </p:nvSpPr>
        <p:spPr>
          <a:xfrm>
            <a:off x="713232" y="3386328"/>
            <a:ext cx="329184" cy="329184"/>
          </a:xfrm>
          <a:prstGeom prst="roundRect">
            <a:avLst>
              <a:gd name="adj" fmla="val 16667"/>
            </a:avLst>
          </a:prstGeom>
          <a:solidFill>
            <a:srgbClr val="13315C"/>
          </a:solidFill>
          <a:ln/>
        </p:spPr>
      </p:sp>
      <p:sp>
        <p:nvSpPr>
          <p:cNvPr id="16" name="Text 14"/>
          <p:cNvSpPr/>
          <p:nvPr/>
        </p:nvSpPr>
        <p:spPr>
          <a:xfrm>
            <a:off x="713232" y="338632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3255264"/>
            <a:ext cx="10296144" cy="59131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Chuẩn hoá thuật ngữ giúp hệ thống bệnh viện chia sẻ dữ liệu</a:t>
            </a:r>
            <a:endParaRPr lang="en-US" sz="1600" dirty="0"/>
          </a:p>
        </p:txBody>
      </p:sp>
      <p:sp>
        <p:nvSpPr>
          <p:cNvPr id="18" name="Shape 16"/>
          <p:cNvSpPr/>
          <p:nvPr/>
        </p:nvSpPr>
        <p:spPr>
          <a:xfrm>
            <a:off x="713232" y="3977640"/>
            <a:ext cx="329184" cy="329184"/>
          </a:xfrm>
          <a:prstGeom prst="roundRect">
            <a:avLst>
              <a:gd name="adj" fmla="val 16667"/>
            </a:avLst>
          </a:prstGeom>
          <a:solidFill>
            <a:srgbClr val="13315C"/>
          </a:solidFill>
          <a:ln/>
        </p:spPr>
      </p:sp>
      <p:sp>
        <p:nvSpPr>
          <p:cNvPr id="19" name="Text 17"/>
          <p:cNvSpPr/>
          <p:nvPr/>
        </p:nvSpPr>
        <p:spPr>
          <a:xfrm>
            <a:off x="713232" y="397764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07008" y="3846576"/>
            <a:ext cx="10296144" cy="59131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Hồ sơ bệnh án điện tử (EHR) mã hoá chẩn đoán bằng ontology</a:t>
            </a:r>
            <a:endParaRPr lang="en-US" sz="1600" dirty="0"/>
          </a:p>
        </p:txBody>
      </p:sp>
      <p:sp>
        <p:nvSpPr>
          <p:cNvPr id="21" name="Shape 19"/>
          <p:cNvSpPr/>
          <p:nvPr/>
        </p:nvSpPr>
        <p:spPr>
          <a:xfrm>
            <a:off x="713232" y="4568952"/>
            <a:ext cx="329184" cy="329184"/>
          </a:xfrm>
          <a:prstGeom prst="roundRect">
            <a:avLst>
              <a:gd name="adj" fmla="val 16667"/>
            </a:avLst>
          </a:prstGeom>
          <a:solidFill>
            <a:srgbClr val="13315C"/>
          </a:solidFill>
          <a:ln/>
        </p:spPr>
      </p:sp>
      <p:sp>
        <p:nvSpPr>
          <p:cNvPr id="22" name="Text 20"/>
          <p:cNvSpPr/>
          <p:nvPr/>
        </p:nvSpPr>
        <p:spPr>
          <a:xfrm>
            <a:off x="713232" y="456895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p:nvPr/>
        </p:nvSpPr>
        <p:spPr>
          <a:xfrm>
            <a:off x="1207008" y="4437888"/>
            <a:ext cx="10296144" cy="59131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Hỗ trợ nghiên cứu y sinh và phân tích dữ liệu gen quy mô lớn</a:t>
            </a:r>
            <a:endParaRPr lang="en-US" sz="1600" dirty="0"/>
          </a:p>
        </p:txBody>
      </p:sp>
      <p:sp>
        <p:nvSpPr>
          <p:cNvPr id="24" name="Shape 22"/>
          <p:cNvSpPr/>
          <p:nvPr/>
        </p:nvSpPr>
        <p:spPr>
          <a:xfrm>
            <a:off x="685800" y="5193792"/>
            <a:ext cx="10835640" cy="1024128"/>
          </a:xfrm>
          <a:prstGeom prst="roundRect">
            <a:avLst>
              <a:gd name="adj" fmla="val 7143"/>
            </a:avLst>
          </a:prstGeom>
          <a:solidFill>
            <a:srgbClr val="FBF1DA"/>
          </a:solidFill>
          <a:ln w="12700">
            <a:solidFill>
              <a:srgbClr val="E2A233"/>
            </a:solidFill>
            <a:prstDash val="solid"/>
          </a:ln>
          <a:effectLst>
            <a:outerShdw sx="100000" sy="100000" kx="0" ky="0" algn="bl" rotWithShape="0" blurRad="76200" dist="25400" dir="5400000">
              <a:srgbClr val="9FB1C4">
                <a:alpha val="32000"/>
              </a:srgbClr>
            </a:outerShdw>
          </a:effectLst>
        </p:spPr>
      </p:sp>
      <p:sp>
        <p:nvSpPr>
          <p:cNvPr id="25" name="Text 23"/>
          <p:cNvSpPr/>
          <p:nvPr/>
        </p:nvSpPr>
        <p:spPr>
          <a:xfrm>
            <a:off x="932688" y="5312664"/>
            <a:ext cx="10332720" cy="274320"/>
          </a:xfrm>
          <a:prstGeom prst="rect">
            <a:avLst/>
          </a:prstGeom>
          <a:noFill/>
          <a:ln/>
        </p:spPr>
        <p:txBody>
          <a:bodyPr wrap="square" rtlCol="0" anchor="ctr"/>
          <a:lstStyle/>
          <a:p>
            <a:pPr indent="0" marL="0">
              <a:buNone/>
            </a:pPr>
            <a:r>
              <a:rPr lang="en-US" sz="1200" b="1" spc="100" kern="0" dirty="0">
                <a:solidFill>
                  <a:srgbClr val="C1801F"/>
                </a:solidFill>
                <a:latin typeface="Calibri" pitchFamily="34" charset="0"/>
                <a:ea typeface="Calibri" pitchFamily="34" charset="-122"/>
                <a:cs typeface="Calibri" pitchFamily="34" charset="-120"/>
              </a:rPr>
              <a:t>VÍ DỤ</a:t>
            </a:r>
            <a:endParaRPr lang="en-US" sz="1200" dirty="0"/>
          </a:p>
        </p:txBody>
      </p:sp>
      <p:sp>
        <p:nvSpPr>
          <p:cNvPr id="26" name="Text 24"/>
          <p:cNvSpPr/>
          <p:nvPr/>
        </p:nvSpPr>
        <p:spPr>
          <a:xfrm>
            <a:off x="932688" y="5596128"/>
            <a:ext cx="10332720" cy="53035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SNOMED CT có hơn 350.000 khái niệm lâm sàng, dùng tại hơn 80 quốc gia.</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4  ·  ỨNG DỤNG THỰC TẾ</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Thương mại điện tử &amp; schema.org</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35</a:t>
            </a:r>
            <a:endParaRPr lang="en-US" sz="1100" dirty="0"/>
          </a:p>
        </p:txBody>
      </p:sp>
      <p:sp>
        <p:nvSpPr>
          <p:cNvPr id="6" name="Shape 4"/>
          <p:cNvSpPr/>
          <p:nvPr/>
        </p:nvSpPr>
        <p:spPr>
          <a:xfrm>
            <a:off x="713232" y="1715262"/>
            <a:ext cx="329184" cy="329184"/>
          </a:xfrm>
          <a:prstGeom prst="roundRect">
            <a:avLst>
              <a:gd name="adj" fmla="val 16667"/>
            </a:avLst>
          </a:prstGeom>
          <a:solidFill>
            <a:srgbClr val="13315C"/>
          </a:solidFill>
          <a:ln/>
        </p:spPr>
      </p:sp>
      <p:sp>
        <p:nvSpPr>
          <p:cNvPr id="7" name="Text 5"/>
          <p:cNvSpPr/>
          <p:nvPr/>
        </p:nvSpPr>
        <p:spPr>
          <a:xfrm>
            <a:off x="713232" y="171526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schema.org cung cấp từ vựng đánh dấu dữ liệu có cấu trúc</a:t>
            </a:r>
            <a:endParaRPr lang="en-US" sz="1600" dirty="0"/>
          </a:p>
        </p:txBody>
      </p:sp>
      <p:sp>
        <p:nvSpPr>
          <p:cNvPr id="9" name="Shape 7"/>
          <p:cNvSpPr/>
          <p:nvPr/>
        </p:nvSpPr>
        <p:spPr>
          <a:xfrm>
            <a:off x="713232" y="2512314"/>
            <a:ext cx="329184" cy="329184"/>
          </a:xfrm>
          <a:prstGeom prst="roundRect">
            <a:avLst>
              <a:gd name="adj" fmla="val 16667"/>
            </a:avLst>
          </a:prstGeom>
          <a:solidFill>
            <a:srgbClr val="13315C"/>
          </a:solidFill>
          <a:ln/>
        </p:spPr>
      </p:sp>
      <p:sp>
        <p:nvSpPr>
          <p:cNvPr id="10" name="Text 8"/>
          <p:cNvSpPr/>
          <p:nvPr/>
        </p:nvSpPr>
        <p:spPr>
          <a:xfrm>
            <a:off x="713232" y="251231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278380"/>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Đánh dấu Product, Offer, AggregateRating mô tả sản phẩm và giá</a:t>
            </a:r>
            <a:endParaRPr lang="en-US" sz="1600" dirty="0"/>
          </a:p>
        </p:txBody>
      </p:sp>
      <p:sp>
        <p:nvSpPr>
          <p:cNvPr id="12" name="Shape 10"/>
          <p:cNvSpPr/>
          <p:nvPr/>
        </p:nvSpPr>
        <p:spPr>
          <a:xfrm>
            <a:off x="713232" y="3309366"/>
            <a:ext cx="329184" cy="329184"/>
          </a:xfrm>
          <a:prstGeom prst="roundRect">
            <a:avLst>
              <a:gd name="adj" fmla="val 16667"/>
            </a:avLst>
          </a:prstGeom>
          <a:solidFill>
            <a:srgbClr val="13315C"/>
          </a:solidFill>
          <a:ln/>
        </p:spPr>
      </p:sp>
      <p:sp>
        <p:nvSpPr>
          <p:cNvPr id="13" name="Text 11"/>
          <p:cNvSpPr/>
          <p:nvPr/>
        </p:nvSpPr>
        <p:spPr>
          <a:xfrm>
            <a:off x="713232" y="330936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3075432"/>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Google dùng dữ liệu này tạo rich results: sao đánh giá, giá bán</a:t>
            </a:r>
            <a:endParaRPr lang="en-US" sz="1600" dirty="0"/>
          </a:p>
        </p:txBody>
      </p:sp>
      <p:sp>
        <p:nvSpPr>
          <p:cNvPr id="15" name="Shape 13"/>
          <p:cNvSpPr/>
          <p:nvPr/>
        </p:nvSpPr>
        <p:spPr>
          <a:xfrm>
            <a:off x="713232" y="4106418"/>
            <a:ext cx="329184" cy="329184"/>
          </a:xfrm>
          <a:prstGeom prst="roundRect">
            <a:avLst>
              <a:gd name="adj" fmla="val 16667"/>
            </a:avLst>
          </a:prstGeom>
          <a:solidFill>
            <a:srgbClr val="13315C"/>
          </a:solidFill>
          <a:ln/>
        </p:spPr>
      </p:sp>
      <p:sp>
        <p:nvSpPr>
          <p:cNvPr id="16" name="Text 14"/>
          <p:cNvSpPr/>
          <p:nvPr/>
        </p:nvSpPr>
        <p:spPr>
          <a:xfrm>
            <a:off x="713232" y="410641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3872484"/>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GoodRelations là ontology chuyên biệt cho thương mại điện tử</a:t>
            </a:r>
            <a:endParaRPr lang="en-US" sz="1600" dirty="0"/>
          </a:p>
        </p:txBody>
      </p:sp>
      <p:sp>
        <p:nvSpPr>
          <p:cNvPr id="18" name="Shape 16"/>
          <p:cNvSpPr/>
          <p:nvPr/>
        </p:nvSpPr>
        <p:spPr>
          <a:xfrm>
            <a:off x="713232" y="4903470"/>
            <a:ext cx="329184" cy="329184"/>
          </a:xfrm>
          <a:prstGeom prst="roundRect">
            <a:avLst>
              <a:gd name="adj" fmla="val 16667"/>
            </a:avLst>
          </a:prstGeom>
          <a:solidFill>
            <a:srgbClr val="13315C"/>
          </a:solidFill>
          <a:ln/>
        </p:spPr>
      </p:sp>
      <p:sp>
        <p:nvSpPr>
          <p:cNvPr id="19" name="Text 17"/>
          <p:cNvSpPr/>
          <p:nvPr/>
        </p:nvSpPr>
        <p:spPr>
          <a:xfrm>
            <a:off x="713232" y="490347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07008" y="4669536"/>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Dữ liệu có cấu trúc giúp máy hiểu quan hệ sản phẩm, thương hiệu</a:t>
            </a:r>
            <a:endParaRPr lang="en-US" sz="1600" dirty="0"/>
          </a:p>
        </p:txBody>
      </p:sp>
      <p:sp>
        <p:nvSpPr>
          <p:cNvPr id="21" name="Shape 19"/>
          <p:cNvSpPr/>
          <p:nvPr/>
        </p:nvSpPr>
        <p:spPr>
          <a:xfrm>
            <a:off x="713232" y="5700522"/>
            <a:ext cx="329184" cy="329184"/>
          </a:xfrm>
          <a:prstGeom prst="roundRect">
            <a:avLst>
              <a:gd name="adj" fmla="val 16667"/>
            </a:avLst>
          </a:prstGeom>
          <a:solidFill>
            <a:srgbClr val="13315C"/>
          </a:solidFill>
          <a:ln/>
        </p:spPr>
      </p:sp>
      <p:sp>
        <p:nvSpPr>
          <p:cNvPr id="22" name="Text 20"/>
          <p:cNvSpPr/>
          <p:nvPr/>
        </p:nvSpPr>
        <p:spPr>
          <a:xfrm>
            <a:off x="713232" y="570052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p:nvPr/>
        </p:nvSpPr>
        <p:spPr>
          <a:xfrm>
            <a:off x="1207008" y="5466588"/>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Hỗ trợ hệ gợi ý sản phẩm liên quan, sản phẩm tương tự</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4  ·  ỨNG DỤNG THỰC TẾ</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Trí tuệ nhân tạo &amp; Xử lý ngôn ngữ tự nhiên</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36</a:t>
            </a:r>
            <a:endParaRPr lang="en-US" sz="1100" dirty="0"/>
          </a:p>
        </p:txBody>
      </p:sp>
      <p:sp>
        <p:nvSpPr>
          <p:cNvPr id="6" name="Shape 4"/>
          <p:cNvSpPr/>
          <p:nvPr/>
        </p:nvSpPr>
        <p:spPr>
          <a:xfrm>
            <a:off x="713232" y="1715262"/>
            <a:ext cx="329184" cy="329184"/>
          </a:xfrm>
          <a:prstGeom prst="roundRect">
            <a:avLst>
              <a:gd name="adj" fmla="val 16667"/>
            </a:avLst>
          </a:prstGeom>
          <a:solidFill>
            <a:srgbClr val="13315C"/>
          </a:solidFill>
          <a:ln/>
        </p:spPr>
      </p:sp>
      <p:sp>
        <p:nvSpPr>
          <p:cNvPr id="7" name="Text 5"/>
          <p:cNvSpPr/>
          <p:nvPr/>
        </p:nvSpPr>
        <p:spPr>
          <a:xfrm>
            <a:off x="713232" y="171526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Ontology cung cấp tri thức nền (background knowledge) cho hệ thống AI</a:t>
            </a:r>
            <a:endParaRPr lang="en-US" sz="1600" dirty="0"/>
          </a:p>
        </p:txBody>
      </p:sp>
      <p:sp>
        <p:nvSpPr>
          <p:cNvPr id="9" name="Shape 7"/>
          <p:cNvSpPr/>
          <p:nvPr/>
        </p:nvSpPr>
        <p:spPr>
          <a:xfrm>
            <a:off x="713232" y="2512314"/>
            <a:ext cx="329184" cy="329184"/>
          </a:xfrm>
          <a:prstGeom prst="roundRect">
            <a:avLst>
              <a:gd name="adj" fmla="val 16667"/>
            </a:avLst>
          </a:prstGeom>
          <a:solidFill>
            <a:srgbClr val="13315C"/>
          </a:solidFill>
          <a:ln/>
        </p:spPr>
      </p:sp>
      <p:sp>
        <p:nvSpPr>
          <p:cNvPr id="10" name="Text 8"/>
          <p:cNvSpPr/>
          <p:nvPr/>
        </p:nvSpPr>
        <p:spPr>
          <a:xfrm>
            <a:off x="713232" y="251231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278380"/>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WordNet giúp gỡ nhập nhằng nghĩa của từ trong văn bản</a:t>
            </a:r>
            <a:endParaRPr lang="en-US" sz="1600" dirty="0"/>
          </a:p>
        </p:txBody>
      </p:sp>
      <p:sp>
        <p:nvSpPr>
          <p:cNvPr id="12" name="Shape 10"/>
          <p:cNvSpPr/>
          <p:nvPr/>
        </p:nvSpPr>
        <p:spPr>
          <a:xfrm>
            <a:off x="713232" y="3309366"/>
            <a:ext cx="329184" cy="329184"/>
          </a:xfrm>
          <a:prstGeom prst="roundRect">
            <a:avLst>
              <a:gd name="adj" fmla="val 16667"/>
            </a:avLst>
          </a:prstGeom>
          <a:solidFill>
            <a:srgbClr val="13315C"/>
          </a:solidFill>
          <a:ln/>
        </p:spPr>
      </p:sp>
      <p:sp>
        <p:nvSpPr>
          <p:cNvPr id="13" name="Text 11"/>
          <p:cNvSpPr/>
          <p:nvPr/>
        </p:nvSpPr>
        <p:spPr>
          <a:xfrm>
            <a:off x="713232" y="330936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3075432"/>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Hệ chuyên gia suy luận dựa trên luật và ontology miền</a:t>
            </a:r>
            <a:endParaRPr lang="en-US" sz="1600" dirty="0"/>
          </a:p>
        </p:txBody>
      </p:sp>
      <p:sp>
        <p:nvSpPr>
          <p:cNvPr id="15" name="Shape 13"/>
          <p:cNvSpPr/>
          <p:nvPr/>
        </p:nvSpPr>
        <p:spPr>
          <a:xfrm>
            <a:off x="713232" y="4106418"/>
            <a:ext cx="329184" cy="329184"/>
          </a:xfrm>
          <a:prstGeom prst="roundRect">
            <a:avLst>
              <a:gd name="adj" fmla="val 16667"/>
            </a:avLst>
          </a:prstGeom>
          <a:solidFill>
            <a:srgbClr val="13315C"/>
          </a:solidFill>
          <a:ln/>
        </p:spPr>
      </p:sp>
      <p:sp>
        <p:nvSpPr>
          <p:cNvPr id="16" name="Text 14"/>
          <p:cNvSpPr/>
          <p:nvPr/>
        </p:nvSpPr>
        <p:spPr>
          <a:xfrm>
            <a:off x="713232" y="410641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3872484"/>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Chatbot hiểu ngữ cảnh nhờ ontology miền (domain ontology) cụ thể</a:t>
            </a:r>
            <a:endParaRPr lang="en-US" sz="1600" dirty="0"/>
          </a:p>
        </p:txBody>
      </p:sp>
      <p:sp>
        <p:nvSpPr>
          <p:cNvPr id="18" name="Shape 16"/>
          <p:cNvSpPr/>
          <p:nvPr/>
        </p:nvSpPr>
        <p:spPr>
          <a:xfrm>
            <a:off x="713232" y="4903470"/>
            <a:ext cx="329184" cy="329184"/>
          </a:xfrm>
          <a:prstGeom prst="roundRect">
            <a:avLst>
              <a:gd name="adj" fmla="val 16667"/>
            </a:avLst>
          </a:prstGeom>
          <a:solidFill>
            <a:srgbClr val="13315C"/>
          </a:solidFill>
          <a:ln/>
        </p:spPr>
      </p:sp>
      <p:sp>
        <p:nvSpPr>
          <p:cNvPr id="19" name="Text 17"/>
          <p:cNvSpPr/>
          <p:nvPr/>
        </p:nvSpPr>
        <p:spPr>
          <a:xfrm>
            <a:off x="713232" y="490347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07008" y="4669536"/>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Kết hợp Knowledge Graph với LLM giúp giảm hiện tượng ảo giác</a:t>
            </a:r>
            <a:endParaRPr lang="en-US" sz="1600" dirty="0"/>
          </a:p>
        </p:txBody>
      </p:sp>
      <p:sp>
        <p:nvSpPr>
          <p:cNvPr id="21" name="Shape 19"/>
          <p:cNvSpPr/>
          <p:nvPr/>
        </p:nvSpPr>
        <p:spPr>
          <a:xfrm>
            <a:off x="713232" y="5700522"/>
            <a:ext cx="329184" cy="329184"/>
          </a:xfrm>
          <a:prstGeom prst="roundRect">
            <a:avLst>
              <a:gd name="adj" fmla="val 16667"/>
            </a:avLst>
          </a:prstGeom>
          <a:solidFill>
            <a:srgbClr val="13315C"/>
          </a:solidFill>
          <a:ln/>
        </p:spPr>
      </p:sp>
      <p:sp>
        <p:nvSpPr>
          <p:cNvPr id="22" name="Text 20"/>
          <p:cNvSpPr/>
          <p:nvPr/>
        </p:nvSpPr>
        <p:spPr>
          <a:xfrm>
            <a:off x="713232" y="570052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p:nvPr/>
        </p:nvSpPr>
        <p:spPr>
          <a:xfrm>
            <a:off x="1207008" y="5466588"/>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RAG (Retrieval-Augmented Generation) tận dụng tri thức có cấu trúc</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4  ·  ỨNG DỤNG THỰC TẾ</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Hệ khuyến nghị (Recommender Systems)</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37</a:t>
            </a:r>
            <a:endParaRPr lang="en-US" sz="1100" dirty="0"/>
          </a:p>
        </p:txBody>
      </p:sp>
      <p:sp>
        <p:nvSpPr>
          <p:cNvPr id="6" name="Shape 4"/>
          <p:cNvSpPr/>
          <p:nvPr/>
        </p:nvSpPr>
        <p:spPr>
          <a:xfrm>
            <a:off x="713232" y="1715262"/>
            <a:ext cx="329184" cy="329184"/>
          </a:xfrm>
          <a:prstGeom prst="roundRect">
            <a:avLst>
              <a:gd name="adj" fmla="val 16667"/>
            </a:avLst>
          </a:prstGeom>
          <a:solidFill>
            <a:srgbClr val="13315C"/>
          </a:solidFill>
          <a:ln/>
        </p:spPr>
      </p:sp>
      <p:sp>
        <p:nvSpPr>
          <p:cNvPr id="7" name="Text 5"/>
          <p:cNvSpPr/>
          <p:nvPr/>
        </p:nvSpPr>
        <p:spPr>
          <a:xfrm>
            <a:off x="713232" y="171526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Khuyến nghị dựa trên tri thức (knowledge-based) dùng quan hệ ngữ nghĩa</a:t>
            </a:r>
            <a:endParaRPr lang="en-US" sz="1600" dirty="0"/>
          </a:p>
        </p:txBody>
      </p:sp>
      <p:sp>
        <p:nvSpPr>
          <p:cNvPr id="9" name="Shape 7"/>
          <p:cNvSpPr/>
          <p:nvPr/>
        </p:nvSpPr>
        <p:spPr>
          <a:xfrm>
            <a:off x="713232" y="2512314"/>
            <a:ext cx="329184" cy="329184"/>
          </a:xfrm>
          <a:prstGeom prst="roundRect">
            <a:avLst>
              <a:gd name="adj" fmla="val 16667"/>
            </a:avLst>
          </a:prstGeom>
          <a:solidFill>
            <a:srgbClr val="13315C"/>
          </a:solidFill>
          <a:ln/>
        </p:spPr>
      </p:sp>
      <p:sp>
        <p:nvSpPr>
          <p:cNvPr id="10" name="Text 8"/>
          <p:cNvSpPr/>
          <p:nvPr/>
        </p:nvSpPr>
        <p:spPr>
          <a:xfrm>
            <a:off x="713232" y="251231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278380"/>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Không chỉ dựa lịch sử người dùng như lọc cộng tác truyền thống</a:t>
            </a:r>
            <a:endParaRPr lang="en-US" sz="1600" dirty="0"/>
          </a:p>
        </p:txBody>
      </p:sp>
      <p:sp>
        <p:nvSpPr>
          <p:cNvPr id="12" name="Shape 10"/>
          <p:cNvSpPr/>
          <p:nvPr/>
        </p:nvSpPr>
        <p:spPr>
          <a:xfrm>
            <a:off x="713232" y="3309366"/>
            <a:ext cx="329184" cy="329184"/>
          </a:xfrm>
          <a:prstGeom prst="roundRect">
            <a:avLst>
              <a:gd name="adj" fmla="val 16667"/>
            </a:avLst>
          </a:prstGeom>
          <a:solidFill>
            <a:srgbClr val="13315C"/>
          </a:solidFill>
          <a:ln/>
        </p:spPr>
      </p:sp>
      <p:sp>
        <p:nvSpPr>
          <p:cNvPr id="13" name="Text 11"/>
          <p:cNvSpPr/>
          <p:nvPr/>
        </p:nvSpPr>
        <p:spPr>
          <a:xfrm>
            <a:off x="713232" y="330936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3075432"/>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Giảm vấn đề cold-start khi người dùng hoặc sản phẩm còn mới</a:t>
            </a:r>
            <a:endParaRPr lang="en-US" sz="1600" dirty="0"/>
          </a:p>
        </p:txBody>
      </p:sp>
      <p:sp>
        <p:nvSpPr>
          <p:cNvPr id="15" name="Shape 13"/>
          <p:cNvSpPr/>
          <p:nvPr/>
        </p:nvSpPr>
        <p:spPr>
          <a:xfrm>
            <a:off x="713232" y="4106418"/>
            <a:ext cx="329184" cy="329184"/>
          </a:xfrm>
          <a:prstGeom prst="roundRect">
            <a:avLst>
              <a:gd name="adj" fmla="val 16667"/>
            </a:avLst>
          </a:prstGeom>
          <a:solidFill>
            <a:srgbClr val="13315C"/>
          </a:solidFill>
          <a:ln/>
        </p:spPr>
      </p:sp>
      <p:sp>
        <p:nvSpPr>
          <p:cNvPr id="16" name="Text 14"/>
          <p:cNvSpPr/>
          <p:nvPr/>
        </p:nvSpPr>
        <p:spPr>
          <a:xfrm>
            <a:off x="713232" y="410641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3872484"/>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Giải thích được lý do gợi ý dựa trên thuộc tính chung</a:t>
            </a:r>
            <a:endParaRPr lang="en-US" sz="1600" dirty="0"/>
          </a:p>
        </p:txBody>
      </p:sp>
      <p:sp>
        <p:nvSpPr>
          <p:cNvPr id="18" name="Shape 16"/>
          <p:cNvSpPr/>
          <p:nvPr/>
        </p:nvSpPr>
        <p:spPr>
          <a:xfrm>
            <a:off x="713232" y="4903470"/>
            <a:ext cx="329184" cy="329184"/>
          </a:xfrm>
          <a:prstGeom prst="roundRect">
            <a:avLst>
              <a:gd name="adj" fmla="val 16667"/>
            </a:avLst>
          </a:prstGeom>
          <a:solidFill>
            <a:srgbClr val="13315C"/>
          </a:solidFill>
          <a:ln/>
        </p:spPr>
      </p:sp>
      <p:sp>
        <p:nvSpPr>
          <p:cNvPr id="19" name="Text 17"/>
          <p:cNvSpPr/>
          <p:nvPr/>
        </p:nvSpPr>
        <p:spPr>
          <a:xfrm>
            <a:off x="713232" y="490347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07008" y="4669536"/>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Gợi ý phim cùng đạo diễn, diễn viên, thể loại qua ontology phim</a:t>
            </a:r>
            <a:endParaRPr lang="en-US" sz="1600" dirty="0"/>
          </a:p>
        </p:txBody>
      </p:sp>
      <p:sp>
        <p:nvSpPr>
          <p:cNvPr id="21" name="Shape 19"/>
          <p:cNvSpPr/>
          <p:nvPr/>
        </p:nvSpPr>
        <p:spPr>
          <a:xfrm>
            <a:off x="713232" y="5700522"/>
            <a:ext cx="329184" cy="329184"/>
          </a:xfrm>
          <a:prstGeom prst="roundRect">
            <a:avLst>
              <a:gd name="adj" fmla="val 16667"/>
            </a:avLst>
          </a:prstGeom>
          <a:solidFill>
            <a:srgbClr val="13315C"/>
          </a:solidFill>
          <a:ln/>
        </p:spPr>
      </p:sp>
      <p:sp>
        <p:nvSpPr>
          <p:cNvPr id="22" name="Text 20"/>
          <p:cNvSpPr/>
          <p:nvPr/>
        </p:nvSpPr>
        <p:spPr>
          <a:xfrm>
            <a:off x="713232" y="570052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p:nvPr/>
        </p:nvSpPr>
        <p:spPr>
          <a:xfrm>
            <a:off x="1207008" y="5466588"/>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Gợi ý sách theo chủ đề, tác giả, thể loại liên quan</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4  ·  ỨNG DỤNG THỰC TẾ</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IoT &amp; Nhà thông minh</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38</a:t>
            </a:r>
            <a:endParaRPr lang="en-US" sz="1100" dirty="0"/>
          </a:p>
        </p:txBody>
      </p:sp>
      <p:sp>
        <p:nvSpPr>
          <p:cNvPr id="6" name="Shape 4"/>
          <p:cNvSpPr/>
          <p:nvPr/>
        </p:nvSpPr>
        <p:spPr>
          <a:xfrm>
            <a:off x="713232" y="1715262"/>
            <a:ext cx="329184" cy="329184"/>
          </a:xfrm>
          <a:prstGeom prst="roundRect">
            <a:avLst>
              <a:gd name="adj" fmla="val 16667"/>
            </a:avLst>
          </a:prstGeom>
          <a:solidFill>
            <a:srgbClr val="13315C"/>
          </a:solidFill>
          <a:ln/>
        </p:spPr>
      </p:sp>
      <p:sp>
        <p:nvSpPr>
          <p:cNvPr id="7" name="Text 5"/>
          <p:cNvSpPr/>
          <p:nvPr/>
        </p:nvSpPr>
        <p:spPr>
          <a:xfrm>
            <a:off x="713232" y="171526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SSN/SOSA mô tả cảm biến, phép quan trắc và thiết bị chấp hành</a:t>
            </a:r>
            <a:endParaRPr lang="en-US" sz="1600" dirty="0"/>
          </a:p>
        </p:txBody>
      </p:sp>
      <p:sp>
        <p:nvSpPr>
          <p:cNvPr id="9" name="Shape 7"/>
          <p:cNvSpPr/>
          <p:nvPr/>
        </p:nvSpPr>
        <p:spPr>
          <a:xfrm>
            <a:off x="713232" y="2512314"/>
            <a:ext cx="329184" cy="329184"/>
          </a:xfrm>
          <a:prstGeom prst="roundRect">
            <a:avLst>
              <a:gd name="adj" fmla="val 16667"/>
            </a:avLst>
          </a:prstGeom>
          <a:solidFill>
            <a:srgbClr val="13315C"/>
          </a:solidFill>
          <a:ln/>
        </p:spPr>
      </p:sp>
      <p:sp>
        <p:nvSpPr>
          <p:cNvPr id="10" name="Text 8"/>
          <p:cNvSpPr/>
          <p:nvPr/>
        </p:nvSpPr>
        <p:spPr>
          <a:xfrm>
            <a:off x="713232" y="251231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278380"/>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SSN: Semantic Sensor Network; SOSA: Sensor, Observation, Sample, Actuator</a:t>
            </a:r>
            <a:endParaRPr lang="en-US" sz="1600" dirty="0"/>
          </a:p>
        </p:txBody>
      </p:sp>
      <p:sp>
        <p:nvSpPr>
          <p:cNvPr id="12" name="Shape 10"/>
          <p:cNvSpPr/>
          <p:nvPr/>
        </p:nvSpPr>
        <p:spPr>
          <a:xfrm>
            <a:off x="713232" y="3309366"/>
            <a:ext cx="329184" cy="329184"/>
          </a:xfrm>
          <a:prstGeom prst="roundRect">
            <a:avLst>
              <a:gd name="adj" fmla="val 16667"/>
            </a:avLst>
          </a:prstGeom>
          <a:solidFill>
            <a:srgbClr val="13315C"/>
          </a:solidFill>
          <a:ln/>
        </p:spPr>
      </p:sp>
      <p:sp>
        <p:nvSpPr>
          <p:cNvPr id="13" name="Text 11"/>
          <p:cNvSpPr/>
          <p:nvPr/>
        </p:nvSpPr>
        <p:spPr>
          <a:xfrm>
            <a:off x="713232" y="330936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3075432"/>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Tích hợp thiết bị nhiều hãng nhờ mô hình dữ liệu chung</a:t>
            </a:r>
            <a:endParaRPr lang="en-US" sz="1600" dirty="0"/>
          </a:p>
        </p:txBody>
      </p:sp>
      <p:sp>
        <p:nvSpPr>
          <p:cNvPr id="15" name="Shape 13"/>
          <p:cNvSpPr/>
          <p:nvPr/>
        </p:nvSpPr>
        <p:spPr>
          <a:xfrm>
            <a:off x="713232" y="4106418"/>
            <a:ext cx="329184" cy="329184"/>
          </a:xfrm>
          <a:prstGeom prst="roundRect">
            <a:avLst>
              <a:gd name="adj" fmla="val 16667"/>
            </a:avLst>
          </a:prstGeom>
          <a:solidFill>
            <a:srgbClr val="13315C"/>
          </a:solidFill>
          <a:ln/>
        </p:spPr>
      </p:sp>
      <p:sp>
        <p:nvSpPr>
          <p:cNvPr id="16" name="Text 14"/>
          <p:cNvSpPr/>
          <p:nvPr/>
        </p:nvSpPr>
        <p:spPr>
          <a:xfrm>
            <a:off x="713232" y="410641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3872484"/>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Suy luận theo ngữ cảnh: nhiệt độ, ánh sáng, sự hiện diện</a:t>
            </a:r>
            <a:endParaRPr lang="en-US" sz="1600" dirty="0"/>
          </a:p>
        </p:txBody>
      </p:sp>
      <p:sp>
        <p:nvSpPr>
          <p:cNvPr id="18" name="Shape 16"/>
          <p:cNvSpPr/>
          <p:nvPr/>
        </p:nvSpPr>
        <p:spPr>
          <a:xfrm>
            <a:off x="713232" y="4903470"/>
            <a:ext cx="329184" cy="329184"/>
          </a:xfrm>
          <a:prstGeom prst="roundRect">
            <a:avLst>
              <a:gd name="adj" fmla="val 16667"/>
            </a:avLst>
          </a:prstGeom>
          <a:solidFill>
            <a:srgbClr val="13315C"/>
          </a:solidFill>
          <a:ln/>
        </p:spPr>
      </p:sp>
      <p:sp>
        <p:nvSpPr>
          <p:cNvPr id="19" name="Text 17"/>
          <p:cNvSpPr/>
          <p:nvPr/>
        </p:nvSpPr>
        <p:spPr>
          <a:xfrm>
            <a:off x="713232" y="490347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07008" y="4669536"/>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Tự động hoá thông minh: bật đèn, điều hoà theo tình huống</a:t>
            </a:r>
            <a:endParaRPr lang="en-US" sz="1600" dirty="0"/>
          </a:p>
        </p:txBody>
      </p:sp>
      <p:sp>
        <p:nvSpPr>
          <p:cNvPr id="21" name="Shape 19"/>
          <p:cNvSpPr/>
          <p:nvPr/>
        </p:nvSpPr>
        <p:spPr>
          <a:xfrm>
            <a:off x="713232" y="5700522"/>
            <a:ext cx="329184" cy="329184"/>
          </a:xfrm>
          <a:prstGeom prst="roundRect">
            <a:avLst>
              <a:gd name="adj" fmla="val 16667"/>
            </a:avLst>
          </a:prstGeom>
          <a:solidFill>
            <a:srgbClr val="13315C"/>
          </a:solidFill>
          <a:ln/>
        </p:spPr>
      </p:sp>
      <p:sp>
        <p:nvSpPr>
          <p:cNvPr id="22" name="Text 20"/>
          <p:cNvSpPr/>
          <p:nvPr/>
        </p:nvSpPr>
        <p:spPr>
          <a:xfrm>
            <a:off x="713232" y="570052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p:nvPr/>
        </p:nvSpPr>
        <p:spPr>
          <a:xfrm>
            <a:off x="1207008" y="5466588"/>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Chuẩn chung giúp thiết bị mới dễ tích hợp vào hệ thống</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4  ·  ỨNG DỤNG THỰC TẾ</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Quản lý tri thức doanh nghiệp</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39</a:t>
            </a:r>
            <a:endParaRPr lang="en-US" sz="1100" dirty="0"/>
          </a:p>
        </p:txBody>
      </p:sp>
      <p:sp>
        <p:nvSpPr>
          <p:cNvPr id="6" name="Shape 4"/>
          <p:cNvSpPr/>
          <p:nvPr/>
        </p:nvSpPr>
        <p:spPr>
          <a:xfrm>
            <a:off x="713232" y="1715262"/>
            <a:ext cx="329184" cy="329184"/>
          </a:xfrm>
          <a:prstGeom prst="roundRect">
            <a:avLst>
              <a:gd name="adj" fmla="val 16667"/>
            </a:avLst>
          </a:prstGeom>
          <a:solidFill>
            <a:srgbClr val="13315C"/>
          </a:solidFill>
          <a:ln/>
        </p:spPr>
      </p:sp>
      <p:sp>
        <p:nvSpPr>
          <p:cNvPr id="7" name="Text 5"/>
          <p:cNvSpPr/>
          <p:nvPr/>
        </p:nvSpPr>
        <p:spPr>
          <a:xfrm>
            <a:off x="713232" y="171526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Enterprise Knowledge Graph biểu diễn tri thức của toàn tổ chức</a:t>
            </a:r>
            <a:endParaRPr lang="en-US" sz="1600" dirty="0"/>
          </a:p>
        </p:txBody>
      </p:sp>
      <p:sp>
        <p:nvSpPr>
          <p:cNvPr id="9" name="Shape 7"/>
          <p:cNvSpPr/>
          <p:nvPr/>
        </p:nvSpPr>
        <p:spPr>
          <a:xfrm>
            <a:off x="713232" y="2512314"/>
            <a:ext cx="329184" cy="329184"/>
          </a:xfrm>
          <a:prstGeom prst="roundRect">
            <a:avLst>
              <a:gd name="adj" fmla="val 16667"/>
            </a:avLst>
          </a:prstGeom>
          <a:solidFill>
            <a:srgbClr val="13315C"/>
          </a:solidFill>
          <a:ln/>
        </p:spPr>
      </p:sp>
      <p:sp>
        <p:nvSpPr>
          <p:cNvPr id="10" name="Text 8"/>
          <p:cNvSpPr/>
          <p:nvPr/>
        </p:nvSpPr>
        <p:spPr>
          <a:xfrm>
            <a:off x="713232" y="251231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278380"/>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Tích hợp dữ liệu rời rạc từ nhiều phòng ban, hệ thống khác nhau</a:t>
            </a:r>
            <a:endParaRPr lang="en-US" sz="1600" dirty="0"/>
          </a:p>
        </p:txBody>
      </p:sp>
      <p:sp>
        <p:nvSpPr>
          <p:cNvPr id="12" name="Shape 10"/>
          <p:cNvSpPr/>
          <p:nvPr/>
        </p:nvSpPr>
        <p:spPr>
          <a:xfrm>
            <a:off x="713232" y="3309366"/>
            <a:ext cx="329184" cy="329184"/>
          </a:xfrm>
          <a:prstGeom prst="roundRect">
            <a:avLst>
              <a:gd name="adj" fmla="val 16667"/>
            </a:avLst>
          </a:prstGeom>
          <a:solidFill>
            <a:srgbClr val="13315C"/>
          </a:solidFill>
          <a:ln/>
        </p:spPr>
      </p:sp>
      <p:sp>
        <p:nvSpPr>
          <p:cNvPr id="13" name="Text 11"/>
          <p:cNvSpPr/>
          <p:nvPr/>
        </p:nvSpPr>
        <p:spPr>
          <a:xfrm>
            <a:off x="713232" y="330936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3075432"/>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Tìm kiếm nội bộ thông minh theo ngữ nghĩa, không chỉ từ khoá</a:t>
            </a:r>
            <a:endParaRPr lang="en-US" sz="1600" dirty="0"/>
          </a:p>
        </p:txBody>
      </p:sp>
      <p:sp>
        <p:nvSpPr>
          <p:cNvPr id="15" name="Shape 13"/>
          <p:cNvSpPr/>
          <p:nvPr/>
        </p:nvSpPr>
        <p:spPr>
          <a:xfrm>
            <a:off x="713232" y="4106418"/>
            <a:ext cx="329184" cy="329184"/>
          </a:xfrm>
          <a:prstGeom prst="roundRect">
            <a:avLst>
              <a:gd name="adj" fmla="val 16667"/>
            </a:avLst>
          </a:prstGeom>
          <a:solidFill>
            <a:srgbClr val="13315C"/>
          </a:solidFill>
          <a:ln/>
        </p:spPr>
      </p:sp>
      <p:sp>
        <p:nvSpPr>
          <p:cNvPr id="16" name="Text 14"/>
          <p:cNvSpPr/>
          <p:nvPr/>
        </p:nvSpPr>
        <p:spPr>
          <a:xfrm>
            <a:off x="713232" y="410641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3872484"/>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Hỗ trợ ra quyết định dựa trên tri thức được liên kết đầy đủ</a:t>
            </a:r>
            <a:endParaRPr lang="en-US" sz="1600" dirty="0"/>
          </a:p>
        </p:txBody>
      </p:sp>
      <p:sp>
        <p:nvSpPr>
          <p:cNvPr id="18" name="Shape 16"/>
          <p:cNvSpPr/>
          <p:nvPr/>
        </p:nvSpPr>
        <p:spPr>
          <a:xfrm>
            <a:off x="713232" y="4903470"/>
            <a:ext cx="329184" cy="329184"/>
          </a:xfrm>
          <a:prstGeom prst="roundRect">
            <a:avLst>
              <a:gd name="adj" fmla="val 16667"/>
            </a:avLst>
          </a:prstGeom>
          <a:solidFill>
            <a:srgbClr val="13315C"/>
          </a:solidFill>
          <a:ln/>
        </p:spPr>
      </p:sp>
      <p:sp>
        <p:nvSpPr>
          <p:cNvPr id="19" name="Text 17"/>
          <p:cNvSpPr/>
          <p:nvPr/>
        </p:nvSpPr>
        <p:spPr>
          <a:xfrm>
            <a:off x="713232" y="490347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07008" y="4669536"/>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Hỗ trợ tuân thủ quy định (compliance) và truy vết nguồn dữ liệu</a:t>
            </a:r>
            <a:endParaRPr lang="en-US" sz="1600" dirty="0"/>
          </a:p>
        </p:txBody>
      </p:sp>
      <p:sp>
        <p:nvSpPr>
          <p:cNvPr id="21" name="Shape 19"/>
          <p:cNvSpPr/>
          <p:nvPr/>
        </p:nvSpPr>
        <p:spPr>
          <a:xfrm>
            <a:off x="713232" y="5700522"/>
            <a:ext cx="329184" cy="329184"/>
          </a:xfrm>
          <a:prstGeom prst="roundRect">
            <a:avLst>
              <a:gd name="adj" fmla="val 16667"/>
            </a:avLst>
          </a:prstGeom>
          <a:solidFill>
            <a:srgbClr val="13315C"/>
          </a:solidFill>
          <a:ln/>
        </p:spPr>
      </p:sp>
      <p:sp>
        <p:nvSpPr>
          <p:cNvPr id="22" name="Text 20"/>
          <p:cNvSpPr/>
          <p:nvPr/>
        </p:nvSpPr>
        <p:spPr>
          <a:xfrm>
            <a:off x="713232" y="570052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p:nvPr/>
        </p:nvSpPr>
        <p:spPr>
          <a:xfrm>
            <a:off x="1207008" y="5466588"/>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Ví dụ: eBay, LinkedIn, Amazon xây Knowledge Graph nội bộ riêng</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4  ·  ỨNG DỤNG THỰC TẾ</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Tổng hợp ứng dụng theo lĩnh vực</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40</a:t>
            </a:r>
            <a:endParaRPr lang="en-US" sz="11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713232" y="1627632"/>
          <a:ext cx="10835640" cy="914400"/>
        </p:xfrm>
        <a:graphic>
          <a:graphicData uri="http://schemas.openxmlformats.org/drawingml/2006/table">
            <a:tbl>
              <a:tblPr/>
              <a:tblGrid>
                <a:gridCol w="2880360"/>
                <a:gridCol w="3977640"/>
                <a:gridCol w="3977640"/>
              </a:tblGrid>
              <a:tr h="45720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Lĩnh vực</a:t>
                      </a:r>
                      <a:endParaRPr lang="en-US" sz="15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13315C"/>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Ontology/Chuẩn tiêu biểu</a:t>
                      </a:r>
                      <a:endParaRPr lang="en-US" sz="15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13315C"/>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Lợi ích chính</a:t>
                      </a:r>
                      <a:endParaRPr lang="en-US" sz="15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13315C"/>
                    </a:solidFill>
                  </a:tcPr>
                </a:tc>
              </a:tr>
              <a:tr h="457200">
                <a:tc>
                  <a:txBody>
                    <a:bodyPr/>
                    <a:lstStyle/>
                    <a:p>
                      <a:pPr algn="l" indent="0" marL="0">
                        <a:buNone/>
                      </a:pPr>
                      <a:r>
                        <a:rPr lang="en-US" sz="1400" b="1" dirty="0">
                          <a:solidFill>
                            <a:srgbClr val="1F2D3A"/>
                          </a:solidFill>
                          <a:latin typeface="Calibri" pitchFamily="34" charset="0"/>
                          <a:ea typeface="Calibri" pitchFamily="34" charset="-122"/>
                          <a:cs typeface="Calibri" pitchFamily="34" charset="-120"/>
                        </a:rPr>
                        <a:t>Web ngữ nghĩa</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RDF, schema.org</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Dữ liệu liên kết</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1F2D3A"/>
                          </a:solidFill>
                          <a:latin typeface="Calibri" pitchFamily="34" charset="0"/>
                          <a:ea typeface="Calibri" pitchFamily="34" charset="-122"/>
                          <a:cs typeface="Calibri" pitchFamily="34" charset="-120"/>
                        </a:rPr>
                        <a:t>Y sinh</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EAF2FB"/>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SNOMED CT, Gene Ontology</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EAF2FB"/>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Chuẩn hoá thuật ngữ</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EAF2FB"/>
                    </a:solidFill>
                  </a:tcPr>
                </a:tc>
              </a:tr>
              <a:tr h="457200">
                <a:tc>
                  <a:txBody>
                    <a:bodyPr/>
                    <a:lstStyle/>
                    <a:p>
                      <a:pPr algn="l" indent="0" marL="0">
                        <a:buNone/>
                      </a:pPr>
                      <a:r>
                        <a:rPr lang="en-US" sz="1400" b="1" dirty="0">
                          <a:solidFill>
                            <a:srgbClr val="1F2D3A"/>
                          </a:solidFill>
                          <a:latin typeface="Calibri" pitchFamily="34" charset="0"/>
                          <a:ea typeface="Calibri" pitchFamily="34" charset="-122"/>
                          <a:cs typeface="Calibri" pitchFamily="34" charset="-120"/>
                        </a:rPr>
                        <a:t>Thương mại điện tử</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GoodRelations</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Tìm kiếm giàu, gợi ý</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1F2D3A"/>
                          </a:solidFill>
                          <a:latin typeface="Calibri" pitchFamily="34" charset="0"/>
                          <a:ea typeface="Calibri" pitchFamily="34" charset="-122"/>
                          <a:cs typeface="Calibri" pitchFamily="34" charset="-120"/>
                        </a:rPr>
                        <a:t>IoT</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EAF2FB"/>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SSN/SOSA</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EAF2FB"/>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Tích hợp thiết bị</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EAF2FB"/>
                    </a:solidFill>
                  </a:tcPr>
                </a:tc>
              </a:tr>
              <a:tr h="457200">
                <a:tc>
                  <a:txBody>
                    <a:bodyPr/>
                    <a:lstStyle/>
                    <a:p>
                      <a:pPr algn="l" indent="0" marL="0">
                        <a:buNone/>
                      </a:pPr>
                      <a:r>
                        <a:rPr lang="en-US" sz="1400" b="1" dirty="0">
                          <a:solidFill>
                            <a:srgbClr val="1F2D3A"/>
                          </a:solidFill>
                          <a:latin typeface="Calibri" pitchFamily="34" charset="0"/>
                          <a:ea typeface="Calibri" pitchFamily="34" charset="-122"/>
                          <a:cs typeface="Calibri" pitchFamily="34" charset="-120"/>
                        </a:rPr>
                        <a:t>Doanh nghiệp</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Knowledge Graph</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D3A"/>
                          </a:solidFill>
                          <a:latin typeface="Calibri" pitchFamily="34" charset="0"/>
                          <a:ea typeface="Calibri" pitchFamily="34" charset="-122"/>
                          <a:cs typeface="Calibri" pitchFamily="34" charset="-120"/>
                        </a:rPr>
                        <a:t>Tích hợp tri thức</a:t>
                      </a:r>
                      <a:endParaRPr lang="en-US" sz="1400" dirty="0">
                        <a:latin typeface="Calibri" charset="0"/>
                        <a:ea typeface="Calibri" charset="0"/>
                        <a:cs typeface="Calibri" charset="0"/>
                      </a:endParaRPr>
                    </a:p>
                  </a:txBody>
                  <a:tcPr marL="76200" marR="76200" marT="50800" marB="50800" anchor="ctr">
                    <a:lnL w="12700" cap="flat" cmpd="sng" algn="ctr">
                      <a:solidFill>
                        <a:srgbClr val="CFDCEA"/>
                      </a:solidFill>
                      <a:prstDash val="solid"/>
                      <a:round/>
                      <a:headEnd type="none" w="med" len="med"/>
                      <a:tailEnd type="none" w="med" len="med"/>
                    </a:lnL>
                    <a:lnR w="12700" cap="flat" cmpd="sng" algn="ctr">
                      <a:solidFill>
                        <a:srgbClr val="CFDCEA"/>
                      </a:solidFill>
                      <a:prstDash val="solid"/>
                      <a:round/>
                      <a:headEnd type="none" w="med" len="med"/>
                      <a:tailEnd type="none" w="med" len="med"/>
                    </a:lnR>
                    <a:lnT w="12700" cap="flat" cmpd="sng" algn="ctr">
                      <a:solidFill>
                        <a:srgbClr val="CFDCEA"/>
                      </a:solidFill>
                      <a:prstDash val="solid"/>
                      <a:round/>
                      <a:headEnd type="none" w="med" len="med"/>
                      <a:tailEnd type="none" w="med" len="med"/>
                    </a:lnT>
                    <a:lnB w="12700" cap="flat" cmpd="sng" algn="ctr">
                      <a:solidFill>
                        <a:srgbClr val="CFDCEA"/>
                      </a:solidFill>
                      <a:prstDash val="solid"/>
                      <a:round/>
                      <a:headEnd type="none" w="med" len="med"/>
                      <a:tailEnd type="none" w="med" len="med"/>
                    </a:lnB>
                    <a:solidFill>
                      <a:srgbClr val="FFFFFF"/>
                    </a:solidFill>
                  </a:tcPr>
                </a:tc>
              </a:tr>
            </a:tbl>
          </a:graphicData>
        </a:graphic>
      </p:graphicFrame>
      <p:sp>
        <p:nvSpPr>
          <p:cNvPr id="7" name="Text 4"/>
          <p:cNvSpPr/>
          <p:nvPr/>
        </p:nvSpPr>
        <p:spPr>
          <a:xfrm>
            <a:off x="713232" y="5989320"/>
            <a:ext cx="10835640" cy="457200"/>
          </a:xfrm>
          <a:prstGeom prst="rect">
            <a:avLst/>
          </a:prstGeom>
          <a:noFill/>
          <a:ln/>
        </p:spPr>
        <p:txBody>
          <a:bodyPr wrap="square" rtlCol="0" anchor="ctr"/>
          <a:lstStyle/>
          <a:p>
            <a:pPr indent="0" marL="0">
              <a:buNone/>
            </a:pPr>
            <a:r>
              <a:rPr lang="en-US" sz="1300" i="1" dirty="0">
                <a:solidFill>
                  <a:srgbClr val="5C6B7B"/>
                </a:solidFill>
                <a:latin typeface="Calibri" pitchFamily="34" charset="0"/>
                <a:ea typeface="Calibri" pitchFamily="34" charset="-122"/>
                <a:cs typeface="Calibri" pitchFamily="34" charset="-120"/>
              </a:rPr>
              <a:t>Ontology len lỏi trong rất nhiều hệ thống bạn dùng hằng ngày.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5  ·  THỰC HÀNH &amp; TỔNG KẾT</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Phần thực hành: Hướng dẫn chung</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41</a:t>
            </a:r>
            <a:endParaRPr lang="en-US" sz="1100" dirty="0"/>
          </a:p>
        </p:txBody>
      </p:sp>
      <p:sp>
        <p:nvSpPr>
          <p:cNvPr id="6" name="Shape 4"/>
          <p:cNvSpPr/>
          <p:nvPr/>
        </p:nvSpPr>
        <p:spPr>
          <a:xfrm>
            <a:off x="713232" y="1760220"/>
            <a:ext cx="329184" cy="329184"/>
          </a:xfrm>
          <a:prstGeom prst="roundRect">
            <a:avLst>
              <a:gd name="adj" fmla="val 16667"/>
            </a:avLst>
          </a:prstGeom>
          <a:solidFill>
            <a:srgbClr val="13315C"/>
          </a:solidFill>
          <a:ln/>
        </p:spPr>
      </p:sp>
      <p:sp>
        <p:nvSpPr>
          <p:cNvPr id="7" name="Text 5"/>
          <p:cNvSpPr/>
          <p:nvPr/>
        </p:nvSpPr>
        <p:spPr>
          <a:xfrm>
            <a:off x="713232" y="176022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Gồm 5 bài tập tăng dần độ khó và 1 đồ án nhỏ tổng hợp cuối phần</a:t>
            </a:r>
            <a:endParaRPr lang="en-US" sz="1800" dirty="0"/>
          </a:p>
        </p:txBody>
      </p:sp>
      <p:sp>
        <p:nvSpPr>
          <p:cNvPr id="9" name="Shape 7"/>
          <p:cNvSpPr/>
          <p:nvPr/>
        </p:nvSpPr>
        <p:spPr>
          <a:xfrm>
            <a:off x="713232" y="2647188"/>
            <a:ext cx="329184" cy="329184"/>
          </a:xfrm>
          <a:prstGeom prst="roundRect">
            <a:avLst>
              <a:gd name="adj" fmla="val 16667"/>
            </a:avLst>
          </a:prstGeom>
          <a:solidFill>
            <a:srgbClr val="13315C"/>
          </a:solidFill>
          <a:ln/>
        </p:spPr>
      </p:sp>
      <p:sp>
        <p:nvSpPr>
          <p:cNvPr id="10" name="Text 8"/>
          <p:cNvSpPr/>
          <p:nvPr/>
        </p:nvSpPr>
        <p:spPr>
          <a:xfrm>
            <a:off x="713232" y="264718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368296"/>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Công cụ thực hành: phần mềm Protégé và trình soạn thảo văn bản thông thường</a:t>
            </a:r>
            <a:endParaRPr lang="en-US" sz="1800" dirty="0"/>
          </a:p>
        </p:txBody>
      </p:sp>
      <p:sp>
        <p:nvSpPr>
          <p:cNvPr id="12" name="Shape 10"/>
          <p:cNvSpPr/>
          <p:nvPr/>
        </p:nvSpPr>
        <p:spPr>
          <a:xfrm>
            <a:off x="713232" y="3534156"/>
            <a:ext cx="329184" cy="329184"/>
          </a:xfrm>
          <a:prstGeom prst="roundRect">
            <a:avLst>
              <a:gd name="adj" fmla="val 16667"/>
            </a:avLst>
          </a:prstGeom>
          <a:solidFill>
            <a:srgbClr val="13315C"/>
          </a:solidFill>
          <a:ln/>
        </p:spPr>
      </p:sp>
      <p:sp>
        <p:nvSpPr>
          <p:cNvPr id="13" name="Text 11"/>
          <p:cNvSpPr/>
          <p:nvPr/>
        </p:nvSpPr>
        <p:spPr>
          <a:xfrm>
            <a:off x="713232" y="353415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3255264"/>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Cách nộp bài: file .owl hoặc .ttl kèm theo một báo cáo ngắn mô tả cách làm</a:t>
            </a:r>
            <a:endParaRPr lang="en-US" sz="1800" dirty="0"/>
          </a:p>
        </p:txBody>
      </p:sp>
      <p:sp>
        <p:nvSpPr>
          <p:cNvPr id="15" name="Shape 13"/>
          <p:cNvSpPr/>
          <p:nvPr/>
        </p:nvSpPr>
        <p:spPr>
          <a:xfrm>
            <a:off x="713232" y="4421124"/>
            <a:ext cx="329184" cy="329184"/>
          </a:xfrm>
          <a:prstGeom prst="roundRect">
            <a:avLst>
              <a:gd name="adj" fmla="val 16667"/>
            </a:avLst>
          </a:prstGeom>
          <a:solidFill>
            <a:srgbClr val="13315C"/>
          </a:solidFill>
          <a:ln/>
        </p:spPr>
      </p:sp>
      <p:sp>
        <p:nvSpPr>
          <p:cNvPr id="16" name="Text 14"/>
          <p:cNvSpPr/>
          <p:nvPr/>
        </p:nvSpPr>
        <p:spPr>
          <a:xfrm>
            <a:off x="713232" y="442112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4142232"/>
            <a:ext cx="10296144" cy="886968"/>
          </a:xfrm>
          <a:prstGeom prst="rect">
            <a:avLst/>
          </a:prstGeom>
          <a:noFill/>
          <a:ln/>
        </p:spPr>
        <p:txBody>
          <a:bodyPr wrap="square" rtlCol="0" anchor="ctr">
            <a:normAutofit/>
          </a:bodyPr>
          <a:lstStyle/>
          <a:p>
            <a:pPr indent="0" marL="0">
              <a:buNone/>
            </a:pPr>
            <a:r>
              <a:rPr lang="en-US" sz="1800" dirty="0">
                <a:solidFill>
                  <a:srgbClr val="1F2D3A"/>
                </a:solidFill>
                <a:latin typeface="Calibri" pitchFamily="34" charset="0"/>
                <a:ea typeface="Calibri" pitchFamily="34" charset="-122"/>
                <a:cs typeface="Calibri" pitchFamily="34" charset="-120"/>
              </a:rPr>
              <a:t>Tiêu chí chấm điểm: tính đúng đắn của khái niệm và tính đầy đủ theo yêu cầu đề bài</a:t>
            </a:r>
            <a:endParaRPr lang="en-US" sz="1800" dirty="0"/>
          </a:p>
        </p:txBody>
      </p:sp>
      <p:sp>
        <p:nvSpPr>
          <p:cNvPr id="18" name="Shape 16"/>
          <p:cNvSpPr/>
          <p:nvPr/>
        </p:nvSpPr>
        <p:spPr>
          <a:xfrm>
            <a:off x="685800" y="5193792"/>
            <a:ext cx="10835640" cy="1024128"/>
          </a:xfrm>
          <a:prstGeom prst="roundRect">
            <a:avLst>
              <a:gd name="adj" fmla="val 7143"/>
            </a:avLst>
          </a:prstGeom>
          <a:solidFill>
            <a:srgbClr val="FBF1DA"/>
          </a:solidFill>
          <a:ln w="12700">
            <a:solidFill>
              <a:srgbClr val="E2A233"/>
            </a:solidFill>
            <a:prstDash val="solid"/>
          </a:ln>
          <a:effectLst>
            <a:outerShdw sx="100000" sy="100000" kx="0" ky="0" algn="bl" rotWithShape="0" blurRad="76200" dist="25400" dir="5400000">
              <a:srgbClr val="9FB1C4">
                <a:alpha val="32000"/>
              </a:srgbClr>
            </a:outerShdw>
          </a:effectLst>
        </p:spPr>
      </p:sp>
      <p:sp>
        <p:nvSpPr>
          <p:cNvPr id="19" name="Text 17"/>
          <p:cNvSpPr/>
          <p:nvPr/>
        </p:nvSpPr>
        <p:spPr>
          <a:xfrm>
            <a:off x="932688" y="5312664"/>
            <a:ext cx="10332720" cy="274320"/>
          </a:xfrm>
          <a:prstGeom prst="rect">
            <a:avLst/>
          </a:prstGeom>
          <a:noFill/>
          <a:ln/>
        </p:spPr>
        <p:txBody>
          <a:bodyPr wrap="square" rtlCol="0" anchor="ctr"/>
          <a:lstStyle/>
          <a:p>
            <a:pPr indent="0" marL="0">
              <a:buNone/>
            </a:pPr>
            <a:r>
              <a:rPr lang="en-US" sz="1200" b="1" spc="100" kern="0" dirty="0">
                <a:solidFill>
                  <a:srgbClr val="C1801F"/>
                </a:solidFill>
                <a:latin typeface="Calibri" pitchFamily="34" charset="0"/>
                <a:ea typeface="Calibri" pitchFamily="34" charset="-122"/>
                <a:cs typeface="Calibri" pitchFamily="34" charset="-120"/>
              </a:rPr>
              <a:t>GỢI Ý</a:t>
            </a:r>
            <a:endParaRPr lang="en-US" sz="1200" dirty="0"/>
          </a:p>
        </p:txBody>
      </p:sp>
      <p:sp>
        <p:nvSpPr>
          <p:cNvPr id="20" name="Text 18"/>
          <p:cNvSpPr/>
          <p:nvPr/>
        </p:nvSpPr>
        <p:spPr>
          <a:xfrm>
            <a:off x="932688" y="5596128"/>
            <a:ext cx="10332720" cy="53035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Làm theo nhóm 2-3 sinh viên để thảo luận.</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BÀI TẬP 1   ·   CƠ BẢN</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Nhận diện khái niệm</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42</a:t>
            </a:r>
            <a:endParaRPr lang="en-US" sz="1100" dirty="0"/>
          </a:p>
        </p:txBody>
      </p:sp>
      <p:sp>
        <p:nvSpPr>
          <p:cNvPr id="6" name="Shape 4"/>
          <p:cNvSpPr/>
          <p:nvPr/>
        </p:nvSpPr>
        <p:spPr>
          <a:xfrm>
            <a:off x="713232" y="1417320"/>
            <a:ext cx="10835640" cy="1170432"/>
          </a:xfrm>
          <a:prstGeom prst="roundRect">
            <a:avLst>
              <a:gd name="adj" fmla="val 6250"/>
            </a:avLst>
          </a:prstGeom>
          <a:solidFill>
            <a:srgbClr val="EAF2FB"/>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7" name="Text 5"/>
          <p:cNvSpPr/>
          <p:nvPr/>
        </p:nvSpPr>
        <p:spPr>
          <a:xfrm>
            <a:off x="932688" y="1527048"/>
            <a:ext cx="10332720" cy="274320"/>
          </a:xfrm>
          <a:prstGeom prst="rect">
            <a:avLst/>
          </a:prstGeom>
          <a:noFill/>
          <a:ln/>
        </p:spPr>
        <p:txBody>
          <a:bodyPr wrap="square" rtlCol="0" anchor="ctr"/>
          <a:lstStyle/>
          <a:p>
            <a:pPr indent="0" marL="0">
              <a:buNone/>
            </a:pPr>
            <a:r>
              <a:rPr lang="en-US" sz="1200" b="1" spc="100" kern="0" dirty="0">
                <a:solidFill>
                  <a:srgbClr val="2E6CB5"/>
                </a:solidFill>
                <a:latin typeface="Calibri" pitchFamily="34" charset="0"/>
                <a:ea typeface="Calibri" pitchFamily="34" charset="-122"/>
                <a:cs typeface="Calibri" pitchFamily="34" charset="-120"/>
              </a:rPr>
              <a:t>ĐỀ BÀI</a:t>
            </a:r>
            <a:endParaRPr lang="en-US" sz="1200" dirty="0"/>
          </a:p>
        </p:txBody>
      </p:sp>
      <p:sp>
        <p:nvSpPr>
          <p:cNvPr id="8" name="Text 6"/>
          <p:cNvSpPr/>
          <p:nvPr/>
        </p:nvSpPr>
        <p:spPr>
          <a:xfrm>
            <a:off x="932688" y="1801368"/>
            <a:ext cx="10378440" cy="71323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Cho miền 'Thư viện' gồm sách, tác giả, độc giả, hành vi mượn/trả. Hãy phân loại các thành phần của ontology trong miền này.</a:t>
            </a:r>
            <a:endParaRPr lang="en-US" sz="1500" dirty="0"/>
          </a:p>
        </p:txBody>
      </p:sp>
      <p:sp>
        <p:nvSpPr>
          <p:cNvPr id="9" name="Text 7"/>
          <p:cNvSpPr/>
          <p:nvPr/>
        </p:nvSpPr>
        <p:spPr>
          <a:xfrm>
            <a:off x="713232" y="2761488"/>
            <a:ext cx="7315200" cy="310896"/>
          </a:xfrm>
          <a:prstGeom prst="rect">
            <a:avLst/>
          </a:prstGeom>
          <a:noFill/>
          <a:ln/>
        </p:spPr>
        <p:txBody>
          <a:bodyPr wrap="square" rtlCol="0" anchor="ctr"/>
          <a:lstStyle/>
          <a:p>
            <a:pPr indent="0" marL="0">
              <a:buNone/>
            </a:pPr>
            <a:r>
              <a:rPr lang="en-US" sz="1300" b="1" spc="100" kern="0" dirty="0">
                <a:solidFill>
                  <a:srgbClr val="13315C"/>
                </a:solidFill>
                <a:latin typeface="Calibri" pitchFamily="34" charset="0"/>
                <a:ea typeface="Calibri" pitchFamily="34" charset="-122"/>
                <a:cs typeface="Calibri" pitchFamily="34" charset="-120"/>
              </a:rPr>
              <a:t>YÊU CẦU CẦN LÀM</a:t>
            </a:r>
            <a:endParaRPr lang="en-US" sz="1300" dirty="0"/>
          </a:p>
        </p:txBody>
      </p:sp>
      <p:sp>
        <p:nvSpPr>
          <p:cNvPr id="10" name="Shape 8"/>
          <p:cNvSpPr/>
          <p:nvPr/>
        </p:nvSpPr>
        <p:spPr>
          <a:xfrm>
            <a:off x="749808" y="3264408"/>
            <a:ext cx="274320" cy="274320"/>
          </a:xfrm>
          <a:prstGeom prst="roundRect">
            <a:avLst>
              <a:gd name="adj" fmla="val 16667"/>
            </a:avLst>
          </a:prstGeom>
          <a:solidFill>
            <a:srgbClr val="E2A233"/>
          </a:solidFill>
          <a:ln/>
        </p:spPr>
      </p:sp>
      <p:sp>
        <p:nvSpPr>
          <p:cNvPr id="11" name="Text 9"/>
          <p:cNvSpPr/>
          <p:nvPr/>
        </p:nvSpPr>
        <p:spPr>
          <a:xfrm>
            <a:off x="749808" y="3264408"/>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170432" y="3163824"/>
            <a:ext cx="10332720" cy="475488"/>
          </a:xfrm>
          <a:prstGeom prst="rect">
            <a:avLst/>
          </a:prstGeom>
          <a:noFill/>
          <a:ln/>
        </p:spPr>
        <p:txBody>
          <a:bodyPr wrap="square" rtlCol="0" anchor="ctr">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Liệt kê ít nhất 5 lớp (class) tiêu biểu trong miền thư viện</a:t>
            </a:r>
            <a:endParaRPr lang="en-US" sz="1500" dirty="0"/>
          </a:p>
        </p:txBody>
      </p:sp>
      <p:sp>
        <p:nvSpPr>
          <p:cNvPr id="13" name="Shape 11"/>
          <p:cNvSpPr/>
          <p:nvPr/>
        </p:nvSpPr>
        <p:spPr>
          <a:xfrm>
            <a:off x="749808" y="3739896"/>
            <a:ext cx="274320" cy="274320"/>
          </a:xfrm>
          <a:prstGeom prst="roundRect">
            <a:avLst>
              <a:gd name="adj" fmla="val 16667"/>
            </a:avLst>
          </a:prstGeom>
          <a:solidFill>
            <a:srgbClr val="E2A233"/>
          </a:solidFill>
          <a:ln/>
        </p:spPr>
      </p:sp>
      <p:sp>
        <p:nvSpPr>
          <p:cNvPr id="14" name="Text 12"/>
          <p:cNvSpPr/>
          <p:nvPr/>
        </p:nvSpPr>
        <p:spPr>
          <a:xfrm>
            <a:off x="749808" y="3739896"/>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170432" y="3639312"/>
            <a:ext cx="10332720" cy="475488"/>
          </a:xfrm>
          <a:prstGeom prst="rect">
            <a:avLst/>
          </a:prstGeom>
          <a:noFill/>
          <a:ln/>
        </p:spPr>
        <p:txBody>
          <a:bodyPr wrap="square" rtlCol="0" anchor="ctr">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Xác định ít nhất 3 thuộc tính (property) mô tả quan hệ hoặc dữ liệu</a:t>
            </a:r>
            <a:endParaRPr lang="en-US" sz="1500" dirty="0"/>
          </a:p>
        </p:txBody>
      </p:sp>
      <p:sp>
        <p:nvSpPr>
          <p:cNvPr id="16" name="Shape 14"/>
          <p:cNvSpPr/>
          <p:nvPr/>
        </p:nvSpPr>
        <p:spPr>
          <a:xfrm>
            <a:off x="749808" y="4215384"/>
            <a:ext cx="274320" cy="274320"/>
          </a:xfrm>
          <a:prstGeom prst="roundRect">
            <a:avLst>
              <a:gd name="adj" fmla="val 16667"/>
            </a:avLst>
          </a:prstGeom>
          <a:solidFill>
            <a:srgbClr val="E2A233"/>
          </a:solidFill>
          <a:ln/>
        </p:spPr>
      </p:sp>
      <p:sp>
        <p:nvSpPr>
          <p:cNvPr id="17" name="Text 15"/>
          <p:cNvSpPr/>
          <p:nvPr/>
        </p:nvSpPr>
        <p:spPr>
          <a:xfrm>
            <a:off x="749808" y="4215384"/>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170432" y="4114800"/>
            <a:ext cx="10332720" cy="475488"/>
          </a:xfrm>
          <a:prstGeom prst="rect">
            <a:avLst/>
          </a:prstGeom>
          <a:noFill/>
          <a:ln/>
        </p:spPr>
        <p:txBody>
          <a:bodyPr wrap="square" rtlCol="0" anchor="ctr">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Nêu ít nhất 3 cá thể (instance) cụ thể cho các lớp đã liệt kê</a:t>
            </a:r>
            <a:endParaRPr lang="en-US" sz="1500" dirty="0"/>
          </a:p>
        </p:txBody>
      </p:sp>
      <p:sp>
        <p:nvSpPr>
          <p:cNvPr id="19" name="Shape 17"/>
          <p:cNvSpPr/>
          <p:nvPr/>
        </p:nvSpPr>
        <p:spPr>
          <a:xfrm>
            <a:off x="749808" y="4690872"/>
            <a:ext cx="274320" cy="274320"/>
          </a:xfrm>
          <a:prstGeom prst="roundRect">
            <a:avLst>
              <a:gd name="adj" fmla="val 16667"/>
            </a:avLst>
          </a:prstGeom>
          <a:solidFill>
            <a:srgbClr val="E2A233"/>
          </a:solidFill>
          <a:ln/>
        </p:spPr>
      </p:sp>
      <p:sp>
        <p:nvSpPr>
          <p:cNvPr id="20" name="Text 18"/>
          <p:cNvSpPr/>
          <p:nvPr/>
        </p:nvSpPr>
        <p:spPr>
          <a:xfrm>
            <a:off x="749808" y="4690872"/>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70432" y="4590288"/>
            <a:ext cx="10332720" cy="475488"/>
          </a:xfrm>
          <a:prstGeom prst="rect">
            <a:avLst/>
          </a:prstGeom>
          <a:noFill/>
          <a:ln/>
        </p:spPr>
        <p:txBody>
          <a:bodyPr wrap="square" rtlCol="0" anchor="ctr">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Giải thích sự khác nhau giữa taxonomy và ontology đối với miền này</a:t>
            </a:r>
            <a:endParaRPr lang="en-US" sz="1500" dirty="0"/>
          </a:p>
        </p:txBody>
      </p:sp>
      <p:sp>
        <p:nvSpPr>
          <p:cNvPr id="22" name="Shape 20"/>
          <p:cNvSpPr/>
          <p:nvPr/>
        </p:nvSpPr>
        <p:spPr>
          <a:xfrm>
            <a:off x="713232" y="5504688"/>
            <a:ext cx="10835640" cy="841248"/>
          </a:xfrm>
          <a:prstGeom prst="roundRect">
            <a:avLst>
              <a:gd name="adj" fmla="val 7609"/>
            </a:avLst>
          </a:prstGeom>
          <a:solidFill>
            <a:srgbClr val="EAF2FB"/>
          </a:solidFill>
          <a:ln w="12700">
            <a:solidFill>
              <a:srgbClr val="2E6CB5"/>
            </a:solidFill>
            <a:prstDash val="solid"/>
          </a:ln>
        </p:spPr>
      </p:sp>
      <p:sp>
        <p:nvSpPr>
          <p:cNvPr id="23" name="Text 21"/>
          <p:cNvSpPr/>
          <p:nvPr/>
        </p:nvSpPr>
        <p:spPr>
          <a:xfrm>
            <a:off x="914400" y="5577840"/>
            <a:ext cx="10469880" cy="237744"/>
          </a:xfrm>
          <a:prstGeom prst="rect">
            <a:avLst/>
          </a:prstGeom>
          <a:noFill/>
          <a:ln/>
        </p:spPr>
        <p:txBody>
          <a:bodyPr wrap="square" rtlCol="0" anchor="ctr"/>
          <a:lstStyle/>
          <a:p>
            <a:pPr indent="0" marL="0">
              <a:buNone/>
            </a:pPr>
            <a:r>
              <a:rPr lang="en-US" sz="1100" b="1" spc="100" kern="0" dirty="0">
                <a:solidFill>
                  <a:srgbClr val="2E6CB5"/>
                </a:solidFill>
                <a:latin typeface="Calibri" pitchFamily="34" charset="0"/>
                <a:ea typeface="Calibri" pitchFamily="34" charset="-122"/>
                <a:cs typeface="Calibri" pitchFamily="34" charset="-120"/>
              </a:rPr>
              <a:t>GỢI Ý</a:t>
            </a:r>
            <a:endParaRPr lang="en-US" sz="1100" dirty="0"/>
          </a:p>
        </p:txBody>
      </p:sp>
      <p:sp>
        <p:nvSpPr>
          <p:cNvPr id="24" name="Text 22"/>
          <p:cNvSpPr/>
          <p:nvPr/>
        </p:nvSpPr>
        <p:spPr>
          <a:xfrm>
            <a:off x="914400" y="5815584"/>
            <a:ext cx="10433304" cy="475488"/>
          </a:xfrm>
          <a:prstGeom prst="rect">
            <a:avLst/>
          </a:prstGeom>
          <a:noFill/>
          <a:ln/>
        </p:spPr>
        <p:txBody>
          <a:bodyPr wrap="square" rtlCol="0" anchor="t">
            <a:normAutofit/>
          </a:bodyPr>
          <a:lstStyle/>
          <a:p>
            <a:pPr indent="0" marL="0">
              <a:buNone/>
            </a:pPr>
            <a:r>
              <a:rPr lang="en-US" sz="1300" dirty="0">
                <a:solidFill>
                  <a:srgbClr val="1F2D3A"/>
                </a:solidFill>
                <a:latin typeface="Calibri" pitchFamily="34" charset="0"/>
                <a:ea typeface="Calibri" pitchFamily="34" charset="-122"/>
                <a:cs typeface="Calibri" pitchFamily="34" charset="-120"/>
              </a:rPr>
              <a:t>Lớp là khái niệm chung, cá thể là đối tượng cụ thể, ví dụ 'Sách' là lớp còn 'Dế Mèn Phiêu Lưu Ký' là cá thể.</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BÀI TẬP 2   ·   CƠ BẢN</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Xây cây phân cấp lớp</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43</a:t>
            </a:r>
            <a:endParaRPr lang="en-US" sz="1100" dirty="0"/>
          </a:p>
        </p:txBody>
      </p:sp>
      <p:sp>
        <p:nvSpPr>
          <p:cNvPr id="6" name="Shape 4"/>
          <p:cNvSpPr/>
          <p:nvPr/>
        </p:nvSpPr>
        <p:spPr>
          <a:xfrm>
            <a:off x="713232" y="1417320"/>
            <a:ext cx="10835640" cy="1170432"/>
          </a:xfrm>
          <a:prstGeom prst="roundRect">
            <a:avLst>
              <a:gd name="adj" fmla="val 6250"/>
            </a:avLst>
          </a:prstGeom>
          <a:solidFill>
            <a:srgbClr val="EAF2FB"/>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7" name="Text 5"/>
          <p:cNvSpPr/>
          <p:nvPr/>
        </p:nvSpPr>
        <p:spPr>
          <a:xfrm>
            <a:off x="932688" y="1527048"/>
            <a:ext cx="10332720" cy="274320"/>
          </a:xfrm>
          <a:prstGeom prst="rect">
            <a:avLst/>
          </a:prstGeom>
          <a:noFill/>
          <a:ln/>
        </p:spPr>
        <p:txBody>
          <a:bodyPr wrap="square" rtlCol="0" anchor="ctr"/>
          <a:lstStyle/>
          <a:p>
            <a:pPr indent="0" marL="0">
              <a:buNone/>
            </a:pPr>
            <a:r>
              <a:rPr lang="en-US" sz="1200" b="1" spc="100" kern="0" dirty="0">
                <a:solidFill>
                  <a:srgbClr val="2E6CB5"/>
                </a:solidFill>
                <a:latin typeface="Calibri" pitchFamily="34" charset="0"/>
                <a:ea typeface="Calibri" pitchFamily="34" charset="-122"/>
                <a:cs typeface="Calibri" pitchFamily="34" charset="-120"/>
              </a:rPr>
              <a:t>ĐỀ BÀI</a:t>
            </a:r>
            <a:endParaRPr lang="en-US" sz="1200" dirty="0"/>
          </a:p>
        </p:txBody>
      </p:sp>
      <p:sp>
        <p:nvSpPr>
          <p:cNvPr id="8" name="Text 6"/>
          <p:cNvSpPr/>
          <p:nvPr/>
        </p:nvSpPr>
        <p:spPr>
          <a:xfrm>
            <a:off x="932688" y="1801368"/>
            <a:ext cx="10378440" cy="71323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Cho các khái niệm miền 'Phương tiện giao thông': xe máy, ô tô, xe tải, xe đạp, tàu hoả, máy bay, thuyền. Hãy tổ chức các khái niệm này thành cây phân cấp lớp bằng quan hệ subClassOf.</a:t>
            </a:r>
            <a:endParaRPr lang="en-US" sz="1500" dirty="0"/>
          </a:p>
        </p:txBody>
      </p:sp>
      <p:sp>
        <p:nvSpPr>
          <p:cNvPr id="9" name="Text 7"/>
          <p:cNvSpPr/>
          <p:nvPr/>
        </p:nvSpPr>
        <p:spPr>
          <a:xfrm>
            <a:off x="713232" y="2761488"/>
            <a:ext cx="7315200" cy="310896"/>
          </a:xfrm>
          <a:prstGeom prst="rect">
            <a:avLst/>
          </a:prstGeom>
          <a:noFill/>
          <a:ln/>
        </p:spPr>
        <p:txBody>
          <a:bodyPr wrap="square" rtlCol="0" anchor="ctr"/>
          <a:lstStyle/>
          <a:p>
            <a:pPr indent="0" marL="0">
              <a:buNone/>
            </a:pPr>
            <a:r>
              <a:rPr lang="en-US" sz="1300" b="1" spc="100" kern="0" dirty="0">
                <a:solidFill>
                  <a:srgbClr val="13315C"/>
                </a:solidFill>
                <a:latin typeface="Calibri" pitchFamily="34" charset="0"/>
                <a:ea typeface="Calibri" pitchFamily="34" charset="-122"/>
                <a:cs typeface="Calibri" pitchFamily="34" charset="-120"/>
              </a:rPr>
              <a:t>YÊU CẦU CẦN LÀM</a:t>
            </a:r>
            <a:endParaRPr lang="en-US" sz="1300" dirty="0"/>
          </a:p>
        </p:txBody>
      </p:sp>
      <p:sp>
        <p:nvSpPr>
          <p:cNvPr id="10" name="Shape 8"/>
          <p:cNvSpPr/>
          <p:nvPr/>
        </p:nvSpPr>
        <p:spPr>
          <a:xfrm>
            <a:off x="749808" y="3264408"/>
            <a:ext cx="274320" cy="274320"/>
          </a:xfrm>
          <a:prstGeom prst="roundRect">
            <a:avLst>
              <a:gd name="adj" fmla="val 16667"/>
            </a:avLst>
          </a:prstGeom>
          <a:solidFill>
            <a:srgbClr val="E2A233"/>
          </a:solidFill>
          <a:ln/>
        </p:spPr>
      </p:sp>
      <p:sp>
        <p:nvSpPr>
          <p:cNvPr id="11" name="Text 9"/>
          <p:cNvSpPr/>
          <p:nvPr/>
        </p:nvSpPr>
        <p:spPr>
          <a:xfrm>
            <a:off x="749808" y="3264408"/>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170432" y="3163824"/>
            <a:ext cx="10332720" cy="475488"/>
          </a:xfrm>
          <a:prstGeom prst="rect">
            <a:avLst/>
          </a:prstGeom>
          <a:noFill/>
          <a:ln/>
        </p:spPr>
        <p:txBody>
          <a:bodyPr wrap="square" rtlCol="0" anchor="ctr">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Nhóm các khái niệm có đặc điểm chung với nhau</a:t>
            </a:r>
            <a:endParaRPr lang="en-US" sz="1500" dirty="0"/>
          </a:p>
        </p:txBody>
      </p:sp>
      <p:sp>
        <p:nvSpPr>
          <p:cNvPr id="13" name="Shape 11"/>
          <p:cNvSpPr/>
          <p:nvPr/>
        </p:nvSpPr>
        <p:spPr>
          <a:xfrm>
            <a:off x="749808" y="3739896"/>
            <a:ext cx="274320" cy="274320"/>
          </a:xfrm>
          <a:prstGeom prst="roundRect">
            <a:avLst>
              <a:gd name="adj" fmla="val 16667"/>
            </a:avLst>
          </a:prstGeom>
          <a:solidFill>
            <a:srgbClr val="E2A233"/>
          </a:solidFill>
          <a:ln/>
        </p:spPr>
      </p:sp>
      <p:sp>
        <p:nvSpPr>
          <p:cNvPr id="14" name="Text 12"/>
          <p:cNvSpPr/>
          <p:nvPr/>
        </p:nvSpPr>
        <p:spPr>
          <a:xfrm>
            <a:off x="749808" y="3739896"/>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170432" y="3639312"/>
            <a:ext cx="10332720" cy="475488"/>
          </a:xfrm>
          <a:prstGeom prst="rect">
            <a:avLst/>
          </a:prstGeom>
          <a:noFill/>
          <a:ln/>
        </p:spPr>
        <p:txBody>
          <a:bodyPr wrap="square" rtlCol="0" anchor="ctr">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Xác định lớp cha và lớp con phù hợp cho từng nhóm</a:t>
            </a:r>
            <a:endParaRPr lang="en-US" sz="1500" dirty="0"/>
          </a:p>
        </p:txBody>
      </p:sp>
      <p:sp>
        <p:nvSpPr>
          <p:cNvPr id="16" name="Shape 14"/>
          <p:cNvSpPr/>
          <p:nvPr/>
        </p:nvSpPr>
        <p:spPr>
          <a:xfrm>
            <a:off x="749808" y="4215384"/>
            <a:ext cx="274320" cy="274320"/>
          </a:xfrm>
          <a:prstGeom prst="roundRect">
            <a:avLst>
              <a:gd name="adj" fmla="val 16667"/>
            </a:avLst>
          </a:prstGeom>
          <a:solidFill>
            <a:srgbClr val="E2A233"/>
          </a:solidFill>
          <a:ln/>
        </p:spPr>
      </p:sp>
      <p:sp>
        <p:nvSpPr>
          <p:cNvPr id="17" name="Text 15"/>
          <p:cNvSpPr/>
          <p:nvPr/>
        </p:nvSpPr>
        <p:spPr>
          <a:xfrm>
            <a:off x="749808" y="4215384"/>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170432" y="4114800"/>
            <a:ext cx="10332720" cy="475488"/>
          </a:xfrm>
          <a:prstGeom prst="rect">
            <a:avLst/>
          </a:prstGeom>
          <a:noFill/>
          <a:ln/>
        </p:spPr>
        <p:txBody>
          <a:bodyPr wrap="square" rtlCol="0" anchor="ctr">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Vẽ sơ đồ cây phân cấp tối thiểu 2 cấp</a:t>
            </a:r>
            <a:endParaRPr lang="en-US" sz="1500" dirty="0"/>
          </a:p>
        </p:txBody>
      </p:sp>
      <p:sp>
        <p:nvSpPr>
          <p:cNvPr id="19" name="Shape 17"/>
          <p:cNvSpPr/>
          <p:nvPr/>
        </p:nvSpPr>
        <p:spPr>
          <a:xfrm>
            <a:off x="749808" y="4690872"/>
            <a:ext cx="274320" cy="274320"/>
          </a:xfrm>
          <a:prstGeom prst="roundRect">
            <a:avLst>
              <a:gd name="adj" fmla="val 16667"/>
            </a:avLst>
          </a:prstGeom>
          <a:solidFill>
            <a:srgbClr val="E2A233"/>
          </a:solidFill>
          <a:ln/>
        </p:spPr>
      </p:sp>
      <p:sp>
        <p:nvSpPr>
          <p:cNvPr id="20" name="Text 18"/>
          <p:cNvSpPr/>
          <p:nvPr/>
        </p:nvSpPr>
        <p:spPr>
          <a:xfrm>
            <a:off x="749808" y="4690872"/>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70432" y="4590288"/>
            <a:ext cx="10332720" cy="475488"/>
          </a:xfrm>
          <a:prstGeom prst="rect">
            <a:avLst/>
          </a:prstGeom>
          <a:noFill/>
          <a:ln/>
        </p:spPr>
        <p:txBody>
          <a:bodyPr wrap="square" rtlCol="0" anchor="ctr">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Chỉ ra rõ quan hệ is-a giữa các lớp trong sơ đồ</a:t>
            </a:r>
            <a:endParaRPr lang="en-US" sz="1500" dirty="0"/>
          </a:p>
        </p:txBody>
      </p:sp>
      <p:sp>
        <p:nvSpPr>
          <p:cNvPr id="22" name="Shape 20"/>
          <p:cNvSpPr/>
          <p:nvPr/>
        </p:nvSpPr>
        <p:spPr>
          <a:xfrm>
            <a:off x="713232" y="5504688"/>
            <a:ext cx="10835640" cy="841248"/>
          </a:xfrm>
          <a:prstGeom prst="roundRect">
            <a:avLst>
              <a:gd name="adj" fmla="val 7609"/>
            </a:avLst>
          </a:prstGeom>
          <a:solidFill>
            <a:srgbClr val="FBF1DA"/>
          </a:solidFill>
          <a:ln w="12700">
            <a:solidFill>
              <a:srgbClr val="C1801F"/>
            </a:solidFill>
            <a:prstDash val="solid"/>
          </a:ln>
        </p:spPr>
      </p:sp>
      <p:sp>
        <p:nvSpPr>
          <p:cNvPr id="23" name="Text 21"/>
          <p:cNvSpPr/>
          <p:nvPr/>
        </p:nvSpPr>
        <p:spPr>
          <a:xfrm>
            <a:off x="914400" y="5577840"/>
            <a:ext cx="10469880" cy="237744"/>
          </a:xfrm>
          <a:prstGeom prst="rect">
            <a:avLst/>
          </a:prstGeom>
          <a:noFill/>
          <a:ln/>
        </p:spPr>
        <p:txBody>
          <a:bodyPr wrap="square" rtlCol="0" anchor="ctr"/>
          <a:lstStyle/>
          <a:p>
            <a:pPr indent="0" marL="0">
              <a:buNone/>
            </a:pPr>
            <a:r>
              <a:rPr lang="en-US" sz="1100" b="1" spc="100" kern="0" dirty="0">
                <a:solidFill>
                  <a:srgbClr val="C1801F"/>
                </a:solidFill>
                <a:latin typeface="Calibri" pitchFamily="34" charset="0"/>
                <a:ea typeface="Calibri" pitchFamily="34" charset="-122"/>
                <a:cs typeface="Calibri" pitchFamily="34" charset="-120"/>
              </a:rPr>
              <a:t>SẢN PHẨM NỘP</a:t>
            </a:r>
            <a:endParaRPr lang="en-US" sz="1100" dirty="0"/>
          </a:p>
        </p:txBody>
      </p:sp>
      <p:sp>
        <p:nvSpPr>
          <p:cNvPr id="24" name="Text 22"/>
          <p:cNvSpPr/>
          <p:nvPr/>
        </p:nvSpPr>
        <p:spPr>
          <a:xfrm>
            <a:off x="914400" y="5815584"/>
            <a:ext cx="10433304" cy="475488"/>
          </a:xfrm>
          <a:prstGeom prst="rect">
            <a:avLst/>
          </a:prstGeom>
          <a:noFill/>
          <a:ln/>
        </p:spPr>
        <p:txBody>
          <a:bodyPr wrap="square" rtlCol="0" anchor="t">
            <a:normAutofit/>
          </a:bodyPr>
          <a:lstStyle/>
          <a:p>
            <a:pPr indent="0" marL="0">
              <a:buNone/>
            </a:pPr>
            <a:r>
              <a:rPr lang="en-US" sz="1300" dirty="0">
                <a:solidFill>
                  <a:srgbClr val="1F2D3A"/>
                </a:solidFill>
                <a:latin typeface="Calibri" pitchFamily="34" charset="0"/>
                <a:ea typeface="Calibri" pitchFamily="34" charset="-122"/>
                <a:cs typeface="Calibri" pitchFamily="34" charset="-120"/>
              </a:rPr>
              <a:t>Sơ đồ cây phân cấp lớp.</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BÀI TẬP 3   ·   TRUNG BÌNH</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Viết bộ ba RDF (Turtle)</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44</a:t>
            </a:r>
            <a:endParaRPr lang="en-US" sz="1100" dirty="0"/>
          </a:p>
        </p:txBody>
      </p:sp>
      <p:sp>
        <p:nvSpPr>
          <p:cNvPr id="6" name="Shape 4"/>
          <p:cNvSpPr/>
          <p:nvPr/>
        </p:nvSpPr>
        <p:spPr>
          <a:xfrm>
            <a:off x="713232" y="1417320"/>
            <a:ext cx="10835640" cy="1170432"/>
          </a:xfrm>
          <a:prstGeom prst="roundRect">
            <a:avLst>
              <a:gd name="adj" fmla="val 6250"/>
            </a:avLst>
          </a:prstGeom>
          <a:solidFill>
            <a:srgbClr val="EAF2FB"/>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7" name="Text 5"/>
          <p:cNvSpPr/>
          <p:nvPr/>
        </p:nvSpPr>
        <p:spPr>
          <a:xfrm>
            <a:off x="932688" y="1527048"/>
            <a:ext cx="10332720" cy="274320"/>
          </a:xfrm>
          <a:prstGeom prst="rect">
            <a:avLst/>
          </a:prstGeom>
          <a:noFill/>
          <a:ln/>
        </p:spPr>
        <p:txBody>
          <a:bodyPr wrap="square" rtlCol="0" anchor="ctr"/>
          <a:lstStyle/>
          <a:p>
            <a:pPr indent="0" marL="0">
              <a:buNone/>
            </a:pPr>
            <a:r>
              <a:rPr lang="en-US" sz="1200" b="1" spc="100" kern="0" dirty="0">
                <a:solidFill>
                  <a:srgbClr val="2E6CB5"/>
                </a:solidFill>
                <a:latin typeface="Calibri" pitchFamily="34" charset="0"/>
                <a:ea typeface="Calibri" pitchFamily="34" charset="-122"/>
                <a:cs typeface="Calibri" pitchFamily="34" charset="-120"/>
              </a:rPr>
              <a:t>ĐỀ BÀI</a:t>
            </a:r>
            <a:endParaRPr lang="en-US" sz="1200" dirty="0"/>
          </a:p>
        </p:txBody>
      </p:sp>
      <p:sp>
        <p:nvSpPr>
          <p:cNvPr id="8" name="Text 6"/>
          <p:cNvSpPr/>
          <p:nvPr/>
        </p:nvSpPr>
        <p:spPr>
          <a:xfrm>
            <a:off x="932688" y="1801368"/>
            <a:ext cx="10378440" cy="71323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Mô tả miền 'Sinh viên – Môn học' bằng ngôn ngữ Turtle với ít nhất 8 bộ ba (triple), có khai báo @prefix đầy đủ. Dữ liệu này sẽ được sử dụng lại trong bài tập truy vấn SPARQL tiếp theo.</a:t>
            </a:r>
            <a:endParaRPr lang="en-US" sz="1500" dirty="0"/>
          </a:p>
        </p:txBody>
      </p:sp>
      <p:sp>
        <p:nvSpPr>
          <p:cNvPr id="9" name="Text 7"/>
          <p:cNvSpPr/>
          <p:nvPr/>
        </p:nvSpPr>
        <p:spPr>
          <a:xfrm>
            <a:off x="713232" y="2761488"/>
            <a:ext cx="7315200" cy="310896"/>
          </a:xfrm>
          <a:prstGeom prst="rect">
            <a:avLst/>
          </a:prstGeom>
          <a:noFill/>
          <a:ln/>
        </p:spPr>
        <p:txBody>
          <a:bodyPr wrap="square" rtlCol="0" anchor="ctr"/>
          <a:lstStyle/>
          <a:p>
            <a:pPr indent="0" marL="0">
              <a:buNone/>
            </a:pPr>
            <a:r>
              <a:rPr lang="en-US" sz="1300" b="1" spc="100" kern="0" dirty="0">
                <a:solidFill>
                  <a:srgbClr val="13315C"/>
                </a:solidFill>
                <a:latin typeface="Calibri" pitchFamily="34" charset="0"/>
                <a:ea typeface="Calibri" pitchFamily="34" charset="-122"/>
                <a:cs typeface="Calibri" pitchFamily="34" charset="-120"/>
              </a:rPr>
              <a:t>YÊU CẦU CẦN LÀM</a:t>
            </a:r>
            <a:endParaRPr lang="en-US" sz="1300" dirty="0"/>
          </a:p>
        </p:txBody>
      </p:sp>
      <p:sp>
        <p:nvSpPr>
          <p:cNvPr id="10" name="Shape 8"/>
          <p:cNvSpPr/>
          <p:nvPr/>
        </p:nvSpPr>
        <p:spPr>
          <a:xfrm>
            <a:off x="749808" y="3254350"/>
            <a:ext cx="274320" cy="274320"/>
          </a:xfrm>
          <a:prstGeom prst="roundRect">
            <a:avLst>
              <a:gd name="adj" fmla="val 16667"/>
            </a:avLst>
          </a:prstGeom>
          <a:solidFill>
            <a:srgbClr val="E2A233"/>
          </a:solidFill>
          <a:ln/>
        </p:spPr>
      </p:sp>
      <p:sp>
        <p:nvSpPr>
          <p:cNvPr id="11" name="Text 9"/>
          <p:cNvSpPr/>
          <p:nvPr/>
        </p:nvSpPr>
        <p:spPr>
          <a:xfrm>
            <a:off x="749808" y="3254350"/>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170432" y="3163824"/>
            <a:ext cx="10332720" cy="455371"/>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Khai báo các @prefix cần thiết cho tài liệu Turtle</a:t>
            </a:r>
            <a:endParaRPr lang="en-US" sz="1400" dirty="0"/>
          </a:p>
        </p:txBody>
      </p:sp>
      <p:sp>
        <p:nvSpPr>
          <p:cNvPr id="13" name="Shape 11"/>
          <p:cNvSpPr/>
          <p:nvPr/>
        </p:nvSpPr>
        <p:spPr>
          <a:xfrm>
            <a:off x="749808" y="3709721"/>
            <a:ext cx="274320" cy="274320"/>
          </a:xfrm>
          <a:prstGeom prst="roundRect">
            <a:avLst>
              <a:gd name="adj" fmla="val 16667"/>
            </a:avLst>
          </a:prstGeom>
          <a:solidFill>
            <a:srgbClr val="E2A233"/>
          </a:solidFill>
          <a:ln/>
        </p:spPr>
      </p:sp>
      <p:sp>
        <p:nvSpPr>
          <p:cNvPr id="14" name="Text 12"/>
          <p:cNvSpPr/>
          <p:nvPr/>
        </p:nvSpPr>
        <p:spPr>
          <a:xfrm>
            <a:off x="749808" y="3709721"/>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170432" y="3619195"/>
            <a:ext cx="10332720" cy="455371"/>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Định nghĩa ít nhất 3 lớp, ví dụ SinhVien và MonHoc</a:t>
            </a:r>
            <a:endParaRPr lang="en-US" sz="1400" dirty="0"/>
          </a:p>
        </p:txBody>
      </p:sp>
      <p:sp>
        <p:nvSpPr>
          <p:cNvPr id="16" name="Shape 14"/>
          <p:cNvSpPr/>
          <p:nvPr/>
        </p:nvSpPr>
        <p:spPr>
          <a:xfrm>
            <a:off x="749808" y="4165092"/>
            <a:ext cx="274320" cy="274320"/>
          </a:xfrm>
          <a:prstGeom prst="roundRect">
            <a:avLst>
              <a:gd name="adj" fmla="val 16667"/>
            </a:avLst>
          </a:prstGeom>
          <a:solidFill>
            <a:srgbClr val="E2A233"/>
          </a:solidFill>
          <a:ln/>
        </p:spPr>
      </p:sp>
      <p:sp>
        <p:nvSpPr>
          <p:cNvPr id="17" name="Text 15"/>
          <p:cNvSpPr/>
          <p:nvPr/>
        </p:nvSpPr>
        <p:spPr>
          <a:xfrm>
            <a:off x="749808" y="4165092"/>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170432" y="4074566"/>
            <a:ext cx="10332720" cy="455371"/>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Định nghĩa ít nhất 2 thuộc tính, ví dụ hoc và ten</a:t>
            </a:r>
            <a:endParaRPr lang="en-US" sz="1400" dirty="0"/>
          </a:p>
        </p:txBody>
      </p:sp>
      <p:sp>
        <p:nvSpPr>
          <p:cNvPr id="19" name="Shape 17"/>
          <p:cNvSpPr/>
          <p:nvPr/>
        </p:nvSpPr>
        <p:spPr>
          <a:xfrm>
            <a:off x="749808" y="4620463"/>
            <a:ext cx="274320" cy="274320"/>
          </a:xfrm>
          <a:prstGeom prst="roundRect">
            <a:avLst>
              <a:gd name="adj" fmla="val 16667"/>
            </a:avLst>
          </a:prstGeom>
          <a:solidFill>
            <a:srgbClr val="E2A233"/>
          </a:solidFill>
          <a:ln/>
        </p:spPr>
      </p:sp>
      <p:sp>
        <p:nvSpPr>
          <p:cNvPr id="20" name="Text 18"/>
          <p:cNvSpPr/>
          <p:nvPr/>
        </p:nvSpPr>
        <p:spPr>
          <a:xfrm>
            <a:off x="749808" y="4620463"/>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70432" y="4529938"/>
            <a:ext cx="10332720" cy="455371"/>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Tạo ít nhất 2 cá thể cụ thể thuộc các lớp đã định nghĩa</a:t>
            </a:r>
            <a:endParaRPr lang="en-US" sz="1400" dirty="0"/>
          </a:p>
        </p:txBody>
      </p:sp>
      <p:sp>
        <p:nvSpPr>
          <p:cNvPr id="22" name="Shape 20"/>
          <p:cNvSpPr/>
          <p:nvPr/>
        </p:nvSpPr>
        <p:spPr>
          <a:xfrm>
            <a:off x="749808" y="5075834"/>
            <a:ext cx="274320" cy="274320"/>
          </a:xfrm>
          <a:prstGeom prst="roundRect">
            <a:avLst>
              <a:gd name="adj" fmla="val 16667"/>
            </a:avLst>
          </a:prstGeom>
          <a:solidFill>
            <a:srgbClr val="E2A233"/>
          </a:solidFill>
          <a:ln/>
        </p:spPr>
      </p:sp>
      <p:sp>
        <p:nvSpPr>
          <p:cNvPr id="23" name="Text 21"/>
          <p:cNvSpPr/>
          <p:nvPr/>
        </p:nvSpPr>
        <p:spPr>
          <a:xfrm>
            <a:off x="749808" y="5075834"/>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70432" y="4985309"/>
            <a:ext cx="10332720" cy="455371"/>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Viết ít nhất 8 triple hợp lệ mô tả quan hệ giữa các cá thể</a:t>
            </a:r>
            <a:endParaRPr lang="en-US" sz="1400" dirty="0"/>
          </a:p>
        </p:txBody>
      </p:sp>
      <p:sp>
        <p:nvSpPr>
          <p:cNvPr id="25" name="Shape 23"/>
          <p:cNvSpPr/>
          <p:nvPr/>
        </p:nvSpPr>
        <p:spPr>
          <a:xfrm>
            <a:off x="713232" y="5504688"/>
            <a:ext cx="10835640" cy="841248"/>
          </a:xfrm>
          <a:prstGeom prst="roundRect">
            <a:avLst>
              <a:gd name="adj" fmla="val 7609"/>
            </a:avLst>
          </a:prstGeom>
          <a:solidFill>
            <a:srgbClr val="EAF2FB"/>
          </a:solidFill>
          <a:ln w="12700">
            <a:solidFill>
              <a:srgbClr val="2E6CB5"/>
            </a:solidFill>
            <a:prstDash val="solid"/>
          </a:ln>
        </p:spPr>
      </p:sp>
      <p:sp>
        <p:nvSpPr>
          <p:cNvPr id="26" name="Text 24"/>
          <p:cNvSpPr/>
          <p:nvPr/>
        </p:nvSpPr>
        <p:spPr>
          <a:xfrm>
            <a:off x="914400" y="5577840"/>
            <a:ext cx="10469880" cy="237744"/>
          </a:xfrm>
          <a:prstGeom prst="rect">
            <a:avLst/>
          </a:prstGeom>
          <a:noFill/>
          <a:ln/>
        </p:spPr>
        <p:txBody>
          <a:bodyPr wrap="square" rtlCol="0" anchor="ctr"/>
          <a:lstStyle/>
          <a:p>
            <a:pPr indent="0" marL="0">
              <a:buNone/>
            </a:pPr>
            <a:r>
              <a:rPr lang="en-US" sz="1100" b="1" spc="100" kern="0" dirty="0">
                <a:solidFill>
                  <a:srgbClr val="2E6CB5"/>
                </a:solidFill>
                <a:latin typeface="Calibri" pitchFamily="34" charset="0"/>
                <a:ea typeface="Calibri" pitchFamily="34" charset="-122"/>
                <a:cs typeface="Calibri" pitchFamily="34" charset="-120"/>
              </a:rPr>
              <a:t>GỢI Ý</a:t>
            </a:r>
            <a:endParaRPr lang="en-US" sz="1100" dirty="0"/>
          </a:p>
        </p:txBody>
      </p:sp>
      <p:sp>
        <p:nvSpPr>
          <p:cNvPr id="27" name="Text 25"/>
          <p:cNvSpPr/>
          <p:nvPr/>
        </p:nvSpPr>
        <p:spPr>
          <a:xfrm>
            <a:off x="914400" y="5815584"/>
            <a:ext cx="10433304" cy="475488"/>
          </a:xfrm>
          <a:prstGeom prst="rect">
            <a:avLst/>
          </a:prstGeom>
          <a:noFill/>
          <a:ln/>
        </p:spPr>
        <p:txBody>
          <a:bodyPr wrap="square" rtlCol="0" anchor="t">
            <a:normAutofit/>
          </a:bodyPr>
          <a:lstStyle/>
          <a:p>
            <a:pPr indent="0" marL="0">
              <a:buNone/>
            </a:pPr>
            <a:r>
              <a:rPr lang="en-US" sz="1300" dirty="0">
                <a:solidFill>
                  <a:srgbClr val="1F2D3A"/>
                </a:solidFill>
                <a:latin typeface="Calibri" pitchFamily="34" charset="0"/>
                <a:ea typeface="Calibri" pitchFamily="34" charset="-122"/>
                <a:cs typeface="Calibri" pitchFamily="34" charset="-120"/>
              </a:rPr>
              <a:t>Dùng 'a' làm ký hiệu tắt cho rdf:type và dấu ';' để nối nhiều thuộc tính của cùng một chủ thể.</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BÀI TẬP 4   ·   TRUNG BÌNH</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Truy vấn SPARQL</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45</a:t>
            </a:r>
            <a:endParaRPr lang="en-US" sz="1100" dirty="0"/>
          </a:p>
        </p:txBody>
      </p:sp>
      <p:sp>
        <p:nvSpPr>
          <p:cNvPr id="6" name="Shape 4"/>
          <p:cNvSpPr/>
          <p:nvPr/>
        </p:nvSpPr>
        <p:spPr>
          <a:xfrm>
            <a:off x="713232" y="1417320"/>
            <a:ext cx="10835640" cy="1170432"/>
          </a:xfrm>
          <a:prstGeom prst="roundRect">
            <a:avLst>
              <a:gd name="adj" fmla="val 6250"/>
            </a:avLst>
          </a:prstGeom>
          <a:solidFill>
            <a:srgbClr val="EAF2FB"/>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7" name="Text 5"/>
          <p:cNvSpPr/>
          <p:nvPr/>
        </p:nvSpPr>
        <p:spPr>
          <a:xfrm>
            <a:off x="932688" y="1527048"/>
            <a:ext cx="10332720" cy="274320"/>
          </a:xfrm>
          <a:prstGeom prst="rect">
            <a:avLst/>
          </a:prstGeom>
          <a:noFill/>
          <a:ln/>
        </p:spPr>
        <p:txBody>
          <a:bodyPr wrap="square" rtlCol="0" anchor="ctr"/>
          <a:lstStyle/>
          <a:p>
            <a:pPr indent="0" marL="0">
              <a:buNone/>
            </a:pPr>
            <a:r>
              <a:rPr lang="en-US" sz="1200" b="1" spc="100" kern="0" dirty="0">
                <a:solidFill>
                  <a:srgbClr val="2E6CB5"/>
                </a:solidFill>
                <a:latin typeface="Calibri" pitchFamily="34" charset="0"/>
                <a:ea typeface="Calibri" pitchFamily="34" charset="-122"/>
                <a:cs typeface="Calibri" pitchFamily="34" charset="-120"/>
              </a:rPr>
              <a:t>ĐỀ BÀI</a:t>
            </a:r>
            <a:endParaRPr lang="en-US" sz="1200" dirty="0"/>
          </a:p>
        </p:txBody>
      </p:sp>
      <p:sp>
        <p:nvSpPr>
          <p:cNvPr id="8" name="Text 6"/>
          <p:cNvSpPr/>
          <p:nvPr/>
        </p:nvSpPr>
        <p:spPr>
          <a:xfrm>
            <a:off x="932688" y="1801368"/>
            <a:ext cx="10378440" cy="71323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Dựa trên dữ liệu 'Sinh viên – Môn học' đã tạo ở Bài tập 3, hãy viết các truy vấn SPARQL theo các yêu cầu sau. Mỗi truy vấn cần chạy được và trả về đúng kết quả mong muốn.</a:t>
            </a:r>
            <a:endParaRPr lang="en-US" sz="1500" dirty="0"/>
          </a:p>
        </p:txBody>
      </p:sp>
      <p:sp>
        <p:nvSpPr>
          <p:cNvPr id="9" name="Text 7"/>
          <p:cNvSpPr/>
          <p:nvPr/>
        </p:nvSpPr>
        <p:spPr>
          <a:xfrm>
            <a:off x="713232" y="2761488"/>
            <a:ext cx="7315200" cy="310896"/>
          </a:xfrm>
          <a:prstGeom prst="rect">
            <a:avLst/>
          </a:prstGeom>
          <a:noFill/>
          <a:ln/>
        </p:spPr>
        <p:txBody>
          <a:bodyPr wrap="square" rtlCol="0" anchor="ctr"/>
          <a:lstStyle/>
          <a:p>
            <a:pPr indent="0" marL="0">
              <a:buNone/>
            </a:pPr>
            <a:r>
              <a:rPr lang="en-US" sz="1300" b="1" spc="100" kern="0" dirty="0">
                <a:solidFill>
                  <a:srgbClr val="13315C"/>
                </a:solidFill>
                <a:latin typeface="Calibri" pitchFamily="34" charset="0"/>
                <a:ea typeface="Calibri" pitchFamily="34" charset="-122"/>
                <a:cs typeface="Calibri" pitchFamily="34" charset="-120"/>
              </a:rPr>
              <a:t>YÊU CẦU CẦN LÀM</a:t>
            </a:r>
            <a:endParaRPr lang="en-US" sz="1300" dirty="0"/>
          </a:p>
        </p:txBody>
      </p:sp>
      <p:sp>
        <p:nvSpPr>
          <p:cNvPr id="10" name="Shape 8"/>
          <p:cNvSpPr/>
          <p:nvPr/>
        </p:nvSpPr>
        <p:spPr>
          <a:xfrm>
            <a:off x="749808" y="3264408"/>
            <a:ext cx="274320" cy="274320"/>
          </a:xfrm>
          <a:prstGeom prst="roundRect">
            <a:avLst>
              <a:gd name="adj" fmla="val 16667"/>
            </a:avLst>
          </a:prstGeom>
          <a:solidFill>
            <a:srgbClr val="E2A233"/>
          </a:solidFill>
          <a:ln/>
        </p:spPr>
      </p:sp>
      <p:sp>
        <p:nvSpPr>
          <p:cNvPr id="11" name="Text 9"/>
          <p:cNvSpPr/>
          <p:nvPr/>
        </p:nvSpPr>
        <p:spPr>
          <a:xfrm>
            <a:off x="749808" y="3264408"/>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170432" y="3163824"/>
            <a:ext cx="10332720" cy="475488"/>
          </a:xfrm>
          <a:prstGeom prst="rect">
            <a:avLst/>
          </a:prstGeom>
          <a:noFill/>
          <a:ln/>
        </p:spPr>
        <p:txBody>
          <a:bodyPr wrap="square" rtlCol="0" anchor="ctr">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Viết truy vấn liệt kê tất cả sinh viên trong dữ liệu</a:t>
            </a:r>
            <a:endParaRPr lang="en-US" sz="1500" dirty="0"/>
          </a:p>
        </p:txBody>
      </p:sp>
      <p:sp>
        <p:nvSpPr>
          <p:cNvPr id="13" name="Shape 11"/>
          <p:cNvSpPr/>
          <p:nvPr/>
        </p:nvSpPr>
        <p:spPr>
          <a:xfrm>
            <a:off x="749808" y="3739896"/>
            <a:ext cx="274320" cy="274320"/>
          </a:xfrm>
          <a:prstGeom prst="roundRect">
            <a:avLst>
              <a:gd name="adj" fmla="val 16667"/>
            </a:avLst>
          </a:prstGeom>
          <a:solidFill>
            <a:srgbClr val="E2A233"/>
          </a:solidFill>
          <a:ln/>
        </p:spPr>
      </p:sp>
      <p:sp>
        <p:nvSpPr>
          <p:cNvPr id="14" name="Text 12"/>
          <p:cNvSpPr/>
          <p:nvPr/>
        </p:nvSpPr>
        <p:spPr>
          <a:xfrm>
            <a:off x="749808" y="3739896"/>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170432" y="3639312"/>
            <a:ext cx="10332720" cy="475488"/>
          </a:xfrm>
          <a:prstGeom prst="rect">
            <a:avLst/>
          </a:prstGeom>
          <a:noFill/>
          <a:ln/>
        </p:spPr>
        <p:txBody>
          <a:bodyPr wrap="square" rtlCol="0" anchor="ctr">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Viết truy vấn tìm sinh viên học môn 'Cơ sở dữ liệu'</a:t>
            </a:r>
            <a:endParaRPr lang="en-US" sz="1500" dirty="0"/>
          </a:p>
        </p:txBody>
      </p:sp>
      <p:sp>
        <p:nvSpPr>
          <p:cNvPr id="16" name="Shape 14"/>
          <p:cNvSpPr/>
          <p:nvPr/>
        </p:nvSpPr>
        <p:spPr>
          <a:xfrm>
            <a:off x="749808" y="4215384"/>
            <a:ext cx="274320" cy="274320"/>
          </a:xfrm>
          <a:prstGeom prst="roundRect">
            <a:avLst>
              <a:gd name="adj" fmla="val 16667"/>
            </a:avLst>
          </a:prstGeom>
          <a:solidFill>
            <a:srgbClr val="E2A233"/>
          </a:solidFill>
          <a:ln/>
        </p:spPr>
      </p:sp>
      <p:sp>
        <p:nvSpPr>
          <p:cNvPr id="17" name="Text 15"/>
          <p:cNvSpPr/>
          <p:nvPr/>
        </p:nvSpPr>
        <p:spPr>
          <a:xfrm>
            <a:off x="749808" y="4215384"/>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170432" y="4114800"/>
            <a:ext cx="10332720" cy="475488"/>
          </a:xfrm>
          <a:prstGeom prst="rect">
            <a:avLst/>
          </a:prstGeom>
          <a:noFill/>
          <a:ln/>
        </p:spPr>
        <p:txBody>
          <a:bodyPr wrap="square" rtlCol="0" anchor="ctr">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Viết truy vấn đếm số môn học của mỗi sinh viên bằng GROUP BY</a:t>
            </a:r>
            <a:endParaRPr lang="en-US" sz="1500" dirty="0"/>
          </a:p>
        </p:txBody>
      </p:sp>
      <p:sp>
        <p:nvSpPr>
          <p:cNvPr id="19" name="Shape 17"/>
          <p:cNvSpPr/>
          <p:nvPr/>
        </p:nvSpPr>
        <p:spPr>
          <a:xfrm>
            <a:off x="749808" y="4690872"/>
            <a:ext cx="274320" cy="274320"/>
          </a:xfrm>
          <a:prstGeom prst="roundRect">
            <a:avLst>
              <a:gd name="adj" fmla="val 16667"/>
            </a:avLst>
          </a:prstGeom>
          <a:solidFill>
            <a:srgbClr val="E2A233"/>
          </a:solidFill>
          <a:ln/>
        </p:spPr>
      </p:sp>
      <p:sp>
        <p:nvSpPr>
          <p:cNvPr id="20" name="Text 18"/>
          <p:cNvSpPr/>
          <p:nvPr/>
        </p:nvSpPr>
        <p:spPr>
          <a:xfrm>
            <a:off x="749808" y="4690872"/>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70432" y="4590288"/>
            <a:ext cx="10332720" cy="475488"/>
          </a:xfrm>
          <a:prstGeom prst="rect">
            <a:avLst/>
          </a:prstGeom>
          <a:noFill/>
          <a:ln/>
        </p:spPr>
        <p:txBody>
          <a:bodyPr wrap="square" rtlCol="0" anchor="ctr">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Sắp xếp kết quả trả về theo tên sinh viên</a:t>
            </a:r>
            <a:endParaRPr lang="en-US" sz="1500" dirty="0"/>
          </a:p>
        </p:txBody>
      </p:sp>
      <p:sp>
        <p:nvSpPr>
          <p:cNvPr id="22" name="Shape 20"/>
          <p:cNvSpPr/>
          <p:nvPr/>
        </p:nvSpPr>
        <p:spPr>
          <a:xfrm>
            <a:off x="713232" y="5504688"/>
            <a:ext cx="10835640" cy="841248"/>
          </a:xfrm>
          <a:prstGeom prst="roundRect">
            <a:avLst>
              <a:gd name="adj" fmla="val 7609"/>
            </a:avLst>
          </a:prstGeom>
          <a:solidFill>
            <a:srgbClr val="EAF2FB"/>
          </a:solidFill>
          <a:ln w="12700">
            <a:solidFill>
              <a:srgbClr val="2E6CB5"/>
            </a:solidFill>
            <a:prstDash val="solid"/>
          </a:ln>
        </p:spPr>
      </p:sp>
      <p:sp>
        <p:nvSpPr>
          <p:cNvPr id="23" name="Text 21"/>
          <p:cNvSpPr/>
          <p:nvPr/>
        </p:nvSpPr>
        <p:spPr>
          <a:xfrm>
            <a:off x="914400" y="5577840"/>
            <a:ext cx="10469880" cy="237744"/>
          </a:xfrm>
          <a:prstGeom prst="rect">
            <a:avLst/>
          </a:prstGeom>
          <a:noFill/>
          <a:ln/>
        </p:spPr>
        <p:txBody>
          <a:bodyPr wrap="square" rtlCol="0" anchor="ctr"/>
          <a:lstStyle/>
          <a:p>
            <a:pPr indent="0" marL="0">
              <a:buNone/>
            </a:pPr>
            <a:r>
              <a:rPr lang="en-US" sz="1100" b="1" spc="100" kern="0" dirty="0">
                <a:solidFill>
                  <a:srgbClr val="2E6CB5"/>
                </a:solidFill>
                <a:latin typeface="Calibri" pitchFamily="34" charset="0"/>
                <a:ea typeface="Calibri" pitchFamily="34" charset="-122"/>
                <a:cs typeface="Calibri" pitchFamily="34" charset="-120"/>
              </a:rPr>
              <a:t>GỢI Ý</a:t>
            </a:r>
            <a:endParaRPr lang="en-US" sz="1100" dirty="0"/>
          </a:p>
        </p:txBody>
      </p:sp>
      <p:sp>
        <p:nvSpPr>
          <p:cNvPr id="24" name="Text 22"/>
          <p:cNvSpPr/>
          <p:nvPr/>
        </p:nvSpPr>
        <p:spPr>
          <a:xfrm>
            <a:off x="914400" y="5815584"/>
            <a:ext cx="10433304" cy="475488"/>
          </a:xfrm>
          <a:prstGeom prst="rect">
            <a:avLst/>
          </a:prstGeom>
          <a:noFill/>
          <a:ln/>
        </p:spPr>
        <p:txBody>
          <a:bodyPr wrap="square" rtlCol="0" anchor="t">
            <a:normAutofit/>
          </a:bodyPr>
          <a:lstStyle/>
          <a:p>
            <a:pPr indent="0" marL="0">
              <a:buNone/>
            </a:pPr>
            <a:r>
              <a:rPr lang="en-US" sz="1300" dirty="0">
                <a:solidFill>
                  <a:srgbClr val="1F2D3A"/>
                </a:solidFill>
                <a:latin typeface="Calibri" pitchFamily="34" charset="0"/>
                <a:ea typeface="Calibri" pitchFamily="34" charset="-122"/>
                <a:cs typeface="Calibri" pitchFamily="34" charset="-120"/>
              </a:rPr>
              <a:t>Sử dụng SELECT, WHERE, FILTER và kết hợp hàm COUNT với GROUP BY, ORDER BY.</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BÀI TẬP 5   ·   THỰC HÀNH</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Dựng ontology trong Protégé</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46</a:t>
            </a:r>
            <a:endParaRPr lang="en-US" sz="1100" dirty="0"/>
          </a:p>
        </p:txBody>
      </p:sp>
      <p:sp>
        <p:nvSpPr>
          <p:cNvPr id="6" name="Shape 4"/>
          <p:cNvSpPr/>
          <p:nvPr/>
        </p:nvSpPr>
        <p:spPr>
          <a:xfrm>
            <a:off x="713232" y="1417320"/>
            <a:ext cx="10835640" cy="1170432"/>
          </a:xfrm>
          <a:prstGeom prst="roundRect">
            <a:avLst>
              <a:gd name="adj" fmla="val 6250"/>
            </a:avLst>
          </a:prstGeom>
          <a:solidFill>
            <a:srgbClr val="EAF2FB"/>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7" name="Text 5"/>
          <p:cNvSpPr/>
          <p:nvPr/>
        </p:nvSpPr>
        <p:spPr>
          <a:xfrm>
            <a:off x="932688" y="1527048"/>
            <a:ext cx="10332720" cy="274320"/>
          </a:xfrm>
          <a:prstGeom prst="rect">
            <a:avLst/>
          </a:prstGeom>
          <a:noFill/>
          <a:ln/>
        </p:spPr>
        <p:txBody>
          <a:bodyPr wrap="square" rtlCol="0" anchor="ctr"/>
          <a:lstStyle/>
          <a:p>
            <a:pPr indent="0" marL="0">
              <a:buNone/>
            </a:pPr>
            <a:r>
              <a:rPr lang="en-US" sz="1200" b="1" spc="100" kern="0" dirty="0">
                <a:solidFill>
                  <a:srgbClr val="2E6CB5"/>
                </a:solidFill>
                <a:latin typeface="Calibri" pitchFamily="34" charset="0"/>
                <a:ea typeface="Calibri" pitchFamily="34" charset="-122"/>
                <a:cs typeface="Calibri" pitchFamily="34" charset="-120"/>
              </a:rPr>
              <a:t>ĐỀ BÀI</a:t>
            </a:r>
            <a:endParaRPr lang="en-US" sz="1200" dirty="0"/>
          </a:p>
        </p:txBody>
      </p:sp>
      <p:sp>
        <p:nvSpPr>
          <p:cNvPr id="8" name="Text 6"/>
          <p:cNvSpPr/>
          <p:nvPr/>
        </p:nvSpPr>
        <p:spPr>
          <a:xfrm>
            <a:off x="932688" y="1801368"/>
            <a:ext cx="10378440" cy="71323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Xây dựng một ontology hoàn chỉnh về 'Quản lý thư viện' trực tiếp trong phần mềm Protégé. Sau khi hoàn thành, chạy reasoner để kiểm tra tính nhất quán của ontology.</a:t>
            </a:r>
            <a:endParaRPr lang="en-US" sz="1500" dirty="0"/>
          </a:p>
        </p:txBody>
      </p:sp>
      <p:sp>
        <p:nvSpPr>
          <p:cNvPr id="9" name="Text 7"/>
          <p:cNvSpPr/>
          <p:nvPr/>
        </p:nvSpPr>
        <p:spPr>
          <a:xfrm>
            <a:off x="713232" y="2761488"/>
            <a:ext cx="7315200" cy="310896"/>
          </a:xfrm>
          <a:prstGeom prst="rect">
            <a:avLst/>
          </a:prstGeom>
          <a:noFill/>
          <a:ln/>
        </p:spPr>
        <p:txBody>
          <a:bodyPr wrap="square" rtlCol="0" anchor="ctr"/>
          <a:lstStyle/>
          <a:p>
            <a:pPr indent="0" marL="0">
              <a:buNone/>
            </a:pPr>
            <a:r>
              <a:rPr lang="en-US" sz="1300" b="1" spc="100" kern="0" dirty="0">
                <a:solidFill>
                  <a:srgbClr val="13315C"/>
                </a:solidFill>
                <a:latin typeface="Calibri" pitchFamily="34" charset="0"/>
                <a:ea typeface="Calibri" pitchFamily="34" charset="-122"/>
                <a:cs typeface="Calibri" pitchFamily="34" charset="-120"/>
              </a:rPr>
              <a:t>YÊU CẦU CẦN LÀM</a:t>
            </a:r>
            <a:endParaRPr lang="en-US" sz="1300" dirty="0"/>
          </a:p>
        </p:txBody>
      </p:sp>
      <p:sp>
        <p:nvSpPr>
          <p:cNvPr id="10" name="Shape 8"/>
          <p:cNvSpPr/>
          <p:nvPr/>
        </p:nvSpPr>
        <p:spPr>
          <a:xfrm>
            <a:off x="749808" y="3254350"/>
            <a:ext cx="274320" cy="274320"/>
          </a:xfrm>
          <a:prstGeom prst="roundRect">
            <a:avLst>
              <a:gd name="adj" fmla="val 16667"/>
            </a:avLst>
          </a:prstGeom>
          <a:solidFill>
            <a:srgbClr val="E2A233"/>
          </a:solidFill>
          <a:ln/>
        </p:spPr>
      </p:sp>
      <p:sp>
        <p:nvSpPr>
          <p:cNvPr id="11" name="Text 9"/>
          <p:cNvSpPr/>
          <p:nvPr/>
        </p:nvSpPr>
        <p:spPr>
          <a:xfrm>
            <a:off x="749808" y="3254350"/>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170432" y="3163824"/>
            <a:ext cx="10332720" cy="455371"/>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Tạo ít nhất 5 lớp có quan hệ phân cấp rõ ràng</a:t>
            </a:r>
            <a:endParaRPr lang="en-US" sz="1400" dirty="0"/>
          </a:p>
        </p:txBody>
      </p:sp>
      <p:sp>
        <p:nvSpPr>
          <p:cNvPr id="13" name="Shape 11"/>
          <p:cNvSpPr/>
          <p:nvPr/>
        </p:nvSpPr>
        <p:spPr>
          <a:xfrm>
            <a:off x="749808" y="3709721"/>
            <a:ext cx="274320" cy="274320"/>
          </a:xfrm>
          <a:prstGeom prst="roundRect">
            <a:avLst>
              <a:gd name="adj" fmla="val 16667"/>
            </a:avLst>
          </a:prstGeom>
          <a:solidFill>
            <a:srgbClr val="E2A233"/>
          </a:solidFill>
          <a:ln/>
        </p:spPr>
      </p:sp>
      <p:sp>
        <p:nvSpPr>
          <p:cNvPr id="14" name="Text 12"/>
          <p:cNvSpPr/>
          <p:nvPr/>
        </p:nvSpPr>
        <p:spPr>
          <a:xfrm>
            <a:off x="749808" y="3709721"/>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170432" y="3619195"/>
            <a:ext cx="10332720" cy="455371"/>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Tạo ít nhất 3 object property có khai báo domain và range</a:t>
            </a:r>
            <a:endParaRPr lang="en-US" sz="1400" dirty="0"/>
          </a:p>
        </p:txBody>
      </p:sp>
      <p:sp>
        <p:nvSpPr>
          <p:cNvPr id="16" name="Shape 14"/>
          <p:cNvSpPr/>
          <p:nvPr/>
        </p:nvSpPr>
        <p:spPr>
          <a:xfrm>
            <a:off x="749808" y="4165092"/>
            <a:ext cx="274320" cy="274320"/>
          </a:xfrm>
          <a:prstGeom prst="roundRect">
            <a:avLst>
              <a:gd name="adj" fmla="val 16667"/>
            </a:avLst>
          </a:prstGeom>
          <a:solidFill>
            <a:srgbClr val="E2A233"/>
          </a:solidFill>
          <a:ln/>
        </p:spPr>
      </p:sp>
      <p:sp>
        <p:nvSpPr>
          <p:cNvPr id="17" name="Text 15"/>
          <p:cNvSpPr/>
          <p:nvPr/>
        </p:nvSpPr>
        <p:spPr>
          <a:xfrm>
            <a:off x="749808" y="4165092"/>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170432" y="4074566"/>
            <a:ext cx="10332720" cy="455371"/>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Tạo ít nhất 2 data property mô tả thuộc tính dữ liệu</a:t>
            </a:r>
            <a:endParaRPr lang="en-US" sz="1400" dirty="0"/>
          </a:p>
        </p:txBody>
      </p:sp>
      <p:sp>
        <p:nvSpPr>
          <p:cNvPr id="19" name="Shape 17"/>
          <p:cNvSpPr/>
          <p:nvPr/>
        </p:nvSpPr>
        <p:spPr>
          <a:xfrm>
            <a:off x="749808" y="4620463"/>
            <a:ext cx="274320" cy="274320"/>
          </a:xfrm>
          <a:prstGeom prst="roundRect">
            <a:avLst>
              <a:gd name="adj" fmla="val 16667"/>
            </a:avLst>
          </a:prstGeom>
          <a:solidFill>
            <a:srgbClr val="E2A233"/>
          </a:solidFill>
          <a:ln/>
        </p:spPr>
      </p:sp>
      <p:sp>
        <p:nvSpPr>
          <p:cNvPr id="20" name="Text 18"/>
          <p:cNvSpPr/>
          <p:nvPr/>
        </p:nvSpPr>
        <p:spPr>
          <a:xfrm>
            <a:off x="749808" y="4620463"/>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70432" y="4529938"/>
            <a:ext cx="10332720" cy="455371"/>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Tạo ít nhất 3 cá thể minh hoạ cho các lớp đã định nghĩa</a:t>
            </a:r>
            <a:endParaRPr lang="en-US" sz="1400" dirty="0"/>
          </a:p>
        </p:txBody>
      </p:sp>
      <p:sp>
        <p:nvSpPr>
          <p:cNvPr id="22" name="Shape 20"/>
          <p:cNvSpPr/>
          <p:nvPr/>
        </p:nvSpPr>
        <p:spPr>
          <a:xfrm>
            <a:off x="749808" y="5075834"/>
            <a:ext cx="274320" cy="274320"/>
          </a:xfrm>
          <a:prstGeom prst="roundRect">
            <a:avLst>
              <a:gd name="adj" fmla="val 16667"/>
            </a:avLst>
          </a:prstGeom>
          <a:solidFill>
            <a:srgbClr val="E2A233"/>
          </a:solidFill>
          <a:ln/>
        </p:spPr>
      </p:sp>
      <p:sp>
        <p:nvSpPr>
          <p:cNvPr id="23" name="Text 21"/>
          <p:cNvSpPr/>
          <p:nvPr/>
        </p:nvSpPr>
        <p:spPr>
          <a:xfrm>
            <a:off x="749808" y="5075834"/>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70432" y="4985309"/>
            <a:ext cx="10332720" cy="455371"/>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Chạy reasoner (HermiT hoặc Pellet) để kiểm tra tính nhất quán</a:t>
            </a:r>
            <a:endParaRPr lang="en-US" sz="1400" dirty="0"/>
          </a:p>
        </p:txBody>
      </p:sp>
      <p:sp>
        <p:nvSpPr>
          <p:cNvPr id="25" name="Shape 23"/>
          <p:cNvSpPr/>
          <p:nvPr/>
        </p:nvSpPr>
        <p:spPr>
          <a:xfrm>
            <a:off x="713232" y="5504688"/>
            <a:ext cx="10835640" cy="841248"/>
          </a:xfrm>
          <a:prstGeom prst="roundRect">
            <a:avLst>
              <a:gd name="adj" fmla="val 7609"/>
            </a:avLst>
          </a:prstGeom>
          <a:solidFill>
            <a:srgbClr val="FBF1DA"/>
          </a:solidFill>
          <a:ln w="12700">
            <a:solidFill>
              <a:srgbClr val="C1801F"/>
            </a:solidFill>
            <a:prstDash val="solid"/>
          </a:ln>
        </p:spPr>
      </p:sp>
      <p:sp>
        <p:nvSpPr>
          <p:cNvPr id="26" name="Text 24"/>
          <p:cNvSpPr/>
          <p:nvPr/>
        </p:nvSpPr>
        <p:spPr>
          <a:xfrm>
            <a:off x="914400" y="5577840"/>
            <a:ext cx="10469880" cy="237744"/>
          </a:xfrm>
          <a:prstGeom prst="rect">
            <a:avLst/>
          </a:prstGeom>
          <a:noFill/>
          <a:ln/>
        </p:spPr>
        <p:txBody>
          <a:bodyPr wrap="square" rtlCol="0" anchor="ctr"/>
          <a:lstStyle/>
          <a:p>
            <a:pPr indent="0" marL="0">
              <a:buNone/>
            </a:pPr>
            <a:r>
              <a:rPr lang="en-US" sz="1100" b="1" spc="100" kern="0" dirty="0">
                <a:solidFill>
                  <a:srgbClr val="C1801F"/>
                </a:solidFill>
                <a:latin typeface="Calibri" pitchFamily="34" charset="0"/>
                <a:ea typeface="Calibri" pitchFamily="34" charset="-122"/>
                <a:cs typeface="Calibri" pitchFamily="34" charset="-120"/>
              </a:rPr>
              <a:t>SẢN PHẨM NỘP</a:t>
            </a:r>
            <a:endParaRPr lang="en-US" sz="1100" dirty="0"/>
          </a:p>
        </p:txBody>
      </p:sp>
      <p:sp>
        <p:nvSpPr>
          <p:cNvPr id="27" name="Text 25"/>
          <p:cNvSpPr/>
          <p:nvPr/>
        </p:nvSpPr>
        <p:spPr>
          <a:xfrm>
            <a:off x="914400" y="5815584"/>
            <a:ext cx="10433304" cy="475488"/>
          </a:xfrm>
          <a:prstGeom prst="rect">
            <a:avLst/>
          </a:prstGeom>
          <a:noFill/>
          <a:ln/>
        </p:spPr>
        <p:txBody>
          <a:bodyPr wrap="square" rtlCol="0" anchor="t">
            <a:normAutofit/>
          </a:bodyPr>
          <a:lstStyle/>
          <a:p>
            <a:pPr indent="0" marL="0">
              <a:buNone/>
            </a:pPr>
            <a:r>
              <a:rPr lang="en-US" sz="1300" dirty="0">
                <a:solidFill>
                  <a:srgbClr val="1F2D3A"/>
                </a:solidFill>
                <a:latin typeface="Calibri" pitchFamily="34" charset="0"/>
                <a:ea typeface="Calibri" pitchFamily="34" charset="-122"/>
                <a:cs typeface="Calibri" pitchFamily="34" charset="-120"/>
              </a:rPr>
              <a:t>File .owl kèm ảnh chụp cây phân cấp sau khi suy diễn.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ĐỒ ÁN NHỎ   ·   NÂNG CAO</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Xây ontology hoàn chỉnh theo chủ đề</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47</a:t>
            </a:r>
            <a:endParaRPr lang="en-US" sz="1100" dirty="0"/>
          </a:p>
        </p:txBody>
      </p:sp>
      <p:sp>
        <p:nvSpPr>
          <p:cNvPr id="6" name="Shape 4"/>
          <p:cNvSpPr/>
          <p:nvPr/>
        </p:nvSpPr>
        <p:spPr>
          <a:xfrm>
            <a:off x="713232" y="1417320"/>
            <a:ext cx="10835640" cy="1170432"/>
          </a:xfrm>
          <a:prstGeom prst="roundRect">
            <a:avLst>
              <a:gd name="adj" fmla="val 6250"/>
            </a:avLst>
          </a:prstGeom>
          <a:solidFill>
            <a:srgbClr val="EAF2FB"/>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7" name="Text 5"/>
          <p:cNvSpPr/>
          <p:nvPr/>
        </p:nvSpPr>
        <p:spPr>
          <a:xfrm>
            <a:off x="932688" y="1527048"/>
            <a:ext cx="10332720" cy="274320"/>
          </a:xfrm>
          <a:prstGeom prst="rect">
            <a:avLst/>
          </a:prstGeom>
          <a:noFill/>
          <a:ln/>
        </p:spPr>
        <p:txBody>
          <a:bodyPr wrap="square" rtlCol="0" anchor="ctr"/>
          <a:lstStyle/>
          <a:p>
            <a:pPr indent="0" marL="0">
              <a:buNone/>
            </a:pPr>
            <a:r>
              <a:rPr lang="en-US" sz="1200" b="1" spc="100" kern="0" dirty="0">
                <a:solidFill>
                  <a:srgbClr val="2E6CB5"/>
                </a:solidFill>
                <a:latin typeface="Calibri" pitchFamily="34" charset="0"/>
                <a:ea typeface="Calibri" pitchFamily="34" charset="-122"/>
                <a:cs typeface="Calibri" pitchFamily="34" charset="-120"/>
              </a:rPr>
              <a:t>ĐỀ BÀI</a:t>
            </a:r>
            <a:endParaRPr lang="en-US" sz="1200" dirty="0"/>
          </a:p>
        </p:txBody>
      </p:sp>
      <p:sp>
        <p:nvSpPr>
          <p:cNvPr id="8" name="Text 6"/>
          <p:cNvSpPr/>
          <p:nvPr/>
        </p:nvSpPr>
        <p:spPr>
          <a:xfrm>
            <a:off x="932688" y="1801368"/>
            <a:ext cx="10378440" cy="713232"/>
          </a:xfrm>
          <a:prstGeom prst="rect">
            <a:avLst/>
          </a:prstGeom>
          <a:noFill/>
          <a:ln/>
        </p:spPr>
        <p:txBody>
          <a:bodyPr wrap="square" rtlCol="0" anchor="t">
            <a:normAutofit/>
          </a:bodyPr>
          <a:lstStyle/>
          <a:p>
            <a:pPr indent="0" marL="0">
              <a:buNone/>
            </a:pPr>
            <a:r>
              <a:rPr lang="en-US" sz="1500" dirty="0">
                <a:solidFill>
                  <a:srgbClr val="1F2D3A"/>
                </a:solidFill>
                <a:latin typeface="Calibri" pitchFamily="34" charset="0"/>
                <a:ea typeface="Calibri" pitchFamily="34" charset="-122"/>
                <a:cs typeface="Calibri" pitchFamily="34" charset="-120"/>
              </a:rPr>
              <a:t>Chọn một miền tự do, ví dụ mạng xã hội, cửa hàng trực tuyến, quản lý phim hoặc du lịch. Xây dựng một ontology hoàn chỉnh cho miền đã chọn và minh hoạ bằng các truy vấn SPARQL. Đây là bài tập tổng hợp toàn bộ kiến thức đã học trong môn học.</a:t>
            </a:r>
            <a:endParaRPr lang="en-US" sz="1500" dirty="0"/>
          </a:p>
        </p:txBody>
      </p:sp>
      <p:sp>
        <p:nvSpPr>
          <p:cNvPr id="9" name="Text 7"/>
          <p:cNvSpPr/>
          <p:nvPr/>
        </p:nvSpPr>
        <p:spPr>
          <a:xfrm>
            <a:off x="713232" y="2761488"/>
            <a:ext cx="7315200" cy="310896"/>
          </a:xfrm>
          <a:prstGeom prst="rect">
            <a:avLst/>
          </a:prstGeom>
          <a:noFill/>
          <a:ln/>
        </p:spPr>
        <p:txBody>
          <a:bodyPr wrap="square" rtlCol="0" anchor="ctr"/>
          <a:lstStyle/>
          <a:p>
            <a:pPr indent="0" marL="0">
              <a:buNone/>
            </a:pPr>
            <a:r>
              <a:rPr lang="en-US" sz="1300" b="1" spc="100" kern="0" dirty="0">
                <a:solidFill>
                  <a:srgbClr val="13315C"/>
                </a:solidFill>
                <a:latin typeface="Calibri" pitchFamily="34" charset="0"/>
                <a:ea typeface="Calibri" pitchFamily="34" charset="-122"/>
                <a:cs typeface="Calibri" pitchFamily="34" charset="-120"/>
              </a:rPr>
              <a:t>YÊU CẦU CẦN LÀM</a:t>
            </a:r>
            <a:endParaRPr lang="en-US" sz="1300" dirty="0"/>
          </a:p>
        </p:txBody>
      </p:sp>
      <p:sp>
        <p:nvSpPr>
          <p:cNvPr id="10" name="Shape 8"/>
          <p:cNvSpPr/>
          <p:nvPr/>
        </p:nvSpPr>
        <p:spPr>
          <a:xfrm>
            <a:off x="749808" y="3254350"/>
            <a:ext cx="274320" cy="274320"/>
          </a:xfrm>
          <a:prstGeom prst="roundRect">
            <a:avLst>
              <a:gd name="adj" fmla="val 16667"/>
            </a:avLst>
          </a:prstGeom>
          <a:solidFill>
            <a:srgbClr val="E2A233"/>
          </a:solidFill>
          <a:ln/>
        </p:spPr>
      </p:sp>
      <p:sp>
        <p:nvSpPr>
          <p:cNvPr id="11" name="Text 9"/>
          <p:cNvSpPr/>
          <p:nvPr/>
        </p:nvSpPr>
        <p:spPr>
          <a:xfrm>
            <a:off x="749808" y="3254350"/>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170432" y="3163824"/>
            <a:ext cx="10332720" cy="455371"/>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Xây dựng ít nhất 10 lớp có quan hệ phân cấp hợp lý</a:t>
            </a:r>
            <a:endParaRPr lang="en-US" sz="1400" dirty="0"/>
          </a:p>
        </p:txBody>
      </p:sp>
      <p:sp>
        <p:nvSpPr>
          <p:cNvPr id="13" name="Shape 11"/>
          <p:cNvSpPr/>
          <p:nvPr/>
        </p:nvSpPr>
        <p:spPr>
          <a:xfrm>
            <a:off x="749808" y="3709721"/>
            <a:ext cx="274320" cy="274320"/>
          </a:xfrm>
          <a:prstGeom prst="roundRect">
            <a:avLst>
              <a:gd name="adj" fmla="val 16667"/>
            </a:avLst>
          </a:prstGeom>
          <a:solidFill>
            <a:srgbClr val="E2A233"/>
          </a:solidFill>
          <a:ln/>
        </p:spPr>
      </p:sp>
      <p:sp>
        <p:nvSpPr>
          <p:cNvPr id="14" name="Text 12"/>
          <p:cNvSpPr/>
          <p:nvPr/>
        </p:nvSpPr>
        <p:spPr>
          <a:xfrm>
            <a:off x="749808" y="3709721"/>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170432" y="3619195"/>
            <a:ext cx="10332720" cy="455371"/>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Định nghĩa ít nhất 5 thuộc tính gồm object và data property</a:t>
            </a:r>
            <a:endParaRPr lang="en-US" sz="1400" dirty="0"/>
          </a:p>
        </p:txBody>
      </p:sp>
      <p:sp>
        <p:nvSpPr>
          <p:cNvPr id="16" name="Shape 14"/>
          <p:cNvSpPr/>
          <p:nvPr/>
        </p:nvSpPr>
        <p:spPr>
          <a:xfrm>
            <a:off x="749808" y="4165092"/>
            <a:ext cx="274320" cy="274320"/>
          </a:xfrm>
          <a:prstGeom prst="roundRect">
            <a:avLst>
              <a:gd name="adj" fmla="val 16667"/>
            </a:avLst>
          </a:prstGeom>
          <a:solidFill>
            <a:srgbClr val="E2A233"/>
          </a:solidFill>
          <a:ln/>
        </p:spPr>
      </p:sp>
      <p:sp>
        <p:nvSpPr>
          <p:cNvPr id="17" name="Text 15"/>
          <p:cNvSpPr/>
          <p:nvPr/>
        </p:nvSpPr>
        <p:spPr>
          <a:xfrm>
            <a:off x="749808" y="4165092"/>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170432" y="4074566"/>
            <a:ext cx="10332720" cy="455371"/>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Tạo ít nhất 8 cá thể minh hoạ cho ontology</a:t>
            </a:r>
            <a:endParaRPr lang="en-US" sz="1400" dirty="0"/>
          </a:p>
        </p:txBody>
      </p:sp>
      <p:sp>
        <p:nvSpPr>
          <p:cNvPr id="19" name="Shape 17"/>
          <p:cNvSpPr/>
          <p:nvPr/>
        </p:nvSpPr>
        <p:spPr>
          <a:xfrm>
            <a:off x="749808" y="4620463"/>
            <a:ext cx="274320" cy="274320"/>
          </a:xfrm>
          <a:prstGeom prst="roundRect">
            <a:avLst>
              <a:gd name="adj" fmla="val 16667"/>
            </a:avLst>
          </a:prstGeom>
          <a:solidFill>
            <a:srgbClr val="E2A233"/>
          </a:solidFill>
          <a:ln/>
        </p:spPr>
      </p:sp>
      <p:sp>
        <p:nvSpPr>
          <p:cNvPr id="20" name="Text 18"/>
          <p:cNvSpPr/>
          <p:nvPr/>
        </p:nvSpPr>
        <p:spPr>
          <a:xfrm>
            <a:off x="749808" y="4620463"/>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70432" y="4529938"/>
            <a:ext cx="10332720" cy="455371"/>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Viết ít nhất 5 truy vấn SPARQL minh hoạ khai thác dữ liệu</a:t>
            </a:r>
            <a:endParaRPr lang="en-US" sz="1400" dirty="0"/>
          </a:p>
        </p:txBody>
      </p:sp>
      <p:sp>
        <p:nvSpPr>
          <p:cNvPr id="22" name="Shape 20"/>
          <p:cNvSpPr/>
          <p:nvPr/>
        </p:nvSpPr>
        <p:spPr>
          <a:xfrm>
            <a:off x="749808" y="5075834"/>
            <a:ext cx="274320" cy="274320"/>
          </a:xfrm>
          <a:prstGeom prst="roundRect">
            <a:avLst>
              <a:gd name="adj" fmla="val 16667"/>
            </a:avLst>
          </a:prstGeom>
          <a:solidFill>
            <a:srgbClr val="E2A233"/>
          </a:solidFill>
          <a:ln/>
        </p:spPr>
      </p:sp>
      <p:sp>
        <p:nvSpPr>
          <p:cNvPr id="23" name="Text 21"/>
          <p:cNvSpPr/>
          <p:nvPr/>
        </p:nvSpPr>
        <p:spPr>
          <a:xfrm>
            <a:off x="749808" y="5075834"/>
            <a:ext cx="2743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70432" y="4985309"/>
            <a:ext cx="10332720" cy="455371"/>
          </a:xfrm>
          <a:prstGeom prst="rect">
            <a:avLst/>
          </a:prstGeom>
          <a:noFill/>
          <a:ln/>
        </p:spPr>
        <p:txBody>
          <a:bodyPr wrap="square" rtlCol="0" anchor="ctr">
            <a:normAutofit/>
          </a:bodyPr>
          <a:lstStyle/>
          <a:p>
            <a:pPr indent="0" marL="0">
              <a:buNone/>
            </a:pPr>
            <a:r>
              <a:rPr lang="en-US" sz="1400" dirty="0">
                <a:solidFill>
                  <a:srgbClr val="1F2D3A"/>
                </a:solidFill>
                <a:latin typeface="Calibri" pitchFamily="34" charset="0"/>
                <a:ea typeface="Calibri" pitchFamily="34" charset="-122"/>
                <a:cs typeface="Calibri" pitchFamily="34" charset="-120"/>
              </a:rPr>
              <a:t>Viết báo cáo ngắn mô tả quá trình thiết kế ontology</a:t>
            </a:r>
            <a:endParaRPr lang="en-US" sz="1400" dirty="0"/>
          </a:p>
        </p:txBody>
      </p:sp>
      <p:sp>
        <p:nvSpPr>
          <p:cNvPr id="25" name="Shape 23"/>
          <p:cNvSpPr/>
          <p:nvPr/>
        </p:nvSpPr>
        <p:spPr>
          <a:xfrm>
            <a:off x="713232" y="5504688"/>
            <a:ext cx="5257800" cy="841248"/>
          </a:xfrm>
          <a:prstGeom prst="roundRect">
            <a:avLst>
              <a:gd name="adj" fmla="val 7609"/>
            </a:avLst>
          </a:prstGeom>
          <a:solidFill>
            <a:srgbClr val="EAF2FB"/>
          </a:solidFill>
          <a:ln w="12700">
            <a:solidFill>
              <a:srgbClr val="2E6CB5"/>
            </a:solidFill>
            <a:prstDash val="solid"/>
          </a:ln>
        </p:spPr>
      </p:sp>
      <p:sp>
        <p:nvSpPr>
          <p:cNvPr id="26" name="Text 24"/>
          <p:cNvSpPr/>
          <p:nvPr/>
        </p:nvSpPr>
        <p:spPr>
          <a:xfrm>
            <a:off x="914400" y="5577840"/>
            <a:ext cx="4892040" cy="237744"/>
          </a:xfrm>
          <a:prstGeom prst="rect">
            <a:avLst/>
          </a:prstGeom>
          <a:noFill/>
          <a:ln/>
        </p:spPr>
        <p:txBody>
          <a:bodyPr wrap="square" rtlCol="0" anchor="ctr"/>
          <a:lstStyle/>
          <a:p>
            <a:pPr indent="0" marL="0">
              <a:buNone/>
            </a:pPr>
            <a:r>
              <a:rPr lang="en-US" sz="1100" b="1" spc="100" kern="0" dirty="0">
                <a:solidFill>
                  <a:srgbClr val="2E6CB5"/>
                </a:solidFill>
                <a:latin typeface="Calibri" pitchFamily="34" charset="0"/>
                <a:ea typeface="Calibri" pitchFamily="34" charset="-122"/>
                <a:cs typeface="Calibri" pitchFamily="34" charset="-120"/>
              </a:rPr>
              <a:t>GỢI Ý</a:t>
            </a:r>
            <a:endParaRPr lang="en-US" sz="1100" dirty="0"/>
          </a:p>
        </p:txBody>
      </p:sp>
      <p:sp>
        <p:nvSpPr>
          <p:cNvPr id="27" name="Text 25"/>
          <p:cNvSpPr/>
          <p:nvPr/>
        </p:nvSpPr>
        <p:spPr>
          <a:xfrm>
            <a:off x="914400" y="5815584"/>
            <a:ext cx="4855464" cy="475488"/>
          </a:xfrm>
          <a:prstGeom prst="rect">
            <a:avLst/>
          </a:prstGeom>
          <a:noFill/>
          <a:ln/>
        </p:spPr>
        <p:txBody>
          <a:bodyPr wrap="square" rtlCol="0" anchor="t">
            <a:normAutofit/>
          </a:bodyPr>
          <a:lstStyle/>
          <a:p>
            <a:pPr indent="0" marL="0">
              <a:buNone/>
            </a:pPr>
            <a:r>
              <a:rPr lang="en-US" sz="1300" dirty="0">
                <a:solidFill>
                  <a:srgbClr val="1F2D3A"/>
                </a:solidFill>
                <a:latin typeface="Calibri" pitchFamily="34" charset="0"/>
                <a:ea typeface="Calibri" pitchFamily="34" charset="-122"/>
                <a:cs typeface="Calibri" pitchFamily="34" charset="-120"/>
              </a:rPr>
              <a:t>Tiêu chí chấm điểm: đúng khái niệm 40%, đủ quan hệ và ràng buộc 30%, truy vấn SPARQL 20%, trình bày 10%.</a:t>
            </a:r>
            <a:endParaRPr lang="en-US" sz="1300" dirty="0"/>
          </a:p>
        </p:txBody>
      </p:sp>
      <p:sp>
        <p:nvSpPr>
          <p:cNvPr id="28" name="Shape 26"/>
          <p:cNvSpPr/>
          <p:nvPr/>
        </p:nvSpPr>
        <p:spPr>
          <a:xfrm>
            <a:off x="6291072" y="5504688"/>
            <a:ext cx="5257800" cy="841248"/>
          </a:xfrm>
          <a:prstGeom prst="roundRect">
            <a:avLst>
              <a:gd name="adj" fmla="val 7609"/>
            </a:avLst>
          </a:prstGeom>
          <a:solidFill>
            <a:srgbClr val="FBF1DA"/>
          </a:solidFill>
          <a:ln w="12700">
            <a:solidFill>
              <a:srgbClr val="C1801F"/>
            </a:solidFill>
            <a:prstDash val="solid"/>
          </a:ln>
        </p:spPr>
      </p:sp>
      <p:sp>
        <p:nvSpPr>
          <p:cNvPr id="29" name="Text 27"/>
          <p:cNvSpPr/>
          <p:nvPr/>
        </p:nvSpPr>
        <p:spPr>
          <a:xfrm>
            <a:off x="6492240" y="5577840"/>
            <a:ext cx="4892040" cy="237744"/>
          </a:xfrm>
          <a:prstGeom prst="rect">
            <a:avLst/>
          </a:prstGeom>
          <a:noFill/>
          <a:ln/>
        </p:spPr>
        <p:txBody>
          <a:bodyPr wrap="square" rtlCol="0" anchor="ctr"/>
          <a:lstStyle/>
          <a:p>
            <a:pPr indent="0" marL="0">
              <a:buNone/>
            </a:pPr>
            <a:r>
              <a:rPr lang="en-US" sz="1100" b="1" spc="100" kern="0" dirty="0">
                <a:solidFill>
                  <a:srgbClr val="C1801F"/>
                </a:solidFill>
                <a:latin typeface="Calibri" pitchFamily="34" charset="0"/>
                <a:ea typeface="Calibri" pitchFamily="34" charset="-122"/>
                <a:cs typeface="Calibri" pitchFamily="34" charset="-120"/>
              </a:rPr>
              <a:t>SẢN PHẨM NỘP</a:t>
            </a:r>
            <a:endParaRPr lang="en-US" sz="1100" dirty="0"/>
          </a:p>
        </p:txBody>
      </p:sp>
      <p:sp>
        <p:nvSpPr>
          <p:cNvPr id="30" name="Text 28"/>
          <p:cNvSpPr/>
          <p:nvPr/>
        </p:nvSpPr>
        <p:spPr>
          <a:xfrm>
            <a:off x="6492240" y="5815584"/>
            <a:ext cx="4855464" cy="475488"/>
          </a:xfrm>
          <a:prstGeom prst="rect">
            <a:avLst/>
          </a:prstGeom>
          <a:noFill/>
          <a:ln/>
        </p:spPr>
        <p:txBody>
          <a:bodyPr wrap="square" rtlCol="0" anchor="t">
            <a:normAutofit/>
          </a:bodyPr>
          <a:lstStyle/>
          <a:p>
            <a:pPr indent="0" marL="0">
              <a:buNone/>
            </a:pPr>
            <a:r>
              <a:rPr lang="en-US" sz="1300" dirty="0">
                <a:solidFill>
                  <a:srgbClr val="1F2D3A"/>
                </a:solidFill>
                <a:latin typeface="Calibri" pitchFamily="34" charset="0"/>
                <a:ea typeface="Calibri" pitchFamily="34" charset="-122"/>
                <a:cs typeface="Calibri" pitchFamily="34" charset="-120"/>
              </a:rPr>
              <a:t>File .owl và báo cáo thiết kế.</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5  ·  THỰC HÀNH &amp; TỔNG KẾT</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Tài nguyên &amp; công cụ học tập</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48</a:t>
            </a:r>
            <a:endParaRPr lang="en-US" sz="1100" dirty="0"/>
          </a:p>
        </p:txBody>
      </p:sp>
      <p:sp>
        <p:nvSpPr>
          <p:cNvPr id="6" name="Shape 4"/>
          <p:cNvSpPr/>
          <p:nvPr/>
        </p:nvSpPr>
        <p:spPr>
          <a:xfrm>
            <a:off x="713232" y="1715262"/>
            <a:ext cx="329184" cy="329184"/>
          </a:xfrm>
          <a:prstGeom prst="roundRect">
            <a:avLst>
              <a:gd name="adj" fmla="val 16667"/>
            </a:avLst>
          </a:prstGeom>
          <a:solidFill>
            <a:srgbClr val="13315C"/>
          </a:solidFill>
          <a:ln/>
        </p:spPr>
      </p:sp>
      <p:sp>
        <p:nvSpPr>
          <p:cNvPr id="7" name="Text 5"/>
          <p:cNvSpPr/>
          <p:nvPr/>
        </p:nvSpPr>
        <p:spPr>
          <a:xfrm>
            <a:off x="713232" y="171526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07008" y="1481328"/>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Phần mềm Protégé: tải miễn phí tại protege.stanford.edu</a:t>
            </a:r>
            <a:endParaRPr lang="en-US" sz="1600" dirty="0"/>
          </a:p>
        </p:txBody>
      </p:sp>
      <p:sp>
        <p:nvSpPr>
          <p:cNvPr id="9" name="Shape 7"/>
          <p:cNvSpPr/>
          <p:nvPr/>
        </p:nvSpPr>
        <p:spPr>
          <a:xfrm>
            <a:off x="713232" y="2512314"/>
            <a:ext cx="329184" cy="329184"/>
          </a:xfrm>
          <a:prstGeom prst="roundRect">
            <a:avLst>
              <a:gd name="adj" fmla="val 16667"/>
            </a:avLst>
          </a:prstGeom>
          <a:solidFill>
            <a:srgbClr val="13315C"/>
          </a:solidFill>
          <a:ln/>
        </p:spPr>
      </p:sp>
      <p:sp>
        <p:nvSpPr>
          <p:cNvPr id="10" name="Text 8"/>
          <p:cNvSpPr/>
          <p:nvPr/>
        </p:nvSpPr>
        <p:spPr>
          <a:xfrm>
            <a:off x="713232" y="2512314"/>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07008" y="2278380"/>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Các chuẩn W3C nền tảng: RDF, RDFS, OWL, SPARQL</a:t>
            </a:r>
            <a:endParaRPr lang="en-US" sz="1600" dirty="0"/>
          </a:p>
        </p:txBody>
      </p:sp>
      <p:sp>
        <p:nvSpPr>
          <p:cNvPr id="12" name="Shape 10"/>
          <p:cNvSpPr/>
          <p:nvPr/>
        </p:nvSpPr>
        <p:spPr>
          <a:xfrm>
            <a:off x="713232" y="3309366"/>
            <a:ext cx="329184" cy="329184"/>
          </a:xfrm>
          <a:prstGeom prst="roundRect">
            <a:avLst>
              <a:gd name="adj" fmla="val 16667"/>
            </a:avLst>
          </a:prstGeom>
          <a:solidFill>
            <a:srgbClr val="13315C"/>
          </a:solidFill>
          <a:ln/>
        </p:spPr>
      </p:sp>
      <p:sp>
        <p:nvSpPr>
          <p:cNvPr id="13" name="Text 11"/>
          <p:cNvSpPr/>
          <p:nvPr/>
        </p:nvSpPr>
        <p:spPr>
          <a:xfrm>
            <a:off x="713232" y="3309366"/>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07008" y="3075432"/>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Thư viện lập trình Apache Jena cho Java</a:t>
            </a:r>
            <a:endParaRPr lang="en-US" sz="1600" dirty="0"/>
          </a:p>
        </p:txBody>
      </p:sp>
      <p:sp>
        <p:nvSpPr>
          <p:cNvPr id="15" name="Shape 13"/>
          <p:cNvSpPr/>
          <p:nvPr/>
        </p:nvSpPr>
        <p:spPr>
          <a:xfrm>
            <a:off x="713232" y="4106418"/>
            <a:ext cx="329184" cy="329184"/>
          </a:xfrm>
          <a:prstGeom prst="roundRect">
            <a:avLst>
              <a:gd name="adj" fmla="val 16667"/>
            </a:avLst>
          </a:prstGeom>
          <a:solidFill>
            <a:srgbClr val="13315C"/>
          </a:solidFill>
          <a:ln/>
        </p:spPr>
      </p:sp>
      <p:sp>
        <p:nvSpPr>
          <p:cNvPr id="16" name="Text 14"/>
          <p:cNvSpPr/>
          <p:nvPr/>
        </p:nvSpPr>
        <p:spPr>
          <a:xfrm>
            <a:off x="713232" y="4106418"/>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07008" y="3872484"/>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Dữ liệu mở tham khảo: DBpedia và Wikidata</a:t>
            </a:r>
            <a:endParaRPr lang="en-US" sz="1600" dirty="0"/>
          </a:p>
        </p:txBody>
      </p:sp>
      <p:sp>
        <p:nvSpPr>
          <p:cNvPr id="18" name="Shape 16"/>
          <p:cNvSpPr/>
          <p:nvPr/>
        </p:nvSpPr>
        <p:spPr>
          <a:xfrm>
            <a:off x="713232" y="4903470"/>
            <a:ext cx="329184" cy="329184"/>
          </a:xfrm>
          <a:prstGeom prst="roundRect">
            <a:avLst>
              <a:gd name="adj" fmla="val 16667"/>
            </a:avLst>
          </a:prstGeom>
          <a:solidFill>
            <a:srgbClr val="13315C"/>
          </a:solidFill>
          <a:ln/>
        </p:spPr>
      </p:sp>
      <p:sp>
        <p:nvSpPr>
          <p:cNvPr id="19" name="Text 17"/>
          <p:cNvSpPr/>
          <p:nvPr/>
        </p:nvSpPr>
        <p:spPr>
          <a:xfrm>
            <a:off x="713232" y="4903470"/>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07008" y="4669536"/>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Sách tham khảo: Semantic Web for the Working Ontologist</a:t>
            </a:r>
            <a:endParaRPr lang="en-US" sz="1600" dirty="0"/>
          </a:p>
        </p:txBody>
      </p:sp>
      <p:sp>
        <p:nvSpPr>
          <p:cNvPr id="21" name="Shape 19"/>
          <p:cNvSpPr/>
          <p:nvPr/>
        </p:nvSpPr>
        <p:spPr>
          <a:xfrm>
            <a:off x="713232" y="5700522"/>
            <a:ext cx="329184" cy="329184"/>
          </a:xfrm>
          <a:prstGeom prst="roundRect">
            <a:avLst>
              <a:gd name="adj" fmla="val 16667"/>
            </a:avLst>
          </a:prstGeom>
          <a:solidFill>
            <a:srgbClr val="13315C"/>
          </a:solidFill>
          <a:ln/>
        </p:spPr>
      </p:sp>
      <p:sp>
        <p:nvSpPr>
          <p:cNvPr id="22" name="Text 20"/>
          <p:cNvSpPr/>
          <p:nvPr/>
        </p:nvSpPr>
        <p:spPr>
          <a:xfrm>
            <a:off x="713232" y="5700522"/>
            <a:ext cx="329184"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p:nvPr/>
        </p:nvSpPr>
        <p:spPr>
          <a:xfrm>
            <a:off x="1207008" y="5466588"/>
            <a:ext cx="10296144" cy="797052"/>
          </a:xfrm>
          <a:prstGeom prst="rect">
            <a:avLst/>
          </a:prstGeom>
          <a:noFill/>
          <a:ln/>
        </p:spPr>
        <p:txBody>
          <a:bodyPr wrap="square" rtlCol="0" anchor="ctr">
            <a:normAutofit/>
          </a:bodyPr>
          <a:lstStyle/>
          <a:p>
            <a:pPr indent="0" marL="0">
              <a:buNone/>
            </a:pPr>
            <a:r>
              <a:rPr lang="en-US" sz="1600" dirty="0">
                <a:solidFill>
                  <a:srgbClr val="1F2D3A"/>
                </a:solidFill>
                <a:latin typeface="Calibri" pitchFamily="34" charset="0"/>
                <a:ea typeface="Calibri" pitchFamily="34" charset="-122"/>
                <a:cs typeface="Calibri" pitchFamily="34" charset="-120"/>
              </a:rPr>
              <a:t>Hướng dẫn thực hành: Ontology Development 101</a:t>
            </a:r>
            <a:endParaRPr 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EAF2FB"/>
        </a:solidFill>
      </p:bgPr>
    </p:bg>
    <p:spTree>
      <p:nvGrpSpPr>
        <p:cNvPr id="1" name=""/>
        <p:cNvGrpSpPr/>
        <p:nvPr/>
      </p:nvGrpSpPr>
      <p:grpSpPr>
        <a:xfrm>
          <a:off x="0" y="0"/>
          <a:ext cx="0" cy="0"/>
          <a:chOff x="0" y="0"/>
          <a:chExt cx="0" cy="0"/>
        </a:xfrm>
      </p:grpSpPr>
      <p:sp>
        <p:nvSpPr>
          <p:cNvPr id="2" name="Text 0"/>
          <p:cNvSpPr/>
          <p:nvPr/>
        </p:nvSpPr>
        <p:spPr>
          <a:xfrm>
            <a:off x="640080" y="329184"/>
            <a:ext cx="10972800" cy="274320"/>
          </a:xfrm>
          <a:prstGeom prst="rect">
            <a:avLst/>
          </a:prstGeom>
          <a:noFill/>
          <a:ln/>
        </p:spPr>
        <p:txBody>
          <a:bodyPr wrap="square" rtlCol="0" anchor="ctr"/>
          <a:lstStyle/>
          <a:p>
            <a:pPr indent="0" marL="0">
              <a:buNone/>
            </a:pPr>
            <a:r>
              <a:rPr lang="en-US" sz="1200" b="1" spc="200" kern="0" dirty="0">
                <a:solidFill>
                  <a:srgbClr val="C1801F"/>
                </a:solidFill>
                <a:latin typeface="Calibri" pitchFamily="34" charset="0"/>
                <a:ea typeface="Calibri" pitchFamily="34" charset="-122"/>
                <a:cs typeface="Calibri" pitchFamily="34" charset="-120"/>
              </a:rPr>
              <a:t>PHẦN 5  ·  THỰC HÀNH &amp; TỔNG KẾT</a:t>
            </a:r>
            <a:endParaRPr lang="en-US" sz="1200" dirty="0"/>
          </a:p>
        </p:txBody>
      </p:sp>
      <p:sp>
        <p:nvSpPr>
          <p:cNvPr id="3" name="Text 1"/>
          <p:cNvSpPr/>
          <p:nvPr/>
        </p:nvSpPr>
        <p:spPr>
          <a:xfrm>
            <a:off x="603504" y="603504"/>
            <a:ext cx="10972800" cy="841248"/>
          </a:xfrm>
          <a:prstGeom prst="rect">
            <a:avLst/>
          </a:prstGeom>
          <a:noFill/>
          <a:ln/>
        </p:spPr>
        <p:txBody>
          <a:bodyPr wrap="square" rtlCol="0" anchor="t"/>
          <a:lstStyle/>
          <a:p>
            <a:pPr indent="0" marL="0">
              <a:buNone/>
            </a:pPr>
            <a:r>
              <a:rPr lang="en-US" sz="3100" b="1" dirty="0">
                <a:solidFill>
                  <a:srgbClr val="13315C"/>
                </a:solidFill>
                <a:latin typeface="Cambria" pitchFamily="34" charset="0"/>
                <a:ea typeface="Cambria" pitchFamily="34" charset="-122"/>
                <a:cs typeface="Cambria" pitchFamily="34" charset="-120"/>
              </a:rPr>
              <a:t>Tổng kết &amp; Điều cần nhớ</a:t>
            </a:r>
            <a:endParaRPr lang="en-US" sz="3100" dirty="0"/>
          </a:p>
        </p:txBody>
      </p:sp>
      <p:sp>
        <p:nvSpPr>
          <p:cNvPr id="4" name="Text 2"/>
          <p:cNvSpPr/>
          <p:nvPr/>
        </p:nvSpPr>
        <p:spPr>
          <a:xfrm>
            <a:off x="640080" y="6455664"/>
            <a:ext cx="5486400" cy="274320"/>
          </a:xfrm>
          <a:prstGeom prst="rect">
            <a:avLst/>
          </a:prstGeom>
          <a:noFill/>
          <a:ln/>
        </p:spPr>
        <p:txBody>
          <a:bodyPr wrap="square" rtlCol="0" anchor="ctr"/>
          <a:lstStyle/>
          <a:p>
            <a:pPr indent="0" marL="0">
              <a:buNone/>
            </a:pPr>
            <a:r>
              <a:rPr lang="en-US" sz="900" dirty="0">
                <a:solidFill>
                  <a:srgbClr val="5C6B7B"/>
                </a:solidFill>
                <a:latin typeface="Calibri" pitchFamily="34" charset="0"/>
                <a:ea typeface="Calibri" pitchFamily="34" charset="-122"/>
                <a:cs typeface="Calibri" pitchFamily="34" charset="-120"/>
              </a:rPr>
              <a:t>Ontology và Ứng dụng  ·  CNTT năm 2</a:t>
            </a:r>
            <a:endParaRPr lang="en-US" sz="900" dirty="0"/>
          </a:p>
        </p:txBody>
      </p:sp>
      <p:sp>
        <p:nvSpPr>
          <p:cNvPr id="5" name="Text 3"/>
          <p:cNvSpPr/>
          <p:nvPr/>
        </p:nvSpPr>
        <p:spPr>
          <a:xfrm>
            <a:off x="11430000" y="6419088"/>
            <a:ext cx="502920" cy="274320"/>
          </a:xfrm>
          <a:prstGeom prst="rect">
            <a:avLst/>
          </a:prstGeom>
          <a:noFill/>
          <a:ln/>
        </p:spPr>
        <p:txBody>
          <a:bodyPr wrap="square" rtlCol="0" anchor="ctr"/>
          <a:lstStyle/>
          <a:p>
            <a:pPr algn="r" indent="0" marL="0">
              <a:buNone/>
            </a:pPr>
            <a:r>
              <a:rPr lang="en-US" sz="1100" dirty="0">
                <a:solidFill>
                  <a:srgbClr val="5C6B7B"/>
                </a:solidFill>
                <a:latin typeface="Calibri" pitchFamily="34" charset="0"/>
                <a:ea typeface="Calibri" pitchFamily="34" charset="-122"/>
                <a:cs typeface="Calibri" pitchFamily="34" charset="-120"/>
              </a:rPr>
              <a:t>49</a:t>
            </a:r>
            <a:endParaRPr lang="en-US" sz="1100" dirty="0"/>
          </a:p>
        </p:txBody>
      </p:sp>
      <p:sp>
        <p:nvSpPr>
          <p:cNvPr id="6" name="Shape 4"/>
          <p:cNvSpPr/>
          <p:nvPr/>
        </p:nvSpPr>
        <p:spPr>
          <a:xfrm>
            <a:off x="822960" y="1655064"/>
            <a:ext cx="10561320" cy="722376"/>
          </a:xfrm>
          <a:prstGeom prst="roundRect">
            <a:avLst>
              <a:gd name="adj" fmla="val 10127"/>
            </a:avLst>
          </a:prstGeom>
          <a:solidFill>
            <a:srgbClr val="FFFFFF"/>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7" name="Shape 5"/>
          <p:cNvSpPr/>
          <p:nvPr/>
        </p:nvSpPr>
        <p:spPr>
          <a:xfrm>
            <a:off x="1024128" y="1879092"/>
            <a:ext cx="310896" cy="310896"/>
          </a:xfrm>
          <a:prstGeom prst="ellipse">
            <a:avLst/>
          </a:prstGeom>
          <a:solidFill>
            <a:srgbClr val="E2A233"/>
          </a:solidFill>
          <a:ln/>
        </p:spPr>
      </p:sp>
      <p:sp>
        <p:nvSpPr>
          <p:cNvPr id="8" name="Text 6"/>
          <p:cNvSpPr/>
          <p:nvPr/>
        </p:nvSpPr>
        <p:spPr>
          <a:xfrm>
            <a:off x="1024128" y="1879092"/>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536192" y="1600200"/>
            <a:ext cx="9646920" cy="868680"/>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Ontology là cách biểu diễn tri thức một cách tường minh và có thể xử lý được bằng máy tính</a:t>
            </a:r>
            <a:endParaRPr lang="en-US" sz="1700" dirty="0"/>
          </a:p>
        </p:txBody>
      </p:sp>
      <p:sp>
        <p:nvSpPr>
          <p:cNvPr id="10" name="Shape 8"/>
          <p:cNvSpPr/>
          <p:nvPr/>
        </p:nvSpPr>
        <p:spPr>
          <a:xfrm>
            <a:off x="822960" y="2523744"/>
            <a:ext cx="10561320" cy="722376"/>
          </a:xfrm>
          <a:prstGeom prst="roundRect">
            <a:avLst>
              <a:gd name="adj" fmla="val 10127"/>
            </a:avLst>
          </a:prstGeom>
          <a:solidFill>
            <a:srgbClr val="FFFFFF"/>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11" name="Shape 9"/>
          <p:cNvSpPr/>
          <p:nvPr/>
        </p:nvSpPr>
        <p:spPr>
          <a:xfrm>
            <a:off x="1024128" y="2747772"/>
            <a:ext cx="310896" cy="310896"/>
          </a:xfrm>
          <a:prstGeom prst="ellipse">
            <a:avLst/>
          </a:prstGeom>
          <a:solidFill>
            <a:srgbClr val="E2A233"/>
          </a:solidFill>
          <a:ln/>
        </p:spPr>
      </p:sp>
      <p:sp>
        <p:nvSpPr>
          <p:cNvPr id="12" name="Text 10"/>
          <p:cNvSpPr/>
          <p:nvPr/>
        </p:nvSpPr>
        <p:spPr>
          <a:xfrm>
            <a:off x="1024128" y="2747772"/>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536192" y="2468880"/>
            <a:ext cx="9646920" cy="868680"/>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RDF, RDFS, OWL, SPARQL là bộ công nghệ nền tảng của Semantic Web</a:t>
            </a:r>
            <a:endParaRPr lang="en-US" sz="1700" dirty="0"/>
          </a:p>
        </p:txBody>
      </p:sp>
      <p:sp>
        <p:nvSpPr>
          <p:cNvPr id="14" name="Shape 12"/>
          <p:cNvSpPr/>
          <p:nvPr/>
        </p:nvSpPr>
        <p:spPr>
          <a:xfrm>
            <a:off x="822960" y="3392424"/>
            <a:ext cx="10561320" cy="722376"/>
          </a:xfrm>
          <a:prstGeom prst="roundRect">
            <a:avLst>
              <a:gd name="adj" fmla="val 10127"/>
            </a:avLst>
          </a:prstGeom>
          <a:solidFill>
            <a:srgbClr val="FFFFFF"/>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15" name="Shape 13"/>
          <p:cNvSpPr/>
          <p:nvPr/>
        </p:nvSpPr>
        <p:spPr>
          <a:xfrm>
            <a:off x="1024128" y="3616452"/>
            <a:ext cx="310896" cy="310896"/>
          </a:xfrm>
          <a:prstGeom prst="ellipse">
            <a:avLst/>
          </a:prstGeom>
          <a:solidFill>
            <a:srgbClr val="E2A233"/>
          </a:solidFill>
          <a:ln/>
        </p:spPr>
      </p:sp>
      <p:sp>
        <p:nvSpPr>
          <p:cNvPr id="16" name="Text 14"/>
          <p:cNvSpPr/>
          <p:nvPr/>
        </p:nvSpPr>
        <p:spPr>
          <a:xfrm>
            <a:off x="1024128" y="3616452"/>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536192" y="3337560"/>
            <a:ext cx="9646920" cy="868680"/>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Protégé là công cụ chính để xây dựng ontology và thực hiện suy luận (reasoning)</a:t>
            </a:r>
            <a:endParaRPr lang="en-US" sz="1700" dirty="0"/>
          </a:p>
        </p:txBody>
      </p:sp>
      <p:sp>
        <p:nvSpPr>
          <p:cNvPr id="18" name="Shape 16"/>
          <p:cNvSpPr/>
          <p:nvPr/>
        </p:nvSpPr>
        <p:spPr>
          <a:xfrm>
            <a:off x="822960" y="4261104"/>
            <a:ext cx="10561320" cy="722376"/>
          </a:xfrm>
          <a:prstGeom prst="roundRect">
            <a:avLst>
              <a:gd name="adj" fmla="val 10127"/>
            </a:avLst>
          </a:prstGeom>
          <a:solidFill>
            <a:srgbClr val="FFFFFF"/>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19" name="Shape 17"/>
          <p:cNvSpPr/>
          <p:nvPr/>
        </p:nvSpPr>
        <p:spPr>
          <a:xfrm>
            <a:off x="1024128" y="4485132"/>
            <a:ext cx="310896" cy="310896"/>
          </a:xfrm>
          <a:prstGeom prst="ellipse">
            <a:avLst/>
          </a:prstGeom>
          <a:solidFill>
            <a:srgbClr val="E2A233"/>
          </a:solidFill>
          <a:ln/>
        </p:spPr>
      </p:sp>
      <p:sp>
        <p:nvSpPr>
          <p:cNvPr id="20" name="Text 18"/>
          <p:cNvSpPr/>
          <p:nvPr/>
        </p:nvSpPr>
        <p:spPr>
          <a:xfrm>
            <a:off x="1024128" y="4485132"/>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1536192" y="4206240"/>
            <a:ext cx="9646920" cy="868680"/>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Ứng dụng của ontology rất rộng: tìm kiếm ngữ nghĩa, y tế, thương mại điện tử, trí tuệ nhân tạo</a:t>
            </a:r>
            <a:endParaRPr lang="en-US" sz="1700" dirty="0"/>
          </a:p>
        </p:txBody>
      </p:sp>
      <p:sp>
        <p:nvSpPr>
          <p:cNvPr id="22" name="Shape 20"/>
          <p:cNvSpPr/>
          <p:nvPr/>
        </p:nvSpPr>
        <p:spPr>
          <a:xfrm>
            <a:off x="822960" y="5129784"/>
            <a:ext cx="10561320" cy="722376"/>
          </a:xfrm>
          <a:prstGeom prst="roundRect">
            <a:avLst>
              <a:gd name="adj" fmla="val 10127"/>
            </a:avLst>
          </a:prstGeom>
          <a:solidFill>
            <a:srgbClr val="FFFFFF"/>
          </a:solidFill>
          <a:ln w="12700">
            <a:solidFill>
              <a:srgbClr val="CFDCEA"/>
            </a:solidFill>
            <a:prstDash val="solid"/>
          </a:ln>
          <a:effectLst>
            <a:outerShdw sx="100000" sy="100000" kx="0" ky="0" algn="bl" rotWithShape="0" blurRad="76200" dist="25400" dir="5400000">
              <a:srgbClr val="9FB1C4">
                <a:alpha val="32000"/>
              </a:srgbClr>
            </a:outerShdw>
          </a:effectLst>
        </p:spPr>
      </p:sp>
      <p:sp>
        <p:nvSpPr>
          <p:cNvPr id="23" name="Shape 21"/>
          <p:cNvSpPr/>
          <p:nvPr/>
        </p:nvSpPr>
        <p:spPr>
          <a:xfrm>
            <a:off x="1024128" y="5353812"/>
            <a:ext cx="310896" cy="310896"/>
          </a:xfrm>
          <a:prstGeom prst="ellipse">
            <a:avLst/>
          </a:prstGeom>
          <a:solidFill>
            <a:srgbClr val="E2A233"/>
          </a:solidFill>
          <a:ln/>
        </p:spPr>
      </p:sp>
      <p:sp>
        <p:nvSpPr>
          <p:cNvPr id="24" name="Text 22"/>
          <p:cNvSpPr/>
          <p:nvPr/>
        </p:nvSpPr>
        <p:spPr>
          <a:xfrm>
            <a:off x="1024128" y="5353812"/>
            <a:ext cx="310896"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5" name="Text 23"/>
          <p:cNvSpPr/>
          <p:nvPr/>
        </p:nvSpPr>
        <p:spPr>
          <a:xfrm>
            <a:off x="1536192" y="5074920"/>
            <a:ext cx="9646920" cy="868680"/>
          </a:xfrm>
          <a:prstGeom prst="rect">
            <a:avLst/>
          </a:prstGeom>
          <a:noFill/>
          <a:ln/>
        </p:spPr>
        <p:txBody>
          <a:bodyPr wrap="square" rtlCol="0" anchor="ctr">
            <a:normAutofit/>
          </a:bodyPr>
          <a:lstStyle/>
          <a:p>
            <a:pPr indent="0" marL="0">
              <a:buNone/>
            </a:pPr>
            <a:r>
              <a:rPr lang="en-US" sz="1700" dirty="0">
                <a:solidFill>
                  <a:srgbClr val="1F2D3A"/>
                </a:solidFill>
                <a:latin typeface="Calibri" pitchFamily="34" charset="0"/>
                <a:ea typeface="Calibri" pitchFamily="34" charset="-122"/>
                <a:cs typeface="Calibri" pitchFamily="34" charset="-120"/>
              </a:rPr>
              <a:t>Thực hành nhiều với dữ liệu thật là chìa khoá để thành thạo ontology</a:t>
            </a:r>
            <a:endParaRPr lang="en-US" sz="17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3315C"/>
        </a:solidFill>
      </p:bgPr>
    </p:bg>
    <p:spTree>
      <p:nvGrpSpPr>
        <p:cNvPr id="1" name=""/>
        <p:cNvGrpSpPr/>
        <p:nvPr/>
      </p:nvGrpSpPr>
      <p:grpSpPr>
        <a:xfrm>
          <a:off x="0" y="0"/>
          <a:ext cx="0" cy="0"/>
          <a:chOff x="0" y="0"/>
          <a:chExt cx="0" cy="0"/>
        </a:xfrm>
      </p:grpSpPr>
      <p:sp>
        <p:nvSpPr>
          <p:cNvPr id="2" name="Shape 0"/>
          <p:cNvSpPr/>
          <p:nvPr/>
        </p:nvSpPr>
        <p:spPr>
          <a:xfrm>
            <a:off x="8686800" y="-365760"/>
            <a:ext cx="3840480" cy="3840480"/>
          </a:xfrm>
          <a:prstGeom prst="ellipse">
            <a:avLst/>
          </a:prstGeom>
          <a:ln w="17780">
            <a:solidFill>
              <a:srgbClr val="2E6CB5">
                <a:alpha val="70000"/>
              </a:srgbClr>
            </a:solidFill>
            <a:prstDash val="solid"/>
          </a:ln>
        </p:spPr>
      </p:sp>
      <p:sp>
        <p:nvSpPr>
          <p:cNvPr id="3" name="Shape 1"/>
          <p:cNvSpPr/>
          <p:nvPr/>
        </p:nvSpPr>
        <p:spPr>
          <a:xfrm>
            <a:off x="9235440" y="-365760"/>
            <a:ext cx="2743200" cy="2743200"/>
          </a:xfrm>
          <a:prstGeom prst="ellipse">
            <a:avLst/>
          </a:prstGeom>
          <a:ln w="17780">
            <a:solidFill>
              <a:srgbClr val="2E6CB5">
                <a:alpha val="55000"/>
              </a:srgbClr>
            </a:solidFill>
            <a:prstDash val="solid"/>
          </a:ln>
        </p:spPr>
      </p:sp>
      <p:sp>
        <p:nvSpPr>
          <p:cNvPr id="4" name="Shape 2"/>
          <p:cNvSpPr/>
          <p:nvPr/>
        </p:nvSpPr>
        <p:spPr>
          <a:xfrm>
            <a:off x="9784080" y="-365760"/>
            <a:ext cx="1645920" cy="1645920"/>
          </a:xfrm>
          <a:prstGeom prst="ellipse">
            <a:avLst/>
          </a:prstGeom>
          <a:ln w="17780">
            <a:solidFill>
              <a:srgbClr val="2E6CB5">
                <a:alpha val="40000"/>
              </a:srgbClr>
            </a:solidFill>
            <a:prstDash val="solid"/>
          </a:ln>
        </p:spPr>
      </p:sp>
      <p:sp>
        <p:nvSpPr>
          <p:cNvPr id="5" name="Text 3"/>
          <p:cNvSpPr/>
          <p:nvPr/>
        </p:nvSpPr>
        <p:spPr>
          <a:xfrm>
            <a:off x="822960" y="2011680"/>
            <a:ext cx="10515600" cy="109728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Cảm ơn &amp; Hỏi đáp</a:t>
            </a:r>
            <a:endParaRPr lang="en-US" sz="4600" dirty="0"/>
          </a:p>
        </p:txBody>
      </p:sp>
      <p:sp>
        <p:nvSpPr>
          <p:cNvPr id="6" name="Text 4"/>
          <p:cNvSpPr/>
          <p:nvPr/>
        </p:nvSpPr>
        <p:spPr>
          <a:xfrm>
            <a:off x="841248" y="3200400"/>
            <a:ext cx="10058400" cy="548640"/>
          </a:xfrm>
          <a:prstGeom prst="rect">
            <a:avLst/>
          </a:prstGeom>
          <a:noFill/>
          <a:ln/>
        </p:spPr>
        <p:txBody>
          <a:bodyPr wrap="square" rtlCol="0" anchor="ctr"/>
          <a:lstStyle/>
          <a:p>
            <a:pPr indent="0" marL="0">
              <a:buNone/>
            </a:pPr>
            <a:r>
              <a:rPr lang="en-US" sz="2200" dirty="0">
                <a:solidFill>
                  <a:srgbClr val="E2A233"/>
                </a:solidFill>
                <a:latin typeface="Calibri" pitchFamily="34" charset="0"/>
                <a:ea typeface="Calibri" pitchFamily="34" charset="-122"/>
                <a:cs typeface="Calibri" pitchFamily="34" charset="-120"/>
              </a:rPr>
              <a:t>Chúc các bạn học tốt!</a:t>
            </a:r>
            <a:endParaRPr lang="en-US" sz="2200" dirty="0"/>
          </a:p>
        </p:txBody>
      </p:sp>
      <p:sp>
        <p:nvSpPr>
          <p:cNvPr id="7" name="Text 5"/>
          <p:cNvSpPr/>
          <p:nvPr/>
        </p:nvSpPr>
        <p:spPr>
          <a:xfrm>
            <a:off x="868680" y="3977640"/>
            <a:ext cx="10424160" cy="2194560"/>
          </a:xfrm>
          <a:prstGeom prst="rect">
            <a:avLst/>
          </a:prstGeom>
          <a:noFill/>
          <a:ln/>
        </p:spPr>
        <p:txBody>
          <a:bodyPr wrap="square" rtlCol="0" anchor="t"/>
          <a:lstStyle/>
          <a:p>
            <a:pPr marL="177800" indent="-177800">
              <a:spcAft>
                <a:spcPts val="800"/>
              </a:spcAft>
              <a:buSzPct val="100000"/>
              <a:buChar char="•"/>
            </a:pPr>
            <a:r>
              <a:rPr lang="en-US" sz="1400" dirty="0">
                <a:solidFill>
                  <a:srgbClr val="EAF2FB"/>
                </a:solidFill>
                <a:latin typeface="Calibri" pitchFamily="34" charset="0"/>
                <a:ea typeface="Calibri" pitchFamily="34" charset="-122"/>
                <a:cs typeface="Calibri" pitchFamily="34" charset="-120"/>
              </a:rPr>
              <a:t>Tài liệu tham khảo: Gruber, T. R. (1993)</a:t>
            </a:r>
            <a:endParaRPr lang="en-US" sz="1400" dirty="0"/>
          </a:p>
          <a:p>
            <a:pPr marL="177800" indent="-177800">
              <a:spcAft>
                <a:spcPts val="800"/>
              </a:spcAft>
              <a:buSzPct val="100000"/>
              <a:buChar char="•"/>
            </a:pPr>
            <a:r>
              <a:rPr lang="en-US" sz="1400" dirty="0">
                <a:solidFill>
                  <a:srgbClr val="EAF2FB"/>
                </a:solidFill>
                <a:latin typeface="Calibri" pitchFamily="34" charset="0"/>
                <a:ea typeface="Calibri" pitchFamily="34" charset="-122"/>
                <a:cs typeface="Calibri" pitchFamily="34" charset="-120"/>
              </a:rPr>
              <a:t>Noy, N. F. và McGuinness, D. L. (2001): Ontology Development 101</a:t>
            </a:r>
            <a:endParaRPr lang="en-US" sz="1400" dirty="0"/>
          </a:p>
          <a:p>
            <a:pPr marL="177800" indent="-177800">
              <a:spcAft>
                <a:spcPts val="800"/>
              </a:spcAft>
              <a:buSzPct val="100000"/>
              <a:buChar char="•"/>
            </a:pPr>
            <a:r>
              <a:rPr lang="en-US" sz="1400" dirty="0">
                <a:solidFill>
                  <a:srgbClr val="EAF2FB"/>
                </a:solidFill>
                <a:latin typeface="Calibri" pitchFamily="34" charset="0"/>
                <a:ea typeface="Calibri" pitchFamily="34" charset="-122"/>
                <a:cs typeface="Calibri" pitchFamily="34" charset="-120"/>
              </a:rPr>
              <a:t>Chuẩn W3C: RDF, OWL, SPARQL (w3.org)</a:t>
            </a:r>
            <a:endParaRPr lang="en-US" sz="1400" dirty="0"/>
          </a:p>
          <a:p>
            <a:pPr marL="177800" indent="-177800">
              <a:spcAft>
                <a:spcPts val="800"/>
              </a:spcAft>
              <a:buSzPct val="100000"/>
              <a:buChar char="•"/>
            </a:pPr>
            <a:r>
              <a:rPr lang="en-US" sz="1400" dirty="0">
                <a:solidFill>
                  <a:srgbClr val="EAF2FB"/>
                </a:solidFill>
                <a:latin typeface="Calibri" pitchFamily="34" charset="0"/>
                <a:ea typeface="Calibri" pitchFamily="34" charset="-122"/>
                <a:cs typeface="Calibri" pitchFamily="34" charset="-120"/>
              </a:rPr>
              <a:t>Schema.org</a:t>
            </a:r>
            <a:endParaRPr lang="en-US" sz="1400" dirty="0"/>
          </a:p>
          <a:p>
            <a:pPr marL="177800" indent="-177800">
              <a:spcAft>
                <a:spcPts val="800"/>
              </a:spcAft>
              <a:buSzPct val="100000"/>
              <a:buChar char="•"/>
            </a:pPr>
            <a:r>
              <a:rPr lang="en-US" sz="1400" dirty="0">
                <a:solidFill>
                  <a:srgbClr val="EAF2FB"/>
                </a:solidFill>
                <a:latin typeface="Calibri" pitchFamily="34" charset="0"/>
                <a:ea typeface="Calibri" pitchFamily="34" charset="-122"/>
                <a:cs typeface="Calibri" pitchFamily="34" charset="-120"/>
              </a:rPr>
              <a:t>Mọi thắc mắc xin gửi về giảng viên phụ trách</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D444275E818BD4089527327482737A3" ma:contentTypeVersion="3" ma:contentTypeDescription="Create a new document." ma:contentTypeScope="" ma:versionID="3621d9875567ee96c38707b4b84c0c7f">
  <xsd:schema xmlns:xsd="http://www.w3.org/2001/XMLSchema" xmlns:xs="http://www.w3.org/2001/XMLSchema" xmlns:p="http://schemas.microsoft.com/office/2006/metadata/properties" xmlns:ns2="6dc41f47-bff2-41df-9641-f0b03d01a0b9" targetNamespace="http://schemas.microsoft.com/office/2006/metadata/properties" ma:root="true" ma:fieldsID="43e3e12f871a965d26f90b688dfad499" ns2:_="">
    <xsd:import namespace="6dc41f47-bff2-41df-9641-f0b03d01a0b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c41f47-bff2-41df-9641-f0b03d01a0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CFF4312-28D2-422E-866C-20F12B1380B3}"/>
</file>

<file path=customXml/itemProps2.xml><?xml version="1.0" encoding="utf-8"?>
<ds:datastoreItem xmlns:ds="http://schemas.openxmlformats.org/officeDocument/2006/customXml" ds:itemID="{17B4705F-FCD4-4C2B-A882-DC65356F4A9E}"/>
</file>

<file path=customXml/itemProps3.xml><?xml version="1.0" encoding="utf-8"?>
<ds:datastoreItem xmlns:ds="http://schemas.openxmlformats.org/officeDocument/2006/customXml" ds:itemID="{7F5E249E-63F3-4E52-AAD6-5287E457B196}"/>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Ontology và Ứng dụng</dc:title>
  <dc:subject>PptxGenJS Presentation</dc:subject>
  <dc:creator>Bài giảng Ontology</dc:creator>
  <cp:lastModifiedBy>Bài giảng Ontology</cp:lastModifiedBy>
  <cp:revision>1</cp:revision>
  <dcterms:created xsi:type="dcterms:W3CDTF">2026-07-11T08:44:02Z</dcterms:created>
  <dcterms:modified xsi:type="dcterms:W3CDTF">2026-07-11T08:44:02Z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0x010100BD444275E818BD4089527327482737A3</vt:lpwstr>
  </property>
</Properties>
</file>