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Giá trị</c:v>
                </c:pt>
              </c:strCache>
            </c:strRef>
          </c:tx>
          <c:spPr>
            <a:solidFill>
              <a:srgbClr val="337B8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QA</c:v>
                  </c:pt>
                  <c:pt idx="1">
                    <c:v>ER F1</c:v>
                  </c:pt>
                  <c:pt idx="2">
                    <c:v>Co-star</c:v>
                  </c:pt>
                  <c:pt idx="3">
                    <c:v>P@10</c:v>
                  </c:pt>
                  <c:pt idx="4">
                    <c:v>NDCG@10</c:v>
                  </c:pt>
                </c:lvl>
              </c:multiLvlStrCache>
            </c:multiLvlStrRef>
          </c:cat>
          <c:val>
            <c:numRef>
              <c:f>Sheet1!$B$2:$B$6</c:f>
              <c:numCache>
                <c:formatCode>General</c:formatCode>
                <c:ptCount val="5"/>
                <c:pt idx="0">
                  <c:v>1</c:v>
                </c:pt>
                <c:pt idx="1">
                  <c:v>0.966</c:v>
                </c:pt>
                <c:pt idx="2">
                  <c:v>1</c:v>
                </c:pt>
                <c:pt idx="3">
                  <c:v>0.635</c:v>
                </c:pt>
                <c:pt idx="4">
                  <c:v>0.672</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D7DE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majorUnit val="0.2"/>
      </c:valAx>
      <c:spPr>
        <a:noFill/>
        <a:ln w="12700" cap="flat">
          <a:solidFill>
            <a:srgbClr val="D7DEE8"/>
          </a:solid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12B46"/>
                </a:solidFill>
                <a:latin typeface="Calibri"/>
              </a:defRPr>
            </a:pPr>
            <a:r>
              <a:rPr sz="1400" b="0" i="0" u="none" strike="noStrike">
                <a:solidFill>
                  <a:srgbClr val="112B46"/>
                </a:solidFill>
                <a:latin typeface="Calibri"/>
              </a:rPr>
              <a:t>Median latency · common_movies (ms)</a:t>
            </a:r>
          </a:p>
        </c:rich>
      </c:tx>
      <c:layout/>
      <c:overlay val="0"/>
    </c:title>
    <c:autoTitleDeleted val="0"/>
    <c:plotArea>
      <c:layout/>
      <c:lineChart>
        <c:varyColors val="0"/>
        <c:ser>
          <c:idx val="0"/>
          <c:order val="0"/>
          <c:tx>
            <c:strRef>
              <c:f>Sheet1!$B$1</c:f>
              <c:strCache>
                <c:ptCount val="1"/>
                <c:pt idx="0">
                  <c:v>Neo4j · common_movies</c:v>
                </c:pt>
              </c:strCache>
            </c:strRef>
          </c:tx>
          <c:spPr>
            <a:solidFill>
              <a:srgbClr val="337B80"/>
            </a:solidFill>
            <a:ln w="25400" cap="flat">
              <a:solidFill>
                <a:srgbClr val="337B8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337B80"/>
              </a:solidFill>
              <a:ln w="9525" cap="flat">
                <a:solidFill>
                  <a:srgbClr val="337B80"/>
                </a:solidFill>
                <a:prstDash val="solid"/>
                <a:round/>
              </a:ln>
              <a:effectLst/>
            </c:spPr>
          </c:marker>
          <c:cat>
            <c:multiLvlStrRef>
              <c:f>Sheet1!$A$2:$A$5</c:f>
              <c:multiLvlStrCache>
                <c:ptCount val="4"/>
                <c:lvl>
                  <c:pt idx="0">
                    <c:v>500</c:v>
                  </c:pt>
                  <c:pt idx="1">
                    <c:v>1.000</c:v>
                  </c:pt>
                  <c:pt idx="2">
                    <c:v>2.000</c:v>
                  </c:pt>
                  <c:pt idx="3">
                    <c:v>4.999</c:v>
                  </c:pt>
                </c:lvl>
              </c:multiLvlStrCache>
            </c:multiLvlStrRef>
          </c:cat>
          <c:val>
            <c:numRef>
              <c:f>Sheet1!$B$2:$B$5</c:f>
              <c:numCache>
                <c:formatCode>General</c:formatCode>
                <c:ptCount val="4"/>
                <c:pt idx="0">
                  <c:v>15.16</c:v>
                </c:pt>
                <c:pt idx="1">
                  <c:v>16.9</c:v>
                </c:pt>
                <c:pt idx="2">
                  <c:v>25.67</c:v>
                </c:pt>
                <c:pt idx="3">
                  <c:v>44.31</c:v>
                </c:pt>
              </c:numCache>
            </c:numRef>
          </c:val>
          <c:smooth val="0"/>
        </c:ser>
        <c:ser>
          <c:idx val="1"/>
          <c:order val="1"/>
          <c:tx>
            <c:strRef>
              <c:f>Sheet1!$C$1</c:f>
              <c:strCache>
                <c:ptCount val="1"/>
                <c:pt idx="0">
                  <c:v>SQLite · common_movies</c:v>
                </c:pt>
              </c:strCache>
            </c:strRef>
          </c:tx>
          <c:spPr>
            <a:solidFill>
              <a:srgbClr val="D38B36"/>
            </a:solidFill>
            <a:ln w="25400" cap="flat">
              <a:solidFill>
                <a:srgbClr val="D38B3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38B36"/>
              </a:solidFill>
              <a:ln w="9525" cap="flat">
                <a:solidFill>
                  <a:srgbClr val="D38B36"/>
                </a:solidFill>
                <a:prstDash val="solid"/>
                <a:round/>
              </a:ln>
              <a:effectLst/>
            </c:spPr>
          </c:marker>
          <c:cat>
            <c:multiLvlStrRef>
              <c:f>Sheet1!$A$2:$A$5</c:f>
              <c:multiLvlStrCache>
                <c:ptCount val="4"/>
                <c:lvl>
                  <c:pt idx="0">
                    <c:v>500</c:v>
                  </c:pt>
                  <c:pt idx="1">
                    <c:v>1.000</c:v>
                  </c:pt>
                  <c:pt idx="2">
                    <c:v>2.000</c:v>
                  </c:pt>
                  <c:pt idx="3">
                    <c:v>4.999</c:v>
                  </c:pt>
                </c:lvl>
              </c:multiLvlStrCache>
            </c:multiLvlStrRef>
          </c:cat>
          <c:val>
            <c:numRef>
              <c:f>Sheet1!$C$2:$C$5</c:f>
              <c:numCache>
                <c:formatCode>General</c:formatCode>
                <c:ptCount val="4"/>
                <c:pt idx="0">
                  <c:v>2.77</c:v>
                </c:pt>
                <c:pt idx="1">
                  <c:v>7.31</c:v>
                </c:pt>
                <c:pt idx="2">
                  <c:v>14.19</c:v>
                </c:pt>
                <c:pt idx="3">
                  <c:v>40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7DE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12B46"/>
                </a:solidFill>
                <a:latin typeface="Calibri"/>
              </a:defRPr>
            </a:pPr>
            <a:r>
              <a:rPr sz="1400" b="0" i="0" u="none" strike="noStrike">
                <a:solidFill>
                  <a:srgbClr val="112B46"/>
                </a:solidFill>
                <a:latin typeface="Calibri"/>
              </a:rPr>
              <a:t>Lịch sử thiết kế ranker · 20 case</a:t>
            </a:r>
          </a:p>
        </c:rich>
      </c:tx>
      <c:layout/>
      <c:overlay val="0"/>
    </c:title>
    <c:autoTitleDeleted val="0"/>
    <c:plotArea>
      <c:layout/>
      <c:barChart>
        <c:barDir val="col"/>
        <c:grouping val="clustered"/>
        <c:varyColors val="0"/>
        <c:ser>
          <c:idx val="0"/>
          <c:order val="0"/>
          <c:tx>
            <c:strRef>
              <c:f>Sheet1!$B$1</c:f>
              <c:strCache>
                <c:ptCount val="1"/>
                <c:pt idx="0">
                  <c:v>P@10</c:v>
                </c:pt>
              </c:strCache>
            </c:strRef>
          </c:tx>
          <c:spPr>
            <a:solidFill>
              <a:srgbClr val="337B8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Overlap</c:v>
                  </c:pt>
                  <c:pt idx="1">
                    <c:v>Weighted Jaccard</c:v>
                  </c:pt>
                  <c:pt idx="2">
                    <c:v>Hybrid</c:v>
                  </c:pt>
                  <c:pt idx="3">
                    <c:v>IDF production</c:v>
                  </c:pt>
                </c:lvl>
              </c:multiLvlStrCache>
            </c:multiLvlStrRef>
          </c:cat>
          <c:val>
            <c:numRef>
              <c:f>Sheet1!$B$2:$B$5</c:f>
              <c:numCache>
                <c:formatCode>General</c:formatCode>
                <c:ptCount val="4"/>
                <c:pt idx="0">
                  <c:v>0.67</c:v>
                </c:pt>
                <c:pt idx="1">
                  <c:v>0.64</c:v>
                </c:pt>
                <c:pt idx="2">
                  <c:v>0.59</c:v>
                </c:pt>
                <c:pt idx="3">
                  <c:v>0.635</c:v>
                </c:pt>
              </c:numCache>
            </c:numRef>
          </c:val>
        </c:ser>
        <c:ser>
          <c:idx val="1"/>
          <c:order val="1"/>
          <c:tx>
            <c:strRef>
              <c:f>Sheet1!$C$1</c:f>
              <c:strCache>
                <c:ptCount val="1"/>
                <c:pt idx="0">
                  <c:v>NDCG@10</c:v>
                </c:pt>
              </c:strCache>
            </c:strRef>
          </c:tx>
          <c:spPr>
            <a:solidFill>
              <a:srgbClr val="725B9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Overlap</c:v>
                  </c:pt>
                  <c:pt idx="1">
                    <c:v>Weighted Jaccard</c:v>
                  </c:pt>
                  <c:pt idx="2">
                    <c:v>Hybrid</c:v>
                  </c:pt>
                  <c:pt idx="3">
                    <c:v>IDF production</c:v>
                  </c:pt>
                </c:lvl>
              </c:multiLvlStrCache>
            </c:multiLvlStrRef>
          </c:cat>
          <c:val>
            <c:numRef>
              <c:f>Sheet1!$C$2:$C$5</c:f>
              <c:numCache>
                <c:formatCode>General</c:formatCode>
                <c:ptCount val="4"/>
                <c:pt idx="0">
                  <c:v>0.723</c:v>
                </c:pt>
                <c:pt idx="1">
                  <c:v>0.699</c:v>
                </c:pt>
                <c:pt idx="2">
                  <c:v>0.657</c:v>
                </c:pt>
                <c:pt idx="3">
                  <c:v>0.672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12700" cap="flat">
              <a:solidFill>
                <a:srgbClr val="D7DE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majorUnit val="0.2"/>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thưa thầy, em xin trình bày đề tài xây dựng đồ thị tri thức phim đa nguồn. Trọng tâm không chỉ là lưu dữ liệu, mà là tạo một quy trình tích hợp có thể tái lập, hỗ trợ truy vấn nhiều bước, suy diễn và hai ứng dụng có bằng chứng.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Dữ liệu phim là một mạng nhiều–nhiều. Một phim liên hệ với nhiều người, thể loại, từ khóa và hãng; một người lại tham gia nhiều phim với nhiều vai trò. Khi tích hợp TMDB và IMDb, câu hỏi không chỉ là lấy một dòng dữ liệu mà là đi qua mạng quan hệ và giữ được nguồn gốc.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Đề tài tập trung vào ba khoảng trống. Thứ nhất là identity: trùng tên không đồng nghĩa cùng người. Thứ hai là traversal: nhiều câu hỏi thực chất là mẫu đường đi. Thứ ba là provenance: mỗi kết quả phải lần ngược được về nguồn hoặc phép suy diễn.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hỏi nghiên cứu được cụ thể hóa thành năm mục tiêu đo được: tích hợp tái lập, mô hình có identity và constraint, truy vấn Cypher nhiều bước, hai ứng dụng có giải thích và một kế hoạch đánh giá có bằng chứng.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Phạm vi hiện tại là 4.999 phim hợp lệ, năm loại quan hệ gốc và một quan hệ suy diễn. TMDB là nguồn cấu trúc đồ thị; IMDb chỉ bổ sung rating bằng exact ID. Các hướng như LLM-to-Cypher, vector search và GraphRAG được loại khỏi MVP để tránh đánh đổi tính kiểm chứng.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Neo4j là kho vận hành vì thuận tiện cho traversal và ứng dụng. RDF/OWL là lớp chuẩn ngữ nghĩa và trao đổi. SQLite chỉ là mốc so sánh được kiểm soát. Em không kết luận đồ thị luôn nhanh hơn quan hệ; giá trị chính là mô hình và bằng chứng.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Luồng chính đi từ TMDB và IMDb qua cache bất biến, xử lý và chuẩn hóa sang Neo4j. Một nhánh xuất RDF/Turtle cho suy diễn ngữ nghĩa. FastAPI cung cấp QA và recommendation. Manifest, checksum và các phép kiểm tra bao quanh toàn bộ quy trình.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giữ quy mô lưu trữ hợp lý, hệ thống chỉ tải tệp title.ratings.tsv.gz và đọc streaming. Phép nối là exact ID giữa imdb_id của TMDB và tconst của IMDb. Trong 4.558 phim có IMDb ID, 4.351 phim ghép được rating; hai thang rating được giữ riêng.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Mô hình có năm loại nút và năm quan hệ gốc. Person chỉ dùng một label vì cùng một người có thể có nhiều vai trò. Stable source ID là khóa; ACTED_IN giữ metadata trên cạnh. Constraint và index được tạo trước khi nạp.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gồm collect, cache, clean, exact-ID enrich, normalize, load, reason và validate. Raw cache là bất biến; manifest ghi checksum và số lượng. Import dùng batch và MERGE nên có thể chạy lặp. Runtime chỉ import lại khi checksum processed hoặc số Movie thay đổi.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Ảnh chụp cuối có 76.612 nút và 846.309 quan hệ. Không có orphan Movie, stable ID trùng, thuộc tính bắt buộc bị thiếu hay cạnh sai kiểu. Một Movie không có quan hệ đã bị loại ở bước kiểm tra trước khi nạp.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Phép nối TMDB–IMDb dùng exact imdb_id với confidence 1.0. Entity linker ưu tiên exact và full-text candidate trước fuzzy reranking. Trên 100 cặp silver, precision 1.0, recall 0.933 và F1 0.966. Năm lỗi là abstention bảo thủ, không có false 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có danh mục truy vấn tham số hóa gồm lookup, aggregation, multi-hop, shortest path và similarity. Ví dụ này đi từ director qua movie sang genre. Giá trị genre và limit là tham số; người dùng không thể thay đổi cấu trúc Cypher.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hai cạnh ACTED_IN cùng đi vào một Movie, hệ thống vật chất hóa CO_STARRED_WITH. Cạnh suy ra lưu số phim chung và danh sách Movie hỗ trợ, nên có thể lần ngược. Đây là rule-based materialization bằng Cypher, tách biệt với OWL entailment.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Chatbot không thay Neo4j và không sinh Cypher tự do. Parser chỉ nhận diện một trong chín ý định và trích slot. Entity linker chuẩn hóa thực thể; catalog chọn mẫu Cypher cố định; Neo4j thực hiện traversal. Response trả cả intent, confidence, evidence và latency.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Ranker dùng IDF-weighted graph similarity. Đặc trưng chung hiếm đóng góp nhiều hơn đặc trưng phổ biến. Trọng số ưu tiên director và actor. Điểm và explanation đều được tính từ traversal trong Neo4j, không tải toàn graph về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RDF/OWL không thay Neo4j trong đường chạy ứng dụng. Nó cung cấp URI ổn định, vocabulary, ràng buộc và entailment. Cùng tập dữ liệu được kiểm tra bằng RDFLib và Jena/Fuseki; cả mười truy vấn SPARQL đều chạy thành công.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Materialization tăng từ 342.683 lên 429.192 triple, tức 86.509 triple suy ra và không có vi phạm trong tập luật khai báo. Em phân biệt rõ OWL entailment với luật nghiệp vụ CO_STARRED_WITH bằng Cypher.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tuyên bố có một tập đánh giá riêng. Entity resolution và recommendation dùng silver corpus có provenance. QA là smoke test 20 câu. Benchmark chạy cùng snapshot, máy, warm-up và 100 iterations. Vì vậy em không suy rộng kết quả thành độ chính xác sản xuất hoặc scalability tổng quát.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 smoke đạt 20/20; entity resolution F1 0.966; co-star precision 1.0; recommendation đạt P@10 0.635 và NDCG@10 0.672. Các metric silver phản ánh protocol đã công bố, chưa thay thế đánh giá người dùng độc lập.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SQLite nhanh hơn trên tất cả query và quy mô đã đo. Điều đó cho thấy không nên bán đồ thị bằng tốc độ tuyệt đối; lợi ích là biểu diễn và bằng chứng traversal. Với recommendation, các phương pháp cũ chỉ là lịch sử thiết kế; runtime hiện dùng IDF-weighted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xin chuyển sang phần trình diễn. Em sẽ xác nhận graph qua stats, hỏi một câu có typo, một câu multi-hop, mở recommendation explanation và nếu còn thời gian xem subgraph trong Neo4j Browser. Toàn bộ dữ liệu đã import và không phụ thuộc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Hạn chế chính là QA chỉ có chín ý định, corpus đánh giá chủ yếu là silver, quy mô tối đa 4.999 phim và top-20 cast. Hướng tiếp theo là thu thập câu hỏi thật, đánh giá người dùng, benchmark tải đồng thời và mở rộng liên kết sang Person/Wikidata.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đề tài đã xây dựng được một quy trình tích hợp đa nguồn có stable identity và provenance; đồ thị hỗ trợ traversal, suy diễn và semantic validation; hai ứng dụng trả kết quả kèm bằng chứng. Em xin cảm ơn thầy và xin lắng nghe phản biện.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Phụ lục này ánh xạ chín ý định sang nhóm truy vấn. Điểm cần nhấn mạnh là parser không viết Cypher; nó chỉ chọn intent và tham số cho catalog cố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được hỏi về reasoning, cần phân biệt hai lớp. RDFS/OWL-RL subset suy ra các fact ngữ nghĩa theo ontology. CO_STARRED_WITH là luật nghiệp vụ được vật chất hóa bằng Cypher và lưu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B"/>
          </a:solidFill>
          <a:ln w="12700">
            <a:solidFill>
              <a:srgbClr val="F6F8FB">
                <a:alpha val="0"/>
              </a:srgbClr>
            </a:solidFill>
            <a:prstDash val="solid"/>
          </a:ln>
        </p:spPr>
      </p:sp>
      <p:sp>
        <p:nvSpPr>
          <p:cNvPr id="3" name="Text 1"/>
          <p:cNvSpPr/>
          <p:nvPr/>
        </p:nvSpPr>
        <p:spPr>
          <a:xfrm>
            <a:off x="530352" y="164592"/>
            <a:ext cx="3017520" cy="201168"/>
          </a:xfrm>
          <a:prstGeom prst="rect">
            <a:avLst/>
          </a:prstGeom>
          <a:noFill/>
          <a:ln/>
        </p:spPr>
        <p:txBody>
          <a:bodyPr wrap="square" lIns="0" tIns="0" rIns="0" bIns="0" rtlCol="0" anchor="ctr"/>
          <a:lstStyle/>
          <a:p>
            <a:pPr indent="0" marL="0">
              <a:buNone/>
            </a:pPr>
            <a:r>
              <a:rPr lang="en-US" sz="900" b="1" spc="150" kern="0" dirty="0">
                <a:solidFill>
                  <a:srgbClr val="337B80"/>
                </a:solidFill>
                <a:latin typeface="Arial" pitchFamily="34" charset="0"/>
                <a:ea typeface="Arial" pitchFamily="34" charset="-122"/>
                <a:cs typeface="Arial" pitchFamily="34" charset="-120"/>
              </a:rPr>
              <a:t>MOVIE KNOWLEDGE GRAPH</a:t>
            </a:r>
            <a:endParaRPr lang="en-US" sz="900" dirty="0"/>
          </a:p>
        </p:txBody>
      </p:sp>
      <p:sp>
        <p:nvSpPr>
          <p:cNvPr id="4" name="Text 2"/>
          <p:cNvSpPr/>
          <p:nvPr/>
        </p:nvSpPr>
        <p:spPr>
          <a:xfrm>
            <a:off x="8001000" y="6510528"/>
            <a:ext cx="3520440" cy="164592"/>
          </a:xfrm>
          <a:prstGeom prst="rect">
            <a:avLst/>
          </a:prstGeom>
          <a:noFill/>
          <a:ln/>
        </p:spPr>
        <p:txBody>
          <a:bodyPr wrap="square" lIns="0" tIns="0" rIns="0" bIns="0" rtlCol="0" anchor="ctr"/>
          <a:lstStyle/>
          <a:p>
            <a:pPr algn="r" indent="0" marL="0">
              <a:buNone/>
            </a:pPr>
            <a:r>
              <a:rPr lang="en-US" sz="800" dirty="0">
                <a:solidFill>
                  <a:srgbClr val="697586"/>
                </a:solidFill>
                <a:latin typeface="Arial" pitchFamily="34" charset="0"/>
                <a:ea typeface="Arial" pitchFamily="34" charset="-122"/>
                <a:cs typeface="Arial" pitchFamily="34" charset="-120"/>
              </a:rPr>
              <a:t>Đại học Bách khoa Hà Nội · Khoa Toán – Tin</a:t>
            </a:r>
            <a:endParaRPr lang="en-US" sz="800" dirty="0"/>
          </a:p>
        </p:txBody>
      </p:sp>
      <p:sp>
        <p:nvSpPr>
          <p:cNvPr id="25" name="Slide Number Placeholder 0"/>
          <p:cNvSpPr>
            <a:spLocks noGrp="1"/>
          </p:cNvSpPr>
          <p:nvPr>
            <p:ph type="sldNum" sz="quarter" idx="4294967295"/>
          </p:nvPr>
        </p:nvSpPr>
        <p:spPr>
          <a:xfrm>
            <a:off x="11631168" y="6473952"/>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97586"/>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31168" y="6473952"/>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97586"/>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2B46"/>
        </a:solidFill>
      </p:bgPr>
    </p:bg>
    <p:spTree>
      <p:nvGrpSpPr>
        <p:cNvPr id="1" name=""/>
        <p:cNvGrpSpPr/>
        <p:nvPr/>
      </p:nvGrpSpPr>
      <p:grpSpPr>
        <a:xfrm>
          <a:off x="0" y="0"/>
          <a:ext cx="0" cy="0"/>
          <a:chOff x="0" y="0"/>
          <a:chExt cx="0" cy="0"/>
        </a:xfrm>
      </p:grpSpPr>
      <p:sp>
        <p:nvSpPr>
          <p:cNvPr id="2" name="Shape 0"/>
          <p:cNvSpPr/>
          <p:nvPr/>
        </p:nvSpPr>
        <p:spPr>
          <a:xfrm>
            <a:off x="9784080" y="-640080"/>
            <a:ext cx="3200400" cy="3200400"/>
          </a:xfrm>
          <a:prstGeom prst="ellipse">
            <a:avLst/>
          </a:prstGeom>
          <a:solidFill>
            <a:srgbClr val="337B80">
              <a:alpha val="28000"/>
            </a:srgbClr>
          </a:solidFill>
          <a:ln w="12700">
            <a:solidFill>
              <a:srgbClr val="337B80">
                <a:alpha val="0"/>
              </a:srgbClr>
            </a:solidFill>
            <a:prstDash val="solid"/>
          </a:ln>
        </p:spPr>
      </p:sp>
      <p:sp>
        <p:nvSpPr>
          <p:cNvPr id="3" name="Shape 1"/>
          <p:cNvSpPr/>
          <p:nvPr/>
        </p:nvSpPr>
        <p:spPr>
          <a:xfrm>
            <a:off x="-640080" y="5303520"/>
            <a:ext cx="2103120" cy="2103120"/>
          </a:xfrm>
          <a:prstGeom prst="ellipse">
            <a:avLst/>
          </a:prstGeom>
          <a:solidFill>
            <a:srgbClr val="725B9B">
              <a:alpha val="30000"/>
            </a:srgbClr>
          </a:solidFill>
          <a:ln w="12700">
            <a:solidFill>
              <a:srgbClr val="725B9B">
                <a:alpha val="0"/>
              </a:srgbClr>
            </a:solidFill>
            <a:prstDash val="solid"/>
          </a:ln>
        </p:spPr>
      </p:sp>
      <p:sp>
        <p:nvSpPr>
          <p:cNvPr id="4" name="Text 2"/>
          <p:cNvSpPr/>
          <p:nvPr/>
        </p:nvSpPr>
        <p:spPr>
          <a:xfrm>
            <a:off x="658368" y="566928"/>
            <a:ext cx="5943600" cy="274320"/>
          </a:xfrm>
          <a:prstGeom prst="rect">
            <a:avLst/>
          </a:prstGeom>
          <a:noFill/>
          <a:ln/>
        </p:spPr>
        <p:txBody>
          <a:bodyPr wrap="square" lIns="0" tIns="0" rIns="0" bIns="0" rtlCol="0" anchor="ctr"/>
          <a:lstStyle/>
          <a:p>
            <a:pPr indent="0" marL="0">
              <a:buNone/>
            </a:pPr>
            <a:r>
              <a:rPr lang="en-US" sz="1000" b="1" spc="170" kern="0" dirty="0">
                <a:solidFill>
                  <a:srgbClr val="8FD0CC"/>
                </a:solidFill>
                <a:latin typeface="Arial" pitchFamily="34" charset="0"/>
                <a:ea typeface="Arial" pitchFamily="34" charset="-122"/>
                <a:cs typeface="Arial" pitchFamily="34" charset="-120"/>
              </a:rPr>
              <a:t>BÁO CÁO CUỐI KỲ · CƠ SỞ DỮ LIỆU NÂNG CAO</a:t>
            </a:r>
            <a:endParaRPr lang="en-US" sz="1000" dirty="0"/>
          </a:p>
        </p:txBody>
      </p:sp>
      <p:sp>
        <p:nvSpPr>
          <p:cNvPr id="5" name="Text 3"/>
          <p:cNvSpPr/>
          <p:nvPr/>
        </p:nvSpPr>
        <p:spPr>
          <a:xfrm>
            <a:off x="658368" y="1115568"/>
            <a:ext cx="6583680" cy="141732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Calibri" pitchFamily="34" charset="0"/>
                <a:ea typeface="Calibri" pitchFamily="34" charset="-122"/>
                <a:cs typeface="Calibri" pitchFamily="34" charset="-120"/>
              </a:rPr>
              <a:t>Xây dựng đồ thị tri thức</a:t>
            </a:r>
            <a:endParaRPr lang="en-US" sz="3400" dirty="0"/>
          </a:p>
          <a:p>
            <a:pPr indent="0" marL="0">
              <a:buNone/>
            </a:pPr>
            <a:r>
              <a:rPr lang="en-US" sz="3400" b="1" dirty="0">
                <a:solidFill>
                  <a:srgbClr val="FFFFFF"/>
                </a:solidFill>
                <a:latin typeface="Calibri" pitchFamily="34" charset="0"/>
                <a:ea typeface="Calibri" pitchFamily="34" charset="-122"/>
                <a:cs typeface="Calibri" pitchFamily="34" charset="-120"/>
              </a:rPr>
              <a:t>phim đa nguồn</a:t>
            </a:r>
            <a:endParaRPr lang="en-US" sz="3400" dirty="0"/>
          </a:p>
        </p:txBody>
      </p:sp>
      <p:sp>
        <p:nvSpPr>
          <p:cNvPr id="6" name="Text 4"/>
          <p:cNvSpPr/>
          <p:nvPr/>
        </p:nvSpPr>
        <p:spPr>
          <a:xfrm>
            <a:off x="685800" y="2761488"/>
            <a:ext cx="5897880" cy="566928"/>
          </a:xfrm>
          <a:prstGeom prst="rect">
            <a:avLst/>
          </a:prstGeom>
          <a:noFill/>
          <a:ln/>
        </p:spPr>
        <p:txBody>
          <a:bodyPr wrap="square" lIns="0" tIns="0" rIns="0" bIns="0" rtlCol="0" anchor="ctr">
            <a:normAutofit/>
          </a:bodyPr>
          <a:lstStyle/>
          <a:p>
            <a:pPr indent="0" marL="0">
              <a:buNone/>
            </a:pPr>
            <a:r>
              <a:rPr lang="en-US" sz="1600" dirty="0">
                <a:solidFill>
                  <a:srgbClr val="D6E3ED"/>
                </a:solidFill>
                <a:latin typeface="Calibri" pitchFamily="34" charset="0"/>
                <a:ea typeface="Calibri" pitchFamily="34" charset="-122"/>
                <a:cs typeface="Calibri" pitchFamily="34" charset="-120"/>
              </a:rPr>
              <a:t>Tích hợp dữ liệu · Truy vấn nhiều bước · Suy diễn · Hỏi–đáp và gợi ý có bằng chứng</a:t>
            </a:r>
            <a:endParaRPr lang="en-US" sz="1600" dirty="0"/>
          </a:p>
        </p:txBody>
      </p:sp>
      <p:pic>
        <p:nvPicPr>
          <p:cNvPr id="7" name="Image 0" descr="/home/khanhhk/VNPTAI/advanced_database/docs/deliverables/slide/assets/movie_kg_overview.png">    </p:cNvPr>
          <p:cNvPicPr>
            <a:picLocks noChangeAspect="1"/>
          </p:cNvPicPr>
          <p:nvPr/>
        </p:nvPicPr>
        <p:blipFill>
          <a:blip r:embed="rId1"/>
          <a:stretch>
            <a:fillRect/>
          </a:stretch>
        </p:blipFill>
        <p:spPr>
          <a:xfrm>
            <a:off x="7013448" y="2137776"/>
            <a:ext cx="4489704" cy="1439447"/>
          </a:xfrm>
          <a:prstGeom prst="rect">
            <a:avLst/>
          </a:prstGeom>
        </p:spPr>
      </p:pic>
      <p:sp>
        <p:nvSpPr>
          <p:cNvPr id="8" name="Text 5"/>
          <p:cNvSpPr/>
          <p:nvPr/>
        </p:nvSpPr>
        <p:spPr>
          <a:xfrm>
            <a:off x="685800" y="4892040"/>
            <a:ext cx="1005840" cy="219456"/>
          </a:xfrm>
          <a:prstGeom prst="rect">
            <a:avLst/>
          </a:prstGeom>
          <a:noFill/>
          <a:ln/>
        </p:spPr>
        <p:txBody>
          <a:bodyPr wrap="square" lIns="0" tIns="0" rIns="0" bIns="0" rtlCol="0" anchor="ctr"/>
          <a:lstStyle/>
          <a:p>
            <a:pPr indent="0" marL="0">
              <a:buNone/>
            </a:pPr>
            <a:r>
              <a:rPr lang="en-US" sz="900" b="1" dirty="0">
                <a:solidFill>
                  <a:srgbClr val="8FD0CC"/>
                </a:solidFill>
                <a:latin typeface="Arial" pitchFamily="34" charset="0"/>
                <a:ea typeface="Arial" pitchFamily="34" charset="-122"/>
                <a:cs typeface="Arial" pitchFamily="34" charset="-120"/>
              </a:rPr>
              <a:t>Học viên</a:t>
            </a:r>
            <a:endParaRPr lang="en-US" sz="900" dirty="0"/>
          </a:p>
        </p:txBody>
      </p:sp>
      <p:sp>
        <p:nvSpPr>
          <p:cNvPr id="9" name="Text 6"/>
          <p:cNvSpPr/>
          <p:nvPr/>
        </p:nvSpPr>
        <p:spPr>
          <a:xfrm>
            <a:off x="685800" y="5193792"/>
            <a:ext cx="402336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Hoàng Kim Khánh · 20252307M</a:t>
            </a:r>
            <a:endParaRPr lang="en-US" sz="1500" dirty="0"/>
          </a:p>
        </p:txBody>
      </p:sp>
      <p:sp>
        <p:nvSpPr>
          <p:cNvPr id="10" name="Text 7"/>
          <p:cNvSpPr/>
          <p:nvPr/>
        </p:nvSpPr>
        <p:spPr>
          <a:xfrm>
            <a:off x="6217920" y="4892040"/>
            <a:ext cx="1645920" cy="219456"/>
          </a:xfrm>
          <a:prstGeom prst="rect">
            <a:avLst/>
          </a:prstGeom>
          <a:noFill/>
          <a:ln/>
        </p:spPr>
        <p:txBody>
          <a:bodyPr wrap="square" lIns="0" tIns="0" rIns="0" bIns="0" rtlCol="0" anchor="ctr"/>
          <a:lstStyle/>
          <a:p>
            <a:pPr indent="0" marL="0">
              <a:buNone/>
            </a:pPr>
            <a:r>
              <a:rPr lang="en-US" sz="900" b="1" dirty="0">
                <a:solidFill>
                  <a:srgbClr val="8FD0CC"/>
                </a:solidFill>
                <a:latin typeface="Arial" pitchFamily="34" charset="0"/>
                <a:ea typeface="Arial" pitchFamily="34" charset="-122"/>
                <a:cs typeface="Arial" pitchFamily="34" charset="-120"/>
              </a:rPr>
              <a:t>Giảng viên hướng dẫn</a:t>
            </a:r>
            <a:endParaRPr lang="en-US" sz="900" dirty="0"/>
          </a:p>
        </p:txBody>
      </p:sp>
      <p:sp>
        <p:nvSpPr>
          <p:cNvPr id="11" name="Text 8"/>
          <p:cNvSpPr/>
          <p:nvPr/>
        </p:nvSpPr>
        <p:spPr>
          <a:xfrm>
            <a:off x="6217920" y="5193792"/>
            <a:ext cx="310896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TS. Trần Ngọc Thăng</a:t>
            </a:r>
            <a:endParaRPr lang="en-US" sz="1500" dirty="0"/>
          </a:p>
        </p:txBody>
      </p:sp>
      <p:sp>
        <p:nvSpPr>
          <p:cNvPr id="12" name="Text 9"/>
          <p:cNvSpPr/>
          <p:nvPr/>
        </p:nvSpPr>
        <p:spPr>
          <a:xfrm>
            <a:off x="685800" y="6327648"/>
            <a:ext cx="7315200" cy="182880"/>
          </a:xfrm>
          <a:prstGeom prst="rect">
            <a:avLst/>
          </a:prstGeom>
          <a:noFill/>
          <a:ln/>
        </p:spPr>
        <p:txBody>
          <a:bodyPr wrap="square" lIns="0" tIns="0" rIns="0" bIns="0" rtlCol="0" anchor="ctr"/>
          <a:lstStyle/>
          <a:p>
            <a:pPr indent="0" marL="0">
              <a:buNone/>
            </a:pPr>
            <a:r>
              <a:rPr lang="en-US" sz="850" dirty="0">
                <a:solidFill>
                  <a:srgbClr val="9FB2C3"/>
                </a:solidFill>
                <a:latin typeface="Arial" pitchFamily="34" charset="0"/>
                <a:ea typeface="Arial" pitchFamily="34" charset="-122"/>
                <a:cs typeface="Arial" pitchFamily="34" charset="-120"/>
              </a:rPr>
              <a:t>ĐẠI HỌC BÁCH KHOA HÀ NỘI · KHOA TOÁN – TIN · 07/2026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30352" y="475488"/>
            <a:ext cx="2194560" cy="219456"/>
          </a:xfrm>
          <a:prstGeom prst="rect">
            <a:avLst/>
          </a:prstGeom>
          <a:noFill/>
          <a:ln/>
        </p:spPr>
        <p:txBody>
          <a:bodyPr wrap="square" lIns="0" tIns="0" rIns="0" bIns="0" rtlCol="0" anchor="ctr"/>
          <a:lstStyle/>
          <a:p>
            <a:pPr indent="0" marL="0">
              <a:buNone/>
            </a:pPr>
            <a:r>
              <a:rPr lang="en-US" sz="900" b="1" spc="140" kern="0" dirty="0">
                <a:solidFill>
                  <a:srgbClr val="337B80"/>
                </a:solidFill>
                <a:latin typeface="Arial" pitchFamily="34" charset="0"/>
                <a:ea typeface="Arial" pitchFamily="34" charset="-122"/>
                <a:cs typeface="Arial" pitchFamily="34" charset="-120"/>
              </a:rPr>
              <a:t>BÀI TOÁN</a:t>
            </a:r>
            <a:endParaRPr lang="en-US" sz="900" dirty="0"/>
          </a:p>
        </p:txBody>
      </p:sp>
      <p:sp>
        <p:nvSpPr>
          <p:cNvPr id="3" name="Text 1"/>
          <p:cNvSpPr/>
          <p:nvPr/>
        </p:nvSpPr>
        <p:spPr>
          <a:xfrm>
            <a:off x="530352" y="713232"/>
            <a:ext cx="10881360" cy="502920"/>
          </a:xfrm>
          <a:prstGeom prst="rect">
            <a:avLst/>
          </a:prstGeom>
          <a:noFill/>
          <a:ln/>
        </p:spPr>
        <p:txBody>
          <a:bodyPr wrap="square" lIns="0" tIns="0" rIns="0" bIns="0" rtlCol="0" anchor="ctr">
            <a:normAutofit/>
          </a:bodyPr>
          <a:lstStyle/>
          <a:p>
            <a:pPr indent="0" marL="0">
              <a:buNone/>
            </a:pPr>
            <a:r>
              <a:rPr lang="en-US" sz="2600" b="1" dirty="0">
                <a:solidFill>
                  <a:srgbClr val="112B46"/>
                </a:solidFill>
                <a:latin typeface="Calibri" pitchFamily="34" charset="0"/>
                <a:ea typeface="Calibri" pitchFamily="34" charset="-122"/>
                <a:cs typeface="Calibri" pitchFamily="34" charset="-120"/>
              </a:rPr>
              <a:t>Dữ liệu phim vốn là một mạng quan hệ</a:t>
            </a:r>
            <a:endParaRPr lang="en-US" sz="2600" dirty="0"/>
          </a:p>
        </p:txBody>
      </p:sp>
      <p:sp>
        <p:nvSpPr>
          <p:cNvPr id="4" name="Text 2"/>
          <p:cNvSpPr/>
          <p:nvPr/>
        </p:nvSpPr>
        <p:spPr>
          <a:xfrm>
            <a:off x="548640" y="1261872"/>
            <a:ext cx="10652760" cy="310896"/>
          </a:xfrm>
          <a:prstGeom prst="rect">
            <a:avLst/>
          </a:prstGeom>
          <a:noFill/>
          <a:ln/>
        </p:spPr>
        <p:txBody>
          <a:bodyPr wrap="square" lIns="0" tIns="0" rIns="0" bIns="0" rtlCol="0" anchor="ctr">
            <a:normAutofit/>
          </a:bodyPr>
          <a:lstStyle/>
          <a:p>
            <a:pPr indent="0" marL="0">
              <a:buNone/>
            </a:pPr>
            <a:r>
              <a:rPr lang="en-US" sz="1250" dirty="0">
                <a:solidFill>
                  <a:srgbClr val="697586"/>
                </a:solidFill>
                <a:latin typeface="Calibri" pitchFamily="34" charset="0"/>
                <a:ea typeface="Calibri" pitchFamily="34" charset="-122"/>
                <a:cs typeface="Calibri" pitchFamily="34" charset="-120"/>
              </a:rPr>
              <a:t>Tra cứu một bảng không đủ khi câu hỏi đi qua nhiều thực thể và nhiều nguồn.</a:t>
            </a:r>
            <a:endParaRPr lang="en-US" sz="1250" dirty="0"/>
          </a:p>
        </p:txBody>
      </p:sp>
      <p:sp>
        <p:nvSpPr>
          <p:cNvPr id="5" name="Shape 3"/>
          <p:cNvSpPr/>
          <p:nvPr/>
        </p:nvSpPr>
        <p:spPr>
          <a:xfrm>
            <a:off x="566928" y="1783080"/>
            <a:ext cx="6629400" cy="4160520"/>
          </a:xfrm>
          <a:prstGeom prst="roundRect">
            <a:avLst>
              <a:gd name="adj" fmla="val 879"/>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pic>
        <p:nvPicPr>
          <p:cNvPr id="6" name="Image 0" descr="/home/khanhhk/VNPTAI/advanced_database/docs/deliverables/slide/assets/movie_kg_overview.png">    </p:cNvPr>
          <p:cNvPicPr>
            <a:picLocks noChangeAspect="1"/>
          </p:cNvPicPr>
          <p:nvPr/>
        </p:nvPicPr>
        <p:blipFill>
          <a:blip r:embed="rId1"/>
          <a:stretch>
            <a:fillRect/>
          </a:stretch>
        </p:blipFill>
        <p:spPr>
          <a:xfrm>
            <a:off x="676656" y="2835792"/>
            <a:ext cx="6409944" cy="2055097"/>
          </a:xfrm>
          <a:prstGeom prst="rect">
            <a:avLst/>
          </a:prstGeom>
        </p:spPr>
      </p:pic>
      <p:sp>
        <p:nvSpPr>
          <p:cNvPr id="7" name="Shape 4"/>
          <p:cNvSpPr/>
          <p:nvPr/>
        </p:nvSpPr>
        <p:spPr>
          <a:xfrm>
            <a:off x="7498080" y="1810512"/>
            <a:ext cx="4041648" cy="1051560"/>
          </a:xfrm>
          <a:prstGeom prst="roundRect">
            <a:avLst>
              <a:gd name="adj" fmla="val 5217"/>
            </a:avLst>
          </a:prstGeom>
          <a:solidFill>
            <a:srgbClr val="F0F6F8"/>
          </a:solidFill>
          <a:ln w="12700">
            <a:solidFill>
              <a:srgbClr val="BDDADD"/>
            </a:solidFill>
            <a:prstDash val="solid"/>
          </a:ln>
          <a:effectLst>
            <a:outerShdw sx="100000" sy="100000" kx="0" ky="0" algn="bl" rotWithShape="0" blurRad="25400" dist="50800" dir="2700000">
              <a:srgbClr val="26384A">
                <a:alpha val="13000"/>
              </a:srgbClr>
            </a:outerShdw>
          </a:effectLst>
        </p:spPr>
      </p:sp>
      <p:sp>
        <p:nvSpPr>
          <p:cNvPr id="8" name="Shape 5"/>
          <p:cNvSpPr/>
          <p:nvPr/>
        </p:nvSpPr>
        <p:spPr>
          <a:xfrm>
            <a:off x="7699248" y="2011680"/>
            <a:ext cx="384048" cy="384048"/>
          </a:xfrm>
          <a:prstGeom prst="ellipse">
            <a:avLst/>
          </a:prstGeom>
          <a:solidFill>
            <a:srgbClr val="337B80"/>
          </a:solidFill>
          <a:ln w="12700">
            <a:solidFill>
              <a:srgbClr val="337B80"/>
            </a:solidFill>
            <a:prstDash val="solid"/>
          </a:ln>
        </p:spPr>
      </p:sp>
      <p:sp>
        <p:nvSpPr>
          <p:cNvPr id="9" name="Text 6"/>
          <p:cNvSpPr/>
          <p:nvPr/>
        </p:nvSpPr>
        <p:spPr>
          <a:xfrm>
            <a:off x="7699248" y="2066544"/>
            <a:ext cx="384048" cy="14630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0" name="Text 7"/>
          <p:cNvSpPr/>
          <p:nvPr/>
        </p:nvSpPr>
        <p:spPr>
          <a:xfrm>
            <a:off x="8211312" y="1993392"/>
            <a:ext cx="3127248" cy="301752"/>
          </a:xfrm>
          <a:prstGeom prst="rect">
            <a:avLst/>
          </a:prstGeom>
          <a:noFill/>
          <a:ln/>
        </p:spPr>
        <p:txBody>
          <a:bodyPr wrap="square" lIns="0" tIns="0" rIns="0" bIns="0" rtlCol="0" anchor="ctr">
            <a:normAutofit/>
          </a:bodyPr>
          <a:lstStyle/>
          <a:p>
            <a:pPr indent="0" marL="0">
              <a:buNone/>
            </a:pPr>
            <a:r>
              <a:rPr lang="en-US" sz="1600" b="1" dirty="0">
                <a:solidFill>
                  <a:srgbClr val="112B46"/>
                </a:solidFill>
                <a:latin typeface="Calibri" pitchFamily="34" charset="0"/>
                <a:ea typeface="Calibri" pitchFamily="34" charset="-122"/>
                <a:cs typeface="Calibri" pitchFamily="34" charset="-120"/>
              </a:rPr>
              <a:t>Quan hệ dày đặc</a:t>
            </a:r>
            <a:endParaRPr lang="en-US" sz="1600" dirty="0"/>
          </a:p>
        </p:txBody>
      </p:sp>
      <p:sp>
        <p:nvSpPr>
          <p:cNvPr id="11" name="Text 8"/>
          <p:cNvSpPr/>
          <p:nvPr/>
        </p:nvSpPr>
        <p:spPr>
          <a:xfrm>
            <a:off x="7726680" y="2414016"/>
            <a:ext cx="3584448" cy="265176"/>
          </a:xfrm>
          <a:prstGeom prst="rect">
            <a:avLst/>
          </a:prstGeom>
          <a:noFill/>
          <a:ln/>
        </p:spPr>
        <p:txBody>
          <a:bodyPr wrap="square" lIns="0" tIns="0" rIns="0" bIns="0" rtlCol="0" anchor="t">
            <a:normAutofit/>
          </a:bodyPr>
          <a:lstStyle/>
          <a:p>
            <a:pPr indent="0" marL="0">
              <a:buNone/>
            </a:pPr>
            <a:r>
              <a:rPr lang="en-US" sz="1150" dirty="0">
                <a:solidFill>
                  <a:srgbClr val="172B3A"/>
                </a:solidFill>
                <a:latin typeface="Calibri" pitchFamily="34" charset="0"/>
                <a:ea typeface="Calibri" pitchFamily="34" charset="-122"/>
                <a:cs typeface="Calibri" pitchFamily="34" charset="-120"/>
              </a:rPr>
              <a:t>Movie kết nối Person, Genre, Keyword và Studio theo cấu trúc nhiều–nhiều.</a:t>
            </a:r>
            <a:endParaRPr lang="en-US" sz="1150" dirty="0"/>
          </a:p>
        </p:txBody>
      </p:sp>
      <p:sp>
        <p:nvSpPr>
          <p:cNvPr id="12" name="Shape 9"/>
          <p:cNvSpPr/>
          <p:nvPr/>
        </p:nvSpPr>
        <p:spPr>
          <a:xfrm>
            <a:off x="7498080" y="3063240"/>
            <a:ext cx="4041648" cy="1051560"/>
          </a:xfrm>
          <a:prstGeom prst="roundRect">
            <a:avLst>
              <a:gd name="adj" fmla="val 5217"/>
            </a:avLst>
          </a:prstGeom>
          <a:solidFill>
            <a:srgbClr val="F0ECF7"/>
          </a:solidFill>
          <a:ln w="12700">
            <a:solidFill>
              <a:srgbClr val="D9CFE8"/>
            </a:solidFill>
            <a:prstDash val="solid"/>
          </a:ln>
          <a:effectLst>
            <a:outerShdw sx="100000" sy="100000" kx="0" ky="0" algn="bl" rotWithShape="0" blurRad="25400" dist="50800" dir="2700000">
              <a:srgbClr val="26384A">
                <a:alpha val="13000"/>
              </a:srgbClr>
            </a:outerShdw>
          </a:effectLst>
        </p:spPr>
      </p:sp>
      <p:sp>
        <p:nvSpPr>
          <p:cNvPr id="13" name="Shape 10"/>
          <p:cNvSpPr/>
          <p:nvPr/>
        </p:nvSpPr>
        <p:spPr>
          <a:xfrm>
            <a:off x="7699248" y="3264408"/>
            <a:ext cx="384048" cy="384048"/>
          </a:xfrm>
          <a:prstGeom prst="ellipse">
            <a:avLst/>
          </a:prstGeom>
          <a:solidFill>
            <a:srgbClr val="725B9B"/>
          </a:solidFill>
          <a:ln w="12700">
            <a:solidFill>
              <a:srgbClr val="725B9B"/>
            </a:solidFill>
            <a:prstDash val="solid"/>
          </a:ln>
        </p:spPr>
      </p:sp>
      <p:sp>
        <p:nvSpPr>
          <p:cNvPr id="14" name="Text 11"/>
          <p:cNvSpPr/>
          <p:nvPr/>
        </p:nvSpPr>
        <p:spPr>
          <a:xfrm>
            <a:off x="7699248" y="3319272"/>
            <a:ext cx="384048" cy="14630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5" name="Text 12"/>
          <p:cNvSpPr/>
          <p:nvPr/>
        </p:nvSpPr>
        <p:spPr>
          <a:xfrm>
            <a:off x="8211312" y="3246120"/>
            <a:ext cx="3127248" cy="301752"/>
          </a:xfrm>
          <a:prstGeom prst="rect">
            <a:avLst/>
          </a:prstGeom>
          <a:noFill/>
          <a:ln/>
        </p:spPr>
        <p:txBody>
          <a:bodyPr wrap="square" lIns="0" tIns="0" rIns="0" bIns="0" rtlCol="0" anchor="ctr">
            <a:normAutofit/>
          </a:bodyPr>
          <a:lstStyle/>
          <a:p>
            <a:pPr indent="0" marL="0">
              <a:buNone/>
            </a:pPr>
            <a:r>
              <a:rPr lang="en-US" sz="1600" b="1" dirty="0">
                <a:solidFill>
                  <a:srgbClr val="112B46"/>
                </a:solidFill>
                <a:latin typeface="Calibri" pitchFamily="34" charset="0"/>
                <a:ea typeface="Calibri" pitchFamily="34" charset="-122"/>
                <a:cs typeface="Calibri" pitchFamily="34" charset="-120"/>
              </a:rPr>
              <a:t>Nguồn phân tán</a:t>
            </a:r>
            <a:endParaRPr lang="en-US" sz="1600" dirty="0"/>
          </a:p>
        </p:txBody>
      </p:sp>
      <p:sp>
        <p:nvSpPr>
          <p:cNvPr id="16" name="Text 13"/>
          <p:cNvSpPr/>
          <p:nvPr/>
        </p:nvSpPr>
        <p:spPr>
          <a:xfrm>
            <a:off x="7726680" y="3666744"/>
            <a:ext cx="3584448" cy="265176"/>
          </a:xfrm>
          <a:prstGeom prst="rect">
            <a:avLst/>
          </a:prstGeom>
          <a:noFill/>
          <a:ln/>
        </p:spPr>
        <p:txBody>
          <a:bodyPr wrap="square" lIns="0" tIns="0" rIns="0" bIns="0" rtlCol="0" anchor="t">
            <a:normAutofit/>
          </a:bodyPr>
          <a:lstStyle/>
          <a:p>
            <a:pPr indent="0" marL="0">
              <a:buNone/>
            </a:pPr>
            <a:r>
              <a:rPr lang="en-US" sz="1150" dirty="0">
                <a:solidFill>
                  <a:srgbClr val="172B3A"/>
                </a:solidFill>
                <a:latin typeface="Calibri" pitchFamily="34" charset="0"/>
                <a:ea typeface="Calibri" pitchFamily="34" charset="-122"/>
                <a:cs typeface="Calibri" pitchFamily="34" charset="-120"/>
              </a:rPr>
              <a:t>TMDB cung cấp metadata/credits; IMDb cung cấp rating và số lượt đánh giá độc lập.</a:t>
            </a:r>
            <a:endParaRPr lang="en-US" sz="1150" dirty="0"/>
          </a:p>
        </p:txBody>
      </p:sp>
      <p:sp>
        <p:nvSpPr>
          <p:cNvPr id="17" name="Shape 14"/>
          <p:cNvSpPr/>
          <p:nvPr/>
        </p:nvSpPr>
        <p:spPr>
          <a:xfrm>
            <a:off x="7498080" y="4315968"/>
            <a:ext cx="4041648" cy="1051560"/>
          </a:xfrm>
          <a:prstGeom prst="roundRect">
            <a:avLst>
              <a:gd name="adj" fmla="val 5217"/>
            </a:avLst>
          </a:prstGeom>
          <a:solidFill>
            <a:srgbClr val="E8F4EE"/>
          </a:solidFill>
          <a:ln w="12700">
            <a:solidFill>
              <a:srgbClr val="C4E2D1"/>
            </a:solidFill>
            <a:prstDash val="solid"/>
          </a:ln>
          <a:effectLst>
            <a:outerShdw sx="100000" sy="100000" kx="0" ky="0" algn="bl" rotWithShape="0" blurRad="25400" dist="50800" dir="2700000">
              <a:srgbClr val="26384A">
                <a:alpha val="13000"/>
              </a:srgbClr>
            </a:outerShdw>
          </a:effectLst>
        </p:spPr>
      </p:sp>
      <p:sp>
        <p:nvSpPr>
          <p:cNvPr id="18" name="Shape 15"/>
          <p:cNvSpPr/>
          <p:nvPr/>
        </p:nvSpPr>
        <p:spPr>
          <a:xfrm>
            <a:off x="7699248" y="4517136"/>
            <a:ext cx="384048" cy="384048"/>
          </a:xfrm>
          <a:prstGeom prst="ellipse">
            <a:avLst/>
          </a:prstGeom>
          <a:solidFill>
            <a:srgbClr val="3D8B66"/>
          </a:solidFill>
          <a:ln w="12700">
            <a:solidFill>
              <a:srgbClr val="3D8B66"/>
            </a:solidFill>
            <a:prstDash val="solid"/>
          </a:ln>
        </p:spPr>
      </p:sp>
      <p:sp>
        <p:nvSpPr>
          <p:cNvPr id="19" name="Text 16"/>
          <p:cNvSpPr/>
          <p:nvPr/>
        </p:nvSpPr>
        <p:spPr>
          <a:xfrm>
            <a:off x="7699248" y="4572000"/>
            <a:ext cx="384048" cy="14630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20" name="Text 17"/>
          <p:cNvSpPr/>
          <p:nvPr/>
        </p:nvSpPr>
        <p:spPr>
          <a:xfrm>
            <a:off x="8211312" y="4498848"/>
            <a:ext cx="3127248" cy="301752"/>
          </a:xfrm>
          <a:prstGeom prst="rect">
            <a:avLst/>
          </a:prstGeom>
          <a:noFill/>
          <a:ln/>
        </p:spPr>
        <p:txBody>
          <a:bodyPr wrap="square" lIns="0" tIns="0" rIns="0" bIns="0" rtlCol="0" anchor="ctr">
            <a:normAutofit/>
          </a:bodyPr>
          <a:lstStyle/>
          <a:p>
            <a:pPr indent="0" marL="0">
              <a:buNone/>
            </a:pPr>
            <a:r>
              <a:rPr lang="en-US" sz="1600" b="1" dirty="0">
                <a:solidFill>
                  <a:srgbClr val="112B46"/>
                </a:solidFill>
                <a:latin typeface="Calibri" pitchFamily="34" charset="0"/>
                <a:ea typeface="Calibri" pitchFamily="34" charset="-122"/>
                <a:cs typeface="Calibri" pitchFamily="34" charset="-120"/>
              </a:rPr>
              <a:t>Cần bằng chứng</a:t>
            </a:r>
            <a:endParaRPr lang="en-US" sz="1600" dirty="0"/>
          </a:p>
        </p:txBody>
      </p:sp>
      <p:sp>
        <p:nvSpPr>
          <p:cNvPr id="21" name="Text 18"/>
          <p:cNvSpPr/>
          <p:nvPr/>
        </p:nvSpPr>
        <p:spPr>
          <a:xfrm>
            <a:off x="7726680" y="4919472"/>
            <a:ext cx="3584448" cy="265176"/>
          </a:xfrm>
          <a:prstGeom prst="rect">
            <a:avLst/>
          </a:prstGeom>
          <a:noFill/>
          <a:ln/>
        </p:spPr>
        <p:txBody>
          <a:bodyPr wrap="square" lIns="0" tIns="0" rIns="0" bIns="0" rtlCol="0" anchor="t">
            <a:normAutofit/>
          </a:bodyPr>
          <a:lstStyle/>
          <a:p>
            <a:pPr indent="0" marL="0">
              <a:buNone/>
            </a:pPr>
            <a:r>
              <a:rPr lang="en-US" sz="1150" dirty="0">
                <a:solidFill>
                  <a:srgbClr val="172B3A"/>
                </a:solidFill>
                <a:latin typeface="Calibri" pitchFamily="34" charset="0"/>
                <a:ea typeface="Calibri" pitchFamily="34" charset="-122"/>
                <a:cs typeface="Calibri" pitchFamily="34" charset="-120"/>
              </a:rPr>
              <a:t>Câu trả lời và gợi ý phải chỉ ra thực thể, quan hệ hoặc đường đi đã tạo nên kết quả.</a:t>
            </a:r>
            <a:endParaRPr lang="en-US" sz="1150" dirty="0"/>
          </a:p>
        </p:txBody>
      </p:sp>
      <p:sp>
        <p:nvSpPr>
          <p:cNvPr id="22" name="Text 19"/>
          <p:cNvSpPr/>
          <p:nvPr/>
        </p:nvSpPr>
        <p:spPr>
          <a:xfrm>
            <a:off x="548640" y="6254496"/>
            <a:ext cx="10744200" cy="182880"/>
          </a:xfrm>
          <a:prstGeom prst="rect">
            <a:avLst/>
          </a:prstGeom>
          <a:noFill/>
          <a:ln/>
        </p:spPr>
        <p:txBody>
          <a:bodyPr wrap="square" lIns="0" tIns="0" rIns="0" bIns="0" rtlCol="0" anchor="ctr"/>
          <a:lstStyle/>
          <a:p>
            <a:pPr indent="0" marL="0">
              <a:buNone/>
            </a:pPr>
            <a:r>
              <a:rPr lang="en-US" sz="750" i="1" dirty="0">
                <a:solidFill>
                  <a:srgbClr val="7C8796"/>
                </a:solidFill>
                <a:latin typeface="Arial" pitchFamily="34" charset="0"/>
                <a:ea typeface="Arial" pitchFamily="34" charset="-122"/>
                <a:cs typeface="Arial" pitchFamily="34" charset="-120"/>
              </a:rPr>
              <a:t>Nguồn hình: report_latex/images/sources/movie_kg_overview.drawio</a:t>
            </a:r>
            <a:endParaRPr lang="en-US" sz="750" dirty="0"/>
          </a:p>
        </p:txBody>
      </p:sp>
      <p:sp>
        <p:nvSpPr>
          <p:cNvPr id="25" name="Slide Number Placeholder 0"/>
          <p:cNvSpPr>
            <a:spLocks noGrp="1"/>
          </p:cNvSpPr>
          <p:nvPr>
            <p:ph type="sldNum" sz="quarter" idx="4294967295"/>
          </p:nvPr>
        </p:nvSpPr>
        <p:spPr>
          <a:xfrm>
            <a:off x="11631168" y="6473952"/>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97586"/>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30352" y="475488"/>
            <a:ext cx="2194560" cy="219456"/>
          </a:xfrm>
          <a:prstGeom prst="rect">
            <a:avLst/>
          </a:prstGeom>
          <a:noFill/>
          <a:ln/>
        </p:spPr>
        <p:txBody>
          <a:bodyPr wrap="square" lIns="0" tIns="0" rIns="0" bIns="0" rtlCol="0" anchor="ctr"/>
          <a:lstStyle/>
          <a:p>
            <a:pPr indent="0" marL="0">
              <a:buNone/>
            </a:pPr>
            <a:r>
              <a:rPr lang="en-US" sz="900" b="1" spc="140" kern="0" dirty="0">
                <a:solidFill>
                  <a:srgbClr val="337B80"/>
                </a:solidFill>
                <a:latin typeface="Arial" pitchFamily="34" charset="0"/>
                <a:ea typeface="Arial" pitchFamily="34" charset="-122"/>
                <a:cs typeface="Arial" pitchFamily="34" charset="-120"/>
              </a:rPr>
              <a:t>BÀI TOÁN</a:t>
            </a:r>
            <a:endParaRPr lang="en-US" sz="900" dirty="0"/>
          </a:p>
        </p:txBody>
      </p:sp>
      <p:sp>
        <p:nvSpPr>
          <p:cNvPr id="3" name="Text 1"/>
          <p:cNvSpPr/>
          <p:nvPr/>
        </p:nvSpPr>
        <p:spPr>
          <a:xfrm>
            <a:off x="530352" y="713232"/>
            <a:ext cx="10881360" cy="502920"/>
          </a:xfrm>
          <a:prstGeom prst="rect">
            <a:avLst/>
          </a:prstGeom>
          <a:noFill/>
          <a:ln/>
        </p:spPr>
        <p:txBody>
          <a:bodyPr wrap="square" lIns="0" tIns="0" rIns="0" bIns="0" rtlCol="0" anchor="ctr">
            <a:normAutofit/>
          </a:bodyPr>
          <a:lstStyle/>
          <a:p>
            <a:pPr indent="0" marL="0">
              <a:buNone/>
            </a:pPr>
            <a:r>
              <a:rPr lang="en-US" sz="2600" b="1" dirty="0">
                <a:solidFill>
                  <a:srgbClr val="112B46"/>
                </a:solidFill>
                <a:latin typeface="Calibri" pitchFamily="34" charset="0"/>
                <a:ea typeface="Calibri" pitchFamily="34" charset="-122"/>
                <a:cs typeface="Calibri" pitchFamily="34" charset="-120"/>
              </a:rPr>
              <a:t>Ba khoảng trống cần giải quyết đồng thời</a:t>
            </a:r>
            <a:endParaRPr lang="en-US" sz="2600" dirty="0"/>
          </a:p>
        </p:txBody>
      </p:sp>
      <p:sp>
        <p:nvSpPr>
          <p:cNvPr id="4" name="Text 2"/>
          <p:cNvSpPr/>
          <p:nvPr/>
        </p:nvSpPr>
        <p:spPr>
          <a:xfrm>
            <a:off x="548640" y="1261872"/>
            <a:ext cx="10652760" cy="310896"/>
          </a:xfrm>
          <a:prstGeom prst="rect">
            <a:avLst/>
          </a:prstGeom>
          <a:noFill/>
          <a:ln/>
        </p:spPr>
        <p:txBody>
          <a:bodyPr wrap="square" lIns="0" tIns="0" rIns="0" bIns="0" rtlCol="0" anchor="ctr">
            <a:normAutofit/>
          </a:bodyPr>
          <a:lstStyle/>
          <a:p>
            <a:pPr indent="0" marL="0">
              <a:buNone/>
            </a:pPr>
            <a:r>
              <a:rPr lang="en-US" sz="1250" dirty="0">
                <a:solidFill>
                  <a:srgbClr val="697586"/>
                </a:solidFill>
                <a:latin typeface="Calibri" pitchFamily="34" charset="0"/>
                <a:ea typeface="Calibri" pitchFamily="34" charset="-122"/>
                <a:cs typeface="Calibri" pitchFamily="34" charset="-120"/>
              </a:rPr>
              <a:t>Nếu thiếu một trong ba, hệ thống có thể trả lời được nhưng không đáng tin hoặc không giải thích được.</a:t>
            </a:r>
            <a:endParaRPr lang="en-US" sz="1250" dirty="0"/>
          </a:p>
        </p:txBody>
      </p:sp>
      <p:sp>
        <p:nvSpPr>
          <p:cNvPr id="5" name="Shape 3"/>
          <p:cNvSpPr/>
          <p:nvPr/>
        </p:nvSpPr>
        <p:spPr>
          <a:xfrm>
            <a:off x="594360" y="1874520"/>
            <a:ext cx="3456432" cy="3611880"/>
          </a:xfrm>
          <a:prstGeom prst="roundRect">
            <a:avLst>
              <a:gd name="adj" fmla="val 1587"/>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sp>
        <p:nvSpPr>
          <p:cNvPr id="6" name="Shape 4"/>
          <p:cNvSpPr/>
          <p:nvPr/>
        </p:nvSpPr>
        <p:spPr>
          <a:xfrm>
            <a:off x="795528" y="2075688"/>
            <a:ext cx="384048" cy="384048"/>
          </a:xfrm>
          <a:prstGeom prst="ellipse">
            <a:avLst/>
          </a:prstGeom>
          <a:solidFill>
            <a:srgbClr val="337B80"/>
          </a:solidFill>
          <a:ln w="12700">
            <a:solidFill>
              <a:srgbClr val="337B80"/>
            </a:solidFill>
            <a:prstDash val="solid"/>
          </a:ln>
        </p:spPr>
      </p:sp>
      <p:sp>
        <p:nvSpPr>
          <p:cNvPr id="7" name="Text 5"/>
          <p:cNvSpPr/>
          <p:nvPr/>
        </p:nvSpPr>
        <p:spPr>
          <a:xfrm>
            <a:off x="795528" y="2130552"/>
            <a:ext cx="384048" cy="14630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ID</a:t>
            </a:r>
            <a:endParaRPr lang="en-US" sz="1000" dirty="0"/>
          </a:p>
        </p:txBody>
      </p:sp>
      <p:sp>
        <p:nvSpPr>
          <p:cNvPr id="8" name="Text 6"/>
          <p:cNvSpPr/>
          <p:nvPr/>
        </p:nvSpPr>
        <p:spPr>
          <a:xfrm>
            <a:off x="1307592" y="2057400"/>
            <a:ext cx="2542032" cy="301752"/>
          </a:xfrm>
          <a:prstGeom prst="rect">
            <a:avLst/>
          </a:prstGeom>
          <a:noFill/>
          <a:ln/>
        </p:spPr>
        <p:txBody>
          <a:bodyPr wrap="square" lIns="0" tIns="0" rIns="0" bIns="0" rtlCol="0" anchor="ctr">
            <a:normAutofit/>
          </a:bodyPr>
          <a:lstStyle/>
          <a:p>
            <a:pPr indent="0" marL="0">
              <a:buNone/>
            </a:pPr>
            <a:r>
              <a:rPr lang="en-US" sz="1900" b="1" dirty="0">
                <a:solidFill>
                  <a:srgbClr val="112B46"/>
                </a:solidFill>
                <a:latin typeface="Calibri" pitchFamily="34" charset="0"/>
                <a:ea typeface="Calibri" pitchFamily="34" charset="-122"/>
                <a:cs typeface="Calibri" pitchFamily="34" charset="-120"/>
              </a:rPr>
              <a:t>Định danh đúng</a:t>
            </a:r>
            <a:endParaRPr lang="en-US" sz="1900" dirty="0"/>
          </a:p>
        </p:txBody>
      </p:sp>
      <p:sp>
        <p:nvSpPr>
          <p:cNvPr id="9" name="Text 7"/>
          <p:cNvSpPr/>
          <p:nvPr/>
        </p:nvSpPr>
        <p:spPr>
          <a:xfrm>
            <a:off x="822960" y="2478024"/>
            <a:ext cx="2999232" cy="2825496"/>
          </a:xfrm>
          <a:prstGeom prst="rect">
            <a:avLst/>
          </a:prstGeom>
          <a:noFill/>
          <a:ln/>
        </p:spPr>
        <p:txBody>
          <a:bodyPr wrap="square" lIns="0" tIns="0" rIns="0" bIns="0" rtlCol="0" anchor="t">
            <a:normAutofit/>
          </a:bodyPr>
          <a:lstStyle/>
          <a:p>
            <a:pPr indent="0" marL="0">
              <a:buNone/>
            </a:pPr>
            <a:r>
              <a:rPr lang="en-US" sz="1400" dirty="0">
                <a:solidFill>
                  <a:srgbClr val="172B3A"/>
                </a:solidFill>
                <a:latin typeface="Calibri" pitchFamily="34" charset="0"/>
                <a:ea typeface="Calibri" pitchFamily="34" charset="-122"/>
                <a:cs typeface="Calibri" pitchFamily="34" charset="-120"/>
              </a:rPr>
              <a:t>209 người trùng tên vẫn phải là các thực thể khác nhau.</a:t>
            </a:r>
            <a:endParaRPr lang="en-US" sz="1400" dirty="0"/>
          </a:p>
          <a:p>
            <a:pPr indent="0" marL="0">
              <a:buNone/>
            </a:pPr>
            <a:endParaRPr lang="en-US" sz="1400" dirty="0"/>
          </a:p>
          <a:p>
            <a:pPr indent="0" marL="0">
              <a:buNone/>
            </a:pPr>
            <a:r>
              <a:rPr lang="en-US" sz="1400" dirty="0">
                <a:solidFill>
                  <a:srgbClr val="172B3A"/>
                </a:solidFill>
                <a:latin typeface="Calibri" pitchFamily="34" charset="0"/>
                <a:ea typeface="Calibri" pitchFamily="34" charset="-122"/>
                <a:cs typeface="Calibri" pitchFamily="34" charset="-120"/>
              </a:rPr>
              <a:t>Không dùng tên làm khóa chính; ưu tiên định danh nguồn ổn định.</a:t>
            </a:r>
            <a:endParaRPr lang="en-US" sz="1400" dirty="0"/>
          </a:p>
        </p:txBody>
      </p:sp>
      <p:sp>
        <p:nvSpPr>
          <p:cNvPr id="10" name="Shape 8"/>
          <p:cNvSpPr/>
          <p:nvPr/>
        </p:nvSpPr>
        <p:spPr>
          <a:xfrm>
            <a:off x="4370832" y="1874520"/>
            <a:ext cx="3456432" cy="3611880"/>
          </a:xfrm>
          <a:prstGeom prst="roundRect">
            <a:avLst>
              <a:gd name="adj" fmla="val 1587"/>
            </a:avLst>
          </a:prstGeom>
          <a:solidFill>
            <a:srgbClr val="FFF2DF"/>
          </a:solidFill>
          <a:ln w="12700">
            <a:solidFill>
              <a:srgbClr val="F1D5AA"/>
            </a:solidFill>
            <a:prstDash val="solid"/>
          </a:ln>
          <a:effectLst>
            <a:outerShdw sx="100000" sy="100000" kx="0" ky="0" algn="bl" rotWithShape="0" blurRad="25400" dist="50800" dir="2700000">
              <a:srgbClr val="26384A">
                <a:alpha val="13000"/>
              </a:srgbClr>
            </a:outerShdw>
          </a:effectLst>
        </p:spPr>
      </p:sp>
      <p:sp>
        <p:nvSpPr>
          <p:cNvPr id="11" name="Shape 9"/>
          <p:cNvSpPr/>
          <p:nvPr/>
        </p:nvSpPr>
        <p:spPr>
          <a:xfrm>
            <a:off x="4572000" y="2075688"/>
            <a:ext cx="384048" cy="384048"/>
          </a:xfrm>
          <a:prstGeom prst="ellipse">
            <a:avLst/>
          </a:prstGeom>
          <a:solidFill>
            <a:srgbClr val="D38B36"/>
          </a:solidFill>
          <a:ln w="12700">
            <a:solidFill>
              <a:srgbClr val="D38B36"/>
            </a:solidFill>
            <a:prstDash val="solid"/>
          </a:ln>
        </p:spPr>
      </p:sp>
      <p:sp>
        <p:nvSpPr>
          <p:cNvPr id="12" name="Text 10"/>
          <p:cNvSpPr/>
          <p:nvPr/>
        </p:nvSpPr>
        <p:spPr>
          <a:xfrm>
            <a:off x="4572000" y="2130552"/>
            <a:ext cx="384048" cy="14630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13" name="Text 11"/>
          <p:cNvSpPr/>
          <p:nvPr/>
        </p:nvSpPr>
        <p:spPr>
          <a:xfrm>
            <a:off x="5084064" y="2057400"/>
            <a:ext cx="2542032" cy="301752"/>
          </a:xfrm>
          <a:prstGeom prst="rect">
            <a:avLst/>
          </a:prstGeom>
          <a:noFill/>
          <a:ln/>
        </p:spPr>
        <p:txBody>
          <a:bodyPr wrap="square" lIns="0" tIns="0" rIns="0" bIns="0" rtlCol="0" anchor="ctr">
            <a:normAutofit/>
          </a:bodyPr>
          <a:lstStyle/>
          <a:p>
            <a:pPr indent="0" marL="0">
              <a:buNone/>
            </a:pPr>
            <a:r>
              <a:rPr lang="en-US" sz="1900" b="1" dirty="0">
                <a:solidFill>
                  <a:srgbClr val="112B46"/>
                </a:solidFill>
                <a:latin typeface="Calibri" pitchFamily="34" charset="0"/>
                <a:ea typeface="Calibri" pitchFamily="34" charset="-122"/>
                <a:cs typeface="Calibri" pitchFamily="34" charset="-120"/>
              </a:rPr>
              <a:t>Duyệt nhiều bước</a:t>
            </a:r>
            <a:endParaRPr lang="en-US" sz="1900" dirty="0"/>
          </a:p>
        </p:txBody>
      </p:sp>
      <p:sp>
        <p:nvSpPr>
          <p:cNvPr id="14" name="Text 12"/>
          <p:cNvSpPr/>
          <p:nvPr/>
        </p:nvSpPr>
        <p:spPr>
          <a:xfrm>
            <a:off x="4599432" y="2478024"/>
            <a:ext cx="2999232" cy="2825496"/>
          </a:xfrm>
          <a:prstGeom prst="rect">
            <a:avLst/>
          </a:prstGeom>
          <a:noFill/>
          <a:ln/>
        </p:spPr>
        <p:txBody>
          <a:bodyPr wrap="square" lIns="0" tIns="0" rIns="0" bIns="0" rtlCol="0" anchor="t">
            <a:normAutofit/>
          </a:bodyPr>
          <a:lstStyle/>
          <a:p>
            <a:pPr indent="0" marL="0">
              <a:buNone/>
            </a:pPr>
            <a:r>
              <a:rPr lang="en-US" sz="1400" dirty="0">
                <a:solidFill>
                  <a:srgbClr val="172B3A"/>
                </a:solidFill>
                <a:latin typeface="Calibri" pitchFamily="34" charset="0"/>
                <a:ea typeface="Calibri" pitchFamily="34" charset="-122"/>
                <a:cs typeface="Calibri" pitchFamily="34" charset="-120"/>
              </a:rPr>
              <a:t>Bạn diễn, phim chung, đạo diễn–thể loại và đường liên hệ đều cần duyệt đồ thị (traversal) qua nhiều cạnh.</a:t>
            </a:r>
            <a:endParaRPr lang="en-US" sz="1400" dirty="0"/>
          </a:p>
          <a:p>
            <a:pPr indent="0" marL="0">
              <a:buNone/>
            </a:pPr>
            <a:endParaRPr lang="en-US" sz="1400" dirty="0"/>
          </a:p>
          <a:p>
            <a:pPr indent="0" marL="0">
              <a:buNone/>
            </a:pPr>
            <a:r>
              <a:rPr lang="en-US" sz="1400" dirty="0">
                <a:solidFill>
                  <a:srgbClr val="172B3A"/>
                </a:solidFill>
                <a:latin typeface="Calibri" pitchFamily="34" charset="0"/>
                <a:ea typeface="Calibri" pitchFamily="34" charset="-122"/>
                <a:cs typeface="Calibri" pitchFamily="34" charset="-120"/>
              </a:rPr>
              <a:t>Mô hình phải phản ánh trực tiếp các quan hệ.</a:t>
            </a:r>
            <a:endParaRPr lang="en-US" sz="1400" dirty="0"/>
          </a:p>
        </p:txBody>
      </p:sp>
      <p:sp>
        <p:nvSpPr>
          <p:cNvPr id="15" name="Shape 13"/>
          <p:cNvSpPr/>
          <p:nvPr/>
        </p:nvSpPr>
        <p:spPr>
          <a:xfrm>
            <a:off x="8147304" y="1874520"/>
            <a:ext cx="3456432" cy="3611880"/>
          </a:xfrm>
          <a:prstGeom prst="roundRect">
            <a:avLst>
              <a:gd name="adj" fmla="val 1587"/>
            </a:avLst>
          </a:prstGeom>
          <a:solidFill>
            <a:srgbClr val="E8F4EE"/>
          </a:solidFill>
          <a:ln w="12700">
            <a:solidFill>
              <a:srgbClr val="C4E2D1"/>
            </a:solidFill>
            <a:prstDash val="solid"/>
          </a:ln>
          <a:effectLst>
            <a:outerShdw sx="100000" sy="100000" kx="0" ky="0" algn="bl" rotWithShape="0" blurRad="25400" dist="50800" dir="2700000">
              <a:srgbClr val="26384A">
                <a:alpha val="13000"/>
              </a:srgbClr>
            </a:outerShdw>
          </a:effectLst>
        </p:spPr>
      </p:sp>
      <p:sp>
        <p:nvSpPr>
          <p:cNvPr id="16" name="Shape 14"/>
          <p:cNvSpPr/>
          <p:nvPr/>
        </p:nvSpPr>
        <p:spPr>
          <a:xfrm>
            <a:off x="8348472" y="2075688"/>
            <a:ext cx="384048" cy="384048"/>
          </a:xfrm>
          <a:prstGeom prst="ellipse">
            <a:avLst/>
          </a:prstGeom>
          <a:solidFill>
            <a:srgbClr val="3D8B66"/>
          </a:solidFill>
          <a:ln w="12700">
            <a:solidFill>
              <a:srgbClr val="3D8B66"/>
            </a:solidFill>
            <a:prstDash val="solid"/>
          </a:ln>
        </p:spPr>
      </p:sp>
      <p:sp>
        <p:nvSpPr>
          <p:cNvPr id="17" name="Text 15"/>
          <p:cNvSpPr/>
          <p:nvPr/>
        </p:nvSpPr>
        <p:spPr>
          <a:xfrm>
            <a:off x="8348472" y="2130552"/>
            <a:ext cx="384048" cy="14630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18" name="Text 16"/>
          <p:cNvSpPr/>
          <p:nvPr/>
        </p:nvSpPr>
        <p:spPr>
          <a:xfrm>
            <a:off x="8860536" y="2057400"/>
            <a:ext cx="2542032" cy="301752"/>
          </a:xfrm>
          <a:prstGeom prst="rect">
            <a:avLst/>
          </a:prstGeom>
          <a:noFill/>
          <a:ln/>
        </p:spPr>
        <p:txBody>
          <a:bodyPr wrap="square" lIns="0" tIns="0" rIns="0" bIns="0" rtlCol="0" anchor="ctr">
            <a:normAutofit/>
          </a:bodyPr>
          <a:lstStyle/>
          <a:p>
            <a:pPr indent="0" marL="0">
              <a:buNone/>
            </a:pPr>
            <a:r>
              <a:rPr lang="en-US" sz="1900" b="1" dirty="0">
                <a:solidFill>
                  <a:srgbClr val="112B46"/>
                </a:solidFill>
                <a:latin typeface="Calibri" pitchFamily="34" charset="0"/>
                <a:ea typeface="Calibri" pitchFamily="34" charset="-122"/>
                <a:cs typeface="Calibri" pitchFamily="34" charset="-120"/>
              </a:rPr>
              <a:t>Giải thích được</a:t>
            </a:r>
            <a:endParaRPr lang="en-US" sz="1900" dirty="0"/>
          </a:p>
        </p:txBody>
      </p:sp>
      <p:sp>
        <p:nvSpPr>
          <p:cNvPr id="19" name="Text 17"/>
          <p:cNvSpPr/>
          <p:nvPr/>
        </p:nvSpPr>
        <p:spPr>
          <a:xfrm>
            <a:off x="8375904" y="2478024"/>
            <a:ext cx="2999232" cy="2825496"/>
          </a:xfrm>
          <a:prstGeom prst="rect">
            <a:avLst/>
          </a:prstGeom>
          <a:noFill/>
          <a:ln/>
        </p:spPr>
        <p:txBody>
          <a:bodyPr wrap="square" lIns="0" tIns="0" rIns="0" bIns="0" rtlCol="0" anchor="t">
            <a:normAutofit/>
          </a:bodyPr>
          <a:lstStyle/>
          <a:p>
            <a:pPr indent="0" marL="0">
              <a:buNone/>
            </a:pPr>
            <a:r>
              <a:rPr lang="en-US" sz="1400" dirty="0">
                <a:solidFill>
                  <a:srgbClr val="172B3A"/>
                </a:solidFill>
                <a:latin typeface="Calibri" pitchFamily="34" charset="0"/>
                <a:ea typeface="Calibri" pitchFamily="34" charset="-122"/>
                <a:cs typeface="Calibri" pitchFamily="34" charset="-120"/>
              </a:rPr>
              <a:t>Kết quả cần gắn với nguồn, thực thể đã liên kết, cạnh hỗ trợ và đóng góp điểm.</a:t>
            </a:r>
            <a:endParaRPr lang="en-US" sz="1400" dirty="0"/>
          </a:p>
          <a:p>
            <a:pPr indent="0" marL="0">
              <a:buNone/>
            </a:pPr>
            <a:endParaRPr lang="en-US" sz="1400" dirty="0"/>
          </a:p>
          <a:p>
            <a:pPr indent="0" marL="0">
              <a:buNone/>
            </a:pPr>
            <a:r>
              <a:rPr lang="en-US" sz="1400" dirty="0">
                <a:solidFill>
                  <a:srgbClr val="172B3A"/>
                </a:solidFill>
                <a:latin typeface="Calibri" pitchFamily="34" charset="0"/>
                <a:ea typeface="Calibri" pitchFamily="34" charset="-122"/>
                <a:cs typeface="Calibri" pitchFamily="34" charset="-120"/>
              </a:rPr>
              <a:t>Không chấp nhận suy diễn hộp đen.</a:t>
            </a:r>
            <a:endParaRPr lang="en-US" sz="1400" dirty="0"/>
          </a:p>
        </p:txBody>
      </p:sp>
      <p:sp>
        <p:nvSpPr>
          <p:cNvPr id="25" name="Slide Number Placeholder 0"/>
          <p:cNvSpPr>
            <a:spLocks noGrp="1"/>
          </p:cNvSpPr>
          <p:nvPr>
            <p:ph type="sldNum" sz="quarter" idx="4294967295"/>
          </p:nvPr>
        </p:nvSpPr>
        <p:spPr>
          <a:xfrm>
            <a:off x="11631168" y="6473952"/>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97586"/>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2B46"/>
        </a:solidFill>
      </p:bgPr>
    </p:bg>
    <p:spTree>
      <p:nvGrpSpPr>
        <p:cNvPr id="1" name=""/>
        <p:cNvGrpSpPr/>
        <p:nvPr/>
      </p:nvGrpSpPr>
      <p:grpSpPr>
        <a:xfrm>
          <a:off x="0" y="0"/>
          <a:ext cx="0" cy="0"/>
          <a:chOff x="0" y="0"/>
          <a:chExt cx="0" cy="0"/>
        </a:xfrm>
      </p:grpSpPr>
      <p:sp>
        <p:nvSpPr>
          <p:cNvPr id="2" name="Shape 0"/>
          <p:cNvSpPr/>
          <p:nvPr/>
        </p:nvSpPr>
        <p:spPr>
          <a:xfrm>
            <a:off x="9784080" y="-640080"/>
            <a:ext cx="3200400" cy="3200400"/>
          </a:xfrm>
          <a:prstGeom prst="ellipse">
            <a:avLst/>
          </a:prstGeom>
          <a:solidFill>
            <a:srgbClr val="337B80">
              <a:alpha val="28000"/>
            </a:srgbClr>
          </a:solidFill>
          <a:ln w="12700">
            <a:solidFill>
              <a:srgbClr val="337B80">
                <a:alpha val="0"/>
              </a:srgbClr>
            </a:solidFill>
            <a:prstDash val="solid"/>
          </a:ln>
        </p:spPr>
      </p:sp>
      <p:sp>
        <p:nvSpPr>
          <p:cNvPr id="3" name="Shape 1"/>
          <p:cNvSpPr/>
          <p:nvPr/>
        </p:nvSpPr>
        <p:spPr>
          <a:xfrm>
            <a:off x="-640080" y="5303520"/>
            <a:ext cx="2103120" cy="2103120"/>
          </a:xfrm>
          <a:prstGeom prst="ellipse">
            <a:avLst/>
          </a:prstGeom>
          <a:solidFill>
            <a:srgbClr val="725B9B">
              <a:alpha val="30000"/>
            </a:srgbClr>
          </a:solidFill>
          <a:ln w="12700">
            <a:solidFill>
              <a:srgbClr val="725B9B">
                <a:alpha val="0"/>
              </a:srgbClr>
            </a:solidFill>
            <a:prstDash val="solid"/>
          </a:ln>
        </p:spPr>
      </p:sp>
      <p:sp>
        <p:nvSpPr>
          <p:cNvPr id="4" name="Text 2"/>
          <p:cNvSpPr/>
          <p:nvPr/>
        </p:nvSpPr>
        <p:spPr>
          <a:xfrm>
            <a:off x="685800" y="621792"/>
            <a:ext cx="3200400" cy="228600"/>
          </a:xfrm>
          <a:prstGeom prst="rect">
            <a:avLst/>
          </a:prstGeom>
          <a:noFill/>
          <a:ln/>
        </p:spPr>
        <p:txBody>
          <a:bodyPr wrap="square" lIns="0" tIns="0" rIns="0" bIns="0" rtlCol="0" anchor="ctr"/>
          <a:lstStyle/>
          <a:p>
            <a:pPr indent="0" marL="0">
              <a:buNone/>
            </a:pPr>
            <a:r>
              <a:rPr lang="en-US" sz="1000" b="1" spc="160" kern="0" dirty="0">
                <a:solidFill>
                  <a:srgbClr val="8FD0CC"/>
                </a:solidFill>
                <a:latin typeface="Arial" pitchFamily="34" charset="0"/>
                <a:ea typeface="Arial" pitchFamily="34" charset="-122"/>
                <a:cs typeface="Arial" pitchFamily="34" charset="-120"/>
              </a:rPr>
              <a:t>CÂU HỎI NGHIÊN CỨU</a:t>
            </a:r>
            <a:endParaRPr lang="en-US" sz="1000" dirty="0"/>
          </a:p>
        </p:txBody>
      </p:sp>
      <p:sp>
        <p:nvSpPr>
          <p:cNvPr id="5" name="Text 3"/>
          <p:cNvSpPr/>
          <p:nvPr/>
        </p:nvSpPr>
        <p:spPr>
          <a:xfrm>
            <a:off x="685800" y="1143000"/>
            <a:ext cx="10424160" cy="146304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Calibri" pitchFamily="34" charset="0"/>
                <a:ea typeface="Calibri" pitchFamily="34" charset="-122"/>
                <a:cs typeface="Calibri" pitchFamily="34" charset="-120"/>
              </a:rPr>
              <a:t>Đồ thị tri thức có thể tích hợp dữ liệu phim đa nguồn, hỗ trợ truy vấn nhiều bước và tạo kết quả có bằng chứng như thế nào?</a:t>
            </a:r>
            <a:endParaRPr lang="en-US" sz="3000" dirty="0"/>
          </a:p>
        </p:txBody>
      </p:sp>
      <p:sp>
        <p:nvSpPr>
          <p:cNvPr id="6" name="Text 4"/>
          <p:cNvSpPr/>
          <p:nvPr/>
        </p:nvSpPr>
        <p:spPr>
          <a:xfrm>
            <a:off x="685800" y="3886200"/>
            <a:ext cx="384048" cy="274320"/>
          </a:xfrm>
          <a:prstGeom prst="rect">
            <a:avLst/>
          </a:prstGeom>
          <a:noFill/>
          <a:ln/>
        </p:spPr>
        <p:txBody>
          <a:bodyPr wrap="square" lIns="0" tIns="0" rIns="0" bIns="0" rtlCol="0" anchor="ctr"/>
          <a:lstStyle/>
          <a:p>
            <a:pPr indent="0" marL="0">
              <a:buNone/>
            </a:pPr>
            <a:r>
              <a:rPr lang="en-US" sz="1200" b="1" dirty="0">
                <a:solidFill>
                  <a:srgbClr val="8FD0CC"/>
                </a:solidFill>
                <a:latin typeface="Arial" pitchFamily="34" charset="0"/>
                <a:ea typeface="Arial" pitchFamily="34" charset="-122"/>
                <a:cs typeface="Arial" pitchFamily="34" charset="-120"/>
              </a:rPr>
              <a:t>01</a:t>
            </a:r>
            <a:endParaRPr lang="en-US" sz="1200" dirty="0"/>
          </a:p>
        </p:txBody>
      </p:sp>
      <p:sp>
        <p:nvSpPr>
          <p:cNvPr id="7" name="Text 5"/>
          <p:cNvSpPr/>
          <p:nvPr/>
        </p:nvSpPr>
        <p:spPr>
          <a:xfrm>
            <a:off x="685800" y="4315968"/>
            <a:ext cx="1956816" cy="914400"/>
          </a:xfrm>
          <a:prstGeom prst="rect">
            <a:avLst/>
          </a:prstGeom>
          <a:noFill/>
          <a:ln/>
        </p:spPr>
        <p:txBody>
          <a:bodyPr wrap="square" lIns="0" tIns="0" rIns="0" bIns="0"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Quy trình TMDB + IMDb tái lập được</a:t>
            </a:r>
            <a:endParaRPr lang="en-US" sz="1350" dirty="0"/>
          </a:p>
        </p:txBody>
      </p:sp>
      <p:sp>
        <p:nvSpPr>
          <p:cNvPr id="8" name="Text 6"/>
          <p:cNvSpPr/>
          <p:nvPr/>
        </p:nvSpPr>
        <p:spPr>
          <a:xfrm>
            <a:off x="2953512" y="3886200"/>
            <a:ext cx="384048" cy="274320"/>
          </a:xfrm>
          <a:prstGeom prst="rect">
            <a:avLst/>
          </a:prstGeom>
          <a:noFill/>
          <a:ln/>
        </p:spPr>
        <p:txBody>
          <a:bodyPr wrap="square" lIns="0" tIns="0" rIns="0" bIns="0" rtlCol="0" anchor="ctr"/>
          <a:lstStyle/>
          <a:p>
            <a:pPr indent="0" marL="0">
              <a:buNone/>
            </a:pPr>
            <a:r>
              <a:rPr lang="en-US" sz="1200" b="1" dirty="0">
                <a:solidFill>
                  <a:srgbClr val="8FD0CC"/>
                </a:solidFill>
                <a:latin typeface="Arial" pitchFamily="34" charset="0"/>
                <a:ea typeface="Arial" pitchFamily="34" charset="-122"/>
                <a:cs typeface="Arial" pitchFamily="34" charset="-120"/>
              </a:rPr>
              <a:t>02</a:t>
            </a:r>
            <a:endParaRPr lang="en-US" sz="1200" dirty="0"/>
          </a:p>
        </p:txBody>
      </p:sp>
      <p:sp>
        <p:nvSpPr>
          <p:cNvPr id="9" name="Text 7"/>
          <p:cNvSpPr/>
          <p:nvPr/>
        </p:nvSpPr>
        <p:spPr>
          <a:xfrm>
            <a:off x="2953512" y="4315968"/>
            <a:ext cx="1956816" cy="914400"/>
          </a:xfrm>
          <a:prstGeom prst="rect">
            <a:avLst/>
          </a:prstGeom>
          <a:noFill/>
          <a:ln/>
        </p:spPr>
        <p:txBody>
          <a:bodyPr wrap="square" lIns="0" tIns="0" rIns="0" bIns="0"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Định danh ổn định và ràng buộc dữ liệu</a:t>
            </a:r>
            <a:endParaRPr lang="en-US" sz="1350" dirty="0"/>
          </a:p>
        </p:txBody>
      </p:sp>
      <p:sp>
        <p:nvSpPr>
          <p:cNvPr id="10" name="Text 8"/>
          <p:cNvSpPr/>
          <p:nvPr/>
        </p:nvSpPr>
        <p:spPr>
          <a:xfrm>
            <a:off x="5221224" y="3886200"/>
            <a:ext cx="384048" cy="274320"/>
          </a:xfrm>
          <a:prstGeom prst="rect">
            <a:avLst/>
          </a:prstGeom>
          <a:noFill/>
          <a:ln/>
        </p:spPr>
        <p:txBody>
          <a:bodyPr wrap="square" lIns="0" tIns="0" rIns="0" bIns="0" rtlCol="0" anchor="ctr"/>
          <a:lstStyle/>
          <a:p>
            <a:pPr indent="0" marL="0">
              <a:buNone/>
            </a:pPr>
            <a:r>
              <a:rPr lang="en-US" sz="1200" b="1" dirty="0">
                <a:solidFill>
                  <a:srgbClr val="8FD0CC"/>
                </a:solidFill>
                <a:latin typeface="Arial" pitchFamily="34" charset="0"/>
                <a:ea typeface="Arial" pitchFamily="34" charset="-122"/>
                <a:cs typeface="Arial" pitchFamily="34" charset="-120"/>
              </a:rPr>
              <a:t>03</a:t>
            </a:r>
            <a:endParaRPr lang="en-US" sz="1200" dirty="0"/>
          </a:p>
        </p:txBody>
      </p:sp>
      <p:sp>
        <p:nvSpPr>
          <p:cNvPr id="11" name="Text 9"/>
          <p:cNvSpPr/>
          <p:nvPr/>
        </p:nvSpPr>
        <p:spPr>
          <a:xfrm>
            <a:off x="5221224" y="4315968"/>
            <a:ext cx="1956816" cy="914400"/>
          </a:xfrm>
          <a:prstGeom prst="rect">
            <a:avLst/>
          </a:prstGeom>
          <a:noFill/>
          <a:ln/>
        </p:spPr>
        <p:txBody>
          <a:bodyPr wrap="square" lIns="0" tIns="0" rIns="0" bIns="0"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Cypher nhiều bước và đường đi ngắn nhất</a:t>
            </a:r>
            <a:endParaRPr lang="en-US" sz="1350" dirty="0"/>
          </a:p>
        </p:txBody>
      </p:sp>
      <p:sp>
        <p:nvSpPr>
          <p:cNvPr id="12" name="Text 10"/>
          <p:cNvSpPr/>
          <p:nvPr/>
        </p:nvSpPr>
        <p:spPr>
          <a:xfrm>
            <a:off x="7488936" y="3886200"/>
            <a:ext cx="384048" cy="274320"/>
          </a:xfrm>
          <a:prstGeom prst="rect">
            <a:avLst/>
          </a:prstGeom>
          <a:noFill/>
          <a:ln/>
        </p:spPr>
        <p:txBody>
          <a:bodyPr wrap="square" lIns="0" tIns="0" rIns="0" bIns="0" rtlCol="0" anchor="ctr"/>
          <a:lstStyle/>
          <a:p>
            <a:pPr indent="0" marL="0">
              <a:buNone/>
            </a:pPr>
            <a:r>
              <a:rPr lang="en-US" sz="1200" b="1" dirty="0">
                <a:solidFill>
                  <a:srgbClr val="8FD0CC"/>
                </a:solidFill>
                <a:latin typeface="Arial" pitchFamily="34" charset="0"/>
                <a:ea typeface="Arial" pitchFamily="34" charset="-122"/>
                <a:cs typeface="Arial" pitchFamily="34" charset="-120"/>
              </a:rPr>
              <a:t>04</a:t>
            </a:r>
            <a:endParaRPr lang="en-US" sz="1200" dirty="0"/>
          </a:p>
        </p:txBody>
      </p:sp>
      <p:sp>
        <p:nvSpPr>
          <p:cNvPr id="13" name="Text 11"/>
          <p:cNvSpPr/>
          <p:nvPr/>
        </p:nvSpPr>
        <p:spPr>
          <a:xfrm>
            <a:off x="7488936" y="4315968"/>
            <a:ext cx="1956816" cy="914400"/>
          </a:xfrm>
          <a:prstGeom prst="rect">
            <a:avLst/>
          </a:prstGeom>
          <a:noFill/>
          <a:ln/>
        </p:spPr>
        <p:txBody>
          <a:bodyPr wrap="square" lIns="0" tIns="0" rIns="0" bIns="0"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QA 9 ý định + gợi ý có lời giải thích</a:t>
            </a:r>
            <a:endParaRPr lang="en-US" sz="1350" dirty="0"/>
          </a:p>
        </p:txBody>
      </p:sp>
      <p:sp>
        <p:nvSpPr>
          <p:cNvPr id="14" name="Text 12"/>
          <p:cNvSpPr/>
          <p:nvPr/>
        </p:nvSpPr>
        <p:spPr>
          <a:xfrm>
            <a:off x="9756648" y="3886200"/>
            <a:ext cx="384048" cy="274320"/>
          </a:xfrm>
          <a:prstGeom prst="rect">
            <a:avLst/>
          </a:prstGeom>
          <a:noFill/>
          <a:ln/>
        </p:spPr>
        <p:txBody>
          <a:bodyPr wrap="square" lIns="0" tIns="0" rIns="0" bIns="0" rtlCol="0" anchor="ctr"/>
          <a:lstStyle/>
          <a:p>
            <a:pPr indent="0" marL="0">
              <a:buNone/>
            </a:pPr>
            <a:r>
              <a:rPr lang="en-US" sz="1200" b="1" dirty="0">
                <a:solidFill>
                  <a:srgbClr val="8FD0CC"/>
                </a:solidFill>
                <a:latin typeface="Arial" pitchFamily="34" charset="0"/>
                <a:ea typeface="Arial" pitchFamily="34" charset="-122"/>
                <a:cs typeface="Arial" pitchFamily="34" charset="-120"/>
              </a:rPr>
              <a:t>05</a:t>
            </a:r>
            <a:endParaRPr lang="en-US" sz="1200" dirty="0"/>
          </a:p>
        </p:txBody>
      </p:sp>
      <p:sp>
        <p:nvSpPr>
          <p:cNvPr id="15" name="Text 13"/>
          <p:cNvSpPr/>
          <p:nvPr/>
        </p:nvSpPr>
        <p:spPr>
          <a:xfrm>
            <a:off x="9756648" y="4315968"/>
            <a:ext cx="1956816" cy="914400"/>
          </a:xfrm>
          <a:prstGeom prst="rect">
            <a:avLst/>
          </a:prstGeom>
          <a:noFill/>
          <a:ln/>
        </p:spPr>
        <p:txBody>
          <a:bodyPr wrap="square" lIns="0" tIns="0" rIns="0" bIns="0"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Đánh giá chất lượng, suy diễn và hiệu năng</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30352" y="475488"/>
            <a:ext cx="2194560" cy="219456"/>
          </a:xfrm>
          <a:prstGeom prst="rect">
            <a:avLst/>
          </a:prstGeom>
          <a:noFill/>
          <a:ln/>
        </p:spPr>
        <p:txBody>
          <a:bodyPr wrap="square" lIns="0" tIns="0" rIns="0" bIns="0" rtlCol="0" anchor="ctr"/>
          <a:lstStyle/>
          <a:p>
            <a:pPr indent="0" marL="0">
              <a:buNone/>
            </a:pPr>
            <a:r>
              <a:rPr lang="en-US" sz="900" b="1" spc="140" kern="0" dirty="0">
                <a:solidFill>
                  <a:srgbClr val="337B80"/>
                </a:solidFill>
                <a:latin typeface="Arial" pitchFamily="34" charset="0"/>
                <a:ea typeface="Arial" pitchFamily="34" charset="-122"/>
                <a:cs typeface="Arial" pitchFamily="34" charset="-120"/>
              </a:rPr>
              <a:t>PHẠM VI</a:t>
            </a:r>
            <a:endParaRPr lang="en-US" sz="900" dirty="0"/>
          </a:p>
        </p:txBody>
      </p:sp>
      <p:sp>
        <p:nvSpPr>
          <p:cNvPr id="3" name="Text 1"/>
          <p:cNvSpPr/>
          <p:nvPr/>
        </p:nvSpPr>
        <p:spPr>
          <a:xfrm>
            <a:off x="530352" y="713232"/>
            <a:ext cx="10881360" cy="502920"/>
          </a:xfrm>
          <a:prstGeom prst="rect">
            <a:avLst/>
          </a:prstGeom>
          <a:noFill/>
          <a:ln/>
        </p:spPr>
        <p:txBody>
          <a:bodyPr wrap="square" lIns="0" tIns="0" rIns="0" bIns="0" rtlCol="0" anchor="ctr">
            <a:normAutofit/>
          </a:bodyPr>
          <a:lstStyle/>
          <a:p>
            <a:pPr indent="0" marL="0">
              <a:buNone/>
            </a:pPr>
            <a:r>
              <a:rPr lang="en-US" sz="2600" b="1" dirty="0">
                <a:solidFill>
                  <a:srgbClr val="112B46"/>
                </a:solidFill>
                <a:latin typeface="Calibri" pitchFamily="34" charset="0"/>
                <a:ea typeface="Calibri" pitchFamily="34" charset="-122"/>
                <a:cs typeface="Calibri" pitchFamily="34" charset="-120"/>
              </a:rPr>
              <a:t>Phạm vi được khóa để bảo đảm tính kiểm chứng</a:t>
            </a:r>
            <a:endParaRPr lang="en-US" sz="2600" dirty="0"/>
          </a:p>
        </p:txBody>
      </p:sp>
      <p:sp>
        <p:nvSpPr>
          <p:cNvPr id="4" name="Text 2"/>
          <p:cNvSpPr/>
          <p:nvPr/>
        </p:nvSpPr>
        <p:spPr>
          <a:xfrm>
            <a:off x="548640" y="1261872"/>
            <a:ext cx="10652760" cy="310896"/>
          </a:xfrm>
          <a:prstGeom prst="rect">
            <a:avLst/>
          </a:prstGeom>
          <a:noFill/>
          <a:ln/>
        </p:spPr>
        <p:txBody>
          <a:bodyPr wrap="square" lIns="0" tIns="0" rIns="0" bIns="0" rtlCol="0" anchor="ctr">
            <a:normAutofit/>
          </a:bodyPr>
          <a:lstStyle/>
          <a:p>
            <a:pPr indent="0" marL="0">
              <a:buNone/>
            </a:pPr>
            <a:r>
              <a:rPr lang="en-US" sz="1250" dirty="0">
                <a:solidFill>
                  <a:srgbClr val="697586"/>
                </a:solidFill>
                <a:latin typeface="Calibri" pitchFamily="34" charset="0"/>
                <a:ea typeface="Calibri" pitchFamily="34" charset="-122"/>
                <a:cs typeface="Calibri" pitchFamily="34" charset="-120"/>
              </a:rPr>
              <a:t>MVP tập trung vào đồ thị phim có thể chạy, đo và trình diễn; không mở rộng sang sinh Cypher tự do.</a:t>
            </a:r>
            <a:endParaRPr lang="en-US" sz="1250" dirty="0"/>
          </a:p>
        </p:txBody>
      </p:sp>
      <p:sp>
        <p:nvSpPr>
          <p:cNvPr id="5" name="Shape 3"/>
          <p:cNvSpPr/>
          <p:nvPr/>
        </p:nvSpPr>
        <p:spPr>
          <a:xfrm>
            <a:off x="594360" y="1828800"/>
            <a:ext cx="2148840" cy="1261872"/>
          </a:xfrm>
          <a:prstGeom prst="roundRect">
            <a:avLst>
              <a:gd name="adj" fmla="val 4348"/>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sp>
        <p:nvSpPr>
          <p:cNvPr id="6" name="Text 4"/>
          <p:cNvSpPr/>
          <p:nvPr/>
        </p:nvSpPr>
        <p:spPr>
          <a:xfrm>
            <a:off x="758952" y="1993392"/>
            <a:ext cx="1819656" cy="457200"/>
          </a:xfrm>
          <a:prstGeom prst="rect">
            <a:avLst/>
          </a:prstGeom>
          <a:noFill/>
          <a:ln/>
        </p:spPr>
        <p:txBody>
          <a:bodyPr wrap="square" lIns="0" tIns="0" rIns="0" bIns="0" rtlCol="0" anchor="ctr">
            <a:normAutofit/>
          </a:bodyPr>
          <a:lstStyle/>
          <a:p>
            <a:pPr indent="0" marL="0">
              <a:buNone/>
            </a:pPr>
            <a:r>
              <a:rPr lang="en-US" sz="2800" b="1" dirty="0">
                <a:solidFill>
                  <a:srgbClr val="337B80"/>
                </a:solidFill>
                <a:latin typeface="Arial" pitchFamily="34" charset="0"/>
                <a:ea typeface="Arial" pitchFamily="34" charset="-122"/>
                <a:cs typeface="Arial" pitchFamily="34" charset="-120"/>
              </a:rPr>
              <a:t>4.999</a:t>
            </a:r>
            <a:endParaRPr lang="en-US" sz="2800" dirty="0"/>
          </a:p>
        </p:txBody>
      </p:sp>
      <p:sp>
        <p:nvSpPr>
          <p:cNvPr id="7" name="Text 5"/>
          <p:cNvSpPr/>
          <p:nvPr/>
        </p:nvSpPr>
        <p:spPr>
          <a:xfrm>
            <a:off x="777240" y="2505456"/>
            <a:ext cx="1783080" cy="256032"/>
          </a:xfrm>
          <a:prstGeom prst="rect">
            <a:avLst/>
          </a:prstGeom>
          <a:noFill/>
          <a:ln/>
        </p:spPr>
        <p:txBody>
          <a:bodyPr wrap="square" lIns="0" tIns="0" rIns="0" bIns="0" rtlCol="0" anchor="ctr">
            <a:normAutofit/>
          </a:bodyPr>
          <a:lstStyle/>
          <a:p>
            <a:pPr indent="0" marL="0">
              <a:buNone/>
            </a:pPr>
            <a:r>
              <a:rPr lang="en-US" sz="1100" b="1" dirty="0">
                <a:solidFill>
                  <a:srgbClr val="172B3A"/>
                </a:solidFill>
                <a:latin typeface="Calibri" pitchFamily="34" charset="0"/>
                <a:ea typeface="Calibri" pitchFamily="34" charset="-122"/>
                <a:cs typeface="Calibri" pitchFamily="34" charset="-120"/>
              </a:rPr>
              <a:t>Phim (Movie) hợp lệ</a:t>
            </a:r>
            <a:endParaRPr lang="en-US" sz="1100" dirty="0"/>
          </a:p>
        </p:txBody>
      </p:sp>
      <p:sp>
        <p:nvSpPr>
          <p:cNvPr id="8" name="Text 6"/>
          <p:cNvSpPr/>
          <p:nvPr/>
        </p:nvSpPr>
        <p:spPr>
          <a:xfrm>
            <a:off x="777240" y="2798064"/>
            <a:ext cx="1783080" cy="164592"/>
          </a:xfrm>
          <a:prstGeom prst="rect">
            <a:avLst/>
          </a:prstGeom>
          <a:noFill/>
          <a:ln/>
        </p:spPr>
        <p:txBody>
          <a:bodyPr wrap="square" lIns="0" tIns="0" rIns="0" bIns="0" rtlCol="0" anchor="ctr">
            <a:normAutofit/>
          </a:bodyPr>
          <a:lstStyle/>
          <a:p>
            <a:pPr indent="0" marL="0">
              <a:buNone/>
            </a:pPr>
            <a:r>
              <a:rPr lang="en-US" sz="750" dirty="0">
                <a:solidFill>
                  <a:srgbClr val="697586"/>
                </a:solidFill>
                <a:latin typeface="Arial" pitchFamily="34" charset="0"/>
                <a:ea typeface="Arial" pitchFamily="34" charset="-122"/>
                <a:cs typeface="Arial" pitchFamily="34" charset="-120"/>
              </a:rPr>
              <a:t>từ 5.000 bản ghi đầu vào</a:t>
            </a:r>
            <a:endParaRPr lang="en-US" sz="750" dirty="0"/>
          </a:p>
        </p:txBody>
      </p:sp>
      <p:sp>
        <p:nvSpPr>
          <p:cNvPr id="9" name="Shape 7"/>
          <p:cNvSpPr/>
          <p:nvPr/>
        </p:nvSpPr>
        <p:spPr>
          <a:xfrm>
            <a:off x="2971800" y="1828800"/>
            <a:ext cx="2148840" cy="1261872"/>
          </a:xfrm>
          <a:prstGeom prst="roundRect">
            <a:avLst>
              <a:gd name="adj" fmla="val 4348"/>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sp>
        <p:nvSpPr>
          <p:cNvPr id="10" name="Text 8"/>
          <p:cNvSpPr/>
          <p:nvPr/>
        </p:nvSpPr>
        <p:spPr>
          <a:xfrm>
            <a:off x="3136392" y="1993392"/>
            <a:ext cx="1819656" cy="457200"/>
          </a:xfrm>
          <a:prstGeom prst="rect">
            <a:avLst/>
          </a:prstGeom>
          <a:noFill/>
          <a:ln/>
        </p:spPr>
        <p:txBody>
          <a:bodyPr wrap="square" lIns="0" tIns="0" rIns="0" bIns="0" rtlCol="0" anchor="ctr">
            <a:normAutofit/>
          </a:bodyPr>
          <a:lstStyle/>
          <a:p>
            <a:pPr indent="0" marL="0">
              <a:buNone/>
            </a:pPr>
            <a:r>
              <a:rPr lang="en-US" sz="2800" b="1" dirty="0">
                <a:solidFill>
                  <a:srgbClr val="725B9B"/>
                </a:solidFill>
                <a:latin typeface="Arial" pitchFamily="34" charset="0"/>
                <a:ea typeface="Arial" pitchFamily="34" charset="-122"/>
                <a:cs typeface="Arial" pitchFamily="34" charset="-120"/>
              </a:rPr>
              <a:t>5 + 1</a:t>
            </a:r>
            <a:endParaRPr lang="en-US" sz="2800" dirty="0"/>
          </a:p>
        </p:txBody>
      </p:sp>
      <p:sp>
        <p:nvSpPr>
          <p:cNvPr id="11" name="Text 9"/>
          <p:cNvSpPr/>
          <p:nvPr/>
        </p:nvSpPr>
        <p:spPr>
          <a:xfrm>
            <a:off x="3154680" y="2505456"/>
            <a:ext cx="1783080" cy="256032"/>
          </a:xfrm>
          <a:prstGeom prst="rect">
            <a:avLst/>
          </a:prstGeom>
          <a:noFill/>
          <a:ln/>
        </p:spPr>
        <p:txBody>
          <a:bodyPr wrap="square" lIns="0" tIns="0" rIns="0" bIns="0" rtlCol="0" anchor="ctr">
            <a:normAutofit/>
          </a:bodyPr>
          <a:lstStyle/>
          <a:p>
            <a:pPr indent="0" marL="0">
              <a:buNone/>
            </a:pPr>
            <a:r>
              <a:rPr lang="en-US" sz="1100" b="1" dirty="0">
                <a:solidFill>
                  <a:srgbClr val="172B3A"/>
                </a:solidFill>
                <a:latin typeface="Calibri" pitchFamily="34" charset="0"/>
                <a:ea typeface="Calibri" pitchFamily="34" charset="-122"/>
                <a:cs typeface="Calibri" pitchFamily="34" charset="-120"/>
              </a:rPr>
              <a:t>Quan hệ gốc + suy diễn</a:t>
            </a:r>
            <a:endParaRPr lang="en-US" sz="1100" dirty="0"/>
          </a:p>
        </p:txBody>
      </p:sp>
      <p:sp>
        <p:nvSpPr>
          <p:cNvPr id="12" name="Text 10"/>
          <p:cNvSpPr/>
          <p:nvPr/>
        </p:nvSpPr>
        <p:spPr>
          <a:xfrm>
            <a:off x="3154680" y="2798064"/>
            <a:ext cx="1783080" cy="164592"/>
          </a:xfrm>
          <a:prstGeom prst="rect">
            <a:avLst/>
          </a:prstGeom>
          <a:noFill/>
          <a:ln/>
        </p:spPr>
        <p:txBody>
          <a:bodyPr wrap="square" lIns="0" tIns="0" rIns="0" bIns="0" rtlCol="0" anchor="ctr">
            <a:normAutofit/>
          </a:bodyPr>
          <a:lstStyle/>
          <a:p>
            <a:pPr indent="0" marL="0">
              <a:buNone/>
            </a:pPr>
            <a:r>
              <a:rPr lang="en-US" sz="750" dirty="0">
                <a:solidFill>
                  <a:srgbClr val="697586"/>
                </a:solidFill>
                <a:latin typeface="Arial" pitchFamily="34" charset="0"/>
                <a:ea typeface="Arial" pitchFamily="34" charset="-122"/>
                <a:cs typeface="Arial" pitchFamily="34" charset="-120"/>
              </a:rPr>
              <a:t>CO_STARRED_WITH là cạnh suy ra</a:t>
            </a:r>
            <a:endParaRPr lang="en-US" sz="750" dirty="0"/>
          </a:p>
        </p:txBody>
      </p:sp>
      <p:sp>
        <p:nvSpPr>
          <p:cNvPr id="13" name="Shape 11"/>
          <p:cNvSpPr/>
          <p:nvPr/>
        </p:nvSpPr>
        <p:spPr>
          <a:xfrm>
            <a:off x="5349240" y="1828800"/>
            <a:ext cx="2148840" cy="1261872"/>
          </a:xfrm>
          <a:prstGeom prst="roundRect">
            <a:avLst>
              <a:gd name="adj" fmla="val 4348"/>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sp>
        <p:nvSpPr>
          <p:cNvPr id="14" name="Text 12"/>
          <p:cNvSpPr/>
          <p:nvPr/>
        </p:nvSpPr>
        <p:spPr>
          <a:xfrm>
            <a:off x="5513832" y="1993392"/>
            <a:ext cx="1819656" cy="457200"/>
          </a:xfrm>
          <a:prstGeom prst="rect">
            <a:avLst/>
          </a:prstGeom>
          <a:noFill/>
          <a:ln/>
        </p:spPr>
        <p:txBody>
          <a:bodyPr wrap="square" lIns="0" tIns="0" rIns="0" bIns="0" rtlCol="0" anchor="ctr">
            <a:normAutofit/>
          </a:bodyPr>
          <a:lstStyle/>
          <a:p>
            <a:pPr indent="0" marL="0">
              <a:buNone/>
            </a:pPr>
            <a:r>
              <a:rPr lang="en-US" sz="2800" b="1" dirty="0">
                <a:solidFill>
                  <a:srgbClr val="3D8B66"/>
                </a:solidFill>
                <a:latin typeface="Arial" pitchFamily="34" charset="0"/>
                <a:ea typeface="Arial" pitchFamily="34" charset="-122"/>
                <a:cs typeface="Arial" pitchFamily="34" charset="-120"/>
              </a:rPr>
              <a:t>2 nguồn</a:t>
            </a:r>
            <a:endParaRPr lang="en-US" sz="2800" dirty="0"/>
          </a:p>
        </p:txBody>
      </p:sp>
      <p:sp>
        <p:nvSpPr>
          <p:cNvPr id="15" name="Text 13"/>
          <p:cNvSpPr/>
          <p:nvPr/>
        </p:nvSpPr>
        <p:spPr>
          <a:xfrm>
            <a:off x="5532120" y="2505456"/>
            <a:ext cx="1783080" cy="256032"/>
          </a:xfrm>
          <a:prstGeom prst="rect">
            <a:avLst/>
          </a:prstGeom>
          <a:noFill/>
          <a:ln/>
        </p:spPr>
        <p:txBody>
          <a:bodyPr wrap="square" lIns="0" tIns="0" rIns="0" bIns="0" rtlCol="0" anchor="ctr">
            <a:normAutofit/>
          </a:bodyPr>
          <a:lstStyle/>
          <a:p>
            <a:pPr indent="0" marL="0">
              <a:buNone/>
            </a:pPr>
            <a:r>
              <a:rPr lang="en-US" sz="1100" b="1" dirty="0">
                <a:solidFill>
                  <a:srgbClr val="172B3A"/>
                </a:solidFill>
                <a:latin typeface="Calibri" pitchFamily="34" charset="0"/>
                <a:ea typeface="Calibri" pitchFamily="34" charset="-122"/>
                <a:cs typeface="Calibri" pitchFamily="34" charset="-120"/>
              </a:rPr>
              <a:t>TMDB + IMDb</a:t>
            </a:r>
            <a:endParaRPr lang="en-US" sz="1100" dirty="0"/>
          </a:p>
        </p:txBody>
      </p:sp>
      <p:sp>
        <p:nvSpPr>
          <p:cNvPr id="16" name="Text 14"/>
          <p:cNvSpPr/>
          <p:nvPr/>
        </p:nvSpPr>
        <p:spPr>
          <a:xfrm>
            <a:off x="5532120" y="2798064"/>
            <a:ext cx="1783080" cy="164592"/>
          </a:xfrm>
          <a:prstGeom prst="rect">
            <a:avLst/>
          </a:prstGeom>
          <a:noFill/>
          <a:ln/>
        </p:spPr>
        <p:txBody>
          <a:bodyPr wrap="square" lIns="0" tIns="0" rIns="0" bIns="0" rtlCol="0" anchor="ctr">
            <a:normAutofit/>
          </a:bodyPr>
          <a:lstStyle/>
          <a:p>
            <a:pPr indent="0" marL="0">
              <a:buNone/>
            </a:pPr>
            <a:r>
              <a:rPr lang="en-US" sz="750" dirty="0">
                <a:solidFill>
                  <a:srgbClr val="697586"/>
                </a:solidFill>
                <a:latin typeface="Arial" pitchFamily="34" charset="0"/>
                <a:ea typeface="Arial" pitchFamily="34" charset="-122"/>
                <a:cs typeface="Arial" pitchFamily="34" charset="-120"/>
              </a:rPr>
              <a:t>IMDb chỉ enrich rating/votes</a:t>
            </a:r>
            <a:endParaRPr lang="en-US" sz="750" dirty="0"/>
          </a:p>
        </p:txBody>
      </p:sp>
      <p:sp>
        <p:nvSpPr>
          <p:cNvPr id="17" name="Shape 15"/>
          <p:cNvSpPr/>
          <p:nvPr/>
        </p:nvSpPr>
        <p:spPr>
          <a:xfrm>
            <a:off x="594360" y="3429000"/>
            <a:ext cx="5257800" cy="2011680"/>
          </a:xfrm>
          <a:prstGeom prst="roundRect">
            <a:avLst>
              <a:gd name="adj" fmla="val 2727"/>
            </a:avLst>
          </a:prstGeom>
          <a:solidFill>
            <a:srgbClr val="E8F4EE"/>
          </a:solidFill>
          <a:ln w="12700">
            <a:solidFill>
              <a:srgbClr val="C4E2D1"/>
            </a:solidFill>
            <a:prstDash val="solid"/>
          </a:ln>
          <a:effectLst>
            <a:outerShdw sx="100000" sy="100000" kx="0" ky="0" algn="bl" rotWithShape="0" blurRad="25400" dist="50800" dir="2700000">
              <a:srgbClr val="26384A">
                <a:alpha val="13000"/>
              </a:srgbClr>
            </a:outerShdw>
          </a:effectLst>
        </p:spPr>
      </p:sp>
      <p:sp>
        <p:nvSpPr>
          <p:cNvPr id="18" name="Text 16"/>
          <p:cNvSpPr/>
          <p:nvPr/>
        </p:nvSpPr>
        <p:spPr>
          <a:xfrm>
            <a:off x="822960" y="3611880"/>
            <a:ext cx="4800600" cy="301752"/>
          </a:xfrm>
          <a:prstGeom prst="rect">
            <a:avLst/>
          </a:prstGeom>
          <a:noFill/>
          <a:ln/>
        </p:spPr>
        <p:txBody>
          <a:bodyPr wrap="square" lIns="0" tIns="0" rIns="0" bIns="0" rtlCol="0" anchor="ctr">
            <a:normAutofit/>
          </a:bodyPr>
          <a:lstStyle/>
          <a:p>
            <a:pPr indent="0" marL="0">
              <a:buNone/>
            </a:pPr>
            <a:r>
              <a:rPr lang="en-US" sz="1600" b="1" dirty="0">
                <a:solidFill>
                  <a:srgbClr val="3D8B66"/>
                </a:solidFill>
                <a:latin typeface="Calibri" pitchFamily="34" charset="0"/>
                <a:ea typeface="Calibri" pitchFamily="34" charset="-122"/>
                <a:cs typeface="Calibri" pitchFamily="34" charset="-120"/>
              </a:rPr>
              <a:t>Trong phạm vi</a:t>
            </a:r>
            <a:endParaRPr lang="en-US" sz="1600" dirty="0"/>
          </a:p>
        </p:txBody>
      </p:sp>
      <p:sp>
        <p:nvSpPr>
          <p:cNvPr id="19" name="Text 17"/>
          <p:cNvSpPr/>
          <p:nvPr/>
        </p:nvSpPr>
        <p:spPr>
          <a:xfrm>
            <a:off x="822960" y="4032504"/>
            <a:ext cx="4800600" cy="1225296"/>
          </a:xfrm>
          <a:prstGeom prst="rect">
            <a:avLst/>
          </a:prstGeom>
          <a:noFill/>
          <a:ln/>
        </p:spPr>
        <p:txBody>
          <a:bodyPr wrap="square" lIns="0" tIns="0" rIns="0" bIns="0" rtlCol="0" anchor="t">
            <a:normAutofit/>
          </a:bodyPr>
          <a:lstStyle/>
          <a:p>
            <a:pPr indent="0" marL="0">
              <a:buNone/>
            </a:pPr>
            <a:r>
              <a:rPr lang="en-US" sz="1400" dirty="0">
                <a:solidFill>
                  <a:srgbClr val="172B3A"/>
                </a:solidFill>
                <a:latin typeface="Calibri" pitchFamily="34" charset="0"/>
                <a:ea typeface="Calibri" pitchFamily="34" charset="-122"/>
                <a:cs typeface="Calibri" pitchFamily="34" charset="-120"/>
              </a:rPr>
              <a:t>Movie · Person · Genre · Keyword · Studio</a:t>
            </a:r>
            <a:endParaRPr lang="en-US" sz="1400" dirty="0"/>
          </a:p>
          <a:p>
            <a:pPr indent="0" marL="0">
              <a:buNone/>
            </a:pPr>
            <a:r>
              <a:rPr lang="en-US" sz="1400" dirty="0">
                <a:solidFill>
                  <a:srgbClr val="172B3A"/>
                </a:solidFill>
                <a:latin typeface="Calibri" pitchFamily="34" charset="0"/>
                <a:ea typeface="Calibri" pitchFamily="34" charset="-122"/>
                <a:cs typeface="Calibri" pitchFamily="34" charset="-120"/>
              </a:rPr>
              <a:t>Neo4j/Cypher · RDF/OWL/SPARQL</a:t>
            </a:r>
            <a:endParaRPr lang="en-US" sz="1400" dirty="0"/>
          </a:p>
          <a:p>
            <a:pPr indent="0" marL="0">
              <a:buNone/>
            </a:pPr>
            <a:r>
              <a:rPr lang="en-US" sz="1400" dirty="0">
                <a:solidFill>
                  <a:srgbClr val="172B3A"/>
                </a:solidFill>
                <a:latin typeface="Calibri" pitchFamily="34" charset="0"/>
                <a:ea typeface="Calibri" pitchFamily="34" charset="-122"/>
                <a:cs typeface="Calibri" pitchFamily="34" charset="-120"/>
              </a:rPr>
              <a:t>QA 9 ý định · gợi ý IDF có bằng chứng</a:t>
            </a:r>
            <a:endParaRPr lang="en-US" sz="1400" dirty="0"/>
          </a:p>
        </p:txBody>
      </p:sp>
      <p:sp>
        <p:nvSpPr>
          <p:cNvPr id="20" name="Shape 18"/>
          <p:cNvSpPr/>
          <p:nvPr/>
        </p:nvSpPr>
        <p:spPr>
          <a:xfrm>
            <a:off x="6172200" y="3429000"/>
            <a:ext cx="5394960" cy="2011680"/>
          </a:xfrm>
          <a:prstGeom prst="roundRect">
            <a:avLst>
              <a:gd name="adj" fmla="val 2727"/>
            </a:avLst>
          </a:prstGeom>
          <a:solidFill>
            <a:srgbClr val="FBEAEC"/>
          </a:solidFill>
          <a:ln w="12700">
            <a:solidFill>
              <a:srgbClr val="E9C3C6"/>
            </a:solidFill>
            <a:prstDash val="solid"/>
          </a:ln>
          <a:effectLst>
            <a:outerShdw sx="100000" sy="100000" kx="0" ky="0" algn="bl" rotWithShape="0" blurRad="25400" dist="50800" dir="2700000">
              <a:srgbClr val="26384A">
                <a:alpha val="13000"/>
              </a:srgbClr>
            </a:outerShdw>
          </a:effectLst>
        </p:spPr>
      </p:sp>
      <p:sp>
        <p:nvSpPr>
          <p:cNvPr id="21" name="Text 19"/>
          <p:cNvSpPr/>
          <p:nvPr/>
        </p:nvSpPr>
        <p:spPr>
          <a:xfrm>
            <a:off x="6400800" y="3611880"/>
            <a:ext cx="4937760" cy="301752"/>
          </a:xfrm>
          <a:prstGeom prst="rect">
            <a:avLst/>
          </a:prstGeom>
          <a:noFill/>
          <a:ln/>
        </p:spPr>
        <p:txBody>
          <a:bodyPr wrap="square" lIns="0" tIns="0" rIns="0" bIns="0" rtlCol="0" anchor="ctr">
            <a:normAutofit/>
          </a:bodyPr>
          <a:lstStyle/>
          <a:p>
            <a:pPr indent="0" marL="0">
              <a:buNone/>
            </a:pPr>
            <a:r>
              <a:rPr lang="en-US" sz="1600" b="1" dirty="0">
                <a:solidFill>
                  <a:srgbClr val="B94D52"/>
                </a:solidFill>
                <a:latin typeface="Calibri" pitchFamily="34" charset="0"/>
                <a:ea typeface="Calibri" pitchFamily="34" charset="-122"/>
                <a:cs typeface="Calibri" pitchFamily="34" charset="-120"/>
              </a:rPr>
              <a:t>Ngoài phạm vi</a:t>
            </a:r>
            <a:endParaRPr lang="en-US" sz="1600" dirty="0"/>
          </a:p>
        </p:txBody>
      </p:sp>
      <p:sp>
        <p:nvSpPr>
          <p:cNvPr id="22" name="Text 20"/>
          <p:cNvSpPr/>
          <p:nvPr/>
        </p:nvSpPr>
        <p:spPr>
          <a:xfrm>
            <a:off x="6400800" y="4032504"/>
            <a:ext cx="4937760" cy="1225296"/>
          </a:xfrm>
          <a:prstGeom prst="rect">
            <a:avLst/>
          </a:prstGeom>
          <a:noFill/>
          <a:ln/>
        </p:spPr>
        <p:txBody>
          <a:bodyPr wrap="square" lIns="0" tIns="0" rIns="0" bIns="0" rtlCol="0" anchor="t">
            <a:normAutofit/>
          </a:bodyPr>
          <a:lstStyle/>
          <a:p>
            <a:pPr indent="0" marL="0">
              <a:buNone/>
            </a:pPr>
            <a:r>
              <a:rPr lang="en-US" sz="1400" dirty="0">
                <a:solidFill>
                  <a:srgbClr val="172B3A"/>
                </a:solidFill>
                <a:latin typeface="Calibri" pitchFamily="34" charset="0"/>
                <a:ea typeface="Calibri" pitchFamily="34" charset="-122"/>
                <a:cs typeface="Calibri" pitchFamily="34" charset="-120"/>
              </a:rPr>
              <a:t>Giải thưởng/Wikidata · LLM-to-Cypher tự do</a:t>
            </a:r>
            <a:endParaRPr lang="en-US" sz="1400" dirty="0"/>
          </a:p>
          <a:p>
            <a:pPr indent="0" marL="0">
              <a:buNone/>
            </a:pPr>
            <a:r>
              <a:rPr lang="en-US" sz="1400" dirty="0">
                <a:solidFill>
                  <a:srgbClr val="172B3A"/>
                </a:solidFill>
                <a:latin typeface="Calibri" pitchFamily="34" charset="0"/>
                <a:ea typeface="Calibri" pitchFamily="34" charset="-122"/>
                <a:cs typeface="Calibri" pitchFamily="34" charset="-120"/>
              </a:rPr>
              <a:t>Tìm kiếm véc-tơ · GraphRAG · đa phương thức</a:t>
            </a:r>
            <a:endParaRPr lang="en-US" sz="1400" dirty="0"/>
          </a:p>
          <a:p>
            <a:pPr indent="0" marL="0">
              <a:buNone/>
            </a:pPr>
            <a:r>
              <a:rPr lang="en-US" sz="1400" dirty="0">
                <a:solidFill>
                  <a:srgbClr val="172B3A"/>
                </a:solidFill>
                <a:latin typeface="Calibri" pitchFamily="34" charset="0"/>
                <a:ea typeface="Calibri" pitchFamily="34" charset="-122"/>
                <a:cs typeface="Calibri" pitchFamily="34" charset="-120"/>
              </a:rPr>
              <a:t>Đánh giá người dùng quy mô lớn</a:t>
            </a:r>
            <a:endParaRPr lang="en-US" sz="1400" dirty="0"/>
          </a:p>
        </p:txBody>
      </p:sp>
      <p:sp>
        <p:nvSpPr>
          <p:cNvPr id="25" name="Slide Number Placeholder 0"/>
          <p:cNvSpPr>
            <a:spLocks noGrp="1"/>
          </p:cNvSpPr>
          <p:nvPr>
            <p:ph type="sldNum" sz="quarter" idx="4294967295"/>
          </p:nvPr>
        </p:nvSpPr>
        <p:spPr>
          <a:xfrm>
            <a:off x="11631168" y="6473952"/>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97586"/>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30352" y="475488"/>
            <a:ext cx="2194560" cy="219456"/>
          </a:xfrm>
          <a:prstGeom prst="rect">
            <a:avLst/>
          </a:prstGeom>
          <a:noFill/>
          <a:ln/>
        </p:spPr>
        <p:txBody>
          <a:bodyPr wrap="square" lIns="0" tIns="0" rIns="0" bIns="0" rtlCol="0" anchor="ctr"/>
          <a:lstStyle/>
          <a:p>
            <a:pPr indent="0" marL="0">
              <a:buNone/>
            </a:pPr>
            <a:r>
              <a:rPr lang="en-US" sz="900" b="1" spc="140" kern="0" dirty="0">
                <a:solidFill>
                  <a:srgbClr val="337B80"/>
                </a:solidFill>
                <a:latin typeface="Arial" pitchFamily="34" charset="0"/>
                <a:ea typeface="Arial" pitchFamily="34" charset="-122"/>
                <a:cs typeface="Arial" pitchFamily="34" charset="-120"/>
              </a:rPr>
              <a:t>LỰA CHỌN CÔNG NGHỆ</a:t>
            </a:r>
            <a:endParaRPr lang="en-US" sz="900" dirty="0"/>
          </a:p>
        </p:txBody>
      </p:sp>
      <p:sp>
        <p:nvSpPr>
          <p:cNvPr id="3" name="Text 1"/>
          <p:cNvSpPr/>
          <p:nvPr/>
        </p:nvSpPr>
        <p:spPr>
          <a:xfrm>
            <a:off x="530352" y="713232"/>
            <a:ext cx="10881360" cy="502920"/>
          </a:xfrm>
          <a:prstGeom prst="rect">
            <a:avLst/>
          </a:prstGeom>
          <a:noFill/>
          <a:ln/>
        </p:spPr>
        <p:txBody>
          <a:bodyPr wrap="square" lIns="0" tIns="0" rIns="0" bIns="0" rtlCol="0" anchor="ctr">
            <a:normAutofit/>
          </a:bodyPr>
          <a:lstStyle/>
          <a:p>
            <a:pPr indent="0" marL="0">
              <a:buNone/>
            </a:pPr>
            <a:r>
              <a:rPr lang="en-US" sz="2600" b="1" dirty="0">
                <a:solidFill>
                  <a:srgbClr val="112B46"/>
                </a:solidFill>
                <a:latin typeface="Calibri" pitchFamily="34" charset="0"/>
                <a:ea typeface="Calibri" pitchFamily="34" charset="-122"/>
                <a:cs typeface="Calibri" pitchFamily="34" charset="-120"/>
              </a:rPr>
              <a:t>Neo4j và RDF/OWL đảm nhiệm hai vai trò bổ trợ</a:t>
            </a:r>
            <a:endParaRPr lang="en-US" sz="2600" dirty="0"/>
          </a:p>
        </p:txBody>
      </p:sp>
      <p:sp>
        <p:nvSpPr>
          <p:cNvPr id="4" name="Text 2"/>
          <p:cNvSpPr/>
          <p:nvPr/>
        </p:nvSpPr>
        <p:spPr>
          <a:xfrm>
            <a:off x="548640" y="1261872"/>
            <a:ext cx="10652760" cy="310896"/>
          </a:xfrm>
          <a:prstGeom prst="rect">
            <a:avLst/>
          </a:prstGeom>
          <a:noFill/>
          <a:ln/>
        </p:spPr>
        <p:txBody>
          <a:bodyPr wrap="square" lIns="0" tIns="0" rIns="0" bIns="0" rtlCol="0" anchor="ctr">
            <a:normAutofit/>
          </a:bodyPr>
          <a:lstStyle/>
          <a:p>
            <a:pPr indent="0" marL="0">
              <a:buNone/>
            </a:pPr>
            <a:r>
              <a:rPr lang="en-US" sz="1250" dirty="0">
                <a:solidFill>
                  <a:srgbClr val="697586"/>
                </a:solidFill>
                <a:latin typeface="Calibri" pitchFamily="34" charset="0"/>
                <a:ea typeface="Calibri" pitchFamily="34" charset="-122"/>
                <a:cs typeface="Calibri" pitchFamily="34" charset="-120"/>
              </a:rPr>
              <a:t>Giá trị của đồ thị nằm ở mô hình quan hệ, đường đi bằng chứng và ngữ nghĩa — không phải luôn nhanh hơn SQL.</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12648" y="1874520"/>
          <a:ext cx="6629400" cy="3611880"/>
        </p:xfrm>
        <a:graphic>
          <a:graphicData uri="http://schemas.openxmlformats.org/drawingml/2006/table">
            <a:tbl>
              <a:tblPr/>
              <a:tblGrid>
                <a:gridCol w="1965960"/>
                <a:gridCol w="2057400"/>
                <a:gridCol w="2606040"/>
              </a:tblGrid>
              <a:tr h="621792">
                <a:tc>
                  <a:txBody>
                    <a:bodyPr/>
                    <a:lstStyle/>
                    <a:p>
                      <a:pPr indent="0" marL="0">
                        <a:buNone/>
                      </a:pPr>
                      <a:r>
                        <a:rPr lang="en-US" sz="1200" dirty="0">
                          <a:solidFill>
                            <a:srgbClr val="172B3A"/>
                          </a:solidFill>
                          <a:latin typeface="Calibri" pitchFamily="34" charset="0"/>
                          <a:ea typeface="Calibri" pitchFamily="34" charset="-122"/>
                          <a:cs typeface="Calibri" pitchFamily="34" charset="-120"/>
                        </a:rPr>
                        <a:t>Yêu cầu</a:t>
                      </a:r>
                      <a:endParaRPr lang="en-US" sz="1200" dirty="0">
                        <a:latin typeface="Calibri" charset="0"/>
                        <a:ea typeface="Calibri" charset="0"/>
                        <a:cs typeface="Calibri" charset="0"/>
                      </a:endParaRPr>
                    </a:p>
                  </a:txBody>
                  <a:tcPr marL="91440" marR="91440" marT="91440" marB="91440"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72B3A"/>
                          </a:solidFill>
                          <a:latin typeface="Calibri" pitchFamily="34" charset="0"/>
                          <a:ea typeface="Calibri" pitchFamily="34" charset="-122"/>
                          <a:cs typeface="Calibri" pitchFamily="34" charset="-120"/>
                        </a:rPr>
                        <a:t>Mô hình bảng</a:t>
                      </a:r>
                      <a:endParaRPr lang="en-US" sz="1200" dirty="0">
                        <a:latin typeface="Calibri" charset="0"/>
                        <a:ea typeface="Calibri" charset="0"/>
                        <a:cs typeface="Calibri" charset="0"/>
                      </a:endParaRPr>
                    </a:p>
                  </a:txBody>
                  <a:tcPr marL="91440" marR="91440" marT="91440" marB="91440"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72B3A"/>
                          </a:solidFill>
                          <a:latin typeface="Calibri" pitchFamily="34" charset="0"/>
                          <a:ea typeface="Calibri" pitchFamily="34" charset="-122"/>
                          <a:cs typeface="Calibri" pitchFamily="34" charset="-120"/>
                        </a:rPr>
                        <a:t>Đồ thị thuộc tính</a:t>
                      </a:r>
                      <a:endParaRPr lang="en-US" sz="1200" dirty="0">
                        <a:latin typeface="Calibri" charset="0"/>
                        <a:ea typeface="Calibri" charset="0"/>
                        <a:cs typeface="Calibri" charset="0"/>
                      </a:endParaRPr>
                    </a:p>
                  </a:txBody>
                  <a:tcPr marL="91440" marR="91440" marT="91440" marB="91440"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r>
              <a:tr h="621792">
                <a:tc>
                  <a:txBody>
                    <a:bodyPr/>
                    <a:lstStyle/>
                    <a:p>
                      <a:pPr indent="0" marL="0">
                        <a:buNone/>
                      </a:pPr>
                      <a:r>
                        <a:rPr lang="en-US" sz="1200" dirty="0">
                          <a:solidFill>
                            <a:srgbClr val="172B3A"/>
                          </a:solidFill>
                          <a:latin typeface="Calibri" pitchFamily="34" charset="0"/>
                          <a:ea typeface="Calibri" pitchFamily="34" charset="-122"/>
                          <a:cs typeface="Calibri" pitchFamily="34" charset="-120"/>
                        </a:rPr>
                        <a:t>Quan hệ nhiều–nhiều</a:t>
                      </a:r>
                      <a:endParaRPr lang="en-US" sz="1200" dirty="0">
                        <a:latin typeface="Calibri" charset="0"/>
                        <a:ea typeface="Calibri" charset="0"/>
                        <a:cs typeface="Calibri" charset="0"/>
                      </a:endParaRPr>
                    </a:p>
                  </a:txBody>
                  <a:tcPr marL="91440" marR="91440" marT="91440" marB="91440"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72B3A"/>
                          </a:solidFill>
                          <a:latin typeface="Calibri" pitchFamily="34" charset="0"/>
                          <a:ea typeface="Calibri" pitchFamily="34" charset="-122"/>
                          <a:cs typeface="Calibri" pitchFamily="34" charset="-120"/>
                        </a:rPr>
                        <a:t>Bảng nối</a:t>
                      </a:r>
                      <a:endParaRPr lang="en-US" sz="1200" dirty="0">
                        <a:latin typeface="Calibri" charset="0"/>
                        <a:ea typeface="Calibri" charset="0"/>
                        <a:cs typeface="Calibri" charset="0"/>
                      </a:endParaRPr>
                    </a:p>
                  </a:txBody>
                  <a:tcPr marL="91440" marR="91440" marT="91440" marB="91440"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72B3A"/>
                          </a:solidFill>
                          <a:latin typeface="Calibri" pitchFamily="34" charset="0"/>
                          <a:ea typeface="Calibri" pitchFamily="34" charset="-122"/>
                          <a:cs typeface="Calibri" pitchFamily="34" charset="-120"/>
                        </a:rPr>
                        <a:t>Cạnh trực tiếp</a:t>
                      </a:r>
                      <a:endParaRPr lang="en-US" sz="1200" dirty="0">
                        <a:latin typeface="Calibri" charset="0"/>
                        <a:ea typeface="Calibri" charset="0"/>
                        <a:cs typeface="Calibri" charset="0"/>
                      </a:endParaRPr>
                    </a:p>
                  </a:txBody>
                  <a:tcPr marL="91440" marR="91440" marT="91440" marB="91440"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r>
              <a:tr h="621792">
                <a:tc>
                  <a:txBody>
                    <a:bodyPr/>
                    <a:lstStyle/>
                    <a:p>
                      <a:pPr indent="0" marL="0">
                        <a:buNone/>
                      </a:pPr>
                      <a:r>
                        <a:rPr lang="en-US" sz="1200" dirty="0">
                          <a:solidFill>
                            <a:srgbClr val="172B3A"/>
                          </a:solidFill>
                          <a:latin typeface="Calibri" pitchFamily="34" charset="0"/>
                          <a:ea typeface="Calibri" pitchFamily="34" charset="-122"/>
                          <a:cs typeface="Calibri" pitchFamily="34" charset="-120"/>
                        </a:rPr>
                        <a:t>Truy vấn nhiều bước</a:t>
                      </a:r>
                      <a:endParaRPr lang="en-US" sz="1200" dirty="0">
                        <a:latin typeface="Calibri" charset="0"/>
                        <a:ea typeface="Calibri" charset="0"/>
                        <a:cs typeface="Calibri" charset="0"/>
                      </a:endParaRPr>
                    </a:p>
                  </a:txBody>
                  <a:tcPr marL="91440" marR="91440" marT="91440" marB="91440"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72B3A"/>
                          </a:solidFill>
                          <a:latin typeface="Calibri" pitchFamily="34" charset="0"/>
                          <a:ea typeface="Calibri" pitchFamily="34" charset="-122"/>
                          <a:cs typeface="Calibri" pitchFamily="34" charset="-120"/>
                        </a:rPr>
                        <a:t>Chuỗi JOIN</a:t>
                      </a:r>
                      <a:endParaRPr lang="en-US" sz="1200" dirty="0">
                        <a:latin typeface="Calibri" charset="0"/>
                        <a:ea typeface="Calibri" charset="0"/>
                        <a:cs typeface="Calibri" charset="0"/>
                      </a:endParaRPr>
                    </a:p>
                  </a:txBody>
                  <a:tcPr marL="91440" marR="91440" marT="91440" marB="91440"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72B3A"/>
                          </a:solidFill>
                          <a:latin typeface="Calibri" pitchFamily="34" charset="0"/>
                          <a:ea typeface="Calibri" pitchFamily="34" charset="-122"/>
                          <a:cs typeface="Calibri" pitchFamily="34" charset="-120"/>
                        </a:rPr>
                        <a:t>Mẫu đường đi</a:t>
                      </a:r>
                      <a:endParaRPr lang="en-US" sz="1200" dirty="0">
                        <a:latin typeface="Calibri" charset="0"/>
                        <a:ea typeface="Calibri" charset="0"/>
                        <a:cs typeface="Calibri" charset="0"/>
                      </a:endParaRPr>
                    </a:p>
                  </a:txBody>
                  <a:tcPr marL="91440" marR="91440" marT="91440" marB="91440"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r>
              <a:tr h="621792">
                <a:tc>
                  <a:txBody>
                    <a:bodyPr/>
                    <a:lstStyle/>
                    <a:p>
                      <a:pPr indent="0" marL="0">
                        <a:buNone/>
                      </a:pPr>
                      <a:r>
                        <a:rPr lang="en-US" sz="1200" dirty="0">
                          <a:solidFill>
                            <a:srgbClr val="172B3A"/>
                          </a:solidFill>
                          <a:latin typeface="Calibri" pitchFamily="34" charset="0"/>
                          <a:ea typeface="Calibri" pitchFamily="34" charset="-122"/>
                          <a:cs typeface="Calibri" pitchFamily="34" charset="-120"/>
                        </a:rPr>
                        <a:t>Suy diễn co-star</a:t>
                      </a:r>
                      <a:endParaRPr lang="en-US" sz="1200" dirty="0">
                        <a:latin typeface="Calibri" charset="0"/>
                        <a:ea typeface="Calibri" charset="0"/>
                        <a:cs typeface="Calibri" charset="0"/>
                      </a:endParaRPr>
                    </a:p>
                  </a:txBody>
                  <a:tcPr marL="91440" marR="91440" marT="91440" marB="91440"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72B3A"/>
                          </a:solidFill>
                          <a:latin typeface="Calibri" pitchFamily="34" charset="0"/>
                          <a:ea typeface="Calibri" pitchFamily="34" charset="-122"/>
                          <a:cs typeface="Calibri" pitchFamily="34" charset="-120"/>
                        </a:rPr>
                        <a:t>Logic vật chất hóa riêng</a:t>
                      </a:r>
                      <a:endParaRPr lang="en-US" sz="1200" dirty="0">
                        <a:latin typeface="Calibri" charset="0"/>
                        <a:ea typeface="Calibri" charset="0"/>
                        <a:cs typeface="Calibri" charset="0"/>
                      </a:endParaRPr>
                    </a:p>
                  </a:txBody>
                  <a:tcPr marL="91440" marR="91440" marT="91440" marB="91440"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72B3A"/>
                          </a:solidFill>
                          <a:latin typeface="Calibri" pitchFamily="34" charset="0"/>
                          <a:ea typeface="Calibri" pitchFamily="34" charset="-122"/>
                          <a:cs typeface="Calibri" pitchFamily="34" charset="-120"/>
                        </a:rPr>
                        <a:t>Cạnh suy ra có bằng chứng</a:t>
                      </a:r>
                      <a:endParaRPr lang="en-US" sz="1200" dirty="0">
                        <a:latin typeface="Calibri" charset="0"/>
                        <a:ea typeface="Calibri" charset="0"/>
                        <a:cs typeface="Calibri" charset="0"/>
                      </a:endParaRPr>
                    </a:p>
                  </a:txBody>
                  <a:tcPr marL="91440" marR="91440" marT="91440" marB="91440"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r>
              <a:tr h="621792">
                <a:tc>
                  <a:txBody>
                    <a:bodyPr/>
                    <a:lstStyle/>
                    <a:p>
                      <a:pPr indent="0" marL="0">
                        <a:buNone/>
                      </a:pPr>
                      <a:r>
                        <a:rPr lang="en-US" sz="1200" dirty="0">
                          <a:solidFill>
                            <a:srgbClr val="172B3A"/>
                          </a:solidFill>
                          <a:latin typeface="Calibri" pitchFamily="34" charset="0"/>
                          <a:ea typeface="Calibri" pitchFamily="34" charset="-122"/>
                          <a:cs typeface="Calibri" pitchFamily="34" charset="-120"/>
                        </a:rPr>
                        <a:t>Giải thích</a:t>
                      </a:r>
                      <a:endParaRPr lang="en-US" sz="1200" dirty="0">
                        <a:latin typeface="Calibri" charset="0"/>
                        <a:ea typeface="Calibri" charset="0"/>
                        <a:cs typeface="Calibri" charset="0"/>
                      </a:endParaRPr>
                    </a:p>
                  </a:txBody>
                  <a:tcPr marL="91440" marR="91440" marT="91440" marB="91440"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72B3A"/>
                          </a:solidFill>
                          <a:latin typeface="Calibri" pitchFamily="34" charset="0"/>
                          <a:ea typeface="Calibri" pitchFamily="34" charset="-122"/>
                          <a:cs typeface="Calibri" pitchFamily="34" charset="-120"/>
                        </a:rPr>
                        <a:t>Dựng lại quan hệ</a:t>
                      </a:r>
                      <a:endParaRPr lang="en-US" sz="1200" dirty="0">
                        <a:latin typeface="Calibri" charset="0"/>
                        <a:ea typeface="Calibri" charset="0"/>
                        <a:cs typeface="Calibri" charset="0"/>
                      </a:endParaRPr>
                    </a:p>
                  </a:txBody>
                  <a:tcPr marL="91440" marR="91440" marT="91440" marB="91440"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200" dirty="0">
                          <a:solidFill>
                            <a:srgbClr val="172B3A"/>
                          </a:solidFill>
                          <a:latin typeface="Calibri" pitchFamily="34" charset="0"/>
                          <a:ea typeface="Calibri" pitchFamily="34" charset="-122"/>
                          <a:cs typeface="Calibri" pitchFamily="34" charset="-120"/>
                        </a:rPr>
                        <a:t>Đường đi tự nhiên</a:t>
                      </a:r>
                      <a:endParaRPr lang="en-US" sz="1200" dirty="0">
                        <a:latin typeface="Calibri" charset="0"/>
                        <a:ea typeface="Calibri" charset="0"/>
                        <a:cs typeface="Calibri" charset="0"/>
                      </a:endParaRPr>
                    </a:p>
                  </a:txBody>
                  <a:tcPr marL="91440" marR="91440" marT="91440" marB="91440"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r>
            </a:tbl>
          </a:graphicData>
        </a:graphic>
      </p:graphicFrame>
      <p:sp>
        <p:nvSpPr>
          <p:cNvPr id="6" name="Shape 3"/>
          <p:cNvSpPr/>
          <p:nvPr/>
        </p:nvSpPr>
        <p:spPr>
          <a:xfrm>
            <a:off x="7635240" y="1874520"/>
            <a:ext cx="3931920" cy="1572768"/>
          </a:xfrm>
          <a:prstGeom prst="roundRect">
            <a:avLst>
              <a:gd name="adj" fmla="val 3488"/>
            </a:avLst>
          </a:prstGeom>
          <a:solidFill>
            <a:srgbClr val="EAF2F8"/>
          </a:solidFill>
          <a:ln w="12700">
            <a:solidFill>
              <a:srgbClr val="B9D3E8"/>
            </a:solidFill>
            <a:prstDash val="solid"/>
          </a:ln>
          <a:effectLst>
            <a:outerShdw sx="100000" sy="100000" kx="0" ky="0" algn="bl" rotWithShape="0" blurRad="25400" dist="50800" dir="2700000">
              <a:srgbClr val="26384A">
                <a:alpha val="13000"/>
              </a:srgbClr>
            </a:outerShdw>
          </a:effectLst>
        </p:spPr>
      </p:sp>
      <p:sp>
        <p:nvSpPr>
          <p:cNvPr id="7" name="Text 4"/>
          <p:cNvSpPr/>
          <p:nvPr/>
        </p:nvSpPr>
        <p:spPr>
          <a:xfrm>
            <a:off x="7909560" y="2148840"/>
            <a:ext cx="3383280" cy="320040"/>
          </a:xfrm>
          <a:prstGeom prst="rect">
            <a:avLst/>
          </a:prstGeom>
          <a:noFill/>
          <a:ln/>
        </p:spPr>
        <p:txBody>
          <a:bodyPr wrap="square" lIns="0" tIns="0" rIns="0" bIns="0" rtlCol="0" anchor="ctr"/>
          <a:lstStyle/>
          <a:p>
            <a:pPr indent="0" marL="0">
              <a:buNone/>
            </a:pPr>
            <a:r>
              <a:rPr lang="en-US" sz="2000" b="1" dirty="0">
                <a:solidFill>
                  <a:srgbClr val="112B46"/>
                </a:solidFill>
                <a:latin typeface="Calibri" pitchFamily="34" charset="0"/>
                <a:ea typeface="Calibri" pitchFamily="34" charset="-122"/>
                <a:cs typeface="Calibri" pitchFamily="34" charset="-120"/>
              </a:rPr>
              <a:t>Neo4j / Cypher</a:t>
            </a:r>
            <a:endParaRPr lang="en-US" sz="2000" dirty="0"/>
          </a:p>
        </p:txBody>
      </p:sp>
      <p:sp>
        <p:nvSpPr>
          <p:cNvPr id="8" name="Text 5"/>
          <p:cNvSpPr/>
          <p:nvPr/>
        </p:nvSpPr>
        <p:spPr>
          <a:xfrm>
            <a:off x="7909560" y="2615184"/>
            <a:ext cx="3154680" cy="420624"/>
          </a:xfrm>
          <a:prstGeom prst="rect">
            <a:avLst/>
          </a:prstGeom>
          <a:noFill/>
          <a:ln/>
        </p:spPr>
        <p:txBody>
          <a:bodyPr wrap="square" lIns="0" tIns="0" rIns="0" bIns="0" rtlCol="0" anchor="ctr">
            <a:normAutofit/>
          </a:bodyPr>
          <a:lstStyle/>
          <a:p>
            <a:pPr indent="0" marL="0">
              <a:buNone/>
            </a:pPr>
            <a:r>
              <a:rPr lang="en-US" sz="1300" dirty="0">
                <a:solidFill>
                  <a:srgbClr val="172B3A"/>
                </a:solidFill>
                <a:latin typeface="Calibri" pitchFamily="34" charset="0"/>
                <a:ea typeface="Calibri" pitchFamily="34" charset="-122"/>
                <a:cs typeface="Calibri" pitchFamily="34" charset="-120"/>
              </a:rPr>
              <a:t>Kho vận hành cho duyệt đồ thị, hỏi–đáp và gợi ý.</a:t>
            </a:r>
            <a:endParaRPr lang="en-US" sz="1300" dirty="0"/>
          </a:p>
        </p:txBody>
      </p:sp>
      <p:sp>
        <p:nvSpPr>
          <p:cNvPr id="9" name="Shape 6"/>
          <p:cNvSpPr/>
          <p:nvPr/>
        </p:nvSpPr>
        <p:spPr>
          <a:xfrm>
            <a:off x="7635240" y="3794760"/>
            <a:ext cx="3931920" cy="1572768"/>
          </a:xfrm>
          <a:prstGeom prst="roundRect">
            <a:avLst>
              <a:gd name="adj" fmla="val 3488"/>
            </a:avLst>
          </a:prstGeom>
          <a:solidFill>
            <a:srgbClr val="F0ECF7"/>
          </a:solidFill>
          <a:ln w="12700">
            <a:solidFill>
              <a:srgbClr val="D5C9E8"/>
            </a:solidFill>
            <a:prstDash val="solid"/>
          </a:ln>
          <a:effectLst>
            <a:outerShdw sx="100000" sy="100000" kx="0" ky="0" algn="bl" rotWithShape="0" blurRad="25400" dist="50800" dir="2700000">
              <a:srgbClr val="26384A">
                <a:alpha val="13000"/>
              </a:srgbClr>
            </a:outerShdw>
          </a:effectLst>
        </p:spPr>
      </p:sp>
      <p:sp>
        <p:nvSpPr>
          <p:cNvPr id="10" name="Text 7"/>
          <p:cNvSpPr/>
          <p:nvPr/>
        </p:nvSpPr>
        <p:spPr>
          <a:xfrm>
            <a:off x="7909560" y="4069080"/>
            <a:ext cx="3383280" cy="320040"/>
          </a:xfrm>
          <a:prstGeom prst="rect">
            <a:avLst/>
          </a:prstGeom>
          <a:noFill/>
          <a:ln/>
        </p:spPr>
        <p:txBody>
          <a:bodyPr wrap="square" lIns="0" tIns="0" rIns="0" bIns="0" rtlCol="0" anchor="ctr"/>
          <a:lstStyle/>
          <a:p>
            <a:pPr indent="0" marL="0">
              <a:buNone/>
            </a:pPr>
            <a:r>
              <a:rPr lang="en-US" sz="2000" b="1" dirty="0">
                <a:solidFill>
                  <a:srgbClr val="725B9B"/>
                </a:solidFill>
                <a:latin typeface="Calibri" pitchFamily="34" charset="0"/>
                <a:ea typeface="Calibri" pitchFamily="34" charset="-122"/>
                <a:cs typeface="Calibri" pitchFamily="34" charset="-120"/>
              </a:rPr>
              <a:t>RDF / OWL / SPARQL</a:t>
            </a:r>
            <a:endParaRPr lang="en-US" sz="2000" dirty="0"/>
          </a:p>
        </p:txBody>
      </p:sp>
      <p:sp>
        <p:nvSpPr>
          <p:cNvPr id="11" name="Text 8"/>
          <p:cNvSpPr/>
          <p:nvPr/>
        </p:nvSpPr>
        <p:spPr>
          <a:xfrm>
            <a:off x="7909560" y="4535424"/>
            <a:ext cx="3154680" cy="420624"/>
          </a:xfrm>
          <a:prstGeom prst="rect">
            <a:avLst/>
          </a:prstGeom>
          <a:noFill/>
          <a:ln/>
        </p:spPr>
        <p:txBody>
          <a:bodyPr wrap="square" lIns="0" tIns="0" rIns="0" bIns="0" rtlCol="0" anchor="ctr">
            <a:normAutofit/>
          </a:bodyPr>
          <a:lstStyle/>
          <a:p>
            <a:pPr indent="0" marL="0">
              <a:buNone/>
            </a:pPr>
            <a:r>
              <a:rPr lang="en-US" sz="1300" dirty="0">
                <a:solidFill>
                  <a:srgbClr val="172B3A"/>
                </a:solidFill>
                <a:latin typeface="Calibri" pitchFamily="34" charset="0"/>
                <a:ea typeface="Calibri" pitchFamily="34" charset="-122"/>
                <a:cs typeface="Calibri" pitchFamily="34" charset="-120"/>
              </a:rPr>
              <a:t>Lớp chuẩn trao đổi, ràng buộc và suy diễn ngữ nghĩa.</a:t>
            </a:r>
            <a:endParaRPr lang="en-US" sz="1300" dirty="0"/>
          </a:p>
        </p:txBody>
      </p:sp>
      <p:sp>
        <p:nvSpPr>
          <p:cNvPr id="25" name="Slide Number Placeholder 0"/>
          <p:cNvSpPr>
            <a:spLocks noGrp="1"/>
          </p:cNvSpPr>
          <p:nvPr>
            <p:ph type="sldNum" sz="quarter" idx="4294967295"/>
          </p:nvPr>
        </p:nvSpPr>
        <p:spPr>
          <a:xfrm>
            <a:off x="11631168" y="6473952"/>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97586"/>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30352" y="475488"/>
            <a:ext cx="2194560" cy="219456"/>
          </a:xfrm>
          <a:prstGeom prst="rect">
            <a:avLst/>
          </a:prstGeom>
          <a:noFill/>
          <a:ln/>
        </p:spPr>
        <p:txBody>
          <a:bodyPr wrap="square" lIns="0" tIns="0" rIns="0" bIns="0" rtlCol="0" anchor="ctr"/>
          <a:lstStyle/>
          <a:p>
            <a:pPr indent="0" marL="0">
              <a:buNone/>
            </a:pPr>
            <a:r>
              <a:rPr lang="en-US" sz="900" b="1" spc="140" kern="0" dirty="0">
                <a:solidFill>
                  <a:srgbClr val="337B80"/>
                </a:solidFill>
                <a:latin typeface="Arial" pitchFamily="34" charset="0"/>
                <a:ea typeface="Arial" pitchFamily="34" charset="-122"/>
                <a:cs typeface="Arial" pitchFamily="34" charset="-120"/>
              </a:rPr>
              <a:t>THIẾT KẾ HỆ THỐNG</a:t>
            </a:r>
            <a:endParaRPr lang="en-US" sz="900" dirty="0"/>
          </a:p>
        </p:txBody>
      </p:sp>
      <p:sp>
        <p:nvSpPr>
          <p:cNvPr id="3" name="Text 1"/>
          <p:cNvSpPr/>
          <p:nvPr/>
        </p:nvSpPr>
        <p:spPr>
          <a:xfrm>
            <a:off x="530352" y="713232"/>
            <a:ext cx="10881360" cy="502920"/>
          </a:xfrm>
          <a:prstGeom prst="rect">
            <a:avLst/>
          </a:prstGeom>
          <a:noFill/>
          <a:ln/>
        </p:spPr>
        <p:txBody>
          <a:bodyPr wrap="square" lIns="0" tIns="0" rIns="0" bIns="0" rtlCol="0" anchor="ctr">
            <a:normAutofit/>
          </a:bodyPr>
          <a:lstStyle/>
          <a:p>
            <a:pPr indent="0" marL="0">
              <a:buNone/>
            </a:pPr>
            <a:r>
              <a:rPr lang="en-US" sz="2600" b="1" dirty="0">
                <a:solidFill>
                  <a:srgbClr val="112B46"/>
                </a:solidFill>
                <a:latin typeface="Calibri" pitchFamily="34" charset="0"/>
                <a:ea typeface="Calibri" pitchFamily="34" charset="-122"/>
                <a:cs typeface="Calibri" pitchFamily="34" charset="-120"/>
              </a:rPr>
              <a:t>Kiến trúc đầu cuối: từ nguồn đến bằng chứng</a:t>
            </a:r>
            <a:endParaRPr lang="en-US" sz="2600" dirty="0"/>
          </a:p>
        </p:txBody>
      </p:sp>
      <p:sp>
        <p:nvSpPr>
          <p:cNvPr id="4" name="Text 2"/>
          <p:cNvSpPr/>
          <p:nvPr/>
        </p:nvSpPr>
        <p:spPr>
          <a:xfrm>
            <a:off x="548640" y="1261872"/>
            <a:ext cx="10652760" cy="310896"/>
          </a:xfrm>
          <a:prstGeom prst="rect">
            <a:avLst/>
          </a:prstGeom>
          <a:noFill/>
          <a:ln/>
        </p:spPr>
        <p:txBody>
          <a:bodyPr wrap="square" lIns="0" tIns="0" rIns="0" bIns="0" rtlCol="0" anchor="ctr">
            <a:normAutofit/>
          </a:bodyPr>
          <a:lstStyle/>
          <a:p>
            <a:pPr indent="0" marL="0">
              <a:buNone/>
            </a:pPr>
            <a:r>
              <a:rPr lang="en-US" sz="1250" dirty="0">
                <a:solidFill>
                  <a:srgbClr val="697586"/>
                </a:solidFill>
                <a:latin typeface="Calibri" pitchFamily="34" charset="0"/>
                <a:ea typeface="Calibri" pitchFamily="34" charset="-122"/>
                <a:cs typeface="Calibri" pitchFamily="34" charset="-120"/>
              </a:rPr>
              <a:t>Sau khi import, đường chạy trình diễn không phụ thuộc Internet.</a:t>
            </a:r>
            <a:endParaRPr lang="en-US" sz="1250" dirty="0"/>
          </a:p>
        </p:txBody>
      </p:sp>
      <p:sp>
        <p:nvSpPr>
          <p:cNvPr id="5" name="Shape 3"/>
          <p:cNvSpPr/>
          <p:nvPr/>
        </p:nvSpPr>
        <p:spPr>
          <a:xfrm>
            <a:off x="585216" y="1719072"/>
            <a:ext cx="11000232" cy="4315968"/>
          </a:xfrm>
          <a:prstGeom prst="roundRect">
            <a:avLst>
              <a:gd name="adj" fmla="val 847"/>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pic>
        <p:nvPicPr>
          <p:cNvPr id="6" name="Image 0" descr="/home/khanhhk/VNPTAI/advanced_database/docs/deliverables/slide/assets/system_architecture.png">    </p:cNvPr>
          <p:cNvPicPr>
            <a:picLocks noChangeAspect="1"/>
          </p:cNvPicPr>
          <p:nvPr/>
        </p:nvPicPr>
        <p:blipFill>
          <a:blip r:embed="rId1"/>
          <a:stretch>
            <a:fillRect/>
          </a:stretch>
        </p:blipFill>
        <p:spPr>
          <a:xfrm>
            <a:off x="694944" y="2416938"/>
            <a:ext cx="10780776" cy="2920236"/>
          </a:xfrm>
          <a:prstGeom prst="rect">
            <a:avLst/>
          </a:prstGeom>
        </p:spPr>
      </p:pic>
      <p:sp>
        <p:nvSpPr>
          <p:cNvPr id="7" name="Text 4"/>
          <p:cNvSpPr/>
          <p:nvPr/>
        </p:nvSpPr>
        <p:spPr>
          <a:xfrm>
            <a:off x="548640" y="6254496"/>
            <a:ext cx="10744200" cy="182880"/>
          </a:xfrm>
          <a:prstGeom prst="rect">
            <a:avLst/>
          </a:prstGeom>
          <a:noFill/>
          <a:ln/>
        </p:spPr>
        <p:txBody>
          <a:bodyPr wrap="square" lIns="0" tIns="0" rIns="0" bIns="0" rtlCol="0" anchor="ctr"/>
          <a:lstStyle/>
          <a:p>
            <a:pPr indent="0" marL="0">
              <a:buNone/>
            </a:pPr>
            <a:r>
              <a:rPr lang="en-US" sz="750" i="1" dirty="0">
                <a:solidFill>
                  <a:srgbClr val="7C8796"/>
                </a:solidFill>
                <a:latin typeface="Arial" pitchFamily="34" charset="0"/>
                <a:ea typeface="Arial" pitchFamily="34" charset="-122"/>
                <a:cs typeface="Arial" pitchFamily="34" charset="-120"/>
              </a:rPr>
              <a:t>Nguồn chỉnh sửa: report_latex/images/sources/system_architecture.drawio</a:t>
            </a:r>
            <a:endParaRPr lang="en-US" sz="750" dirty="0"/>
          </a:p>
        </p:txBody>
      </p:sp>
      <p:sp>
        <p:nvSpPr>
          <p:cNvPr id="25" name="Slide Number Placeholder 0"/>
          <p:cNvSpPr>
            <a:spLocks noGrp="1"/>
          </p:cNvSpPr>
          <p:nvPr>
            <p:ph type="sldNum" sz="quarter" idx="4294967295"/>
          </p:nvPr>
        </p:nvSpPr>
        <p:spPr>
          <a:xfrm>
            <a:off x="11631168" y="6473952"/>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97586"/>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30352" y="475488"/>
            <a:ext cx="2194560" cy="219456"/>
          </a:xfrm>
          <a:prstGeom prst="rect">
            <a:avLst/>
          </a:prstGeom>
          <a:noFill/>
          <a:ln/>
        </p:spPr>
        <p:txBody>
          <a:bodyPr wrap="square" lIns="0" tIns="0" rIns="0" bIns="0" rtlCol="0" anchor="ctr"/>
          <a:lstStyle/>
          <a:p>
            <a:pPr indent="0" marL="0">
              <a:buNone/>
            </a:pPr>
            <a:r>
              <a:rPr lang="en-US" sz="900" b="1" spc="140" kern="0" dirty="0">
                <a:solidFill>
                  <a:srgbClr val="337B80"/>
                </a:solidFill>
                <a:latin typeface="Arial" pitchFamily="34" charset="0"/>
                <a:ea typeface="Arial" pitchFamily="34" charset="-122"/>
                <a:cs typeface="Arial" pitchFamily="34" charset="-120"/>
              </a:rPr>
              <a:t>DỮ LIỆU</a:t>
            </a:r>
            <a:endParaRPr lang="en-US" sz="900" dirty="0"/>
          </a:p>
        </p:txBody>
      </p:sp>
      <p:sp>
        <p:nvSpPr>
          <p:cNvPr id="3" name="Text 1"/>
          <p:cNvSpPr/>
          <p:nvPr/>
        </p:nvSpPr>
        <p:spPr>
          <a:xfrm>
            <a:off x="530352" y="713232"/>
            <a:ext cx="10881360" cy="502920"/>
          </a:xfrm>
          <a:prstGeom prst="rect">
            <a:avLst/>
          </a:prstGeom>
          <a:noFill/>
          <a:ln/>
        </p:spPr>
        <p:txBody>
          <a:bodyPr wrap="square" lIns="0" tIns="0" rIns="0" bIns="0" rtlCol="0" anchor="ctr">
            <a:normAutofit/>
          </a:bodyPr>
          <a:lstStyle/>
          <a:p>
            <a:pPr indent="0" marL="0">
              <a:buNone/>
            </a:pPr>
            <a:r>
              <a:rPr lang="en-US" sz="2600" b="1" dirty="0">
                <a:solidFill>
                  <a:srgbClr val="112B46"/>
                </a:solidFill>
                <a:latin typeface="Calibri" pitchFamily="34" charset="0"/>
                <a:ea typeface="Calibri" pitchFamily="34" charset="-122"/>
                <a:cs typeface="Calibri" pitchFamily="34" charset="-120"/>
              </a:rPr>
              <a:t>Tích hợp IMDb theo chiến lược tiết kiệm lưu trữ</a:t>
            </a:r>
            <a:endParaRPr lang="en-US" sz="2600" dirty="0"/>
          </a:p>
        </p:txBody>
      </p:sp>
      <p:sp>
        <p:nvSpPr>
          <p:cNvPr id="4" name="Text 2"/>
          <p:cNvSpPr/>
          <p:nvPr/>
        </p:nvSpPr>
        <p:spPr>
          <a:xfrm>
            <a:off x="548640" y="1261872"/>
            <a:ext cx="10652760" cy="310896"/>
          </a:xfrm>
          <a:prstGeom prst="rect">
            <a:avLst/>
          </a:prstGeom>
          <a:noFill/>
          <a:ln/>
        </p:spPr>
        <p:txBody>
          <a:bodyPr wrap="square" lIns="0" tIns="0" rIns="0" bIns="0" rtlCol="0" anchor="ctr">
            <a:normAutofit/>
          </a:bodyPr>
          <a:lstStyle/>
          <a:p>
            <a:pPr indent="0" marL="0">
              <a:buNone/>
            </a:pPr>
            <a:r>
              <a:rPr lang="en-US" sz="1250" dirty="0">
                <a:solidFill>
                  <a:srgbClr val="697586"/>
                </a:solidFill>
                <a:latin typeface="Calibri" pitchFamily="34" charset="0"/>
                <a:ea typeface="Calibri" pitchFamily="34" charset="-122"/>
                <a:cs typeface="Calibri" pitchFamily="34" charset="-120"/>
              </a:rPr>
              <a:t>Chỉ đọc tuần tự tệp rating nén và ghép chính xác theo IMDb ID; không tải toàn bộ IMDb vào đồ thị.</a:t>
            </a:r>
            <a:endParaRPr lang="en-US" sz="1250" dirty="0"/>
          </a:p>
        </p:txBody>
      </p:sp>
      <p:sp>
        <p:nvSpPr>
          <p:cNvPr id="5" name="Shape 3"/>
          <p:cNvSpPr/>
          <p:nvPr/>
        </p:nvSpPr>
        <p:spPr>
          <a:xfrm>
            <a:off x="685800" y="1828800"/>
            <a:ext cx="2011680" cy="1097280"/>
          </a:xfrm>
          <a:prstGeom prst="roundRect">
            <a:avLst>
              <a:gd name="adj" fmla="val 5000"/>
            </a:avLst>
          </a:prstGeom>
          <a:solidFill>
            <a:srgbClr val="EAF2F8"/>
          </a:solidFill>
          <a:ln w="17780">
            <a:solidFill>
              <a:srgbClr val="337B80"/>
            </a:solidFill>
            <a:prstDash val="solid"/>
          </a:ln>
        </p:spPr>
      </p:sp>
      <p:sp>
        <p:nvSpPr>
          <p:cNvPr id="6" name="Text 4"/>
          <p:cNvSpPr/>
          <p:nvPr/>
        </p:nvSpPr>
        <p:spPr>
          <a:xfrm>
            <a:off x="822960" y="2121408"/>
            <a:ext cx="1737360" cy="475488"/>
          </a:xfrm>
          <a:prstGeom prst="rect">
            <a:avLst/>
          </a:prstGeom>
          <a:noFill/>
          <a:ln/>
        </p:spPr>
        <p:txBody>
          <a:bodyPr wrap="square" lIns="0" tIns="0" rIns="0" bIns="0" rtlCol="0" anchor="ctr">
            <a:normAutofit/>
          </a:bodyPr>
          <a:lstStyle/>
          <a:p>
            <a:pPr algn="ctr" indent="0" marL="0">
              <a:buNone/>
            </a:pPr>
            <a:r>
              <a:rPr lang="en-US" sz="1400" b="1" dirty="0">
                <a:solidFill>
                  <a:srgbClr val="112B46"/>
                </a:solidFill>
                <a:latin typeface="Calibri" pitchFamily="34" charset="0"/>
                <a:ea typeface="Calibri" pitchFamily="34" charset="-122"/>
                <a:cs typeface="Calibri" pitchFamily="34" charset="-120"/>
              </a:rPr>
              <a:t>TMDB</a:t>
            </a:r>
            <a:endParaRPr lang="en-US" sz="1400" dirty="0"/>
          </a:p>
          <a:p>
            <a:pPr algn="ctr" indent="0" marL="0">
              <a:buNone/>
            </a:pPr>
            <a:r>
              <a:rPr lang="en-US" sz="1400" b="1" dirty="0">
                <a:solidFill>
                  <a:srgbClr val="112B46"/>
                </a:solidFill>
                <a:latin typeface="Calibri" pitchFamily="34" charset="0"/>
                <a:ea typeface="Calibri" pitchFamily="34" charset="-122"/>
                <a:cs typeface="Calibri" pitchFamily="34" charset="-120"/>
              </a:rPr>
              <a:t>external_ids</a:t>
            </a:r>
            <a:endParaRPr lang="en-US" sz="1400" dirty="0"/>
          </a:p>
        </p:txBody>
      </p:sp>
      <p:sp>
        <p:nvSpPr>
          <p:cNvPr id="7" name="Shape 5"/>
          <p:cNvSpPr/>
          <p:nvPr/>
        </p:nvSpPr>
        <p:spPr>
          <a:xfrm>
            <a:off x="2715768" y="2377440"/>
            <a:ext cx="502920" cy="0"/>
          </a:xfrm>
          <a:prstGeom prst="line">
            <a:avLst/>
          </a:prstGeom>
          <a:noFill/>
          <a:ln w="22860">
            <a:solidFill>
              <a:srgbClr val="697586"/>
            </a:solidFill>
            <a:prstDash val="solid"/>
            <a:headEnd type="none"/>
            <a:tailEnd type="triangle"/>
          </a:ln>
        </p:spPr>
      </p:sp>
      <p:sp>
        <p:nvSpPr>
          <p:cNvPr id="8" name="Shape 6"/>
          <p:cNvSpPr/>
          <p:nvPr/>
        </p:nvSpPr>
        <p:spPr>
          <a:xfrm>
            <a:off x="3291840" y="1828800"/>
            <a:ext cx="2011680" cy="1097280"/>
          </a:xfrm>
          <a:prstGeom prst="chevron">
            <a:avLst>
              <a:gd name="adj" fmla="val 5000"/>
            </a:avLst>
          </a:prstGeom>
          <a:solidFill>
            <a:srgbClr val="FFF2DF"/>
          </a:solidFill>
          <a:ln w="17780">
            <a:solidFill>
              <a:srgbClr val="D38B36"/>
            </a:solidFill>
            <a:prstDash val="solid"/>
          </a:ln>
        </p:spPr>
      </p:sp>
      <p:sp>
        <p:nvSpPr>
          <p:cNvPr id="9" name="Text 7"/>
          <p:cNvSpPr/>
          <p:nvPr/>
        </p:nvSpPr>
        <p:spPr>
          <a:xfrm>
            <a:off x="3429000" y="2121408"/>
            <a:ext cx="1737360" cy="475488"/>
          </a:xfrm>
          <a:prstGeom prst="rect">
            <a:avLst/>
          </a:prstGeom>
          <a:noFill/>
          <a:ln/>
        </p:spPr>
        <p:txBody>
          <a:bodyPr wrap="square" lIns="0" tIns="0" rIns="0" bIns="0" rtlCol="0" anchor="ctr">
            <a:normAutofit/>
          </a:bodyPr>
          <a:lstStyle/>
          <a:p>
            <a:pPr algn="ctr" indent="0" marL="0">
              <a:buNone/>
            </a:pPr>
            <a:r>
              <a:rPr lang="en-US" sz="1400" b="1" dirty="0">
                <a:solidFill>
                  <a:srgbClr val="112B46"/>
                </a:solidFill>
                <a:latin typeface="Calibri" pitchFamily="34" charset="0"/>
                <a:ea typeface="Calibri" pitchFamily="34" charset="-122"/>
                <a:cs typeface="Calibri" pitchFamily="34" charset="-120"/>
              </a:rPr>
              <a:t>imdb_id = tconst</a:t>
            </a:r>
            <a:endParaRPr lang="en-US" sz="1400" dirty="0"/>
          </a:p>
        </p:txBody>
      </p:sp>
      <p:sp>
        <p:nvSpPr>
          <p:cNvPr id="10" name="Shape 8"/>
          <p:cNvSpPr/>
          <p:nvPr/>
        </p:nvSpPr>
        <p:spPr>
          <a:xfrm>
            <a:off x="5321808" y="2377440"/>
            <a:ext cx="502920" cy="0"/>
          </a:xfrm>
          <a:prstGeom prst="line">
            <a:avLst/>
          </a:prstGeom>
          <a:noFill/>
          <a:ln w="22860">
            <a:solidFill>
              <a:srgbClr val="697586"/>
            </a:solidFill>
            <a:prstDash val="solid"/>
            <a:headEnd type="none"/>
            <a:tailEnd type="triangle"/>
          </a:ln>
        </p:spPr>
      </p:sp>
      <p:sp>
        <p:nvSpPr>
          <p:cNvPr id="11" name="Shape 9"/>
          <p:cNvSpPr/>
          <p:nvPr/>
        </p:nvSpPr>
        <p:spPr>
          <a:xfrm>
            <a:off x="5897880" y="1828800"/>
            <a:ext cx="2011680" cy="1097280"/>
          </a:xfrm>
          <a:prstGeom prst="roundRect">
            <a:avLst>
              <a:gd name="adj" fmla="val 5000"/>
            </a:avLst>
          </a:prstGeom>
          <a:solidFill>
            <a:srgbClr val="EAF2F8"/>
          </a:solidFill>
          <a:ln w="17780">
            <a:solidFill>
              <a:srgbClr val="337B80"/>
            </a:solidFill>
            <a:prstDash val="solid"/>
          </a:ln>
        </p:spPr>
      </p:sp>
      <p:sp>
        <p:nvSpPr>
          <p:cNvPr id="12" name="Text 10"/>
          <p:cNvSpPr/>
          <p:nvPr/>
        </p:nvSpPr>
        <p:spPr>
          <a:xfrm>
            <a:off x="6035040" y="2121408"/>
            <a:ext cx="1737360" cy="475488"/>
          </a:xfrm>
          <a:prstGeom prst="rect">
            <a:avLst/>
          </a:prstGeom>
          <a:noFill/>
          <a:ln/>
        </p:spPr>
        <p:txBody>
          <a:bodyPr wrap="square" lIns="0" tIns="0" rIns="0" bIns="0" rtlCol="0" anchor="ctr">
            <a:normAutofit/>
          </a:bodyPr>
          <a:lstStyle/>
          <a:p>
            <a:pPr algn="ctr" indent="0" marL="0">
              <a:buNone/>
            </a:pPr>
            <a:r>
              <a:rPr lang="en-US" sz="1400" b="1" dirty="0">
                <a:solidFill>
                  <a:srgbClr val="112B46"/>
                </a:solidFill>
                <a:latin typeface="Calibri" pitchFamily="34" charset="0"/>
                <a:ea typeface="Calibri" pitchFamily="34" charset="-122"/>
                <a:cs typeface="Calibri" pitchFamily="34" charset="-120"/>
              </a:rPr>
              <a:t>IMDb ratings.gz</a:t>
            </a:r>
            <a:endParaRPr lang="en-US" sz="1400" dirty="0"/>
          </a:p>
        </p:txBody>
      </p:sp>
      <p:sp>
        <p:nvSpPr>
          <p:cNvPr id="13" name="Shape 11"/>
          <p:cNvSpPr/>
          <p:nvPr/>
        </p:nvSpPr>
        <p:spPr>
          <a:xfrm>
            <a:off x="7927848" y="2377440"/>
            <a:ext cx="502920" cy="0"/>
          </a:xfrm>
          <a:prstGeom prst="line">
            <a:avLst/>
          </a:prstGeom>
          <a:noFill/>
          <a:ln w="22860">
            <a:solidFill>
              <a:srgbClr val="697586"/>
            </a:solidFill>
            <a:prstDash val="solid"/>
            <a:headEnd type="none"/>
            <a:tailEnd type="triangle"/>
          </a:ln>
        </p:spPr>
      </p:sp>
      <p:sp>
        <p:nvSpPr>
          <p:cNvPr id="14" name="Shape 12"/>
          <p:cNvSpPr/>
          <p:nvPr/>
        </p:nvSpPr>
        <p:spPr>
          <a:xfrm>
            <a:off x="8503920" y="1828800"/>
            <a:ext cx="2011680" cy="1097280"/>
          </a:xfrm>
          <a:prstGeom prst="roundRect">
            <a:avLst>
              <a:gd name="adj" fmla="val 5000"/>
            </a:avLst>
          </a:prstGeom>
          <a:solidFill>
            <a:srgbClr val="E8F4EE"/>
          </a:solidFill>
          <a:ln w="17780">
            <a:solidFill>
              <a:srgbClr val="3D8B66"/>
            </a:solidFill>
            <a:prstDash val="solid"/>
          </a:ln>
        </p:spPr>
      </p:sp>
      <p:sp>
        <p:nvSpPr>
          <p:cNvPr id="15" name="Text 13"/>
          <p:cNvSpPr/>
          <p:nvPr/>
        </p:nvSpPr>
        <p:spPr>
          <a:xfrm>
            <a:off x="8641080" y="2121408"/>
            <a:ext cx="1737360" cy="475488"/>
          </a:xfrm>
          <a:prstGeom prst="rect">
            <a:avLst/>
          </a:prstGeom>
          <a:noFill/>
          <a:ln/>
        </p:spPr>
        <p:txBody>
          <a:bodyPr wrap="square" lIns="0" tIns="0" rIns="0" bIns="0" rtlCol="0" anchor="ctr">
            <a:normAutofit/>
          </a:bodyPr>
          <a:lstStyle/>
          <a:p>
            <a:pPr algn="ctr" indent="0" marL="0">
              <a:buNone/>
            </a:pPr>
            <a:r>
              <a:rPr lang="en-US" sz="1400" b="1" dirty="0">
                <a:solidFill>
                  <a:srgbClr val="112B46"/>
                </a:solidFill>
                <a:latin typeface="Calibri" pitchFamily="34" charset="0"/>
                <a:ea typeface="Calibri" pitchFamily="34" charset="-122"/>
                <a:cs typeface="Calibri" pitchFamily="34" charset="-120"/>
              </a:rPr>
              <a:t>Movie</a:t>
            </a:r>
            <a:endParaRPr lang="en-US" sz="1400" dirty="0"/>
          </a:p>
          <a:p>
            <a:pPr algn="ctr" indent="0" marL="0">
              <a:buNone/>
            </a:pPr>
            <a:r>
              <a:rPr lang="en-US" sz="1400" b="1" dirty="0">
                <a:solidFill>
                  <a:srgbClr val="112B46"/>
                </a:solidFill>
                <a:latin typeface="Calibri" pitchFamily="34" charset="0"/>
                <a:ea typeface="Calibri" pitchFamily="34" charset="-122"/>
                <a:cs typeface="Calibri" pitchFamily="34" charset="-120"/>
              </a:rPr>
              <a:t>enrichment</a:t>
            </a:r>
            <a:endParaRPr lang="en-US" sz="1400" dirty="0"/>
          </a:p>
        </p:txBody>
      </p:sp>
      <p:sp>
        <p:nvSpPr>
          <p:cNvPr id="16" name="Shape 14"/>
          <p:cNvSpPr/>
          <p:nvPr/>
        </p:nvSpPr>
        <p:spPr>
          <a:xfrm>
            <a:off x="685800" y="3749040"/>
            <a:ext cx="2331720" cy="1261872"/>
          </a:xfrm>
          <a:prstGeom prst="roundRect">
            <a:avLst>
              <a:gd name="adj" fmla="val 4348"/>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sp>
        <p:nvSpPr>
          <p:cNvPr id="17" name="Text 15"/>
          <p:cNvSpPr/>
          <p:nvPr/>
        </p:nvSpPr>
        <p:spPr>
          <a:xfrm>
            <a:off x="850392" y="3913632"/>
            <a:ext cx="2002536" cy="457200"/>
          </a:xfrm>
          <a:prstGeom prst="rect">
            <a:avLst/>
          </a:prstGeom>
          <a:noFill/>
          <a:ln/>
        </p:spPr>
        <p:txBody>
          <a:bodyPr wrap="square" lIns="0" tIns="0" rIns="0" bIns="0" rtlCol="0" anchor="ctr">
            <a:normAutofit/>
          </a:bodyPr>
          <a:lstStyle/>
          <a:p>
            <a:pPr indent="0" marL="0">
              <a:buNone/>
            </a:pPr>
            <a:r>
              <a:rPr lang="en-US" sz="2800" b="1" dirty="0">
                <a:solidFill>
                  <a:srgbClr val="337B80"/>
                </a:solidFill>
                <a:latin typeface="Arial" pitchFamily="34" charset="0"/>
                <a:ea typeface="Arial" pitchFamily="34" charset="-122"/>
                <a:cs typeface="Arial" pitchFamily="34" charset="-120"/>
              </a:rPr>
              <a:t>4.558</a:t>
            </a:r>
            <a:endParaRPr lang="en-US" sz="2800" dirty="0"/>
          </a:p>
        </p:txBody>
      </p:sp>
      <p:sp>
        <p:nvSpPr>
          <p:cNvPr id="18" name="Text 16"/>
          <p:cNvSpPr/>
          <p:nvPr/>
        </p:nvSpPr>
        <p:spPr>
          <a:xfrm>
            <a:off x="868680" y="4425696"/>
            <a:ext cx="1965960" cy="256032"/>
          </a:xfrm>
          <a:prstGeom prst="rect">
            <a:avLst/>
          </a:prstGeom>
          <a:noFill/>
          <a:ln/>
        </p:spPr>
        <p:txBody>
          <a:bodyPr wrap="square" lIns="0" tIns="0" rIns="0" bIns="0" rtlCol="0" anchor="ctr">
            <a:normAutofit/>
          </a:bodyPr>
          <a:lstStyle/>
          <a:p>
            <a:pPr indent="0" marL="0">
              <a:buNone/>
            </a:pPr>
            <a:r>
              <a:rPr lang="en-US" sz="1100" b="1" dirty="0">
                <a:solidFill>
                  <a:srgbClr val="172B3A"/>
                </a:solidFill>
                <a:latin typeface="Calibri" pitchFamily="34" charset="0"/>
                <a:ea typeface="Calibri" pitchFamily="34" charset="-122"/>
                <a:cs typeface="Calibri" pitchFamily="34" charset="-120"/>
              </a:rPr>
              <a:t>Movie có IMDb ID</a:t>
            </a:r>
            <a:endParaRPr lang="en-US" sz="1100" dirty="0"/>
          </a:p>
        </p:txBody>
      </p:sp>
      <p:sp>
        <p:nvSpPr>
          <p:cNvPr id="19" name="Shape 17"/>
          <p:cNvSpPr/>
          <p:nvPr/>
        </p:nvSpPr>
        <p:spPr>
          <a:xfrm>
            <a:off x="3246120" y="3749040"/>
            <a:ext cx="2331720" cy="1261872"/>
          </a:xfrm>
          <a:prstGeom prst="roundRect">
            <a:avLst>
              <a:gd name="adj" fmla="val 4348"/>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sp>
        <p:nvSpPr>
          <p:cNvPr id="20" name="Text 18"/>
          <p:cNvSpPr/>
          <p:nvPr/>
        </p:nvSpPr>
        <p:spPr>
          <a:xfrm>
            <a:off x="3410712" y="3913632"/>
            <a:ext cx="2002536" cy="457200"/>
          </a:xfrm>
          <a:prstGeom prst="rect">
            <a:avLst/>
          </a:prstGeom>
          <a:noFill/>
          <a:ln/>
        </p:spPr>
        <p:txBody>
          <a:bodyPr wrap="square" lIns="0" tIns="0" rIns="0" bIns="0" rtlCol="0" anchor="ctr">
            <a:normAutofit/>
          </a:bodyPr>
          <a:lstStyle/>
          <a:p>
            <a:pPr indent="0" marL="0">
              <a:buNone/>
            </a:pPr>
            <a:r>
              <a:rPr lang="en-US" sz="2800" b="1" dirty="0">
                <a:solidFill>
                  <a:srgbClr val="3D8B66"/>
                </a:solidFill>
                <a:latin typeface="Arial" pitchFamily="34" charset="0"/>
                <a:ea typeface="Arial" pitchFamily="34" charset="-122"/>
                <a:cs typeface="Arial" pitchFamily="34" charset="-120"/>
              </a:rPr>
              <a:t>4.351</a:t>
            </a:r>
            <a:endParaRPr lang="en-US" sz="2800" dirty="0"/>
          </a:p>
        </p:txBody>
      </p:sp>
      <p:sp>
        <p:nvSpPr>
          <p:cNvPr id="21" name="Text 19"/>
          <p:cNvSpPr/>
          <p:nvPr/>
        </p:nvSpPr>
        <p:spPr>
          <a:xfrm>
            <a:off x="3429000" y="4425696"/>
            <a:ext cx="1965960" cy="256032"/>
          </a:xfrm>
          <a:prstGeom prst="rect">
            <a:avLst/>
          </a:prstGeom>
          <a:noFill/>
          <a:ln/>
        </p:spPr>
        <p:txBody>
          <a:bodyPr wrap="square" lIns="0" tIns="0" rIns="0" bIns="0" rtlCol="0" anchor="ctr">
            <a:normAutofit/>
          </a:bodyPr>
          <a:lstStyle/>
          <a:p>
            <a:pPr indent="0" marL="0">
              <a:buNone/>
            </a:pPr>
            <a:r>
              <a:rPr lang="en-US" sz="1100" b="1" dirty="0">
                <a:solidFill>
                  <a:srgbClr val="172B3A"/>
                </a:solidFill>
                <a:latin typeface="Calibri" pitchFamily="34" charset="0"/>
                <a:ea typeface="Calibri" pitchFamily="34" charset="-122"/>
                <a:cs typeface="Calibri" pitchFamily="34" charset="-120"/>
              </a:rPr>
              <a:t>Rating ghép chính xác</a:t>
            </a:r>
            <a:endParaRPr lang="en-US" sz="1100" dirty="0"/>
          </a:p>
        </p:txBody>
      </p:sp>
      <p:sp>
        <p:nvSpPr>
          <p:cNvPr id="22" name="Shape 20"/>
          <p:cNvSpPr/>
          <p:nvPr/>
        </p:nvSpPr>
        <p:spPr>
          <a:xfrm>
            <a:off x="5806440" y="3749040"/>
            <a:ext cx="2331720" cy="1261872"/>
          </a:xfrm>
          <a:prstGeom prst="roundRect">
            <a:avLst>
              <a:gd name="adj" fmla="val 4348"/>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sp>
        <p:nvSpPr>
          <p:cNvPr id="23" name="Text 21"/>
          <p:cNvSpPr/>
          <p:nvPr/>
        </p:nvSpPr>
        <p:spPr>
          <a:xfrm>
            <a:off x="5971032" y="3913632"/>
            <a:ext cx="2002536" cy="457200"/>
          </a:xfrm>
          <a:prstGeom prst="rect">
            <a:avLst/>
          </a:prstGeom>
          <a:noFill/>
          <a:ln/>
        </p:spPr>
        <p:txBody>
          <a:bodyPr wrap="square" lIns="0" tIns="0" rIns="0" bIns="0" rtlCol="0" anchor="ctr">
            <a:normAutofit/>
          </a:bodyPr>
          <a:lstStyle/>
          <a:p>
            <a:pPr indent="0" marL="0">
              <a:buNone/>
            </a:pPr>
            <a:r>
              <a:rPr lang="en-US" sz="2800" b="1" dirty="0">
                <a:solidFill>
                  <a:srgbClr val="725B9B"/>
                </a:solidFill>
                <a:latin typeface="Arial" pitchFamily="34" charset="0"/>
                <a:ea typeface="Arial" pitchFamily="34" charset="-122"/>
                <a:cs typeface="Arial" pitchFamily="34" charset="-120"/>
              </a:rPr>
              <a:t>95,5%</a:t>
            </a:r>
            <a:endParaRPr lang="en-US" sz="2800" dirty="0"/>
          </a:p>
        </p:txBody>
      </p:sp>
      <p:sp>
        <p:nvSpPr>
          <p:cNvPr id="24" name="Text 22"/>
          <p:cNvSpPr/>
          <p:nvPr/>
        </p:nvSpPr>
        <p:spPr>
          <a:xfrm>
            <a:off x="5989320" y="4425696"/>
            <a:ext cx="1965960" cy="256032"/>
          </a:xfrm>
          <a:prstGeom prst="rect">
            <a:avLst/>
          </a:prstGeom>
          <a:noFill/>
          <a:ln/>
        </p:spPr>
        <p:txBody>
          <a:bodyPr wrap="square" lIns="0" tIns="0" rIns="0" bIns="0" rtlCol="0" anchor="ctr">
            <a:normAutofit/>
          </a:bodyPr>
          <a:lstStyle/>
          <a:p>
            <a:pPr indent="0" marL="0">
              <a:buNone/>
            </a:pPr>
            <a:r>
              <a:rPr lang="en-US" sz="1100" b="1" dirty="0">
                <a:solidFill>
                  <a:srgbClr val="172B3A"/>
                </a:solidFill>
                <a:latin typeface="Calibri" pitchFamily="34" charset="0"/>
                <a:ea typeface="Calibri" pitchFamily="34" charset="-122"/>
                <a:cs typeface="Calibri" pitchFamily="34" charset="-120"/>
              </a:rPr>
              <a:t>Tỷ lệ ghép trên IMDb ID</a:t>
            </a:r>
            <a:endParaRPr lang="en-US" sz="1100" dirty="0"/>
          </a:p>
        </p:txBody>
      </p:sp>
      <p:sp>
        <p:nvSpPr>
          <p:cNvPr id="25" name="Shape 23"/>
          <p:cNvSpPr/>
          <p:nvPr/>
        </p:nvSpPr>
        <p:spPr>
          <a:xfrm>
            <a:off x="8366760" y="3749040"/>
            <a:ext cx="3154680" cy="1261872"/>
          </a:xfrm>
          <a:prstGeom prst="roundRect">
            <a:avLst>
              <a:gd name="adj" fmla="val 4348"/>
            </a:avLst>
          </a:prstGeom>
          <a:solidFill>
            <a:srgbClr val="FFF2DF"/>
          </a:solidFill>
          <a:ln w="12700">
            <a:solidFill>
              <a:srgbClr val="F1D5AA"/>
            </a:solidFill>
            <a:prstDash val="solid"/>
          </a:ln>
          <a:effectLst>
            <a:outerShdw sx="100000" sy="100000" kx="0" ky="0" algn="bl" rotWithShape="0" blurRad="25400" dist="50800" dir="2700000">
              <a:srgbClr val="26384A">
                <a:alpha val="13000"/>
              </a:srgbClr>
            </a:outerShdw>
          </a:effectLst>
        </p:spPr>
      </p:sp>
      <p:sp>
        <p:nvSpPr>
          <p:cNvPr id="26" name="Text 24"/>
          <p:cNvSpPr/>
          <p:nvPr/>
        </p:nvSpPr>
        <p:spPr>
          <a:xfrm>
            <a:off x="8595360" y="3931920"/>
            <a:ext cx="2697480" cy="301752"/>
          </a:xfrm>
          <a:prstGeom prst="rect">
            <a:avLst/>
          </a:prstGeom>
          <a:noFill/>
          <a:ln/>
        </p:spPr>
        <p:txBody>
          <a:bodyPr wrap="square" lIns="0" tIns="0" rIns="0" bIns="0" rtlCol="0" anchor="ctr">
            <a:normAutofit/>
          </a:bodyPr>
          <a:lstStyle/>
          <a:p>
            <a:pPr indent="0" marL="0">
              <a:buNone/>
            </a:pPr>
            <a:r>
              <a:rPr lang="en-US" sz="1500" b="1" dirty="0">
                <a:solidFill>
                  <a:srgbClr val="112B46"/>
                </a:solidFill>
                <a:latin typeface="Calibri" pitchFamily="34" charset="0"/>
                <a:ea typeface="Calibri" pitchFamily="34" charset="-122"/>
                <a:cs typeface="Calibri" pitchFamily="34" charset="-120"/>
              </a:rPr>
              <a:t>Không ghi đè</a:t>
            </a:r>
            <a:endParaRPr lang="en-US" sz="1500" dirty="0"/>
          </a:p>
        </p:txBody>
      </p:sp>
      <p:sp>
        <p:nvSpPr>
          <p:cNvPr id="27" name="Text 25"/>
          <p:cNvSpPr/>
          <p:nvPr/>
        </p:nvSpPr>
        <p:spPr>
          <a:xfrm>
            <a:off x="8595360" y="4352544"/>
            <a:ext cx="2697480" cy="475488"/>
          </a:xfrm>
          <a:prstGeom prst="rect">
            <a:avLst/>
          </a:prstGeom>
          <a:noFill/>
          <a:ln/>
        </p:spPr>
        <p:txBody>
          <a:bodyPr wrap="square" lIns="0" tIns="0" rIns="0" bIns="0" rtlCol="0" anchor="t">
            <a:normAutofit/>
          </a:bodyPr>
          <a:lstStyle/>
          <a:p>
            <a:pPr indent="0" marL="0">
              <a:buNone/>
            </a:pPr>
            <a:r>
              <a:rPr lang="en-US" sz="1100" dirty="0">
                <a:solidFill>
                  <a:srgbClr val="172B3A"/>
                </a:solidFill>
                <a:latin typeface="Calibri" pitchFamily="34" charset="0"/>
                <a:ea typeface="Calibri" pitchFamily="34" charset="-122"/>
                <a:cs typeface="Calibri" pitchFamily="34" charset="-120"/>
              </a:rPr>
              <a:t>`rating`, `imdb_rating` và `imdb_votes` được giữ riêng.</a:t>
            </a:r>
            <a:endParaRPr lang="en-US" sz="1100" dirty="0"/>
          </a:p>
        </p:txBody>
      </p:sp>
      <p:sp>
        <p:nvSpPr>
          <p:cNvPr id="25" name="Slide Number Placeholder 0"/>
          <p:cNvSpPr>
            <a:spLocks noGrp="1"/>
          </p:cNvSpPr>
          <p:nvPr>
            <p:ph type="sldNum" sz="quarter" idx="4294967295"/>
          </p:nvPr>
        </p:nvSpPr>
        <p:spPr>
          <a:xfrm>
            <a:off x="11631168" y="6473952"/>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97586"/>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30352" y="475488"/>
            <a:ext cx="2194560" cy="219456"/>
          </a:xfrm>
          <a:prstGeom prst="rect">
            <a:avLst/>
          </a:prstGeom>
          <a:noFill/>
          <a:ln/>
        </p:spPr>
        <p:txBody>
          <a:bodyPr wrap="square" lIns="0" tIns="0" rIns="0" bIns="0" rtlCol="0" anchor="ctr"/>
          <a:lstStyle/>
          <a:p>
            <a:pPr indent="0" marL="0">
              <a:buNone/>
            </a:pPr>
            <a:r>
              <a:rPr lang="en-US" sz="900" b="1" spc="140" kern="0" dirty="0">
                <a:solidFill>
                  <a:srgbClr val="337B80"/>
                </a:solidFill>
                <a:latin typeface="Arial" pitchFamily="34" charset="0"/>
                <a:ea typeface="Arial" pitchFamily="34" charset="-122"/>
                <a:cs typeface="Arial" pitchFamily="34" charset="-120"/>
              </a:rPr>
              <a:t>MÔ HÌNH TRI THỨC</a:t>
            </a:r>
            <a:endParaRPr lang="en-US" sz="900" dirty="0"/>
          </a:p>
        </p:txBody>
      </p:sp>
      <p:sp>
        <p:nvSpPr>
          <p:cNvPr id="3" name="Text 1"/>
          <p:cNvSpPr/>
          <p:nvPr/>
        </p:nvSpPr>
        <p:spPr>
          <a:xfrm>
            <a:off x="530352" y="713232"/>
            <a:ext cx="10881360" cy="502920"/>
          </a:xfrm>
          <a:prstGeom prst="rect">
            <a:avLst/>
          </a:prstGeom>
          <a:noFill/>
          <a:ln/>
        </p:spPr>
        <p:txBody>
          <a:bodyPr wrap="square" lIns="0" tIns="0" rIns="0" bIns="0" rtlCol="0" anchor="ctr">
            <a:normAutofit/>
          </a:bodyPr>
          <a:lstStyle/>
          <a:p>
            <a:pPr indent="0" marL="0">
              <a:buNone/>
            </a:pPr>
            <a:r>
              <a:rPr lang="en-US" sz="2600" b="1" dirty="0">
                <a:solidFill>
                  <a:srgbClr val="112B46"/>
                </a:solidFill>
                <a:latin typeface="Calibri" pitchFamily="34" charset="0"/>
                <a:ea typeface="Calibri" pitchFamily="34" charset="-122"/>
                <a:cs typeface="Calibri" pitchFamily="34" charset="-120"/>
              </a:rPr>
              <a:t>Mô hình dữ liệu đặt định danh lên trước tên gọi</a:t>
            </a:r>
            <a:endParaRPr lang="en-US" sz="2600" dirty="0"/>
          </a:p>
        </p:txBody>
      </p:sp>
      <p:sp>
        <p:nvSpPr>
          <p:cNvPr id="4" name="Text 2"/>
          <p:cNvSpPr/>
          <p:nvPr/>
        </p:nvSpPr>
        <p:spPr>
          <a:xfrm>
            <a:off x="548640" y="1261872"/>
            <a:ext cx="10652760" cy="310896"/>
          </a:xfrm>
          <a:prstGeom prst="rect">
            <a:avLst/>
          </a:prstGeom>
          <a:noFill/>
          <a:ln/>
        </p:spPr>
        <p:txBody>
          <a:bodyPr wrap="square" lIns="0" tIns="0" rIns="0" bIns="0" rtlCol="0" anchor="ctr">
            <a:normAutofit/>
          </a:bodyPr>
          <a:lstStyle/>
          <a:p>
            <a:pPr indent="0" marL="0">
              <a:buNone/>
            </a:pPr>
            <a:r>
              <a:rPr lang="en-US" sz="1250" dirty="0">
                <a:solidFill>
                  <a:srgbClr val="697586"/>
                </a:solidFill>
                <a:latin typeface="Calibri" pitchFamily="34" charset="0"/>
                <a:ea typeface="Calibri" pitchFamily="34" charset="-122"/>
                <a:cs typeface="Calibri" pitchFamily="34" charset="-120"/>
              </a:rPr>
              <a:t>Một Person có thể vừa là diễn viên vừa là đạo diễn; vai trò được biểu diễn bằng quan hệ.</a:t>
            </a:r>
            <a:endParaRPr lang="en-US" sz="1250" dirty="0"/>
          </a:p>
        </p:txBody>
      </p:sp>
      <p:sp>
        <p:nvSpPr>
          <p:cNvPr id="5" name="Shape 3"/>
          <p:cNvSpPr/>
          <p:nvPr/>
        </p:nvSpPr>
        <p:spPr>
          <a:xfrm>
            <a:off x="566928" y="1737360"/>
            <a:ext cx="7452360" cy="4315968"/>
          </a:xfrm>
          <a:prstGeom prst="roundRect">
            <a:avLst>
              <a:gd name="adj" fmla="val 847"/>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pic>
        <p:nvPicPr>
          <p:cNvPr id="6" name="Image 0" descr="/home/khanhhk/VNPTAI/advanced_database/docs/deliverables/slide/assets/property_graph_schema.png">    </p:cNvPr>
          <p:cNvPicPr>
            <a:picLocks noChangeAspect="1"/>
          </p:cNvPicPr>
          <p:nvPr/>
        </p:nvPicPr>
        <p:blipFill>
          <a:blip r:embed="rId1"/>
          <a:stretch>
            <a:fillRect/>
          </a:stretch>
        </p:blipFill>
        <p:spPr>
          <a:xfrm>
            <a:off x="676656" y="2672095"/>
            <a:ext cx="7232904" cy="2446498"/>
          </a:xfrm>
          <a:prstGeom prst="rect">
            <a:avLst/>
          </a:prstGeom>
        </p:spPr>
      </p:pic>
      <p:sp>
        <p:nvSpPr>
          <p:cNvPr id="7" name="Shape 4"/>
          <p:cNvSpPr/>
          <p:nvPr/>
        </p:nvSpPr>
        <p:spPr>
          <a:xfrm>
            <a:off x="8321040" y="1755648"/>
            <a:ext cx="3246120" cy="1097280"/>
          </a:xfrm>
          <a:prstGeom prst="roundRect">
            <a:avLst>
              <a:gd name="adj" fmla="val 5000"/>
            </a:avLst>
          </a:prstGeom>
          <a:solidFill>
            <a:srgbClr val="EAF2F8"/>
          </a:solidFill>
          <a:ln w="12700">
            <a:solidFill>
              <a:srgbClr val="BDD4E5"/>
            </a:solidFill>
            <a:prstDash val="solid"/>
          </a:ln>
          <a:effectLst>
            <a:outerShdw sx="100000" sy="100000" kx="0" ky="0" algn="bl" rotWithShape="0" blurRad="25400" dist="50800" dir="2700000">
              <a:srgbClr val="26384A">
                <a:alpha val="13000"/>
              </a:srgbClr>
            </a:outerShdw>
          </a:effectLst>
        </p:spPr>
      </p:sp>
      <p:sp>
        <p:nvSpPr>
          <p:cNvPr id="8" name="Text 5"/>
          <p:cNvSpPr/>
          <p:nvPr/>
        </p:nvSpPr>
        <p:spPr>
          <a:xfrm>
            <a:off x="8549640" y="1938528"/>
            <a:ext cx="2788920" cy="301752"/>
          </a:xfrm>
          <a:prstGeom prst="rect">
            <a:avLst/>
          </a:prstGeom>
          <a:noFill/>
          <a:ln/>
        </p:spPr>
        <p:txBody>
          <a:bodyPr wrap="square" lIns="0" tIns="0" rIns="0" bIns="0" rtlCol="0" anchor="ctr">
            <a:normAutofit/>
          </a:bodyPr>
          <a:lstStyle/>
          <a:p>
            <a:pPr indent="0" marL="0">
              <a:buNone/>
            </a:pPr>
            <a:r>
              <a:rPr lang="en-US" sz="1500" b="1" dirty="0">
                <a:solidFill>
                  <a:srgbClr val="112B46"/>
                </a:solidFill>
                <a:latin typeface="Calibri" pitchFamily="34" charset="0"/>
                <a:ea typeface="Calibri" pitchFamily="34" charset="-122"/>
                <a:cs typeface="Calibri" pitchFamily="34" charset="-120"/>
              </a:rPr>
              <a:t>Định danh ổn định</a:t>
            </a:r>
            <a:endParaRPr lang="en-US" sz="1500" dirty="0"/>
          </a:p>
        </p:txBody>
      </p:sp>
      <p:sp>
        <p:nvSpPr>
          <p:cNvPr id="9" name="Text 6"/>
          <p:cNvSpPr/>
          <p:nvPr/>
        </p:nvSpPr>
        <p:spPr>
          <a:xfrm>
            <a:off x="8549640" y="2359152"/>
            <a:ext cx="2788920" cy="310896"/>
          </a:xfrm>
          <a:prstGeom prst="rect">
            <a:avLst/>
          </a:prstGeom>
          <a:noFill/>
          <a:ln/>
        </p:spPr>
        <p:txBody>
          <a:bodyPr wrap="square" lIns="0" tIns="0" rIns="0" bIns="0" rtlCol="0" anchor="t">
            <a:normAutofit/>
          </a:bodyPr>
          <a:lstStyle/>
          <a:p>
            <a:pPr indent="0" marL="0">
              <a:buNone/>
            </a:pPr>
            <a:r>
              <a:rPr lang="en-US" sz="1100" dirty="0">
                <a:solidFill>
                  <a:srgbClr val="172B3A"/>
                </a:solidFill>
                <a:latin typeface="Calibri" pitchFamily="34" charset="0"/>
                <a:ea typeface="Calibri" pitchFamily="34" charset="-122"/>
                <a:cs typeface="Calibri" pitchFamily="34" charset="-120"/>
              </a:rPr>
              <a:t>`Person.person_id = tmdb:&lt;id&gt;`</a:t>
            </a:r>
            <a:endParaRPr lang="en-US" sz="1100" dirty="0"/>
          </a:p>
          <a:p>
            <a:pPr indent="0" marL="0">
              <a:buNone/>
            </a:pPr>
            <a:r>
              <a:rPr lang="en-US" sz="1100" dirty="0">
                <a:solidFill>
                  <a:srgbClr val="172B3A"/>
                </a:solidFill>
                <a:latin typeface="Calibri" pitchFamily="34" charset="0"/>
                <a:ea typeface="Calibri" pitchFamily="34" charset="-122"/>
                <a:cs typeface="Calibri" pitchFamily="34" charset="-120"/>
              </a:rPr>
              <a:t>Tên không phải khóa chính.</a:t>
            </a:r>
            <a:endParaRPr lang="en-US" sz="1100" dirty="0"/>
          </a:p>
        </p:txBody>
      </p:sp>
      <p:sp>
        <p:nvSpPr>
          <p:cNvPr id="10" name="Shape 7"/>
          <p:cNvSpPr/>
          <p:nvPr/>
        </p:nvSpPr>
        <p:spPr>
          <a:xfrm>
            <a:off x="8321040" y="3090672"/>
            <a:ext cx="3246120" cy="1097280"/>
          </a:xfrm>
          <a:prstGeom prst="roundRect">
            <a:avLst>
              <a:gd name="adj" fmla="val 5000"/>
            </a:avLst>
          </a:prstGeom>
          <a:solidFill>
            <a:srgbClr val="E8F4EE"/>
          </a:solidFill>
          <a:ln w="12700">
            <a:solidFill>
              <a:srgbClr val="C4E2D1"/>
            </a:solidFill>
            <a:prstDash val="solid"/>
          </a:ln>
          <a:effectLst>
            <a:outerShdw sx="100000" sy="100000" kx="0" ky="0" algn="bl" rotWithShape="0" blurRad="25400" dist="50800" dir="2700000">
              <a:srgbClr val="26384A">
                <a:alpha val="13000"/>
              </a:srgbClr>
            </a:outerShdw>
          </a:effectLst>
        </p:spPr>
      </p:sp>
      <p:sp>
        <p:nvSpPr>
          <p:cNvPr id="11" name="Text 8"/>
          <p:cNvSpPr/>
          <p:nvPr/>
        </p:nvSpPr>
        <p:spPr>
          <a:xfrm>
            <a:off x="8549640" y="3273552"/>
            <a:ext cx="2788920" cy="301752"/>
          </a:xfrm>
          <a:prstGeom prst="rect">
            <a:avLst/>
          </a:prstGeom>
          <a:noFill/>
          <a:ln/>
        </p:spPr>
        <p:txBody>
          <a:bodyPr wrap="square" lIns="0" tIns="0" rIns="0" bIns="0" rtlCol="0" anchor="ctr">
            <a:normAutofit/>
          </a:bodyPr>
          <a:lstStyle/>
          <a:p>
            <a:pPr indent="0" marL="0">
              <a:buNone/>
            </a:pPr>
            <a:r>
              <a:rPr lang="en-US" sz="1500" b="1" dirty="0">
                <a:solidFill>
                  <a:srgbClr val="112B46"/>
                </a:solidFill>
                <a:latin typeface="Calibri" pitchFamily="34" charset="0"/>
                <a:ea typeface="Calibri" pitchFamily="34" charset="-122"/>
                <a:cs typeface="Calibri" pitchFamily="34" charset="-120"/>
              </a:rPr>
              <a:t>Vai trò trên cạnh</a:t>
            </a:r>
            <a:endParaRPr lang="en-US" sz="1500" dirty="0"/>
          </a:p>
        </p:txBody>
      </p:sp>
      <p:sp>
        <p:nvSpPr>
          <p:cNvPr id="12" name="Text 9"/>
          <p:cNvSpPr/>
          <p:nvPr/>
        </p:nvSpPr>
        <p:spPr>
          <a:xfrm>
            <a:off x="8549640" y="3694176"/>
            <a:ext cx="2788920" cy="310896"/>
          </a:xfrm>
          <a:prstGeom prst="rect">
            <a:avLst/>
          </a:prstGeom>
          <a:noFill/>
          <a:ln/>
        </p:spPr>
        <p:txBody>
          <a:bodyPr wrap="square" lIns="0" tIns="0" rIns="0" bIns="0" rtlCol="0" anchor="t">
            <a:normAutofit/>
          </a:bodyPr>
          <a:lstStyle/>
          <a:p>
            <a:pPr indent="0" marL="0">
              <a:buNone/>
            </a:pPr>
            <a:r>
              <a:rPr lang="en-US" sz="1100" dirty="0">
                <a:solidFill>
                  <a:srgbClr val="172B3A"/>
                </a:solidFill>
                <a:latin typeface="Calibri" pitchFamily="34" charset="0"/>
                <a:ea typeface="Calibri" pitchFamily="34" charset="-122"/>
                <a:cs typeface="Calibri" pitchFamily="34" charset="-120"/>
              </a:rPr>
              <a:t>`ACTED_IN` giữ character, cast_order và source.</a:t>
            </a:r>
            <a:endParaRPr lang="en-US" sz="1100" dirty="0"/>
          </a:p>
        </p:txBody>
      </p:sp>
      <p:sp>
        <p:nvSpPr>
          <p:cNvPr id="13" name="Shape 10"/>
          <p:cNvSpPr/>
          <p:nvPr/>
        </p:nvSpPr>
        <p:spPr>
          <a:xfrm>
            <a:off x="8321040" y="4425696"/>
            <a:ext cx="3246120" cy="1097280"/>
          </a:xfrm>
          <a:prstGeom prst="roundRect">
            <a:avLst>
              <a:gd name="adj" fmla="val 5000"/>
            </a:avLst>
          </a:prstGeom>
          <a:solidFill>
            <a:srgbClr val="F0ECF7"/>
          </a:solidFill>
          <a:ln w="12700">
            <a:solidFill>
              <a:srgbClr val="D9CFE8"/>
            </a:solidFill>
            <a:prstDash val="solid"/>
          </a:ln>
          <a:effectLst>
            <a:outerShdw sx="100000" sy="100000" kx="0" ky="0" algn="bl" rotWithShape="0" blurRad="25400" dist="50800" dir="2700000">
              <a:srgbClr val="26384A">
                <a:alpha val="13000"/>
              </a:srgbClr>
            </a:outerShdw>
          </a:effectLst>
        </p:spPr>
      </p:sp>
      <p:sp>
        <p:nvSpPr>
          <p:cNvPr id="14" name="Text 11"/>
          <p:cNvSpPr/>
          <p:nvPr/>
        </p:nvSpPr>
        <p:spPr>
          <a:xfrm>
            <a:off x="8549640" y="4608576"/>
            <a:ext cx="2788920" cy="301752"/>
          </a:xfrm>
          <a:prstGeom prst="rect">
            <a:avLst/>
          </a:prstGeom>
          <a:noFill/>
          <a:ln/>
        </p:spPr>
        <p:txBody>
          <a:bodyPr wrap="square" lIns="0" tIns="0" rIns="0" bIns="0" rtlCol="0" anchor="ctr">
            <a:normAutofit/>
          </a:bodyPr>
          <a:lstStyle/>
          <a:p>
            <a:pPr indent="0" marL="0">
              <a:buNone/>
            </a:pPr>
            <a:r>
              <a:rPr lang="en-US" sz="1500" b="1" dirty="0">
                <a:solidFill>
                  <a:srgbClr val="112B46"/>
                </a:solidFill>
                <a:latin typeface="Calibri" pitchFamily="34" charset="0"/>
                <a:ea typeface="Calibri" pitchFamily="34" charset="-122"/>
                <a:cs typeface="Calibri" pitchFamily="34" charset="-120"/>
              </a:rPr>
              <a:t>Ràng buộc</a:t>
            </a:r>
            <a:endParaRPr lang="en-US" sz="1500" dirty="0"/>
          </a:p>
        </p:txBody>
      </p:sp>
      <p:sp>
        <p:nvSpPr>
          <p:cNvPr id="15" name="Text 12"/>
          <p:cNvSpPr/>
          <p:nvPr/>
        </p:nvSpPr>
        <p:spPr>
          <a:xfrm>
            <a:off x="8549640" y="5029200"/>
            <a:ext cx="2788920" cy="310896"/>
          </a:xfrm>
          <a:prstGeom prst="rect">
            <a:avLst/>
          </a:prstGeom>
          <a:noFill/>
          <a:ln/>
        </p:spPr>
        <p:txBody>
          <a:bodyPr wrap="square" lIns="0" tIns="0" rIns="0" bIns="0" rtlCol="0" anchor="t">
            <a:normAutofit/>
          </a:bodyPr>
          <a:lstStyle/>
          <a:p>
            <a:pPr indent="0" marL="0">
              <a:buNone/>
            </a:pPr>
            <a:r>
              <a:rPr lang="en-US" sz="1100" dirty="0">
                <a:solidFill>
                  <a:srgbClr val="172B3A"/>
                </a:solidFill>
                <a:latin typeface="Calibri" pitchFamily="34" charset="0"/>
                <a:ea typeface="Calibri" pitchFamily="34" charset="-122"/>
                <a:cs typeface="Calibri" pitchFamily="34" charset="-120"/>
              </a:rPr>
              <a:t>Ràng buộc (constraint) và chỉ mục được tạo trước khi nhập dữ liệu.</a:t>
            </a:r>
            <a:endParaRPr lang="en-US" sz="1100" dirty="0"/>
          </a:p>
        </p:txBody>
      </p:sp>
      <p:sp>
        <p:nvSpPr>
          <p:cNvPr id="16" name="Text 13"/>
          <p:cNvSpPr/>
          <p:nvPr/>
        </p:nvSpPr>
        <p:spPr>
          <a:xfrm>
            <a:off x="548640" y="6254496"/>
            <a:ext cx="10744200" cy="182880"/>
          </a:xfrm>
          <a:prstGeom prst="rect">
            <a:avLst/>
          </a:prstGeom>
          <a:noFill/>
          <a:ln/>
        </p:spPr>
        <p:txBody>
          <a:bodyPr wrap="square" lIns="0" tIns="0" rIns="0" bIns="0" rtlCol="0" anchor="ctr"/>
          <a:lstStyle/>
          <a:p>
            <a:pPr indent="0" marL="0">
              <a:buNone/>
            </a:pPr>
            <a:r>
              <a:rPr lang="en-US" sz="750" i="1" dirty="0">
                <a:solidFill>
                  <a:srgbClr val="7C8796"/>
                </a:solidFill>
                <a:latin typeface="Arial" pitchFamily="34" charset="0"/>
                <a:ea typeface="Arial" pitchFamily="34" charset="-122"/>
                <a:cs typeface="Arial" pitchFamily="34" charset="-120"/>
              </a:rPr>
              <a:t>Nguồn chỉnh sửa: report_latex/images/sources/property_graph_schema.drawio</a:t>
            </a:r>
            <a:endParaRPr lang="en-US" sz="750" dirty="0"/>
          </a:p>
        </p:txBody>
      </p:sp>
      <p:sp>
        <p:nvSpPr>
          <p:cNvPr id="25" name="Slide Number Placeholder 0"/>
          <p:cNvSpPr>
            <a:spLocks noGrp="1"/>
          </p:cNvSpPr>
          <p:nvPr>
            <p:ph type="sldNum" sz="quarter" idx="4294967295"/>
          </p:nvPr>
        </p:nvSpPr>
        <p:spPr>
          <a:xfrm>
            <a:off x="11631168" y="6473952"/>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97586"/>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30352" y="475488"/>
            <a:ext cx="2194560" cy="219456"/>
          </a:xfrm>
          <a:prstGeom prst="rect">
            <a:avLst/>
          </a:prstGeom>
          <a:noFill/>
          <a:ln/>
        </p:spPr>
        <p:txBody>
          <a:bodyPr wrap="square" lIns="0" tIns="0" rIns="0" bIns="0" rtlCol="0" anchor="ctr"/>
          <a:lstStyle/>
          <a:p>
            <a:pPr indent="0" marL="0">
              <a:buNone/>
            </a:pPr>
            <a:r>
              <a:rPr lang="en-US" sz="900" b="1" spc="140" kern="0" dirty="0">
                <a:solidFill>
                  <a:srgbClr val="337B80"/>
                </a:solidFill>
                <a:latin typeface="Arial" pitchFamily="34" charset="0"/>
                <a:ea typeface="Arial" pitchFamily="34" charset="-122"/>
                <a:cs typeface="Arial" pitchFamily="34" charset="-120"/>
              </a:rPr>
              <a:t>QUY TRÌNH XỬ LÝ</a:t>
            </a:r>
            <a:endParaRPr lang="en-US" sz="900" dirty="0"/>
          </a:p>
        </p:txBody>
      </p:sp>
      <p:sp>
        <p:nvSpPr>
          <p:cNvPr id="3" name="Text 1"/>
          <p:cNvSpPr/>
          <p:nvPr/>
        </p:nvSpPr>
        <p:spPr>
          <a:xfrm>
            <a:off x="530352" y="713232"/>
            <a:ext cx="10881360" cy="502920"/>
          </a:xfrm>
          <a:prstGeom prst="rect">
            <a:avLst/>
          </a:prstGeom>
          <a:noFill/>
          <a:ln/>
        </p:spPr>
        <p:txBody>
          <a:bodyPr wrap="square" lIns="0" tIns="0" rIns="0" bIns="0" rtlCol="0" anchor="ctr">
            <a:normAutofit/>
          </a:bodyPr>
          <a:lstStyle/>
          <a:p>
            <a:pPr indent="0" marL="0">
              <a:buNone/>
            </a:pPr>
            <a:r>
              <a:rPr lang="en-US" sz="2600" b="1" dirty="0">
                <a:solidFill>
                  <a:srgbClr val="112B46"/>
                </a:solidFill>
                <a:latin typeface="Calibri" pitchFamily="34" charset="0"/>
                <a:ea typeface="Calibri" pitchFamily="34" charset="-122"/>
                <a:cs typeface="Calibri" pitchFamily="34" charset="-120"/>
              </a:rPr>
              <a:t>Quy trình dữ liệu có thể chạy lại và kiểm tra</a:t>
            </a:r>
            <a:endParaRPr lang="en-US" sz="2600" dirty="0"/>
          </a:p>
        </p:txBody>
      </p:sp>
      <p:sp>
        <p:nvSpPr>
          <p:cNvPr id="4" name="Text 2"/>
          <p:cNvSpPr/>
          <p:nvPr/>
        </p:nvSpPr>
        <p:spPr>
          <a:xfrm>
            <a:off x="548640" y="1261872"/>
            <a:ext cx="10652760" cy="310896"/>
          </a:xfrm>
          <a:prstGeom prst="rect">
            <a:avLst/>
          </a:prstGeom>
          <a:noFill/>
          <a:ln/>
        </p:spPr>
        <p:txBody>
          <a:bodyPr wrap="square" lIns="0" tIns="0" rIns="0" bIns="0" rtlCol="0" anchor="ctr">
            <a:normAutofit/>
          </a:bodyPr>
          <a:lstStyle/>
          <a:p>
            <a:pPr indent="0" marL="0">
              <a:buNone/>
            </a:pPr>
            <a:r>
              <a:rPr lang="en-US" sz="1250" dirty="0">
                <a:solidFill>
                  <a:srgbClr val="697586"/>
                </a:solidFill>
                <a:latin typeface="Calibri" pitchFamily="34" charset="0"/>
                <a:ea typeface="Calibri" pitchFamily="34" charset="-122"/>
                <a:cs typeface="Calibri" pitchFamily="34" charset="-120"/>
              </a:rPr>
              <a:t>Raw cache bất biến → dữ liệu chuẩn hóa tất định → import idempotent → validation.</a:t>
            </a:r>
            <a:endParaRPr lang="en-US" sz="1250" dirty="0"/>
          </a:p>
        </p:txBody>
      </p:sp>
      <p:sp>
        <p:nvSpPr>
          <p:cNvPr id="5" name="Shape 3"/>
          <p:cNvSpPr/>
          <p:nvPr/>
        </p:nvSpPr>
        <p:spPr>
          <a:xfrm>
            <a:off x="566928" y="1755648"/>
            <a:ext cx="10991088" cy="3566160"/>
          </a:xfrm>
          <a:prstGeom prst="roundRect">
            <a:avLst>
              <a:gd name="adj" fmla="val 1026"/>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pic>
        <p:nvPicPr>
          <p:cNvPr id="6" name="Image 0" descr="/home/khanhhk/VNPTAI/advanced_database/docs/deliverables/slide/assets/etl_pipeline.png">    </p:cNvPr>
          <p:cNvPicPr>
            <a:picLocks noChangeAspect="1"/>
          </p:cNvPicPr>
          <p:nvPr/>
        </p:nvPicPr>
        <p:blipFill>
          <a:blip r:embed="rId1"/>
          <a:stretch>
            <a:fillRect/>
          </a:stretch>
        </p:blipFill>
        <p:spPr>
          <a:xfrm>
            <a:off x="676656" y="1896090"/>
            <a:ext cx="10771632" cy="3285275"/>
          </a:xfrm>
          <a:prstGeom prst="rect">
            <a:avLst/>
          </a:prstGeom>
        </p:spPr>
      </p:pic>
      <p:sp>
        <p:nvSpPr>
          <p:cNvPr id="7" name="Shape 4"/>
          <p:cNvSpPr/>
          <p:nvPr/>
        </p:nvSpPr>
        <p:spPr>
          <a:xfrm>
            <a:off x="621792" y="5468112"/>
            <a:ext cx="2487168" cy="658368"/>
          </a:xfrm>
          <a:prstGeom prst="roundRect">
            <a:avLst>
              <a:gd name="adj" fmla="val 8333"/>
            </a:avLst>
          </a:prstGeom>
          <a:solidFill>
            <a:srgbClr val="FFFFFF"/>
          </a:solidFill>
          <a:ln w="12700">
            <a:solidFill>
              <a:srgbClr val="D7DEE8"/>
            </a:solidFill>
            <a:prstDash val="solid"/>
          </a:ln>
        </p:spPr>
      </p:sp>
      <p:sp>
        <p:nvSpPr>
          <p:cNvPr id="8" name="Text 5"/>
          <p:cNvSpPr/>
          <p:nvPr/>
        </p:nvSpPr>
        <p:spPr>
          <a:xfrm>
            <a:off x="850392" y="5650992"/>
            <a:ext cx="2029968" cy="301752"/>
          </a:xfrm>
          <a:prstGeom prst="rect">
            <a:avLst/>
          </a:prstGeom>
          <a:noFill/>
          <a:ln/>
        </p:spPr>
        <p:txBody>
          <a:bodyPr wrap="square" lIns="0" tIns="0" rIns="0" bIns="0" rtlCol="0" anchor="ctr">
            <a:normAutofit/>
          </a:bodyPr>
          <a:lstStyle/>
          <a:p>
            <a:pPr indent="0" marL="0">
              <a:buNone/>
            </a:pPr>
            <a:r>
              <a:rPr lang="en-US" sz="1200" b="1" dirty="0">
                <a:solidFill>
                  <a:srgbClr val="112B46"/>
                </a:solidFill>
                <a:latin typeface="Calibri" pitchFamily="34" charset="0"/>
                <a:ea typeface="Calibri" pitchFamily="34" charset="-122"/>
                <a:cs typeface="Calibri" pitchFamily="34" charset="-120"/>
              </a:rPr>
              <a:t>Cache</a:t>
            </a:r>
            <a:endParaRPr lang="en-US" sz="1200" dirty="0"/>
          </a:p>
        </p:txBody>
      </p:sp>
      <p:sp>
        <p:nvSpPr>
          <p:cNvPr id="9" name="Text 6"/>
          <p:cNvSpPr/>
          <p:nvPr/>
        </p:nvSpPr>
        <p:spPr>
          <a:xfrm>
            <a:off x="850392" y="6071616"/>
            <a:ext cx="2029968" cy="-128016"/>
          </a:xfrm>
          <a:prstGeom prst="rect">
            <a:avLst/>
          </a:prstGeom>
          <a:noFill/>
          <a:ln/>
        </p:spPr>
        <p:txBody>
          <a:bodyPr wrap="square" lIns="0" tIns="0" rIns="0" bIns="0" rtlCol="0" anchor="t">
            <a:normAutofit/>
          </a:bodyPr>
          <a:lstStyle/>
          <a:p>
            <a:pPr indent="0" marL="0">
              <a:buNone/>
            </a:pPr>
            <a:r>
              <a:rPr lang="en-US" sz="950" dirty="0">
                <a:solidFill>
                  <a:srgbClr val="172B3A"/>
                </a:solidFill>
                <a:latin typeface="Calibri" pitchFamily="34" charset="0"/>
                <a:ea typeface="Calibri" pitchFamily="34" charset="-122"/>
                <a:cs typeface="Calibri" pitchFamily="34" charset="-120"/>
              </a:rPr>
              <a:t>Không tải lại nguồn khi xử lý lại</a:t>
            </a:r>
            <a:endParaRPr lang="en-US" sz="950" dirty="0"/>
          </a:p>
        </p:txBody>
      </p:sp>
      <p:sp>
        <p:nvSpPr>
          <p:cNvPr id="10" name="Shape 7"/>
          <p:cNvSpPr/>
          <p:nvPr/>
        </p:nvSpPr>
        <p:spPr>
          <a:xfrm>
            <a:off x="3392424" y="5468112"/>
            <a:ext cx="2487168" cy="658368"/>
          </a:xfrm>
          <a:prstGeom prst="roundRect">
            <a:avLst>
              <a:gd name="adj" fmla="val 8333"/>
            </a:avLst>
          </a:prstGeom>
          <a:solidFill>
            <a:srgbClr val="F0F6F8"/>
          </a:solidFill>
          <a:ln w="12700">
            <a:solidFill>
              <a:srgbClr val="D7DEE8"/>
            </a:solidFill>
            <a:prstDash val="solid"/>
          </a:ln>
        </p:spPr>
      </p:sp>
      <p:sp>
        <p:nvSpPr>
          <p:cNvPr id="11" name="Text 8"/>
          <p:cNvSpPr/>
          <p:nvPr/>
        </p:nvSpPr>
        <p:spPr>
          <a:xfrm>
            <a:off x="3621024" y="5650992"/>
            <a:ext cx="2029968" cy="301752"/>
          </a:xfrm>
          <a:prstGeom prst="rect">
            <a:avLst/>
          </a:prstGeom>
          <a:noFill/>
          <a:ln/>
        </p:spPr>
        <p:txBody>
          <a:bodyPr wrap="square" lIns="0" tIns="0" rIns="0" bIns="0" rtlCol="0" anchor="ctr">
            <a:normAutofit/>
          </a:bodyPr>
          <a:lstStyle/>
          <a:p>
            <a:pPr indent="0" marL="0">
              <a:buNone/>
            </a:pPr>
            <a:r>
              <a:rPr lang="en-US" sz="1200" b="1" dirty="0">
                <a:solidFill>
                  <a:srgbClr val="112B46"/>
                </a:solidFill>
                <a:latin typeface="Calibri" pitchFamily="34" charset="0"/>
                <a:ea typeface="Calibri" pitchFamily="34" charset="-122"/>
                <a:cs typeface="Calibri" pitchFamily="34" charset="-120"/>
              </a:rPr>
              <a:t>Manifest</a:t>
            </a:r>
            <a:endParaRPr lang="en-US" sz="1200" dirty="0"/>
          </a:p>
        </p:txBody>
      </p:sp>
      <p:sp>
        <p:nvSpPr>
          <p:cNvPr id="12" name="Text 9"/>
          <p:cNvSpPr/>
          <p:nvPr/>
        </p:nvSpPr>
        <p:spPr>
          <a:xfrm>
            <a:off x="3621024" y="6071616"/>
            <a:ext cx="2029968" cy="-128016"/>
          </a:xfrm>
          <a:prstGeom prst="rect">
            <a:avLst/>
          </a:prstGeom>
          <a:noFill/>
          <a:ln/>
        </p:spPr>
        <p:txBody>
          <a:bodyPr wrap="square" lIns="0" tIns="0" rIns="0" bIns="0" rtlCol="0" anchor="t">
            <a:normAutofit/>
          </a:bodyPr>
          <a:lstStyle/>
          <a:p>
            <a:pPr indent="0" marL="0">
              <a:buNone/>
            </a:pPr>
            <a:r>
              <a:rPr lang="en-US" sz="950" dirty="0">
                <a:solidFill>
                  <a:srgbClr val="172B3A"/>
                </a:solidFill>
                <a:latin typeface="Calibri" pitchFamily="34" charset="0"/>
                <a:ea typeface="Calibri" pitchFamily="34" charset="-122"/>
                <a:cs typeface="Calibri" pitchFamily="34" charset="-120"/>
              </a:rPr>
              <a:t>Count + checksum + chất lượng</a:t>
            </a:r>
            <a:endParaRPr lang="en-US" sz="950" dirty="0"/>
          </a:p>
        </p:txBody>
      </p:sp>
      <p:sp>
        <p:nvSpPr>
          <p:cNvPr id="13" name="Shape 10"/>
          <p:cNvSpPr/>
          <p:nvPr/>
        </p:nvSpPr>
        <p:spPr>
          <a:xfrm>
            <a:off x="6163056" y="5468112"/>
            <a:ext cx="2487168" cy="658368"/>
          </a:xfrm>
          <a:prstGeom prst="roundRect">
            <a:avLst>
              <a:gd name="adj" fmla="val 8333"/>
            </a:avLst>
          </a:prstGeom>
          <a:solidFill>
            <a:srgbClr val="FFFFFF"/>
          </a:solidFill>
          <a:ln w="12700">
            <a:solidFill>
              <a:srgbClr val="D7DEE8"/>
            </a:solidFill>
            <a:prstDash val="solid"/>
          </a:ln>
        </p:spPr>
      </p:sp>
      <p:sp>
        <p:nvSpPr>
          <p:cNvPr id="14" name="Text 11"/>
          <p:cNvSpPr/>
          <p:nvPr/>
        </p:nvSpPr>
        <p:spPr>
          <a:xfrm>
            <a:off x="6391656" y="5650992"/>
            <a:ext cx="2029968" cy="301752"/>
          </a:xfrm>
          <a:prstGeom prst="rect">
            <a:avLst/>
          </a:prstGeom>
          <a:noFill/>
          <a:ln/>
        </p:spPr>
        <p:txBody>
          <a:bodyPr wrap="square" lIns="0" tIns="0" rIns="0" bIns="0" rtlCol="0" anchor="ctr">
            <a:normAutofit/>
          </a:bodyPr>
          <a:lstStyle/>
          <a:p>
            <a:pPr indent="0" marL="0">
              <a:buNone/>
            </a:pPr>
            <a:r>
              <a:rPr lang="en-US" sz="1200" b="1" dirty="0">
                <a:solidFill>
                  <a:srgbClr val="112B46"/>
                </a:solidFill>
                <a:latin typeface="Calibri" pitchFamily="34" charset="0"/>
                <a:ea typeface="Calibri" pitchFamily="34" charset="-122"/>
                <a:cs typeface="Calibri" pitchFamily="34" charset="-120"/>
              </a:rPr>
              <a:t>MERGE</a:t>
            </a:r>
            <a:endParaRPr lang="en-US" sz="1200" dirty="0"/>
          </a:p>
        </p:txBody>
      </p:sp>
      <p:sp>
        <p:nvSpPr>
          <p:cNvPr id="15" name="Text 12"/>
          <p:cNvSpPr/>
          <p:nvPr/>
        </p:nvSpPr>
        <p:spPr>
          <a:xfrm>
            <a:off x="6391656" y="6071616"/>
            <a:ext cx="2029968" cy="-128016"/>
          </a:xfrm>
          <a:prstGeom prst="rect">
            <a:avLst/>
          </a:prstGeom>
          <a:noFill/>
          <a:ln/>
        </p:spPr>
        <p:txBody>
          <a:bodyPr wrap="square" lIns="0" tIns="0" rIns="0" bIns="0" rtlCol="0" anchor="t">
            <a:normAutofit/>
          </a:bodyPr>
          <a:lstStyle/>
          <a:p>
            <a:pPr indent="0" marL="0">
              <a:buNone/>
            </a:pPr>
            <a:r>
              <a:rPr lang="en-US" sz="950" dirty="0">
                <a:solidFill>
                  <a:srgbClr val="172B3A"/>
                </a:solidFill>
                <a:latin typeface="Calibri" pitchFamily="34" charset="0"/>
                <a:ea typeface="Calibri" pitchFamily="34" charset="-122"/>
                <a:cs typeface="Calibri" pitchFamily="34" charset="-120"/>
              </a:rPr>
              <a:t>Import lặp không nhân bản</a:t>
            </a:r>
            <a:endParaRPr lang="en-US" sz="950" dirty="0"/>
          </a:p>
        </p:txBody>
      </p:sp>
      <p:sp>
        <p:nvSpPr>
          <p:cNvPr id="16" name="Shape 13"/>
          <p:cNvSpPr/>
          <p:nvPr/>
        </p:nvSpPr>
        <p:spPr>
          <a:xfrm>
            <a:off x="8933688" y="5468112"/>
            <a:ext cx="2487168" cy="658368"/>
          </a:xfrm>
          <a:prstGeom prst="roundRect">
            <a:avLst>
              <a:gd name="adj" fmla="val 8333"/>
            </a:avLst>
          </a:prstGeom>
          <a:solidFill>
            <a:srgbClr val="F0F6F8"/>
          </a:solidFill>
          <a:ln w="12700">
            <a:solidFill>
              <a:srgbClr val="D7DEE8"/>
            </a:solidFill>
            <a:prstDash val="solid"/>
          </a:ln>
        </p:spPr>
      </p:sp>
      <p:sp>
        <p:nvSpPr>
          <p:cNvPr id="17" name="Text 14"/>
          <p:cNvSpPr/>
          <p:nvPr/>
        </p:nvSpPr>
        <p:spPr>
          <a:xfrm>
            <a:off x="9162288" y="5650992"/>
            <a:ext cx="2029968" cy="301752"/>
          </a:xfrm>
          <a:prstGeom prst="rect">
            <a:avLst/>
          </a:prstGeom>
          <a:noFill/>
          <a:ln/>
        </p:spPr>
        <p:txBody>
          <a:bodyPr wrap="square" lIns="0" tIns="0" rIns="0" bIns="0" rtlCol="0" anchor="ctr">
            <a:normAutofit/>
          </a:bodyPr>
          <a:lstStyle/>
          <a:p>
            <a:pPr indent="0" marL="0">
              <a:buNone/>
            </a:pPr>
            <a:r>
              <a:rPr lang="en-US" sz="1200" b="1" dirty="0">
                <a:solidFill>
                  <a:srgbClr val="112B46"/>
                </a:solidFill>
                <a:latin typeface="Calibri" pitchFamily="34" charset="0"/>
                <a:ea typeface="Calibri" pitchFamily="34" charset="-122"/>
                <a:cs typeface="Calibri" pitchFamily="34" charset="-120"/>
              </a:rPr>
              <a:t>Gate</a:t>
            </a:r>
            <a:endParaRPr lang="en-US" sz="1200" dirty="0"/>
          </a:p>
        </p:txBody>
      </p:sp>
      <p:sp>
        <p:nvSpPr>
          <p:cNvPr id="18" name="Text 15"/>
          <p:cNvSpPr/>
          <p:nvPr/>
        </p:nvSpPr>
        <p:spPr>
          <a:xfrm>
            <a:off x="9162288" y="6071616"/>
            <a:ext cx="2029968" cy="-128016"/>
          </a:xfrm>
          <a:prstGeom prst="rect">
            <a:avLst/>
          </a:prstGeom>
          <a:noFill/>
          <a:ln/>
        </p:spPr>
        <p:txBody>
          <a:bodyPr wrap="square" lIns="0" tIns="0" rIns="0" bIns="0" rtlCol="0" anchor="t">
            <a:normAutofit/>
          </a:bodyPr>
          <a:lstStyle/>
          <a:p>
            <a:pPr indent="0" marL="0">
              <a:buNone/>
            </a:pPr>
            <a:r>
              <a:rPr lang="en-US" sz="950" dirty="0">
                <a:solidFill>
                  <a:srgbClr val="172B3A"/>
                </a:solidFill>
                <a:latin typeface="Calibri" pitchFamily="34" charset="0"/>
                <a:ea typeface="Calibri" pitchFamily="34" charset="-122"/>
                <a:cs typeface="Calibri" pitchFamily="34" charset="-120"/>
              </a:rPr>
              <a:t>Phát hiện orphan và khóa lỗi</a:t>
            </a:r>
            <a:endParaRPr lang="en-US" sz="950" dirty="0"/>
          </a:p>
        </p:txBody>
      </p:sp>
      <p:sp>
        <p:nvSpPr>
          <p:cNvPr id="19" name="Text 16"/>
          <p:cNvSpPr/>
          <p:nvPr/>
        </p:nvSpPr>
        <p:spPr>
          <a:xfrm>
            <a:off x="548640" y="6254496"/>
            <a:ext cx="10744200" cy="182880"/>
          </a:xfrm>
          <a:prstGeom prst="rect">
            <a:avLst/>
          </a:prstGeom>
          <a:noFill/>
          <a:ln/>
        </p:spPr>
        <p:txBody>
          <a:bodyPr wrap="square" lIns="0" tIns="0" rIns="0" bIns="0" rtlCol="0" anchor="ctr"/>
          <a:lstStyle/>
          <a:p>
            <a:pPr indent="0" marL="0">
              <a:buNone/>
            </a:pPr>
            <a:r>
              <a:rPr lang="en-US" sz="750" i="1" dirty="0">
                <a:solidFill>
                  <a:srgbClr val="7C8796"/>
                </a:solidFill>
                <a:latin typeface="Arial" pitchFamily="34" charset="0"/>
                <a:ea typeface="Arial" pitchFamily="34" charset="-122"/>
                <a:cs typeface="Arial" pitchFamily="34" charset="-120"/>
              </a:rPr>
              <a:t>Nguồn chỉnh sửa: report_latex/images/sources/etl_pipeline.drawio</a:t>
            </a:r>
            <a:endParaRPr lang="en-US" sz="750" dirty="0"/>
          </a:p>
        </p:txBody>
      </p:sp>
      <p:sp>
        <p:nvSpPr>
          <p:cNvPr id="25" name="Slide Number Placeholder 0"/>
          <p:cNvSpPr>
            <a:spLocks noGrp="1"/>
          </p:cNvSpPr>
          <p:nvPr>
            <p:ph type="sldNum" sz="quarter" idx="4294967295"/>
          </p:nvPr>
        </p:nvSpPr>
        <p:spPr>
          <a:xfrm>
            <a:off x="11631168" y="6473952"/>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97586"/>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30352" y="475488"/>
            <a:ext cx="2194560" cy="219456"/>
          </a:xfrm>
          <a:prstGeom prst="rect">
            <a:avLst/>
          </a:prstGeom>
          <a:noFill/>
          <a:ln/>
        </p:spPr>
        <p:txBody>
          <a:bodyPr wrap="square" lIns="0" tIns="0" rIns="0" bIns="0" rtlCol="0" anchor="ctr"/>
          <a:lstStyle/>
          <a:p>
            <a:pPr indent="0" marL="0">
              <a:buNone/>
            </a:pPr>
            <a:r>
              <a:rPr lang="en-US" sz="900" b="1" spc="140" kern="0" dirty="0">
                <a:solidFill>
                  <a:srgbClr val="337B80"/>
                </a:solidFill>
                <a:latin typeface="Arial" pitchFamily="34" charset="0"/>
                <a:ea typeface="Arial" pitchFamily="34" charset="-122"/>
                <a:cs typeface="Arial" pitchFamily="34" charset="-120"/>
              </a:rPr>
              <a:t>CHẤT LƯỢNG DỮ LIỆU</a:t>
            </a:r>
            <a:endParaRPr lang="en-US" sz="900" dirty="0"/>
          </a:p>
        </p:txBody>
      </p:sp>
      <p:sp>
        <p:nvSpPr>
          <p:cNvPr id="3" name="Text 1"/>
          <p:cNvSpPr/>
          <p:nvPr/>
        </p:nvSpPr>
        <p:spPr>
          <a:xfrm>
            <a:off x="530352" y="713232"/>
            <a:ext cx="10881360" cy="502920"/>
          </a:xfrm>
          <a:prstGeom prst="rect">
            <a:avLst/>
          </a:prstGeom>
          <a:noFill/>
          <a:ln/>
        </p:spPr>
        <p:txBody>
          <a:bodyPr wrap="square" lIns="0" tIns="0" rIns="0" bIns="0" rtlCol="0" anchor="ctr">
            <a:normAutofit/>
          </a:bodyPr>
          <a:lstStyle/>
          <a:p>
            <a:pPr indent="0" marL="0">
              <a:buNone/>
            </a:pPr>
            <a:r>
              <a:rPr lang="en-US" sz="2600" b="1" dirty="0">
                <a:solidFill>
                  <a:srgbClr val="112B46"/>
                </a:solidFill>
                <a:latin typeface="Calibri" pitchFamily="34" charset="0"/>
                <a:ea typeface="Calibri" pitchFamily="34" charset="-122"/>
                <a:cs typeface="Calibri" pitchFamily="34" charset="-120"/>
              </a:rPr>
              <a:t>Đồ thị cuối cùng vượt qua toàn bộ quality gate</a:t>
            </a:r>
            <a:endParaRPr lang="en-US" sz="2600" dirty="0"/>
          </a:p>
        </p:txBody>
      </p:sp>
      <p:sp>
        <p:nvSpPr>
          <p:cNvPr id="4" name="Text 2"/>
          <p:cNvSpPr/>
          <p:nvPr/>
        </p:nvSpPr>
        <p:spPr>
          <a:xfrm>
            <a:off x="548640" y="1261872"/>
            <a:ext cx="10652760" cy="310896"/>
          </a:xfrm>
          <a:prstGeom prst="rect">
            <a:avLst/>
          </a:prstGeom>
          <a:noFill/>
          <a:ln/>
        </p:spPr>
        <p:txBody>
          <a:bodyPr wrap="square" lIns="0" tIns="0" rIns="0" bIns="0" rtlCol="0" anchor="ctr">
            <a:normAutofit/>
          </a:bodyPr>
          <a:lstStyle/>
          <a:p>
            <a:pPr indent="0" marL="0">
              <a:buNone/>
            </a:pPr>
            <a:r>
              <a:rPr lang="en-US" sz="1250" dirty="0">
                <a:solidFill>
                  <a:srgbClr val="697586"/>
                </a:solidFill>
                <a:latin typeface="Calibri" pitchFamily="34" charset="0"/>
                <a:ea typeface="Calibri" pitchFamily="34" charset="-122"/>
                <a:cs typeface="Calibri" pitchFamily="34" charset="-120"/>
              </a:rPr>
              <a:t>Một bản ghi Movie không có quan hệ bị loại; ảnh chụp hợp lệ còn 4.999 phim.</a:t>
            </a:r>
            <a:endParaRPr lang="en-US" sz="1250" dirty="0"/>
          </a:p>
        </p:txBody>
      </p:sp>
      <p:sp>
        <p:nvSpPr>
          <p:cNvPr id="5" name="Shape 3"/>
          <p:cNvSpPr/>
          <p:nvPr/>
        </p:nvSpPr>
        <p:spPr>
          <a:xfrm>
            <a:off x="594360" y="1810512"/>
            <a:ext cx="2011680" cy="1261872"/>
          </a:xfrm>
          <a:prstGeom prst="roundRect">
            <a:avLst>
              <a:gd name="adj" fmla="val 4348"/>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sp>
        <p:nvSpPr>
          <p:cNvPr id="6" name="Text 4"/>
          <p:cNvSpPr/>
          <p:nvPr/>
        </p:nvSpPr>
        <p:spPr>
          <a:xfrm>
            <a:off x="758952" y="1975104"/>
            <a:ext cx="1682496" cy="457200"/>
          </a:xfrm>
          <a:prstGeom prst="rect">
            <a:avLst/>
          </a:prstGeom>
          <a:noFill/>
          <a:ln/>
        </p:spPr>
        <p:txBody>
          <a:bodyPr wrap="square" lIns="0" tIns="0" rIns="0" bIns="0" rtlCol="0" anchor="ctr">
            <a:normAutofit/>
          </a:bodyPr>
          <a:lstStyle/>
          <a:p>
            <a:pPr indent="0" marL="0">
              <a:buNone/>
            </a:pPr>
            <a:r>
              <a:rPr lang="en-US" sz="2800" b="1" dirty="0">
                <a:solidFill>
                  <a:srgbClr val="337B80"/>
                </a:solidFill>
                <a:latin typeface="Arial" pitchFamily="34" charset="0"/>
                <a:ea typeface="Arial" pitchFamily="34" charset="-122"/>
                <a:cs typeface="Arial" pitchFamily="34" charset="-120"/>
              </a:rPr>
              <a:t>76.612</a:t>
            </a:r>
            <a:endParaRPr lang="en-US" sz="2800" dirty="0"/>
          </a:p>
        </p:txBody>
      </p:sp>
      <p:sp>
        <p:nvSpPr>
          <p:cNvPr id="7" name="Text 5"/>
          <p:cNvSpPr/>
          <p:nvPr/>
        </p:nvSpPr>
        <p:spPr>
          <a:xfrm>
            <a:off x="777240" y="2487168"/>
            <a:ext cx="1645920" cy="256032"/>
          </a:xfrm>
          <a:prstGeom prst="rect">
            <a:avLst/>
          </a:prstGeom>
          <a:noFill/>
          <a:ln/>
        </p:spPr>
        <p:txBody>
          <a:bodyPr wrap="square" lIns="0" tIns="0" rIns="0" bIns="0" rtlCol="0" anchor="ctr">
            <a:normAutofit/>
          </a:bodyPr>
          <a:lstStyle/>
          <a:p>
            <a:pPr indent="0" marL="0">
              <a:buNone/>
            </a:pPr>
            <a:r>
              <a:rPr lang="en-US" sz="1100" b="1" dirty="0">
                <a:solidFill>
                  <a:srgbClr val="172B3A"/>
                </a:solidFill>
                <a:latin typeface="Calibri" pitchFamily="34" charset="0"/>
                <a:ea typeface="Calibri" pitchFamily="34" charset="-122"/>
                <a:cs typeface="Calibri" pitchFamily="34" charset="-120"/>
              </a:rPr>
              <a:t>Tổng số nút</a:t>
            </a:r>
            <a:endParaRPr lang="en-US" sz="1100" dirty="0"/>
          </a:p>
        </p:txBody>
      </p:sp>
      <p:sp>
        <p:nvSpPr>
          <p:cNvPr id="8" name="Shape 6"/>
          <p:cNvSpPr/>
          <p:nvPr/>
        </p:nvSpPr>
        <p:spPr>
          <a:xfrm>
            <a:off x="2788920" y="1810512"/>
            <a:ext cx="2011680" cy="1261872"/>
          </a:xfrm>
          <a:prstGeom prst="roundRect">
            <a:avLst>
              <a:gd name="adj" fmla="val 4348"/>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sp>
        <p:nvSpPr>
          <p:cNvPr id="9" name="Text 7"/>
          <p:cNvSpPr/>
          <p:nvPr/>
        </p:nvSpPr>
        <p:spPr>
          <a:xfrm>
            <a:off x="2953512" y="1975104"/>
            <a:ext cx="1682496" cy="457200"/>
          </a:xfrm>
          <a:prstGeom prst="rect">
            <a:avLst/>
          </a:prstGeom>
          <a:noFill/>
          <a:ln/>
        </p:spPr>
        <p:txBody>
          <a:bodyPr wrap="square" lIns="0" tIns="0" rIns="0" bIns="0" rtlCol="0" anchor="ctr">
            <a:normAutofit/>
          </a:bodyPr>
          <a:lstStyle/>
          <a:p>
            <a:pPr indent="0" marL="0">
              <a:buNone/>
            </a:pPr>
            <a:r>
              <a:rPr lang="en-US" sz="2800" b="1" dirty="0">
                <a:solidFill>
                  <a:srgbClr val="725B9B"/>
                </a:solidFill>
                <a:latin typeface="Arial" pitchFamily="34" charset="0"/>
                <a:ea typeface="Arial" pitchFamily="34" charset="-122"/>
                <a:cs typeface="Arial" pitchFamily="34" charset="-120"/>
              </a:rPr>
              <a:t>846.309</a:t>
            </a:r>
            <a:endParaRPr lang="en-US" sz="2800" dirty="0"/>
          </a:p>
        </p:txBody>
      </p:sp>
      <p:sp>
        <p:nvSpPr>
          <p:cNvPr id="10" name="Text 8"/>
          <p:cNvSpPr/>
          <p:nvPr/>
        </p:nvSpPr>
        <p:spPr>
          <a:xfrm>
            <a:off x="2971800" y="2487168"/>
            <a:ext cx="1645920" cy="256032"/>
          </a:xfrm>
          <a:prstGeom prst="rect">
            <a:avLst/>
          </a:prstGeom>
          <a:noFill/>
          <a:ln/>
        </p:spPr>
        <p:txBody>
          <a:bodyPr wrap="square" lIns="0" tIns="0" rIns="0" bIns="0" rtlCol="0" anchor="ctr">
            <a:normAutofit/>
          </a:bodyPr>
          <a:lstStyle/>
          <a:p>
            <a:pPr indent="0" marL="0">
              <a:buNone/>
            </a:pPr>
            <a:r>
              <a:rPr lang="en-US" sz="1100" b="1" dirty="0">
                <a:solidFill>
                  <a:srgbClr val="172B3A"/>
                </a:solidFill>
                <a:latin typeface="Calibri" pitchFamily="34" charset="0"/>
                <a:ea typeface="Calibri" pitchFamily="34" charset="-122"/>
                <a:cs typeface="Calibri" pitchFamily="34" charset="-120"/>
              </a:rPr>
              <a:t>Tổng số quan hệ</a:t>
            </a:r>
            <a:endParaRPr lang="en-US" sz="1100" dirty="0"/>
          </a:p>
        </p:txBody>
      </p:sp>
      <p:sp>
        <p:nvSpPr>
          <p:cNvPr id="11" name="Shape 9"/>
          <p:cNvSpPr/>
          <p:nvPr/>
        </p:nvSpPr>
        <p:spPr>
          <a:xfrm>
            <a:off x="4983480" y="1810512"/>
            <a:ext cx="2011680" cy="1261872"/>
          </a:xfrm>
          <a:prstGeom prst="roundRect">
            <a:avLst>
              <a:gd name="adj" fmla="val 4348"/>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sp>
        <p:nvSpPr>
          <p:cNvPr id="12" name="Text 10"/>
          <p:cNvSpPr/>
          <p:nvPr/>
        </p:nvSpPr>
        <p:spPr>
          <a:xfrm>
            <a:off x="5148072" y="1975104"/>
            <a:ext cx="1682496" cy="457200"/>
          </a:xfrm>
          <a:prstGeom prst="rect">
            <a:avLst/>
          </a:prstGeom>
          <a:noFill/>
          <a:ln/>
        </p:spPr>
        <p:txBody>
          <a:bodyPr wrap="square" lIns="0" tIns="0" rIns="0" bIns="0" rtlCol="0" anchor="ctr">
            <a:normAutofit/>
          </a:bodyPr>
          <a:lstStyle/>
          <a:p>
            <a:pPr indent="0" marL="0">
              <a:buNone/>
            </a:pPr>
            <a:r>
              <a:rPr lang="en-US" sz="2800" b="1" dirty="0">
                <a:solidFill>
                  <a:srgbClr val="3D8B66"/>
                </a:solidFill>
                <a:latin typeface="Arial" pitchFamily="34" charset="0"/>
                <a:ea typeface="Arial" pitchFamily="34" charset="-122"/>
                <a:cs typeface="Arial" pitchFamily="34" charset="-120"/>
              </a:rPr>
              <a:t>53.555</a:t>
            </a:r>
            <a:endParaRPr lang="en-US" sz="2800" dirty="0"/>
          </a:p>
        </p:txBody>
      </p:sp>
      <p:sp>
        <p:nvSpPr>
          <p:cNvPr id="13" name="Text 11"/>
          <p:cNvSpPr/>
          <p:nvPr/>
        </p:nvSpPr>
        <p:spPr>
          <a:xfrm>
            <a:off x="5166360" y="2487168"/>
            <a:ext cx="1645920" cy="256032"/>
          </a:xfrm>
          <a:prstGeom prst="rect">
            <a:avLst/>
          </a:prstGeom>
          <a:noFill/>
          <a:ln/>
        </p:spPr>
        <p:txBody>
          <a:bodyPr wrap="square" lIns="0" tIns="0" rIns="0" bIns="0" rtlCol="0" anchor="ctr">
            <a:normAutofit/>
          </a:bodyPr>
          <a:lstStyle/>
          <a:p>
            <a:pPr indent="0" marL="0">
              <a:buNone/>
            </a:pPr>
            <a:r>
              <a:rPr lang="en-US" sz="1100" b="1" dirty="0">
                <a:solidFill>
                  <a:srgbClr val="172B3A"/>
                </a:solidFill>
                <a:latin typeface="Calibri" pitchFamily="34" charset="0"/>
                <a:ea typeface="Calibri" pitchFamily="34" charset="-122"/>
                <a:cs typeface="Calibri" pitchFamily="34" charset="-120"/>
              </a:rPr>
              <a:t>Person</a:t>
            </a:r>
            <a:endParaRPr lang="en-US" sz="1100" dirty="0"/>
          </a:p>
        </p:txBody>
      </p:sp>
      <p:sp>
        <p:nvSpPr>
          <p:cNvPr id="14" name="Shape 12"/>
          <p:cNvSpPr/>
          <p:nvPr/>
        </p:nvSpPr>
        <p:spPr>
          <a:xfrm>
            <a:off x="7178040" y="1810512"/>
            <a:ext cx="2011680" cy="1261872"/>
          </a:xfrm>
          <a:prstGeom prst="roundRect">
            <a:avLst>
              <a:gd name="adj" fmla="val 4348"/>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sp>
        <p:nvSpPr>
          <p:cNvPr id="15" name="Text 13"/>
          <p:cNvSpPr/>
          <p:nvPr/>
        </p:nvSpPr>
        <p:spPr>
          <a:xfrm>
            <a:off x="7342632" y="1975104"/>
            <a:ext cx="1682496" cy="457200"/>
          </a:xfrm>
          <a:prstGeom prst="rect">
            <a:avLst/>
          </a:prstGeom>
          <a:noFill/>
          <a:ln/>
        </p:spPr>
        <p:txBody>
          <a:bodyPr wrap="square" lIns="0" tIns="0" rIns="0" bIns="0" rtlCol="0" anchor="ctr">
            <a:normAutofit/>
          </a:bodyPr>
          <a:lstStyle/>
          <a:p>
            <a:pPr indent="0" marL="0">
              <a:buNone/>
            </a:pPr>
            <a:r>
              <a:rPr lang="en-US" sz="2800" b="1" dirty="0">
                <a:solidFill>
                  <a:srgbClr val="D38B36"/>
                </a:solidFill>
                <a:latin typeface="Arial" pitchFamily="34" charset="0"/>
                <a:ea typeface="Arial" pitchFamily="34" charset="-122"/>
                <a:cs typeface="Arial" pitchFamily="34" charset="-120"/>
              </a:rPr>
              <a:t>12.509</a:t>
            </a:r>
            <a:endParaRPr lang="en-US" sz="2800" dirty="0"/>
          </a:p>
        </p:txBody>
      </p:sp>
      <p:sp>
        <p:nvSpPr>
          <p:cNvPr id="16" name="Text 14"/>
          <p:cNvSpPr/>
          <p:nvPr/>
        </p:nvSpPr>
        <p:spPr>
          <a:xfrm>
            <a:off x="7360920" y="2487168"/>
            <a:ext cx="1645920" cy="256032"/>
          </a:xfrm>
          <a:prstGeom prst="rect">
            <a:avLst/>
          </a:prstGeom>
          <a:noFill/>
          <a:ln/>
        </p:spPr>
        <p:txBody>
          <a:bodyPr wrap="square" lIns="0" tIns="0" rIns="0" bIns="0" rtlCol="0" anchor="ctr">
            <a:normAutofit/>
          </a:bodyPr>
          <a:lstStyle/>
          <a:p>
            <a:pPr indent="0" marL="0">
              <a:buNone/>
            </a:pPr>
            <a:r>
              <a:rPr lang="en-US" sz="1100" b="1" dirty="0">
                <a:solidFill>
                  <a:srgbClr val="172B3A"/>
                </a:solidFill>
                <a:latin typeface="Calibri" pitchFamily="34" charset="0"/>
                <a:ea typeface="Calibri" pitchFamily="34" charset="-122"/>
                <a:cs typeface="Calibri" pitchFamily="34" charset="-120"/>
              </a:rPr>
              <a:t>Keyword</a:t>
            </a:r>
            <a:endParaRPr lang="en-US" sz="1100" dirty="0"/>
          </a:p>
        </p:txBody>
      </p:sp>
      <p:sp>
        <p:nvSpPr>
          <p:cNvPr id="17" name="Shape 15"/>
          <p:cNvSpPr/>
          <p:nvPr/>
        </p:nvSpPr>
        <p:spPr>
          <a:xfrm>
            <a:off x="9372600" y="1810512"/>
            <a:ext cx="2011680" cy="1261872"/>
          </a:xfrm>
          <a:prstGeom prst="roundRect">
            <a:avLst>
              <a:gd name="adj" fmla="val 4348"/>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sp>
        <p:nvSpPr>
          <p:cNvPr id="18" name="Text 16"/>
          <p:cNvSpPr/>
          <p:nvPr/>
        </p:nvSpPr>
        <p:spPr>
          <a:xfrm>
            <a:off x="9537192" y="1975104"/>
            <a:ext cx="1682496" cy="457200"/>
          </a:xfrm>
          <a:prstGeom prst="rect">
            <a:avLst/>
          </a:prstGeom>
          <a:noFill/>
          <a:ln/>
        </p:spPr>
        <p:txBody>
          <a:bodyPr wrap="square" lIns="0" tIns="0" rIns="0" bIns="0" rtlCol="0" anchor="ctr">
            <a:normAutofit/>
          </a:bodyPr>
          <a:lstStyle/>
          <a:p>
            <a:pPr indent="0" marL="0">
              <a:buNone/>
            </a:pPr>
            <a:r>
              <a:rPr lang="en-US" sz="2800" b="1" dirty="0">
                <a:solidFill>
                  <a:srgbClr val="183D5D"/>
                </a:solidFill>
                <a:latin typeface="Arial" pitchFamily="34" charset="0"/>
                <a:ea typeface="Arial" pitchFamily="34" charset="-122"/>
                <a:cs typeface="Arial" pitchFamily="34" charset="-120"/>
              </a:rPr>
              <a:t>5.530</a:t>
            </a:r>
            <a:endParaRPr lang="en-US" sz="2800" dirty="0"/>
          </a:p>
        </p:txBody>
      </p:sp>
      <p:sp>
        <p:nvSpPr>
          <p:cNvPr id="19" name="Text 17"/>
          <p:cNvSpPr/>
          <p:nvPr/>
        </p:nvSpPr>
        <p:spPr>
          <a:xfrm>
            <a:off x="9555480" y="2487168"/>
            <a:ext cx="1645920" cy="256032"/>
          </a:xfrm>
          <a:prstGeom prst="rect">
            <a:avLst/>
          </a:prstGeom>
          <a:noFill/>
          <a:ln/>
        </p:spPr>
        <p:txBody>
          <a:bodyPr wrap="square" lIns="0" tIns="0" rIns="0" bIns="0" rtlCol="0" anchor="ctr">
            <a:normAutofit/>
          </a:bodyPr>
          <a:lstStyle/>
          <a:p>
            <a:pPr indent="0" marL="0">
              <a:buNone/>
            </a:pPr>
            <a:r>
              <a:rPr lang="en-US" sz="1100" b="1" dirty="0">
                <a:solidFill>
                  <a:srgbClr val="172B3A"/>
                </a:solidFill>
                <a:latin typeface="Calibri" pitchFamily="34" charset="0"/>
                <a:ea typeface="Calibri" pitchFamily="34" charset="-122"/>
                <a:cs typeface="Calibri" pitchFamily="34" charset="-120"/>
              </a:rPr>
              <a:t>Studio</a:t>
            </a:r>
            <a:endParaRPr lang="en-US" sz="1100" dirty="0"/>
          </a:p>
        </p:txBody>
      </p:sp>
      <p:sp>
        <p:nvSpPr>
          <p:cNvPr id="20" name="Text 18"/>
          <p:cNvSpPr/>
          <p:nvPr/>
        </p:nvSpPr>
        <p:spPr>
          <a:xfrm>
            <a:off x="685800" y="3657600"/>
            <a:ext cx="1920240" cy="685800"/>
          </a:xfrm>
          <a:prstGeom prst="rect">
            <a:avLst/>
          </a:prstGeom>
          <a:noFill/>
          <a:ln/>
        </p:spPr>
        <p:txBody>
          <a:bodyPr wrap="square" lIns="0" tIns="0" rIns="0" bIns="0" rtlCol="0" anchor="ctr"/>
          <a:lstStyle/>
          <a:p>
            <a:pPr algn="ctr" indent="0" marL="0">
              <a:buNone/>
            </a:pPr>
            <a:r>
              <a:rPr lang="en-US" sz="4800" b="1" dirty="0">
                <a:solidFill>
                  <a:srgbClr val="3D8B66"/>
                </a:solidFill>
                <a:latin typeface="Arial" pitchFamily="34" charset="0"/>
                <a:ea typeface="Arial" pitchFamily="34" charset="-122"/>
                <a:cs typeface="Arial" pitchFamily="34" charset="-120"/>
              </a:rPr>
              <a:t>0</a:t>
            </a:r>
            <a:endParaRPr lang="en-US" sz="4800" dirty="0"/>
          </a:p>
        </p:txBody>
      </p:sp>
      <p:sp>
        <p:nvSpPr>
          <p:cNvPr id="21" name="Text 19"/>
          <p:cNvSpPr/>
          <p:nvPr/>
        </p:nvSpPr>
        <p:spPr>
          <a:xfrm>
            <a:off x="685800" y="4370832"/>
            <a:ext cx="1920240" cy="274320"/>
          </a:xfrm>
          <a:prstGeom prst="rect">
            <a:avLst/>
          </a:prstGeom>
          <a:noFill/>
          <a:ln/>
        </p:spPr>
        <p:txBody>
          <a:bodyPr wrap="square" lIns="0" tIns="0" rIns="0" bIns="0" rtlCol="0" anchor="ctr"/>
          <a:lstStyle/>
          <a:p>
            <a:pPr algn="ctr" indent="0" marL="0">
              <a:buNone/>
            </a:pPr>
            <a:r>
              <a:rPr lang="en-US" sz="1300" b="1" dirty="0">
                <a:solidFill>
                  <a:srgbClr val="172B3A"/>
                </a:solidFill>
                <a:latin typeface="Calibri" pitchFamily="34" charset="0"/>
                <a:ea typeface="Calibri" pitchFamily="34" charset="-122"/>
                <a:cs typeface="Calibri" pitchFamily="34" charset="-120"/>
              </a:rPr>
              <a:t>vi phạm cấu trúc</a:t>
            </a:r>
            <a:endParaRPr lang="en-US" sz="1300" dirty="0"/>
          </a:p>
        </p:txBody>
      </p:sp>
      <p:sp>
        <p:nvSpPr>
          <p:cNvPr id="22" name="Shape 20"/>
          <p:cNvSpPr/>
          <p:nvPr/>
        </p:nvSpPr>
        <p:spPr>
          <a:xfrm>
            <a:off x="3108960" y="3611880"/>
            <a:ext cx="384048" cy="384048"/>
          </a:xfrm>
          <a:prstGeom prst="ellipse">
            <a:avLst/>
          </a:prstGeom>
          <a:solidFill>
            <a:srgbClr val="3D8B66"/>
          </a:solidFill>
          <a:ln w="12700">
            <a:solidFill>
              <a:srgbClr val="3D8B66"/>
            </a:solidFill>
            <a:prstDash val="solid"/>
          </a:ln>
        </p:spPr>
      </p:sp>
      <p:sp>
        <p:nvSpPr>
          <p:cNvPr id="23" name="Text 21"/>
          <p:cNvSpPr/>
          <p:nvPr/>
        </p:nvSpPr>
        <p:spPr>
          <a:xfrm>
            <a:off x="3108960" y="3657600"/>
            <a:ext cx="384048" cy="1828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24" name="Text 22"/>
          <p:cNvSpPr/>
          <p:nvPr/>
        </p:nvSpPr>
        <p:spPr>
          <a:xfrm>
            <a:off x="3675888" y="3639312"/>
            <a:ext cx="3108960" cy="256032"/>
          </a:xfrm>
          <a:prstGeom prst="rect">
            <a:avLst/>
          </a:prstGeom>
          <a:noFill/>
          <a:ln/>
        </p:spPr>
        <p:txBody>
          <a:bodyPr wrap="square" lIns="0" tIns="0" rIns="0" bIns="0" rtlCol="0" anchor="ctr">
            <a:normAutofit/>
          </a:bodyPr>
          <a:lstStyle/>
          <a:p>
            <a:pPr indent="0" marL="0">
              <a:buNone/>
            </a:pPr>
            <a:r>
              <a:rPr lang="en-US" sz="1300" b="1" dirty="0">
                <a:solidFill>
                  <a:srgbClr val="172B3A"/>
                </a:solidFill>
                <a:latin typeface="Calibri" pitchFamily="34" charset="0"/>
                <a:ea typeface="Calibri" pitchFamily="34" charset="-122"/>
                <a:cs typeface="Calibri" pitchFamily="34" charset="-120"/>
              </a:rPr>
              <a:t>Orphan Movie</a:t>
            </a:r>
            <a:endParaRPr lang="en-US" sz="1300" dirty="0"/>
          </a:p>
        </p:txBody>
      </p:sp>
      <p:sp>
        <p:nvSpPr>
          <p:cNvPr id="25" name="Shape 23"/>
          <p:cNvSpPr/>
          <p:nvPr/>
        </p:nvSpPr>
        <p:spPr>
          <a:xfrm>
            <a:off x="7086600" y="3611880"/>
            <a:ext cx="384048" cy="384048"/>
          </a:xfrm>
          <a:prstGeom prst="ellipse">
            <a:avLst/>
          </a:prstGeom>
          <a:solidFill>
            <a:srgbClr val="3D8B66"/>
          </a:solidFill>
          <a:ln w="12700">
            <a:solidFill>
              <a:srgbClr val="3D8B66"/>
            </a:solidFill>
            <a:prstDash val="solid"/>
          </a:ln>
        </p:spPr>
      </p:sp>
      <p:sp>
        <p:nvSpPr>
          <p:cNvPr id="26" name="Text 24"/>
          <p:cNvSpPr/>
          <p:nvPr/>
        </p:nvSpPr>
        <p:spPr>
          <a:xfrm>
            <a:off x="7086600" y="3657600"/>
            <a:ext cx="384048" cy="1828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27" name="Text 25"/>
          <p:cNvSpPr/>
          <p:nvPr/>
        </p:nvSpPr>
        <p:spPr>
          <a:xfrm>
            <a:off x="7653528" y="3639312"/>
            <a:ext cx="3108960" cy="256032"/>
          </a:xfrm>
          <a:prstGeom prst="rect">
            <a:avLst/>
          </a:prstGeom>
          <a:noFill/>
          <a:ln/>
        </p:spPr>
        <p:txBody>
          <a:bodyPr wrap="square" lIns="0" tIns="0" rIns="0" bIns="0" rtlCol="0" anchor="ctr">
            <a:normAutofit/>
          </a:bodyPr>
          <a:lstStyle/>
          <a:p>
            <a:pPr indent="0" marL="0">
              <a:buNone/>
            </a:pPr>
            <a:r>
              <a:rPr lang="en-US" sz="1300" b="1" dirty="0">
                <a:solidFill>
                  <a:srgbClr val="172B3A"/>
                </a:solidFill>
                <a:latin typeface="Calibri" pitchFamily="34" charset="0"/>
                <a:ea typeface="Calibri" pitchFamily="34" charset="-122"/>
                <a:cs typeface="Calibri" pitchFamily="34" charset="-120"/>
              </a:rPr>
              <a:t>Stable ID trùng</a:t>
            </a:r>
            <a:endParaRPr lang="en-US" sz="1300" dirty="0"/>
          </a:p>
        </p:txBody>
      </p:sp>
      <p:sp>
        <p:nvSpPr>
          <p:cNvPr id="28" name="Shape 26"/>
          <p:cNvSpPr/>
          <p:nvPr/>
        </p:nvSpPr>
        <p:spPr>
          <a:xfrm>
            <a:off x="3108960" y="4599432"/>
            <a:ext cx="384048" cy="384048"/>
          </a:xfrm>
          <a:prstGeom prst="ellipse">
            <a:avLst/>
          </a:prstGeom>
          <a:solidFill>
            <a:srgbClr val="3D8B66"/>
          </a:solidFill>
          <a:ln w="12700">
            <a:solidFill>
              <a:srgbClr val="3D8B66"/>
            </a:solidFill>
            <a:prstDash val="solid"/>
          </a:ln>
        </p:spPr>
      </p:sp>
      <p:sp>
        <p:nvSpPr>
          <p:cNvPr id="29" name="Text 27"/>
          <p:cNvSpPr/>
          <p:nvPr/>
        </p:nvSpPr>
        <p:spPr>
          <a:xfrm>
            <a:off x="3108960" y="4645152"/>
            <a:ext cx="384048" cy="1828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30" name="Text 28"/>
          <p:cNvSpPr/>
          <p:nvPr/>
        </p:nvSpPr>
        <p:spPr>
          <a:xfrm>
            <a:off x="3675888" y="4626864"/>
            <a:ext cx="3108960" cy="256032"/>
          </a:xfrm>
          <a:prstGeom prst="rect">
            <a:avLst/>
          </a:prstGeom>
          <a:noFill/>
          <a:ln/>
        </p:spPr>
        <p:txBody>
          <a:bodyPr wrap="square" lIns="0" tIns="0" rIns="0" bIns="0" rtlCol="0" anchor="ctr">
            <a:normAutofit/>
          </a:bodyPr>
          <a:lstStyle/>
          <a:p>
            <a:pPr indent="0" marL="0">
              <a:buNone/>
            </a:pPr>
            <a:r>
              <a:rPr lang="en-US" sz="1300" b="1" dirty="0">
                <a:solidFill>
                  <a:srgbClr val="172B3A"/>
                </a:solidFill>
                <a:latin typeface="Calibri" pitchFamily="34" charset="0"/>
                <a:ea typeface="Calibri" pitchFamily="34" charset="-122"/>
                <a:cs typeface="Calibri" pitchFamily="34" charset="-120"/>
              </a:rPr>
              <a:t>Thiếu thuộc tính bắt buộc</a:t>
            </a:r>
            <a:endParaRPr lang="en-US" sz="1300" dirty="0"/>
          </a:p>
        </p:txBody>
      </p:sp>
      <p:sp>
        <p:nvSpPr>
          <p:cNvPr id="31" name="Shape 29"/>
          <p:cNvSpPr/>
          <p:nvPr/>
        </p:nvSpPr>
        <p:spPr>
          <a:xfrm>
            <a:off x="7086600" y="4599432"/>
            <a:ext cx="384048" cy="384048"/>
          </a:xfrm>
          <a:prstGeom prst="ellipse">
            <a:avLst/>
          </a:prstGeom>
          <a:solidFill>
            <a:srgbClr val="3D8B66"/>
          </a:solidFill>
          <a:ln w="12700">
            <a:solidFill>
              <a:srgbClr val="3D8B66"/>
            </a:solidFill>
            <a:prstDash val="solid"/>
          </a:ln>
        </p:spPr>
      </p:sp>
      <p:sp>
        <p:nvSpPr>
          <p:cNvPr id="32" name="Text 30"/>
          <p:cNvSpPr/>
          <p:nvPr/>
        </p:nvSpPr>
        <p:spPr>
          <a:xfrm>
            <a:off x="7086600" y="4645152"/>
            <a:ext cx="384048" cy="1828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33" name="Text 31"/>
          <p:cNvSpPr/>
          <p:nvPr/>
        </p:nvSpPr>
        <p:spPr>
          <a:xfrm>
            <a:off x="7653528" y="4626864"/>
            <a:ext cx="3108960" cy="256032"/>
          </a:xfrm>
          <a:prstGeom prst="rect">
            <a:avLst/>
          </a:prstGeom>
          <a:noFill/>
          <a:ln/>
        </p:spPr>
        <p:txBody>
          <a:bodyPr wrap="square" lIns="0" tIns="0" rIns="0" bIns="0" rtlCol="0" anchor="ctr">
            <a:normAutofit/>
          </a:bodyPr>
          <a:lstStyle/>
          <a:p>
            <a:pPr indent="0" marL="0">
              <a:buNone/>
            </a:pPr>
            <a:r>
              <a:rPr lang="en-US" sz="1300" b="1" dirty="0">
                <a:solidFill>
                  <a:srgbClr val="172B3A"/>
                </a:solidFill>
                <a:latin typeface="Calibri" pitchFamily="34" charset="0"/>
                <a:ea typeface="Calibri" pitchFamily="34" charset="-122"/>
                <a:cs typeface="Calibri" pitchFamily="34" charset="-120"/>
              </a:rPr>
              <a:t>Cạnh sai kiểu/đầu mút</a:t>
            </a:r>
            <a:endParaRPr lang="en-US" sz="1300" dirty="0"/>
          </a:p>
        </p:txBody>
      </p:sp>
      <p:sp>
        <p:nvSpPr>
          <p:cNvPr id="34" name="Text 32"/>
          <p:cNvSpPr/>
          <p:nvPr/>
        </p:nvSpPr>
        <p:spPr>
          <a:xfrm>
            <a:off x="548640" y="6254496"/>
            <a:ext cx="10744200" cy="182880"/>
          </a:xfrm>
          <a:prstGeom prst="rect">
            <a:avLst/>
          </a:prstGeom>
          <a:noFill/>
          <a:ln/>
        </p:spPr>
        <p:txBody>
          <a:bodyPr wrap="square" lIns="0" tIns="0" rIns="0" bIns="0" rtlCol="0" anchor="ctr"/>
          <a:lstStyle/>
          <a:p>
            <a:pPr indent="0" marL="0">
              <a:buNone/>
            </a:pPr>
            <a:r>
              <a:rPr lang="en-US" sz="750" i="1" dirty="0">
                <a:solidFill>
                  <a:srgbClr val="7C8796"/>
                </a:solidFill>
                <a:latin typeface="Arial" pitchFamily="34" charset="0"/>
                <a:ea typeface="Arial" pitchFamily="34" charset="-122"/>
                <a:cs typeface="Arial" pitchFamily="34" charset="-120"/>
              </a:rPr>
              <a:t>Nguồn số liệu: experiments/results/quality/{knowledge_quality_audit,neo4j_validation}.json</a:t>
            </a:r>
            <a:endParaRPr lang="en-US" sz="750" dirty="0"/>
          </a:p>
        </p:txBody>
      </p:sp>
      <p:sp>
        <p:nvSpPr>
          <p:cNvPr id="25" name="Slide Number Placeholder 0"/>
          <p:cNvSpPr>
            <a:spLocks noGrp="1"/>
          </p:cNvSpPr>
          <p:nvPr>
            <p:ph type="sldNum" sz="quarter" idx="4294967295"/>
          </p:nvPr>
        </p:nvSpPr>
        <p:spPr>
          <a:xfrm>
            <a:off x="11631168" y="6473952"/>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97586"/>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30352" y="475488"/>
            <a:ext cx="2194560" cy="219456"/>
          </a:xfrm>
          <a:prstGeom prst="rect">
            <a:avLst/>
          </a:prstGeom>
          <a:noFill/>
          <a:ln/>
        </p:spPr>
        <p:txBody>
          <a:bodyPr wrap="square" lIns="0" tIns="0" rIns="0" bIns="0" rtlCol="0" anchor="ctr"/>
          <a:lstStyle/>
          <a:p>
            <a:pPr indent="0" marL="0">
              <a:buNone/>
            </a:pPr>
            <a:r>
              <a:rPr lang="en-US" sz="900" b="1" spc="140" kern="0" dirty="0">
                <a:solidFill>
                  <a:srgbClr val="337B80"/>
                </a:solidFill>
                <a:latin typeface="Arial" pitchFamily="34" charset="0"/>
                <a:ea typeface="Arial" pitchFamily="34" charset="-122"/>
                <a:cs typeface="Arial" pitchFamily="34" charset="-120"/>
              </a:rPr>
              <a:t>ĐỊNH DANH VÀ PROVENANCE</a:t>
            </a:r>
            <a:endParaRPr lang="en-US" sz="900" dirty="0"/>
          </a:p>
        </p:txBody>
      </p:sp>
      <p:sp>
        <p:nvSpPr>
          <p:cNvPr id="3" name="Text 1"/>
          <p:cNvSpPr/>
          <p:nvPr/>
        </p:nvSpPr>
        <p:spPr>
          <a:xfrm>
            <a:off x="530352" y="713232"/>
            <a:ext cx="10881360" cy="502920"/>
          </a:xfrm>
          <a:prstGeom prst="rect">
            <a:avLst/>
          </a:prstGeom>
          <a:noFill/>
          <a:ln/>
        </p:spPr>
        <p:txBody>
          <a:bodyPr wrap="square" lIns="0" tIns="0" rIns="0" bIns="0" rtlCol="0" anchor="ctr">
            <a:normAutofit/>
          </a:bodyPr>
          <a:lstStyle/>
          <a:p>
            <a:pPr indent="0" marL="0">
              <a:buNone/>
            </a:pPr>
            <a:r>
              <a:rPr lang="en-US" sz="2600" b="1" dirty="0">
                <a:solidFill>
                  <a:srgbClr val="112B46"/>
                </a:solidFill>
                <a:latin typeface="Calibri" pitchFamily="34" charset="0"/>
                <a:ea typeface="Calibri" pitchFamily="34" charset="-122"/>
                <a:cs typeface="Calibri" pitchFamily="34" charset="-120"/>
              </a:rPr>
              <a:t>Phân giải thực thể: exact trước, fuzzy có kiểm soát</a:t>
            </a:r>
            <a:endParaRPr lang="en-US" sz="2600" dirty="0"/>
          </a:p>
        </p:txBody>
      </p:sp>
      <p:sp>
        <p:nvSpPr>
          <p:cNvPr id="4" name="Text 2"/>
          <p:cNvSpPr/>
          <p:nvPr/>
        </p:nvSpPr>
        <p:spPr>
          <a:xfrm>
            <a:off x="548640" y="1261872"/>
            <a:ext cx="10652760" cy="310896"/>
          </a:xfrm>
          <a:prstGeom prst="rect">
            <a:avLst/>
          </a:prstGeom>
          <a:noFill/>
          <a:ln/>
        </p:spPr>
        <p:txBody>
          <a:bodyPr wrap="square" lIns="0" tIns="0" rIns="0" bIns="0" rtlCol="0" anchor="ctr">
            <a:normAutofit/>
          </a:bodyPr>
          <a:lstStyle/>
          <a:p>
            <a:pPr indent="0" marL="0">
              <a:buNone/>
            </a:pPr>
            <a:r>
              <a:rPr lang="en-US" sz="1250" dirty="0">
                <a:solidFill>
                  <a:srgbClr val="697586"/>
                </a:solidFill>
                <a:latin typeface="Calibri" pitchFamily="34" charset="0"/>
                <a:ea typeface="Calibri" pitchFamily="34" charset="-122"/>
                <a:cs typeface="Calibri" pitchFamily="34" charset="-120"/>
              </a:rPr>
              <a:t>Mục tiêu là tránh false positive; trường hợp mơ hồ có thể từ chối thay vì nối sai.</a:t>
            </a:r>
            <a:endParaRPr lang="en-US" sz="1250" dirty="0"/>
          </a:p>
        </p:txBody>
      </p:sp>
      <p:sp>
        <p:nvSpPr>
          <p:cNvPr id="5" name="Shape 3"/>
          <p:cNvSpPr/>
          <p:nvPr/>
        </p:nvSpPr>
        <p:spPr>
          <a:xfrm>
            <a:off x="576072" y="1773936"/>
            <a:ext cx="7406640" cy="4261104"/>
          </a:xfrm>
          <a:prstGeom prst="roundRect">
            <a:avLst>
              <a:gd name="adj" fmla="val 858"/>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pic>
        <p:nvPicPr>
          <p:cNvPr id="6" name="Image 0" descr="/home/khanhhk/VNPTAI/advanced_database/docs/deliverables/slide/assets/entity_resolution_flow.png">    </p:cNvPr>
          <p:cNvPicPr>
            <a:picLocks noChangeAspect="1"/>
          </p:cNvPicPr>
          <p:nvPr/>
        </p:nvPicPr>
        <p:blipFill>
          <a:blip r:embed="rId1"/>
          <a:stretch>
            <a:fillRect/>
          </a:stretch>
        </p:blipFill>
        <p:spPr>
          <a:xfrm>
            <a:off x="685800" y="2817893"/>
            <a:ext cx="7187184" cy="2173191"/>
          </a:xfrm>
          <a:prstGeom prst="rect">
            <a:avLst/>
          </a:prstGeom>
        </p:spPr>
      </p:pic>
      <p:sp>
        <p:nvSpPr>
          <p:cNvPr id="7" name="Shape 4"/>
          <p:cNvSpPr/>
          <p:nvPr/>
        </p:nvSpPr>
        <p:spPr>
          <a:xfrm>
            <a:off x="8275320" y="1810512"/>
            <a:ext cx="3246120" cy="1261872"/>
          </a:xfrm>
          <a:prstGeom prst="roundRect">
            <a:avLst>
              <a:gd name="adj" fmla="val 4348"/>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sp>
        <p:nvSpPr>
          <p:cNvPr id="8" name="Text 5"/>
          <p:cNvSpPr/>
          <p:nvPr/>
        </p:nvSpPr>
        <p:spPr>
          <a:xfrm>
            <a:off x="8439912" y="1975104"/>
            <a:ext cx="2916936" cy="457200"/>
          </a:xfrm>
          <a:prstGeom prst="rect">
            <a:avLst/>
          </a:prstGeom>
          <a:noFill/>
          <a:ln/>
        </p:spPr>
        <p:txBody>
          <a:bodyPr wrap="square" lIns="0" tIns="0" rIns="0" bIns="0" rtlCol="0" anchor="ctr">
            <a:normAutofit/>
          </a:bodyPr>
          <a:lstStyle/>
          <a:p>
            <a:pPr indent="0" marL="0">
              <a:buNone/>
            </a:pPr>
            <a:r>
              <a:rPr lang="en-US" sz="2800" b="1" dirty="0">
                <a:solidFill>
                  <a:srgbClr val="3D8B66"/>
                </a:solidFill>
                <a:latin typeface="Arial" pitchFamily="34" charset="0"/>
                <a:ea typeface="Arial" pitchFamily="34" charset="-122"/>
                <a:cs typeface="Arial" pitchFamily="34" charset="-120"/>
              </a:rPr>
              <a:t>1,000</a:t>
            </a:r>
            <a:endParaRPr lang="en-US" sz="2800" dirty="0"/>
          </a:p>
        </p:txBody>
      </p:sp>
      <p:sp>
        <p:nvSpPr>
          <p:cNvPr id="9" name="Text 6"/>
          <p:cNvSpPr/>
          <p:nvPr/>
        </p:nvSpPr>
        <p:spPr>
          <a:xfrm>
            <a:off x="8458200" y="2487168"/>
            <a:ext cx="2880360" cy="256032"/>
          </a:xfrm>
          <a:prstGeom prst="rect">
            <a:avLst/>
          </a:prstGeom>
          <a:noFill/>
          <a:ln/>
        </p:spPr>
        <p:txBody>
          <a:bodyPr wrap="square" lIns="0" tIns="0" rIns="0" bIns="0" rtlCol="0" anchor="ctr">
            <a:normAutofit/>
          </a:bodyPr>
          <a:lstStyle/>
          <a:p>
            <a:pPr indent="0" marL="0">
              <a:buNone/>
            </a:pPr>
            <a:r>
              <a:rPr lang="en-US" sz="1100" b="1" dirty="0">
                <a:solidFill>
                  <a:srgbClr val="172B3A"/>
                </a:solidFill>
                <a:latin typeface="Calibri" pitchFamily="34" charset="0"/>
                <a:ea typeface="Calibri" pitchFamily="34" charset="-122"/>
                <a:cs typeface="Calibri" pitchFamily="34" charset="-120"/>
              </a:rPr>
              <a:t>Precision</a:t>
            </a:r>
            <a:endParaRPr lang="en-US" sz="1100" dirty="0"/>
          </a:p>
        </p:txBody>
      </p:sp>
      <p:sp>
        <p:nvSpPr>
          <p:cNvPr id="10" name="Text 7"/>
          <p:cNvSpPr/>
          <p:nvPr/>
        </p:nvSpPr>
        <p:spPr>
          <a:xfrm>
            <a:off x="8458200" y="2779776"/>
            <a:ext cx="2880360" cy="164592"/>
          </a:xfrm>
          <a:prstGeom prst="rect">
            <a:avLst/>
          </a:prstGeom>
          <a:noFill/>
          <a:ln/>
        </p:spPr>
        <p:txBody>
          <a:bodyPr wrap="square" lIns="0" tIns="0" rIns="0" bIns="0" rtlCol="0" anchor="ctr">
            <a:normAutofit/>
          </a:bodyPr>
          <a:lstStyle/>
          <a:p>
            <a:pPr indent="0" marL="0">
              <a:buNone/>
            </a:pPr>
            <a:r>
              <a:rPr lang="en-US" sz="750" dirty="0">
                <a:solidFill>
                  <a:srgbClr val="697586"/>
                </a:solidFill>
                <a:latin typeface="Arial" pitchFamily="34" charset="0"/>
                <a:ea typeface="Arial" pitchFamily="34" charset="-122"/>
                <a:cs typeface="Arial" pitchFamily="34" charset="-120"/>
              </a:rPr>
              <a:t>100 cặp silver</a:t>
            </a:r>
            <a:endParaRPr lang="en-US" sz="750" dirty="0"/>
          </a:p>
        </p:txBody>
      </p:sp>
      <p:sp>
        <p:nvSpPr>
          <p:cNvPr id="11" name="Shape 8"/>
          <p:cNvSpPr/>
          <p:nvPr/>
        </p:nvSpPr>
        <p:spPr>
          <a:xfrm>
            <a:off x="8275320" y="3273552"/>
            <a:ext cx="3246120" cy="1261872"/>
          </a:xfrm>
          <a:prstGeom prst="roundRect">
            <a:avLst>
              <a:gd name="adj" fmla="val 4348"/>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sp>
        <p:nvSpPr>
          <p:cNvPr id="12" name="Text 9"/>
          <p:cNvSpPr/>
          <p:nvPr/>
        </p:nvSpPr>
        <p:spPr>
          <a:xfrm>
            <a:off x="8439912" y="3438144"/>
            <a:ext cx="2916936" cy="457200"/>
          </a:xfrm>
          <a:prstGeom prst="rect">
            <a:avLst/>
          </a:prstGeom>
          <a:noFill/>
          <a:ln/>
        </p:spPr>
        <p:txBody>
          <a:bodyPr wrap="square" lIns="0" tIns="0" rIns="0" bIns="0" rtlCol="0" anchor="ctr">
            <a:normAutofit/>
          </a:bodyPr>
          <a:lstStyle/>
          <a:p>
            <a:pPr indent="0" marL="0">
              <a:buNone/>
            </a:pPr>
            <a:r>
              <a:rPr lang="en-US" sz="2800" b="1" dirty="0">
                <a:solidFill>
                  <a:srgbClr val="D38B36"/>
                </a:solidFill>
                <a:latin typeface="Arial" pitchFamily="34" charset="0"/>
                <a:ea typeface="Arial" pitchFamily="34" charset="-122"/>
                <a:cs typeface="Arial" pitchFamily="34" charset="-120"/>
              </a:rPr>
              <a:t>0,933</a:t>
            </a:r>
            <a:endParaRPr lang="en-US" sz="2800" dirty="0"/>
          </a:p>
        </p:txBody>
      </p:sp>
      <p:sp>
        <p:nvSpPr>
          <p:cNvPr id="13" name="Text 10"/>
          <p:cNvSpPr/>
          <p:nvPr/>
        </p:nvSpPr>
        <p:spPr>
          <a:xfrm>
            <a:off x="8458200" y="3950208"/>
            <a:ext cx="2880360" cy="256032"/>
          </a:xfrm>
          <a:prstGeom prst="rect">
            <a:avLst/>
          </a:prstGeom>
          <a:noFill/>
          <a:ln/>
        </p:spPr>
        <p:txBody>
          <a:bodyPr wrap="square" lIns="0" tIns="0" rIns="0" bIns="0" rtlCol="0" anchor="ctr">
            <a:normAutofit/>
          </a:bodyPr>
          <a:lstStyle/>
          <a:p>
            <a:pPr indent="0" marL="0">
              <a:buNone/>
            </a:pPr>
            <a:r>
              <a:rPr lang="en-US" sz="1100" b="1" dirty="0">
                <a:solidFill>
                  <a:srgbClr val="172B3A"/>
                </a:solidFill>
                <a:latin typeface="Calibri" pitchFamily="34" charset="0"/>
                <a:ea typeface="Calibri" pitchFamily="34" charset="-122"/>
                <a:cs typeface="Calibri" pitchFamily="34" charset="-120"/>
              </a:rPr>
              <a:t>Recall</a:t>
            </a:r>
            <a:endParaRPr lang="en-US" sz="1100" dirty="0"/>
          </a:p>
        </p:txBody>
      </p:sp>
      <p:sp>
        <p:nvSpPr>
          <p:cNvPr id="14" name="Text 11"/>
          <p:cNvSpPr/>
          <p:nvPr/>
        </p:nvSpPr>
        <p:spPr>
          <a:xfrm>
            <a:off x="8458200" y="4242816"/>
            <a:ext cx="2880360" cy="164592"/>
          </a:xfrm>
          <a:prstGeom prst="rect">
            <a:avLst/>
          </a:prstGeom>
          <a:noFill/>
          <a:ln/>
        </p:spPr>
        <p:txBody>
          <a:bodyPr wrap="square" lIns="0" tIns="0" rIns="0" bIns="0" rtlCol="0" anchor="ctr">
            <a:normAutofit/>
          </a:bodyPr>
          <a:lstStyle/>
          <a:p>
            <a:pPr indent="0" marL="0">
              <a:buNone/>
            </a:pPr>
            <a:r>
              <a:rPr lang="en-US" sz="750" dirty="0">
                <a:solidFill>
                  <a:srgbClr val="697586"/>
                </a:solidFill>
                <a:latin typeface="Arial" pitchFamily="34" charset="0"/>
                <a:ea typeface="Arial" pitchFamily="34" charset="-122"/>
                <a:cs typeface="Arial" pitchFamily="34" charset="-120"/>
              </a:rPr>
              <a:t>5 trường hợp abstain</a:t>
            </a:r>
            <a:endParaRPr lang="en-US" sz="750" dirty="0"/>
          </a:p>
        </p:txBody>
      </p:sp>
      <p:sp>
        <p:nvSpPr>
          <p:cNvPr id="15" name="Shape 12"/>
          <p:cNvSpPr/>
          <p:nvPr/>
        </p:nvSpPr>
        <p:spPr>
          <a:xfrm>
            <a:off x="8275320" y="4736592"/>
            <a:ext cx="3246120" cy="1261872"/>
          </a:xfrm>
          <a:prstGeom prst="roundRect">
            <a:avLst>
              <a:gd name="adj" fmla="val 4348"/>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sp>
        <p:nvSpPr>
          <p:cNvPr id="16" name="Text 13"/>
          <p:cNvSpPr/>
          <p:nvPr/>
        </p:nvSpPr>
        <p:spPr>
          <a:xfrm>
            <a:off x="8439912" y="4901184"/>
            <a:ext cx="2916936" cy="457200"/>
          </a:xfrm>
          <a:prstGeom prst="rect">
            <a:avLst/>
          </a:prstGeom>
          <a:noFill/>
          <a:ln/>
        </p:spPr>
        <p:txBody>
          <a:bodyPr wrap="square" lIns="0" tIns="0" rIns="0" bIns="0" rtlCol="0" anchor="ctr">
            <a:normAutofit/>
          </a:bodyPr>
          <a:lstStyle/>
          <a:p>
            <a:pPr indent="0" marL="0">
              <a:buNone/>
            </a:pPr>
            <a:r>
              <a:rPr lang="en-US" sz="2800" b="1" dirty="0">
                <a:solidFill>
                  <a:srgbClr val="725B9B"/>
                </a:solidFill>
                <a:latin typeface="Arial" pitchFamily="34" charset="0"/>
                <a:ea typeface="Arial" pitchFamily="34" charset="-122"/>
                <a:cs typeface="Arial" pitchFamily="34" charset="-120"/>
              </a:rPr>
              <a:t>0,966</a:t>
            </a:r>
            <a:endParaRPr lang="en-US" sz="2800" dirty="0"/>
          </a:p>
        </p:txBody>
      </p:sp>
      <p:sp>
        <p:nvSpPr>
          <p:cNvPr id="17" name="Text 14"/>
          <p:cNvSpPr/>
          <p:nvPr/>
        </p:nvSpPr>
        <p:spPr>
          <a:xfrm>
            <a:off x="8458200" y="5413248"/>
            <a:ext cx="2880360" cy="256032"/>
          </a:xfrm>
          <a:prstGeom prst="rect">
            <a:avLst/>
          </a:prstGeom>
          <a:noFill/>
          <a:ln/>
        </p:spPr>
        <p:txBody>
          <a:bodyPr wrap="square" lIns="0" tIns="0" rIns="0" bIns="0" rtlCol="0" anchor="ctr">
            <a:normAutofit/>
          </a:bodyPr>
          <a:lstStyle/>
          <a:p>
            <a:pPr indent="0" marL="0">
              <a:buNone/>
            </a:pPr>
            <a:r>
              <a:rPr lang="en-US" sz="1100" b="1" dirty="0">
                <a:solidFill>
                  <a:srgbClr val="172B3A"/>
                </a:solidFill>
                <a:latin typeface="Calibri" pitchFamily="34" charset="0"/>
                <a:ea typeface="Calibri" pitchFamily="34" charset="-122"/>
                <a:cs typeface="Calibri" pitchFamily="34" charset="-120"/>
              </a:rPr>
              <a:t>F1</a:t>
            </a:r>
            <a:endParaRPr lang="en-US" sz="1100" dirty="0"/>
          </a:p>
        </p:txBody>
      </p:sp>
      <p:sp>
        <p:nvSpPr>
          <p:cNvPr id="18" name="Text 15"/>
          <p:cNvSpPr/>
          <p:nvPr/>
        </p:nvSpPr>
        <p:spPr>
          <a:xfrm>
            <a:off x="8458200" y="5705856"/>
            <a:ext cx="2880360" cy="164592"/>
          </a:xfrm>
          <a:prstGeom prst="rect">
            <a:avLst/>
          </a:prstGeom>
          <a:noFill/>
          <a:ln/>
        </p:spPr>
        <p:txBody>
          <a:bodyPr wrap="square" lIns="0" tIns="0" rIns="0" bIns="0" rtlCol="0" anchor="ctr">
            <a:normAutofit/>
          </a:bodyPr>
          <a:lstStyle/>
          <a:p>
            <a:pPr indent="0" marL="0">
              <a:buNone/>
            </a:pPr>
            <a:r>
              <a:rPr lang="en-US" sz="750" dirty="0">
                <a:solidFill>
                  <a:srgbClr val="697586"/>
                </a:solidFill>
                <a:latin typeface="Arial" pitchFamily="34" charset="0"/>
                <a:ea typeface="Arial" pitchFamily="34" charset="-122"/>
                <a:cs typeface="Arial" pitchFamily="34" charset="-120"/>
              </a:rPr>
              <a:t>nearest-name hard negatives</a:t>
            </a:r>
            <a:endParaRPr lang="en-US" sz="750" dirty="0"/>
          </a:p>
        </p:txBody>
      </p:sp>
      <p:sp>
        <p:nvSpPr>
          <p:cNvPr id="19" name="Text 16"/>
          <p:cNvSpPr/>
          <p:nvPr/>
        </p:nvSpPr>
        <p:spPr>
          <a:xfrm>
            <a:off x="548640" y="6254496"/>
            <a:ext cx="10744200" cy="182880"/>
          </a:xfrm>
          <a:prstGeom prst="rect">
            <a:avLst/>
          </a:prstGeom>
          <a:noFill/>
          <a:ln/>
        </p:spPr>
        <p:txBody>
          <a:bodyPr wrap="square" lIns="0" tIns="0" rIns="0" bIns="0" rtlCol="0" anchor="ctr"/>
          <a:lstStyle/>
          <a:p>
            <a:pPr indent="0" marL="0">
              <a:buNone/>
            </a:pPr>
            <a:r>
              <a:rPr lang="en-US" sz="750" i="1" dirty="0">
                <a:solidFill>
                  <a:srgbClr val="7C8796"/>
                </a:solidFill>
                <a:latin typeface="Arial" pitchFamily="34" charset="0"/>
                <a:ea typeface="Arial" pitchFamily="34" charset="-122"/>
                <a:cs typeface="Arial" pitchFamily="34" charset="-120"/>
              </a:rPr>
              <a:t>Nguồn: entity_resolution.json · sơ đồ: report_latex/images/sources/entity_resolution_flow.drawio</a:t>
            </a:r>
            <a:endParaRPr lang="en-US" sz="750" dirty="0"/>
          </a:p>
        </p:txBody>
      </p:sp>
      <p:sp>
        <p:nvSpPr>
          <p:cNvPr id="25" name="Slide Number Placeholder 0"/>
          <p:cNvSpPr>
            <a:spLocks noGrp="1"/>
          </p:cNvSpPr>
          <p:nvPr>
            <p:ph type="sldNum" sz="quarter" idx="4294967295"/>
          </p:nvPr>
        </p:nvSpPr>
        <p:spPr>
          <a:xfrm>
            <a:off x="11631168" y="6473952"/>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97586"/>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30352" y="475488"/>
            <a:ext cx="2194560" cy="219456"/>
          </a:xfrm>
          <a:prstGeom prst="rect">
            <a:avLst/>
          </a:prstGeom>
          <a:noFill/>
          <a:ln/>
        </p:spPr>
        <p:txBody>
          <a:bodyPr wrap="square" lIns="0" tIns="0" rIns="0" bIns="0" rtlCol="0" anchor="ctr"/>
          <a:lstStyle/>
          <a:p>
            <a:pPr indent="0" marL="0">
              <a:buNone/>
            </a:pPr>
            <a:r>
              <a:rPr lang="en-US" sz="900" b="1" spc="140" kern="0" dirty="0">
                <a:solidFill>
                  <a:srgbClr val="337B80"/>
                </a:solidFill>
                <a:latin typeface="Arial" pitchFamily="34" charset="0"/>
                <a:ea typeface="Arial" pitchFamily="34" charset="-122"/>
                <a:cs typeface="Arial" pitchFamily="34" charset="-120"/>
              </a:rPr>
              <a:t>TRUY VẤN</a:t>
            </a:r>
            <a:endParaRPr lang="en-US" sz="900" dirty="0"/>
          </a:p>
        </p:txBody>
      </p:sp>
      <p:sp>
        <p:nvSpPr>
          <p:cNvPr id="3" name="Text 1"/>
          <p:cNvSpPr/>
          <p:nvPr/>
        </p:nvSpPr>
        <p:spPr>
          <a:xfrm>
            <a:off x="530352" y="713232"/>
            <a:ext cx="10881360" cy="502920"/>
          </a:xfrm>
          <a:prstGeom prst="rect">
            <a:avLst/>
          </a:prstGeom>
          <a:noFill/>
          <a:ln/>
        </p:spPr>
        <p:txBody>
          <a:bodyPr wrap="square" lIns="0" tIns="0" rIns="0" bIns="0" rtlCol="0" anchor="ctr">
            <a:normAutofit/>
          </a:bodyPr>
          <a:lstStyle/>
          <a:p>
            <a:pPr indent="0" marL="0">
              <a:buNone/>
            </a:pPr>
            <a:r>
              <a:rPr lang="en-US" sz="2600" b="1" dirty="0">
                <a:solidFill>
                  <a:srgbClr val="112B46"/>
                </a:solidFill>
                <a:latin typeface="Calibri" pitchFamily="34" charset="0"/>
                <a:ea typeface="Calibri" pitchFamily="34" charset="-122"/>
                <a:cs typeface="Calibri" pitchFamily="34" charset="-120"/>
              </a:rPr>
              <a:t>Cypher biến câu hỏi quan hệ thành mẫu đường đi</a:t>
            </a:r>
            <a:endParaRPr lang="en-US" sz="2600" dirty="0"/>
          </a:p>
        </p:txBody>
      </p:sp>
      <p:sp>
        <p:nvSpPr>
          <p:cNvPr id="4" name="Text 2"/>
          <p:cNvSpPr/>
          <p:nvPr/>
        </p:nvSpPr>
        <p:spPr>
          <a:xfrm>
            <a:off x="548640" y="1261872"/>
            <a:ext cx="10652760" cy="310896"/>
          </a:xfrm>
          <a:prstGeom prst="rect">
            <a:avLst/>
          </a:prstGeom>
          <a:noFill/>
          <a:ln/>
        </p:spPr>
        <p:txBody>
          <a:bodyPr wrap="square" lIns="0" tIns="0" rIns="0" bIns="0" rtlCol="0" anchor="ctr">
            <a:normAutofit/>
          </a:bodyPr>
          <a:lstStyle/>
          <a:p>
            <a:pPr indent="0" marL="0">
              <a:buNone/>
            </a:pPr>
            <a:r>
              <a:rPr lang="en-US" sz="1250" dirty="0">
                <a:solidFill>
                  <a:srgbClr val="697586"/>
                </a:solidFill>
                <a:latin typeface="Calibri" pitchFamily="34" charset="0"/>
                <a:ea typeface="Calibri" pitchFamily="34" charset="-122"/>
                <a:cs typeface="Calibri" pitchFamily="34" charset="-120"/>
              </a:rPr>
              <a:t>Tham số người dùng được truyền riêng; cấu trúc truy vấn lấy từ danh mục cố định.</a:t>
            </a:r>
            <a:endParaRPr lang="en-US" sz="1250" dirty="0"/>
          </a:p>
        </p:txBody>
      </p:sp>
      <p:sp>
        <p:nvSpPr>
          <p:cNvPr id="5" name="Shape 3"/>
          <p:cNvSpPr/>
          <p:nvPr/>
        </p:nvSpPr>
        <p:spPr>
          <a:xfrm>
            <a:off x="621792" y="1755648"/>
            <a:ext cx="6400800" cy="4114800"/>
          </a:xfrm>
          <a:prstGeom prst="roundRect">
            <a:avLst>
              <a:gd name="adj" fmla="val 1111"/>
            </a:avLst>
          </a:prstGeom>
          <a:solidFill>
            <a:srgbClr val="10283D"/>
          </a:solidFill>
          <a:ln w="12700">
            <a:solidFill>
              <a:srgbClr val="10283D"/>
            </a:solidFill>
            <a:prstDash val="solid"/>
          </a:ln>
          <a:effectLst>
            <a:outerShdw sx="100000" sy="100000" kx="0" ky="0" algn="bl" rotWithShape="0" blurRad="25400" dist="50800" dir="2700000">
              <a:srgbClr val="26384A">
                <a:alpha val="13000"/>
              </a:srgbClr>
            </a:outerShdw>
          </a:effectLst>
        </p:spPr>
      </p:sp>
      <p:sp>
        <p:nvSpPr>
          <p:cNvPr id="6" name="Text 4"/>
          <p:cNvSpPr/>
          <p:nvPr/>
        </p:nvSpPr>
        <p:spPr>
          <a:xfrm>
            <a:off x="932688" y="2084832"/>
            <a:ext cx="5806440" cy="2697480"/>
          </a:xfrm>
          <a:prstGeom prst="rect">
            <a:avLst/>
          </a:prstGeom>
          <a:noFill/>
          <a:ln/>
        </p:spPr>
        <p:txBody>
          <a:bodyPr wrap="square" lIns="635" tIns="635" rIns="635" bIns="635" rtlCol="0" anchor="ctr">
            <a:normAutofit/>
          </a:bodyPr>
          <a:lstStyle/>
          <a:p>
            <a:pPr indent="0" marL="0">
              <a:buNone/>
            </a:pPr>
            <a:r>
              <a:rPr lang="en-US" sz="1500" dirty="0">
                <a:solidFill>
                  <a:srgbClr val="D9E8F2"/>
                </a:solidFill>
                <a:latin typeface="Courier New" pitchFamily="34" charset="0"/>
                <a:ea typeface="Courier New" pitchFamily="34" charset="-122"/>
                <a:cs typeface="Courier New" pitchFamily="34" charset="-120"/>
              </a:rPr>
              <a:t>MATCH (d:Person)-[:DIRECTED]-&gt;(m:Movie)</a:t>
            </a:r>
            <a:endParaRPr lang="en-US" sz="1500" dirty="0"/>
          </a:p>
          <a:p>
            <a:pPr indent="0" marL="0">
              <a:buNone/>
            </a:pPr>
            <a:r>
              <a:rPr lang="en-US" sz="1500" dirty="0">
                <a:solidFill>
                  <a:srgbClr val="D9E8F2"/>
                </a:solidFill>
                <a:latin typeface="Courier New" pitchFamily="34" charset="0"/>
                <a:ea typeface="Courier New" pitchFamily="34" charset="-122"/>
                <a:cs typeface="Courier New" pitchFamily="34" charset="-120"/>
              </a:rPr>
              <a:t>      -[:HAS_GENRE]-&gt;(g:Genre)</a:t>
            </a:r>
            <a:endParaRPr lang="en-US" sz="1500" dirty="0"/>
          </a:p>
          <a:p>
            <a:pPr indent="0" marL="0">
              <a:buNone/>
            </a:pPr>
            <a:r>
              <a:rPr lang="en-US" sz="1500" dirty="0">
                <a:solidFill>
                  <a:srgbClr val="D9E8F2"/>
                </a:solidFill>
                <a:latin typeface="Courier New" pitchFamily="34" charset="0"/>
                <a:ea typeface="Courier New" pitchFamily="34" charset="-122"/>
                <a:cs typeface="Courier New" pitchFamily="34" charset="-120"/>
              </a:rPr>
              <a:t>WHERE g.name = $genre</a:t>
            </a:r>
            <a:endParaRPr lang="en-US" sz="1500" dirty="0"/>
          </a:p>
          <a:p>
            <a:pPr indent="0" marL="0">
              <a:buNone/>
            </a:pPr>
            <a:r>
              <a:rPr lang="en-US" sz="1500" dirty="0">
                <a:solidFill>
                  <a:srgbClr val="D9E8F2"/>
                </a:solidFill>
                <a:latin typeface="Courier New" pitchFamily="34" charset="0"/>
                <a:ea typeface="Courier New" pitchFamily="34" charset="-122"/>
                <a:cs typeface="Courier New" pitchFamily="34" charset="-120"/>
              </a:rPr>
              <a:t>RETURN d.name, count(m) AS movie_count</a:t>
            </a:r>
            <a:endParaRPr lang="en-US" sz="1500" dirty="0"/>
          </a:p>
          <a:p>
            <a:pPr indent="0" marL="0">
              <a:buNone/>
            </a:pPr>
            <a:r>
              <a:rPr lang="en-US" sz="1500" dirty="0">
                <a:solidFill>
                  <a:srgbClr val="D9E8F2"/>
                </a:solidFill>
                <a:latin typeface="Courier New" pitchFamily="34" charset="0"/>
                <a:ea typeface="Courier New" pitchFamily="34" charset="-122"/>
                <a:cs typeface="Courier New" pitchFamily="34" charset="-120"/>
              </a:rPr>
              <a:t>ORDER BY movie_count DESC</a:t>
            </a:r>
            <a:endParaRPr lang="en-US" sz="1500" dirty="0"/>
          </a:p>
          <a:p>
            <a:pPr indent="0" marL="0">
              <a:buNone/>
            </a:pPr>
            <a:r>
              <a:rPr lang="en-US" sz="1500" dirty="0">
                <a:solidFill>
                  <a:srgbClr val="D9E8F2"/>
                </a:solidFill>
                <a:latin typeface="Courier New" pitchFamily="34" charset="0"/>
                <a:ea typeface="Courier New" pitchFamily="34" charset="-122"/>
                <a:cs typeface="Courier New" pitchFamily="34" charset="-120"/>
              </a:rPr>
              <a:t>LIMIT $limit</a:t>
            </a:r>
            <a:endParaRPr lang="en-US" sz="1500" dirty="0"/>
          </a:p>
        </p:txBody>
      </p:sp>
      <p:sp>
        <p:nvSpPr>
          <p:cNvPr id="7" name="Text 5"/>
          <p:cNvSpPr/>
          <p:nvPr/>
        </p:nvSpPr>
        <p:spPr>
          <a:xfrm>
            <a:off x="932688" y="5138928"/>
            <a:ext cx="2377440" cy="329184"/>
          </a:xfrm>
          <a:prstGeom prst="rect">
            <a:avLst/>
          </a:prstGeom>
          <a:noFill/>
          <a:ln/>
        </p:spPr>
        <p:txBody>
          <a:bodyPr wrap="square" lIns="0" tIns="0" rIns="0" bIns="0" rtlCol="0" anchor="ctr"/>
          <a:lstStyle/>
          <a:p>
            <a:pPr indent="0" marL="0">
              <a:buNone/>
            </a:pPr>
            <a:r>
              <a:rPr lang="en-US" sz="1300" b="1" dirty="0">
                <a:solidFill>
                  <a:srgbClr val="8FD0CC"/>
                </a:solidFill>
                <a:latin typeface="Courier New" pitchFamily="34" charset="0"/>
                <a:ea typeface="Courier New" pitchFamily="34" charset="-122"/>
                <a:cs typeface="Courier New" pitchFamily="34" charset="-120"/>
              </a:rPr>
              <a:t>$genre · $limit</a:t>
            </a:r>
            <a:endParaRPr lang="en-US" sz="1300" dirty="0"/>
          </a:p>
        </p:txBody>
      </p:sp>
      <p:sp>
        <p:nvSpPr>
          <p:cNvPr id="8" name="Shape 6"/>
          <p:cNvSpPr/>
          <p:nvPr/>
        </p:nvSpPr>
        <p:spPr>
          <a:xfrm>
            <a:off x="7360920" y="1783080"/>
            <a:ext cx="4160520" cy="960120"/>
          </a:xfrm>
          <a:prstGeom prst="roundRect">
            <a:avLst>
              <a:gd name="adj" fmla="val 5714"/>
            </a:avLst>
          </a:prstGeom>
          <a:solidFill>
            <a:srgbClr val="FFFFFF"/>
          </a:solidFill>
          <a:ln w="12700">
            <a:solidFill>
              <a:srgbClr val="D7DEE8"/>
            </a:solidFill>
            <a:prstDash val="solid"/>
          </a:ln>
        </p:spPr>
      </p:sp>
      <p:sp>
        <p:nvSpPr>
          <p:cNvPr id="9" name="Shape 7"/>
          <p:cNvSpPr/>
          <p:nvPr/>
        </p:nvSpPr>
        <p:spPr>
          <a:xfrm>
            <a:off x="7562088" y="1984248"/>
            <a:ext cx="384048" cy="384048"/>
          </a:xfrm>
          <a:prstGeom prst="ellipse">
            <a:avLst/>
          </a:prstGeom>
          <a:solidFill>
            <a:srgbClr val="337B80"/>
          </a:solidFill>
          <a:ln w="12700">
            <a:solidFill>
              <a:srgbClr val="337B80"/>
            </a:solidFill>
            <a:prstDash val="solid"/>
          </a:ln>
        </p:spPr>
      </p:sp>
      <p:sp>
        <p:nvSpPr>
          <p:cNvPr id="10" name="Text 8"/>
          <p:cNvSpPr/>
          <p:nvPr/>
        </p:nvSpPr>
        <p:spPr>
          <a:xfrm>
            <a:off x="7562088" y="2039112"/>
            <a:ext cx="384048" cy="14630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Text 9"/>
          <p:cNvSpPr/>
          <p:nvPr/>
        </p:nvSpPr>
        <p:spPr>
          <a:xfrm>
            <a:off x="8074152" y="1965960"/>
            <a:ext cx="3246120" cy="301752"/>
          </a:xfrm>
          <a:prstGeom prst="rect">
            <a:avLst/>
          </a:prstGeom>
          <a:noFill/>
          <a:ln/>
        </p:spPr>
        <p:txBody>
          <a:bodyPr wrap="square" lIns="0" tIns="0" rIns="0" bIns="0" rtlCol="0" anchor="ctr">
            <a:normAutofit/>
          </a:bodyPr>
          <a:lstStyle/>
          <a:p>
            <a:pPr indent="0" marL="0">
              <a:buNone/>
            </a:pPr>
            <a:r>
              <a:rPr lang="en-US" sz="1600" b="1" dirty="0">
                <a:solidFill>
                  <a:srgbClr val="112B46"/>
                </a:solidFill>
                <a:latin typeface="Calibri" pitchFamily="34" charset="0"/>
                <a:ea typeface="Calibri" pitchFamily="34" charset="-122"/>
                <a:cs typeface="Calibri" pitchFamily="34" charset="-120"/>
              </a:rPr>
              <a:t>Tra cứu</a:t>
            </a:r>
            <a:endParaRPr lang="en-US" sz="1600" dirty="0"/>
          </a:p>
        </p:txBody>
      </p:sp>
      <p:sp>
        <p:nvSpPr>
          <p:cNvPr id="12" name="Text 10"/>
          <p:cNvSpPr/>
          <p:nvPr/>
        </p:nvSpPr>
        <p:spPr>
          <a:xfrm>
            <a:off x="7589520" y="2386584"/>
            <a:ext cx="3703320" cy="173736"/>
          </a:xfrm>
          <a:prstGeom prst="rect">
            <a:avLst/>
          </a:prstGeom>
          <a:noFill/>
          <a:ln/>
        </p:spPr>
        <p:txBody>
          <a:bodyPr wrap="square" lIns="0" tIns="0" rIns="0" bIns="0" rtlCol="0" anchor="t">
            <a:normAutofit/>
          </a:bodyPr>
          <a:lstStyle/>
          <a:p>
            <a:pPr indent="0" marL="0">
              <a:buNone/>
            </a:pPr>
            <a:r>
              <a:rPr lang="en-US" sz="1100" dirty="0">
                <a:solidFill>
                  <a:srgbClr val="172B3A"/>
                </a:solidFill>
                <a:latin typeface="Calibri" pitchFamily="34" charset="0"/>
                <a:ea typeface="Calibri" pitchFamily="34" charset="-122"/>
                <a:cs typeface="Calibri" pitchFamily="34" charset="-120"/>
              </a:rPr>
              <a:t>Phim theo đạo diễn · diễn viên theo phim</a:t>
            </a:r>
            <a:endParaRPr lang="en-US" sz="1100" dirty="0"/>
          </a:p>
        </p:txBody>
      </p:sp>
      <p:sp>
        <p:nvSpPr>
          <p:cNvPr id="13" name="Shape 11"/>
          <p:cNvSpPr/>
          <p:nvPr/>
        </p:nvSpPr>
        <p:spPr>
          <a:xfrm>
            <a:off x="7360920" y="2907792"/>
            <a:ext cx="4160520" cy="960120"/>
          </a:xfrm>
          <a:prstGeom prst="roundRect">
            <a:avLst>
              <a:gd name="adj" fmla="val 5714"/>
            </a:avLst>
          </a:prstGeom>
          <a:solidFill>
            <a:srgbClr val="FFF2DF"/>
          </a:solidFill>
          <a:ln w="12700">
            <a:solidFill>
              <a:srgbClr val="D7DEE8"/>
            </a:solidFill>
            <a:prstDash val="solid"/>
          </a:ln>
        </p:spPr>
      </p:sp>
      <p:sp>
        <p:nvSpPr>
          <p:cNvPr id="14" name="Shape 12"/>
          <p:cNvSpPr/>
          <p:nvPr/>
        </p:nvSpPr>
        <p:spPr>
          <a:xfrm>
            <a:off x="7562088" y="3108960"/>
            <a:ext cx="384048" cy="384048"/>
          </a:xfrm>
          <a:prstGeom prst="ellipse">
            <a:avLst/>
          </a:prstGeom>
          <a:solidFill>
            <a:srgbClr val="D38B36"/>
          </a:solidFill>
          <a:ln w="12700">
            <a:solidFill>
              <a:srgbClr val="D38B36"/>
            </a:solidFill>
            <a:prstDash val="solid"/>
          </a:ln>
        </p:spPr>
      </p:sp>
      <p:sp>
        <p:nvSpPr>
          <p:cNvPr id="15" name="Text 13"/>
          <p:cNvSpPr/>
          <p:nvPr/>
        </p:nvSpPr>
        <p:spPr>
          <a:xfrm>
            <a:off x="7562088" y="3163824"/>
            <a:ext cx="384048" cy="14630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6" name="Text 14"/>
          <p:cNvSpPr/>
          <p:nvPr/>
        </p:nvSpPr>
        <p:spPr>
          <a:xfrm>
            <a:off x="8074152" y="3090672"/>
            <a:ext cx="3246120" cy="301752"/>
          </a:xfrm>
          <a:prstGeom prst="rect">
            <a:avLst/>
          </a:prstGeom>
          <a:noFill/>
          <a:ln/>
        </p:spPr>
        <p:txBody>
          <a:bodyPr wrap="square" lIns="0" tIns="0" rIns="0" bIns="0" rtlCol="0" anchor="ctr">
            <a:normAutofit/>
          </a:bodyPr>
          <a:lstStyle/>
          <a:p>
            <a:pPr indent="0" marL="0">
              <a:buNone/>
            </a:pPr>
            <a:r>
              <a:rPr lang="en-US" sz="1600" b="1" dirty="0">
                <a:solidFill>
                  <a:srgbClr val="112B46"/>
                </a:solidFill>
                <a:latin typeface="Calibri" pitchFamily="34" charset="0"/>
                <a:ea typeface="Calibri" pitchFamily="34" charset="-122"/>
                <a:cs typeface="Calibri" pitchFamily="34" charset="-120"/>
              </a:rPr>
              <a:t>Nhiều bước (multi-hop)</a:t>
            </a:r>
            <a:endParaRPr lang="en-US" sz="1600" dirty="0"/>
          </a:p>
        </p:txBody>
      </p:sp>
      <p:sp>
        <p:nvSpPr>
          <p:cNvPr id="17" name="Text 15"/>
          <p:cNvSpPr/>
          <p:nvPr/>
        </p:nvSpPr>
        <p:spPr>
          <a:xfrm>
            <a:off x="7589520" y="3511296"/>
            <a:ext cx="3703320" cy="173736"/>
          </a:xfrm>
          <a:prstGeom prst="rect">
            <a:avLst/>
          </a:prstGeom>
          <a:noFill/>
          <a:ln/>
        </p:spPr>
        <p:txBody>
          <a:bodyPr wrap="square" lIns="0" tIns="0" rIns="0" bIns="0" rtlCol="0" anchor="t">
            <a:normAutofit/>
          </a:bodyPr>
          <a:lstStyle/>
          <a:p>
            <a:pPr indent="0" marL="0">
              <a:buNone/>
            </a:pPr>
            <a:r>
              <a:rPr lang="en-US" sz="1100" dirty="0">
                <a:solidFill>
                  <a:srgbClr val="172B3A"/>
                </a:solidFill>
                <a:latin typeface="Calibri" pitchFamily="34" charset="0"/>
                <a:ea typeface="Calibri" pitchFamily="34" charset="-122"/>
                <a:cs typeface="Calibri" pitchFamily="34" charset="-120"/>
              </a:rPr>
              <a:t>Phim chung · đạo diễn → phim → thể loại</a:t>
            </a:r>
            <a:endParaRPr lang="en-US" sz="1100" dirty="0"/>
          </a:p>
        </p:txBody>
      </p:sp>
      <p:sp>
        <p:nvSpPr>
          <p:cNvPr id="18" name="Shape 16"/>
          <p:cNvSpPr/>
          <p:nvPr/>
        </p:nvSpPr>
        <p:spPr>
          <a:xfrm>
            <a:off x="7360920" y="4032504"/>
            <a:ext cx="4160520" cy="960120"/>
          </a:xfrm>
          <a:prstGeom prst="roundRect">
            <a:avLst>
              <a:gd name="adj" fmla="val 5714"/>
            </a:avLst>
          </a:prstGeom>
          <a:solidFill>
            <a:srgbClr val="F0ECF7"/>
          </a:solidFill>
          <a:ln w="12700">
            <a:solidFill>
              <a:srgbClr val="D7DEE8"/>
            </a:solidFill>
            <a:prstDash val="solid"/>
          </a:ln>
        </p:spPr>
      </p:sp>
      <p:sp>
        <p:nvSpPr>
          <p:cNvPr id="19" name="Shape 17"/>
          <p:cNvSpPr/>
          <p:nvPr/>
        </p:nvSpPr>
        <p:spPr>
          <a:xfrm>
            <a:off x="7562088" y="4233672"/>
            <a:ext cx="384048" cy="384048"/>
          </a:xfrm>
          <a:prstGeom prst="ellipse">
            <a:avLst/>
          </a:prstGeom>
          <a:solidFill>
            <a:srgbClr val="725B9B"/>
          </a:solidFill>
          <a:ln w="12700">
            <a:solidFill>
              <a:srgbClr val="725B9B"/>
            </a:solidFill>
            <a:prstDash val="solid"/>
          </a:ln>
        </p:spPr>
      </p:sp>
      <p:sp>
        <p:nvSpPr>
          <p:cNvPr id="20" name="Text 18"/>
          <p:cNvSpPr/>
          <p:nvPr/>
        </p:nvSpPr>
        <p:spPr>
          <a:xfrm>
            <a:off x="7562088" y="4288536"/>
            <a:ext cx="384048" cy="14630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21" name="Text 19"/>
          <p:cNvSpPr/>
          <p:nvPr/>
        </p:nvSpPr>
        <p:spPr>
          <a:xfrm>
            <a:off x="8074152" y="4215384"/>
            <a:ext cx="3246120" cy="301752"/>
          </a:xfrm>
          <a:prstGeom prst="rect">
            <a:avLst/>
          </a:prstGeom>
          <a:noFill/>
          <a:ln/>
        </p:spPr>
        <p:txBody>
          <a:bodyPr wrap="square" lIns="0" tIns="0" rIns="0" bIns="0" rtlCol="0" anchor="ctr">
            <a:normAutofit/>
          </a:bodyPr>
          <a:lstStyle/>
          <a:p>
            <a:pPr indent="0" marL="0">
              <a:buNone/>
            </a:pPr>
            <a:r>
              <a:rPr lang="en-US" sz="1600" b="1" dirty="0">
                <a:solidFill>
                  <a:srgbClr val="112B46"/>
                </a:solidFill>
                <a:latin typeface="Calibri" pitchFamily="34" charset="0"/>
                <a:ea typeface="Calibri" pitchFamily="34" charset="-122"/>
                <a:cs typeface="Calibri" pitchFamily="34" charset="-120"/>
              </a:rPr>
              <a:t>Đường đi và suy diễn</a:t>
            </a:r>
            <a:endParaRPr lang="en-US" sz="1600" dirty="0"/>
          </a:p>
        </p:txBody>
      </p:sp>
      <p:sp>
        <p:nvSpPr>
          <p:cNvPr id="22" name="Text 20"/>
          <p:cNvSpPr/>
          <p:nvPr/>
        </p:nvSpPr>
        <p:spPr>
          <a:xfrm>
            <a:off x="7589520" y="4636008"/>
            <a:ext cx="3703320" cy="173736"/>
          </a:xfrm>
          <a:prstGeom prst="rect">
            <a:avLst/>
          </a:prstGeom>
          <a:noFill/>
          <a:ln/>
        </p:spPr>
        <p:txBody>
          <a:bodyPr wrap="square" lIns="0" tIns="0" rIns="0" bIns="0" rtlCol="0" anchor="t">
            <a:normAutofit/>
          </a:bodyPr>
          <a:lstStyle/>
          <a:p>
            <a:pPr indent="0" marL="0">
              <a:buNone/>
            </a:pPr>
            <a:r>
              <a:rPr lang="en-US" sz="1100" dirty="0">
                <a:solidFill>
                  <a:srgbClr val="172B3A"/>
                </a:solidFill>
                <a:latin typeface="Calibri" pitchFamily="34" charset="0"/>
                <a:ea typeface="Calibri" pitchFamily="34" charset="-122"/>
                <a:cs typeface="Calibri" pitchFamily="34" charset="-120"/>
              </a:rPr>
              <a:t>shortestPath([*..8]) · CO_STARRED_WITH</a:t>
            </a:r>
            <a:endParaRPr lang="en-US" sz="1100" dirty="0"/>
          </a:p>
        </p:txBody>
      </p:sp>
      <p:sp>
        <p:nvSpPr>
          <p:cNvPr id="23" name="Shape 21"/>
          <p:cNvSpPr/>
          <p:nvPr/>
        </p:nvSpPr>
        <p:spPr>
          <a:xfrm>
            <a:off x="7360920" y="5157216"/>
            <a:ext cx="4160520" cy="713232"/>
          </a:xfrm>
          <a:prstGeom prst="roundRect">
            <a:avLst>
              <a:gd name="adj" fmla="val 7692"/>
            </a:avLst>
          </a:prstGeom>
          <a:solidFill>
            <a:srgbClr val="E8F4EE"/>
          </a:solidFill>
          <a:ln w="12700">
            <a:solidFill>
              <a:srgbClr val="D7DEE8"/>
            </a:solidFill>
            <a:prstDash val="solid"/>
          </a:ln>
        </p:spPr>
      </p:sp>
      <p:sp>
        <p:nvSpPr>
          <p:cNvPr id="24" name="Shape 22"/>
          <p:cNvSpPr/>
          <p:nvPr/>
        </p:nvSpPr>
        <p:spPr>
          <a:xfrm>
            <a:off x="7562088" y="5358384"/>
            <a:ext cx="384048" cy="384048"/>
          </a:xfrm>
          <a:prstGeom prst="ellipse">
            <a:avLst/>
          </a:prstGeom>
          <a:solidFill>
            <a:srgbClr val="3D8B66"/>
          </a:solidFill>
          <a:ln w="12700">
            <a:solidFill>
              <a:srgbClr val="3D8B66"/>
            </a:solidFill>
            <a:prstDash val="solid"/>
          </a:ln>
        </p:spPr>
      </p:sp>
      <p:sp>
        <p:nvSpPr>
          <p:cNvPr id="25" name="Text 23"/>
          <p:cNvSpPr/>
          <p:nvPr/>
        </p:nvSpPr>
        <p:spPr>
          <a:xfrm>
            <a:off x="7562088" y="5413248"/>
            <a:ext cx="384048" cy="14630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26" name="Text 24"/>
          <p:cNvSpPr/>
          <p:nvPr/>
        </p:nvSpPr>
        <p:spPr>
          <a:xfrm>
            <a:off x="8074152" y="5340096"/>
            <a:ext cx="3246120" cy="301752"/>
          </a:xfrm>
          <a:prstGeom prst="rect">
            <a:avLst/>
          </a:prstGeom>
          <a:noFill/>
          <a:ln/>
        </p:spPr>
        <p:txBody>
          <a:bodyPr wrap="square" lIns="0" tIns="0" rIns="0" bIns="0" rtlCol="0" anchor="ctr">
            <a:normAutofit/>
          </a:bodyPr>
          <a:lstStyle/>
          <a:p>
            <a:pPr indent="0" marL="0">
              <a:buNone/>
            </a:pPr>
            <a:r>
              <a:rPr lang="en-US" sz="1300" b="1" dirty="0">
                <a:solidFill>
                  <a:srgbClr val="112B46"/>
                </a:solidFill>
                <a:latin typeface="Calibri" pitchFamily="34" charset="0"/>
                <a:ea typeface="Calibri" pitchFamily="34" charset="-122"/>
                <a:cs typeface="Calibri" pitchFamily="34" charset="-120"/>
              </a:rPr>
              <a:t>An toàn</a:t>
            </a:r>
            <a:endParaRPr lang="en-US" sz="1300" dirty="0"/>
          </a:p>
        </p:txBody>
      </p:sp>
      <p:sp>
        <p:nvSpPr>
          <p:cNvPr id="27" name="Text 25"/>
          <p:cNvSpPr/>
          <p:nvPr/>
        </p:nvSpPr>
        <p:spPr>
          <a:xfrm>
            <a:off x="7589520" y="5760720"/>
            <a:ext cx="3703320" cy="-73152"/>
          </a:xfrm>
          <a:prstGeom prst="rect">
            <a:avLst/>
          </a:prstGeom>
          <a:noFill/>
          <a:ln/>
        </p:spPr>
        <p:txBody>
          <a:bodyPr wrap="square" lIns="0" tIns="0" rIns="0" bIns="0" rtlCol="0" anchor="t">
            <a:normAutofit/>
          </a:bodyPr>
          <a:lstStyle/>
          <a:p>
            <a:pPr indent="0" marL="0">
              <a:buNone/>
            </a:pPr>
            <a:r>
              <a:rPr lang="en-US" sz="1000" dirty="0">
                <a:solidFill>
                  <a:srgbClr val="172B3A"/>
                </a:solidFill>
                <a:latin typeface="Calibri" pitchFamily="34" charset="0"/>
                <a:ea typeface="Calibri" pitchFamily="34" charset="-122"/>
                <a:cs typeface="Calibri" pitchFamily="34" charset="-120"/>
              </a:rPr>
              <a:t>Không nối chuỗi đầu vào vào Cypher.</a:t>
            </a:r>
            <a:endParaRPr lang="en-US" sz="1000" dirty="0"/>
          </a:p>
        </p:txBody>
      </p:sp>
      <p:sp>
        <p:nvSpPr>
          <p:cNvPr id="25" name="Slide Number Placeholder 0"/>
          <p:cNvSpPr>
            <a:spLocks noGrp="1"/>
          </p:cNvSpPr>
          <p:nvPr>
            <p:ph type="sldNum" sz="quarter" idx="4294967295"/>
          </p:nvPr>
        </p:nvSpPr>
        <p:spPr>
          <a:xfrm>
            <a:off x="11631168" y="6473952"/>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97586"/>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30352" y="475488"/>
            <a:ext cx="2194560" cy="219456"/>
          </a:xfrm>
          <a:prstGeom prst="rect">
            <a:avLst/>
          </a:prstGeom>
          <a:noFill/>
          <a:ln/>
        </p:spPr>
        <p:txBody>
          <a:bodyPr wrap="square" lIns="0" tIns="0" rIns="0" bIns="0" rtlCol="0" anchor="ctr"/>
          <a:lstStyle/>
          <a:p>
            <a:pPr indent="0" marL="0">
              <a:buNone/>
            </a:pPr>
            <a:r>
              <a:rPr lang="en-US" sz="900" b="1" spc="140" kern="0" dirty="0">
                <a:solidFill>
                  <a:srgbClr val="337B80"/>
                </a:solidFill>
                <a:latin typeface="Arial" pitchFamily="34" charset="0"/>
                <a:ea typeface="Arial" pitchFamily="34" charset="-122"/>
                <a:cs typeface="Arial" pitchFamily="34" charset="-120"/>
              </a:rPr>
              <a:t>SUY DIỄN</a:t>
            </a:r>
            <a:endParaRPr lang="en-US" sz="900" dirty="0"/>
          </a:p>
        </p:txBody>
      </p:sp>
      <p:sp>
        <p:nvSpPr>
          <p:cNvPr id="3" name="Text 1"/>
          <p:cNvSpPr/>
          <p:nvPr/>
        </p:nvSpPr>
        <p:spPr>
          <a:xfrm>
            <a:off x="530352" y="713232"/>
            <a:ext cx="10881360" cy="502920"/>
          </a:xfrm>
          <a:prstGeom prst="rect">
            <a:avLst/>
          </a:prstGeom>
          <a:noFill/>
          <a:ln/>
        </p:spPr>
        <p:txBody>
          <a:bodyPr wrap="square" lIns="0" tIns="0" rIns="0" bIns="0" rtlCol="0" anchor="ctr">
            <a:normAutofit/>
          </a:bodyPr>
          <a:lstStyle/>
          <a:p>
            <a:pPr indent="0" marL="0">
              <a:buNone/>
            </a:pPr>
            <a:r>
              <a:rPr lang="en-US" sz="2600" b="1" dirty="0">
                <a:solidFill>
                  <a:srgbClr val="112B46"/>
                </a:solidFill>
                <a:latin typeface="Calibri" pitchFamily="34" charset="0"/>
                <a:ea typeface="Calibri" pitchFamily="34" charset="-122"/>
                <a:cs typeface="Calibri" pitchFamily="34" charset="-120"/>
              </a:rPr>
              <a:t>CO_STARRED_WITH là fact suy ra có thể kiểm chứng</a:t>
            </a:r>
            <a:endParaRPr lang="en-US" sz="2600" dirty="0"/>
          </a:p>
        </p:txBody>
      </p:sp>
      <p:sp>
        <p:nvSpPr>
          <p:cNvPr id="4" name="Text 2"/>
          <p:cNvSpPr/>
          <p:nvPr/>
        </p:nvSpPr>
        <p:spPr>
          <a:xfrm>
            <a:off x="548640" y="1261872"/>
            <a:ext cx="10652760" cy="310896"/>
          </a:xfrm>
          <a:prstGeom prst="rect">
            <a:avLst/>
          </a:prstGeom>
          <a:noFill/>
          <a:ln/>
        </p:spPr>
        <p:txBody>
          <a:bodyPr wrap="square" lIns="0" tIns="0" rIns="0" bIns="0" rtlCol="0" anchor="ctr">
            <a:normAutofit/>
          </a:bodyPr>
          <a:lstStyle/>
          <a:p>
            <a:pPr indent="0" marL="0">
              <a:buNone/>
            </a:pPr>
            <a:r>
              <a:rPr lang="en-US" sz="1250" dirty="0">
                <a:solidFill>
                  <a:srgbClr val="697586"/>
                </a:solidFill>
                <a:latin typeface="Calibri" pitchFamily="34" charset="0"/>
                <a:ea typeface="Calibri" pitchFamily="34" charset="-122"/>
                <a:cs typeface="Calibri" pitchFamily="34" charset="-120"/>
              </a:rPr>
              <a:t>Không gọi đây là OWL reasoning: đây là phép vật chất hóa luật nghiệp vụ bằng Cypher.</a:t>
            </a:r>
            <a:endParaRPr lang="en-US" sz="1250" dirty="0"/>
          </a:p>
        </p:txBody>
      </p:sp>
      <p:sp>
        <p:nvSpPr>
          <p:cNvPr id="5" name="Shape 3"/>
          <p:cNvSpPr/>
          <p:nvPr/>
        </p:nvSpPr>
        <p:spPr>
          <a:xfrm>
            <a:off x="594360" y="1755648"/>
            <a:ext cx="7315200" cy="4297680"/>
          </a:xfrm>
          <a:prstGeom prst="roundRect">
            <a:avLst>
              <a:gd name="adj" fmla="val 851"/>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pic>
        <p:nvPicPr>
          <p:cNvPr id="6" name="Image 0" descr="/home/khanhhk/VNPTAI/advanced_database/docs/deliverables/slide/assets/costar_reasoning.png">    </p:cNvPr>
          <p:cNvPicPr>
            <a:picLocks noChangeAspect="1"/>
          </p:cNvPicPr>
          <p:nvPr/>
        </p:nvPicPr>
        <p:blipFill>
          <a:blip r:embed="rId1"/>
          <a:stretch>
            <a:fillRect/>
          </a:stretch>
        </p:blipFill>
        <p:spPr>
          <a:xfrm>
            <a:off x="704088" y="2096005"/>
            <a:ext cx="7095744" cy="3616967"/>
          </a:xfrm>
          <a:prstGeom prst="rect">
            <a:avLst/>
          </a:prstGeom>
        </p:spPr>
      </p:pic>
      <p:sp>
        <p:nvSpPr>
          <p:cNvPr id="7" name="Shape 4"/>
          <p:cNvSpPr/>
          <p:nvPr/>
        </p:nvSpPr>
        <p:spPr>
          <a:xfrm>
            <a:off x="8211312" y="1783080"/>
            <a:ext cx="3383280" cy="1078992"/>
          </a:xfrm>
          <a:prstGeom prst="roundRect">
            <a:avLst>
              <a:gd name="adj" fmla="val 5085"/>
            </a:avLst>
          </a:prstGeom>
          <a:solidFill>
            <a:srgbClr val="EAF2F8"/>
          </a:solidFill>
          <a:ln w="12700">
            <a:solidFill>
              <a:srgbClr val="BDD4E5"/>
            </a:solidFill>
            <a:prstDash val="solid"/>
          </a:ln>
          <a:effectLst>
            <a:outerShdw sx="100000" sy="100000" kx="0" ky="0" algn="bl" rotWithShape="0" blurRad="25400" dist="50800" dir="2700000">
              <a:srgbClr val="26384A">
                <a:alpha val="13000"/>
              </a:srgbClr>
            </a:outerShdw>
          </a:effectLst>
        </p:spPr>
      </p:sp>
      <p:sp>
        <p:nvSpPr>
          <p:cNvPr id="8" name="Text 5"/>
          <p:cNvSpPr/>
          <p:nvPr/>
        </p:nvSpPr>
        <p:spPr>
          <a:xfrm>
            <a:off x="8439912" y="1965960"/>
            <a:ext cx="2926080" cy="301752"/>
          </a:xfrm>
          <a:prstGeom prst="rect">
            <a:avLst/>
          </a:prstGeom>
          <a:noFill/>
          <a:ln/>
        </p:spPr>
        <p:txBody>
          <a:bodyPr wrap="square" lIns="0" tIns="0" rIns="0" bIns="0" rtlCol="0" anchor="ctr">
            <a:normAutofit/>
          </a:bodyPr>
          <a:lstStyle/>
          <a:p>
            <a:pPr indent="0" marL="0">
              <a:buNone/>
            </a:pPr>
            <a:r>
              <a:rPr lang="en-US" sz="1600" b="1" dirty="0">
                <a:solidFill>
                  <a:srgbClr val="337B80"/>
                </a:solidFill>
                <a:latin typeface="Calibri" pitchFamily="34" charset="0"/>
                <a:ea typeface="Calibri" pitchFamily="34" charset="-122"/>
                <a:cs typeface="Calibri" pitchFamily="34" charset="-120"/>
              </a:rPr>
              <a:t>Sự kiện được khẳng định</a:t>
            </a:r>
            <a:endParaRPr lang="en-US" sz="1600" dirty="0"/>
          </a:p>
        </p:txBody>
      </p:sp>
      <p:sp>
        <p:nvSpPr>
          <p:cNvPr id="9" name="Text 6"/>
          <p:cNvSpPr/>
          <p:nvPr/>
        </p:nvSpPr>
        <p:spPr>
          <a:xfrm>
            <a:off x="8439912" y="2386584"/>
            <a:ext cx="2926080" cy="292608"/>
          </a:xfrm>
          <a:prstGeom prst="rect">
            <a:avLst/>
          </a:prstGeom>
          <a:noFill/>
          <a:ln/>
        </p:spPr>
        <p:txBody>
          <a:bodyPr wrap="square" lIns="0" tIns="0" rIns="0" bIns="0" rtlCol="0" anchor="t">
            <a:normAutofit/>
          </a:bodyPr>
          <a:lstStyle/>
          <a:p>
            <a:pPr indent="0" marL="0">
              <a:buNone/>
            </a:pPr>
            <a:r>
              <a:rPr lang="en-US" sz="1150" dirty="0">
                <a:solidFill>
                  <a:srgbClr val="172B3A"/>
                </a:solidFill>
                <a:latin typeface="Calibri" pitchFamily="34" charset="0"/>
                <a:ea typeface="Calibri" pitchFamily="34" charset="-122"/>
                <a:cs typeface="Calibri" pitchFamily="34" charset="-120"/>
              </a:rPr>
              <a:t>ACTED_IN đến từ danh sách vai diễn của TMDB.</a:t>
            </a:r>
            <a:endParaRPr lang="en-US" sz="1150" dirty="0"/>
          </a:p>
        </p:txBody>
      </p:sp>
      <p:sp>
        <p:nvSpPr>
          <p:cNvPr id="10" name="Shape 7"/>
          <p:cNvSpPr/>
          <p:nvPr/>
        </p:nvSpPr>
        <p:spPr>
          <a:xfrm>
            <a:off x="8211312" y="3136392"/>
            <a:ext cx="3383280" cy="1078992"/>
          </a:xfrm>
          <a:prstGeom prst="roundRect">
            <a:avLst>
              <a:gd name="adj" fmla="val 5085"/>
            </a:avLst>
          </a:prstGeom>
          <a:solidFill>
            <a:srgbClr val="F0ECF7"/>
          </a:solidFill>
          <a:ln w="12700">
            <a:solidFill>
              <a:srgbClr val="D9CFE8"/>
            </a:solidFill>
            <a:prstDash val="solid"/>
          </a:ln>
          <a:effectLst>
            <a:outerShdw sx="100000" sy="100000" kx="0" ky="0" algn="bl" rotWithShape="0" blurRad="25400" dist="50800" dir="2700000">
              <a:srgbClr val="26384A">
                <a:alpha val="13000"/>
              </a:srgbClr>
            </a:outerShdw>
          </a:effectLst>
        </p:spPr>
      </p:sp>
      <p:sp>
        <p:nvSpPr>
          <p:cNvPr id="11" name="Text 8"/>
          <p:cNvSpPr/>
          <p:nvPr/>
        </p:nvSpPr>
        <p:spPr>
          <a:xfrm>
            <a:off x="8439912" y="3319272"/>
            <a:ext cx="2926080" cy="301752"/>
          </a:xfrm>
          <a:prstGeom prst="rect">
            <a:avLst/>
          </a:prstGeom>
          <a:noFill/>
          <a:ln/>
        </p:spPr>
        <p:txBody>
          <a:bodyPr wrap="square" lIns="0" tIns="0" rIns="0" bIns="0" rtlCol="0" anchor="ctr">
            <a:normAutofit/>
          </a:bodyPr>
          <a:lstStyle/>
          <a:p>
            <a:pPr indent="0" marL="0">
              <a:buNone/>
            </a:pPr>
            <a:r>
              <a:rPr lang="en-US" sz="1600" b="1" dirty="0">
                <a:solidFill>
                  <a:srgbClr val="725B9B"/>
                </a:solidFill>
                <a:latin typeface="Calibri" pitchFamily="34" charset="0"/>
                <a:ea typeface="Calibri" pitchFamily="34" charset="-122"/>
                <a:cs typeface="Calibri" pitchFamily="34" charset="-120"/>
              </a:rPr>
              <a:t>Sự kiện suy ra</a:t>
            </a:r>
            <a:endParaRPr lang="en-US" sz="1600" dirty="0"/>
          </a:p>
        </p:txBody>
      </p:sp>
      <p:sp>
        <p:nvSpPr>
          <p:cNvPr id="12" name="Text 9"/>
          <p:cNvSpPr/>
          <p:nvPr/>
        </p:nvSpPr>
        <p:spPr>
          <a:xfrm>
            <a:off x="8439912" y="3739896"/>
            <a:ext cx="2926080" cy="292608"/>
          </a:xfrm>
          <a:prstGeom prst="rect">
            <a:avLst/>
          </a:prstGeom>
          <a:noFill/>
          <a:ln/>
        </p:spPr>
        <p:txBody>
          <a:bodyPr wrap="square" lIns="0" tIns="0" rIns="0" bIns="0" rtlCol="0" anchor="t">
            <a:normAutofit/>
          </a:bodyPr>
          <a:lstStyle/>
          <a:p>
            <a:pPr indent="0" marL="0">
              <a:buNone/>
            </a:pPr>
            <a:r>
              <a:rPr lang="en-US" sz="1150" dirty="0">
                <a:solidFill>
                  <a:srgbClr val="172B3A"/>
                </a:solidFill>
                <a:latin typeface="Calibri" pitchFamily="34" charset="0"/>
                <a:ea typeface="Calibri" pitchFamily="34" charset="-122"/>
                <a:cs typeface="Calibri" pitchFamily="34" charset="-120"/>
              </a:rPr>
              <a:t>CO_STARRED_WITH được tạo từ phim chung.</a:t>
            </a:r>
            <a:endParaRPr lang="en-US" sz="1150" dirty="0"/>
          </a:p>
        </p:txBody>
      </p:sp>
      <p:sp>
        <p:nvSpPr>
          <p:cNvPr id="13" name="Shape 10"/>
          <p:cNvSpPr/>
          <p:nvPr/>
        </p:nvSpPr>
        <p:spPr>
          <a:xfrm>
            <a:off x="8211312" y="4489704"/>
            <a:ext cx="3383280" cy="1280160"/>
          </a:xfrm>
          <a:prstGeom prst="roundRect">
            <a:avLst>
              <a:gd name="adj" fmla="val 4286"/>
            </a:avLst>
          </a:prstGeom>
          <a:solidFill>
            <a:srgbClr val="E8F4EE"/>
          </a:solidFill>
          <a:ln w="12700">
            <a:solidFill>
              <a:srgbClr val="C4E2D1"/>
            </a:solidFill>
            <a:prstDash val="solid"/>
          </a:ln>
          <a:effectLst>
            <a:outerShdw sx="100000" sy="100000" kx="0" ky="0" algn="bl" rotWithShape="0" blurRad="25400" dist="50800" dir="2700000">
              <a:srgbClr val="26384A">
                <a:alpha val="13000"/>
              </a:srgbClr>
            </a:outerShdw>
          </a:effectLst>
        </p:spPr>
      </p:sp>
      <p:sp>
        <p:nvSpPr>
          <p:cNvPr id="14" name="Text 11"/>
          <p:cNvSpPr/>
          <p:nvPr/>
        </p:nvSpPr>
        <p:spPr>
          <a:xfrm>
            <a:off x="8439912" y="4672584"/>
            <a:ext cx="2926080" cy="301752"/>
          </a:xfrm>
          <a:prstGeom prst="rect">
            <a:avLst/>
          </a:prstGeom>
          <a:noFill/>
          <a:ln/>
        </p:spPr>
        <p:txBody>
          <a:bodyPr wrap="square" lIns="0" tIns="0" rIns="0" bIns="0" rtlCol="0" anchor="ctr">
            <a:normAutofit/>
          </a:bodyPr>
          <a:lstStyle/>
          <a:p>
            <a:pPr indent="0" marL="0">
              <a:buNone/>
            </a:pPr>
            <a:r>
              <a:rPr lang="en-US" sz="1600" b="1" dirty="0">
                <a:solidFill>
                  <a:srgbClr val="3D8B66"/>
                </a:solidFill>
                <a:latin typeface="Calibri" pitchFamily="34" charset="0"/>
                <a:ea typeface="Calibri" pitchFamily="34" charset="-122"/>
                <a:cs typeface="Calibri" pitchFamily="34" charset="-120"/>
              </a:rPr>
              <a:t>Bằng chứng</a:t>
            </a:r>
            <a:endParaRPr lang="en-US" sz="1600" dirty="0"/>
          </a:p>
        </p:txBody>
      </p:sp>
      <p:sp>
        <p:nvSpPr>
          <p:cNvPr id="15" name="Text 12"/>
          <p:cNvSpPr/>
          <p:nvPr/>
        </p:nvSpPr>
        <p:spPr>
          <a:xfrm>
            <a:off x="8439912" y="5093208"/>
            <a:ext cx="2926080" cy="493776"/>
          </a:xfrm>
          <a:prstGeom prst="rect">
            <a:avLst/>
          </a:prstGeom>
          <a:noFill/>
          <a:ln/>
        </p:spPr>
        <p:txBody>
          <a:bodyPr wrap="square" lIns="0" tIns="0" rIns="0" bIns="0" rtlCol="0" anchor="t">
            <a:normAutofit/>
          </a:bodyPr>
          <a:lstStyle/>
          <a:p>
            <a:pPr indent="0" marL="0">
              <a:buNone/>
            </a:pPr>
            <a:r>
              <a:rPr lang="en-US" sz="1200" dirty="0">
                <a:solidFill>
                  <a:srgbClr val="172B3A"/>
                </a:solidFill>
                <a:latin typeface="Calibri" pitchFamily="34" charset="0"/>
                <a:ea typeface="Calibri" pitchFamily="34" charset="-122"/>
                <a:cs typeface="Calibri" pitchFamily="34" charset="-120"/>
              </a:rPr>
              <a:t>movie_count · evidence_movie_ids · derived=true</a:t>
            </a:r>
            <a:endParaRPr lang="en-US" sz="1200" dirty="0"/>
          </a:p>
        </p:txBody>
      </p:sp>
      <p:sp>
        <p:nvSpPr>
          <p:cNvPr id="16" name="Text 13"/>
          <p:cNvSpPr/>
          <p:nvPr/>
        </p:nvSpPr>
        <p:spPr>
          <a:xfrm>
            <a:off x="548640" y="6254496"/>
            <a:ext cx="10744200" cy="182880"/>
          </a:xfrm>
          <a:prstGeom prst="rect">
            <a:avLst/>
          </a:prstGeom>
          <a:noFill/>
          <a:ln/>
        </p:spPr>
        <p:txBody>
          <a:bodyPr wrap="square" lIns="0" tIns="0" rIns="0" bIns="0" rtlCol="0" anchor="ctr"/>
          <a:lstStyle/>
          <a:p>
            <a:pPr indent="0" marL="0">
              <a:buNone/>
            </a:pPr>
            <a:r>
              <a:rPr lang="en-US" sz="750" i="1" dirty="0">
                <a:solidFill>
                  <a:srgbClr val="7C8796"/>
                </a:solidFill>
                <a:latin typeface="Arial" pitchFamily="34" charset="0"/>
                <a:ea typeface="Arial" pitchFamily="34" charset="-122"/>
                <a:cs typeface="Arial" pitchFamily="34" charset="-120"/>
              </a:rPr>
              <a:t>Nguồn chỉnh sửa: report_latex/images/sources/costar_reasoning.drawio</a:t>
            </a:r>
            <a:endParaRPr lang="en-US" sz="750" dirty="0"/>
          </a:p>
        </p:txBody>
      </p:sp>
      <p:sp>
        <p:nvSpPr>
          <p:cNvPr id="25" name="Slide Number Placeholder 0"/>
          <p:cNvSpPr>
            <a:spLocks noGrp="1"/>
          </p:cNvSpPr>
          <p:nvPr>
            <p:ph type="sldNum" sz="quarter" idx="4294967295"/>
          </p:nvPr>
        </p:nvSpPr>
        <p:spPr>
          <a:xfrm>
            <a:off x="11631168" y="6473952"/>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97586"/>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30352" y="475488"/>
            <a:ext cx="2194560" cy="219456"/>
          </a:xfrm>
          <a:prstGeom prst="rect">
            <a:avLst/>
          </a:prstGeom>
          <a:noFill/>
          <a:ln/>
        </p:spPr>
        <p:txBody>
          <a:bodyPr wrap="square" lIns="0" tIns="0" rIns="0" bIns="0" rtlCol="0" anchor="ctr"/>
          <a:lstStyle/>
          <a:p>
            <a:pPr indent="0" marL="0">
              <a:buNone/>
            </a:pPr>
            <a:r>
              <a:rPr lang="en-US" sz="900" b="1" spc="140" kern="0" dirty="0">
                <a:solidFill>
                  <a:srgbClr val="337B80"/>
                </a:solidFill>
                <a:latin typeface="Arial" pitchFamily="34" charset="0"/>
                <a:ea typeface="Arial" pitchFamily="34" charset="-122"/>
                <a:cs typeface="Arial" pitchFamily="34" charset="-120"/>
              </a:rPr>
              <a:t>ỨNG DỤNG HỎI–ĐÁP</a:t>
            </a:r>
            <a:endParaRPr lang="en-US" sz="900" dirty="0"/>
          </a:p>
        </p:txBody>
      </p:sp>
      <p:sp>
        <p:nvSpPr>
          <p:cNvPr id="3" name="Text 1"/>
          <p:cNvSpPr/>
          <p:nvPr/>
        </p:nvSpPr>
        <p:spPr>
          <a:xfrm>
            <a:off x="530352" y="713232"/>
            <a:ext cx="10881360" cy="502920"/>
          </a:xfrm>
          <a:prstGeom prst="rect">
            <a:avLst/>
          </a:prstGeom>
          <a:noFill/>
          <a:ln/>
        </p:spPr>
        <p:txBody>
          <a:bodyPr wrap="square" lIns="0" tIns="0" rIns="0" bIns="0" rtlCol="0" anchor="ctr">
            <a:normAutofit/>
          </a:bodyPr>
          <a:lstStyle/>
          <a:p>
            <a:pPr indent="0" marL="0">
              <a:buNone/>
            </a:pPr>
            <a:r>
              <a:rPr lang="en-US" sz="2600" b="1" dirty="0">
                <a:solidFill>
                  <a:srgbClr val="112B46"/>
                </a:solidFill>
                <a:latin typeface="Calibri" pitchFamily="34" charset="0"/>
                <a:ea typeface="Calibri" pitchFamily="34" charset="-122"/>
                <a:cs typeface="Calibri" pitchFamily="34" charset="-120"/>
              </a:rPr>
              <a:t>Giá trị của chatbot nằm ở việc điều phối Cypher an toàn</a:t>
            </a:r>
            <a:endParaRPr lang="en-US" sz="2600" dirty="0"/>
          </a:p>
        </p:txBody>
      </p:sp>
      <p:sp>
        <p:nvSpPr>
          <p:cNvPr id="4" name="Text 2"/>
          <p:cNvSpPr/>
          <p:nvPr/>
        </p:nvSpPr>
        <p:spPr>
          <a:xfrm>
            <a:off x="548640" y="1261872"/>
            <a:ext cx="10652760" cy="310896"/>
          </a:xfrm>
          <a:prstGeom prst="rect">
            <a:avLst/>
          </a:prstGeom>
          <a:noFill/>
          <a:ln/>
        </p:spPr>
        <p:txBody>
          <a:bodyPr wrap="square" lIns="0" tIns="0" rIns="0" bIns="0" rtlCol="0" anchor="ctr">
            <a:normAutofit/>
          </a:bodyPr>
          <a:lstStyle/>
          <a:p>
            <a:pPr indent="0" marL="0">
              <a:buNone/>
            </a:pPr>
            <a:r>
              <a:rPr lang="en-US" sz="1250" dirty="0">
                <a:solidFill>
                  <a:srgbClr val="697586"/>
                </a:solidFill>
                <a:latin typeface="Calibri" pitchFamily="34" charset="0"/>
                <a:ea typeface="Calibri" pitchFamily="34" charset="-122"/>
                <a:cs typeface="Calibri" pitchFamily="34" charset="-120"/>
              </a:rPr>
              <a:t>Ngôn ngữ tự nhiên chọn ý định và thực thể; Neo4j thực hiện traversal và trả bằng chứng.</a:t>
            </a:r>
            <a:endParaRPr lang="en-US" sz="1250" dirty="0"/>
          </a:p>
        </p:txBody>
      </p:sp>
      <p:sp>
        <p:nvSpPr>
          <p:cNvPr id="5" name="Shape 3"/>
          <p:cNvSpPr/>
          <p:nvPr/>
        </p:nvSpPr>
        <p:spPr>
          <a:xfrm>
            <a:off x="566928" y="1755648"/>
            <a:ext cx="7543800" cy="4297680"/>
          </a:xfrm>
          <a:prstGeom prst="roundRect">
            <a:avLst>
              <a:gd name="adj" fmla="val 851"/>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pic>
        <p:nvPicPr>
          <p:cNvPr id="6" name="Image 0" descr="/home/khanhhk/VNPTAI/advanced_database/docs/deliverables/slide/assets/qa_sequence.png">    </p:cNvPr>
          <p:cNvPicPr>
            <a:picLocks noChangeAspect="1"/>
          </p:cNvPicPr>
          <p:nvPr/>
        </p:nvPicPr>
        <p:blipFill>
          <a:blip r:embed="rId1"/>
          <a:stretch>
            <a:fillRect/>
          </a:stretch>
        </p:blipFill>
        <p:spPr>
          <a:xfrm>
            <a:off x="676656" y="2201322"/>
            <a:ext cx="7324344" cy="3406332"/>
          </a:xfrm>
          <a:prstGeom prst="rect">
            <a:avLst/>
          </a:prstGeom>
        </p:spPr>
      </p:pic>
      <p:sp>
        <p:nvSpPr>
          <p:cNvPr id="7" name="Shape 4"/>
          <p:cNvSpPr/>
          <p:nvPr/>
        </p:nvSpPr>
        <p:spPr>
          <a:xfrm>
            <a:off x="8394192" y="1773936"/>
            <a:ext cx="3182112" cy="1051560"/>
          </a:xfrm>
          <a:prstGeom prst="roundRect">
            <a:avLst>
              <a:gd name="adj" fmla="val 5217"/>
            </a:avLst>
          </a:prstGeom>
          <a:solidFill>
            <a:srgbClr val="EAF2F8"/>
          </a:solidFill>
          <a:ln w="12700">
            <a:solidFill>
              <a:srgbClr val="BDD4E5"/>
            </a:solidFill>
            <a:prstDash val="solid"/>
          </a:ln>
          <a:effectLst>
            <a:outerShdw sx="100000" sy="100000" kx="0" ky="0" algn="bl" rotWithShape="0" blurRad="25400" dist="50800" dir="2700000">
              <a:srgbClr val="26384A">
                <a:alpha val="13000"/>
              </a:srgbClr>
            </a:outerShdw>
          </a:effectLst>
        </p:spPr>
      </p:sp>
      <p:sp>
        <p:nvSpPr>
          <p:cNvPr id="8" name="Text 5"/>
          <p:cNvSpPr/>
          <p:nvPr/>
        </p:nvSpPr>
        <p:spPr>
          <a:xfrm>
            <a:off x="8622792" y="1956816"/>
            <a:ext cx="2724912" cy="301752"/>
          </a:xfrm>
          <a:prstGeom prst="rect">
            <a:avLst/>
          </a:prstGeom>
          <a:noFill/>
          <a:ln/>
        </p:spPr>
        <p:txBody>
          <a:bodyPr wrap="square" lIns="0" tIns="0" rIns="0" bIns="0" rtlCol="0" anchor="ctr">
            <a:normAutofit/>
          </a:bodyPr>
          <a:lstStyle/>
          <a:p>
            <a:pPr indent="0" marL="0">
              <a:buNone/>
            </a:pPr>
            <a:r>
              <a:rPr lang="en-US" sz="1500" b="1" dirty="0">
                <a:solidFill>
                  <a:srgbClr val="112B46"/>
                </a:solidFill>
                <a:latin typeface="Calibri" pitchFamily="34" charset="0"/>
                <a:ea typeface="Calibri" pitchFamily="34" charset="-122"/>
                <a:cs typeface="Calibri" pitchFamily="34" charset="-120"/>
              </a:rPr>
              <a:t>9 ý định cố định</a:t>
            </a:r>
            <a:endParaRPr lang="en-US" sz="1500" dirty="0"/>
          </a:p>
        </p:txBody>
      </p:sp>
      <p:sp>
        <p:nvSpPr>
          <p:cNvPr id="9" name="Text 6"/>
          <p:cNvSpPr/>
          <p:nvPr/>
        </p:nvSpPr>
        <p:spPr>
          <a:xfrm>
            <a:off x="8622792" y="2377440"/>
            <a:ext cx="2724912" cy="265176"/>
          </a:xfrm>
          <a:prstGeom prst="rect">
            <a:avLst/>
          </a:prstGeom>
          <a:noFill/>
          <a:ln/>
        </p:spPr>
        <p:txBody>
          <a:bodyPr wrap="square" lIns="0" tIns="0" rIns="0" bIns="0" rtlCol="0" anchor="t">
            <a:normAutofit/>
          </a:bodyPr>
          <a:lstStyle/>
          <a:p>
            <a:pPr indent="0" marL="0">
              <a:buNone/>
            </a:pPr>
            <a:r>
              <a:rPr lang="en-US" sz="1050" dirty="0">
                <a:solidFill>
                  <a:srgbClr val="172B3A"/>
                </a:solidFill>
                <a:latin typeface="Calibri" pitchFamily="34" charset="0"/>
                <a:ea typeface="Calibri" pitchFamily="34" charset="-122"/>
                <a:cs typeface="Calibri" pitchFamily="34" charset="-120"/>
              </a:rPr>
              <a:t>Tra cứu · tổng hợp · nhiều bước · đường đi ngắn nhất</a:t>
            </a:r>
            <a:endParaRPr lang="en-US" sz="1050" dirty="0"/>
          </a:p>
        </p:txBody>
      </p:sp>
      <p:sp>
        <p:nvSpPr>
          <p:cNvPr id="10" name="Shape 7"/>
          <p:cNvSpPr/>
          <p:nvPr/>
        </p:nvSpPr>
        <p:spPr>
          <a:xfrm>
            <a:off x="8394192" y="3081528"/>
            <a:ext cx="3182112" cy="1051560"/>
          </a:xfrm>
          <a:prstGeom prst="roundRect">
            <a:avLst>
              <a:gd name="adj" fmla="val 5217"/>
            </a:avLst>
          </a:prstGeom>
          <a:solidFill>
            <a:srgbClr val="FFF2DF"/>
          </a:solidFill>
          <a:ln w="12700">
            <a:solidFill>
              <a:srgbClr val="F1D5AA"/>
            </a:solidFill>
            <a:prstDash val="solid"/>
          </a:ln>
          <a:effectLst>
            <a:outerShdw sx="100000" sy="100000" kx="0" ky="0" algn="bl" rotWithShape="0" blurRad="25400" dist="50800" dir="2700000">
              <a:srgbClr val="26384A">
                <a:alpha val="13000"/>
              </a:srgbClr>
            </a:outerShdw>
          </a:effectLst>
        </p:spPr>
      </p:sp>
      <p:sp>
        <p:nvSpPr>
          <p:cNvPr id="11" name="Text 8"/>
          <p:cNvSpPr/>
          <p:nvPr/>
        </p:nvSpPr>
        <p:spPr>
          <a:xfrm>
            <a:off x="8622792" y="3264408"/>
            <a:ext cx="2724912" cy="301752"/>
          </a:xfrm>
          <a:prstGeom prst="rect">
            <a:avLst/>
          </a:prstGeom>
          <a:noFill/>
          <a:ln/>
        </p:spPr>
        <p:txBody>
          <a:bodyPr wrap="square" lIns="0" tIns="0" rIns="0" bIns="0" rtlCol="0" anchor="ctr">
            <a:normAutofit/>
          </a:bodyPr>
          <a:lstStyle/>
          <a:p>
            <a:pPr indent="0" marL="0">
              <a:buNone/>
            </a:pPr>
            <a:r>
              <a:rPr lang="en-US" sz="1500" b="1" dirty="0">
                <a:solidFill>
                  <a:srgbClr val="112B46"/>
                </a:solidFill>
                <a:latin typeface="Calibri" pitchFamily="34" charset="0"/>
                <a:ea typeface="Calibri" pitchFamily="34" charset="-122"/>
                <a:cs typeface="Calibri" pitchFamily="34" charset="-120"/>
              </a:rPr>
              <a:t>Liên kết thực thể</a:t>
            </a:r>
            <a:endParaRPr lang="en-US" sz="1500" dirty="0"/>
          </a:p>
        </p:txBody>
      </p:sp>
      <p:sp>
        <p:nvSpPr>
          <p:cNvPr id="12" name="Text 9"/>
          <p:cNvSpPr/>
          <p:nvPr/>
        </p:nvSpPr>
        <p:spPr>
          <a:xfrm>
            <a:off x="8622792" y="3685032"/>
            <a:ext cx="2724912" cy="265176"/>
          </a:xfrm>
          <a:prstGeom prst="rect">
            <a:avLst/>
          </a:prstGeom>
          <a:noFill/>
          <a:ln/>
        </p:spPr>
        <p:txBody>
          <a:bodyPr wrap="square" lIns="0" tIns="0" rIns="0" bIns="0" rtlCol="0" anchor="t">
            <a:normAutofit/>
          </a:bodyPr>
          <a:lstStyle/>
          <a:p>
            <a:pPr indent="0" marL="0">
              <a:buNone/>
            </a:pPr>
            <a:r>
              <a:rPr lang="en-US" sz="1050" dirty="0">
                <a:solidFill>
                  <a:srgbClr val="172B3A"/>
                </a:solidFill>
                <a:latin typeface="Calibri" pitchFamily="34" charset="0"/>
                <a:ea typeface="Calibri" pitchFamily="34" charset="-122"/>
                <a:cs typeface="Calibri" pitchFamily="34" charset="-120"/>
              </a:rPr>
              <a:t>“Cristopher Nolan” → Christopher Nolan + độ tin cậy</a:t>
            </a:r>
            <a:endParaRPr lang="en-US" sz="1050" dirty="0"/>
          </a:p>
        </p:txBody>
      </p:sp>
      <p:sp>
        <p:nvSpPr>
          <p:cNvPr id="13" name="Shape 10"/>
          <p:cNvSpPr/>
          <p:nvPr/>
        </p:nvSpPr>
        <p:spPr>
          <a:xfrm>
            <a:off x="8394192" y="4389120"/>
            <a:ext cx="3182112" cy="1051560"/>
          </a:xfrm>
          <a:prstGeom prst="roundRect">
            <a:avLst>
              <a:gd name="adj" fmla="val 5217"/>
            </a:avLst>
          </a:prstGeom>
          <a:solidFill>
            <a:srgbClr val="E8F4EE"/>
          </a:solidFill>
          <a:ln w="12700">
            <a:solidFill>
              <a:srgbClr val="C4E2D1"/>
            </a:solidFill>
            <a:prstDash val="solid"/>
          </a:ln>
          <a:effectLst>
            <a:outerShdw sx="100000" sy="100000" kx="0" ky="0" algn="bl" rotWithShape="0" blurRad="25400" dist="50800" dir="2700000">
              <a:srgbClr val="26384A">
                <a:alpha val="13000"/>
              </a:srgbClr>
            </a:outerShdw>
          </a:effectLst>
        </p:spPr>
      </p:sp>
      <p:sp>
        <p:nvSpPr>
          <p:cNvPr id="14" name="Text 11"/>
          <p:cNvSpPr/>
          <p:nvPr/>
        </p:nvSpPr>
        <p:spPr>
          <a:xfrm>
            <a:off x="8622792" y="4572000"/>
            <a:ext cx="2724912" cy="301752"/>
          </a:xfrm>
          <a:prstGeom prst="rect">
            <a:avLst/>
          </a:prstGeom>
          <a:noFill/>
          <a:ln/>
        </p:spPr>
        <p:txBody>
          <a:bodyPr wrap="square" lIns="0" tIns="0" rIns="0" bIns="0" rtlCol="0" anchor="ctr">
            <a:normAutofit/>
          </a:bodyPr>
          <a:lstStyle/>
          <a:p>
            <a:pPr indent="0" marL="0">
              <a:buNone/>
            </a:pPr>
            <a:r>
              <a:rPr lang="en-US" sz="1500" b="1" dirty="0">
                <a:solidFill>
                  <a:srgbClr val="112B46"/>
                </a:solidFill>
                <a:latin typeface="Calibri" pitchFamily="34" charset="0"/>
                <a:ea typeface="Calibri" pitchFamily="34" charset="-122"/>
                <a:cs typeface="Calibri" pitchFamily="34" charset="-120"/>
              </a:rPr>
              <a:t>Bằng chứng đồ thị</a:t>
            </a:r>
            <a:endParaRPr lang="en-US" sz="1500" dirty="0"/>
          </a:p>
        </p:txBody>
      </p:sp>
      <p:sp>
        <p:nvSpPr>
          <p:cNvPr id="15" name="Text 12"/>
          <p:cNvSpPr/>
          <p:nvPr/>
        </p:nvSpPr>
        <p:spPr>
          <a:xfrm>
            <a:off x="8622792" y="4992624"/>
            <a:ext cx="2724912" cy="265176"/>
          </a:xfrm>
          <a:prstGeom prst="rect">
            <a:avLst/>
          </a:prstGeom>
          <a:noFill/>
          <a:ln/>
        </p:spPr>
        <p:txBody>
          <a:bodyPr wrap="square" lIns="0" tIns="0" rIns="0" bIns="0" rtlCol="0" anchor="t">
            <a:normAutofit/>
          </a:bodyPr>
          <a:lstStyle/>
          <a:p>
            <a:pPr indent="0" marL="0">
              <a:buNone/>
            </a:pPr>
            <a:r>
              <a:rPr lang="en-US" sz="1050" dirty="0">
                <a:solidFill>
                  <a:srgbClr val="172B3A"/>
                </a:solidFill>
                <a:latin typeface="Calibri" pitchFamily="34" charset="0"/>
                <a:ea typeface="Calibri" pitchFamily="34" charset="-122"/>
                <a:cs typeface="Calibri" pitchFamily="34" charset="-120"/>
              </a:rPr>
              <a:t>Ý định · thực thể · bản ghi/đường đi · độ trễ</a:t>
            </a:r>
            <a:endParaRPr lang="en-US" sz="1050" dirty="0"/>
          </a:p>
        </p:txBody>
      </p:sp>
      <p:sp>
        <p:nvSpPr>
          <p:cNvPr id="16" name="Text 13"/>
          <p:cNvSpPr/>
          <p:nvPr/>
        </p:nvSpPr>
        <p:spPr>
          <a:xfrm>
            <a:off x="548640" y="6254496"/>
            <a:ext cx="10744200" cy="182880"/>
          </a:xfrm>
          <a:prstGeom prst="rect">
            <a:avLst/>
          </a:prstGeom>
          <a:noFill/>
          <a:ln/>
        </p:spPr>
        <p:txBody>
          <a:bodyPr wrap="square" lIns="0" tIns="0" rIns="0" bIns="0" rtlCol="0" anchor="ctr"/>
          <a:lstStyle/>
          <a:p>
            <a:pPr indent="0" marL="0">
              <a:buNone/>
            </a:pPr>
            <a:r>
              <a:rPr lang="en-US" sz="750" i="1" dirty="0">
                <a:solidFill>
                  <a:srgbClr val="7C8796"/>
                </a:solidFill>
                <a:latin typeface="Arial" pitchFamily="34" charset="0"/>
                <a:ea typeface="Arial" pitchFamily="34" charset="-122"/>
                <a:cs typeface="Arial" pitchFamily="34" charset="-120"/>
              </a:rPr>
              <a:t>Nguồn chỉnh sửa: report_latex/images/sources/qa_sequence.drawio</a:t>
            </a:r>
            <a:endParaRPr lang="en-US" sz="750" dirty="0"/>
          </a:p>
        </p:txBody>
      </p:sp>
      <p:sp>
        <p:nvSpPr>
          <p:cNvPr id="25" name="Slide Number Placeholder 0"/>
          <p:cNvSpPr>
            <a:spLocks noGrp="1"/>
          </p:cNvSpPr>
          <p:nvPr>
            <p:ph type="sldNum" sz="quarter" idx="4294967295"/>
          </p:nvPr>
        </p:nvSpPr>
        <p:spPr>
          <a:xfrm>
            <a:off x="11631168" y="6473952"/>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97586"/>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30352" y="475488"/>
            <a:ext cx="2194560" cy="219456"/>
          </a:xfrm>
          <a:prstGeom prst="rect">
            <a:avLst/>
          </a:prstGeom>
          <a:noFill/>
          <a:ln/>
        </p:spPr>
        <p:txBody>
          <a:bodyPr wrap="square" lIns="0" tIns="0" rIns="0" bIns="0" rtlCol="0" anchor="ctr"/>
          <a:lstStyle/>
          <a:p>
            <a:pPr indent="0" marL="0">
              <a:buNone/>
            </a:pPr>
            <a:r>
              <a:rPr lang="en-US" sz="900" b="1" spc="140" kern="0" dirty="0">
                <a:solidFill>
                  <a:srgbClr val="337B80"/>
                </a:solidFill>
                <a:latin typeface="Arial" pitchFamily="34" charset="0"/>
                <a:ea typeface="Arial" pitchFamily="34" charset="-122"/>
                <a:cs typeface="Arial" pitchFamily="34" charset="-120"/>
              </a:rPr>
              <a:t>ỨNG DỤNG GỢI Ý</a:t>
            </a:r>
            <a:endParaRPr lang="en-US" sz="900" dirty="0"/>
          </a:p>
        </p:txBody>
      </p:sp>
      <p:sp>
        <p:nvSpPr>
          <p:cNvPr id="3" name="Text 1"/>
          <p:cNvSpPr/>
          <p:nvPr/>
        </p:nvSpPr>
        <p:spPr>
          <a:xfrm>
            <a:off x="530352" y="713232"/>
            <a:ext cx="10881360" cy="502920"/>
          </a:xfrm>
          <a:prstGeom prst="rect">
            <a:avLst/>
          </a:prstGeom>
          <a:noFill/>
          <a:ln/>
        </p:spPr>
        <p:txBody>
          <a:bodyPr wrap="square" lIns="0" tIns="0" rIns="0" bIns="0" rtlCol="0" anchor="ctr">
            <a:normAutofit/>
          </a:bodyPr>
          <a:lstStyle/>
          <a:p>
            <a:pPr indent="0" marL="0">
              <a:buNone/>
            </a:pPr>
            <a:r>
              <a:rPr lang="en-US" sz="2600" b="1" dirty="0">
                <a:solidFill>
                  <a:srgbClr val="112B46"/>
                </a:solidFill>
                <a:latin typeface="Calibri" pitchFamily="34" charset="0"/>
                <a:ea typeface="Calibri" pitchFamily="34" charset="-122"/>
                <a:cs typeface="Calibri" pitchFamily="34" charset="-120"/>
              </a:rPr>
              <a:t>Gợi ý giải thích được bằng đóng góp trên đồ thị</a:t>
            </a:r>
            <a:endParaRPr lang="en-US" sz="2600" dirty="0"/>
          </a:p>
        </p:txBody>
      </p:sp>
      <p:sp>
        <p:nvSpPr>
          <p:cNvPr id="4" name="Text 2"/>
          <p:cNvSpPr/>
          <p:nvPr/>
        </p:nvSpPr>
        <p:spPr>
          <a:xfrm>
            <a:off x="548640" y="1261872"/>
            <a:ext cx="10652760" cy="310896"/>
          </a:xfrm>
          <a:prstGeom prst="rect">
            <a:avLst/>
          </a:prstGeom>
          <a:noFill/>
          <a:ln/>
        </p:spPr>
        <p:txBody>
          <a:bodyPr wrap="square" lIns="0" tIns="0" rIns="0" bIns="0" rtlCol="0" anchor="ctr">
            <a:normAutofit/>
          </a:bodyPr>
          <a:lstStyle/>
          <a:p>
            <a:pPr indent="0" marL="0">
              <a:buNone/>
            </a:pPr>
            <a:r>
              <a:rPr lang="en-US" sz="1250" dirty="0">
                <a:solidFill>
                  <a:srgbClr val="697586"/>
                </a:solidFill>
                <a:latin typeface="Calibri" pitchFamily="34" charset="0"/>
                <a:ea typeface="Calibri" pitchFamily="34" charset="-122"/>
                <a:cs typeface="Calibri" pitchFamily="34" charset="-120"/>
              </a:rPr>
              <a:t>IDF giảm ảnh hưởng của đặc trưng quá phổ biến; mỗi đề xuất kèm các đặc trưng chung tạo điểm.</a:t>
            </a:r>
            <a:endParaRPr lang="en-US" sz="1250" dirty="0"/>
          </a:p>
        </p:txBody>
      </p:sp>
      <p:sp>
        <p:nvSpPr>
          <p:cNvPr id="5" name="Shape 3"/>
          <p:cNvSpPr/>
          <p:nvPr/>
        </p:nvSpPr>
        <p:spPr>
          <a:xfrm>
            <a:off x="576072" y="1755648"/>
            <a:ext cx="7114032" cy="4297680"/>
          </a:xfrm>
          <a:prstGeom prst="roundRect">
            <a:avLst>
              <a:gd name="adj" fmla="val 851"/>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pic>
        <p:nvPicPr>
          <p:cNvPr id="6" name="Image 0" descr="/home/khanhhk/VNPTAI/advanced_database/docs/deliverables/slide/assets/recommendation_explanation.png">    </p:cNvPr>
          <p:cNvPicPr>
            <a:picLocks noChangeAspect="1"/>
          </p:cNvPicPr>
          <p:nvPr/>
        </p:nvPicPr>
        <p:blipFill>
          <a:blip r:embed="rId1"/>
          <a:stretch>
            <a:fillRect/>
          </a:stretch>
        </p:blipFill>
        <p:spPr>
          <a:xfrm>
            <a:off x="685800" y="2952448"/>
            <a:ext cx="6894576" cy="1904081"/>
          </a:xfrm>
          <a:prstGeom prst="rect">
            <a:avLst/>
          </a:prstGeom>
        </p:spPr>
      </p:pic>
      <p:sp>
        <p:nvSpPr>
          <p:cNvPr id="7" name="Text 4"/>
          <p:cNvSpPr/>
          <p:nvPr/>
        </p:nvSpPr>
        <p:spPr>
          <a:xfrm>
            <a:off x="7973568" y="1847088"/>
            <a:ext cx="3566160" cy="566928"/>
          </a:xfrm>
          <a:prstGeom prst="rect">
            <a:avLst/>
          </a:prstGeom>
          <a:noFill/>
          <a:ln/>
        </p:spPr>
        <p:txBody>
          <a:bodyPr wrap="square" lIns="0" tIns="0" rIns="0" bIns="0" rtlCol="0" anchor="ctr">
            <a:normAutofit/>
          </a:bodyPr>
          <a:lstStyle/>
          <a:p>
            <a:pPr indent="0" marL="0">
              <a:buNone/>
            </a:pPr>
            <a:r>
              <a:rPr lang="en-US" sz="1250" b="1" dirty="0">
                <a:solidFill>
                  <a:srgbClr val="112B46"/>
                </a:solidFill>
                <a:latin typeface="Courier New" pitchFamily="34" charset="0"/>
                <a:ea typeface="Courier New" pitchFamily="34" charset="-122"/>
                <a:cs typeface="Courier New" pitchFamily="34" charset="-120"/>
              </a:rPr>
              <a:t>contribution = type_weight × (1 + ln((N+1)/(df+1)))</a:t>
            </a:r>
            <a:endParaRPr lang="en-US" sz="1250" dirty="0"/>
          </a:p>
        </p:txBody>
      </p:sp>
      <p:sp>
        <p:nvSpPr>
          <p:cNvPr id="8" name="Text 5"/>
          <p:cNvSpPr/>
          <p:nvPr/>
        </p:nvSpPr>
        <p:spPr>
          <a:xfrm>
            <a:off x="8001000" y="2697480"/>
            <a:ext cx="1143000" cy="219456"/>
          </a:xfrm>
          <a:prstGeom prst="rect">
            <a:avLst/>
          </a:prstGeom>
          <a:noFill/>
          <a:ln/>
        </p:spPr>
        <p:txBody>
          <a:bodyPr wrap="square" lIns="0" tIns="0" rIns="0" bIns="0" rtlCol="0" anchor="ctr"/>
          <a:lstStyle/>
          <a:p>
            <a:pPr indent="0" marL="0">
              <a:buNone/>
            </a:pPr>
            <a:r>
              <a:rPr lang="en-US" sz="1200" b="1" dirty="0">
                <a:solidFill>
                  <a:srgbClr val="172B3A"/>
                </a:solidFill>
                <a:latin typeface="Calibri" pitchFamily="34" charset="0"/>
                <a:ea typeface="Calibri" pitchFamily="34" charset="-122"/>
                <a:cs typeface="Calibri" pitchFamily="34" charset="-120"/>
              </a:rPr>
              <a:t>Đạo diễn</a:t>
            </a:r>
            <a:endParaRPr lang="en-US" sz="1200" dirty="0"/>
          </a:p>
        </p:txBody>
      </p:sp>
      <p:sp>
        <p:nvSpPr>
          <p:cNvPr id="9" name="Shape 6"/>
          <p:cNvSpPr/>
          <p:nvPr/>
        </p:nvSpPr>
        <p:spPr>
          <a:xfrm>
            <a:off x="9217152" y="2724912"/>
            <a:ext cx="1536192" cy="164592"/>
          </a:xfrm>
          <a:prstGeom prst="rect">
            <a:avLst/>
          </a:prstGeom>
          <a:solidFill>
            <a:srgbClr val="725B9B"/>
          </a:solidFill>
          <a:ln w="12700">
            <a:solidFill>
              <a:srgbClr val="725B9B"/>
            </a:solidFill>
            <a:prstDash val="solid"/>
          </a:ln>
        </p:spPr>
      </p:sp>
      <p:sp>
        <p:nvSpPr>
          <p:cNvPr id="10" name="Text 7"/>
          <p:cNvSpPr/>
          <p:nvPr/>
        </p:nvSpPr>
        <p:spPr>
          <a:xfrm>
            <a:off x="10881360" y="2697480"/>
            <a:ext cx="457200" cy="219456"/>
          </a:xfrm>
          <a:prstGeom prst="rect">
            <a:avLst/>
          </a:prstGeom>
          <a:noFill/>
          <a:ln/>
        </p:spPr>
        <p:txBody>
          <a:bodyPr wrap="square" lIns="0" tIns="0" rIns="0" bIns="0" rtlCol="0" anchor="ctr"/>
          <a:lstStyle/>
          <a:p>
            <a:pPr algn="r" indent="0" marL="0">
              <a:buNone/>
            </a:pPr>
            <a:r>
              <a:rPr lang="en-US" sz="1100" b="1" dirty="0">
                <a:solidFill>
                  <a:srgbClr val="725B9B"/>
                </a:solidFill>
                <a:latin typeface="Arial" pitchFamily="34" charset="0"/>
                <a:ea typeface="Arial" pitchFamily="34" charset="-122"/>
                <a:cs typeface="Arial" pitchFamily="34" charset="-120"/>
              </a:rPr>
              <a:t>3,0</a:t>
            </a:r>
            <a:endParaRPr lang="en-US" sz="1100" dirty="0"/>
          </a:p>
        </p:txBody>
      </p:sp>
      <p:sp>
        <p:nvSpPr>
          <p:cNvPr id="11" name="Text 8"/>
          <p:cNvSpPr/>
          <p:nvPr/>
        </p:nvSpPr>
        <p:spPr>
          <a:xfrm>
            <a:off x="8001000" y="3355848"/>
            <a:ext cx="1143000" cy="219456"/>
          </a:xfrm>
          <a:prstGeom prst="rect">
            <a:avLst/>
          </a:prstGeom>
          <a:noFill/>
          <a:ln/>
        </p:spPr>
        <p:txBody>
          <a:bodyPr wrap="square" lIns="0" tIns="0" rIns="0" bIns="0" rtlCol="0" anchor="ctr"/>
          <a:lstStyle/>
          <a:p>
            <a:pPr indent="0" marL="0">
              <a:buNone/>
            </a:pPr>
            <a:r>
              <a:rPr lang="en-US" sz="1200" b="1" dirty="0">
                <a:solidFill>
                  <a:srgbClr val="172B3A"/>
                </a:solidFill>
                <a:latin typeface="Calibri" pitchFamily="34" charset="0"/>
                <a:ea typeface="Calibri" pitchFamily="34" charset="-122"/>
                <a:cs typeface="Calibri" pitchFamily="34" charset="-120"/>
              </a:rPr>
              <a:t>Diễn viên</a:t>
            </a:r>
            <a:endParaRPr lang="en-US" sz="1200" dirty="0"/>
          </a:p>
        </p:txBody>
      </p:sp>
      <p:sp>
        <p:nvSpPr>
          <p:cNvPr id="12" name="Shape 9"/>
          <p:cNvSpPr/>
          <p:nvPr/>
        </p:nvSpPr>
        <p:spPr>
          <a:xfrm>
            <a:off x="9217152" y="3383280"/>
            <a:ext cx="1024128" cy="164592"/>
          </a:xfrm>
          <a:prstGeom prst="rect">
            <a:avLst/>
          </a:prstGeom>
          <a:solidFill>
            <a:srgbClr val="337B80"/>
          </a:solidFill>
          <a:ln w="12700">
            <a:solidFill>
              <a:srgbClr val="337B80"/>
            </a:solidFill>
            <a:prstDash val="solid"/>
          </a:ln>
        </p:spPr>
      </p:sp>
      <p:sp>
        <p:nvSpPr>
          <p:cNvPr id="13" name="Text 10"/>
          <p:cNvSpPr/>
          <p:nvPr/>
        </p:nvSpPr>
        <p:spPr>
          <a:xfrm>
            <a:off x="10881360" y="3355848"/>
            <a:ext cx="457200" cy="219456"/>
          </a:xfrm>
          <a:prstGeom prst="rect">
            <a:avLst/>
          </a:prstGeom>
          <a:noFill/>
          <a:ln/>
        </p:spPr>
        <p:txBody>
          <a:bodyPr wrap="square" lIns="0" tIns="0" rIns="0" bIns="0" rtlCol="0" anchor="ctr"/>
          <a:lstStyle/>
          <a:p>
            <a:pPr algn="r" indent="0" marL="0">
              <a:buNone/>
            </a:pPr>
            <a:r>
              <a:rPr lang="en-US" sz="1100" b="1" dirty="0">
                <a:solidFill>
                  <a:srgbClr val="337B80"/>
                </a:solidFill>
                <a:latin typeface="Arial" pitchFamily="34" charset="0"/>
                <a:ea typeface="Arial" pitchFamily="34" charset="-122"/>
                <a:cs typeface="Arial" pitchFamily="34" charset="-120"/>
              </a:rPr>
              <a:t>2,0</a:t>
            </a:r>
            <a:endParaRPr lang="en-US" sz="1100" dirty="0"/>
          </a:p>
        </p:txBody>
      </p:sp>
      <p:sp>
        <p:nvSpPr>
          <p:cNvPr id="14" name="Text 11"/>
          <p:cNvSpPr/>
          <p:nvPr/>
        </p:nvSpPr>
        <p:spPr>
          <a:xfrm>
            <a:off x="8001000" y="4014216"/>
            <a:ext cx="1143000" cy="219456"/>
          </a:xfrm>
          <a:prstGeom prst="rect">
            <a:avLst/>
          </a:prstGeom>
          <a:noFill/>
          <a:ln/>
        </p:spPr>
        <p:txBody>
          <a:bodyPr wrap="square" lIns="0" tIns="0" rIns="0" bIns="0" rtlCol="0" anchor="ctr"/>
          <a:lstStyle/>
          <a:p>
            <a:pPr indent="0" marL="0">
              <a:buNone/>
            </a:pPr>
            <a:r>
              <a:rPr lang="en-US" sz="1200" b="1" dirty="0">
                <a:solidFill>
                  <a:srgbClr val="172B3A"/>
                </a:solidFill>
                <a:latin typeface="Calibri" pitchFamily="34" charset="0"/>
                <a:ea typeface="Calibri" pitchFamily="34" charset="-122"/>
                <a:cs typeface="Calibri" pitchFamily="34" charset="-120"/>
              </a:rPr>
              <a:t>Thể loại</a:t>
            </a:r>
            <a:endParaRPr lang="en-US" sz="1200" dirty="0"/>
          </a:p>
        </p:txBody>
      </p:sp>
      <p:sp>
        <p:nvSpPr>
          <p:cNvPr id="15" name="Shape 12"/>
          <p:cNvSpPr/>
          <p:nvPr/>
        </p:nvSpPr>
        <p:spPr>
          <a:xfrm>
            <a:off x="9217152" y="4041648"/>
            <a:ext cx="768096" cy="164592"/>
          </a:xfrm>
          <a:prstGeom prst="rect">
            <a:avLst/>
          </a:prstGeom>
          <a:solidFill>
            <a:srgbClr val="3D8B66"/>
          </a:solidFill>
          <a:ln w="12700">
            <a:solidFill>
              <a:srgbClr val="3D8B66"/>
            </a:solidFill>
            <a:prstDash val="solid"/>
          </a:ln>
        </p:spPr>
      </p:sp>
      <p:sp>
        <p:nvSpPr>
          <p:cNvPr id="16" name="Text 13"/>
          <p:cNvSpPr/>
          <p:nvPr/>
        </p:nvSpPr>
        <p:spPr>
          <a:xfrm>
            <a:off x="10881360" y="4014216"/>
            <a:ext cx="457200" cy="219456"/>
          </a:xfrm>
          <a:prstGeom prst="rect">
            <a:avLst/>
          </a:prstGeom>
          <a:noFill/>
          <a:ln/>
        </p:spPr>
        <p:txBody>
          <a:bodyPr wrap="square" lIns="0" tIns="0" rIns="0" bIns="0" rtlCol="0" anchor="ctr"/>
          <a:lstStyle/>
          <a:p>
            <a:pPr algn="r" indent="0" marL="0">
              <a:buNone/>
            </a:pPr>
            <a:r>
              <a:rPr lang="en-US" sz="1100" b="1" dirty="0">
                <a:solidFill>
                  <a:srgbClr val="3D8B66"/>
                </a:solidFill>
                <a:latin typeface="Arial" pitchFamily="34" charset="0"/>
                <a:ea typeface="Arial" pitchFamily="34" charset="-122"/>
                <a:cs typeface="Arial" pitchFamily="34" charset="-120"/>
              </a:rPr>
              <a:t>1,5</a:t>
            </a:r>
            <a:endParaRPr lang="en-US" sz="1100" dirty="0"/>
          </a:p>
        </p:txBody>
      </p:sp>
      <p:sp>
        <p:nvSpPr>
          <p:cNvPr id="17" name="Text 14"/>
          <p:cNvSpPr/>
          <p:nvPr/>
        </p:nvSpPr>
        <p:spPr>
          <a:xfrm>
            <a:off x="8001000" y="4672584"/>
            <a:ext cx="1143000" cy="219456"/>
          </a:xfrm>
          <a:prstGeom prst="rect">
            <a:avLst/>
          </a:prstGeom>
          <a:noFill/>
          <a:ln/>
        </p:spPr>
        <p:txBody>
          <a:bodyPr wrap="square" lIns="0" tIns="0" rIns="0" bIns="0" rtlCol="0" anchor="ctr"/>
          <a:lstStyle/>
          <a:p>
            <a:pPr indent="0" marL="0">
              <a:buNone/>
            </a:pPr>
            <a:r>
              <a:rPr lang="en-US" sz="1200" b="1" dirty="0">
                <a:solidFill>
                  <a:srgbClr val="172B3A"/>
                </a:solidFill>
                <a:latin typeface="Calibri" pitchFamily="34" charset="0"/>
                <a:ea typeface="Calibri" pitchFamily="34" charset="-122"/>
                <a:cs typeface="Calibri" pitchFamily="34" charset="-120"/>
              </a:rPr>
              <a:t>Từ khóa</a:t>
            </a:r>
            <a:endParaRPr lang="en-US" sz="1200" dirty="0"/>
          </a:p>
        </p:txBody>
      </p:sp>
      <p:sp>
        <p:nvSpPr>
          <p:cNvPr id="18" name="Shape 15"/>
          <p:cNvSpPr/>
          <p:nvPr/>
        </p:nvSpPr>
        <p:spPr>
          <a:xfrm>
            <a:off x="9217152" y="4700016"/>
            <a:ext cx="512064" cy="164592"/>
          </a:xfrm>
          <a:prstGeom prst="rect">
            <a:avLst/>
          </a:prstGeom>
          <a:solidFill>
            <a:srgbClr val="D38B36"/>
          </a:solidFill>
          <a:ln w="12700">
            <a:solidFill>
              <a:srgbClr val="D38B36"/>
            </a:solidFill>
            <a:prstDash val="solid"/>
          </a:ln>
        </p:spPr>
      </p:sp>
      <p:sp>
        <p:nvSpPr>
          <p:cNvPr id="19" name="Text 16"/>
          <p:cNvSpPr/>
          <p:nvPr/>
        </p:nvSpPr>
        <p:spPr>
          <a:xfrm>
            <a:off x="10881360" y="4672584"/>
            <a:ext cx="457200" cy="219456"/>
          </a:xfrm>
          <a:prstGeom prst="rect">
            <a:avLst/>
          </a:prstGeom>
          <a:noFill/>
          <a:ln/>
        </p:spPr>
        <p:txBody>
          <a:bodyPr wrap="square" lIns="0" tIns="0" rIns="0" bIns="0" rtlCol="0" anchor="ctr"/>
          <a:lstStyle/>
          <a:p>
            <a:pPr algn="r" indent="0" marL="0">
              <a:buNone/>
            </a:pPr>
            <a:r>
              <a:rPr lang="en-US" sz="1100" b="1" dirty="0">
                <a:solidFill>
                  <a:srgbClr val="D38B36"/>
                </a:solidFill>
                <a:latin typeface="Arial" pitchFamily="34" charset="0"/>
                <a:ea typeface="Arial" pitchFamily="34" charset="-122"/>
                <a:cs typeface="Arial" pitchFamily="34" charset="-120"/>
              </a:rPr>
              <a:t>1,0</a:t>
            </a:r>
            <a:endParaRPr lang="en-US" sz="1100" dirty="0"/>
          </a:p>
        </p:txBody>
      </p:sp>
      <p:sp>
        <p:nvSpPr>
          <p:cNvPr id="20" name="Shape 17"/>
          <p:cNvSpPr/>
          <p:nvPr/>
        </p:nvSpPr>
        <p:spPr>
          <a:xfrm>
            <a:off x="7973568" y="5413248"/>
            <a:ext cx="3566160" cy="658368"/>
          </a:xfrm>
          <a:prstGeom prst="roundRect">
            <a:avLst>
              <a:gd name="adj" fmla="val 8333"/>
            </a:avLst>
          </a:prstGeom>
          <a:solidFill>
            <a:srgbClr val="E8F4EE"/>
          </a:solidFill>
          <a:ln w="12700">
            <a:solidFill>
              <a:srgbClr val="C4E2D1"/>
            </a:solidFill>
            <a:prstDash val="solid"/>
          </a:ln>
        </p:spPr>
      </p:sp>
      <p:sp>
        <p:nvSpPr>
          <p:cNvPr id="21" name="Text 18"/>
          <p:cNvSpPr/>
          <p:nvPr/>
        </p:nvSpPr>
        <p:spPr>
          <a:xfrm>
            <a:off x="8202168" y="5596128"/>
            <a:ext cx="3108960" cy="301752"/>
          </a:xfrm>
          <a:prstGeom prst="rect">
            <a:avLst/>
          </a:prstGeom>
          <a:noFill/>
          <a:ln/>
        </p:spPr>
        <p:txBody>
          <a:bodyPr wrap="square" lIns="0" tIns="0" rIns="0" bIns="0" rtlCol="0" anchor="ctr">
            <a:normAutofit/>
          </a:bodyPr>
          <a:lstStyle/>
          <a:p>
            <a:pPr indent="0" marL="0">
              <a:buNone/>
            </a:pPr>
            <a:r>
              <a:rPr lang="en-US" sz="1200" b="1" dirty="0">
                <a:solidFill>
                  <a:srgbClr val="112B46"/>
                </a:solidFill>
                <a:latin typeface="Calibri" pitchFamily="34" charset="0"/>
                <a:ea typeface="Calibri" pitchFamily="34" charset="-122"/>
                <a:cs typeface="Calibri" pitchFamily="34" charset="-120"/>
              </a:rPr>
              <a:t>Điểm được tính trong Neo4j</a:t>
            </a:r>
            <a:endParaRPr lang="en-US" sz="1200" dirty="0"/>
          </a:p>
        </p:txBody>
      </p:sp>
      <p:sp>
        <p:nvSpPr>
          <p:cNvPr id="22" name="Text 19"/>
          <p:cNvSpPr/>
          <p:nvPr/>
        </p:nvSpPr>
        <p:spPr>
          <a:xfrm>
            <a:off x="8202168" y="6016752"/>
            <a:ext cx="3108960" cy="-128016"/>
          </a:xfrm>
          <a:prstGeom prst="rect">
            <a:avLst/>
          </a:prstGeom>
          <a:noFill/>
          <a:ln/>
        </p:spPr>
        <p:txBody>
          <a:bodyPr wrap="square" lIns="0" tIns="0" rIns="0" bIns="0" rtlCol="0" anchor="t">
            <a:normAutofit/>
          </a:bodyPr>
          <a:lstStyle/>
          <a:p>
            <a:pPr indent="0" marL="0">
              <a:buNone/>
            </a:pPr>
            <a:r>
              <a:rPr lang="en-US" sz="950" dirty="0">
                <a:solidFill>
                  <a:srgbClr val="172B3A"/>
                </a:solidFill>
                <a:latin typeface="Calibri" pitchFamily="34" charset="0"/>
                <a:ea typeface="Calibri" pitchFamily="34" charset="-122"/>
                <a:cs typeface="Calibri" pitchFamily="34" charset="-120"/>
              </a:rPr>
              <a:t>Không tải toàn bộ graph về Python.</a:t>
            </a:r>
            <a:endParaRPr lang="en-US" sz="950" dirty="0"/>
          </a:p>
        </p:txBody>
      </p:sp>
      <p:sp>
        <p:nvSpPr>
          <p:cNvPr id="23" name="Text 20"/>
          <p:cNvSpPr/>
          <p:nvPr/>
        </p:nvSpPr>
        <p:spPr>
          <a:xfrm>
            <a:off x="548640" y="6254496"/>
            <a:ext cx="10744200" cy="182880"/>
          </a:xfrm>
          <a:prstGeom prst="rect">
            <a:avLst/>
          </a:prstGeom>
          <a:noFill/>
          <a:ln/>
        </p:spPr>
        <p:txBody>
          <a:bodyPr wrap="square" lIns="0" tIns="0" rIns="0" bIns="0" rtlCol="0" anchor="ctr"/>
          <a:lstStyle/>
          <a:p>
            <a:pPr indent="0" marL="0">
              <a:buNone/>
            </a:pPr>
            <a:r>
              <a:rPr lang="en-US" sz="750" i="1" dirty="0">
                <a:solidFill>
                  <a:srgbClr val="7C8796"/>
                </a:solidFill>
                <a:latin typeface="Arial" pitchFamily="34" charset="0"/>
                <a:ea typeface="Arial" pitchFamily="34" charset="-122"/>
                <a:cs typeface="Arial" pitchFamily="34" charset="-120"/>
              </a:rPr>
              <a:t>Nguồn chỉnh sửa: report_latex/images/sources/recommendation_explanation.drawio</a:t>
            </a:r>
            <a:endParaRPr lang="en-US" sz="750" dirty="0"/>
          </a:p>
        </p:txBody>
      </p:sp>
      <p:sp>
        <p:nvSpPr>
          <p:cNvPr id="25" name="Slide Number Placeholder 0"/>
          <p:cNvSpPr>
            <a:spLocks noGrp="1"/>
          </p:cNvSpPr>
          <p:nvPr>
            <p:ph type="sldNum" sz="quarter" idx="4294967295"/>
          </p:nvPr>
        </p:nvSpPr>
        <p:spPr>
          <a:xfrm>
            <a:off x="11631168" y="6473952"/>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97586"/>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30352" y="475488"/>
            <a:ext cx="2194560" cy="219456"/>
          </a:xfrm>
          <a:prstGeom prst="rect">
            <a:avLst/>
          </a:prstGeom>
          <a:noFill/>
          <a:ln/>
        </p:spPr>
        <p:txBody>
          <a:bodyPr wrap="square" lIns="0" tIns="0" rIns="0" bIns="0" rtlCol="0" anchor="ctr"/>
          <a:lstStyle/>
          <a:p>
            <a:pPr indent="0" marL="0">
              <a:buNone/>
            </a:pPr>
            <a:r>
              <a:rPr lang="en-US" sz="900" b="1" spc="140" kern="0" dirty="0">
                <a:solidFill>
                  <a:srgbClr val="337B80"/>
                </a:solidFill>
                <a:latin typeface="Arial" pitchFamily="34" charset="0"/>
                <a:ea typeface="Arial" pitchFamily="34" charset="-122"/>
                <a:cs typeface="Arial" pitchFamily="34" charset="-120"/>
              </a:rPr>
              <a:t>NGỮ NGHĨA</a:t>
            </a:r>
            <a:endParaRPr lang="en-US" sz="900" dirty="0"/>
          </a:p>
        </p:txBody>
      </p:sp>
      <p:sp>
        <p:nvSpPr>
          <p:cNvPr id="3" name="Text 1"/>
          <p:cNvSpPr/>
          <p:nvPr/>
        </p:nvSpPr>
        <p:spPr>
          <a:xfrm>
            <a:off x="530352" y="713232"/>
            <a:ext cx="10881360" cy="502920"/>
          </a:xfrm>
          <a:prstGeom prst="rect">
            <a:avLst/>
          </a:prstGeom>
          <a:noFill/>
          <a:ln/>
        </p:spPr>
        <p:txBody>
          <a:bodyPr wrap="square" lIns="0" tIns="0" rIns="0" bIns="0" rtlCol="0" anchor="ctr">
            <a:normAutofit/>
          </a:bodyPr>
          <a:lstStyle/>
          <a:p>
            <a:pPr indent="0" marL="0">
              <a:buNone/>
            </a:pPr>
            <a:r>
              <a:rPr lang="en-US" sz="2600" b="1" dirty="0">
                <a:solidFill>
                  <a:srgbClr val="112B46"/>
                </a:solidFill>
                <a:latin typeface="Calibri" pitchFamily="34" charset="0"/>
                <a:ea typeface="Calibri" pitchFamily="34" charset="-122"/>
                <a:cs typeface="Calibri" pitchFamily="34" charset="-120"/>
              </a:rPr>
              <a:t>RDF/OWL bổ sung lớp chuẩn ngữ nghĩa</a:t>
            </a:r>
            <a:endParaRPr lang="en-US" sz="2600" dirty="0"/>
          </a:p>
        </p:txBody>
      </p:sp>
      <p:sp>
        <p:nvSpPr>
          <p:cNvPr id="4" name="Text 2"/>
          <p:cNvSpPr/>
          <p:nvPr/>
        </p:nvSpPr>
        <p:spPr>
          <a:xfrm>
            <a:off x="548640" y="1261872"/>
            <a:ext cx="10652760" cy="310896"/>
          </a:xfrm>
          <a:prstGeom prst="rect">
            <a:avLst/>
          </a:prstGeom>
          <a:noFill/>
          <a:ln/>
        </p:spPr>
        <p:txBody>
          <a:bodyPr wrap="square" lIns="0" tIns="0" rIns="0" bIns="0" rtlCol="0" anchor="ctr">
            <a:normAutofit/>
          </a:bodyPr>
          <a:lstStyle/>
          <a:p>
            <a:pPr indent="0" marL="0">
              <a:buNone/>
            </a:pPr>
            <a:r>
              <a:rPr lang="en-US" sz="1250" dirty="0">
                <a:solidFill>
                  <a:srgbClr val="697586"/>
                </a:solidFill>
                <a:latin typeface="Calibri" pitchFamily="34" charset="0"/>
                <a:ea typeface="Calibri" pitchFamily="34" charset="-122"/>
                <a:cs typeface="Calibri" pitchFamily="34" charset="-120"/>
              </a:rPr>
              <a:t>Cùng ảnh chụp dữ liệu được xuất sang Turtle với URI ổn định và truy vấn bằng SPARQL.</a:t>
            </a:r>
            <a:endParaRPr lang="en-US" sz="1250" dirty="0"/>
          </a:p>
        </p:txBody>
      </p:sp>
      <p:sp>
        <p:nvSpPr>
          <p:cNvPr id="5" name="Shape 3"/>
          <p:cNvSpPr/>
          <p:nvPr/>
        </p:nvSpPr>
        <p:spPr>
          <a:xfrm>
            <a:off x="566928" y="1755648"/>
            <a:ext cx="7086600" cy="4279392"/>
          </a:xfrm>
          <a:prstGeom prst="roundRect">
            <a:avLst>
              <a:gd name="adj" fmla="val 855"/>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pic>
        <p:nvPicPr>
          <p:cNvPr id="6" name="Image 0" descr="/home/khanhhk/VNPTAI/advanced_database/docs/deliverables/slide/assets/ontology_diagram.png">    </p:cNvPr>
          <p:cNvPicPr>
            <a:picLocks noChangeAspect="1"/>
          </p:cNvPicPr>
          <p:nvPr/>
        </p:nvPicPr>
        <p:blipFill>
          <a:blip r:embed="rId1"/>
          <a:stretch>
            <a:fillRect/>
          </a:stretch>
        </p:blipFill>
        <p:spPr>
          <a:xfrm>
            <a:off x="676656" y="2558786"/>
            <a:ext cx="6867144" cy="2673116"/>
          </a:xfrm>
          <a:prstGeom prst="rect">
            <a:avLst/>
          </a:prstGeom>
        </p:spPr>
      </p:pic>
      <p:sp>
        <p:nvSpPr>
          <p:cNvPr id="7" name="Shape 4"/>
          <p:cNvSpPr/>
          <p:nvPr/>
        </p:nvSpPr>
        <p:spPr>
          <a:xfrm>
            <a:off x="7973568" y="1773936"/>
            <a:ext cx="3584448" cy="1005840"/>
          </a:xfrm>
          <a:prstGeom prst="roundRect">
            <a:avLst>
              <a:gd name="adj" fmla="val 5455"/>
            </a:avLst>
          </a:prstGeom>
          <a:solidFill>
            <a:srgbClr val="F0ECF7"/>
          </a:solidFill>
          <a:ln w="12700">
            <a:solidFill>
              <a:srgbClr val="D9CFE8"/>
            </a:solidFill>
            <a:prstDash val="solid"/>
          </a:ln>
        </p:spPr>
      </p:sp>
      <p:sp>
        <p:nvSpPr>
          <p:cNvPr id="8" name="Shape 5"/>
          <p:cNvSpPr/>
          <p:nvPr/>
        </p:nvSpPr>
        <p:spPr>
          <a:xfrm>
            <a:off x="8174736" y="1975104"/>
            <a:ext cx="384048" cy="384048"/>
          </a:xfrm>
          <a:prstGeom prst="ellipse">
            <a:avLst/>
          </a:prstGeom>
          <a:solidFill>
            <a:srgbClr val="337B80"/>
          </a:solidFill>
          <a:ln w="12700">
            <a:solidFill>
              <a:srgbClr val="337B80"/>
            </a:solidFill>
            <a:prstDash val="solid"/>
          </a:ln>
        </p:spPr>
      </p:sp>
      <p:sp>
        <p:nvSpPr>
          <p:cNvPr id="9" name="Text 6"/>
          <p:cNvSpPr/>
          <p:nvPr/>
        </p:nvSpPr>
        <p:spPr>
          <a:xfrm>
            <a:off x="8174736" y="2029968"/>
            <a:ext cx="384048" cy="14630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0" name="Text 7"/>
          <p:cNvSpPr/>
          <p:nvPr/>
        </p:nvSpPr>
        <p:spPr>
          <a:xfrm>
            <a:off x="8686800" y="1956816"/>
            <a:ext cx="2670048" cy="301752"/>
          </a:xfrm>
          <a:prstGeom prst="rect">
            <a:avLst/>
          </a:prstGeom>
          <a:noFill/>
          <a:ln/>
        </p:spPr>
        <p:txBody>
          <a:bodyPr wrap="square" lIns="0" tIns="0" rIns="0" bIns="0" rtlCol="0" anchor="ctr">
            <a:normAutofit/>
          </a:bodyPr>
          <a:lstStyle/>
          <a:p>
            <a:pPr indent="0" marL="0">
              <a:buNone/>
            </a:pPr>
            <a:r>
              <a:rPr lang="en-US" sz="1600" b="1" dirty="0">
                <a:solidFill>
                  <a:srgbClr val="112B46"/>
                </a:solidFill>
                <a:latin typeface="Calibri" pitchFamily="34" charset="0"/>
                <a:ea typeface="Calibri" pitchFamily="34" charset="-122"/>
                <a:cs typeface="Calibri" pitchFamily="34" charset="-120"/>
              </a:rPr>
              <a:t>Khả năng liên thông</a:t>
            </a:r>
            <a:endParaRPr lang="en-US" sz="1600" dirty="0"/>
          </a:p>
        </p:txBody>
      </p:sp>
      <p:sp>
        <p:nvSpPr>
          <p:cNvPr id="11" name="Text 8"/>
          <p:cNvSpPr/>
          <p:nvPr/>
        </p:nvSpPr>
        <p:spPr>
          <a:xfrm>
            <a:off x="8202168" y="2377440"/>
            <a:ext cx="3127248" cy="219456"/>
          </a:xfrm>
          <a:prstGeom prst="rect">
            <a:avLst/>
          </a:prstGeom>
          <a:noFill/>
          <a:ln/>
        </p:spPr>
        <p:txBody>
          <a:bodyPr wrap="square" lIns="0" tIns="0" rIns="0" bIns="0" rtlCol="0" anchor="t">
            <a:normAutofit/>
          </a:bodyPr>
          <a:lstStyle/>
          <a:p>
            <a:pPr indent="0" marL="0">
              <a:buNone/>
            </a:pPr>
            <a:r>
              <a:rPr lang="en-US" sz="1150" dirty="0">
                <a:solidFill>
                  <a:srgbClr val="172B3A"/>
                </a:solidFill>
                <a:latin typeface="Calibri" pitchFamily="34" charset="0"/>
                <a:ea typeface="Calibri" pitchFamily="34" charset="-122"/>
                <a:cs typeface="Calibri" pitchFamily="34" charset="-120"/>
              </a:rPr>
              <a:t>URI ổn định và từ vựng chuẩn hóa.</a:t>
            </a:r>
            <a:endParaRPr lang="en-US" sz="1150" dirty="0"/>
          </a:p>
        </p:txBody>
      </p:sp>
      <p:sp>
        <p:nvSpPr>
          <p:cNvPr id="12" name="Shape 9"/>
          <p:cNvSpPr/>
          <p:nvPr/>
        </p:nvSpPr>
        <p:spPr>
          <a:xfrm>
            <a:off x="7973568" y="2999232"/>
            <a:ext cx="3584448" cy="1005840"/>
          </a:xfrm>
          <a:prstGeom prst="roundRect">
            <a:avLst>
              <a:gd name="adj" fmla="val 5455"/>
            </a:avLst>
          </a:prstGeom>
          <a:solidFill>
            <a:srgbClr val="F0ECF7"/>
          </a:solidFill>
          <a:ln w="12700">
            <a:solidFill>
              <a:srgbClr val="D9CFE8"/>
            </a:solidFill>
            <a:prstDash val="solid"/>
          </a:ln>
        </p:spPr>
      </p:sp>
      <p:sp>
        <p:nvSpPr>
          <p:cNvPr id="13" name="Shape 10"/>
          <p:cNvSpPr/>
          <p:nvPr/>
        </p:nvSpPr>
        <p:spPr>
          <a:xfrm>
            <a:off x="8174736" y="3200400"/>
            <a:ext cx="384048" cy="384048"/>
          </a:xfrm>
          <a:prstGeom prst="ellipse">
            <a:avLst/>
          </a:prstGeom>
          <a:solidFill>
            <a:srgbClr val="725B9B"/>
          </a:solidFill>
          <a:ln w="12700">
            <a:solidFill>
              <a:srgbClr val="725B9B"/>
            </a:solidFill>
            <a:prstDash val="solid"/>
          </a:ln>
        </p:spPr>
      </p:sp>
      <p:sp>
        <p:nvSpPr>
          <p:cNvPr id="14" name="Text 11"/>
          <p:cNvSpPr/>
          <p:nvPr/>
        </p:nvSpPr>
        <p:spPr>
          <a:xfrm>
            <a:off x="8174736" y="3255264"/>
            <a:ext cx="384048" cy="14630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5" name="Text 12"/>
          <p:cNvSpPr/>
          <p:nvPr/>
        </p:nvSpPr>
        <p:spPr>
          <a:xfrm>
            <a:off x="8686800" y="3182112"/>
            <a:ext cx="2670048" cy="301752"/>
          </a:xfrm>
          <a:prstGeom prst="rect">
            <a:avLst/>
          </a:prstGeom>
          <a:noFill/>
          <a:ln/>
        </p:spPr>
        <p:txBody>
          <a:bodyPr wrap="square" lIns="0" tIns="0" rIns="0" bIns="0" rtlCol="0" anchor="ctr">
            <a:normAutofit/>
          </a:bodyPr>
          <a:lstStyle/>
          <a:p>
            <a:pPr indent="0" marL="0">
              <a:buNone/>
            </a:pPr>
            <a:r>
              <a:rPr lang="en-US" sz="1600" b="1" dirty="0">
                <a:solidFill>
                  <a:srgbClr val="112B46"/>
                </a:solidFill>
                <a:latin typeface="Calibri" pitchFamily="34" charset="0"/>
                <a:ea typeface="Calibri" pitchFamily="34" charset="-122"/>
                <a:cs typeface="Calibri" pitchFamily="34" charset="-120"/>
              </a:rPr>
              <a:t>Ràng buộc</a:t>
            </a:r>
            <a:endParaRPr lang="en-US" sz="1600" dirty="0"/>
          </a:p>
        </p:txBody>
      </p:sp>
      <p:sp>
        <p:nvSpPr>
          <p:cNvPr id="16" name="Text 13"/>
          <p:cNvSpPr/>
          <p:nvPr/>
        </p:nvSpPr>
        <p:spPr>
          <a:xfrm>
            <a:off x="8202168" y="3602736"/>
            <a:ext cx="3127248" cy="219456"/>
          </a:xfrm>
          <a:prstGeom prst="rect">
            <a:avLst/>
          </a:prstGeom>
          <a:noFill/>
          <a:ln/>
        </p:spPr>
        <p:txBody>
          <a:bodyPr wrap="square" lIns="0" tIns="0" rIns="0" bIns="0" rtlCol="0" anchor="t">
            <a:normAutofit/>
          </a:bodyPr>
          <a:lstStyle/>
          <a:p>
            <a:pPr indent="0" marL="0">
              <a:buNone/>
            </a:pPr>
            <a:r>
              <a:rPr lang="en-US" sz="1150" dirty="0">
                <a:solidFill>
                  <a:srgbClr val="172B3A"/>
                </a:solidFill>
                <a:latin typeface="Calibri" pitchFamily="34" charset="0"/>
                <a:ea typeface="Calibri" pitchFamily="34" charset="-122"/>
                <a:cs typeface="Calibri" pitchFamily="34" charset="-120"/>
              </a:rPr>
              <a:t>Functional property · disjoint class · required title.</a:t>
            </a:r>
            <a:endParaRPr lang="en-US" sz="1150" dirty="0"/>
          </a:p>
        </p:txBody>
      </p:sp>
      <p:sp>
        <p:nvSpPr>
          <p:cNvPr id="17" name="Shape 14"/>
          <p:cNvSpPr/>
          <p:nvPr/>
        </p:nvSpPr>
        <p:spPr>
          <a:xfrm>
            <a:off x="7973568" y="4224528"/>
            <a:ext cx="3584448" cy="1005840"/>
          </a:xfrm>
          <a:prstGeom prst="roundRect">
            <a:avLst>
              <a:gd name="adj" fmla="val 5455"/>
            </a:avLst>
          </a:prstGeom>
          <a:solidFill>
            <a:srgbClr val="F0ECF7"/>
          </a:solidFill>
          <a:ln w="12700">
            <a:solidFill>
              <a:srgbClr val="D9CFE8"/>
            </a:solidFill>
            <a:prstDash val="solid"/>
          </a:ln>
        </p:spPr>
      </p:sp>
      <p:sp>
        <p:nvSpPr>
          <p:cNvPr id="18" name="Shape 15"/>
          <p:cNvSpPr/>
          <p:nvPr/>
        </p:nvSpPr>
        <p:spPr>
          <a:xfrm>
            <a:off x="8174736" y="4425696"/>
            <a:ext cx="384048" cy="384048"/>
          </a:xfrm>
          <a:prstGeom prst="ellipse">
            <a:avLst/>
          </a:prstGeom>
          <a:solidFill>
            <a:srgbClr val="725B9B"/>
          </a:solidFill>
          <a:ln w="12700">
            <a:solidFill>
              <a:srgbClr val="725B9B"/>
            </a:solidFill>
            <a:prstDash val="solid"/>
          </a:ln>
        </p:spPr>
      </p:sp>
      <p:sp>
        <p:nvSpPr>
          <p:cNvPr id="19" name="Text 16"/>
          <p:cNvSpPr/>
          <p:nvPr/>
        </p:nvSpPr>
        <p:spPr>
          <a:xfrm>
            <a:off x="8174736" y="4480560"/>
            <a:ext cx="384048" cy="14630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20" name="Text 17"/>
          <p:cNvSpPr/>
          <p:nvPr/>
        </p:nvSpPr>
        <p:spPr>
          <a:xfrm>
            <a:off x="8686800" y="4407408"/>
            <a:ext cx="2670048" cy="301752"/>
          </a:xfrm>
          <a:prstGeom prst="rect">
            <a:avLst/>
          </a:prstGeom>
          <a:noFill/>
          <a:ln/>
        </p:spPr>
        <p:txBody>
          <a:bodyPr wrap="square" lIns="0" tIns="0" rIns="0" bIns="0" rtlCol="0" anchor="ctr">
            <a:normAutofit/>
          </a:bodyPr>
          <a:lstStyle/>
          <a:p>
            <a:pPr indent="0" marL="0">
              <a:buNone/>
            </a:pPr>
            <a:r>
              <a:rPr lang="en-US" sz="1600" b="1" dirty="0">
                <a:solidFill>
                  <a:srgbClr val="112B46"/>
                </a:solidFill>
                <a:latin typeface="Calibri" pitchFamily="34" charset="0"/>
                <a:ea typeface="Calibri" pitchFamily="34" charset="-122"/>
                <a:cs typeface="Calibri" pitchFamily="34" charset="-120"/>
              </a:rPr>
              <a:t>Suy diễn ngữ nghĩa</a:t>
            </a:r>
            <a:endParaRPr lang="en-US" sz="1600" dirty="0"/>
          </a:p>
        </p:txBody>
      </p:sp>
      <p:sp>
        <p:nvSpPr>
          <p:cNvPr id="21" name="Text 18"/>
          <p:cNvSpPr/>
          <p:nvPr/>
        </p:nvSpPr>
        <p:spPr>
          <a:xfrm>
            <a:off x="8202168" y="4828032"/>
            <a:ext cx="3127248" cy="219456"/>
          </a:xfrm>
          <a:prstGeom prst="rect">
            <a:avLst/>
          </a:prstGeom>
          <a:noFill/>
          <a:ln/>
        </p:spPr>
        <p:txBody>
          <a:bodyPr wrap="square" lIns="0" tIns="0" rIns="0" bIns="0" rtlCol="0" anchor="t">
            <a:normAutofit/>
          </a:bodyPr>
          <a:lstStyle/>
          <a:p>
            <a:pPr indent="0" marL="0">
              <a:buNone/>
            </a:pPr>
            <a:r>
              <a:rPr lang="en-US" sz="1150" dirty="0">
                <a:solidFill>
                  <a:srgbClr val="172B3A"/>
                </a:solidFill>
                <a:latin typeface="Calibri" pitchFamily="34" charset="0"/>
                <a:ea typeface="Calibri" pitchFamily="34" charset="-122"/>
                <a:cs typeface="Calibri" pitchFamily="34" charset="-120"/>
              </a:rPr>
              <a:t>miền/phạm vi · inverseOf · quan hệ đối xứng.</a:t>
            </a:r>
            <a:endParaRPr lang="en-US" sz="1150" dirty="0"/>
          </a:p>
        </p:txBody>
      </p:sp>
      <p:sp>
        <p:nvSpPr>
          <p:cNvPr id="22" name="Shape 19"/>
          <p:cNvSpPr/>
          <p:nvPr/>
        </p:nvSpPr>
        <p:spPr>
          <a:xfrm>
            <a:off x="7973568" y="5449824"/>
            <a:ext cx="3584448" cy="594360"/>
          </a:xfrm>
          <a:prstGeom prst="roundRect">
            <a:avLst>
              <a:gd name="adj" fmla="val 9231"/>
            </a:avLst>
          </a:prstGeom>
          <a:solidFill>
            <a:srgbClr val="E8F4EE"/>
          </a:solidFill>
          <a:ln w="12700">
            <a:solidFill>
              <a:srgbClr val="C4E2D1"/>
            </a:solidFill>
            <a:prstDash val="solid"/>
          </a:ln>
        </p:spPr>
      </p:sp>
      <p:sp>
        <p:nvSpPr>
          <p:cNvPr id="23" name="Text 20"/>
          <p:cNvSpPr/>
          <p:nvPr/>
        </p:nvSpPr>
        <p:spPr>
          <a:xfrm>
            <a:off x="8202168" y="5632704"/>
            <a:ext cx="3127248" cy="301752"/>
          </a:xfrm>
          <a:prstGeom prst="rect">
            <a:avLst/>
          </a:prstGeom>
          <a:noFill/>
          <a:ln/>
        </p:spPr>
        <p:txBody>
          <a:bodyPr wrap="square" lIns="0" tIns="0" rIns="0" bIns="0" rtlCol="0" anchor="ctr">
            <a:normAutofit/>
          </a:bodyPr>
          <a:lstStyle/>
          <a:p>
            <a:pPr indent="0" marL="0">
              <a:buNone/>
            </a:pPr>
            <a:r>
              <a:rPr lang="en-US" sz="1200" b="1" dirty="0">
                <a:solidFill>
                  <a:srgbClr val="112B46"/>
                </a:solidFill>
                <a:latin typeface="Calibri" pitchFamily="34" charset="0"/>
                <a:ea typeface="Calibri" pitchFamily="34" charset="-122"/>
                <a:cs typeface="Calibri" pitchFamily="34" charset="-120"/>
              </a:rPr>
              <a:t>10/10 SPARQL</a:t>
            </a:r>
            <a:endParaRPr lang="en-US" sz="1200" dirty="0"/>
          </a:p>
        </p:txBody>
      </p:sp>
      <p:sp>
        <p:nvSpPr>
          <p:cNvPr id="24" name="Text 21"/>
          <p:cNvSpPr/>
          <p:nvPr/>
        </p:nvSpPr>
        <p:spPr>
          <a:xfrm>
            <a:off x="8202168" y="6053328"/>
            <a:ext cx="3127248" cy="-192024"/>
          </a:xfrm>
          <a:prstGeom prst="rect">
            <a:avLst/>
          </a:prstGeom>
          <a:noFill/>
          <a:ln/>
        </p:spPr>
        <p:txBody>
          <a:bodyPr wrap="square" lIns="0" tIns="0" rIns="0" bIns="0" rtlCol="0" anchor="t">
            <a:normAutofit/>
          </a:bodyPr>
          <a:lstStyle/>
          <a:p>
            <a:pPr indent="0" marL="0">
              <a:buNone/>
            </a:pPr>
            <a:r>
              <a:rPr lang="en-US" sz="950" dirty="0">
                <a:solidFill>
                  <a:srgbClr val="172B3A"/>
                </a:solidFill>
                <a:latin typeface="Calibri" pitchFamily="34" charset="0"/>
                <a:ea typeface="Calibri" pitchFamily="34" charset="-122"/>
                <a:cs typeface="Calibri" pitchFamily="34" charset="-120"/>
              </a:rPr>
              <a:t>RDFLib và Jena/Fuseki.</a:t>
            </a:r>
            <a:endParaRPr lang="en-US" sz="950" dirty="0"/>
          </a:p>
        </p:txBody>
      </p:sp>
      <p:sp>
        <p:nvSpPr>
          <p:cNvPr id="25" name="Text 22"/>
          <p:cNvSpPr/>
          <p:nvPr/>
        </p:nvSpPr>
        <p:spPr>
          <a:xfrm>
            <a:off x="548640" y="6254496"/>
            <a:ext cx="10744200" cy="182880"/>
          </a:xfrm>
          <a:prstGeom prst="rect">
            <a:avLst/>
          </a:prstGeom>
          <a:noFill/>
          <a:ln/>
        </p:spPr>
        <p:txBody>
          <a:bodyPr wrap="square" lIns="0" tIns="0" rIns="0" bIns="0" rtlCol="0" anchor="ctr"/>
          <a:lstStyle/>
          <a:p>
            <a:pPr indent="0" marL="0">
              <a:buNone/>
            </a:pPr>
            <a:r>
              <a:rPr lang="en-US" sz="750" i="1" dirty="0">
                <a:solidFill>
                  <a:srgbClr val="7C8796"/>
                </a:solidFill>
                <a:latin typeface="Arial" pitchFamily="34" charset="0"/>
                <a:ea typeface="Arial" pitchFamily="34" charset="-122"/>
                <a:cs typeface="Arial" pitchFamily="34" charset="-120"/>
              </a:rPr>
              <a:t>Nguồn chỉnh sửa: report_latex/images/sources/ontology_diagram.drawio</a:t>
            </a:r>
            <a:endParaRPr lang="en-US" sz="750" dirty="0"/>
          </a:p>
        </p:txBody>
      </p:sp>
      <p:sp>
        <p:nvSpPr>
          <p:cNvPr id="25" name="Slide Number Placeholder 0"/>
          <p:cNvSpPr>
            <a:spLocks noGrp="1"/>
          </p:cNvSpPr>
          <p:nvPr>
            <p:ph type="sldNum" sz="quarter" idx="4294967295"/>
          </p:nvPr>
        </p:nvSpPr>
        <p:spPr>
          <a:xfrm>
            <a:off x="11631168" y="6473952"/>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97586"/>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30352" y="475488"/>
            <a:ext cx="2194560" cy="219456"/>
          </a:xfrm>
          <a:prstGeom prst="rect">
            <a:avLst/>
          </a:prstGeom>
          <a:noFill/>
          <a:ln/>
        </p:spPr>
        <p:txBody>
          <a:bodyPr wrap="square" lIns="0" tIns="0" rIns="0" bIns="0" rtlCol="0" anchor="ctr"/>
          <a:lstStyle/>
          <a:p>
            <a:pPr indent="0" marL="0">
              <a:buNone/>
            </a:pPr>
            <a:r>
              <a:rPr lang="en-US" sz="900" b="1" spc="140" kern="0" dirty="0">
                <a:solidFill>
                  <a:srgbClr val="337B80"/>
                </a:solidFill>
                <a:latin typeface="Arial" pitchFamily="34" charset="0"/>
                <a:ea typeface="Arial" pitchFamily="34" charset="-122"/>
                <a:cs typeface="Arial" pitchFamily="34" charset="-120"/>
              </a:rPr>
              <a:t>NGỮ NGHĨA</a:t>
            </a:r>
            <a:endParaRPr lang="en-US" sz="900" dirty="0"/>
          </a:p>
        </p:txBody>
      </p:sp>
      <p:sp>
        <p:nvSpPr>
          <p:cNvPr id="3" name="Text 1"/>
          <p:cNvSpPr/>
          <p:nvPr/>
        </p:nvSpPr>
        <p:spPr>
          <a:xfrm>
            <a:off x="530352" y="713232"/>
            <a:ext cx="10881360" cy="502920"/>
          </a:xfrm>
          <a:prstGeom prst="rect">
            <a:avLst/>
          </a:prstGeom>
          <a:noFill/>
          <a:ln/>
        </p:spPr>
        <p:txBody>
          <a:bodyPr wrap="square" lIns="0" tIns="0" rIns="0" bIns="0" rtlCol="0" anchor="ctr">
            <a:normAutofit/>
          </a:bodyPr>
          <a:lstStyle/>
          <a:p>
            <a:pPr indent="0" marL="0">
              <a:buNone/>
            </a:pPr>
            <a:r>
              <a:rPr lang="en-US" sz="2600" b="1" dirty="0">
                <a:solidFill>
                  <a:srgbClr val="112B46"/>
                </a:solidFill>
                <a:latin typeface="Calibri" pitchFamily="34" charset="0"/>
                <a:ea typeface="Calibri" pitchFamily="34" charset="-122"/>
                <a:cs typeface="Calibri" pitchFamily="34" charset="-120"/>
              </a:rPr>
              <a:t>Suy diễn ngữ nghĩa đã chạy trên toàn ảnh chụp</a:t>
            </a:r>
            <a:endParaRPr lang="en-US" sz="2600" dirty="0"/>
          </a:p>
        </p:txBody>
      </p:sp>
      <p:sp>
        <p:nvSpPr>
          <p:cNvPr id="4" name="Text 2"/>
          <p:cNvSpPr/>
          <p:nvPr/>
        </p:nvSpPr>
        <p:spPr>
          <a:xfrm>
            <a:off x="548640" y="1261872"/>
            <a:ext cx="10652760" cy="310896"/>
          </a:xfrm>
          <a:prstGeom prst="rect">
            <a:avLst/>
          </a:prstGeom>
          <a:noFill/>
          <a:ln/>
        </p:spPr>
        <p:txBody>
          <a:bodyPr wrap="square" lIns="0" tIns="0" rIns="0" bIns="0" rtlCol="0" anchor="ctr">
            <a:normAutofit/>
          </a:bodyPr>
          <a:lstStyle/>
          <a:p>
            <a:pPr indent="0" marL="0">
              <a:buNone/>
            </a:pPr>
            <a:r>
              <a:rPr lang="en-US" sz="1250" dirty="0">
                <a:solidFill>
                  <a:srgbClr val="697586"/>
                </a:solidFill>
                <a:latin typeface="Calibri" pitchFamily="34" charset="0"/>
                <a:ea typeface="Calibri" pitchFamily="34" charset="-122"/>
                <a:cs typeface="Calibri" pitchFamily="34" charset="-120"/>
              </a:rPr>
              <a:t>Kết quả chỉ đại diện cho RDFS/OWL-RL subset đã khai báo, không phải full OWL 2 DL.</a:t>
            </a:r>
            <a:endParaRPr lang="en-US" sz="1250" dirty="0"/>
          </a:p>
        </p:txBody>
      </p:sp>
      <p:sp>
        <p:nvSpPr>
          <p:cNvPr id="5" name="Shape 3"/>
          <p:cNvSpPr/>
          <p:nvPr/>
        </p:nvSpPr>
        <p:spPr>
          <a:xfrm>
            <a:off x="594360" y="1755648"/>
            <a:ext cx="6629400" cy="4297680"/>
          </a:xfrm>
          <a:prstGeom prst="roundRect">
            <a:avLst>
              <a:gd name="adj" fmla="val 851"/>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pic>
        <p:nvPicPr>
          <p:cNvPr id="6" name="Image 0" descr="/home/khanhhk/VNPTAI/advanced_database/docs/deliverables/slide/assets/semantic_reasoning.png">    </p:cNvPr>
          <p:cNvPicPr>
            <a:picLocks noChangeAspect="1"/>
          </p:cNvPicPr>
          <p:nvPr/>
        </p:nvPicPr>
        <p:blipFill>
          <a:blip r:embed="rId1"/>
          <a:stretch>
            <a:fillRect/>
          </a:stretch>
        </p:blipFill>
        <p:spPr>
          <a:xfrm>
            <a:off x="704088" y="3304108"/>
            <a:ext cx="6409944" cy="1200761"/>
          </a:xfrm>
          <a:prstGeom prst="rect">
            <a:avLst/>
          </a:prstGeom>
        </p:spPr>
      </p:pic>
      <p:sp>
        <p:nvSpPr>
          <p:cNvPr id="7" name="Shape 4"/>
          <p:cNvSpPr/>
          <p:nvPr/>
        </p:nvSpPr>
        <p:spPr>
          <a:xfrm>
            <a:off x="7543800" y="1828800"/>
            <a:ext cx="1874520" cy="1261872"/>
          </a:xfrm>
          <a:prstGeom prst="roundRect">
            <a:avLst>
              <a:gd name="adj" fmla="val 4348"/>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sp>
        <p:nvSpPr>
          <p:cNvPr id="8" name="Text 5"/>
          <p:cNvSpPr/>
          <p:nvPr/>
        </p:nvSpPr>
        <p:spPr>
          <a:xfrm>
            <a:off x="7708392" y="1993392"/>
            <a:ext cx="1545336" cy="457200"/>
          </a:xfrm>
          <a:prstGeom prst="rect">
            <a:avLst/>
          </a:prstGeom>
          <a:noFill/>
          <a:ln/>
        </p:spPr>
        <p:txBody>
          <a:bodyPr wrap="square" lIns="0" tIns="0" rIns="0" bIns="0" rtlCol="0" anchor="ctr">
            <a:normAutofit/>
          </a:bodyPr>
          <a:lstStyle/>
          <a:p>
            <a:pPr indent="0" marL="0">
              <a:buNone/>
            </a:pPr>
            <a:r>
              <a:rPr lang="en-US" sz="2800" b="1" dirty="0">
                <a:solidFill>
                  <a:srgbClr val="337B80"/>
                </a:solidFill>
                <a:latin typeface="Arial" pitchFamily="34" charset="0"/>
                <a:ea typeface="Arial" pitchFamily="34" charset="-122"/>
                <a:cs typeface="Arial" pitchFamily="34" charset="-120"/>
              </a:rPr>
              <a:t>342.683</a:t>
            </a:r>
            <a:endParaRPr lang="en-US" sz="2800" dirty="0"/>
          </a:p>
        </p:txBody>
      </p:sp>
      <p:sp>
        <p:nvSpPr>
          <p:cNvPr id="9" name="Text 6"/>
          <p:cNvSpPr/>
          <p:nvPr/>
        </p:nvSpPr>
        <p:spPr>
          <a:xfrm>
            <a:off x="7726680" y="2505456"/>
            <a:ext cx="1508760" cy="256032"/>
          </a:xfrm>
          <a:prstGeom prst="rect">
            <a:avLst/>
          </a:prstGeom>
          <a:noFill/>
          <a:ln/>
        </p:spPr>
        <p:txBody>
          <a:bodyPr wrap="square" lIns="0" tIns="0" rIns="0" bIns="0" rtlCol="0" anchor="ctr">
            <a:normAutofit/>
          </a:bodyPr>
          <a:lstStyle/>
          <a:p>
            <a:pPr indent="0" marL="0">
              <a:buNone/>
            </a:pPr>
            <a:r>
              <a:rPr lang="en-US" sz="1100" b="1" dirty="0">
                <a:solidFill>
                  <a:srgbClr val="172B3A"/>
                </a:solidFill>
                <a:latin typeface="Calibri" pitchFamily="34" charset="0"/>
                <a:ea typeface="Calibri" pitchFamily="34" charset="-122"/>
                <a:cs typeface="Calibri" pitchFamily="34" charset="-120"/>
              </a:rPr>
              <a:t>Triple trước</a:t>
            </a:r>
            <a:endParaRPr lang="en-US" sz="1100" dirty="0"/>
          </a:p>
        </p:txBody>
      </p:sp>
      <p:sp>
        <p:nvSpPr>
          <p:cNvPr id="10" name="Shape 7"/>
          <p:cNvSpPr/>
          <p:nvPr/>
        </p:nvSpPr>
        <p:spPr>
          <a:xfrm>
            <a:off x="9646920" y="1828800"/>
            <a:ext cx="1874520" cy="1261872"/>
          </a:xfrm>
          <a:prstGeom prst="roundRect">
            <a:avLst>
              <a:gd name="adj" fmla="val 4348"/>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sp>
        <p:nvSpPr>
          <p:cNvPr id="11" name="Text 8"/>
          <p:cNvSpPr/>
          <p:nvPr/>
        </p:nvSpPr>
        <p:spPr>
          <a:xfrm>
            <a:off x="9811512" y="1993392"/>
            <a:ext cx="1545336" cy="457200"/>
          </a:xfrm>
          <a:prstGeom prst="rect">
            <a:avLst/>
          </a:prstGeom>
          <a:noFill/>
          <a:ln/>
        </p:spPr>
        <p:txBody>
          <a:bodyPr wrap="square" lIns="0" tIns="0" rIns="0" bIns="0" rtlCol="0" anchor="ctr">
            <a:normAutofit/>
          </a:bodyPr>
          <a:lstStyle/>
          <a:p>
            <a:pPr indent="0" marL="0">
              <a:buNone/>
            </a:pPr>
            <a:r>
              <a:rPr lang="en-US" sz="2800" b="1" dirty="0">
                <a:solidFill>
                  <a:srgbClr val="725B9B"/>
                </a:solidFill>
                <a:latin typeface="Arial" pitchFamily="34" charset="0"/>
                <a:ea typeface="Arial" pitchFamily="34" charset="-122"/>
                <a:cs typeface="Arial" pitchFamily="34" charset="-120"/>
              </a:rPr>
              <a:t>429.192</a:t>
            </a:r>
            <a:endParaRPr lang="en-US" sz="2800" dirty="0"/>
          </a:p>
        </p:txBody>
      </p:sp>
      <p:sp>
        <p:nvSpPr>
          <p:cNvPr id="12" name="Text 9"/>
          <p:cNvSpPr/>
          <p:nvPr/>
        </p:nvSpPr>
        <p:spPr>
          <a:xfrm>
            <a:off x="9829800" y="2505456"/>
            <a:ext cx="1508760" cy="256032"/>
          </a:xfrm>
          <a:prstGeom prst="rect">
            <a:avLst/>
          </a:prstGeom>
          <a:noFill/>
          <a:ln/>
        </p:spPr>
        <p:txBody>
          <a:bodyPr wrap="square" lIns="0" tIns="0" rIns="0" bIns="0" rtlCol="0" anchor="ctr">
            <a:normAutofit/>
          </a:bodyPr>
          <a:lstStyle/>
          <a:p>
            <a:pPr indent="0" marL="0">
              <a:buNone/>
            </a:pPr>
            <a:r>
              <a:rPr lang="en-US" sz="1100" b="1" dirty="0">
                <a:solidFill>
                  <a:srgbClr val="172B3A"/>
                </a:solidFill>
                <a:latin typeface="Calibri" pitchFamily="34" charset="0"/>
                <a:ea typeface="Calibri" pitchFamily="34" charset="-122"/>
                <a:cs typeface="Calibri" pitchFamily="34" charset="-120"/>
              </a:rPr>
              <a:t>Triple sau</a:t>
            </a:r>
            <a:endParaRPr lang="en-US" sz="1100" dirty="0"/>
          </a:p>
        </p:txBody>
      </p:sp>
      <p:sp>
        <p:nvSpPr>
          <p:cNvPr id="13" name="Shape 10"/>
          <p:cNvSpPr/>
          <p:nvPr/>
        </p:nvSpPr>
        <p:spPr>
          <a:xfrm>
            <a:off x="7543800" y="3383280"/>
            <a:ext cx="1874520" cy="1261872"/>
          </a:xfrm>
          <a:prstGeom prst="roundRect">
            <a:avLst>
              <a:gd name="adj" fmla="val 4348"/>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sp>
        <p:nvSpPr>
          <p:cNvPr id="14" name="Text 11"/>
          <p:cNvSpPr/>
          <p:nvPr/>
        </p:nvSpPr>
        <p:spPr>
          <a:xfrm>
            <a:off x="7708392" y="3547872"/>
            <a:ext cx="1545336" cy="457200"/>
          </a:xfrm>
          <a:prstGeom prst="rect">
            <a:avLst/>
          </a:prstGeom>
          <a:noFill/>
          <a:ln/>
        </p:spPr>
        <p:txBody>
          <a:bodyPr wrap="square" lIns="0" tIns="0" rIns="0" bIns="0" rtlCol="0" anchor="ctr">
            <a:normAutofit/>
          </a:bodyPr>
          <a:lstStyle/>
          <a:p>
            <a:pPr indent="0" marL="0">
              <a:buNone/>
            </a:pPr>
            <a:r>
              <a:rPr lang="en-US" sz="2800" b="1" dirty="0">
                <a:solidFill>
                  <a:srgbClr val="D38B36"/>
                </a:solidFill>
                <a:latin typeface="Arial" pitchFamily="34" charset="0"/>
                <a:ea typeface="Arial" pitchFamily="34" charset="-122"/>
                <a:cs typeface="Arial" pitchFamily="34" charset="-120"/>
              </a:rPr>
              <a:t>+86.509</a:t>
            </a:r>
            <a:endParaRPr lang="en-US" sz="2800" dirty="0"/>
          </a:p>
        </p:txBody>
      </p:sp>
      <p:sp>
        <p:nvSpPr>
          <p:cNvPr id="15" name="Text 12"/>
          <p:cNvSpPr/>
          <p:nvPr/>
        </p:nvSpPr>
        <p:spPr>
          <a:xfrm>
            <a:off x="7726680" y="4059936"/>
            <a:ext cx="1508760" cy="256032"/>
          </a:xfrm>
          <a:prstGeom prst="rect">
            <a:avLst/>
          </a:prstGeom>
          <a:noFill/>
          <a:ln/>
        </p:spPr>
        <p:txBody>
          <a:bodyPr wrap="square" lIns="0" tIns="0" rIns="0" bIns="0" rtlCol="0" anchor="ctr">
            <a:normAutofit/>
          </a:bodyPr>
          <a:lstStyle/>
          <a:p>
            <a:pPr indent="0" marL="0">
              <a:buNone/>
            </a:pPr>
            <a:r>
              <a:rPr lang="en-US" sz="1100" b="1" dirty="0">
                <a:solidFill>
                  <a:srgbClr val="172B3A"/>
                </a:solidFill>
                <a:latin typeface="Calibri" pitchFamily="34" charset="0"/>
                <a:ea typeface="Calibri" pitchFamily="34" charset="-122"/>
                <a:cs typeface="Calibri" pitchFamily="34" charset="-120"/>
              </a:rPr>
              <a:t>Triple suy ra</a:t>
            </a:r>
            <a:endParaRPr lang="en-US" sz="1100" dirty="0"/>
          </a:p>
        </p:txBody>
      </p:sp>
      <p:sp>
        <p:nvSpPr>
          <p:cNvPr id="16" name="Shape 13"/>
          <p:cNvSpPr/>
          <p:nvPr/>
        </p:nvSpPr>
        <p:spPr>
          <a:xfrm>
            <a:off x="9646920" y="3383280"/>
            <a:ext cx="1874520" cy="1261872"/>
          </a:xfrm>
          <a:prstGeom prst="roundRect">
            <a:avLst>
              <a:gd name="adj" fmla="val 4348"/>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sp>
        <p:nvSpPr>
          <p:cNvPr id="17" name="Text 14"/>
          <p:cNvSpPr/>
          <p:nvPr/>
        </p:nvSpPr>
        <p:spPr>
          <a:xfrm>
            <a:off x="9811512" y="3547872"/>
            <a:ext cx="1545336" cy="457200"/>
          </a:xfrm>
          <a:prstGeom prst="rect">
            <a:avLst/>
          </a:prstGeom>
          <a:noFill/>
          <a:ln/>
        </p:spPr>
        <p:txBody>
          <a:bodyPr wrap="square" lIns="0" tIns="0" rIns="0" bIns="0" rtlCol="0" anchor="ctr">
            <a:normAutofit/>
          </a:bodyPr>
          <a:lstStyle/>
          <a:p>
            <a:pPr indent="0" marL="0">
              <a:buNone/>
            </a:pPr>
            <a:r>
              <a:rPr lang="en-US" sz="2800" b="1" dirty="0">
                <a:solidFill>
                  <a:srgbClr val="3D8B66"/>
                </a:solidFill>
                <a:latin typeface="Arial" pitchFamily="34" charset="0"/>
                <a:ea typeface="Arial" pitchFamily="34" charset="-122"/>
                <a:cs typeface="Arial" pitchFamily="34" charset="-120"/>
              </a:rPr>
              <a:t>0</a:t>
            </a:r>
            <a:endParaRPr lang="en-US" sz="2800" dirty="0"/>
          </a:p>
        </p:txBody>
      </p:sp>
      <p:sp>
        <p:nvSpPr>
          <p:cNvPr id="18" name="Text 15"/>
          <p:cNvSpPr/>
          <p:nvPr/>
        </p:nvSpPr>
        <p:spPr>
          <a:xfrm>
            <a:off x="9829800" y="4059936"/>
            <a:ext cx="1508760" cy="256032"/>
          </a:xfrm>
          <a:prstGeom prst="rect">
            <a:avLst/>
          </a:prstGeom>
          <a:noFill/>
          <a:ln/>
        </p:spPr>
        <p:txBody>
          <a:bodyPr wrap="square" lIns="0" tIns="0" rIns="0" bIns="0" rtlCol="0" anchor="ctr">
            <a:normAutofit/>
          </a:bodyPr>
          <a:lstStyle/>
          <a:p>
            <a:pPr indent="0" marL="0">
              <a:buNone/>
            </a:pPr>
            <a:r>
              <a:rPr lang="en-US" sz="1100" b="1" dirty="0">
                <a:solidFill>
                  <a:srgbClr val="172B3A"/>
                </a:solidFill>
                <a:latin typeface="Calibri" pitchFamily="34" charset="0"/>
                <a:ea typeface="Calibri" pitchFamily="34" charset="-122"/>
                <a:cs typeface="Calibri" pitchFamily="34" charset="-120"/>
              </a:rPr>
              <a:t>Vi phạm ngữ nghĩa</a:t>
            </a:r>
            <a:endParaRPr lang="en-US" sz="1100" dirty="0"/>
          </a:p>
        </p:txBody>
      </p:sp>
      <p:sp>
        <p:nvSpPr>
          <p:cNvPr id="19" name="Shape 16"/>
          <p:cNvSpPr/>
          <p:nvPr/>
        </p:nvSpPr>
        <p:spPr>
          <a:xfrm>
            <a:off x="7543800" y="4983480"/>
            <a:ext cx="3977640" cy="914400"/>
          </a:xfrm>
          <a:prstGeom prst="roundRect">
            <a:avLst>
              <a:gd name="adj" fmla="val 6000"/>
            </a:avLst>
          </a:prstGeom>
          <a:solidFill>
            <a:srgbClr val="F0ECF7"/>
          </a:solidFill>
          <a:ln w="12700">
            <a:solidFill>
              <a:srgbClr val="D9CFE8"/>
            </a:solidFill>
            <a:prstDash val="solid"/>
          </a:ln>
          <a:effectLst>
            <a:outerShdw sx="100000" sy="100000" kx="0" ky="0" algn="bl" rotWithShape="0" blurRad="25400" dist="50800" dir="2700000">
              <a:srgbClr val="26384A">
                <a:alpha val="13000"/>
              </a:srgbClr>
            </a:outerShdw>
          </a:effectLst>
        </p:spPr>
      </p:sp>
      <p:sp>
        <p:nvSpPr>
          <p:cNvPr id="20" name="Text 17"/>
          <p:cNvSpPr/>
          <p:nvPr/>
        </p:nvSpPr>
        <p:spPr>
          <a:xfrm>
            <a:off x="7772400" y="5166360"/>
            <a:ext cx="3520440" cy="301752"/>
          </a:xfrm>
          <a:prstGeom prst="rect">
            <a:avLst/>
          </a:prstGeom>
          <a:noFill/>
          <a:ln/>
        </p:spPr>
        <p:txBody>
          <a:bodyPr wrap="square" lIns="0" tIns="0" rIns="0" bIns="0" rtlCol="0" anchor="ctr">
            <a:normAutofit/>
          </a:bodyPr>
          <a:lstStyle/>
          <a:p>
            <a:pPr indent="0" marL="0">
              <a:buNone/>
            </a:pPr>
            <a:r>
              <a:rPr lang="en-US" sz="1400" b="1" dirty="0">
                <a:solidFill>
                  <a:srgbClr val="112B46"/>
                </a:solidFill>
                <a:latin typeface="Calibri" pitchFamily="34" charset="0"/>
                <a:ea typeface="Calibri" pitchFamily="34" charset="-122"/>
                <a:cs typeface="Calibri" pitchFamily="34" charset="-120"/>
              </a:rPr>
              <a:t>Hai loại suy diễn</a:t>
            </a:r>
            <a:endParaRPr lang="en-US" sz="1400" dirty="0"/>
          </a:p>
        </p:txBody>
      </p:sp>
      <p:sp>
        <p:nvSpPr>
          <p:cNvPr id="21" name="Text 18"/>
          <p:cNvSpPr/>
          <p:nvPr/>
        </p:nvSpPr>
        <p:spPr>
          <a:xfrm>
            <a:off x="7772400" y="5586984"/>
            <a:ext cx="3520440" cy="128016"/>
          </a:xfrm>
          <a:prstGeom prst="rect">
            <a:avLst/>
          </a:prstGeom>
          <a:noFill/>
          <a:ln/>
        </p:spPr>
        <p:txBody>
          <a:bodyPr wrap="square" lIns="0" tIns="0" rIns="0" bIns="0" rtlCol="0" anchor="t">
            <a:normAutofit/>
          </a:bodyPr>
          <a:lstStyle/>
          <a:p>
            <a:pPr indent="0" marL="0">
              <a:buNone/>
            </a:pPr>
            <a:r>
              <a:rPr lang="en-US" sz="1050" dirty="0">
                <a:solidFill>
                  <a:srgbClr val="172B3A"/>
                </a:solidFill>
                <a:latin typeface="Calibri" pitchFamily="34" charset="0"/>
                <a:ea typeface="Calibri" pitchFamily="34" charset="-122"/>
                <a:cs typeface="Calibri" pitchFamily="34" charset="-120"/>
              </a:rPr>
              <a:t>OWL entailment cho semantics; Cypher rule cho CO_STARRED_WITH.</a:t>
            </a:r>
            <a:endParaRPr lang="en-US" sz="1050" dirty="0"/>
          </a:p>
        </p:txBody>
      </p:sp>
      <p:sp>
        <p:nvSpPr>
          <p:cNvPr id="22" name="Text 19"/>
          <p:cNvSpPr/>
          <p:nvPr/>
        </p:nvSpPr>
        <p:spPr>
          <a:xfrm>
            <a:off x="548640" y="6254496"/>
            <a:ext cx="10744200" cy="182880"/>
          </a:xfrm>
          <a:prstGeom prst="rect">
            <a:avLst/>
          </a:prstGeom>
          <a:noFill/>
          <a:ln/>
        </p:spPr>
        <p:txBody>
          <a:bodyPr wrap="square" lIns="0" tIns="0" rIns="0" bIns="0" rtlCol="0" anchor="ctr"/>
          <a:lstStyle/>
          <a:p>
            <a:pPr indent="0" marL="0">
              <a:buNone/>
            </a:pPr>
            <a:r>
              <a:rPr lang="en-US" sz="750" i="1" dirty="0">
                <a:solidFill>
                  <a:srgbClr val="7C8796"/>
                </a:solidFill>
                <a:latin typeface="Arial" pitchFamily="34" charset="0"/>
                <a:ea typeface="Arial" pitchFamily="34" charset="-122"/>
                <a:cs typeface="Arial" pitchFamily="34" charset="-120"/>
              </a:rPr>
              <a:t>Nguồn: experiments/results/semantic/semantic_reasoning.json</a:t>
            </a:r>
            <a:endParaRPr lang="en-US" sz="750" dirty="0"/>
          </a:p>
        </p:txBody>
      </p:sp>
      <p:sp>
        <p:nvSpPr>
          <p:cNvPr id="25" name="Slide Number Placeholder 0"/>
          <p:cNvSpPr>
            <a:spLocks noGrp="1"/>
          </p:cNvSpPr>
          <p:nvPr>
            <p:ph type="sldNum" sz="quarter" idx="4294967295"/>
          </p:nvPr>
        </p:nvSpPr>
        <p:spPr>
          <a:xfrm>
            <a:off x="11631168" y="6473952"/>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97586"/>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30352" y="475488"/>
            <a:ext cx="2194560" cy="219456"/>
          </a:xfrm>
          <a:prstGeom prst="rect">
            <a:avLst/>
          </a:prstGeom>
          <a:noFill/>
          <a:ln/>
        </p:spPr>
        <p:txBody>
          <a:bodyPr wrap="square" lIns="0" tIns="0" rIns="0" bIns="0" rtlCol="0" anchor="ctr"/>
          <a:lstStyle/>
          <a:p>
            <a:pPr indent="0" marL="0">
              <a:buNone/>
            </a:pPr>
            <a:r>
              <a:rPr lang="en-US" sz="900" b="1" spc="140" kern="0" dirty="0">
                <a:solidFill>
                  <a:srgbClr val="337B80"/>
                </a:solidFill>
                <a:latin typeface="Arial" pitchFamily="34" charset="0"/>
                <a:ea typeface="Arial" pitchFamily="34" charset="-122"/>
                <a:cs typeface="Arial" pitchFamily="34" charset="-120"/>
              </a:rPr>
              <a:t>THỰC NGHIỆM</a:t>
            </a:r>
            <a:endParaRPr lang="en-US" sz="900" dirty="0"/>
          </a:p>
        </p:txBody>
      </p:sp>
      <p:sp>
        <p:nvSpPr>
          <p:cNvPr id="3" name="Text 1"/>
          <p:cNvSpPr/>
          <p:nvPr/>
        </p:nvSpPr>
        <p:spPr>
          <a:xfrm>
            <a:off x="530352" y="713232"/>
            <a:ext cx="10881360" cy="502920"/>
          </a:xfrm>
          <a:prstGeom prst="rect">
            <a:avLst/>
          </a:prstGeom>
          <a:noFill/>
          <a:ln/>
        </p:spPr>
        <p:txBody>
          <a:bodyPr wrap="square" lIns="0" tIns="0" rIns="0" bIns="0" rtlCol="0" anchor="ctr">
            <a:normAutofit/>
          </a:bodyPr>
          <a:lstStyle/>
          <a:p>
            <a:pPr indent="0" marL="0">
              <a:buNone/>
            </a:pPr>
            <a:r>
              <a:rPr lang="en-US" sz="2600" b="1" dirty="0">
                <a:solidFill>
                  <a:srgbClr val="112B46"/>
                </a:solidFill>
                <a:latin typeface="Calibri" pitchFamily="34" charset="0"/>
                <a:ea typeface="Calibri" pitchFamily="34" charset="-122"/>
                <a:cs typeface="Calibri" pitchFamily="34" charset="-120"/>
              </a:rPr>
              <a:t>Đánh giá được thiết kế theo từng tuyên bố</a:t>
            </a:r>
            <a:endParaRPr lang="en-US" sz="2600" dirty="0"/>
          </a:p>
        </p:txBody>
      </p:sp>
      <p:sp>
        <p:nvSpPr>
          <p:cNvPr id="4" name="Text 2"/>
          <p:cNvSpPr/>
          <p:nvPr/>
        </p:nvSpPr>
        <p:spPr>
          <a:xfrm>
            <a:off x="548640" y="1261872"/>
            <a:ext cx="10652760" cy="310896"/>
          </a:xfrm>
          <a:prstGeom prst="rect">
            <a:avLst/>
          </a:prstGeom>
          <a:noFill/>
          <a:ln/>
        </p:spPr>
        <p:txBody>
          <a:bodyPr wrap="square" lIns="0" tIns="0" rIns="0" bIns="0" rtlCol="0" anchor="ctr">
            <a:normAutofit/>
          </a:bodyPr>
          <a:lstStyle/>
          <a:p>
            <a:pPr indent="0" marL="0">
              <a:buNone/>
            </a:pPr>
            <a:r>
              <a:rPr lang="en-US" sz="1250" dirty="0">
                <a:solidFill>
                  <a:srgbClr val="697586"/>
                </a:solidFill>
                <a:latin typeface="Calibri" pitchFamily="34" charset="0"/>
                <a:ea typeface="Calibri" pitchFamily="34" charset="-122"/>
                <a:cs typeface="Calibri" pitchFamily="34" charset="-120"/>
              </a:rPr>
              <a:t>Mỗi metric gắn với dataset, protocol và giới hạn diễn giải cụ thể.</a:t>
            </a:r>
            <a:endParaRPr lang="en-US" sz="12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12648" y="1773936"/>
          <a:ext cx="7498080" cy="4343400"/>
        </p:xfrm>
        <a:graphic>
          <a:graphicData uri="http://schemas.openxmlformats.org/drawingml/2006/table">
            <a:tbl>
              <a:tblPr/>
              <a:tblGrid>
                <a:gridCol w="2103120"/>
                <a:gridCol w="2377440"/>
                <a:gridCol w="3017520"/>
              </a:tblGrid>
              <a:tr h="548640">
                <a:tc>
                  <a:txBody>
                    <a:bodyPr/>
                    <a:lstStyle/>
                    <a:p>
                      <a:pPr indent="0" marL="0">
                        <a:buNone/>
                      </a:pPr>
                      <a:r>
                        <a:rPr lang="en-US" sz="1120" dirty="0">
                          <a:solidFill>
                            <a:srgbClr val="172B3A"/>
                          </a:solidFill>
                          <a:latin typeface="Calibri" pitchFamily="34" charset="0"/>
                          <a:ea typeface="Calibri" pitchFamily="34" charset="-122"/>
                          <a:cs typeface="Calibri" pitchFamily="34" charset="-120"/>
                        </a:rPr>
                        <a:t>Hạng mục</a:t>
                      </a:r>
                      <a:endParaRPr lang="en-US" sz="1120" dirty="0">
                        <a:latin typeface="Calibri" charset="0"/>
                        <a:ea typeface="Calibri" charset="0"/>
                        <a:cs typeface="Calibri" charset="0"/>
                      </a:endParaRPr>
                    </a:p>
                  </a:txBody>
                  <a:tcPr marL="73152" marR="73152" marT="73152" marB="73152"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20" dirty="0">
                          <a:solidFill>
                            <a:srgbClr val="172B3A"/>
                          </a:solidFill>
                          <a:latin typeface="Calibri" pitchFamily="34" charset="0"/>
                          <a:ea typeface="Calibri" pitchFamily="34" charset="-122"/>
                          <a:cs typeface="Calibri" pitchFamily="34" charset="-120"/>
                        </a:rPr>
                        <a:t>Tập đánh giá</a:t>
                      </a:r>
                      <a:endParaRPr lang="en-US" sz="1120" dirty="0">
                        <a:latin typeface="Calibri" charset="0"/>
                        <a:ea typeface="Calibri" charset="0"/>
                        <a:cs typeface="Calibri" charset="0"/>
                      </a:endParaRPr>
                    </a:p>
                  </a:txBody>
                  <a:tcPr marL="73152" marR="73152" marT="73152" marB="73152"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20" dirty="0">
                          <a:solidFill>
                            <a:srgbClr val="172B3A"/>
                          </a:solidFill>
                          <a:latin typeface="Calibri" pitchFamily="34" charset="0"/>
                          <a:ea typeface="Calibri" pitchFamily="34" charset="-122"/>
                          <a:cs typeface="Calibri" pitchFamily="34" charset="-120"/>
                        </a:rPr>
                        <a:t>Metric</a:t>
                      </a:r>
                      <a:endParaRPr lang="en-US" sz="1120" dirty="0">
                        <a:latin typeface="Calibri" charset="0"/>
                        <a:ea typeface="Calibri" charset="0"/>
                        <a:cs typeface="Calibri" charset="0"/>
                      </a:endParaRPr>
                    </a:p>
                  </a:txBody>
                  <a:tcPr marL="73152" marR="73152" marT="73152" marB="73152"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r>
              <a:tr h="548640">
                <a:tc>
                  <a:txBody>
                    <a:bodyPr/>
                    <a:lstStyle/>
                    <a:p>
                      <a:pPr indent="0" marL="0">
                        <a:buNone/>
                      </a:pPr>
                      <a:r>
                        <a:rPr lang="en-US" sz="1120" dirty="0">
                          <a:solidFill>
                            <a:srgbClr val="172B3A"/>
                          </a:solidFill>
                          <a:latin typeface="Calibri" pitchFamily="34" charset="0"/>
                          <a:ea typeface="Calibri" pitchFamily="34" charset="-122"/>
                          <a:cs typeface="Calibri" pitchFamily="34" charset="-120"/>
                        </a:rPr>
                        <a:t>Chất lượng dữ liệu</a:t>
                      </a:r>
                      <a:endParaRPr lang="en-US" sz="1120" dirty="0">
                        <a:latin typeface="Calibri" charset="0"/>
                        <a:ea typeface="Calibri" charset="0"/>
                        <a:cs typeface="Calibri" charset="0"/>
                      </a:endParaRPr>
                    </a:p>
                  </a:txBody>
                  <a:tcPr marL="73152" marR="73152" marT="73152" marB="73152"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20" dirty="0">
                          <a:solidFill>
                            <a:srgbClr val="172B3A"/>
                          </a:solidFill>
                          <a:latin typeface="Calibri" pitchFamily="34" charset="0"/>
                          <a:ea typeface="Calibri" pitchFamily="34" charset="-122"/>
                          <a:cs typeface="Calibri" pitchFamily="34" charset="-120"/>
                        </a:rPr>
                        <a:t>Toàn corpus</a:t>
                      </a:r>
                      <a:endParaRPr lang="en-US" sz="1120" dirty="0">
                        <a:latin typeface="Calibri" charset="0"/>
                        <a:ea typeface="Calibri" charset="0"/>
                        <a:cs typeface="Calibri" charset="0"/>
                      </a:endParaRPr>
                    </a:p>
                  </a:txBody>
                  <a:tcPr marL="73152" marR="73152" marT="73152" marB="73152"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20" dirty="0">
                          <a:solidFill>
                            <a:srgbClr val="172B3A"/>
                          </a:solidFill>
                          <a:latin typeface="Calibri" pitchFamily="34" charset="0"/>
                          <a:ea typeface="Calibri" pitchFamily="34" charset="-122"/>
                          <a:cs typeface="Calibri" pitchFamily="34" charset="-120"/>
                        </a:rPr>
                        <a:t>missing · duplicate · orphan</a:t>
                      </a:r>
                      <a:endParaRPr lang="en-US" sz="1120" dirty="0">
                        <a:latin typeface="Calibri" charset="0"/>
                        <a:ea typeface="Calibri" charset="0"/>
                        <a:cs typeface="Calibri" charset="0"/>
                      </a:endParaRPr>
                    </a:p>
                  </a:txBody>
                  <a:tcPr marL="73152" marR="73152" marT="73152" marB="73152"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r>
              <a:tr h="548640">
                <a:tc>
                  <a:txBody>
                    <a:bodyPr/>
                    <a:lstStyle/>
                    <a:p>
                      <a:pPr indent="0" marL="0">
                        <a:buNone/>
                      </a:pPr>
                      <a:r>
                        <a:rPr lang="en-US" sz="1120" dirty="0">
                          <a:solidFill>
                            <a:srgbClr val="172B3A"/>
                          </a:solidFill>
                          <a:latin typeface="Calibri" pitchFamily="34" charset="0"/>
                          <a:ea typeface="Calibri" pitchFamily="34" charset="-122"/>
                          <a:cs typeface="Calibri" pitchFamily="34" charset="-120"/>
                        </a:rPr>
                        <a:t>Phân giải thực thể</a:t>
                      </a:r>
                      <a:endParaRPr lang="en-US" sz="1120" dirty="0">
                        <a:latin typeface="Calibri" charset="0"/>
                        <a:ea typeface="Calibri" charset="0"/>
                        <a:cs typeface="Calibri" charset="0"/>
                      </a:endParaRPr>
                    </a:p>
                  </a:txBody>
                  <a:tcPr marL="73152" marR="73152" marT="73152" marB="73152"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20" dirty="0">
                          <a:solidFill>
                            <a:srgbClr val="172B3A"/>
                          </a:solidFill>
                          <a:latin typeface="Calibri" pitchFamily="34" charset="0"/>
                          <a:ea typeface="Calibri" pitchFamily="34" charset="-122"/>
                          <a:cs typeface="Calibri" pitchFamily="34" charset="-120"/>
                        </a:rPr>
                        <a:t>100 cặp silver</a:t>
                      </a:r>
                      <a:endParaRPr lang="en-US" sz="1120" dirty="0">
                        <a:latin typeface="Calibri" charset="0"/>
                        <a:ea typeface="Calibri" charset="0"/>
                        <a:cs typeface="Calibri" charset="0"/>
                      </a:endParaRPr>
                    </a:p>
                  </a:txBody>
                  <a:tcPr marL="73152" marR="73152" marT="73152" marB="73152"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20" dirty="0">
                          <a:solidFill>
                            <a:srgbClr val="172B3A"/>
                          </a:solidFill>
                          <a:latin typeface="Calibri" pitchFamily="34" charset="0"/>
                          <a:ea typeface="Calibri" pitchFamily="34" charset="-122"/>
                          <a:cs typeface="Calibri" pitchFamily="34" charset="-120"/>
                        </a:rPr>
                        <a:t>P · R · F1</a:t>
                      </a:r>
                      <a:endParaRPr lang="en-US" sz="1120" dirty="0">
                        <a:latin typeface="Calibri" charset="0"/>
                        <a:ea typeface="Calibri" charset="0"/>
                        <a:cs typeface="Calibri" charset="0"/>
                      </a:endParaRPr>
                    </a:p>
                  </a:txBody>
                  <a:tcPr marL="73152" marR="73152" marT="73152" marB="73152"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r>
              <a:tr h="548640">
                <a:tc>
                  <a:txBody>
                    <a:bodyPr/>
                    <a:lstStyle/>
                    <a:p>
                      <a:pPr indent="0" marL="0">
                        <a:buNone/>
                      </a:pPr>
                      <a:r>
                        <a:rPr lang="en-US" sz="1120" dirty="0">
                          <a:solidFill>
                            <a:srgbClr val="172B3A"/>
                          </a:solidFill>
                          <a:latin typeface="Calibri" pitchFamily="34" charset="0"/>
                          <a:ea typeface="Calibri" pitchFamily="34" charset="-122"/>
                          <a:cs typeface="Calibri" pitchFamily="34" charset="-120"/>
                        </a:rPr>
                        <a:t>Suy diễn co-star</a:t>
                      </a:r>
                      <a:endParaRPr lang="en-US" sz="1120" dirty="0">
                        <a:latin typeface="Calibri" charset="0"/>
                        <a:ea typeface="Calibri" charset="0"/>
                        <a:cs typeface="Calibri" charset="0"/>
                      </a:endParaRPr>
                    </a:p>
                  </a:txBody>
                  <a:tcPr marL="73152" marR="73152" marT="73152" marB="73152"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20" dirty="0">
                          <a:solidFill>
                            <a:srgbClr val="172B3A"/>
                          </a:solidFill>
                          <a:latin typeface="Calibri" pitchFamily="34" charset="0"/>
                          <a:ea typeface="Calibri" pitchFamily="34" charset="-122"/>
                          <a:cs typeface="Calibri" pitchFamily="34" charset="-120"/>
                        </a:rPr>
                        <a:t>50 fact silver</a:t>
                      </a:r>
                      <a:endParaRPr lang="en-US" sz="1120" dirty="0">
                        <a:latin typeface="Calibri" charset="0"/>
                        <a:ea typeface="Calibri" charset="0"/>
                        <a:cs typeface="Calibri" charset="0"/>
                      </a:endParaRPr>
                    </a:p>
                  </a:txBody>
                  <a:tcPr marL="73152" marR="73152" marT="73152" marB="73152"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20" dirty="0">
                          <a:solidFill>
                            <a:srgbClr val="172B3A"/>
                          </a:solidFill>
                          <a:latin typeface="Calibri" pitchFamily="34" charset="0"/>
                          <a:ea typeface="Calibri" pitchFamily="34" charset="-122"/>
                          <a:cs typeface="Calibri" pitchFamily="34" charset="-120"/>
                        </a:rPr>
                        <a:t>precision</a:t>
                      </a:r>
                      <a:endParaRPr lang="en-US" sz="1120" dirty="0">
                        <a:latin typeface="Calibri" charset="0"/>
                        <a:ea typeface="Calibri" charset="0"/>
                        <a:cs typeface="Calibri" charset="0"/>
                      </a:endParaRPr>
                    </a:p>
                  </a:txBody>
                  <a:tcPr marL="73152" marR="73152" marT="73152" marB="73152"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r>
              <a:tr h="548640">
                <a:tc>
                  <a:txBody>
                    <a:bodyPr/>
                    <a:lstStyle/>
                    <a:p>
                      <a:pPr indent="0" marL="0">
                        <a:buNone/>
                      </a:pPr>
                      <a:r>
                        <a:rPr lang="en-US" sz="1120" dirty="0">
                          <a:solidFill>
                            <a:srgbClr val="172B3A"/>
                          </a:solidFill>
                          <a:latin typeface="Calibri" pitchFamily="34" charset="0"/>
                          <a:ea typeface="Calibri" pitchFamily="34" charset="-122"/>
                          <a:cs typeface="Calibri" pitchFamily="34" charset="-120"/>
                        </a:rPr>
                        <a:t>Hỏi–đáp</a:t>
                      </a:r>
                      <a:endParaRPr lang="en-US" sz="1120" dirty="0">
                        <a:latin typeface="Calibri" charset="0"/>
                        <a:ea typeface="Calibri" charset="0"/>
                        <a:cs typeface="Calibri" charset="0"/>
                      </a:endParaRPr>
                    </a:p>
                  </a:txBody>
                  <a:tcPr marL="73152" marR="73152" marT="73152" marB="73152"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20" dirty="0">
                          <a:solidFill>
                            <a:srgbClr val="172B3A"/>
                          </a:solidFill>
                          <a:latin typeface="Calibri" pitchFamily="34" charset="0"/>
                          <a:ea typeface="Calibri" pitchFamily="34" charset="-122"/>
                          <a:cs typeface="Calibri" pitchFamily="34" charset="-120"/>
                        </a:rPr>
                        <a:t>20 câu smoke</a:t>
                      </a:r>
                      <a:endParaRPr lang="en-US" sz="1120" dirty="0">
                        <a:latin typeface="Calibri" charset="0"/>
                        <a:ea typeface="Calibri" charset="0"/>
                        <a:cs typeface="Calibri" charset="0"/>
                      </a:endParaRPr>
                    </a:p>
                  </a:txBody>
                  <a:tcPr marL="73152" marR="73152" marT="73152" marB="73152"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20" dirty="0">
                          <a:solidFill>
                            <a:srgbClr val="172B3A"/>
                          </a:solidFill>
                          <a:latin typeface="Calibri" pitchFamily="34" charset="0"/>
                          <a:ea typeface="Calibri" pitchFamily="34" charset="-122"/>
                          <a:cs typeface="Calibri" pitchFamily="34" charset="-120"/>
                        </a:rPr>
                        <a:t>accuracy + evidence</a:t>
                      </a:r>
                      <a:endParaRPr lang="en-US" sz="1120" dirty="0">
                        <a:latin typeface="Calibri" charset="0"/>
                        <a:ea typeface="Calibri" charset="0"/>
                        <a:cs typeface="Calibri" charset="0"/>
                      </a:endParaRPr>
                    </a:p>
                  </a:txBody>
                  <a:tcPr marL="73152" marR="73152" marT="73152" marB="73152"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r>
              <a:tr h="548640">
                <a:tc>
                  <a:txBody>
                    <a:bodyPr/>
                    <a:lstStyle/>
                    <a:p>
                      <a:pPr indent="0" marL="0">
                        <a:buNone/>
                      </a:pPr>
                      <a:r>
                        <a:rPr lang="en-US" sz="1120" dirty="0">
                          <a:solidFill>
                            <a:srgbClr val="172B3A"/>
                          </a:solidFill>
                          <a:latin typeface="Calibri" pitchFamily="34" charset="0"/>
                          <a:ea typeface="Calibri" pitchFamily="34" charset="-122"/>
                          <a:cs typeface="Calibri" pitchFamily="34" charset="-120"/>
                        </a:rPr>
                        <a:t>Gợi ý</a:t>
                      </a:r>
                      <a:endParaRPr lang="en-US" sz="1120" dirty="0">
                        <a:latin typeface="Calibri" charset="0"/>
                        <a:ea typeface="Calibri" charset="0"/>
                        <a:cs typeface="Calibri" charset="0"/>
                      </a:endParaRPr>
                    </a:p>
                  </a:txBody>
                  <a:tcPr marL="73152" marR="73152" marT="73152" marB="73152"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20" dirty="0">
                          <a:solidFill>
                            <a:srgbClr val="172B3A"/>
                          </a:solidFill>
                          <a:latin typeface="Calibri" pitchFamily="34" charset="0"/>
                          <a:ea typeface="Calibri" pitchFamily="34" charset="-122"/>
                          <a:cs typeface="Calibri" pitchFamily="34" charset="-120"/>
                        </a:rPr>
                        <a:t>20 case silver</a:t>
                      </a:r>
                      <a:endParaRPr lang="en-US" sz="1120" dirty="0">
                        <a:latin typeface="Calibri" charset="0"/>
                        <a:ea typeface="Calibri" charset="0"/>
                        <a:cs typeface="Calibri" charset="0"/>
                      </a:endParaRPr>
                    </a:p>
                  </a:txBody>
                  <a:tcPr marL="73152" marR="73152" marT="73152" marB="73152"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20" dirty="0">
                          <a:solidFill>
                            <a:srgbClr val="172B3A"/>
                          </a:solidFill>
                          <a:latin typeface="Calibri" pitchFamily="34" charset="0"/>
                          <a:ea typeface="Calibri" pitchFamily="34" charset="-122"/>
                          <a:cs typeface="Calibri" pitchFamily="34" charset="-120"/>
                        </a:rPr>
                        <a:t>P@10 · NDCG@10</a:t>
                      </a:r>
                      <a:endParaRPr lang="en-US" sz="1120" dirty="0">
                        <a:latin typeface="Calibri" charset="0"/>
                        <a:ea typeface="Calibri" charset="0"/>
                        <a:cs typeface="Calibri" charset="0"/>
                      </a:endParaRPr>
                    </a:p>
                  </a:txBody>
                  <a:tcPr marL="73152" marR="73152" marT="73152" marB="73152"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r>
              <a:tr h="548640">
                <a:tc>
                  <a:txBody>
                    <a:bodyPr/>
                    <a:lstStyle/>
                    <a:p>
                      <a:pPr indent="0" marL="0">
                        <a:buNone/>
                      </a:pPr>
                      <a:r>
                        <a:rPr lang="en-US" sz="1120" dirty="0">
                          <a:solidFill>
                            <a:srgbClr val="172B3A"/>
                          </a:solidFill>
                          <a:latin typeface="Calibri" pitchFamily="34" charset="0"/>
                          <a:ea typeface="Calibri" pitchFamily="34" charset="-122"/>
                          <a:cs typeface="Calibri" pitchFamily="34" charset="-120"/>
                        </a:rPr>
                        <a:t>Hiệu năng</a:t>
                      </a:r>
                      <a:endParaRPr lang="en-US" sz="1120" dirty="0">
                        <a:latin typeface="Calibri" charset="0"/>
                        <a:ea typeface="Calibri" charset="0"/>
                        <a:cs typeface="Calibri" charset="0"/>
                      </a:endParaRPr>
                    </a:p>
                  </a:txBody>
                  <a:tcPr marL="73152" marR="73152" marT="73152" marB="73152"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20" dirty="0">
                          <a:solidFill>
                            <a:srgbClr val="172B3A"/>
                          </a:solidFill>
                          <a:latin typeface="Calibri" pitchFamily="34" charset="0"/>
                          <a:ea typeface="Calibri" pitchFamily="34" charset="-122"/>
                          <a:cs typeface="Calibri" pitchFamily="34" charset="-120"/>
                        </a:rPr>
                        <a:t>4 quy mô × 4 query</a:t>
                      </a:r>
                      <a:endParaRPr lang="en-US" sz="1120" dirty="0">
                        <a:latin typeface="Calibri" charset="0"/>
                        <a:ea typeface="Calibri" charset="0"/>
                        <a:cs typeface="Calibri" charset="0"/>
                      </a:endParaRPr>
                    </a:p>
                  </a:txBody>
                  <a:tcPr marL="73152" marR="73152" marT="73152" marB="73152"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120" dirty="0">
                          <a:solidFill>
                            <a:srgbClr val="172B3A"/>
                          </a:solidFill>
                          <a:latin typeface="Calibri" pitchFamily="34" charset="0"/>
                          <a:ea typeface="Calibri" pitchFamily="34" charset="-122"/>
                          <a:cs typeface="Calibri" pitchFamily="34" charset="-120"/>
                        </a:rPr>
                        <a:t>median · p95 · 100 lần</a:t>
                      </a:r>
                      <a:endParaRPr lang="en-US" sz="1120" dirty="0">
                        <a:latin typeface="Calibri" charset="0"/>
                        <a:ea typeface="Calibri" charset="0"/>
                        <a:cs typeface="Calibri" charset="0"/>
                      </a:endParaRPr>
                    </a:p>
                  </a:txBody>
                  <a:tcPr marL="73152" marR="73152" marT="73152" marB="73152" anchor="mid">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r>
            </a:tbl>
          </a:graphicData>
        </a:graphic>
      </p:graphicFrame>
      <p:sp>
        <p:nvSpPr>
          <p:cNvPr id="6" name="Shape 3"/>
          <p:cNvSpPr/>
          <p:nvPr/>
        </p:nvSpPr>
        <p:spPr>
          <a:xfrm>
            <a:off x="8430768" y="1792224"/>
            <a:ext cx="3127248" cy="1143000"/>
          </a:xfrm>
          <a:prstGeom prst="roundRect">
            <a:avLst>
              <a:gd name="adj" fmla="val 4800"/>
            </a:avLst>
          </a:prstGeom>
          <a:solidFill>
            <a:srgbClr val="FFF2DF"/>
          </a:solidFill>
          <a:ln w="12700">
            <a:solidFill>
              <a:srgbClr val="F1D5AA"/>
            </a:solidFill>
            <a:prstDash val="solid"/>
          </a:ln>
          <a:effectLst>
            <a:outerShdw sx="100000" sy="100000" kx="0" ky="0" algn="bl" rotWithShape="0" blurRad="25400" dist="50800" dir="2700000">
              <a:srgbClr val="26384A">
                <a:alpha val="13000"/>
              </a:srgbClr>
            </a:outerShdw>
          </a:effectLst>
        </p:spPr>
      </p:sp>
      <p:sp>
        <p:nvSpPr>
          <p:cNvPr id="7" name="Text 4"/>
          <p:cNvSpPr/>
          <p:nvPr/>
        </p:nvSpPr>
        <p:spPr>
          <a:xfrm>
            <a:off x="8659368" y="1975104"/>
            <a:ext cx="2670048" cy="301752"/>
          </a:xfrm>
          <a:prstGeom prst="rect">
            <a:avLst/>
          </a:prstGeom>
          <a:noFill/>
          <a:ln/>
        </p:spPr>
        <p:txBody>
          <a:bodyPr wrap="square" lIns="0" tIns="0" rIns="0" bIns="0" rtlCol="0" anchor="ctr">
            <a:normAutofit/>
          </a:bodyPr>
          <a:lstStyle/>
          <a:p>
            <a:pPr indent="0" marL="0">
              <a:buNone/>
            </a:pPr>
            <a:r>
              <a:rPr lang="en-US" sz="1400" b="1" dirty="0">
                <a:solidFill>
                  <a:srgbClr val="D38B36"/>
                </a:solidFill>
                <a:latin typeface="Calibri" pitchFamily="34" charset="0"/>
                <a:ea typeface="Calibri" pitchFamily="34" charset="-122"/>
                <a:cs typeface="Calibri" pitchFamily="34" charset="-120"/>
              </a:rPr>
              <a:t>Silver ≠ ground truth độc lập</a:t>
            </a:r>
            <a:endParaRPr lang="en-US" sz="1400" dirty="0"/>
          </a:p>
        </p:txBody>
      </p:sp>
      <p:sp>
        <p:nvSpPr>
          <p:cNvPr id="8" name="Text 5"/>
          <p:cNvSpPr/>
          <p:nvPr/>
        </p:nvSpPr>
        <p:spPr>
          <a:xfrm>
            <a:off x="8659368" y="2395728"/>
            <a:ext cx="2670048" cy="356616"/>
          </a:xfrm>
          <a:prstGeom prst="rect">
            <a:avLst/>
          </a:prstGeom>
          <a:noFill/>
          <a:ln/>
        </p:spPr>
        <p:txBody>
          <a:bodyPr wrap="square" lIns="0" tIns="0" rIns="0" bIns="0" rtlCol="0" anchor="t">
            <a:normAutofit/>
          </a:bodyPr>
          <a:lstStyle/>
          <a:p>
            <a:pPr indent="0" marL="0">
              <a:buNone/>
            </a:pPr>
            <a:r>
              <a:rPr lang="en-US" sz="1050" dirty="0">
                <a:solidFill>
                  <a:srgbClr val="172B3A"/>
                </a:solidFill>
                <a:latin typeface="Calibri" pitchFamily="34" charset="0"/>
                <a:ea typeface="Calibri" pitchFamily="34" charset="-122"/>
                <a:cs typeface="Calibri" pitchFamily="34" charset="-120"/>
              </a:rPr>
              <a:t>Corpus được sinh tất định, có provenance và rubric công bố.</a:t>
            </a:r>
            <a:endParaRPr lang="en-US" sz="1050" dirty="0"/>
          </a:p>
        </p:txBody>
      </p:sp>
      <p:sp>
        <p:nvSpPr>
          <p:cNvPr id="9" name="Shape 6"/>
          <p:cNvSpPr/>
          <p:nvPr/>
        </p:nvSpPr>
        <p:spPr>
          <a:xfrm>
            <a:off x="8430768" y="3236976"/>
            <a:ext cx="3127248" cy="1143000"/>
          </a:xfrm>
          <a:prstGeom prst="roundRect">
            <a:avLst>
              <a:gd name="adj" fmla="val 4800"/>
            </a:avLst>
          </a:prstGeom>
          <a:solidFill>
            <a:srgbClr val="EAF2F8"/>
          </a:solidFill>
          <a:ln w="12700">
            <a:solidFill>
              <a:srgbClr val="BDD4E5"/>
            </a:solidFill>
            <a:prstDash val="solid"/>
          </a:ln>
          <a:effectLst>
            <a:outerShdw sx="100000" sy="100000" kx="0" ky="0" algn="bl" rotWithShape="0" blurRad="25400" dist="50800" dir="2700000">
              <a:srgbClr val="26384A">
                <a:alpha val="13000"/>
              </a:srgbClr>
            </a:outerShdw>
          </a:effectLst>
        </p:spPr>
      </p:sp>
      <p:sp>
        <p:nvSpPr>
          <p:cNvPr id="10" name="Text 7"/>
          <p:cNvSpPr/>
          <p:nvPr/>
        </p:nvSpPr>
        <p:spPr>
          <a:xfrm>
            <a:off x="8659368" y="3419856"/>
            <a:ext cx="2670048" cy="301752"/>
          </a:xfrm>
          <a:prstGeom prst="rect">
            <a:avLst/>
          </a:prstGeom>
          <a:noFill/>
          <a:ln/>
        </p:spPr>
        <p:txBody>
          <a:bodyPr wrap="square" lIns="0" tIns="0" rIns="0" bIns="0" rtlCol="0" anchor="ctr">
            <a:normAutofit/>
          </a:bodyPr>
          <a:lstStyle/>
          <a:p>
            <a:pPr indent="0" marL="0">
              <a:buNone/>
            </a:pPr>
            <a:r>
              <a:rPr lang="en-US" sz="1400" b="1" dirty="0">
                <a:solidFill>
                  <a:srgbClr val="337B80"/>
                </a:solidFill>
                <a:latin typeface="Calibri" pitchFamily="34" charset="0"/>
                <a:ea typeface="Calibri" pitchFamily="34" charset="-122"/>
                <a:cs typeface="Calibri" pitchFamily="34" charset="-120"/>
              </a:rPr>
              <a:t>So sánh công bằng</a:t>
            </a:r>
            <a:endParaRPr lang="en-US" sz="1400" dirty="0"/>
          </a:p>
        </p:txBody>
      </p:sp>
      <p:sp>
        <p:nvSpPr>
          <p:cNvPr id="11" name="Text 8"/>
          <p:cNvSpPr/>
          <p:nvPr/>
        </p:nvSpPr>
        <p:spPr>
          <a:xfrm>
            <a:off x="8659368" y="3840480"/>
            <a:ext cx="2670048" cy="356616"/>
          </a:xfrm>
          <a:prstGeom prst="rect">
            <a:avLst/>
          </a:prstGeom>
          <a:noFill/>
          <a:ln/>
        </p:spPr>
        <p:txBody>
          <a:bodyPr wrap="square" lIns="0" tIns="0" rIns="0" bIns="0" rtlCol="0" anchor="t">
            <a:normAutofit/>
          </a:bodyPr>
          <a:lstStyle/>
          <a:p>
            <a:pPr indent="0" marL="0">
              <a:buNone/>
            </a:pPr>
            <a:r>
              <a:rPr lang="en-US" sz="1050" dirty="0">
                <a:solidFill>
                  <a:srgbClr val="172B3A"/>
                </a:solidFill>
                <a:latin typeface="Calibri" pitchFamily="34" charset="0"/>
                <a:ea typeface="Calibri" pitchFamily="34" charset="-122"/>
                <a:cs typeface="Calibri" pitchFamily="34" charset="-120"/>
              </a:rPr>
              <a:t>Neo4j và SQLite dùng cùng snapshot, máy, warm-up và số lần chạy.</a:t>
            </a:r>
            <a:endParaRPr lang="en-US" sz="1050" dirty="0"/>
          </a:p>
        </p:txBody>
      </p:sp>
      <p:sp>
        <p:nvSpPr>
          <p:cNvPr id="12" name="Shape 9"/>
          <p:cNvSpPr/>
          <p:nvPr/>
        </p:nvSpPr>
        <p:spPr>
          <a:xfrm>
            <a:off x="8430768" y="4681728"/>
            <a:ext cx="3127248" cy="1143000"/>
          </a:xfrm>
          <a:prstGeom prst="roundRect">
            <a:avLst>
              <a:gd name="adj" fmla="val 4800"/>
            </a:avLst>
          </a:prstGeom>
          <a:solidFill>
            <a:srgbClr val="FBEAEC"/>
          </a:solidFill>
          <a:ln w="12700">
            <a:solidFill>
              <a:srgbClr val="E9C3C6"/>
            </a:solidFill>
            <a:prstDash val="solid"/>
          </a:ln>
          <a:effectLst>
            <a:outerShdw sx="100000" sy="100000" kx="0" ky="0" algn="bl" rotWithShape="0" blurRad="25400" dist="50800" dir="2700000">
              <a:srgbClr val="26384A">
                <a:alpha val="13000"/>
              </a:srgbClr>
            </a:outerShdw>
          </a:effectLst>
        </p:spPr>
      </p:sp>
      <p:sp>
        <p:nvSpPr>
          <p:cNvPr id="13" name="Text 10"/>
          <p:cNvSpPr/>
          <p:nvPr/>
        </p:nvSpPr>
        <p:spPr>
          <a:xfrm>
            <a:off x="8659368" y="4864608"/>
            <a:ext cx="2670048" cy="301752"/>
          </a:xfrm>
          <a:prstGeom prst="rect">
            <a:avLst/>
          </a:prstGeom>
          <a:noFill/>
          <a:ln/>
        </p:spPr>
        <p:txBody>
          <a:bodyPr wrap="square" lIns="0" tIns="0" rIns="0" bIns="0" rtlCol="0" anchor="ctr">
            <a:normAutofit/>
          </a:bodyPr>
          <a:lstStyle/>
          <a:p>
            <a:pPr indent="0" marL="0">
              <a:buNone/>
            </a:pPr>
            <a:r>
              <a:rPr lang="en-US" sz="1400" b="1" dirty="0">
                <a:solidFill>
                  <a:srgbClr val="B94D52"/>
                </a:solidFill>
                <a:latin typeface="Calibri" pitchFamily="34" charset="0"/>
                <a:ea typeface="Calibri" pitchFamily="34" charset="-122"/>
                <a:cs typeface="Calibri" pitchFamily="34" charset="-120"/>
              </a:rPr>
              <a:t>Không vượt quá bằng chứng</a:t>
            </a:r>
            <a:endParaRPr lang="en-US" sz="1400" dirty="0"/>
          </a:p>
        </p:txBody>
      </p:sp>
      <p:sp>
        <p:nvSpPr>
          <p:cNvPr id="14" name="Text 11"/>
          <p:cNvSpPr/>
          <p:nvPr/>
        </p:nvSpPr>
        <p:spPr>
          <a:xfrm>
            <a:off x="8659368" y="5285232"/>
            <a:ext cx="2670048" cy="356616"/>
          </a:xfrm>
          <a:prstGeom prst="rect">
            <a:avLst/>
          </a:prstGeom>
          <a:noFill/>
          <a:ln/>
        </p:spPr>
        <p:txBody>
          <a:bodyPr wrap="square" lIns="0" tIns="0" rIns="0" bIns="0" rtlCol="0" anchor="t">
            <a:normAutofit/>
          </a:bodyPr>
          <a:lstStyle/>
          <a:p>
            <a:pPr indent="0" marL="0">
              <a:buNone/>
            </a:pPr>
            <a:r>
              <a:rPr lang="en-US" sz="1050" dirty="0">
                <a:solidFill>
                  <a:srgbClr val="172B3A"/>
                </a:solidFill>
                <a:latin typeface="Calibri" pitchFamily="34" charset="0"/>
                <a:ea typeface="Calibri" pitchFamily="34" charset="-122"/>
                <a:cs typeface="Calibri" pitchFamily="34" charset="-120"/>
              </a:rPr>
              <a:t>Không suy rộng sang concurrency, cold cache hay production scale.</a:t>
            </a:r>
            <a:endParaRPr lang="en-US" sz="1050" dirty="0"/>
          </a:p>
        </p:txBody>
      </p:sp>
      <p:sp>
        <p:nvSpPr>
          <p:cNvPr id="25" name="Slide Number Placeholder 0"/>
          <p:cNvSpPr>
            <a:spLocks noGrp="1"/>
          </p:cNvSpPr>
          <p:nvPr>
            <p:ph type="sldNum" sz="quarter" idx="4294967295"/>
          </p:nvPr>
        </p:nvSpPr>
        <p:spPr>
          <a:xfrm>
            <a:off x="11631168" y="6473952"/>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97586"/>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30352" y="475488"/>
            <a:ext cx="2194560" cy="219456"/>
          </a:xfrm>
          <a:prstGeom prst="rect">
            <a:avLst/>
          </a:prstGeom>
          <a:noFill/>
          <a:ln/>
        </p:spPr>
        <p:txBody>
          <a:bodyPr wrap="square" lIns="0" tIns="0" rIns="0" bIns="0" rtlCol="0" anchor="ctr"/>
          <a:lstStyle/>
          <a:p>
            <a:pPr indent="0" marL="0">
              <a:buNone/>
            </a:pPr>
            <a:r>
              <a:rPr lang="en-US" sz="900" b="1" spc="140" kern="0" dirty="0">
                <a:solidFill>
                  <a:srgbClr val="337B80"/>
                </a:solidFill>
                <a:latin typeface="Arial" pitchFamily="34" charset="0"/>
                <a:ea typeface="Arial" pitchFamily="34" charset="-122"/>
                <a:cs typeface="Arial" pitchFamily="34" charset="-120"/>
              </a:rPr>
              <a:t>KẾT QUẢ</a:t>
            </a:r>
            <a:endParaRPr lang="en-US" sz="900" dirty="0"/>
          </a:p>
        </p:txBody>
      </p:sp>
      <p:sp>
        <p:nvSpPr>
          <p:cNvPr id="3" name="Text 1"/>
          <p:cNvSpPr/>
          <p:nvPr/>
        </p:nvSpPr>
        <p:spPr>
          <a:xfrm>
            <a:off x="530352" y="713232"/>
            <a:ext cx="10881360" cy="502920"/>
          </a:xfrm>
          <a:prstGeom prst="rect">
            <a:avLst/>
          </a:prstGeom>
          <a:noFill/>
          <a:ln/>
        </p:spPr>
        <p:txBody>
          <a:bodyPr wrap="square" lIns="0" tIns="0" rIns="0" bIns="0" rtlCol="0" anchor="ctr">
            <a:normAutofit/>
          </a:bodyPr>
          <a:lstStyle/>
          <a:p>
            <a:pPr indent="0" marL="0">
              <a:buNone/>
            </a:pPr>
            <a:r>
              <a:rPr lang="en-US" sz="2600" b="1" dirty="0">
                <a:solidFill>
                  <a:srgbClr val="112B46"/>
                </a:solidFill>
                <a:latin typeface="Calibri" pitchFamily="34" charset="0"/>
                <a:ea typeface="Calibri" pitchFamily="34" charset="-122"/>
                <a:cs typeface="Calibri" pitchFamily="34" charset="-120"/>
              </a:rPr>
              <a:t>Kết quả chính: đúng cấu trúc, có bằng chứng, còn dư địa cải thiện</a:t>
            </a:r>
            <a:endParaRPr lang="en-US" sz="2600" dirty="0"/>
          </a:p>
        </p:txBody>
      </p:sp>
      <p:sp>
        <p:nvSpPr>
          <p:cNvPr id="4" name="Text 2"/>
          <p:cNvSpPr/>
          <p:nvPr/>
        </p:nvSpPr>
        <p:spPr>
          <a:xfrm>
            <a:off x="548640" y="1261872"/>
            <a:ext cx="10652760" cy="310896"/>
          </a:xfrm>
          <a:prstGeom prst="rect">
            <a:avLst/>
          </a:prstGeom>
          <a:noFill/>
          <a:ln/>
        </p:spPr>
        <p:txBody>
          <a:bodyPr wrap="square" lIns="0" tIns="0" rIns="0" bIns="0" rtlCol="0" anchor="ctr">
            <a:normAutofit/>
          </a:bodyPr>
          <a:lstStyle/>
          <a:p>
            <a:pPr indent="0" marL="0">
              <a:buNone/>
            </a:pPr>
            <a:r>
              <a:rPr lang="en-US" sz="1250" dirty="0">
                <a:solidFill>
                  <a:srgbClr val="697586"/>
                </a:solidFill>
                <a:latin typeface="Calibri" pitchFamily="34" charset="0"/>
                <a:ea typeface="Calibri" pitchFamily="34" charset="-122"/>
                <a:cs typeface="Calibri" pitchFamily="34" charset="-120"/>
              </a:rPr>
              <a:t>Các con số dưới đây đều thuộc lần chạy 5.000 đầu vào ngày 24/07/2026.</a:t>
            </a:r>
            <a:endParaRPr lang="en-US" sz="1250" dirty="0"/>
          </a:p>
        </p:txBody>
      </p:sp>
      <p:sp>
        <p:nvSpPr>
          <p:cNvPr id="5" name="Shape 3"/>
          <p:cNvSpPr/>
          <p:nvPr/>
        </p:nvSpPr>
        <p:spPr>
          <a:xfrm>
            <a:off x="594360" y="1783080"/>
            <a:ext cx="2057400" cy="1261872"/>
          </a:xfrm>
          <a:prstGeom prst="roundRect">
            <a:avLst>
              <a:gd name="adj" fmla="val 4348"/>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sp>
        <p:nvSpPr>
          <p:cNvPr id="6" name="Text 4"/>
          <p:cNvSpPr/>
          <p:nvPr/>
        </p:nvSpPr>
        <p:spPr>
          <a:xfrm>
            <a:off x="758952" y="1947672"/>
            <a:ext cx="1728216" cy="457200"/>
          </a:xfrm>
          <a:prstGeom prst="rect">
            <a:avLst/>
          </a:prstGeom>
          <a:noFill/>
          <a:ln/>
        </p:spPr>
        <p:txBody>
          <a:bodyPr wrap="square" lIns="0" tIns="0" rIns="0" bIns="0" rtlCol="0" anchor="ctr">
            <a:normAutofit/>
          </a:bodyPr>
          <a:lstStyle/>
          <a:p>
            <a:pPr indent="0" marL="0">
              <a:buNone/>
            </a:pPr>
            <a:r>
              <a:rPr lang="en-US" sz="2800" b="1" dirty="0">
                <a:solidFill>
                  <a:srgbClr val="3D8B66"/>
                </a:solidFill>
                <a:latin typeface="Arial" pitchFamily="34" charset="0"/>
                <a:ea typeface="Arial" pitchFamily="34" charset="-122"/>
                <a:cs typeface="Arial" pitchFamily="34" charset="-120"/>
              </a:rPr>
              <a:t>20/20</a:t>
            </a:r>
            <a:endParaRPr lang="en-US" sz="2800" dirty="0"/>
          </a:p>
        </p:txBody>
      </p:sp>
      <p:sp>
        <p:nvSpPr>
          <p:cNvPr id="7" name="Text 5"/>
          <p:cNvSpPr/>
          <p:nvPr/>
        </p:nvSpPr>
        <p:spPr>
          <a:xfrm>
            <a:off x="777240" y="2459736"/>
            <a:ext cx="1691640" cy="256032"/>
          </a:xfrm>
          <a:prstGeom prst="rect">
            <a:avLst/>
          </a:prstGeom>
          <a:noFill/>
          <a:ln/>
        </p:spPr>
        <p:txBody>
          <a:bodyPr wrap="square" lIns="0" tIns="0" rIns="0" bIns="0" rtlCol="0" anchor="ctr">
            <a:normAutofit/>
          </a:bodyPr>
          <a:lstStyle/>
          <a:p>
            <a:pPr indent="0" marL="0">
              <a:buNone/>
            </a:pPr>
            <a:r>
              <a:rPr lang="en-US" sz="1100" b="1" dirty="0">
                <a:solidFill>
                  <a:srgbClr val="172B3A"/>
                </a:solidFill>
                <a:latin typeface="Calibri" pitchFamily="34" charset="0"/>
                <a:ea typeface="Calibri" pitchFamily="34" charset="-122"/>
                <a:cs typeface="Calibri" pitchFamily="34" charset="-120"/>
              </a:rPr>
              <a:t>QA smoke</a:t>
            </a:r>
            <a:endParaRPr lang="en-US" sz="1100" dirty="0"/>
          </a:p>
        </p:txBody>
      </p:sp>
      <p:sp>
        <p:nvSpPr>
          <p:cNvPr id="8" name="Text 6"/>
          <p:cNvSpPr/>
          <p:nvPr/>
        </p:nvSpPr>
        <p:spPr>
          <a:xfrm>
            <a:off x="777240" y="2752344"/>
            <a:ext cx="1691640" cy="164592"/>
          </a:xfrm>
          <a:prstGeom prst="rect">
            <a:avLst/>
          </a:prstGeom>
          <a:noFill/>
          <a:ln/>
        </p:spPr>
        <p:txBody>
          <a:bodyPr wrap="square" lIns="0" tIns="0" rIns="0" bIns="0" rtlCol="0" anchor="ctr">
            <a:normAutofit/>
          </a:bodyPr>
          <a:lstStyle/>
          <a:p>
            <a:pPr indent="0" marL="0">
              <a:buNone/>
            </a:pPr>
            <a:r>
              <a:rPr lang="en-US" sz="750" dirty="0">
                <a:solidFill>
                  <a:srgbClr val="697586"/>
                </a:solidFill>
                <a:latin typeface="Arial" pitchFamily="34" charset="0"/>
                <a:ea typeface="Arial" pitchFamily="34" charset="-122"/>
                <a:cs typeface="Arial" pitchFamily="34" charset="-120"/>
              </a:rPr>
              <a:t>Neo4j + evidence</a:t>
            </a:r>
            <a:endParaRPr lang="en-US" sz="750" dirty="0"/>
          </a:p>
        </p:txBody>
      </p:sp>
      <p:sp>
        <p:nvSpPr>
          <p:cNvPr id="9" name="Shape 7"/>
          <p:cNvSpPr/>
          <p:nvPr/>
        </p:nvSpPr>
        <p:spPr>
          <a:xfrm>
            <a:off x="2834640" y="1783080"/>
            <a:ext cx="2057400" cy="1261872"/>
          </a:xfrm>
          <a:prstGeom prst="roundRect">
            <a:avLst>
              <a:gd name="adj" fmla="val 4348"/>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sp>
        <p:nvSpPr>
          <p:cNvPr id="10" name="Text 8"/>
          <p:cNvSpPr/>
          <p:nvPr/>
        </p:nvSpPr>
        <p:spPr>
          <a:xfrm>
            <a:off x="2999232" y="1947672"/>
            <a:ext cx="1728216" cy="457200"/>
          </a:xfrm>
          <a:prstGeom prst="rect">
            <a:avLst/>
          </a:prstGeom>
          <a:noFill/>
          <a:ln/>
        </p:spPr>
        <p:txBody>
          <a:bodyPr wrap="square" lIns="0" tIns="0" rIns="0" bIns="0" rtlCol="0" anchor="ctr">
            <a:normAutofit/>
          </a:bodyPr>
          <a:lstStyle/>
          <a:p>
            <a:pPr indent="0" marL="0">
              <a:buNone/>
            </a:pPr>
            <a:r>
              <a:rPr lang="en-US" sz="2800" b="1" dirty="0">
                <a:solidFill>
                  <a:srgbClr val="337B80"/>
                </a:solidFill>
                <a:latin typeface="Arial" pitchFamily="34" charset="0"/>
                <a:ea typeface="Arial" pitchFamily="34" charset="-122"/>
                <a:cs typeface="Arial" pitchFamily="34" charset="-120"/>
              </a:rPr>
              <a:t>0,966</a:t>
            </a:r>
            <a:endParaRPr lang="en-US" sz="2800" dirty="0"/>
          </a:p>
        </p:txBody>
      </p:sp>
      <p:sp>
        <p:nvSpPr>
          <p:cNvPr id="11" name="Text 9"/>
          <p:cNvSpPr/>
          <p:nvPr/>
        </p:nvSpPr>
        <p:spPr>
          <a:xfrm>
            <a:off x="3017520" y="2459736"/>
            <a:ext cx="1691640" cy="256032"/>
          </a:xfrm>
          <a:prstGeom prst="rect">
            <a:avLst/>
          </a:prstGeom>
          <a:noFill/>
          <a:ln/>
        </p:spPr>
        <p:txBody>
          <a:bodyPr wrap="square" lIns="0" tIns="0" rIns="0" bIns="0" rtlCol="0" anchor="ctr">
            <a:normAutofit/>
          </a:bodyPr>
          <a:lstStyle/>
          <a:p>
            <a:pPr indent="0" marL="0">
              <a:buNone/>
            </a:pPr>
            <a:r>
              <a:rPr lang="en-US" sz="1100" b="1" dirty="0">
                <a:solidFill>
                  <a:srgbClr val="172B3A"/>
                </a:solidFill>
                <a:latin typeface="Calibri" pitchFamily="34" charset="0"/>
                <a:ea typeface="Calibri" pitchFamily="34" charset="-122"/>
                <a:cs typeface="Calibri" pitchFamily="34" charset="-120"/>
              </a:rPr>
              <a:t>Entity F1</a:t>
            </a:r>
            <a:endParaRPr lang="en-US" sz="1100" dirty="0"/>
          </a:p>
        </p:txBody>
      </p:sp>
      <p:sp>
        <p:nvSpPr>
          <p:cNvPr id="12" name="Text 10"/>
          <p:cNvSpPr/>
          <p:nvPr/>
        </p:nvSpPr>
        <p:spPr>
          <a:xfrm>
            <a:off x="3017520" y="2752344"/>
            <a:ext cx="1691640" cy="164592"/>
          </a:xfrm>
          <a:prstGeom prst="rect">
            <a:avLst/>
          </a:prstGeom>
          <a:noFill/>
          <a:ln/>
        </p:spPr>
        <p:txBody>
          <a:bodyPr wrap="square" lIns="0" tIns="0" rIns="0" bIns="0" rtlCol="0" anchor="ctr">
            <a:normAutofit/>
          </a:bodyPr>
          <a:lstStyle/>
          <a:p>
            <a:pPr indent="0" marL="0">
              <a:buNone/>
            </a:pPr>
            <a:r>
              <a:rPr lang="en-US" sz="750" dirty="0">
                <a:solidFill>
                  <a:srgbClr val="697586"/>
                </a:solidFill>
                <a:latin typeface="Arial" pitchFamily="34" charset="0"/>
                <a:ea typeface="Arial" pitchFamily="34" charset="-122"/>
                <a:cs typeface="Arial" pitchFamily="34" charset="-120"/>
              </a:rPr>
              <a:t>100 cặp silver</a:t>
            </a:r>
            <a:endParaRPr lang="en-US" sz="750" dirty="0"/>
          </a:p>
        </p:txBody>
      </p:sp>
      <p:sp>
        <p:nvSpPr>
          <p:cNvPr id="13" name="Shape 11"/>
          <p:cNvSpPr/>
          <p:nvPr/>
        </p:nvSpPr>
        <p:spPr>
          <a:xfrm>
            <a:off x="5074920" y="1783080"/>
            <a:ext cx="2057400" cy="1261872"/>
          </a:xfrm>
          <a:prstGeom prst="roundRect">
            <a:avLst>
              <a:gd name="adj" fmla="val 4348"/>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sp>
        <p:nvSpPr>
          <p:cNvPr id="14" name="Text 12"/>
          <p:cNvSpPr/>
          <p:nvPr/>
        </p:nvSpPr>
        <p:spPr>
          <a:xfrm>
            <a:off x="5239512" y="1947672"/>
            <a:ext cx="1728216" cy="457200"/>
          </a:xfrm>
          <a:prstGeom prst="rect">
            <a:avLst/>
          </a:prstGeom>
          <a:noFill/>
          <a:ln/>
        </p:spPr>
        <p:txBody>
          <a:bodyPr wrap="square" lIns="0" tIns="0" rIns="0" bIns="0" rtlCol="0" anchor="ctr">
            <a:normAutofit/>
          </a:bodyPr>
          <a:lstStyle/>
          <a:p>
            <a:pPr indent="0" marL="0">
              <a:buNone/>
            </a:pPr>
            <a:r>
              <a:rPr lang="en-US" sz="2800" b="1" dirty="0">
                <a:solidFill>
                  <a:srgbClr val="725B9B"/>
                </a:solidFill>
                <a:latin typeface="Arial" pitchFamily="34" charset="0"/>
                <a:ea typeface="Arial" pitchFamily="34" charset="-122"/>
                <a:cs typeface="Arial" pitchFamily="34" charset="-120"/>
              </a:rPr>
              <a:t>1,00</a:t>
            </a:r>
            <a:endParaRPr lang="en-US" sz="2800" dirty="0"/>
          </a:p>
        </p:txBody>
      </p:sp>
      <p:sp>
        <p:nvSpPr>
          <p:cNvPr id="15" name="Text 13"/>
          <p:cNvSpPr/>
          <p:nvPr/>
        </p:nvSpPr>
        <p:spPr>
          <a:xfrm>
            <a:off x="5257800" y="2459736"/>
            <a:ext cx="1691640" cy="256032"/>
          </a:xfrm>
          <a:prstGeom prst="rect">
            <a:avLst/>
          </a:prstGeom>
          <a:noFill/>
          <a:ln/>
        </p:spPr>
        <p:txBody>
          <a:bodyPr wrap="square" lIns="0" tIns="0" rIns="0" bIns="0" rtlCol="0" anchor="ctr">
            <a:normAutofit/>
          </a:bodyPr>
          <a:lstStyle/>
          <a:p>
            <a:pPr indent="0" marL="0">
              <a:buNone/>
            </a:pPr>
            <a:r>
              <a:rPr lang="en-US" sz="1100" b="1" dirty="0">
                <a:solidFill>
                  <a:srgbClr val="172B3A"/>
                </a:solidFill>
                <a:latin typeface="Calibri" pitchFamily="34" charset="0"/>
                <a:ea typeface="Calibri" pitchFamily="34" charset="-122"/>
                <a:cs typeface="Calibri" pitchFamily="34" charset="-120"/>
              </a:rPr>
              <a:t>Co-star precision</a:t>
            </a:r>
            <a:endParaRPr lang="en-US" sz="1100" dirty="0"/>
          </a:p>
        </p:txBody>
      </p:sp>
      <p:sp>
        <p:nvSpPr>
          <p:cNvPr id="16" name="Text 14"/>
          <p:cNvSpPr/>
          <p:nvPr/>
        </p:nvSpPr>
        <p:spPr>
          <a:xfrm>
            <a:off x="5257800" y="2752344"/>
            <a:ext cx="1691640" cy="164592"/>
          </a:xfrm>
          <a:prstGeom prst="rect">
            <a:avLst/>
          </a:prstGeom>
          <a:noFill/>
          <a:ln/>
        </p:spPr>
        <p:txBody>
          <a:bodyPr wrap="square" lIns="0" tIns="0" rIns="0" bIns="0" rtlCol="0" anchor="ctr">
            <a:normAutofit/>
          </a:bodyPr>
          <a:lstStyle/>
          <a:p>
            <a:pPr indent="0" marL="0">
              <a:buNone/>
            </a:pPr>
            <a:r>
              <a:rPr lang="en-US" sz="750" dirty="0">
                <a:solidFill>
                  <a:srgbClr val="697586"/>
                </a:solidFill>
                <a:latin typeface="Arial" pitchFamily="34" charset="0"/>
                <a:ea typeface="Arial" pitchFamily="34" charset="-122"/>
                <a:cs typeface="Arial" pitchFamily="34" charset="-120"/>
              </a:rPr>
              <a:t>50 fact silver</a:t>
            </a:r>
            <a:endParaRPr lang="en-US" sz="750" dirty="0"/>
          </a:p>
        </p:txBody>
      </p:sp>
      <p:sp>
        <p:nvSpPr>
          <p:cNvPr id="17" name="Shape 15"/>
          <p:cNvSpPr/>
          <p:nvPr/>
        </p:nvSpPr>
        <p:spPr>
          <a:xfrm>
            <a:off x="7315200" y="1783080"/>
            <a:ext cx="2057400" cy="1261872"/>
          </a:xfrm>
          <a:prstGeom prst="roundRect">
            <a:avLst>
              <a:gd name="adj" fmla="val 4348"/>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sp>
        <p:nvSpPr>
          <p:cNvPr id="18" name="Text 16"/>
          <p:cNvSpPr/>
          <p:nvPr/>
        </p:nvSpPr>
        <p:spPr>
          <a:xfrm>
            <a:off x="7479792" y="1947672"/>
            <a:ext cx="1728216" cy="457200"/>
          </a:xfrm>
          <a:prstGeom prst="rect">
            <a:avLst/>
          </a:prstGeom>
          <a:noFill/>
          <a:ln/>
        </p:spPr>
        <p:txBody>
          <a:bodyPr wrap="square" lIns="0" tIns="0" rIns="0" bIns="0" rtlCol="0" anchor="ctr">
            <a:normAutofit/>
          </a:bodyPr>
          <a:lstStyle/>
          <a:p>
            <a:pPr indent="0" marL="0">
              <a:buNone/>
            </a:pPr>
            <a:r>
              <a:rPr lang="en-US" sz="2800" b="1" dirty="0">
                <a:solidFill>
                  <a:srgbClr val="D38B36"/>
                </a:solidFill>
                <a:latin typeface="Arial" pitchFamily="34" charset="0"/>
                <a:ea typeface="Arial" pitchFamily="34" charset="-122"/>
                <a:cs typeface="Arial" pitchFamily="34" charset="-120"/>
              </a:rPr>
              <a:t>0,635</a:t>
            </a:r>
            <a:endParaRPr lang="en-US" sz="2800" dirty="0"/>
          </a:p>
        </p:txBody>
      </p:sp>
      <p:sp>
        <p:nvSpPr>
          <p:cNvPr id="19" name="Text 17"/>
          <p:cNvSpPr/>
          <p:nvPr/>
        </p:nvSpPr>
        <p:spPr>
          <a:xfrm>
            <a:off x="7498080" y="2459736"/>
            <a:ext cx="1691640" cy="256032"/>
          </a:xfrm>
          <a:prstGeom prst="rect">
            <a:avLst/>
          </a:prstGeom>
          <a:noFill/>
          <a:ln/>
        </p:spPr>
        <p:txBody>
          <a:bodyPr wrap="square" lIns="0" tIns="0" rIns="0" bIns="0" rtlCol="0" anchor="ctr">
            <a:normAutofit/>
          </a:bodyPr>
          <a:lstStyle/>
          <a:p>
            <a:pPr indent="0" marL="0">
              <a:buNone/>
            </a:pPr>
            <a:r>
              <a:rPr lang="en-US" sz="1100" b="1" dirty="0">
                <a:solidFill>
                  <a:srgbClr val="172B3A"/>
                </a:solidFill>
                <a:latin typeface="Calibri" pitchFamily="34" charset="0"/>
                <a:ea typeface="Calibri" pitchFamily="34" charset="-122"/>
                <a:cs typeface="Calibri" pitchFamily="34" charset="-120"/>
              </a:rPr>
              <a:t>Recommendation P@10</a:t>
            </a:r>
            <a:endParaRPr lang="en-US" sz="1100" dirty="0"/>
          </a:p>
        </p:txBody>
      </p:sp>
      <p:sp>
        <p:nvSpPr>
          <p:cNvPr id="20" name="Text 18"/>
          <p:cNvSpPr/>
          <p:nvPr/>
        </p:nvSpPr>
        <p:spPr>
          <a:xfrm>
            <a:off x="7498080" y="2752344"/>
            <a:ext cx="1691640" cy="164592"/>
          </a:xfrm>
          <a:prstGeom prst="rect">
            <a:avLst/>
          </a:prstGeom>
          <a:noFill/>
          <a:ln/>
        </p:spPr>
        <p:txBody>
          <a:bodyPr wrap="square" lIns="0" tIns="0" rIns="0" bIns="0" rtlCol="0" anchor="ctr">
            <a:normAutofit/>
          </a:bodyPr>
          <a:lstStyle/>
          <a:p>
            <a:pPr indent="0" marL="0">
              <a:buNone/>
            </a:pPr>
            <a:r>
              <a:rPr lang="en-US" sz="750" dirty="0">
                <a:solidFill>
                  <a:srgbClr val="697586"/>
                </a:solidFill>
                <a:latin typeface="Arial" pitchFamily="34" charset="0"/>
                <a:ea typeface="Arial" pitchFamily="34" charset="-122"/>
                <a:cs typeface="Arial" pitchFamily="34" charset="-120"/>
              </a:rPr>
              <a:t>20 case silver</a:t>
            </a:r>
            <a:endParaRPr lang="en-US" sz="750" dirty="0"/>
          </a:p>
        </p:txBody>
      </p:sp>
      <p:sp>
        <p:nvSpPr>
          <p:cNvPr id="21" name="Shape 19"/>
          <p:cNvSpPr/>
          <p:nvPr/>
        </p:nvSpPr>
        <p:spPr>
          <a:xfrm>
            <a:off x="9555480" y="1783080"/>
            <a:ext cx="2057400" cy="1261872"/>
          </a:xfrm>
          <a:prstGeom prst="roundRect">
            <a:avLst>
              <a:gd name="adj" fmla="val 4348"/>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sp>
        <p:nvSpPr>
          <p:cNvPr id="22" name="Text 20"/>
          <p:cNvSpPr/>
          <p:nvPr/>
        </p:nvSpPr>
        <p:spPr>
          <a:xfrm>
            <a:off x="9720072" y="1947672"/>
            <a:ext cx="1728216" cy="457200"/>
          </a:xfrm>
          <a:prstGeom prst="rect">
            <a:avLst/>
          </a:prstGeom>
          <a:noFill/>
          <a:ln/>
        </p:spPr>
        <p:txBody>
          <a:bodyPr wrap="square" lIns="0" tIns="0" rIns="0" bIns="0" rtlCol="0" anchor="ctr">
            <a:normAutofit/>
          </a:bodyPr>
          <a:lstStyle/>
          <a:p>
            <a:pPr indent="0" marL="0">
              <a:buNone/>
            </a:pPr>
            <a:r>
              <a:rPr lang="en-US" sz="2800" b="1" dirty="0">
                <a:solidFill>
                  <a:srgbClr val="B94D52"/>
                </a:solidFill>
                <a:latin typeface="Arial" pitchFamily="34" charset="0"/>
                <a:ea typeface="Arial" pitchFamily="34" charset="-122"/>
                <a:cs typeface="Arial" pitchFamily="34" charset="-120"/>
              </a:rPr>
              <a:t>0,672</a:t>
            </a:r>
            <a:endParaRPr lang="en-US" sz="2800" dirty="0"/>
          </a:p>
        </p:txBody>
      </p:sp>
      <p:sp>
        <p:nvSpPr>
          <p:cNvPr id="23" name="Text 21"/>
          <p:cNvSpPr/>
          <p:nvPr/>
        </p:nvSpPr>
        <p:spPr>
          <a:xfrm>
            <a:off x="9738360" y="2459736"/>
            <a:ext cx="1691640" cy="256032"/>
          </a:xfrm>
          <a:prstGeom prst="rect">
            <a:avLst/>
          </a:prstGeom>
          <a:noFill/>
          <a:ln/>
        </p:spPr>
        <p:txBody>
          <a:bodyPr wrap="square" lIns="0" tIns="0" rIns="0" bIns="0" rtlCol="0" anchor="ctr">
            <a:normAutofit/>
          </a:bodyPr>
          <a:lstStyle/>
          <a:p>
            <a:pPr indent="0" marL="0">
              <a:buNone/>
            </a:pPr>
            <a:r>
              <a:rPr lang="en-US" sz="1100" b="1" dirty="0">
                <a:solidFill>
                  <a:srgbClr val="172B3A"/>
                </a:solidFill>
                <a:latin typeface="Calibri" pitchFamily="34" charset="0"/>
                <a:ea typeface="Calibri" pitchFamily="34" charset="-122"/>
                <a:cs typeface="Calibri" pitchFamily="34" charset="-120"/>
              </a:rPr>
              <a:t>NDCG@10</a:t>
            </a:r>
            <a:endParaRPr lang="en-US" sz="1100" dirty="0"/>
          </a:p>
        </p:txBody>
      </p:sp>
      <p:sp>
        <p:nvSpPr>
          <p:cNvPr id="24" name="Text 22"/>
          <p:cNvSpPr/>
          <p:nvPr/>
        </p:nvSpPr>
        <p:spPr>
          <a:xfrm>
            <a:off x="9738360" y="2752344"/>
            <a:ext cx="1691640" cy="164592"/>
          </a:xfrm>
          <a:prstGeom prst="rect">
            <a:avLst/>
          </a:prstGeom>
          <a:noFill/>
          <a:ln/>
        </p:spPr>
        <p:txBody>
          <a:bodyPr wrap="square" lIns="0" tIns="0" rIns="0" bIns="0" rtlCol="0" anchor="ctr">
            <a:normAutofit/>
          </a:bodyPr>
          <a:lstStyle/>
          <a:p>
            <a:pPr indent="0" marL="0">
              <a:buNone/>
            </a:pPr>
            <a:r>
              <a:rPr lang="en-US" sz="750" dirty="0">
                <a:solidFill>
                  <a:srgbClr val="697586"/>
                </a:solidFill>
                <a:latin typeface="Arial" pitchFamily="34" charset="0"/>
                <a:ea typeface="Arial" pitchFamily="34" charset="-122"/>
                <a:cs typeface="Arial" pitchFamily="34" charset="-120"/>
              </a:rPr>
              <a:t>20 case silver</a:t>
            </a:r>
            <a:endParaRPr lang="en-US" sz="750" dirty="0"/>
          </a:p>
        </p:txBody>
      </p:sp>
      <p:graphicFrame>
        <p:nvGraphicFramePr>
          <p:cNvPr id="25" name="Chart 0" descr=""/>
          <p:cNvGraphicFramePr/>
          <p:nvPr/>
        </p:nvGraphicFramePr>
        <p:xfrm>
          <a:off x="731520" y="3429000"/>
          <a:ext cx="6583680" cy="2395728"/>
        </p:xfrm>
        <a:graphic xmlns:a="http://schemas.openxmlformats.org/drawingml/2006/main">
          <a:graphicData uri="http://schemas.openxmlformats.org/drawingml/2006/chart">
            <c:chart xmlns:c="http://schemas.openxmlformats.org/drawingml/2006/chart" r:id="rId1"/>
          </a:graphicData>
        </a:graphic>
      </p:graphicFrame>
      <p:sp>
        <p:nvSpPr>
          <p:cNvPr id="26" name="Shape 23"/>
          <p:cNvSpPr/>
          <p:nvPr/>
        </p:nvSpPr>
        <p:spPr>
          <a:xfrm>
            <a:off x="7680960" y="3493008"/>
            <a:ext cx="3886200" cy="2267712"/>
          </a:xfrm>
          <a:prstGeom prst="roundRect">
            <a:avLst>
              <a:gd name="adj" fmla="val 2419"/>
            </a:avLst>
          </a:prstGeom>
          <a:solidFill>
            <a:srgbClr val="FFFFFF"/>
          </a:solidFill>
          <a:ln w="12700">
            <a:solidFill>
              <a:srgbClr val="D7DEE8"/>
            </a:solidFill>
            <a:prstDash val="solid"/>
          </a:ln>
          <a:effectLst>
            <a:outerShdw sx="100000" sy="100000" kx="0" ky="0" algn="bl" rotWithShape="0" blurRad="25400" dist="50800" dir="2700000">
              <a:srgbClr val="26384A">
                <a:alpha val="13000"/>
              </a:srgbClr>
            </a:outerShdw>
          </a:effectLst>
        </p:spPr>
      </p:sp>
      <p:sp>
        <p:nvSpPr>
          <p:cNvPr id="27" name="Text 24"/>
          <p:cNvSpPr/>
          <p:nvPr/>
        </p:nvSpPr>
        <p:spPr>
          <a:xfrm>
            <a:off x="7909560" y="3675888"/>
            <a:ext cx="3429000" cy="301752"/>
          </a:xfrm>
          <a:prstGeom prst="rect">
            <a:avLst/>
          </a:prstGeom>
          <a:noFill/>
          <a:ln/>
        </p:spPr>
        <p:txBody>
          <a:bodyPr wrap="square" lIns="0" tIns="0" rIns="0" bIns="0" rtlCol="0" anchor="ctr">
            <a:normAutofit/>
          </a:bodyPr>
          <a:lstStyle/>
          <a:p>
            <a:pPr indent="0" marL="0">
              <a:buNone/>
            </a:pPr>
            <a:r>
              <a:rPr lang="en-US" sz="1700" b="1" dirty="0">
                <a:solidFill>
                  <a:srgbClr val="112B46"/>
                </a:solidFill>
                <a:latin typeface="Calibri" pitchFamily="34" charset="0"/>
                <a:ea typeface="Calibri" pitchFamily="34" charset="-122"/>
                <a:cs typeface="Calibri" pitchFamily="34" charset="-120"/>
              </a:rPr>
              <a:t>Cách đọc thận trọng</a:t>
            </a:r>
            <a:endParaRPr lang="en-US" sz="1700" dirty="0"/>
          </a:p>
        </p:txBody>
      </p:sp>
      <p:sp>
        <p:nvSpPr>
          <p:cNvPr id="28" name="Text 25"/>
          <p:cNvSpPr/>
          <p:nvPr/>
        </p:nvSpPr>
        <p:spPr>
          <a:xfrm>
            <a:off x="7909560" y="4096512"/>
            <a:ext cx="3429000" cy="1481328"/>
          </a:xfrm>
          <a:prstGeom prst="rect">
            <a:avLst/>
          </a:prstGeom>
          <a:noFill/>
          <a:ln/>
        </p:spPr>
        <p:txBody>
          <a:bodyPr wrap="square" lIns="0" tIns="0" rIns="0" bIns="0" rtlCol="0" anchor="t">
            <a:normAutofit/>
          </a:bodyPr>
          <a:lstStyle/>
          <a:p>
            <a:pPr indent="0" marL="0">
              <a:buNone/>
            </a:pPr>
            <a:r>
              <a:rPr lang="en-US" sz="1250" dirty="0">
                <a:solidFill>
                  <a:srgbClr val="172B3A"/>
                </a:solidFill>
                <a:latin typeface="Calibri" pitchFamily="34" charset="0"/>
                <a:ea typeface="Calibri" pitchFamily="34" charset="-122"/>
                <a:cs typeface="Calibri" pitchFamily="34" charset="-120"/>
              </a:rPr>
              <a:t>• QA là smoke corpus được quản lý.</a:t>
            </a:r>
            <a:endParaRPr lang="en-US" sz="1250" dirty="0"/>
          </a:p>
          <a:p>
            <a:pPr indent="0" marL="0">
              <a:buNone/>
            </a:pPr>
            <a:r>
              <a:rPr lang="en-US" sz="1250" dirty="0">
                <a:solidFill>
                  <a:srgbClr val="172B3A"/>
                </a:solidFill>
                <a:latin typeface="Calibri" pitchFamily="34" charset="0"/>
                <a:ea typeface="Calibri" pitchFamily="34" charset="-122"/>
                <a:cs typeface="Calibri" pitchFamily="34" charset="-120"/>
              </a:rPr>
              <a:t>• Entity precision cao nhờ abstention bảo thủ.</a:t>
            </a:r>
            <a:endParaRPr lang="en-US" sz="1250" dirty="0"/>
          </a:p>
          <a:p>
            <a:pPr indent="0" marL="0">
              <a:buNone/>
            </a:pPr>
            <a:r>
              <a:rPr lang="en-US" sz="1250" dirty="0">
                <a:solidFill>
                  <a:srgbClr val="172B3A"/>
                </a:solidFill>
                <a:latin typeface="Calibri" pitchFamily="34" charset="0"/>
                <a:ea typeface="Calibri" pitchFamily="34" charset="-122"/>
                <a:cs typeface="Calibri" pitchFamily="34" charset="-120"/>
              </a:rPr>
              <a:t>• Recommendation là metric silver, chưa phải đánh giá người dùng.</a:t>
            </a:r>
            <a:endParaRPr lang="en-US" sz="1250" dirty="0"/>
          </a:p>
          <a:p>
            <a:pPr indent="0" marL="0">
              <a:buNone/>
            </a:pPr>
            <a:r>
              <a:rPr lang="en-US" sz="1250" dirty="0">
                <a:solidFill>
                  <a:srgbClr val="172B3A"/>
                </a:solidFill>
                <a:latin typeface="Calibri" pitchFamily="34" charset="0"/>
                <a:ea typeface="Calibri" pitchFamily="34" charset="-122"/>
                <a:cs typeface="Calibri" pitchFamily="34" charset="-120"/>
              </a:rPr>
              <a:t>• Mọi output gợi ý đều có đường giải thích.</a:t>
            </a:r>
            <a:endParaRPr lang="en-US" sz="1250" dirty="0"/>
          </a:p>
        </p:txBody>
      </p:sp>
      <p:sp>
        <p:nvSpPr>
          <p:cNvPr id="29" name="Text 26"/>
          <p:cNvSpPr/>
          <p:nvPr/>
        </p:nvSpPr>
        <p:spPr>
          <a:xfrm>
            <a:off x="548640" y="6254496"/>
            <a:ext cx="10744200" cy="182880"/>
          </a:xfrm>
          <a:prstGeom prst="rect">
            <a:avLst/>
          </a:prstGeom>
          <a:noFill/>
          <a:ln/>
        </p:spPr>
        <p:txBody>
          <a:bodyPr wrap="square" lIns="0" tIns="0" rIns="0" bIns="0" rtlCol="0" anchor="ctr"/>
          <a:lstStyle/>
          <a:p>
            <a:pPr indent="0" marL="0">
              <a:buNone/>
            </a:pPr>
            <a:r>
              <a:rPr lang="en-US" sz="750" i="1" dirty="0">
                <a:solidFill>
                  <a:srgbClr val="7C8796"/>
                </a:solidFill>
                <a:latin typeface="Arial" pitchFamily="34" charset="0"/>
                <a:ea typeface="Arial" pitchFamily="34" charset="-122"/>
                <a:cs typeface="Arial" pitchFamily="34" charset="-120"/>
              </a:rPr>
              <a:t>Nguồn: experiments/results/summary/quality_metrics.csv</a:t>
            </a:r>
            <a:endParaRPr lang="en-US" sz="750" dirty="0"/>
          </a:p>
        </p:txBody>
      </p:sp>
      <p:sp>
        <p:nvSpPr>
          <p:cNvPr id="25" name="Slide Number Placeholder 0"/>
          <p:cNvSpPr>
            <a:spLocks noGrp="1"/>
          </p:cNvSpPr>
          <p:nvPr>
            <p:ph type="sldNum" sz="quarter" idx="4294967295"/>
          </p:nvPr>
        </p:nvSpPr>
        <p:spPr>
          <a:xfrm>
            <a:off x="11631168" y="6473952"/>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97586"/>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30352" y="475488"/>
            <a:ext cx="2194560" cy="219456"/>
          </a:xfrm>
          <a:prstGeom prst="rect">
            <a:avLst/>
          </a:prstGeom>
          <a:noFill/>
          <a:ln/>
        </p:spPr>
        <p:txBody>
          <a:bodyPr wrap="square" lIns="0" tIns="0" rIns="0" bIns="0" rtlCol="0" anchor="ctr"/>
          <a:lstStyle/>
          <a:p>
            <a:pPr indent="0" marL="0">
              <a:buNone/>
            </a:pPr>
            <a:r>
              <a:rPr lang="en-US" sz="900" b="1" spc="140" kern="0" dirty="0">
                <a:solidFill>
                  <a:srgbClr val="337B80"/>
                </a:solidFill>
                <a:latin typeface="Arial" pitchFamily="34" charset="0"/>
                <a:ea typeface="Arial" pitchFamily="34" charset="-122"/>
                <a:cs typeface="Arial" pitchFamily="34" charset="-120"/>
              </a:rPr>
              <a:t>PHÂN TÍCH</a:t>
            </a:r>
            <a:endParaRPr lang="en-US" sz="900" dirty="0"/>
          </a:p>
        </p:txBody>
      </p:sp>
      <p:sp>
        <p:nvSpPr>
          <p:cNvPr id="3" name="Text 1"/>
          <p:cNvSpPr/>
          <p:nvPr/>
        </p:nvSpPr>
        <p:spPr>
          <a:xfrm>
            <a:off x="530352" y="713232"/>
            <a:ext cx="10881360" cy="502920"/>
          </a:xfrm>
          <a:prstGeom prst="rect">
            <a:avLst/>
          </a:prstGeom>
          <a:noFill/>
          <a:ln/>
        </p:spPr>
        <p:txBody>
          <a:bodyPr wrap="square" lIns="0" tIns="0" rIns="0" bIns="0" rtlCol="0" anchor="ctr">
            <a:normAutofit/>
          </a:bodyPr>
          <a:lstStyle/>
          <a:p>
            <a:pPr indent="0" marL="0">
              <a:buNone/>
            </a:pPr>
            <a:r>
              <a:rPr lang="en-US" sz="2600" b="1" dirty="0">
                <a:solidFill>
                  <a:srgbClr val="112B46"/>
                </a:solidFill>
                <a:latin typeface="Calibri" pitchFamily="34" charset="0"/>
                <a:ea typeface="Calibri" pitchFamily="34" charset="-122"/>
                <a:cs typeface="Calibri" pitchFamily="34" charset="-120"/>
              </a:rPr>
              <a:t>Phép đo so sánh cho thấy sự đánh đổi</a:t>
            </a:r>
            <a:endParaRPr lang="en-US" sz="2600" dirty="0"/>
          </a:p>
        </p:txBody>
      </p:sp>
      <p:sp>
        <p:nvSpPr>
          <p:cNvPr id="4" name="Text 2"/>
          <p:cNvSpPr/>
          <p:nvPr/>
        </p:nvSpPr>
        <p:spPr>
          <a:xfrm>
            <a:off x="548640" y="1261872"/>
            <a:ext cx="10652760" cy="310896"/>
          </a:xfrm>
          <a:prstGeom prst="rect">
            <a:avLst/>
          </a:prstGeom>
          <a:noFill/>
          <a:ln/>
        </p:spPr>
        <p:txBody>
          <a:bodyPr wrap="square" lIns="0" tIns="0" rIns="0" bIns="0" rtlCol="0" anchor="ctr">
            <a:normAutofit/>
          </a:bodyPr>
          <a:lstStyle/>
          <a:p>
            <a:pPr indent="0" marL="0">
              <a:buNone/>
            </a:pPr>
            <a:r>
              <a:rPr lang="en-US" sz="1250" dirty="0">
                <a:solidFill>
                  <a:srgbClr val="697586"/>
                </a:solidFill>
                <a:latin typeface="Calibri" pitchFamily="34" charset="0"/>
                <a:ea typeface="Calibri" pitchFamily="34" charset="-122"/>
                <a:cs typeface="Calibri" pitchFamily="34" charset="-120"/>
              </a:rPr>
              <a:t>SQLite nhanh hơn ở toàn bộ cặp truy vấn/quy mô; Neo4j đổi lại mô hình duyệt đồ thị và bằng chứng trực tiếp.</a:t>
            </a:r>
            <a:endParaRPr lang="en-US" sz="1250" dirty="0"/>
          </a:p>
        </p:txBody>
      </p:sp>
      <p:graphicFrame>
        <p:nvGraphicFramePr>
          <p:cNvPr id="5" name="Chart 0" descr=""/>
          <p:cNvGraphicFramePr/>
          <p:nvPr/>
        </p:nvGraphicFramePr>
        <p:xfrm>
          <a:off x="594360" y="1792224"/>
          <a:ext cx="5669280" cy="324612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537960" y="1792224"/>
          <a:ext cx="5029200" cy="324612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685800" y="5257800"/>
            <a:ext cx="5440680" cy="713232"/>
          </a:xfrm>
          <a:prstGeom prst="roundRect">
            <a:avLst>
              <a:gd name="adj" fmla="val 7692"/>
            </a:avLst>
          </a:prstGeom>
          <a:solidFill>
            <a:srgbClr val="FFF2DF"/>
          </a:solidFill>
          <a:ln w="12700">
            <a:solidFill>
              <a:srgbClr val="F1D5AA"/>
            </a:solidFill>
            <a:prstDash val="solid"/>
          </a:ln>
        </p:spPr>
      </p:sp>
      <p:sp>
        <p:nvSpPr>
          <p:cNvPr id="8" name="Text 4"/>
          <p:cNvSpPr/>
          <p:nvPr/>
        </p:nvSpPr>
        <p:spPr>
          <a:xfrm>
            <a:off x="914400" y="5440680"/>
            <a:ext cx="4983480" cy="301752"/>
          </a:xfrm>
          <a:prstGeom prst="rect">
            <a:avLst/>
          </a:prstGeom>
          <a:noFill/>
          <a:ln/>
        </p:spPr>
        <p:txBody>
          <a:bodyPr wrap="square" lIns="0" tIns="0" rIns="0" bIns="0" rtlCol="0" anchor="ctr">
            <a:normAutofit/>
          </a:bodyPr>
          <a:lstStyle/>
          <a:p>
            <a:pPr indent="0" marL="0">
              <a:buNone/>
            </a:pPr>
            <a:r>
              <a:rPr lang="en-US" sz="1300" b="1" dirty="0">
                <a:solidFill>
                  <a:srgbClr val="112B46"/>
                </a:solidFill>
                <a:latin typeface="Calibri" pitchFamily="34" charset="0"/>
                <a:ea typeface="Calibri" pitchFamily="34" charset="-122"/>
                <a:cs typeface="Calibri" pitchFamily="34" charset="-120"/>
              </a:rPr>
              <a:t>Kết luận hiệu năng</a:t>
            </a:r>
            <a:endParaRPr lang="en-US" sz="1300" dirty="0"/>
          </a:p>
        </p:txBody>
      </p:sp>
      <p:sp>
        <p:nvSpPr>
          <p:cNvPr id="9" name="Text 5"/>
          <p:cNvSpPr/>
          <p:nvPr/>
        </p:nvSpPr>
        <p:spPr>
          <a:xfrm>
            <a:off x="914400" y="5861304"/>
            <a:ext cx="4983480" cy="-73152"/>
          </a:xfrm>
          <a:prstGeom prst="rect">
            <a:avLst/>
          </a:prstGeom>
          <a:noFill/>
          <a:ln/>
        </p:spPr>
        <p:txBody>
          <a:bodyPr wrap="square" lIns="0" tIns="0" rIns="0" bIns="0" rtlCol="0" anchor="t">
            <a:normAutofit/>
          </a:bodyPr>
          <a:lstStyle/>
          <a:p>
            <a:pPr indent="0" marL="0">
              <a:buNone/>
            </a:pPr>
            <a:r>
              <a:rPr lang="en-US" sz="1000" dirty="0">
                <a:solidFill>
                  <a:srgbClr val="172B3A"/>
                </a:solidFill>
                <a:latin typeface="Calibri" pitchFamily="34" charset="0"/>
                <a:ea typeface="Calibri" pitchFamily="34" charset="-122"/>
                <a:cs typeface="Calibri" pitchFamily="34" charset="-120"/>
              </a:rPr>
              <a:t>Đo warm-cache, 100 lần/query, không đo concurrency hoặc cold cache.</a:t>
            </a:r>
            <a:endParaRPr lang="en-US" sz="1000" dirty="0"/>
          </a:p>
        </p:txBody>
      </p:sp>
      <p:sp>
        <p:nvSpPr>
          <p:cNvPr id="10" name="Shape 6"/>
          <p:cNvSpPr/>
          <p:nvPr/>
        </p:nvSpPr>
        <p:spPr>
          <a:xfrm>
            <a:off x="6537960" y="5257800"/>
            <a:ext cx="5010912" cy="713232"/>
          </a:xfrm>
          <a:prstGeom prst="roundRect">
            <a:avLst>
              <a:gd name="adj" fmla="val 7692"/>
            </a:avLst>
          </a:prstGeom>
          <a:solidFill>
            <a:srgbClr val="F0ECF7"/>
          </a:solidFill>
          <a:ln w="12700">
            <a:solidFill>
              <a:srgbClr val="D9CFE8"/>
            </a:solidFill>
            <a:prstDash val="solid"/>
          </a:ln>
        </p:spPr>
      </p:sp>
      <p:sp>
        <p:nvSpPr>
          <p:cNvPr id="11" name="Text 7"/>
          <p:cNvSpPr/>
          <p:nvPr/>
        </p:nvSpPr>
        <p:spPr>
          <a:xfrm>
            <a:off x="6766560" y="5440680"/>
            <a:ext cx="4553712" cy="301752"/>
          </a:xfrm>
          <a:prstGeom prst="rect">
            <a:avLst/>
          </a:prstGeom>
          <a:noFill/>
          <a:ln/>
        </p:spPr>
        <p:txBody>
          <a:bodyPr wrap="square" lIns="0" tIns="0" rIns="0" bIns="0" rtlCol="0" anchor="ctr">
            <a:normAutofit/>
          </a:bodyPr>
          <a:lstStyle/>
          <a:p>
            <a:pPr indent="0" marL="0">
              <a:buNone/>
            </a:pPr>
            <a:r>
              <a:rPr lang="en-US" sz="1300" b="1" dirty="0">
                <a:solidFill>
                  <a:srgbClr val="112B46"/>
                </a:solidFill>
                <a:latin typeface="Calibri" pitchFamily="34" charset="0"/>
                <a:ea typeface="Calibri" pitchFamily="34" charset="-122"/>
                <a:cs typeface="Calibri" pitchFamily="34" charset="-120"/>
              </a:rPr>
              <a:t>Kết luận gợi ý</a:t>
            </a:r>
            <a:endParaRPr lang="en-US" sz="1300" dirty="0"/>
          </a:p>
        </p:txBody>
      </p:sp>
      <p:sp>
        <p:nvSpPr>
          <p:cNvPr id="12" name="Text 8"/>
          <p:cNvSpPr/>
          <p:nvPr/>
        </p:nvSpPr>
        <p:spPr>
          <a:xfrm>
            <a:off x="6766560" y="5861304"/>
            <a:ext cx="4553712" cy="-73152"/>
          </a:xfrm>
          <a:prstGeom prst="rect">
            <a:avLst/>
          </a:prstGeom>
          <a:noFill/>
          <a:ln/>
        </p:spPr>
        <p:txBody>
          <a:bodyPr wrap="square" lIns="0" tIns="0" rIns="0" bIns="0" rtlCol="0" anchor="t">
            <a:normAutofit/>
          </a:bodyPr>
          <a:lstStyle/>
          <a:p>
            <a:pPr indent="0" marL="0">
              <a:buNone/>
            </a:pPr>
            <a:r>
              <a:rPr lang="en-US" sz="1000" dirty="0">
                <a:solidFill>
                  <a:srgbClr val="172B3A"/>
                </a:solidFill>
                <a:latin typeface="Calibri" pitchFamily="34" charset="0"/>
                <a:ea typeface="Calibri" pitchFamily="34" charset="-122"/>
                <a:cs typeface="Calibri" pitchFamily="34" charset="-120"/>
              </a:rPr>
              <a:t>Các mốc cũ là lịch sử thiết kế, không phải lựa chọn runtime.</a:t>
            </a:r>
            <a:endParaRPr lang="en-US" sz="1000" dirty="0"/>
          </a:p>
        </p:txBody>
      </p:sp>
      <p:sp>
        <p:nvSpPr>
          <p:cNvPr id="13" name="Text 9"/>
          <p:cNvSpPr/>
          <p:nvPr/>
        </p:nvSpPr>
        <p:spPr>
          <a:xfrm>
            <a:off x="548640" y="6254496"/>
            <a:ext cx="10744200" cy="182880"/>
          </a:xfrm>
          <a:prstGeom prst="rect">
            <a:avLst/>
          </a:prstGeom>
          <a:noFill/>
          <a:ln/>
        </p:spPr>
        <p:txBody>
          <a:bodyPr wrap="square" lIns="0" tIns="0" rIns="0" bIns="0" rtlCol="0" anchor="ctr"/>
          <a:lstStyle/>
          <a:p>
            <a:pPr indent="0" marL="0">
              <a:buNone/>
            </a:pPr>
            <a:r>
              <a:rPr lang="en-US" sz="750" i="1" dirty="0">
                <a:solidFill>
                  <a:srgbClr val="7C8796"/>
                </a:solidFill>
                <a:latin typeface="Arial" pitchFamily="34" charset="0"/>
                <a:ea typeface="Arial" pitchFamily="34" charset="-122"/>
                <a:cs typeface="Arial" pitchFamily="34" charset="-120"/>
              </a:rPr>
              <a:t>Nguồn: multiscale_benchmark.csv · recommendation_ablation.json · recommendation.json</a:t>
            </a:r>
            <a:endParaRPr lang="en-US" sz="750" dirty="0"/>
          </a:p>
        </p:txBody>
      </p:sp>
      <p:sp>
        <p:nvSpPr>
          <p:cNvPr id="25" name="Slide Number Placeholder 0"/>
          <p:cNvSpPr>
            <a:spLocks noGrp="1"/>
          </p:cNvSpPr>
          <p:nvPr>
            <p:ph type="sldNum" sz="quarter" idx="4294967295"/>
          </p:nvPr>
        </p:nvSpPr>
        <p:spPr>
          <a:xfrm>
            <a:off x="11631168" y="6473952"/>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97586"/>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2B46"/>
        </a:solidFill>
      </p:bgPr>
    </p:bg>
    <p:spTree>
      <p:nvGrpSpPr>
        <p:cNvPr id="1" name=""/>
        <p:cNvGrpSpPr/>
        <p:nvPr/>
      </p:nvGrpSpPr>
      <p:grpSpPr>
        <a:xfrm>
          <a:off x="0" y="0"/>
          <a:ext cx="0" cy="0"/>
          <a:chOff x="0" y="0"/>
          <a:chExt cx="0" cy="0"/>
        </a:xfrm>
      </p:grpSpPr>
      <p:sp>
        <p:nvSpPr>
          <p:cNvPr id="2" name="Shape 0"/>
          <p:cNvSpPr/>
          <p:nvPr/>
        </p:nvSpPr>
        <p:spPr>
          <a:xfrm>
            <a:off x="9784080" y="-640080"/>
            <a:ext cx="3200400" cy="3200400"/>
          </a:xfrm>
          <a:prstGeom prst="ellipse">
            <a:avLst/>
          </a:prstGeom>
          <a:solidFill>
            <a:srgbClr val="337B80">
              <a:alpha val="28000"/>
            </a:srgbClr>
          </a:solidFill>
          <a:ln w="12700">
            <a:solidFill>
              <a:srgbClr val="337B80">
                <a:alpha val="0"/>
              </a:srgbClr>
            </a:solidFill>
            <a:prstDash val="solid"/>
          </a:ln>
        </p:spPr>
      </p:sp>
      <p:sp>
        <p:nvSpPr>
          <p:cNvPr id="3" name="Shape 1"/>
          <p:cNvSpPr/>
          <p:nvPr/>
        </p:nvSpPr>
        <p:spPr>
          <a:xfrm>
            <a:off x="-640080" y="5303520"/>
            <a:ext cx="2103120" cy="2103120"/>
          </a:xfrm>
          <a:prstGeom prst="ellipse">
            <a:avLst/>
          </a:prstGeom>
          <a:solidFill>
            <a:srgbClr val="725B9B">
              <a:alpha val="30000"/>
            </a:srgbClr>
          </a:solidFill>
          <a:ln w="12700">
            <a:solidFill>
              <a:srgbClr val="725B9B">
                <a:alpha val="0"/>
              </a:srgbClr>
            </a:solidFill>
            <a:prstDash val="solid"/>
          </a:ln>
        </p:spPr>
      </p:sp>
      <p:sp>
        <p:nvSpPr>
          <p:cNvPr id="4" name="Text 2"/>
          <p:cNvSpPr/>
          <p:nvPr/>
        </p:nvSpPr>
        <p:spPr>
          <a:xfrm>
            <a:off x="685800" y="594360"/>
            <a:ext cx="3840480" cy="274320"/>
          </a:xfrm>
          <a:prstGeom prst="rect">
            <a:avLst/>
          </a:prstGeom>
          <a:noFill/>
          <a:ln/>
        </p:spPr>
        <p:txBody>
          <a:bodyPr wrap="square" lIns="0" tIns="0" rIns="0" bIns="0" rtlCol="0" anchor="ctr"/>
          <a:lstStyle/>
          <a:p>
            <a:pPr indent="0" marL="0">
              <a:buNone/>
            </a:pPr>
            <a:r>
              <a:rPr lang="en-US" sz="1000" b="1" spc="170" kern="0" dirty="0">
                <a:solidFill>
                  <a:srgbClr val="8FD0CC"/>
                </a:solidFill>
                <a:latin typeface="Arial" pitchFamily="34" charset="0"/>
                <a:ea typeface="Arial" pitchFamily="34" charset="-122"/>
                <a:cs typeface="Arial" pitchFamily="34" charset="-120"/>
              </a:rPr>
              <a:t>TRÌNH DIỄN END-TO-END</a:t>
            </a:r>
            <a:endParaRPr lang="en-US" sz="1000" dirty="0"/>
          </a:p>
        </p:txBody>
      </p:sp>
      <p:sp>
        <p:nvSpPr>
          <p:cNvPr id="5" name="Text 3"/>
          <p:cNvSpPr/>
          <p:nvPr/>
        </p:nvSpPr>
        <p:spPr>
          <a:xfrm>
            <a:off x="685800" y="1078992"/>
            <a:ext cx="7863840" cy="68580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Calibri" pitchFamily="34" charset="0"/>
                <a:ea typeface="Calibri" pitchFamily="34" charset="-122"/>
                <a:cs typeface="Calibri" pitchFamily="34" charset="-120"/>
              </a:rPr>
              <a:t>Từ câu hỏi tự nhiên đến đường đi bằng chứng</a:t>
            </a:r>
            <a:endParaRPr lang="en-US" sz="3000" dirty="0"/>
          </a:p>
        </p:txBody>
      </p:sp>
      <p:sp>
        <p:nvSpPr>
          <p:cNvPr id="6" name="Shape 4"/>
          <p:cNvSpPr/>
          <p:nvPr/>
        </p:nvSpPr>
        <p:spPr>
          <a:xfrm>
            <a:off x="685800" y="2971800"/>
            <a:ext cx="512064" cy="512064"/>
          </a:xfrm>
          <a:prstGeom prst="ellipse">
            <a:avLst/>
          </a:prstGeom>
          <a:solidFill>
            <a:srgbClr val="337B80"/>
          </a:solidFill>
          <a:ln w="12700">
            <a:solidFill>
              <a:srgbClr val="337B80"/>
            </a:solidFill>
            <a:prstDash val="solid"/>
          </a:ln>
        </p:spPr>
      </p:sp>
      <p:sp>
        <p:nvSpPr>
          <p:cNvPr id="7" name="Text 5"/>
          <p:cNvSpPr/>
          <p:nvPr/>
        </p:nvSpPr>
        <p:spPr>
          <a:xfrm>
            <a:off x="685800" y="3099816"/>
            <a:ext cx="512064" cy="1645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01</a:t>
            </a:r>
            <a:endParaRPr lang="en-US" sz="1000" dirty="0"/>
          </a:p>
        </p:txBody>
      </p:sp>
      <p:sp>
        <p:nvSpPr>
          <p:cNvPr id="8" name="Text 6"/>
          <p:cNvSpPr/>
          <p:nvPr/>
        </p:nvSpPr>
        <p:spPr>
          <a:xfrm>
            <a:off x="685800" y="3703320"/>
            <a:ext cx="1783080" cy="31089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/stats</a:t>
            </a:r>
            <a:endParaRPr lang="en-US" sz="1600" dirty="0"/>
          </a:p>
        </p:txBody>
      </p:sp>
      <p:sp>
        <p:nvSpPr>
          <p:cNvPr id="9" name="Text 7"/>
          <p:cNvSpPr/>
          <p:nvPr/>
        </p:nvSpPr>
        <p:spPr>
          <a:xfrm>
            <a:off x="685800" y="4160520"/>
            <a:ext cx="1783080" cy="658368"/>
          </a:xfrm>
          <a:prstGeom prst="rect">
            <a:avLst/>
          </a:prstGeom>
          <a:noFill/>
          <a:ln/>
        </p:spPr>
        <p:txBody>
          <a:bodyPr wrap="square" lIns="0" tIns="0" rIns="0" bIns="0" rtlCol="0" anchor="ctr">
            <a:normAutofit/>
          </a:bodyPr>
          <a:lstStyle/>
          <a:p>
            <a:pPr indent="0" marL="0">
              <a:buNone/>
            </a:pPr>
            <a:r>
              <a:rPr lang="en-US" sz="1200" dirty="0">
                <a:solidFill>
                  <a:srgbClr val="C9D8E4"/>
                </a:solidFill>
                <a:latin typeface="Calibri" pitchFamily="34" charset="0"/>
                <a:ea typeface="Calibri" pitchFamily="34" charset="-122"/>
                <a:cs typeface="Calibri" pitchFamily="34" charset="-120"/>
              </a:rPr>
              <a:t>Xác nhận graph thật đang chạy</a:t>
            </a:r>
            <a:endParaRPr lang="en-US" sz="1200" dirty="0"/>
          </a:p>
        </p:txBody>
      </p:sp>
      <p:sp>
        <p:nvSpPr>
          <p:cNvPr id="10" name="Shape 8"/>
          <p:cNvSpPr/>
          <p:nvPr/>
        </p:nvSpPr>
        <p:spPr>
          <a:xfrm>
            <a:off x="1371600" y="3227832"/>
            <a:ext cx="1325880" cy="0"/>
          </a:xfrm>
          <a:prstGeom prst="line">
            <a:avLst/>
          </a:prstGeom>
          <a:noFill/>
          <a:ln w="16510">
            <a:solidFill>
              <a:srgbClr val="7893A8"/>
            </a:solidFill>
            <a:prstDash val="solid"/>
            <a:tailEnd type="triangle"/>
          </a:ln>
        </p:spPr>
      </p:sp>
      <p:sp>
        <p:nvSpPr>
          <p:cNvPr id="11" name="Shape 9"/>
          <p:cNvSpPr/>
          <p:nvPr/>
        </p:nvSpPr>
        <p:spPr>
          <a:xfrm>
            <a:off x="2926080" y="2971800"/>
            <a:ext cx="512064" cy="512064"/>
          </a:xfrm>
          <a:prstGeom prst="ellipse">
            <a:avLst/>
          </a:prstGeom>
          <a:solidFill>
            <a:srgbClr val="337B80"/>
          </a:solidFill>
          <a:ln w="12700">
            <a:solidFill>
              <a:srgbClr val="337B80"/>
            </a:solidFill>
            <a:prstDash val="solid"/>
          </a:ln>
        </p:spPr>
      </p:sp>
      <p:sp>
        <p:nvSpPr>
          <p:cNvPr id="12" name="Text 10"/>
          <p:cNvSpPr/>
          <p:nvPr/>
        </p:nvSpPr>
        <p:spPr>
          <a:xfrm>
            <a:off x="2926080" y="3099816"/>
            <a:ext cx="512064" cy="1645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02</a:t>
            </a:r>
            <a:endParaRPr lang="en-US" sz="1000" dirty="0"/>
          </a:p>
        </p:txBody>
      </p:sp>
      <p:sp>
        <p:nvSpPr>
          <p:cNvPr id="13" name="Text 11"/>
          <p:cNvSpPr/>
          <p:nvPr/>
        </p:nvSpPr>
        <p:spPr>
          <a:xfrm>
            <a:off x="2926080" y="3703320"/>
            <a:ext cx="1783080" cy="31089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QA có typo</a:t>
            </a:r>
            <a:endParaRPr lang="en-US" sz="1600" dirty="0"/>
          </a:p>
        </p:txBody>
      </p:sp>
      <p:sp>
        <p:nvSpPr>
          <p:cNvPr id="14" name="Text 12"/>
          <p:cNvSpPr/>
          <p:nvPr/>
        </p:nvSpPr>
        <p:spPr>
          <a:xfrm>
            <a:off x="2926080" y="4160520"/>
            <a:ext cx="1783080" cy="658368"/>
          </a:xfrm>
          <a:prstGeom prst="rect">
            <a:avLst/>
          </a:prstGeom>
          <a:noFill/>
          <a:ln/>
        </p:spPr>
        <p:txBody>
          <a:bodyPr wrap="square" lIns="0" tIns="0" rIns="0" bIns="0" rtlCol="0" anchor="ctr">
            <a:normAutofit/>
          </a:bodyPr>
          <a:lstStyle/>
          <a:p>
            <a:pPr indent="0" marL="0">
              <a:buNone/>
            </a:pPr>
            <a:r>
              <a:rPr lang="en-US" sz="1200" dirty="0">
                <a:solidFill>
                  <a:srgbClr val="C9D8E4"/>
                </a:solidFill>
                <a:latin typeface="Calibri" pitchFamily="34" charset="0"/>
                <a:ea typeface="Calibri" pitchFamily="34" charset="-122"/>
                <a:cs typeface="Calibri" pitchFamily="34" charset="-120"/>
              </a:rPr>
              <a:t>Entity linking + fixed Cypher</a:t>
            </a:r>
            <a:endParaRPr lang="en-US" sz="1200" dirty="0"/>
          </a:p>
        </p:txBody>
      </p:sp>
      <p:sp>
        <p:nvSpPr>
          <p:cNvPr id="15" name="Shape 13"/>
          <p:cNvSpPr/>
          <p:nvPr/>
        </p:nvSpPr>
        <p:spPr>
          <a:xfrm>
            <a:off x="3611880" y="3227832"/>
            <a:ext cx="1325880" cy="0"/>
          </a:xfrm>
          <a:prstGeom prst="line">
            <a:avLst/>
          </a:prstGeom>
          <a:noFill/>
          <a:ln w="16510">
            <a:solidFill>
              <a:srgbClr val="7893A8"/>
            </a:solidFill>
            <a:prstDash val="solid"/>
            <a:tailEnd type="triangle"/>
          </a:ln>
        </p:spPr>
      </p:sp>
      <p:sp>
        <p:nvSpPr>
          <p:cNvPr id="16" name="Shape 14"/>
          <p:cNvSpPr/>
          <p:nvPr/>
        </p:nvSpPr>
        <p:spPr>
          <a:xfrm>
            <a:off x="5166360" y="2971800"/>
            <a:ext cx="512064" cy="512064"/>
          </a:xfrm>
          <a:prstGeom prst="ellipse">
            <a:avLst/>
          </a:prstGeom>
          <a:solidFill>
            <a:srgbClr val="337B80"/>
          </a:solidFill>
          <a:ln w="12700">
            <a:solidFill>
              <a:srgbClr val="337B80"/>
            </a:solidFill>
            <a:prstDash val="solid"/>
          </a:ln>
        </p:spPr>
      </p:sp>
      <p:sp>
        <p:nvSpPr>
          <p:cNvPr id="17" name="Text 15"/>
          <p:cNvSpPr/>
          <p:nvPr/>
        </p:nvSpPr>
        <p:spPr>
          <a:xfrm>
            <a:off x="5166360" y="3099816"/>
            <a:ext cx="512064" cy="1645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03</a:t>
            </a:r>
            <a:endParaRPr lang="en-US" sz="1000" dirty="0"/>
          </a:p>
        </p:txBody>
      </p:sp>
      <p:sp>
        <p:nvSpPr>
          <p:cNvPr id="18" name="Text 16"/>
          <p:cNvSpPr/>
          <p:nvPr/>
        </p:nvSpPr>
        <p:spPr>
          <a:xfrm>
            <a:off x="5166360" y="3703320"/>
            <a:ext cx="1783080" cy="31089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Multi-hop</a:t>
            </a:r>
            <a:endParaRPr lang="en-US" sz="1600" dirty="0"/>
          </a:p>
        </p:txBody>
      </p:sp>
      <p:sp>
        <p:nvSpPr>
          <p:cNvPr id="19" name="Text 17"/>
          <p:cNvSpPr/>
          <p:nvPr/>
        </p:nvSpPr>
        <p:spPr>
          <a:xfrm>
            <a:off x="5166360" y="4160520"/>
            <a:ext cx="1783080" cy="658368"/>
          </a:xfrm>
          <a:prstGeom prst="rect">
            <a:avLst/>
          </a:prstGeom>
          <a:noFill/>
          <a:ln/>
        </p:spPr>
        <p:txBody>
          <a:bodyPr wrap="square" lIns="0" tIns="0" rIns="0" bIns="0" rtlCol="0" anchor="ctr">
            <a:normAutofit/>
          </a:bodyPr>
          <a:lstStyle/>
          <a:p>
            <a:pPr indent="0" marL="0">
              <a:buNone/>
            </a:pPr>
            <a:r>
              <a:rPr lang="en-US" sz="1200" dirty="0">
                <a:solidFill>
                  <a:srgbClr val="C9D8E4"/>
                </a:solidFill>
                <a:latin typeface="Calibri" pitchFamily="34" charset="0"/>
                <a:ea typeface="Calibri" pitchFamily="34" charset="-122"/>
                <a:cs typeface="Calibri" pitchFamily="34" charset="-120"/>
              </a:rPr>
              <a:t>Shortest path / co-star evidence</a:t>
            </a:r>
            <a:endParaRPr lang="en-US" sz="1200" dirty="0"/>
          </a:p>
        </p:txBody>
      </p:sp>
      <p:sp>
        <p:nvSpPr>
          <p:cNvPr id="20" name="Shape 18"/>
          <p:cNvSpPr/>
          <p:nvPr/>
        </p:nvSpPr>
        <p:spPr>
          <a:xfrm>
            <a:off x="5852160" y="3227832"/>
            <a:ext cx="1325880" cy="0"/>
          </a:xfrm>
          <a:prstGeom prst="line">
            <a:avLst/>
          </a:prstGeom>
          <a:noFill/>
          <a:ln w="16510">
            <a:solidFill>
              <a:srgbClr val="7893A8"/>
            </a:solidFill>
            <a:prstDash val="solid"/>
            <a:tailEnd type="triangle"/>
          </a:ln>
        </p:spPr>
      </p:sp>
      <p:sp>
        <p:nvSpPr>
          <p:cNvPr id="21" name="Shape 19"/>
          <p:cNvSpPr/>
          <p:nvPr/>
        </p:nvSpPr>
        <p:spPr>
          <a:xfrm>
            <a:off x="7406640" y="2971800"/>
            <a:ext cx="512064" cy="512064"/>
          </a:xfrm>
          <a:prstGeom prst="ellipse">
            <a:avLst/>
          </a:prstGeom>
          <a:solidFill>
            <a:srgbClr val="337B80"/>
          </a:solidFill>
          <a:ln w="12700">
            <a:solidFill>
              <a:srgbClr val="337B80"/>
            </a:solidFill>
            <a:prstDash val="solid"/>
          </a:ln>
        </p:spPr>
      </p:sp>
      <p:sp>
        <p:nvSpPr>
          <p:cNvPr id="22" name="Text 20"/>
          <p:cNvSpPr/>
          <p:nvPr/>
        </p:nvSpPr>
        <p:spPr>
          <a:xfrm>
            <a:off x="7406640" y="3099816"/>
            <a:ext cx="512064" cy="1645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04</a:t>
            </a:r>
            <a:endParaRPr lang="en-US" sz="1000" dirty="0"/>
          </a:p>
        </p:txBody>
      </p:sp>
      <p:sp>
        <p:nvSpPr>
          <p:cNvPr id="23" name="Text 21"/>
          <p:cNvSpPr/>
          <p:nvPr/>
        </p:nvSpPr>
        <p:spPr>
          <a:xfrm>
            <a:off x="7406640" y="3703320"/>
            <a:ext cx="1783080" cy="31089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Recommend</a:t>
            </a:r>
            <a:endParaRPr lang="en-US" sz="1600" dirty="0"/>
          </a:p>
        </p:txBody>
      </p:sp>
      <p:sp>
        <p:nvSpPr>
          <p:cNvPr id="24" name="Text 22"/>
          <p:cNvSpPr/>
          <p:nvPr/>
        </p:nvSpPr>
        <p:spPr>
          <a:xfrm>
            <a:off x="7406640" y="4160520"/>
            <a:ext cx="1783080" cy="658368"/>
          </a:xfrm>
          <a:prstGeom prst="rect">
            <a:avLst/>
          </a:prstGeom>
          <a:noFill/>
          <a:ln/>
        </p:spPr>
        <p:txBody>
          <a:bodyPr wrap="square" lIns="0" tIns="0" rIns="0" bIns="0" rtlCol="0" anchor="ctr">
            <a:normAutofit/>
          </a:bodyPr>
          <a:lstStyle/>
          <a:p>
            <a:pPr indent="0" marL="0">
              <a:buNone/>
            </a:pPr>
            <a:r>
              <a:rPr lang="en-US" sz="1200" dirty="0">
                <a:solidFill>
                  <a:srgbClr val="C9D8E4"/>
                </a:solidFill>
                <a:latin typeface="Calibri" pitchFamily="34" charset="0"/>
                <a:ea typeface="Calibri" pitchFamily="34" charset="-122"/>
                <a:cs typeface="Calibri" pitchFamily="34" charset="-120"/>
              </a:rPr>
              <a:t>Shared features + contribution</a:t>
            </a:r>
            <a:endParaRPr lang="en-US" sz="1200" dirty="0"/>
          </a:p>
        </p:txBody>
      </p:sp>
      <p:sp>
        <p:nvSpPr>
          <p:cNvPr id="25" name="Shape 23"/>
          <p:cNvSpPr/>
          <p:nvPr/>
        </p:nvSpPr>
        <p:spPr>
          <a:xfrm>
            <a:off x="8092440" y="3227832"/>
            <a:ext cx="1325880" cy="0"/>
          </a:xfrm>
          <a:prstGeom prst="line">
            <a:avLst/>
          </a:prstGeom>
          <a:noFill/>
          <a:ln w="16510">
            <a:solidFill>
              <a:srgbClr val="7893A8"/>
            </a:solidFill>
            <a:prstDash val="solid"/>
            <a:tailEnd type="triangle"/>
          </a:ln>
        </p:spPr>
      </p:sp>
      <p:sp>
        <p:nvSpPr>
          <p:cNvPr id="26" name="Shape 24"/>
          <p:cNvSpPr/>
          <p:nvPr/>
        </p:nvSpPr>
        <p:spPr>
          <a:xfrm>
            <a:off x="9646920" y="2971800"/>
            <a:ext cx="512064" cy="512064"/>
          </a:xfrm>
          <a:prstGeom prst="ellipse">
            <a:avLst/>
          </a:prstGeom>
          <a:solidFill>
            <a:srgbClr val="725B9B"/>
          </a:solidFill>
          <a:ln w="12700">
            <a:solidFill>
              <a:srgbClr val="725B9B"/>
            </a:solidFill>
            <a:prstDash val="solid"/>
          </a:ln>
        </p:spPr>
      </p:sp>
      <p:sp>
        <p:nvSpPr>
          <p:cNvPr id="27" name="Text 25"/>
          <p:cNvSpPr/>
          <p:nvPr/>
        </p:nvSpPr>
        <p:spPr>
          <a:xfrm>
            <a:off x="9646920" y="3099816"/>
            <a:ext cx="512064" cy="1645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05</a:t>
            </a:r>
            <a:endParaRPr lang="en-US" sz="1000" dirty="0"/>
          </a:p>
        </p:txBody>
      </p:sp>
      <p:sp>
        <p:nvSpPr>
          <p:cNvPr id="28" name="Text 26"/>
          <p:cNvSpPr/>
          <p:nvPr/>
        </p:nvSpPr>
        <p:spPr>
          <a:xfrm>
            <a:off x="9646920" y="3703320"/>
            <a:ext cx="1783080" cy="31089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Neo4j</a:t>
            </a:r>
            <a:endParaRPr lang="en-US" sz="1600" dirty="0"/>
          </a:p>
        </p:txBody>
      </p:sp>
      <p:sp>
        <p:nvSpPr>
          <p:cNvPr id="29" name="Text 27"/>
          <p:cNvSpPr/>
          <p:nvPr/>
        </p:nvSpPr>
        <p:spPr>
          <a:xfrm>
            <a:off x="9646920" y="4160520"/>
            <a:ext cx="1783080" cy="658368"/>
          </a:xfrm>
          <a:prstGeom prst="rect">
            <a:avLst/>
          </a:prstGeom>
          <a:noFill/>
          <a:ln/>
        </p:spPr>
        <p:txBody>
          <a:bodyPr wrap="square" lIns="0" tIns="0" rIns="0" bIns="0" rtlCol="0" anchor="ctr">
            <a:normAutofit/>
          </a:bodyPr>
          <a:lstStyle/>
          <a:p>
            <a:pPr indent="0" marL="0">
              <a:buNone/>
            </a:pPr>
            <a:r>
              <a:rPr lang="en-US" sz="1200" dirty="0">
                <a:solidFill>
                  <a:srgbClr val="C9D8E4"/>
                </a:solidFill>
                <a:latin typeface="Calibri" pitchFamily="34" charset="0"/>
                <a:ea typeface="Calibri" pitchFamily="34" charset="-122"/>
                <a:cs typeface="Calibri" pitchFamily="34" charset="-120"/>
              </a:rPr>
              <a:t>Mở subgraph và query catalog</a:t>
            </a:r>
            <a:endParaRPr lang="en-US" sz="1200" dirty="0"/>
          </a:p>
        </p:txBody>
      </p:sp>
      <p:sp>
        <p:nvSpPr>
          <p:cNvPr id="30" name="Text 28"/>
          <p:cNvSpPr/>
          <p:nvPr/>
        </p:nvSpPr>
        <p:spPr>
          <a:xfrm>
            <a:off x="685800" y="5879592"/>
            <a:ext cx="8412480" cy="274320"/>
          </a:xfrm>
          <a:prstGeom prst="rect">
            <a:avLst/>
          </a:prstGeom>
          <a:noFill/>
          <a:ln/>
        </p:spPr>
        <p:txBody>
          <a:bodyPr wrap="square" lIns="0" tIns="0" rIns="0" bIns="0" rtlCol="0" anchor="ctr"/>
          <a:lstStyle/>
          <a:p>
            <a:pPr indent="0" marL="0">
              <a:buNone/>
            </a:pPr>
            <a:r>
              <a:rPr lang="en-US" sz="1000" dirty="0">
                <a:solidFill>
                  <a:srgbClr val="8FD0CC"/>
                </a:solidFill>
                <a:latin typeface="Arial" pitchFamily="34" charset="0"/>
                <a:ea typeface="Arial" pitchFamily="34" charset="-122"/>
                <a:cs typeface="Arial" pitchFamily="34" charset="-120"/>
              </a:rPr>
              <a:t>Dữ liệu đã import · Không phụ thuộc Internet · Swagger là phương án dự phòng</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30352" y="475488"/>
            <a:ext cx="2194560" cy="219456"/>
          </a:xfrm>
          <a:prstGeom prst="rect">
            <a:avLst/>
          </a:prstGeom>
          <a:noFill/>
          <a:ln/>
        </p:spPr>
        <p:txBody>
          <a:bodyPr wrap="square" lIns="0" tIns="0" rIns="0" bIns="0" rtlCol="0" anchor="ctr"/>
          <a:lstStyle/>
          <a:p>
            <a:pPr indent="0" marL="0">
              <a:buNone/>
            </a:pPr>
            <a:r>
              <a:rPr lang="en-US" sz="900" b="1" spc="140" kern="0" dirty="0">
                <a:solidFill>
                  <a:srgbClr val="337B80"/>
                </a:solidFill>
                <a:latin typeface="Arial" pitchFamily="34" charset="0"/>
                <a:ea typeface="Arial" pitchFamily="34" charset="-122"/>
                <a:cs typeface="Arial" pitchFamily="34" charset="-120"/>
              </a:rPr>
              <a:t>GIỚI HẠN VÀ HƯỚNG PHÁT TRIỂN</a:t>
            </a:r>
            <a:endParaRPr lang="en-US" sz="900" dirty="0"/>
          </a:p>
        </p:txBody>
      </p:sp>
      <p:sp>
        <p:nvSpPr>
          <p:cNvPr id="3" name="Text 1"/>
          <p:cNvSpPr/>
          <p:nvPr/>
        </p:nvSpPr>
        <p:spPr>
          <a:xfrm>
            <a:off x="530352" y="713232"/>
            <a:ext cx="10881360" cy="502920"/>
          </a:xfrm>
          <a:prstGeom prst="rect">
            <a:avLst/>
          </a:prstGeom>
          <a:noFill/>
          <a:ln/>
        </p:spPr>
        <p:txBody>
          <a:bodyPr wrap="square" lIns="0" tIns="0" rIns="0" bIns="0" rtlCol="0" anchor="ctr">
            <a:normAutofit/>
          </a:bodyPr>
          <a:lstStyle/>
          <a:p>
            <a:pPr indent="0" marL="0">
              <a:buNone/>
            </a:pPr>
            <a:r>
              <a:rPr lang="en-US" sz="2600" b="1" dirty="0">
                <a:solidFill>
                  <a:srgbClr val="112B46"/>
                </a:solidFill>
                <a:latin typeface="Calibri" pitchFamily="34" charset="0"/>
                <a:ea typeface="Calibri" pitchFamily="34" charset="-122"/>
                <a:cs typeface="Calibri" pitchFamily="34" charset="-120"/>
              </a:rPr>
              <a:t>Giới hạn được xem là một phần của kết quả</a:t>
            </a:r>
            <a:endParaRPr lang="en-US" sz="2600" dirty="0"/>
          </a:p>
        </p:txBody>
      </p:sp>
      <p:sp>
        <p:nvSpPr>
          <p:cNvPr id="4" name="Text 2"/>
          <p:cNvSpPr/>
          <p:nvPr/>
        </p:nvSpPr>
        <p:spPr>
          <a:xfrm>
            <a:off x="548640" y="1261872"/>
            <a:ext cx="10652760" cy="310896"/>
          </a:xfrm>
          <a:prstGeom prst="rect">
            <a:avLst/>
          </a:prstGeom>
          <a:noFill/>
          <a:ln/>
        </p:spPr>
        <p:txBody>
          <a:bodyPr wrap="square" lIns="0" tIns="0" rIns="0" bIns="0" rtlCol="0" anchor="ctr">
            <a:normAutofit/>
          </a:bodyPr>
          <a:lstStyle/>
          <a:p>
            <a:pPr indent="0" marL="0">
              <a:buNone/>
            </a:pPr>
            <a:r>
              <a:rPr lang="en-US" sz="1250" dirty="0">
                <a:solidFill>
                  <a:srgbClr val="697586"/>
                </a:solidFill>
                <a:latin typeface="Calibri" pitchFamily="34" charset="0"/>
                <a:ea typeface="Calibri" pitchFamily="34" charset="-122"/>
                <a:cs typeface="Calibri" pitchFamily="34" charset="-120"/>
              </a:rPr>
              <a:t>Các kết luận chỉ có giá trị trong ảnh chụp dữ liệu và protocol đã công bố.</a:t>
            </a:r>
            <a:endParaRPr lang="en-US" sz="1250" dirty="0"/>
          </a:p>
        </p:txBody>
      </p:sp>
      <p:sp>
        <p:nvSpPr>
          <p:cNvPr id="5" name="Shape 3"/>
          <p:cNvSpPr/>
          <p:nvPr/>
        </p:nvSpPr>
        <p:spPr>
          <a:xfrm>
            <a:off x="621792" y="1737360"/>
            <a:ext cx="2011680" cy="822960"/>
          </a:xfrm>
          <a:prstGeom prst="roundRect">
            <a:avLst>
              <a:gd name="adj" fmla="val 4444"/>
            </a:avLst>
          </a:prstGeom>
          <a:solidFill>
            <a:srgbClr val="FBEAEC"/>
          </a:solidFill>
          <a:ln w="12700">
            <a:solidFill>
              <a:srgbClr val="E9C3C6"/>
            </a:solidFill>
            <a:prstDash val="solid"/>
          </a:ln>
        </p:spPr>
      </p:sp>
      <p:sp>
        <p:nvSpPr>
          <p:cNvPr id="6" name="Text 4"/>
          <p:cNvSpPr/>
          <p:nvPr/>
        </p:nvSpPr>
        <p:spPr>
          <a:xfrm>
            <a:off x="841248" y="1975104"/>
            <a:ext cx="1554480" cy="256032"/>
          </a:xfrm>
          <a:prstGeom prst="rect">
            <a:avLst/>
          </a:prstGeom>
          <a:noFill/>
          <a:ln/>
        </p:spPr>
        <p:txBody>
          <a:bodyPr wrap="square" lIns="0" tIns="0" rIns="0" bIns="0" rtlCol="0" anchor="ctr"/>
          <a:lstStyle/>
          <a:p>
            <a:pPr algn="ctr" indent="0" marL="0">
              <a:buNone/>
            </a:pPr>
            <a:r>
              <a:rPr lang="en-US" sz="1500" b="1" dirty="0">
                <a:solidFill>
                  <a:srgbClr val="B94D52"/>
                </a:solidFill>
                <a:latin typeface="Calibri" pitchFamily="34" charset="0"/>
                <a:ea typeface="Calibri" pitchFamily="34" charset="-122"/>
                <a:cs typeface="Calibri" pitchFamily="34" charset="-120"/>
              </a:rPr>
              <a:t>QA đóng</a:t>
            </a:r>
            <a:endParaRPr lang="en-US" sz="1500" dirty="0"/>
          </a:p>
        </p:txBody>
      </p:sp>
      <p:sp>
        <p:nvSpPr>
          <p:cNvPr id="7" name="Text 5"/>
          <p:cNvSpPr/>
          <p:nvPr/>
        </p:nvSpPr>
        <p:spPr>
          <a:xfrm>
            <a:off x="2926080" y="1828800"/>
            <a:ext cx="3886200" cy="621792"/>
          </a:xfrm>
          <a:prstGeom prst="rect">
            <a:avLst/>
          </a:prstGeom>
          <a:noFill/>
          <a:ln/>
        </p:spPr>
        <p:txBody>
          <a:bodyPr wrap="square" lIns="0" tIns="0" rIns="0" bIns="0" rtlCol="0" anchor="ctr">
            <a:normAutofit/>
          </a:bodyPr>
          <a:lstStyle/>
          <a:p>
            <a:pPr indent="0" marL="0">
              <a:buNone/>
            </a:pPr>
            <a:r>
              <a:rPr lang="en-US" sz="1220" dirty="0">
                <a:solidFill>
                  <a:srgbClr val="172B3A"/>
                </a:solidFill>
                <a:latin typeface="Calibri" pitchFamily="34" charset="0"/>
                <a:ea typeface="Calibri" pitchFamily="34" charset="-122"/>
                <a:cs typeface="Calibri" pitchFamily="34" charset="-120"/>
              </a:rPr>
              <a:t>Chín ý định; chưa phải open-domain QA.</a:t>
            </a:r>
            <a:endParaRPr lang="en-US" sz="1220" dirty="0"/>
          </a:p>
        </p:txBody>
      </p:sp>
      <p:sp>
        <p:nvSpPr>
          <p:cNvPr id="8" name="Shape 6"/>
          <p:cNvSpPr/>
          <p:nvPr/>
        </p:nvSpPr>
        <p:spPr>
          <a:xfrm>
            <a:off x="6967728" y="2148840"/>
            <a:ext cx="685800" cy="0"/>
          </a:xfrm>
          <a:prstGeom prst="line">
            <a:avLst/>
          </a:prstGeom>
          <a:noFill/>
          <a:ln w="17780">
            <a:solidFill>
              <a:srgbClr val="697586"/>
            </a:solidFill>
            <a:prstDash val="solid"/>
            <a:tailEnd type="triangle"/>
          </a:ln>
        </p:spPr>
      </p:sp>
      <p:sp>
        <p:nvSpPr>
          <p:cNvPr id="9" name="Text 7"/>
          <p:cNvSpPr/>
          <p:nvPr/>
        </p:nvSpPr>
        <p:spPr>
          <a:xfrm>
            <a:off x="7845552" y="1828800"/>
            <a:ext cx="3611880" cy="621792"/>
          </a:xfrm>
          <a:prstGeom prst="rect">
            <a:avLst/>
          </a:prstGeom>
          <a:noFill/>
          <a:ln/>
        </p:spPr>
        <p:txBody>
          <a:bodyPr wrap="square" lIns="0" tIns="0" rIns="0" bIns="0" rtlCol="0" anchor="ctr">
            <a:normAutofit/>
          </a:bodyPr>
          <a:lstStyle/>
          <a:p>
            <a:pPr indent="0" marL="0">
              <a:buNone/>
            </a:pPr>
            <a:r>
              <a:rPr lang="en-US" sz="1220" b="1" dirty="0">
                <a:solidFill>
                  <a:srgbClr val="3D8B66"/>
                </a:solidFill>
                <a:latin typeface="Calibri" pitchFamily="34" charset="0"/>
                <a:ea typeface="Calibri" pitchFamily="34" charset="-122"/>
                <a:cs typeface="Calibri" pitchFamily="34" charset="-120"/>
              </a:rPr>
              <a:t>Mở rộng intent dựa trên câu hỏi thực tế.</a:t>
            </a:r>
            <a:endParaRPr lang="en-US" sz="1220" dirty="0"/>
          </a:p>
        </p:txBody>
      </p:sp>
      <p:sp>
        <p:nvSpPr>
          <p:cNvPr id="10" name="Shape 8"/>
          <p:cNvSpPr/>
          <p:nvPr/>
        </p:nvSpPr>
        <p:spPr>
          <a:xfrm>
            <a:off x="621792" y="2852928"/>
            <a:ext cx="2011680" cy="822960"/>
          </a:xfrm>
          <a:prstGeom prst="roundRect">
            <a:avLst>
              <a:gd name="adj" fmla="val 4444"/>
            </a:avLst>
          </a:prstGeom>
          <a:solidFill>
            <a:srgbClr val="FBEAEC"/>
          </a:solidFill>
          <a:ln w="12700">
            <a:solidFill>
              <a:srgbClr val="E9C3C6"/>
            </a:solidFill>
            <a:prstDash val="solid"/>
          </a:ln>
        </p:spPr>
      </p:sp>
      <p:sp>
        <p:nvSpPr>
          <p:cNvPr id="11" name="Text 9"/>
          <p:cNvSpPr/>
          <p:nvPr/>
        </p:nvSpPr>
        <p:spPr>
          <a:xfrm>
            <a:off x="841248" y="3090672"/>
            <a:ext cx="1554480" cy="256032"/>
          </a:xfrm>
          <a:prstGeom prst="rect">
            <a:avLst/>
          </a:prstGeom>
          <a:noFill/>
          <a:ln/>
        </p:spPr>
        <p:txBody>
          <a:bodyPr wrap="square" lIns="0" tIns="0" rIns="0" bIns="0" rtlCol="0" anchor="ctr"/>
          <a:lstStyle/>
          <a:p>
            <a:pPr algn="ctr" indent="0" marL="0">
              <a:buNone/>
            </a:pPr>
            <a:r>
              <a:rPr lang="en-US" sz="1500" b="1" dirty="0">
                <a:solidFill>
                  <a:srgbClr val="B94D52"/>
                </a:solidFill>
                <a:latin typeface="Calibri" pitchFamily="34" charset="0"/>
                <a:ea typeface="Calibri" pitchFamily="34" charset="-122"/>
                <a:cs typeface="Calibri" pitchFamily="34" charset="-120"/>
              </a:rPr>
              <a:t>Silver corpus</a:t>
            </a:r>
            <a:endParaRPr lang="en-US" sz="1500" dirty="0"/>
          </a:p>
        </p:txBody>
      </p:sp>
      <p:sp>
        <p:nvSpPr>
          <p:cNvPr id="12" name="Text 10"/>
          <p:cNvSpPr/>
          <p:nvPr/>
        </p:nvSpPr>
        <p:spPr>
          <a:xfrm>
            <a:off x="2926080" y="2944368"/>
            <a:ext cx="3886200" cy="621792"/>
          </a:xfrm>
          <a:prstGeom prst="rect">
            <a:avLst/>
          </a:prstGeom>
          <a:noFill/>
          <a:ln/>
        </p:spPr>
        <p:txBody>
          <a:bodyPr wrap="square" lIns="0" tIns="0" rIns="0" bIns="0" rtlCol="0" anchor="ctr">
            <a:normAutofit/>
          </a:bodyPr>
          <a:lstStyle/>
          <a:p>
            <a:pPr indent="0" marL="0">
              <a:buNone/>
            </a:pPr>
            <a:r>
              <a:rPr lang="en-US" sz="1220" dirty="0">
                <a:solidFill>
                  <a:srgbClr val="172B3A"/>
                </a:solidFill>
                <a:latin typeface="Calibri" pitchFamily="34" charset="0"/>
                <a:ea typeface="Calibri" pitchFamily="34" charset="-122"/>
                <a:cs typeface="Calibri" pitchFamily="34" charset="-120"/>
              </a:rPr>
              <a:t>Tất định và có provenance nhưng chưa có người chấm độc lập.</a:t>
            </a:r>
            <a:endParaRPr lang="en-US" sz="1220" dirty="0"/>
          </a:p>
        </p:txBody>
      </p:sp>
      <p:sp>
        <p:nvSpPr>
          <p:cNvPr id="13" name="Shape 11"/>
          <p:cNvSpPr/>
          <p:nvPr/>
        </p:nvSpPr>
        <p:spPr>
          <a:xfrm>
            <a:off x="6967728" y="3264408"/>
            <a:ext cx="685800" cy="0"/>
          </a:xfrm>
          <a:prstGeom prst="line">
            <a:avLst/>
          </a:prstGeom>
          <a:noFill/>
          <a:ln w="17780">
            <a:solidFill>
              <a:srgbClr val="697586"/>
            </a:solidFill>
            <a:prstDash val="solid"/>
            <a:tailEnd type="triangle"/>
          </a:ln>
        </p:spPr>
      </p:sp>
      <p:sp>
        <p:nvSpPr>
          <p:cNvPr id="14" name="Text 12"/>
          <p:cNvSpPr/>
          <p:nvPr/>
        </p:nvSpPr>
        <p:spPr>
          <a:xfrm>
            <a:off x="7845552" y="2944368"/>
            <a:ext cx="3611880" cy="621792"/>
          </a:xfrm>
          <a:prstGeom prst="rect">
            <a:avLst/>
          </a:prstGeom>
          <a:noFill/>
          <a:ln/>
        </p:spPr>
        <p:txBody>
          <a:bodyPr wrap="square" lIns="0" tIns="0" rIns="0" bIns="0" rtlCol="0" anchor="ctr">
            <a:normAutofit/>
          </a:bodyPr>
          <a:lstStyle/>
          <a:p>
            <a:pPr indent="0" marL="0">
              <a:buNone/>
            </a:pPr>
            <a:r>
              <a:rPr lang="en-US" sz="1220" b="1" dirty="0">
                <a:solidFill>
                  <a:srgbClr val="3D8B66"/>
                </a:solidFill>
                <a:latin typeface="Calibri" pitchFamily="34" charset="0"/>
                <a:ea typeface="Calibri" pitchFamily="34" charset="-122"/>
                <a:cs typeface="Calibri" pitchFamily="34" charset="-120"/>
              </a:rPr>
              <a:t>Bổ sung đánh giá người dùng và inter-rater review.</a:t>
            </a:r>
            <a:endParaRPr lang="en-US" sz="1220" dirty="0"/>
          </a:p>
        </p:txBody>
      </p:sp>
      <p:sp>
        <p:nvSpPr>
          <p:cNvPr id="15" name="Shape 13"/>
          <p:cNvSpPr/>
          <p:nvPr/>
        </p:nvSpPr>
        <p:spPr>
          <a:xfrm>
            <a:off x="621792" y="3968496"/>
            <a:ext cx="2011680" cy="822960"/>
          </a:xfrm>
          <a:prstGeom prst="roundRect">
            <a:avLst>
              <a:gd name="adj" fmla="val 4444"/>
            </a:avLst>
          </a:prstGeom>
          <a:solidFill>
            <a:srgbClr val="FBEAEC"/>
          </a:solidFill>
          <a:ln w="12700">
            <a:solidFill>
              <a:srgbClr val="E9C3C6"/>
            </a:solidFill>
            <a:prstDash val="solid"/>
          </a:ln>
        </p:spPr>
      </p:sp>
      <p:sp>
        <p:nvSpPr>
          <p:cNvPr id="16" name="Text 14"/>
          <p:cNvSpPr/>
          <p:nvPr/>
        </p:nvSpPr>
        <p:spPr>
          <a:xfrm>
            <a:off x="841248" y="4206240"/>
            <a:ext cx="1554480" cy="256032"/>
          </a:xfrm>
          <a:prstGeom prst="rect">
            <a:avLst/>
          </a:prstGeom>
          <a:noFill/>
          <a:ln/>
        </p:spPr>
        <p:txBody>
          <a:bodyPr wrap="square" lIns="0" tIns="0" rIns="0" bIns="0" rtlCol="0" anchor="ctr"/>
          <a:lstStyle/>
          <a:p>
            <a:pPr algn="ctr" indent="0" marL="0">
              <a:buNone/>
            </a:pPr>
            <a:r>
              <a:rPr lang="en-US" sz="1500" b="1" dirty="0">
                <a:solidFill>
                  <a:srgbClr val="B94D52"/>
                </a:solidFill>
                <a:latin typeface="Calibri" pitchFamily="34" charset="0"/>
                <a:ea typeface="Calibri" pitchFamily="34" charset="-122"/>
                <a:cs typeface="Calibri" pitchFamily="34" charset="-120"/>
              </a:rPr>
              <a:t>Quy mô</a:t>
            </a:r>
            <a:endParaRPr lang="en-US" sz="1500" dirty="0"/>
          </a:p>
        </p:txBody>
      </p:sp>
      <p:sp>
        <p:nvSpPr>
          <p:cNvPr id="17" name="Text 15"/>
          <p:cNvSpPr/>
          <p:nvPr/>
        </p:nvSpPr>
        <p:spPr>
          <a:xfrm>
            <a:off x="2926080" y="4059936"/>
            <a:ext cx="3886200" cy="621792"/>
          </a:xfrm>
          <a:prstGeom prst="rect">
            <a:avLst/>
          </a:prstGeom>
          <a:noFill/>
          <a:ln/>
        </p:spPr>
        <p:txBody>
          <a:bodyPr wrap="square" lIns="0" tIns="0" rIns="0" bIns="0" rtlCol="0" anchor="ctr">
            <a:normAutofit/>
          </a:bodyPr>
          <a:lstStyle/>
          <a:p>
            <a:pPr indent="0" marL="0">
              <a:buNone/>
            </a:pPr>
            <a:r>
              <a:rPr lang="en-US" sz="1220" dirty="0">
                <a:solidFill>
                  <a:srgbClr val="172B3A"/>
                </a:solidFill>
                <a:latin typeface="Calibri" pitchFamily="34" charset="0"/>
                <a:ea typeface="Calibri" pitchFamily="34" charset="-122"/>
                <a:cs typeface="Calibri" pitchFamily="34" charset="-120"/>
              </a:rPr>
              <a:t>Tối đa 4.999 phim; chưa đo concurrent/cold-cache.</a:t>
            </a:r>
            <a:endParaRPr lang="en-US" sz="1220" dirty="0"/>
          </a:p>
        </p:txBody>
      </p:sp>
      <p:sp>
        <p:nvSpPr>
          <p:cNvPr id="18" name="Shape 16"/>
          <p:cNvSpPr/>
          <p:nvPr/>
        </p:nvSpPr>
        <p:spPr>
          <a:xfrm>
            <a:off x="6967728" y="4379976"/>
            <a:ext cx="685800" cy="0"/>
          </a:xfrm>
          <a:prstGeom prst="line">
            <a:avLst/>
          </a:prstGeom>
          <a:noFill/>
          <a:ln w="17780">
            <a:solidFill>
              <a:srgbClr val="697586"/>
            </a:solidFill>
            <a:prstDash val="solid"/>
            <a:tailEnd type="triangle"/>
          </a:ln>
        </p:spPr>
      </p:sp>
      <p:sp>
        <p:nvSpPr>
          <p:cNvPr id="19" name="Text 17"/>
          <p:cNvSpPr/>
          <p:nvPr/>
        </p:nvSpPr>
        <p:spPr>
          <a:xfrm>
            <a:off x="7845552" y="4059936"/>
            <a:ext cx="3611880" cy="621792"/>
          </a:xfrm>
          <a:prstGeom prst="rect">
            <a:avLst/>
          </a:prstGeom>
          <a:noFill/>
          <a:ln/>
        </p:spPr>
        <p:txBody>
          <a:bodyPr wrap="square" lIns="0" tIns="0" rIns="0" bIns="0" rtlCol="0" anchor="ctr">
            <a:normAutofit/>
          </a:bodyPr>
          <a:lstStyle/>
          <a:p>
            <a:pPr indent="0" marL="0">
              <a:buNone/>
            </a:pPr>
            <a:r>
              <a:rPr lang="en-US" sz="1220" b="1" dirty="0">
                <a:solidFill>
                  <a:srgbClr val="3D8B66"/>
                </a:solidFill>
                <a:latin typeface="Calibri" pitchFamily="34" charset="0"/>
                <a:ea typeface="Calibri" pitchFamily="34" charset="-122"/>
                <a:cs typeface="Calibri" pitchFamily="34" charset="-120"/>
              </a:rPr>
              <a:t>Thử nghiệm graph lớn hơn và tải đồng thời.</a:t>
            </a:r>
            <a:endParaRPr lang="en-US" sz="1220" dirty="0"/>
          </a:p>
        </p:txBody>
      </p:sp>
      <p:sp>
        <p:nvSpPr>
          <p:cNvPr id="20" name="Shape 18"/>
          <p:cNvSpPr/>
          <p:nvPr/>
        </p:nvSpPr>
        <p:spPr>
          <a:xfrm>
            <a:off x="621792" y="5084064"/>
            <a:ext cx="2011680" cy="822960"/>
          </a:xfrm>
          <a:prstGeom prst="roundRect">
            <a:avLst>
              <a:gd name="adj" fmla="val 4444"/>
            </a:avLst>
          </a:prstGeom>
          <a:solidFill>
            <a:srgbClr val="FBEAEC"/>
          </a:solidFill>
          <a:ln w="12700">
            <a:solidFill>
              <a:srgbClr val="E9C3C6"/>
            </a:solidFill>
            <a:prstDash val="solid"/>
          </a:ln>
        </p:spPr>
      </p:sp>
      <p:sp>
        <p:nvSpPr>
          <p:cNvPr id="21" name="Text 19"/>
          <p:cNvSpPr/>
          <p:nvPr/>
        </p:nvSpPr>
        <p:spPr>
          <a:xfrm>
            <a:off x="841248" y="5321808"/>
            <a:ext cx="1554480" cy="256032"/>
          </a:xfrm>
          <a:prstGeom prst="rect">
            <a:avLst/>
          </a:prstGeom>
          <a:noFill/>
          <a:ln/>
        </p:spPr>
        <p:txBody>
          <a:bodyPr wrap="square" lIns="0" tIns="0" rIns="0" bIns="0" rtlCol="0" anchor="ctr"/>
          <a:lstStyle/>
          <a:p>
            <a:pPr algn="ctr" indent="0" marL="0">
              <a:buNone/>
            </a:pPr>
            <a:r>
              <a:rPr lang="en-US" sz="1500" b="1" dirty="0">
                <a:solidFill>
                  <a:srgbClr val="B94D52"/>
                </a:solidFill>
                <a:latin typeface="Calibri" pitchFamily="34" charset="0"/>
                <a:ea typeface="Calibri" pitchFamily="34" charset="-122"/>
                <a:cs typeface="Calibri" pitchFamily="34" charset="-120"/>
              </a:rPr>
              <a:t>Độ phủ</a:t>
            </a:r>
            <a:endParaRPr lang="en-US" sz="1500" dirty="0"/>
          </a:p>
        </p:txBody>
      </p:sp>
      <p:sp>
        <p:nvSpPr>
          <p:cNvPr id="22" name="Text 20"/>
          <p:cNvSpPr/>
          <p:nvPr/>
        </p:nvSpPr>
        <p:spPr>
          <a:xfrm>
            <a:off x="2926080" y="5175504"/>
            <a:ext cx="3886200" cy="621792"/>
          </a:xfrm>
          <a:prstGeom prst="rect">
            <a:avLst/>
          </a:prstGeom>
          <a:noFill/>
          <a:ln/>
        </p:spPr>
        <p:txBody>
          <a:bodyPr wrap="square" lIns="0" tIns="0" rIns="0" bIns="0" rtlCol="0" anchor="ctr">
            <a:normAutofit/>
          </a:bodyPr>
          <a:lstStyle/>
          <a:p>
            <a:pPr indent="0" marL="0">
              <a:buNone/>
            </a:pPr>
            <a:r>
              <a:rPr lang="en-US" sz="1220" dirty="0">
                <a:solidFill>
                  <a:srgbClr val="172B3A"/>
                </a:solidFill>
                <a:latin typeface="Calibri" pitchFamily="34" charset="0"/>
                <a:ea typeface="Calibri" pitchFamily="34" charset="-122"/>
                <a:cs typeface="Calibri" pitchFamily="34" charset="-120"/>
              </a:rPr>
              <a:t>Top-20 cast; IMDb mới enrich Movie.</a:t>
            </a:r>
            <a:endParaRPr lang="en-US" sz="1220" dirty="0"/>
          </a:p>
        </p:txBody>
      </p:sp>
      <p:sp>
        <p:nvSpPr>
          <p:cNvPr id="23" name="Shape 21"/>
          <p:cNvSpPr/>
          <p:nvPr/>
        </p:nvSpPr>
        <p:spPr>
          <a:xfrm>
            <a:off x="6967728" y="5495544"/>
            <a:ext cx="685800" cy="0"/>
          </a:xfrm>
          <a:prstGeom prst="line">
            <a:avLst/>
          </a:prstGeom>
          <a:noFill/>
          <a:ln w="17780">
            <a:solidFill>
              <a:srgbClr val="697586"/>
            </a:solidFill>
            <a:prstDash val="solid"/>
            <a:tailEnd type="triangle"/>
          </a:ln>
        </p:spPr>
      </p:sp>
      <p:sp>
        <p:nvSpPr>
          <p:cNvPr id="24" name="Text 22"/>
          <p:cNvSpPr/>
          <p:nvPr/>
        </p:nvSpPr>
        <p:spPr>
          <a:xfrm>
            <a:off x="7845552" y="5175504"/>
            <a:ext cx="3611880" cy="621792"/>
          </a:xfrm>
          <a:prstGeom prst="rect">
            <a:avLst/>
          </a:prstGeom>
          <a:noFill/>
          <a:ln/>
        </p:spPr>
        <p:txBody>
          <a:bodyPr wrap="square" lIns="0" tIns="0" rIns="0" bIns="0" rtlCol="0" anchor="ctr">
            <a:normAutofit/>
          </a:bodyPr>
          <a:lstStyle/>
          <a:p>
            <a:pPr indent="0" marL="0">
              <a:buNone/>
            </a:pPr>
            <a:r>
              <a:rPr lang="en-US" sz="1220" b="1" dirty="0">
                <a:solidFill>
                  <a:srgbClr val="3D8B66"/>
                </a:solidFill>
                <a:latin typeface="Calibri" pitchFamily="34" charset="0"/>
                <a:ea typeface="Calibri" pitchFamily="34" charset="-122"/>
                <a:cs typeface="Calibri" pitchFamily="34" charset="-120"/>
              </a:rPr>
              <a:t>Mở rộng credits và liên kết Person/Wikidata.</a:t>
            </a:r>
            <a:endParaRPr lang="en-US" sz="1220" dirty="0"/>
          </a:p>
        </p:txBody>
      </p:sp>
      <p:sp>
        <p:nvSpPr>
          <p:cNvPr id="25" name="Text 23"/>
          <p:cNvSpPr/>
          <p:nvPr/>
        </p:nvSpPr>
        <p:spPr>
          <a:xfrm>
            <a:off x="2926080" y="6144768"/>
            <a:ext cx="2286000" cy="201168"/>
          </a:xfrm>
          <a:prstGeom prst="rect">
            <a:avLst/>
          </a:prstGeom>
          <a:noFill/>
          <a:ln/>
        </p:spPr>
        <p:txBody>
          <a:bodyPr wrap="square" lIns="0" tIns="0" rIns="0" bIns="0" rtlCol="0" anchor="ctr"/>
          <a:lstStyle/>
          <a:p>
            <a:pPr indent="0" marL="0">
              <a:buNone/>
            </a:pPr>
            <a:r>
              <a:rPr lang="en-US" sz="850" b="1" spc="120" kern="0" dirty="0">
                <a:solidFill>
                  <a:srgbClr val="B94D52"/>
                </a:solidFill>
                <a:latin typeface="Arial" pitchFamily="34" charset="0"/>
                <a:ea typeface="Arial" pitchFamily="34" charset="-122"/>
                <a:cs typeface="Arial" pitchFamily="34" charset="-120"/>
              </a:rPr>
              <a:t>GIỚI HẠN HIỆN TẠI</a:t>
            </a:r>
            <a:endParaRPr lang="en-US" sz="850" dirty="0"/>
          </a:p>
        </p:txBody>
      </p:sp>
      <p:sp>
        <p:nvSpPr>
          <p:cNvPr id="26" name="Text 24"/>
          <p:cNvSpPr/>
          <p:nvPr/>
        </p:nvSpPr>
        <p:spPr>
          <a:xfrm>
            <a:off x="7845552" y="6144768"/>
            <a:ext cx="2286000" cy="201168"/>
          </a:xfrm>
          <a:prstGeom prst="rect">
            <a:avLst/>
          </a:prstGeom>
          <a:noFill/>
          <a:ln/>
        </p:spPr>
        <p:txBody>
          <a:bodyPr wrap="square" lIns="0" tIns="0" rIns="0" bIns="0" rtlCol="0" anchor="ctr"/>
          <a:lstStyle/>
          <a:p>
            <a:pPr indent="0" marL="0">
              <a:buNone/>
            </a:pPr>
            <a:r>
              <a:rPr lang="en-US" sz="850" b="1" spc="120" kern="0" dirty="0">
                <a:solidFill>
                  <a:srgbClr val="3D8B66"/>
                </a:solidFill>
                <a:latin typeface="Arial" pitchFamily="34" charset="0"/>
                <a:ea typeface="Arial" pitchFamily="34" charset="-122"/>
                <a:cs typeface="Arial" pitchFamily="34" charset="-120"/>
              </a:rPr>
              <a:t>HƯỚNG PHÁT TRIỂN</a:t>
            </a:r>
            <a:endParaRPr lang="en-US" sz="850" dirty="0"/>
          </a:p>
        </p:txBody>
      </p:sp>
      <p:sp>
        <p:nvSpPr>
          <p:cNvPr id="25" name="Slide Number Placeholder 0"/>
          <p:cNvSpPr>
            <a:spLocks noGrp="1"/>
          </p:cNvSpPr>
          <p:nvPr>
            <p:ph type="sldNum" sz="quarter" idx="4294967295"/>
          </p:nvPr>
        </p:nvSpPr>
        <p:spPr>
          <a:xfrm>
            <a:off x="11631168" y="6473952"/>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97586"/>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2B46"/>
        </a:solidFill>
      </p:bgPr>
    </p:bg>
    <p:spTree>
      <p:nvGrpSpPr>
        <p:cNvPr id="1" name=""/>
        <p:cNvGrpSpPr/>
        <p:nvPr/>
      </p:nvGrpSpPr>
      <p:grpSpPr>
        <a:xfrm>
          <a:off x="0" y="0"/>
          <a:ext cx="0" cy="0"/>
          <a:chOff x="0" y="0"/>
          <a:chExt cx="0" cy="0"/>
        </a:xfrm>
      </p:grpSpPr>
      <p:sp>
        <p:nvSpPr>
          <p:cNvPr id="2" name="Shape 0"/>
          <p:cNvSpPr/>
          <p:nvPr/>
        </p:nvSpPr>
        <p:spPr>
          <a:xfrm>
            <a:off x="9784080" y="-640080"/>
            <a:ext cx="3200400" cy="3200400"/>
          </a:xfrm>
          <a:prstGeom prst="ellipse">
            <a:avLst/>
          </a:prstGeom>
          <a:solidFill>
            <a:srgbClr val="337B80">
              <a:alpha val="28000"/>
            </a:srgbClr>
          </a:solidFill>
          <a:ln w="12700">
            <a:solidFill>
              <a:srgbClr val="337B80">
                <a:alpha val="0"/>
              </a:srgbClr>
            </a:solidFill>
            <a:prstDash val="solid"/>
          </a:ln>
        </p:spPr>
      </p:sp>
      <p:sp>
        <p:nvSpPr>
          <p:cNvPr id="3" name="Shape 1"/>
          <p:cNvSpPr/>
          <p:nvPr/>
        </p:nvSpPr>
        <p:spPr>
          <a:xfrm>
            <a:off x="-640080" y="5303520"/>
            <a:ext cx="2103120" cy="2103120"/>
          </a:xfrm>
          <a:prstGeom prst="ellipse">
            <a:avLst/>
          </a:prstGeom>
          <a:solidFill>
            <a:srgbClr val="725B9B">
              <a:alpha val="30000"/>
            </a:srgbClr>
          </a:solidFill>
          <a:ln w="12700">
            <a:solidFill>
              <a:srgbClr val="725B9B">
                <a:alpha val="0"/>
              </a:srgbClr>
            </a:solidFill>
            <a:prstDash val="solid"/>
          </a:ln>
        </p:spPr>
      </p:sp>
      <p:sp>
        <p:nvSpPr>
          <p:cNvPr id="4" name="Text 2"/>
          <p:cNvSpPr/>
          <p:nvPr/>
        </p:nvSpPr>
        <p:spPr>
          <a:xfrm>
            <a:off x="685800" y="621792"/>
            <a:ext cx="2286000" cy="256032"/>
          </a:xfrm>
          <a:prstGeom prst="rect">
            <a:avLst/>
          </a:prstGeom>
          <a:noFill/>
          <a:ln/>
        </p:spPr>
        <p:txBody>
          <a:bodyPr wrap="square" lIns="0" tIns="0" rIns="0" bIns="0" rtlCol="0" anchor="ctr"/>
          <a:lstStyle/>
          <a:p>
            <a:pPr indent="0" marL="0">
              <a:buNone/>
            </a:pPr>
            <a:r>
              <a:rPr lang="en-US" sz="1000" b="1" spc="170" kern="0" dirty="0">
                <a:solidFill>
                  <a:srgbClr val="8FD0CC"/>
                </a:solidFill>
                <a:latin typeface="Arial" pitchFamily="34" charset="0"/>
                <a:ea typeface="Arial" pitchFamily="34" charset="-122"/>
                <a:cs typeface="Arial" pitchFamily="34" charset="-120"/>
              </a:rPr>
              <a:t>KẾT LUẬN</a:t>
            </a:r>
            <a:endParaRPr lang="en-US" sz="1000" dirty="0"/>
          </a:p>
        </p:txBody>
      </p:sp>
      <p:sp>
        <p:nvSpPr>
          <p:cNvPr id="5" name="Text 3"/>
          <p:cNvSpPr/>
          <p:nvPr/>
        </p:nvSpPr>
        <p:spPr>
          <a:xfrm>
            <a:off x="685800" y="1078992"/>
            <a:ext cx="8412480" cy="1143000"/>
          </a:xfrm>
          <a:prstGeom prst="rect">
            <a:avLst/>
          </a:prstGeom>
          <a:noFill/>
          <a:ln/>
        </p:spPr>
        <p:txBody>
          <a:bodyPr wrap="square" lIns="0" tIns="0" rIns="0" bIns="0" rtlCol="0" anchor="ctr">
            <a:normAutofit/>
          </a:bodyPr>
          <a:lstStyle/>
          <a:p>
            <a:pPr indent="0" marL="0">
              <a:buNone/>
            </a:pPr>
            <a:r>
              <a:rPr lang="en-US" sz="3100" b="1" dirty="0">
                <a:solidFill>
                  <a:srgbClr val="FFFFFF"/>
                </a:solidFill>
                <a:latin typeface="Calibri" pitchFamily="34" charset="0"/>
                <a:ea typeface="Calibri" pitchFamily="34" charset="-122"/>
                <a:cs typeface="Calibri" pitchFamily="34" charset="-120"/>
              </a:rPr>
              <a:t>Đồ thị tri thức tạo giá trị khi</a:t>
            </a:r>
            <a:endParaRPr lang="en-US" sz="3100" dirty="0"/>
          </a:p>
          <a:p>
            <a:pPr indent="0" marL="0">
              <a:buNone/>
            </a:pPr>
            <a:r>
              <a:rPr lang="en-US" sz="3100" b="1" dirty="0">
                <a:solidFill>
                  <a:srgbClr val="FFFFFF"/>
                </a:solidFill>
                <a:latin typeface="Calibri" pitchFamily="34" charset="0"/>
                <a:ea typeface="Calibri" pitchFamily="34" charset="-122"/>
                <a:cs typeface="Calibri" pitchFamily="34" charset="-120"/>
              </a:rPr>
              <a:t>mỗi quan hệ đều có thể được kiểm chứng</a:t>
            </a:r>
            <a:endParaRPr lang="en-US" sz="3100" dirty="0"/>
          </a:p>
        </p:txBody>
      </p:sp>
      <p:sp>
        <p:nvSpPr>
          <p:cNvPr id="6" name="Text 4"/>
          <p:cNvSpPr/>
          <p:nvPr/>
        </p:nvSpPr>
        <p:spPr>
          <a:xfrm>
            <a:off x="713232" y="3246120"/>
            <a:ext cx="411480" cy="256032"/>
          </a:xfrm>
          <a:prstGeom prst="rect">
            <a:avLst/>
          </a:prstGeom>
          <a:noFill/>
          <a:ln/>
        </p:spPr>
        <p:txBody>
          <a:bodyPr wrap="square" lIns="0" tIns="0" rIns="0" bIns="0" rtlCol="0" anchor="ctr"/>
          <a:lstStyle/>
          <a:p>
            <a:pPr indent="0" marL="0">
              <a:buNone/>
            </a:pPr>
            <a:r>
              <a:rPr lang="en-US" sz="1200" b="1" dirty="0">
                <a:solidFill>
                  <a:srgbClr val="8FD0CC"/>
                </a:solidFill>
                <a:latin typeface="Arial" pitchFamily="34" charset="0"/>
                <a:ea typeface="Arial" pitchFamily="34" charset="-122"/>
                <a:cs typeface="Arial" pitchFamily="34" charset="-120"/>
              </a:rPr>
              <a:t>01</a:t>
            </a:r>
            <a:endParaRPr lang="en-US" sz="1200" dirty="0"/>
          </a:p>
        </p:txBody>
      </p:sp>
      <p:sp>
        <p:nvSpPr>
          <p:cNvPr id="7" name="Text 5"/>
          <p:cNvSpPr/>
          <p:nvPr/>
        </p:nvSpPr>
        <p:spPr>
          <a:xfrm>
            <a:off x="713232" y="3685032"/>
            <a:ext cx="3063240" cy="3200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Tích hợp đúng</a:t>
            </a:r>
            <a:endParaRPr lang="en-US" sz="2000" dirty="0"/>
          </a:p>
        </p:txBody>
      </p:sp>
      <p:sp>
        <p:nvSpPr>
          <p:cNvPr id="8" name="Text 6"/>
          <p:cNvSpPr/>
          <p:nvPr/>
        </p:nvSpPr>
        <p:spPr>
          <a:xfrm>
            <a:off x="713232" y="4187952"/>
            <a:ext cx="2971800" cy="749808"/>
          </a:xfrm>
          <a:prstGeom prst="rect">
            <a:avLst/>
          </a:prstGeom>
          <a:noFill/>
          <a:ln/>
        </p:spPr>
        <p:txBody>
          <a:bodyPr wrap="square" lIns="0" tIns="0" rIns="0" bIns="0" rtlCol="0" anchor="ctr">
            <a:normAutofit/>
          </a:bodyPr>
          <a:lstStyle/>
          <a:p>
            <a:pPr indent="0" marL="0">
              <a:buNone/>
            </a:pPr>
            <a:r>
              <a:rPr lang="en-US" sz="1350" dirty="0">
                <a:solidFill>
                  <a:srgbClr val="C9D8E4"/>
                </a:solidFill>
                <a:latin typeface="Calibri" pitchFamily="34" charset="0"/>
                <a:ea typeface="Calibri" pitchFamily="34" charset="-122"/>
                <a:cs typeface="Calibri" pitchFamily="34" charset="-120"/>
              </a:rPr>
              <a:t>TMDB + IMDb, stable ID, provenance và quy trình tái lập.</a:t>
            </a:r>
            <a:endParaRPr lang="en-US" sz="1350" dirty="0"/>
          </a:p>
        </p:txBody>
      </p:sp>
      <p:sp>
        <p:nvSpPr>
          <p:cNvPr id="9" name="Text 7"/>
          <p:cNvSpPr/>
          <p:nvPr/>
        </p:nvSpPr>
        <p:spPr>
          <a:xfrm>
            <a:off x="4425696" y="3246120"/>
            <a:ext cx="411480" cy="256032"/>
          </a:xfrm>
          <a:prstGeom prst="rect">
            <a:avLst/>
          </a:prstGeom>
          <a:noFill/>
          <a:ln/>
        </p:spPr>
        <p:txBody>
          <a:bodyPr wrap="square" lIns="0" tIns="0" rIns="0" bIns="0" rtlCol="0" anchor="ctr"/>
          <a:lstStyle/>
          <a:p>
            <a:pPr indent="0" marL="0">
              <a:buNone/>
            </a:pPr>
            <a:r>
              <a:rPr lang="en-US" sz="1200" b="1" dirty="0">
                <a:solidFill>
                  <a:srgbClr val="8FD0CC"/>
                </a:solidFill>
                <a:latin typeface="Arial" pitchFamily="34" charset="0"/>
                <a:ea typeface="Arial" pitchFamily="34" charset="-122"/>
                <a:cs typeface="Arial" pitchFamily="34" charset="-120"/>
              </a:rPr>
              <a:t>02</a:t>
            </a:r>
            <a:endParaRPr lang="en-US" sz="1200" dirty="0"/>
          </a:p>
        </p:txBody>
      </p:sp>
      <p:sp>
        <p:nvSpPr>
          <p:cNvPr id="10" name="Text 8"/>
          <p:cNvSpPr/>
          <p:nvPr/>
        </p:nvSpPr>
        <p:spPr>
          <a:xfrm>
            <a:off x="4425696" y="3685032"/>
            <a:ext cx="3063240" cy="3200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Truy vấn được</a:t>
            </a:r>
            <a:endParaRPr lang="en-US" sz="2000" dirty="0"/>
          </a:p>
        </p:txBody>
      </p:sp>
      <p:sp>
        <p:nvSpPr>
          <p:cNvPr id="11" name="Text 9"/>
          <p:cNvSpPr/>
          <p:nvPr/>
        </p:nvSpPr>
        <p:spPr>
          <a:xfrm>
            <a:off x="4425696" y="4187952"/>
            <a:ext cx="2971800" cy="749808"/>
          </a:xfrm>
          <a:prstGeom prst="rect">
            <a:avLst/>
          </a:prstGeom>
          <a:noFill/>
          <a:ln/>
        </p:spPr>
        <p:txBody>
          <a:bodyPr wrap="square" lIns="0" tIns="0" rIns="0" bIns="0" rtlCol="0" anchor="ctr">
            <a:normAutofit/>
          </a:bodyPr>
          <a:lstStyle/>
          <a:p>
            <a:pPr indent="0" marL="0">
              <a:buNone/>
            </a:pPr>
            <a:r>
              <a:rPr lang="en-US" sz="1350" dirty="0">
                <a:solidFill>
                  <a:srgbClr val="C9D8E4"/>
                </a:solidFill>
                <a:latin typeface="Calibri" pitchFamily="34" charset="0"/>
                <a:ea typeface="Calibri" pitchFamily="34" charset="-122"/>
                <a:cs typeface="Calibri" pitchFamily="34" charset="-120"/>
              </a:rPr>
              <a:t>Cypher multi-hop, derived fact và semantic entailment.</a:t>
            </a:r>
            <a:endParaRPr lang="en-US" sz="1350" dirty="0"/>
          </a:p>
        </p:txBody>
      </p:sp>
      <p:sp>
        <p:nvSpPr>
          <p:cNvPr id="12" name="Text 10"/>
          <p:cNvSpPr/>
          <p:nvPr/>
        </p:nvSpPr>
        <p:spPr>
          <a:xfrm>
            <a:off x="8138160" y="3246120"/>
            <a:ext cx="411480" cy="256032"/>
          </a:xfrm>
          <a:prstGeom prst="rect">
            <a:avLst/>
          </a:prstGeom>
          <a:noFill/>
          <a:ln/>
        </p:spPr>
        <p:txBody>
          <a:bodyPr wrap="square" lIns="0" tIns="0" rIns="0" bIns="0" rtlCol="0" anchor="ctr"/>
          <a:lstStyle/>
          <a:p>
            <a:pPr indent="0" marL="0">
              <a:buNone/>
            </a:pPr>
            <a:r>
              <a:rPr lang="en-US" sz="1200" b="1" dirty="0">
                <a:solidFill>
                  <a:srgbClr val="8FD0CC"/>
                </a:solidFill>
                <a:latin typeface="Arial" pitchFamily="34" charset="0"/>
                <a:ea typeface="Arial" pitchFamily="34" charset="-122"/>
                <a:cs typeface="Arial" pitchFamily="34" charset="-120"/>
              </a:rPr>
              <a:t>03</a:t>
            </a:r>
            <a:endParaRPr lang="en-US" sz="1200" dirty="0"/>
          </a:p>
        </p:txBody>
      </p:sp>
      <p:sp>
        <p:nvSpPr>
          <p:cNvPr id="13" name="Text 11"/>
          <p:cNvSpPr/>
          <p:nvPr/>
        </p:nvSpPr>
        <p:spPr>
          <a:xfrm>
            <a:off x="8138160" y="3685032"/>
            <a:ext cx="3063240" cy="3200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Giải thích được</a:t>
            </a:r>
            <a:endParaRPr lang="en-US" sz="2000" dirty="0"/>
          </a:p>
        </p:txBody>
      </p:sp>
      <p:sp>
        <p:nvSpPr>
          <p:cNvPr id="14" name="Text 12"/>
          <p:cNvSpPr/>
          <p:nvPr/>
        </p:nvSpPr>
        <p:spPr>
          <a:xfrm>
            <a:off x="8138160" y="4187952"/>
            <a:ext cx="2971800" cy="749808"/>
          </a:xfrm>
          <a:prstGeom prst="rect">
            <a:avLst/>
          </a:prstGeom>
          <a:noFill/>
          <a:ln/>
        </p:spPr>
        <p:txBody>
          <a:bodyPr wrap="square" lIns="0" tIns="0" rIns="0" bIns="0" rtlCol="0" anchor="ctr">
            <a:normAutofit/>
          </a:bodyPr>
          <a:lstStyle/>
          <a:p>
            <a:pPr indent="0" marL="0">
              <a:buNone/>
            </a:pPr>
            <a:r>
              <a:rPr lang="en-US" sz="1350" dirty="0">
                <a:solidFill>
                  <a:srgbClr val="C9D8E4"/>
                </a:solidFill>
                <a:latin typeface="Calibri" pitchFamily="34" charset="0"/>
                <a:ea typeface="Calibri" pitchFamily="34" charset="-122"/>
                <a:cs typeface="Calibri" pitchFamily="34" charset="-120"/>
              </a:rPr>
              <a:t>QA và gợi ý trả cả thực thể, path và đóng góp điểm.</a:t>
            </a:r>
            <a:endParaRPr lang="en-US" sz="1350" dirty="0"/>
          </a:p>
        </p:txBody>
      </p:sp>
      <p:sp>
        <p:nvSpPr>
          <p:cNvPr id="15" name="Text 13"/>
          <p:cNvSpPr/>
          <p:nvPr/>
        </p:nvSpPr>
        <p:spPr>
          <a:xfrm>
            <a:off x="713232" y="5943600"/>
            <a:ext cx="7772400" cy="365760"/>
          </a:xfrm>
          <a:prstGeom prst="rect">
            <a:avLst/>
          </a:prstGeom>
          <a:noFill/>
          <a:ln/>
        </p:spPr>
        <p:txBody>
          <a:bodyPr wrap="square" lIns="0" tIns="0" rIns="0" bIns="0" rtlCol="0" anchor="ctr"/>
          <a:lstStyle/>
          <a:p>
            <a:pPr indent="0" marL="0">
              <a:buNone/>
            </a:pPr>
            <a:r>
              <a:rPr lang="en-US" sz="1600" b="1" dirty="0">
                <a:solidFill>
                  <a:srgbClr val="8FD0CC"/>
                </a:solidFill>
                <a:latin typeface="Calibri" pitchFamily="34" charset="0"/>
                <a:ea typeface="Calibri" pitchFamily="34" charset="-122"/>
                <a:cs typeface="Calibri" pitchFamily="34" charset="-120"/>
              </a:rPr>
              <a:t>Xin cảm ơn thầy. Em xin lắng nghe câu hỏi và phản biện.</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30352" y="475488"/>
            <a:ext cx="2194560" cy="219456"/>
          </a:xfrm>
          <a:prstGeom prst="rect">
            <a:avLst/>
          </a:prstGeom>
          <a:noFill/>
          <a:ln/>
        </p:spPr>
        <p:txBody>
          <a:bodyPr wrap="square" lIns="0" tIns="0" rIns="0" bIns="0" rtlCol="0" anchor="ctr"/>
          <a:lstStyle/>
          <a:p>
            <a:pPr indent="0" marL="0">
              <a:buNone/>
            </a:pPr>
            <a:r>
              <a:rPr lang="en-US" sz="900" b="1" spc="140" kern="0" dirty="0">
                <a:solidFill>
                  <a:srgbClr val="337B80"/>
                </a:solidFill>
                <a:latin typeface="Arial" pitchFamily="34" charset="0"/>
                <a:ea typeface="Arial" pitchFamily="34" charset="-122"/>
                <a:cs typeface="Arial" pitchFamily="34" charset="-120"/>
              </a:rPr>
              <a:t>PHẢN BIỆN</a:t>
            </a:r>
            <a:endParaRPr lang="en-US" sz="900" dirty="0"/>
          </a:p>
        </p:txBody>
      </p:sp>
      <p:sp>
        <p:nvSpPr>
          <p:cNvPr id="3" name="Text 1"/>
          <p:cNvSpPr/>
          <p:nvPr/>
        </p:nvSpPr>
        <p:spPr>
          <a:xfrm>
            <a:off x="530352" y="713232"/>
            <a:ext cx="10881360" cy="502920"/>
          </a:xfrm>
          <a:prstGeom prst="rect">
            <a:avLst/>
          </a:prstGeom>
          <a:noFill/>
          <a:ln/>
        </p:spPr>
        <p:txBody>
          <a:bodyPr wrap="square" lIns="0" tIns="0" rIns="0" bIns="0" rtlCol="0" anchor="ctr">
            <a:normAutofit/>
          </a:bodyPr>
          <a:lstStyle/>
          <a:p>
            <a:pPr indent="0" marL="0">
              <a:buNone/>
            </a:pPr>
            <a:r>
              <a:rPr lang="en-US" sz="2600" b="1" dirty="0">
                <a:solidFill>
                  <a:srgbClr val="112B46"/>
                </a:solidFill>
                <a:latin typeface="Calibri" pitchFamily="34" charset="0"/>
                <a:ea typeface="Calibri" pitchFamily="34" charset="-122"/>
                <a:cs typeface="Calibri" pitchFamily="34" charset="-120"/>
              </a:rPr>
              <a:t>Phụ lục · Chín ý định và nhóm Cypher</a:t>
            </a:r>
            <a:endParaRPr lang="en-US" sz="2600" dirty="0"/>
          </a:p>
        </p:txBody>
      </p:sp>
      <p:sp>
        <p:nvSpPr>
          <p:cNvPr id="4" name="Text 2"/>
          <p:cNvSpPr/>
          <p:nvPr/>
        </p:nvSpPr>
        <p:spPr>
          <a:xfrm>
            <a:off x="548640" y="1261872"/>
            <a:ext cx="10652760" cy="310896"/>
          </a:xfrm>
          <a:prstGeom prst="rect">
            <a:avLst/>
          </a:prstGeom>
          <a:noFill/>
          <a:ln/>
        </p:spPr>
        <p:txBody>
          <a:bodyPr wrap="square" lIns="0" tIns="0" rIns="0" bIns="0" rtlCol="0" anchor="ctr">
            <a:normAutofit/>
          </a:bodyPr>
          <a:lstStyle/>
          <a:p>
            <a:pPr indent="0" marL="0">
              <a:buNone/>
            </a:pPr>
            <a:r>
              <a:rPr lang="en-US" sz="1250" dirty="0">
                <a:solidFill>
                  <a:srgbClr val="697586"/>
                </a:solidFill>
                <a:latin typeface="Calibri" pitchFamily="34" charset="0"/>
                <a:ea typeface="Calibri" pitchFamily="34" charset="-122"/>
                <a:cs typeface="Calibri" pitchFamily="34" charset="-120"/>
              </a:rPr>
              <a:t>Chỉ mở khi giảng viên hỏi sâu về phạm vi chatbot.</a:t>
            </a:r>
            <a:endParaRPr lang="en-US" sz="1250" dirty="0"/>
          </a:p>
        </p:txBody>
      </p:sp>
      <p:sp>
        <p:nvSpPr>
          <p:cNvPr id="5" name="Shape 3"/>
          <p:cNvSpPr/>
          <p:nvPr/>
        </p:nvSpPr>
        <p:spPr>
          <a:xfrm>
            <a:off x="621792" y="1783080"/>
            <a:ext cx="3493008" cy="987552"/>
          </a:xfrm>
          <a:prstGeom prst="roundRect">
            <a:avLst>
              <a:gd name="adj" fmla="val 5556"/>
            </a:avLst>
          </a:prstGeom>
          <a:solidFill>
            <a:srgbClr val="FFFFFF"/>
          </a:solidFill>
          <a:ln w="12700">
            <a:solidFill>
              <a:srgbClr val="D7DEE8"/>
            </a:solidFill>
            <a:prstDash val="solid"/>
          </a:ln>
        </p:spPr>
      </p:sp>
      <p:sp>
        <p:nvSpPr>
          <p:cNvPr id="6" name="Shape 4"/>
          <p:cNvSpPr/>
          <p:nvPr/>
        </p:nvSpPr>
        <p:spPr>
          <a:xfrm>
            <a:off x="822960" y="1984248"/>
            <a:ext cx="384048" cy="384048"/>
          </a:xfrm>
          <a:prstGeom prst="ellipse">
            <a:avLst/>
          </a:prstGeom>
          <a:solidFill>
            <a:srgbClr val="337B80"/>
          </a:solidFill>
          <a:ln w="12700">
            <a:solidFill>
              <a:srgbClr val="337B80"/>
            </a:solidFill>
            <a:prstDash val="solid"/>
          </a:ln>
        </p:spPr>
      </p:sp>
      <p:sp>
        <p:nvSpPr>
          <p:cNvPr id="7" name="Text 5"/>
          <p:cNvSpPr/>
          <p:nvPr/>
        </p:nvSpPr>
        <p:spPr>
          <a:xfrm>
            <a:off x="822960" y="2039112"/>
            <a:ext cx="384048" cy="14630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8" name="Text 6"/>
          <p:cNvSpPr/>
          <p:nvPr/>
        </p:nvSpPr>
        <p:spPr>
          <a:xfrm>
            <a:off x="1335024" y="1965960"/>
            <a:ext cx="2578608" cy="301752"/>
          </a:xfrm>
          <a:prstGeom prst="rect">
            <a:avLst/>
          </a:prstGeom>
          <a:noFill/>
          <a:ln/>
        </p:spPr>
        <p:txBody>
          <a:bodyPr wrap="square" lIns="0" tIns="0" rIns="0" bIns="0" rtlCol="0" anchor="ctr">
            <a:normAutofit/>
          </a:bodyPr>
          <a:lstStyle/>
          <a:p>
            <a:pPr indent="0" marL="0">
              <a:buNone/>
            </a:pPr>
            <a:r>
              <a:rPr lang="en-US" sz="1300" b="1" dirty="0">
                <a:solidFill>
                  <a:srgbClr val="112B46"/>
                </a:solidFill>
                <a:latin typeface="Calibri" pitchFamily="34" charset="0"/>
                <a:ea typeface="Calibri" pitchFamily="34" charset="-122"/>
                <a:cs typeface="Calibri" pitchFamily="34" charset="-120"/>
              </a:rPr>
              <a:t>movies_by_director</a:t>
            </a:r>
            <a:endParaRPr lang="en-US" sz="1300" dirty="0"/>
          </a:p>
        </p:txBody>
      </p:sp>
      <p:sp>
        <p:nvSpPr>
          <p:cNvPr id="9" name="Text 7"/>
          <p:cNvSpPr/>
          <p:nvPr/>
        </p:nvSpPr>
        <p:spPr>
          <a:xfrm>
            <a:off x="850392" y="2386584"/>
            <a:ext cx="3035808" cy="201168"/>
          </a:xfrm>
          <a:prstGeom prst="rect">
            <a:avLst/>
          </a:prstGeom>
          <a:noFill/>
          <a:ln/>
        </p:spPr>
        <p:txBody>
          <a:bodyPr wrap="square" lIns="0" tIns="0" rIns="0" bIns="0" rtlCol="0" anchor="t">
            <a:normAutofit/>
          </a:bodyPr>
          <a:lstStyle/>
          <a:p>
            <a:pPr indent="0" marL="0">
              <a:buNone/>
            </a:pPr>
            <a:r>
              <a:rPr lang="en-US" sz="1050" dirty="0">
                <a:solidFill>
                  <a:srgbClr val="172B3A"/>
                </a:solidFill>
                <a:latin typeface="Calibri" pitchFamily="34" charset="0"/>
                <a:ea typeface="Calibri" pitchFamily="34" charset="-122"/>
                <a:cs typeface="Calibri" pitchFamily="34" charset="-120"/>
              </a:rPr>
              <a:t>Lookup 1–2 hop</a:t>
            </a:r>
            <a:endParaRPr lang="en-US" sz="1050" dirty="0"/>
          </a:p>
        </p:txBody>
      </p:sp>
      <p:sp>
        <p:nvSpPr>
          <p:cNvPr id="10" name="Shape 8"/>
          <p:cNvSpPr/>
          <p:nvPr/>
        </p:nvSpPr>
        <p:spPr>
          <a:xfrm>
            <a:off x="4425696" y="1783080"/>
            <a:ext cx="3493008" cy="987552"/>
          </a:xfrm>
          <a:prstGeom prst="roundRect">
            <a:avLst>
              <a:gd name="adj" fmla="val 5556"/>
            </a:avLst>
          </a:prstGeom>
          <a:solidFill>
            <a:srgbClr val="FFFFFF"/>
          </a:solidFill>
          <a:ln w="12700">
            <a:solidFill>
              <a:srgbClr val="D7DEE8"/>
            </a:solidFill>
            <a:prstDash val="solid"/>
          </a:ln>
        </p:spPr>
      </p:sp>
      <p:sp>
        <p:nvSpPr>
          <p:cNvPr id="11" name="Shape 9"/>
          <p:cNvSpPr/>
          <p:nvPr/>
        </p:nvSpPr>
        <p:spPr>
          <a:xfrm>
            <a:off x="4626864" y="1984248"/>
            <a:ext cx="384048" cy="384048"/>
          </a:xfrm>
          <a:prstGeom prst="ellipse">
            <a:avLst/>
          </a:prstGeom>
          <a:solidFill>
            <a:srgbClr val="337B80"/>
          </a:solidFill>
          <a:ln w="12700">
            <a:solidFill>
              <a:srgbClr val="337B80"/>
            </a:solidFill>
            <a:prstDash val="solid"/>
          </a:ln>
        </p:spPr>
      </p:sp>
      <p:sp>
        <p:nvSpPr>
          <p:cNvPr id="12" name="Text 10"/>
          <p:cNvSpPr/>
          <p:nvPr/>
        </p:nvSpPr>
        <p:spPr>
          <a:xfrm>
            <a:off x="4626864" y="2039112"/>
            <a:ext cx="384048" cy="14630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Text 11"/>
          <p:cNvSpPr/>
          <p:nvPr/>
        </p:nvSpPr>
        <p:spPr>
          <a:xfrm>
            <a:off x="5138928" y="1965960"/>
            <a:ext cx="2578608" cy="301752"/>
          </a:xfrm>
          <a:prstGeom prst="rect">
            <a:avLst/>
          </a:prstGeom>
          <a:noFill/>
          <a:ln/>
        </p:spPr>
        <p:txBody>
          <a:bodyPr wrap="square" lIns="0" tIns="0" rIns="0" bIns="0" rtlCol="0" anchor="ctr">
            <a:normAutofit/>
          </a:bodyPr>
          <a:lstStyle/>
          <a:p>
            <a:pPr indent="0" marL="0">
              <a:buNone/>
            </a:pPr>
            <a:r>
              <a:rPr lang="en-US" sz="1300" b="1" dirty="0">
                <a:solidFill>
                  <a:srgbClr val="112B46"/>
                </a:solidFill>
                <a:latin typeface="Calibri" pitchFamily="34" charset="0"/>
                <a:ea typeface="Calibri" pitchFamily="34" charset="-122"/>
                <a:cs typeface="Calibri" pitchFamily="34" charset="-120"/>
              </a:rPr>
              <a:t>actors_in_movie</a:t>
            </a:r>
            <a:endParaRPr lang="en-US" sz="1300" dirty="0"/>
          </a:p>
        </p:txBody>
      </p:sp>
      <p:sp>
        <p:nvSpPr>
          <p:cNvPr id="14" name="Text 12"/>
          <p:cNvSpPr/>
          <p:nvPr/>
        </p:nvSpPr>
        <p:spPr>
          <a:xfrm>
            <a:off x="4654296" y="2386584"/>
            <a:ext cx="3035808" cy="201168"/>
          </a:xfrm>
          <a:prstGeom prst="rect">
            <a:avLst/>
          </a:prstGeom>
          <a:noFill/>
          <a:ln/>
        </p:spPr>
        <p:txBody>
          <a:bodyPr wrap="square" lIns="0" tIns="0" rIns="0" bIns="0" rtlCol="0" anchor="t">
            <a:normAutofit/>
          </a:bodyPr>
          <a:lstStyle/>
          <a:p>
            <a:pPr indent="0" marL="0">
              <a:buNone/>
            </a:pPr>
            <a:r>
              <a:rPr lang="en-US" sz="1050" dirty="0">
                <a:solidFill>
                  <a:srgbClr val="172B3A"/>
                </a:solidFill>
                <a:latin typeface="Calibri" pitchFamily="34" charset="0"/>
                <a:ea typeface="Calibri" pitchFamily="34" charset="-122"/>
                <a:cs typeface="Calibri" pitchFamily="34" charset="-120"/>
              </a:rPr>
              <a:t>Lookup 1 hop</a:t>
            </a:r>
            <a:endParaRPr lang="en-US" sz="1050" dirty="0"/>
          </a:p>
        </p:txBody>
      </p:sp>
      <p:sp>
        <p:nvSpPr>
          <p:cNvPr id="15" name="Shape 13"/>
          <p:cNvSpPr/>
          <p:nvPr/>
        </p:nvSpPr>
        <p:spPr>
          <a:xfrm>
            <a:off x="8229600" y="1783080"/>
            <a:ext cx="3493008" cy="987552"/>
          </a:xfrm>
          <a:prstGeom prst="roundRect">
            <a:avLst>
              <a:gd name="adj" fmla="val 5556"/>
            </a:avLst>
          </a:prstGeom>
          <a:solidFill>
            <a:srgbClr val="F0ECF7"/>
          </a:solidFill>
          <a:ln w="12700">
            <a:solidFill>
              <a:srgbClr val="D9CFE8"/>
            </a:solidFill>
            <a:prstDash val="solid"/>
          </a:ln>
        </p:spPr>
      </p:sp>
      <p:sp>
        <p:nvSpPr>
          <p:cNvPr id="16" name="Shape 14"/>
          <p:cNvSpPr/>
          <p:nvPr/>
        </p:nvSpPr>
        <p:spPr>
          <a:xfrm>
            <a:off x="8430768" y="1984248"/>
            <a:ext cx="384048" cy="384048"/>
          </a:xfrm>
          <a:prstGeom prst="ellipse">
            <a:avLst/>
          </a:prstGeom>
          <a:solidFill>
            <a:srgbClr val="337B80"/>
          </a:solidFill>
          <a:ln w="12700">
            <a:solidFill>
              <a:srgbClr val="337B80"/>
            </a:solidFill>
            <a:prstDash val="solid"/>
          </a:ln>
        </p:spPr>
      </p:sp>
      <p:sp>
        <p:nvSpPr>
          <p:cNvPr id="17" name="Text 15"/>
          <p:cNvSpPr/>
          <p:nvPr/>
        </p:nvSpPr>
        <p:spPr>
          <a:xfrm>
            <a:off x="8430768" y="2039112"/>
            <a:ext cx="384048" cy="14630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8" name="Text 16"/>
          <p:cNvSpPr/>
          <p:nvPr/>
        </p:nvSpPr>
        <p:spPr>
          <a:xfrm>
            <a:off x="8942832" y="1965960"/>
            <a:ext cx="2578608" cy="301752"/>
          </a:xfrm>
          <a:prstGeom prst="rect">
            <a:avLst/>
          </a:prstGeom>
          <a:noFill/>
          <a:ln/>
        </p:spPr>
        <p:txBody>
          <a:bodyPr wrap="square" lIns="0" tIns="0" rIns="0" bIns="0" rtlCol="0" anchor="ctr">
            <a:normAutofit/>
          </a:bodyPr>
          <a:lstStyle/>
          <a:p>
            <a:pPr indent="0" marL="0">
              <a:buNone/>
            </a:pPr>
            <a:r>
              <a:rPr lang="en-US" sz="1300" b="1" dirty="0">
                <a:solidFill>
                  <a:srgbClr val="112B46"/>
                </a:solidFill>
                <a:latin typeface="Calibri" pitchFamily="34" charset="0"/>
                <a:ea typeface="Calibri" pitchFamily="34" charset="-122"/>
                <a:cs typeface="Calibri" pitchFamily="34" charset="-120"/>
              </a:rPr>
              <a:t>common_movies</a:t>
            </a:r>
            <a:endParaRPr lang="en-US" sz="1300" dirty="0"/>
          </a:p>
        </p:txBody>
      </p:sp>
      <p:sp>
        <p:nvSpPr>
          <p:cNvPr id="19" name="Text 17"/>
          <p:cNvSpPr/>
          <p:nvPr/>
        </p:nvSpPr>
        <p:spPr>
          <a:xfrm>
            <a:off x="8458200" y="2386584"/>
            <a:ext cx="3035808" cy="201168"/>
          </a:xfrm>
          <a:prstGeom prst="rect">
            <a:avLst/>
          </a:prstGeom>
          <a:noFill/>
          <a:ln/>
        </p:spPr>
        <p:txBody>
          <a:bodyPr wrap="square" lIns="0" tIns="0" rIns="0" bIns="0" rtlCol="0" anchor="t">
            <a:normAutofit/>
          </a:bodyPr>
          <a:lstStyle/>
          <a:p>
            <a:pPr indent="0" marL="0">
              <a:buNone/>
            </a:pPr>
            <a:r>
              <a:rPr lang="en-US" sz="1050" dirty="0">
                <a:solidFill>
                  <a:srgbClr val="172B3A"/>
                </a:solidFill>
                <a:latin typeface="Calibri" pitchFamily="34" charset="0"/>
                <a:ea typeface="Calibri" pitchFamily="34" charset="-122"/>
                <a:cs typeface="Calibri" pitchFamily="34" charset="-120"/>
              </a:rPr>
              <a:t>Shared neighbor</a:t>
            </a:r>
            <a:endParaRPr lang="en-US" sz="1050" dirty="0"/>
          </a:p>
        </p:txBody>
      </p:sp>
      <p:sp>
        <p:nvSpPr>
          <p:cNvPr id="20" name="Shape 18"/>
          <p:cNvSpPr/>
          <p:nvPr/>
        </p:nvSpPr>
        <p:spPr>
          <a:xfrm>
            <a:off x="621792" y="3090672"/>
            <a:ext cx="3493008" cy="987552"/>
          </a:xfrm>
          <a:prstGeom prst="roundRect">
            <a:avLst>
              <a:gd name="adj" fmla="val 5556"/>
            </a:avLst>
          </a:prstGeom>
          <a:solidFill>
            <a:srgbClr val="FFFFFF"/>
          </a:solidFill>
          <a:ln w="12700">
            <a:solidFill>
              <a:srgbClr val="D7DEE8"/>
            </a:solidFill>
            <a:prstDash val="solid"/>
          </a:ln>
        </p:spPr>
      </p:sp>
      <p:sp>
        <p:nvSpPr>
          <p:cNvPr id="21" name="Shape 19"/>
          <p:cNvSpPr/>
          <p:nvPr/>
        </p:nvSpPr>
        <p:spPr>
          <a:xfrm>
            <a:off x="822960" y="3291840"/>
            <a:ext cx="384048" cy="384048"/>
          </a:xfrm>
          <a:prstGeom prst="ellipse">
            <a:avLst/>
          </a:prstGeom>
          <a:solidFill>
            <a:srgbClr val="337B80"/>
          </a:solidFill>
          <a:ln w="12700">
            <a:solidFill>
              <a:srgbClr val="337B80"/>
            </a:solidFill>
            <a:prstDash val="solid"/>
          </a:ln>
        </p:spPr>
      </p:sp>
      <p:sp>
        <p:nvSpPr>
          <p:cNvPr id="22" name="Text 20"/>
          <p:cNvSpPr/>
          <p:nvPr/>
        </p:nvSpPr>
        <p:spPr>
          <a:xfrm>
            <a:off x="822960" y="3346704"/>
            <a:ext cx="384048" cy="14630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23" name="Text 21"/>
          <p:cNvSpPr/>
          <p:nvPr/>
        </p:nvSpPr>
        <p:spPr>
          <a:xfrm>
            <a:off x="1335024" y="3273552"/>
            <a:ext cx="2578608" cy="301752"/>
          </a:xfrm>
          <a:prstGeom prst="rect">
            <a:avLst/>
          </a:prstGeom>
          <a:noFill/>
          <a:ln/>
        </p:spPr>
        <p:txBody>
          <a:bodyPr wrap="square" lIns="0" tIns="0" rIns="0" bIns="0" rtlCol="0" anchor="ctr">
            <a:normAutofit/>
          </a:bodyPr>
          <a:lstStyle/>
          <a:p>
            <a:pPr indent="0" marL="0">
              <a:buNone/>
            </a:pPr>
            <a:r>
              <a:rPr lang="en-US" sz="1300" b="1" dirty="0">
                <a:solidFill>
                  <a:srgbClr val="112B46"/>
                </a:solidFill>
                <a:latin typeface="Calibri" pitchFamily="34" charset="0"/>
                <a:ea typeface="Calibri" pitchFamily="34" charset="-122"/>
                <a:cs typeface="Calibri" pitchFamily="34" charset="-120"/>
              </a:rPr>
              <a:t>movies_by_genre_rating</a:t>
            </a:r>
            <a:endParaRPr lang="en-US" sz="1300" dirty="0"/>
          </a:p>
        </p:txBody>
      </p:sp>
      <p:sp>
        <p:nvSpPr>
          <p:cNvPr id="24" name="Text 22"/>
          <p:cNvSpPr/>
          <p:nvPr/>
        </p:nvSpPr>
        <p:spPr>
          <a:xfrm>
            <a:off x="850392" y="3694176"/>
            <a:ext cx="3035808" cy="201168"/>
          </a:xfrm>
          <a:prstGeom prst="rect">
            <a:avLst/>
          </a:prstGeom>
          <a:noFill/>
          <a:ln/>
        </p:spPr>
        <p:txBody>
          <a:bodyPr wrap="square" lIns="0" tIns="0" rIns="0" bIns="0" rtlCol="0" anchor="t">
            <a:normAutofit/>
          </a:bodyPr>
          <a:lstStyle/>
          <a:p>
            <a:pPr indent="0" marL="0">
              <a:buNone/>
            </a:pPr>
            <a:r>
              <a:rPr lang="en-US" sz="1050" dirty="0">
                <a:solidFill>
                  <a:srgbClr val="172B3A"/>
                </a:solidFill>
                <a:latin typeface="Calibri" pitchFamily="34" charset="0"/>
                <a:ea typeface="Calibri" pitchFamily="34" charset="-122"/>
                <a:cs typeface="Calibri" pitchFamily="34" charset="-120"/>
              </a:rPr>
              <a:t>Filter + traversal</a:t>
            </a:r>
            <a:endParaRPr lang="en-US" sz="1050" dirty="0"/>
          </a:p>
        </p:txBody>
      </p:sp>
      <p:sp>
        <p:nvSpPr>
          <p:cNvPr id="25" name="Shape 23"/>
          <p:cNvSpPr/>
          <p:nvPr/>
        </p:nvSpPr>
        <p:spPr>
          <a:xfrm>
            <a:off x="4425696" y="3090672"/>
            <a:ext cx="3493008" cy="987552"/>
          </a:xfrm>
          <a:prstGeom prst="roundRect">
            <a:avLst>
              <a:gd name="adj" fmla="val 5556"/>
            </a:avLst>
          </a:prstGeom>
          <a:solidFill>
            <a:srgbClr val="FFFFFF"/>
          </a:solidFill>
          <a:ln w="12700">
            <a:solidFill>
              <a:srgbClr val="D7DEE8"/>
            </a:solidFill>
            <a:prstDash val="solid"/>
          </a:ln>
        </p:spPr>
      </p:sp>
      <p:sp>
        <p:nvSpPr>
          <p:cNvPr id="26" name="Shape 24"/>
          <p:cNvSpPr/>
          <p:nvPr/>
        </p:nvSpPr>
        <p:spPr>
          <a:xfrm>
            <a:off x="4626864" y="3291840"/>
            <a:ext cx="384048" cy="384048"/>
          </a:xfrm>
          <a:prstGeom prst="ellipse">
            <a:avLst/>
          </a:prstGeom>
          <a:solidFill>
            <a:srgbClr val="337B80"/>
          </a:solidFill>
          <a:ln w="12700">
            <a:solidFill>
              <a:srgbClr val="337B80"/>
            </a:solidFill>
            <a:prstDash val="solid"/>
          </a:ln>
        </p:spPr>
      </p:sp>
      <p:sp>
        <p:nvSpPr>
          <p:cNvPr id="27" name="Text 25"/>
          <p:cNvSpPr/>
          <p:nvPr/>
        </p:nvSpPr>
        <p:spPr>
          <a:xfrm>
            <a:off x="4626864" y="3346704"/>
            <a:ext cx="384048" cy="14630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28" name="Text 26"/>
          <p:cNvSpPr/>
          <p:nvPr/>
        </p:nvSpPr>
        <p:spPr>
          <a:xfrm>
            <a:off x="5138928" y="3273552"/>
            <a:ext cx="2578608" cy="301752"/>
          </a:xfrm>
          <a:prstGeom prst="rect">
            <a:avLst/>
          </a:prstGeom>
          <a:noFill/>
          <a:ln/>
        </p:spPr>
        <p:txBody>
          <a:bodyPr wrap="square" lIns="0" tIns="0" rIns="0" bIns="0" rtlCol="0" anchor="ctr">
            <a:normAutofit/>
          </a:bodyPr>
          <a:lstStyle/>
          <a:p>
            <a:pPr indent="0" marL="0">
              <a:buNone/>
            </a:pPr>
            <a:r>
              <a:rPr lang="en-US" sz="1300" b="1" dirty="0">
                <a:solidFill>
                  <a:srgbClr val="112B46"/>
                </a:solidFill>
                <a:latin typeface="Calibri" pitchFamily="34" charset="0"/>
                <a:ea typeface="Calibri" pitchFamily="34" charset="-122"/>
                <a:cs typeface="Calibri" pitchFamily="34" charset="-120"/>
              </a:rPr>
              <a:t>co_stars</a:t>
            </a:r>
            <a:endParaRPr lang="en-US" sz="1300" dirty="0"/>
          </a:p>
        </p:txBody>
      </p:sp>
      <p:sp>
        <p:nvSpPr>
          <p:cNvPr id="29" name="Text 27"/>
          <p:cNvSpPr/>
          <p:nvPr/>
        </p:nvSpPr>
        <p:spPr>
          <a:xfrm>
            <a:off x="4654296" y="3694176"/>
            <a:ext cx="3035808" cy="201168"/>
          </a:xfrm>
          <a:prstGeom prst="rect">
            <a:avLst/>
          </a:prstGeom>
          <a:noFill/>
          <a:ln/>
        </p:spPr>
        <p:txBody>
          <a:bodyPr wrap="square" lIns="0" tIns="0" rIns="0" bIns="0" rtlCol="0" anchor="t">
            <a:normAutofit/>
          </a:bodyPr>
          <a:lstStyle/>
          <a:p>
            <a:pPr indent="0" marL="0">
              <a:buNone/>
            </a:pPr>
            <a:r>
              <a:rPr lang="en-US" sz="1050" dirty="0">
                <a:solidFill>
                  <a:srgbClr val="172B3A"/>
                </a:solidFill>
                <a:latin typeface="Calibri" pitchFamily="34" charset="0"/>
                <a:ea typeface="Calibri" pitchFamily="34" charset="-122"/>
                <a:cs typeface="Calibri" pitchFamily="34" charset="-120"/>
              </a:rPr>
              <a:t>Derived edge</a:t>
            </a:r>
            <a:endParaRPr lang="en-US" sz="1050" dirty="0"/>
          </a:p>
        </p:txBody>
      </p:sp>
      <p:sp>
        <p:nvSpPr>
          <p:cNvPr id="30" name="Shape 28"/>
          <p:cNvSpPr/>
          <p:nvPr/>
        </p:nvSpPr>
        <p:spPr>
          <a:xfrm>
            <a:off x="8229600" y="3090672"/>
            <a:ext cx="3493008" cy="987552"/>
          </a:xfrm>
          <a:prstGeom prst="roundRect">
            <a:avLst>
              <a:gd name="adj" fmla="val 5556"/>
            </a:avLst>
          </a:prstGeom>
          <a:solidFill>
            <a:srgbClr val="F0ECF7"/>
          </a:solidFill>
          <a:ln w="12700">
            <a:solidFill>
              <a:srgbClr val="D9CFE8"/>
            </a:solidFill>
            <a:prstDash val="solid"/>
          </a:ln>
        </p:spPr>
      </p:sp>
      <p:sp>
        <p:nvSpPr>
          <p:cNvPr id="31" name="Shape 29"/>
          <p:cNvSpPr/>
          <p:nvPr/>
        </p:nvSpPr>
        <p:spPr>
          <a:xfrm>
            <a:off x="8430768" y="3291840"/>
            <a:ext cx="384048" cy="384048"/>
          </a:xfrm>
          <a:prstGeom prst="ellipse">
            <a:avLst/>
          </a:prstGeom>
          <a:solidFill>
            <a:srgbClr val="337B80"/>
          </a:solidFill>
          <a:ln w="12700">
            <a:solidFill>
              <a:srgbClr val="337B80"/>
            </a:solidFill>
            <a:prstDash val="solid"/>
          </a:ln>
        </p:spPr>
      </p:sp>
      <p:sp>
        <p:nvSpPr>
          <p:cNvPr id="32" name="Text 30"/>
          <p:cNvSpPr/>
          <p:nvPr/>
        </p:nvSpPr>
        <p:spPr>
          <a:xfrm>
            <a:off x="8430768" y="3346704"/>
            <a:ext cx="384048" cy="14630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33" name="Text 31"/>
          <p:cNvSpPr/>
          <p:nvPr/>
        </p:nvSpPr>
        <p:spPr>
          <a:xfrm>
            <a:off x="8942832" y="3273552"/>
            <a:ext cx="2578608" cy="301752"/>
          </a:xfrm>
          <a:prstGeom prst="rect">
            <a:avLst/>
          </a:prstGeom>
          <a:noFill/>
          <a:ln/>
        </p:spPr>
        <p:txBody>
          <a:bodyPr wrap="square" lIns="0" tIns="0" rIns="0" bIns="0" rtlCol="0" anchor="ctr">
            <a:normAutofit/>
          </a:bodyPr>
          <a:lstStyle/>
          <a:p>
            <a:pPr indent="0" marL="0">
              <a:buNone/>
            </a:pPr>
            <a:r>
              <a:rPr lang="en-US" sz="1300" b="1" dirty="0">
                <a:solidFill>
                  <a:srgbClr val="112B46"/>
                </a:solidFill>
                <a:latin typeface="Calibri" pitchFamily="34" charset="0"/>
                <a:ea typeface="Calibri" pitchFamily="34" charset="-122"/>
                <a:cs typeface="Calibri" pitchFamily="34" charset="-120"/>
              </a:rPr>
              <a:t>directors_by_genre</a:t>
            </a:r>
            <a:endParaRPr lang="en-US" sz="1300" dirty="0"/>
          </a:p>
        </p:txBody>
      </p:sp>
      <p:sp>
        <p:nvSpPr>
          <p:cNvPr id="34" name="Text 32"/>
          <p:cNvSpPr/>
          <p:nvPr/>
        </p:nvSpPr>
        <p:spPr>
          <a:xfrm>
            <a:off x="8458200" y="3694176"/>
            <a:ext cx="3035808" cy="201168"/>
          </a:xfrm>
          <a:prstGeom prst="rect">
            <a:avLst/>
          </a:prstGeom>
          <a:noFill/>
          <a:ln/>
        </p:spPr>
        <p:txBody>
          <a:bodyPr wrap="square" lIns="0" tIns="0" rIns="0" bIns="0" rtlCol="0" anchor="t">
            <a:normAutofit/>
          </a:bodyPr>
          <a:lstStyle/>
          <a:p>
            <a:pPr indent="0" marL="0">
              <a:buNone/>
            </a:pPr>
            <a:r>
              <a:rPr lang="en-US" sz="1050" dirty="0">
                <a:solidFill>
                  <a:srgbClr val="172B3A"/>
                </a:solidFill>
                <a:latin typeface="Calibri" pitchFamily="34" charset="0"/>
                <a:ea typeface="Calibri" pitchFamily="34" charset="-122"/>
                <a:cs typeface="Calibri" pitchFamily="34" charset="-120"/>
              </a:rPr>
              <a:t>Aggregation 2 hop</a:t>
            </a:r>
            <a:endParaRPr lang="en-US" sz="1050" dirty="0"/>
          </a:p>
        </p:txBody>
      </p:sp>
      <p:sp>
        <p:nvSpPr>
          <p:cNvPr id="35" name="Shape 33"/>
          <p:cNvSpPr/>
          <p:nvPr/>
        </p:nvSpPr>
        <p:spPr>
          <a:xfrm>
            <a:off x="621792" y="4398264"/>
            <a:ext cx="3493008" cy="987552"/>
          </a:xfrm>
          <a:prstGeom prst="roundRect">
            <a:avLst>
              <a:gd name="adj" fmla="val 5556"/>
            </a:avLst>
          </a:prstGeom>
          <a:solidFill>
            <a:srgbClr val="FFFFFF"/>
          </a:solidFill>
          <a:ln w="12700">
            <a:solidFill>
              <a:srgbClr val="D7DEE8"/>
            </a:solidFill>
            <a:prstDash val="solid"/>
          </a:ln>
        </p:spPr>
      </p:sp>
      <p:sp>
        <p:nvSpPr>
          <p:cNvPr id="36" name="Shape 34"/>
          <p:cNvSpPr/>
          <p:nvPr/>
        </p:nvSpPr>
        <p:spPr>
          <a:xfrm>
            <a:off x="822960" y="4599432"/>
            <a:ext cx="384048" cy="384048"/>
          </a:xfrm>
          <a:prstGeom prst="ellipse">
            <a:avLst/>
          </a:prstGeom>
          <a:solidFill>
            <a:srgbClr val="337B80"/>
          </a:solidFill>
          <a:ln w="12700">
            <a:solidFill>
              <a:srgbClr val="337B80"/>
            </a:solidFill>
            <a:prstDash val="solid"/>
          </a:ln>
        </p:spPr>
      </p:sp>
      <p:sp>
        <p:nvSpPr>
          <p:cNvPr id="37" name="Text 35"/>
          <p:cNvSpPr/>
          <p:nvPr/>
        </p:nvSpPr>
        <p:spPr>
          <a:xfrm>
            <a:off x="822960" y="4654296"/>
            <a:ext cx="384048" cy="14630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38" name="Text 36"/>
          <p:cNvSpPr/>
          <p:nvPr/>
        </p:nvSpPr>
        <p:spPr>
          <a:xfrm>
            <a:off x="1335024" y="4581144"/>
            <a:ext cx="2578608" cy="301752"/>
          </a:xfrm>
          <a:prstGeom prst="rect">
            <a:avLst/>
          </a:prstGeom>
          <a:noFill/>
          <a:ln/>
        </p:spPr>
        <p:txBody>
          <a:bodyPr wrap="square" lIns="0" tIns="0" rIns="0" bIns="0" rtlCol="0" anchor="ctr">
            <a:normAutofit/>
          </a:bodyPr>
          <a:lstStyle/>
          <a:p>
            <a:pPr indent="0" marL="0">
              <a:buNone/>
            </a:pPr>
            <a:r>
              <a:rPr lang="en-US" sz="1300" b="1" dirty="0">
                <a:solidFill>
                  <a:srgbClr val="112B46"/>
                </a:solidFill>
                <a:latin typeface="Calibri" pitchFamily="34" charset="0"/>
                <a:ea typeface="Calibri" pitchFamily="34" charset="-122"/>
                <a:cs typeface="Calibri" pitchFamily="34" charset="-120"/>
              </a:rPr>
              <a:t>shortest_path</a:t>
            </a:r>
            <a:endParaRPr lang="en-US" sz="1300" dirty="0"/>
          </a:p>
        </p:txBody>
      </p:sp>
      <p:sp>
        <p:nvSpPr>
          <p:cNvPr id="39" name="Text 37"/>
          <p:cNvSpPr/>
          <p:nvPr/>
        </p:nvSpPr>
        <p:spPr>
          <a:xfrm>
            <a:off x="850392" y="5001768"/>
            <a:ext cx="3035808" cy="201168"/>
          </a:xfrm>
          <a:prstGeom prst="rect">
            <a:avLst/>
          </a:prstGeom>
          <a:noFill/>
          <a:ln/>
        </p:spPr>
        <p:txBody>
          <a:bodyPr wrap="square" lIns="0" tIns="0" rIns="0" bIns="0" rtlCol="0" anchor="t">
            <a:normAutofit/>
          </a:bodyPr>
          <a:lstStyle/>
          <a:p>
            <a:pPr indent="0" marL="0">
              <a:buNone/>
            </a:pPr>
            <a:r>
              <a:rPr lang="en-US" sz="1050" dirty="0">
                <a:solidFill>
                  <a:srgbClr val="172B3A"/>
                </a:solidFill>
                <a:latin typeface="Calibri" pitchFamily="34" charset="0"/>
                <a:ea typeface="Calibri" pitchFamily="34" charset="-122"/>
                <a:cs typeface="Calibri" pitchFamily="34" charset="-120"/>
              </a:rPr>
              <a:t>shortestPath([*..8])</a:t>
            </a:r>
            <a:endParaRPr lang="en-US" sz="1050" dirty="0"/>
          </a:p>
        </p:txBody>
      </p:sp>
      <p:sp>
        <p:nvSpPr>
          <p:cNvPr id="40" name="Shape 38"/>
          <p:cNvSpPr/>
          <p:nvPr/>
        </p:nvSpPr>
        <p:spPr>
          <a:xfrm>
            <a:off x="4425696" y="4398264"/>
            <a:ext cx="3493008" cy="987552"/>
          </a:xfrm>
          <a:prstGeom prst="roundRect">
            <a:avLst>
              <a:gd name="adj" fmla="val 5556"/>
            </a:avLst>
          </a:prstGeom>
          <a:solidFill>
            <a:srgbClr val="FFFFFF"/>
          </a:solidFill>
          <a:ln w="12700">
            <a:solidFill>
              <a:srgbClr val="D7DEE8"/>
            </a:solidFill>
            <a:prstDash val="solid"/>
          </a:ln>
        </p:spPr>
      </p:sp>
      <p:sp>
        <p:nvSpPr>
          <p:cNvPr id="41" name="Shape 39"/>
          <p:cNvSpPr/>
          <p:nvPr/>
        </p:nvSpPr>
        <p:spPr>
          <a:xfrm>
            <a:off x="4626864" y="4599432"/>
            <a:ext cx="384048" cy="384048"/>
          </a:xfrm>
          <a:prstGeom prst="ellipse">
            <a:avLst/>
          </a:prstGeom>
          <a:solidFill>
            <a:srgbClr val="337B80"/>
          </a:solidFill>
          <a:ln w="12700">
            <a:solidFill>
              <a:srgbClr val="337B80"/>
            </a:solidFill>
            <a:prstDash val="solid"/>
          </a:ln>
        </p:spPr>
      </p:sp>
      <p:sp>
        <p:nvSpPr>
          <p:cNvPr id="42" name="Text 40"/>
          <p:cNvSpPr/>
          <p:nvPr/>
        </p:nvSpPr>
        <p:spPr>
          <a:xfrm>
            <a:off x="4626864" y="4654296"/>
            <a:ext cx="384048" cy="14630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43" name="Text 41"/>
          <p:cNvSpPr/>
          <p:nvPr/>
        </p:nvSpPr>
        <p:spPr>
          <a:xfrm>
            <a:off x="5138928" y="4581144"/>
            <a:ext cx="2578608" cy="301752"/>
          </a:xfrm>
          <a:prstGeom prst="rect">
            <a:avLst/>
          </a:prstGeom>
          <a:noFill/>
          <a:ln/>
        </p:spPr>
        <p:txBody>
          <a:bodyPr wrap="square" lIns="0" tIns="0" rIns="0" bIns="0" rtlCol="0" anchor="ctr">
            <a:normAutofit/>
          </a:bodyPr>
          <a:lstStyle/>
          <a:p>
            <a:pPr indent="0" marL="0">
              <a:buNone/>
            </a:pPr>
            <a:r>
              <a:rPr lang="en-US" sz="1300" b="1" dirty="0">
                <a:solidFill>
                  <a:srgbClr val="112B46"/>
                </a:solidFill>
                <a:latin typeface="Calibri" pitchFamily="34" charset="0"/>
                <a:ea typeface="Calibri" pitchFamily="34" charset="-122"/>
                <a:cs typeface="Calibri" pitchFamily="34" charset="-120"/>
              </a:rPr>
              <a:t>similar_movies</a:t>
            </a:r>
            <a:endParaRPr lang="en-US" sz="1300" dirty="0"/>
          </a:p>
        </p:txBody>
      </p:sp>
      <p:sp>
        <p:nvSpPr>
          <p:cNvPr id="44" name="Text 42"/>
          <p:cNvSpPr/>
          <p:nvPr/>
        </p:nvSpPr>
        <p:spPr>
          <a:xfrm>
            <a:off x="4654296" y="5001768"/>
            <a:ext cx="3035808" cy="201168"/>
          </a:xfrm>
          <a:prstGeom prst="rect">
            <a:avLst/>
          </a:prstGeom>
          <a:noFill/>
          <a:ln/>
        </p:spPr>
        <p:txBody>
          <a:bodyPr wrap="square" lIns="0" tIns="0" rIns="0" bIns="0" rtlCol="0" anchor="t">
            <a:normAutofit/>
          </a:bodyPr>
          <a:lstStyle/>
          <a:p>
            <a:pPr indent="0" marL="0">
              <a:buNone/>
            </a:pPr>
            <a:r>
              <a:rPr lang="en-US" sz="1050" dirty="0">
                <a:solidFill>
                  <a:srgbClr val="172B3A"/>
                </a:solidFill>
                <a:latin typeface="Calibri" pitchFamily="34" charset="0"/>
                <a:ea typeface="Calibri" pitchFamily="34" charset="-122"/>
                <a:cs typeface="Calibri" pitchFamily="34" charset="-120"/>
              </a:rPr>
              <a:t>Graph similarity</a:t>
            </a:r>
            <a:endParaRPr lang="en-US" sz="1050" dirty="0"/>
          </a:p>
        </p:txBody>
      </p:sp>
      <p:sp>
        <p:nvSpPr>
          <p:cNvPr id="45" name="Shape 43"/>
          <p:cNvSpPr/>
          <p:nvPr/>
        </p:nvSpPr>
        <p:spPr>
          <a:xfrm>
            <a:off x="8229600" y="4398264"/>
            <a:ext cx="3493008" cy="987552"/>
          </a:xfrm>
          <a:prstGeom prst="roundRect">
            <a:avLst>
              <a:gd name="adj" fmla="val 5556"/>
            </a:avLst>
          </a:prstGeom>
          <a:solidFill>
            <a:srgbClr val="F0ECF7"/>
          </a:solidFill>
          <a:ln w="12700">
            <a:solidFill>
              <a:srgbClr val="D9CFE8"/>
            </a:solidFill>
            <a:prstDash val="solid"/>
          </a:ln>
        </p:spPr>
      </p:sp>
      <p:sp>
        <p:nvSpPr>
          <p:cNvPr id="46" name="Shape 44"/>
          <p:cNvSpPr/>
          <p:nvPr/>
        </p:nvSpPr>
        <p:spPr>
          <a:xfrm>
            <a:off x="8430768" y="4599432"/>
            <a:ext cx="384048" cy="384048"/>
          </a:xfrm>
          <a:prstGeom prst="ellipse">
            <a:avLst/>
          </a:prstGeom>
          <a:solidFill>
            <a:srgbClr val="337B80"/>
          </a:solidFill>
          <a:ln w="12700">
            <a:solidFill>
              <a:srgbClr val="337B80"/>
            </a:solidFill>
            <a:prstDash val="solid"/>
          </a:ln>
        </p:spPr>
      </p:sp>
      <p:sp>
        <p:nvSpPr>
          <p:cNvPr id="47" name="Text 45"/>
          <p:cNvSpPr/>
          <p:nvPr/>
        </p:nvSpPr>
        <p:spPr>
          <a:xfrm>
            <a:off x="8430768" y="4654296"/>
            <a:ext cx="384048" cy="14630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9</a:t>
            </a:r>
            <a:endParaRPr lang="en-US" sz="1000" dirty="0"/>
          </a:p>
        </p:txBody>
      </p:sp>
      <p:sp>
        <p:nvSpPr>
          <p:cNvPr id="48" name="Text 46"/>
          <p:cNvSpPr/>
          <p:nvPr/>
        </p:nvSpPr>
        <p:spPr>
          <a:xfrm>
            <a:off x="8942832" y="4581144"/>
            <a:ext cx="2578608" cy="301752"/>
          </a:xfrm>
          <a:prstGeom prst="rect">
            <a:avLst/>
          </a:prstGeom>
          <a:noFill/>
          <a:ln/>
        </p:spPr>
        <p:txBody>
          <a:bodyPr wrap="square" lIns="0" tIns="0" rIns="0" bIns="0" rtlCol="0" anchor="ctr">
            <a:normAutofit/>
          </a:bodyPr>
          <a:lstStyle/>
          <a:p>
            <a:pPr indent="0" marL="0">
              <a:buNone/>
            </a:pPr>
            <a:r>
              <a:rPr lang="en-US" sz="1300" b="1" dirty="0">
                <a:solidFill>
                  <a:srgbClr val="112B46"/>
                </a:solidFill>
                <a:latin typeface="Calibri" pitchFamily="34" charset="0"/>
                <a:ea typeface="Calibri" pitchFamily="34" charset="-122"/>
                <a:cs typeface="Calibri" pitchFamily="34" charset="-120"/>
              </a:rPr>
              <a:t>movie_details</a:t>
            </a:r>
            <a:endParaRPr lang="en-US" sz="1300" dirty="0"/>
          </a:p>
        </p:txBody>
      </p:sp>
      <p:sp>
        <p:nvSpPr>
          <p:cNvPr id="49" name="Text 47"/>
          <p:cNvSpPr/>
          <p:nvPr/>
        </p:nvSpPr>
        <p:spPr>
          <a:xfrm>
            <a:off x="8458200" y="5001768"/>
            <a:ext cx="3035808" cy="201168"/>
          </a:xfrm>
          <a:prstGeom prst="rect">
            <a:avLst/>
          </a:prstGeom>
          <a:noFill/>
          <a:ln/>
        </p:spPr>
        <p:txBody>
          <a:bodyPr wrap="square" lIns="0" tIns="0" rIns="0" bIns="0" rtlCol="0" anchor="t">
            <a:normAutofit/>
          </a:bodyPr>
          <a:lstStyle/>
          <a:p>
            <a:pPr indent="0" marL="0">
              <a:buNone/>
            </a:pPr>
            <a:r>
              <a:rPr lang="en-US" sz="1050" dirty="0">
                <a:solidFill>
                  <a:srgbClr val="172B3A"/>
                </a:solidFill>
                <a:latin typeface="Calibri" pitchFamily="34" charset="0"/>
                <a:ea typeface="Calibri" pitchFamily="34" charset="-122"/>
                <a:cs typeface="Calibri" pitchFamily="34" charset="-120"/>
              </a:rPr>
              <a:t>Canonical lookup</a:t>
            </a:r>
            <a:endParaRPr lang="en-US" sz="1050" dirty="0"/>
          </a:p>
        </p:txBody>
      </p:sp>
      <p:sp>
        <p:nvSpPr>
          <p:cNvPr id="50" name="Shape 48"/>
          <p:cNvSpPr/>
          <p:nvPr/>
        </p:nvSpPr>
        <p:spPr>
          <a:xfrm>
            <a:off x="621792" y="5806440"/>
            <a:ext cx="10991088" cy="502920"/>
          </a:xfrm>
          <a:prstGeom prst="roundRect">
            <a:avLst>
              <a:gd name="adj" fmla="val 10909"/>
            </a:avLst>
          </a:prstGeom>
          <a:solidFill>
            <a:srgbClr val="E8F4EE"/>
          </a:solidFill>
          <a:ln w="12700">
            <a:solidFill>
              <a:srgbClr val="C4E2D1"/>
            </a:solidFill>
            <a:prstDash val="solid"/>
          </a:ln>
        </p:spPr>
      </p:sp>
      <p:sp>
        <p:nvSpPr>
          <p:cNvPr id="51" name="Text 49"/>
          <p:cNvSpPr/>
          <p:nvPr/>
        </p:nvSpPr>
        <p:spPr>
          <a:xfrm>
            <a:off x="850392" y="5989320"/>
            <a:ext cx="10533888" cy="301752"/>
          </a:xfrm>
          <a:prstGeom prst="rect">
            <a:avLst/>
          </a:prstGeom>
          <a:noFill/>
          <a:ln/>
        </p:spPr>
        <p:txBody>
          <a:bodyPr wrap="square" lIns="0" tIns="0" rIns="0" bIns="0" rtlCol="0" anchor="ctr">
            <a:normAutofit/>
          </a:bodyPr>
          <a:lstStyle/>
          <a:p>
            <a:pPr indent="0" marL="0">
              <a:buNone/>
            </a:pPr>
            <a:r>
              <a:rPr lang="en-US" sz="1150" b="1" dirty="0">
                <a:solidFill>
                  <a:srgbClr val="112B46"/>
                </a:solidFill>
                <a:latin typeface="Calibri" pitchFamily="34" charset="0"/>
                <a:ea typeface="Calibri" pitchFamily="34" charset="-122"/>
                <a:cs typeface="Calibri" pitchFamily="34" charset="-120"/>
              </a:rPr>
              <a:t>Ranh giới an toàn</a:t>
            </a:r>
            <a:endParaRPr lang="en-US" sz="1150" dirty="0"/>
          </a:p>
        </p:txBody>
      </p:sp>
      <p:sp>
        <p:nvSpPr>
          <p:cNvPr id="52" name="Text 50"/>
          <p:cNvSpPr/>
          <p:nvPr/>
        </p:nvSpPr>
        <p:spPr>
          <a:xfrm>
            <a:off x="850392" y="6409944"/>
            <a:ext cx="10533888" cy="-283464"/>
          </a:xfrm>
          <a:prstGeom prst="rect">
            <a:avLst/>
          </a:prstGeom>
          <a:noFill/>
          <a:ln/>
        </p:spPr>
        <p:txBody>
          <a:bodyPr wrap="square" lIns="0" tIns="0" rIns="0" bIns="0" rtlCol="0" anchor="t">
            <a:normAutofit/>
          </a:bodyPr>
          <a:lstStyle/>
          <a:p>
            <a:pPr indent="0" marL="0">
              <a:buNone/>
            </a:pPr>
            <a:r>
              <a:rPr lang="en-US" sz="950" dirty="0">
                <a:solidFill>
                  <a:srgbClr val="172B3A"/>
                </a:solidFill>
                <a:latin typeface="Calibri" pitchFamily="34" charset="0"/>
                <a:ea typeface="Calibri" pitchFamily="34" charset="-122"/>
                <a:cs typeface="Calibri" pitchFamily="34" charset="-120"/>
              </a:rPr>
              <a:t>Parser chỉ chọn intent và tham số; cấu trúc Cypher luôn lấy từ catalog cố định.</a:t>
            </a:r>
            <a:endParaRPr lang="en-US" sz="950" dirty="0"/>
          </a:p>
        </p:txBody>
      </p:sp>
      <p:sp>
        <p:nvSpPr>
          <p:cNvPr id="25" name="Slide Number Placeholder 0"/>
          <p:cNvSpPr>
            <a:spLocks noGrp="1"/>
          </p:cNvSpPr>
          <p:nvPr>
            <p:ph type="sldNum" sz="quarter" idx="4294967295"/>
          </p:nvPr>
        </p:nvSpPr>
        <p:spPr>
          <a:xfrm>
            <a:off x="11631168" y="6473952"/>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97586"/>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30352" y="475488"/>
            <a:ext cx="2194560" cy="219456"/>
          </a:xfrm>
          <a:prstGeom prst="rect">
            <a:avLst/>
          </a:prstGeom>
          <a:noFill/>
          <a:ln/>
        </p:spPr>
        <p:txBody>
          <a:bodyPr wrap="square" lIns="0" tIns="0" rIns="0" bIns="0" rtlCol="0" anchor="ctr"/>
          <a:lstStyle/>
          <a:p>
            <a:pPr indent="0" marL="0">
              <a:buNone/>
            </a:pPr>
            <a:r>
              <a:rPr lang="en-US" sz="900" b="1" spc="140" kern="0" dirty="0">
                <a:solidFill>
                  <a:srgbClr val="337B80"/>
                </a:solidFill>
                <a:latin typeface="Arial" pitchFamily="34" charset="0"/>
                <a:ea typeface="Arial" pitchFamily="34" charset="-122"/>
                <a:cs typeface="Arial" pitchFamily="34" charset="-120"/>
              </a:rPr>
              <a:t>PHẢN BIỆN</a:t>
            </a:r>
            <a:endParaRPr lang="en-US" sz="900" dirty="0"/>
          </a:p>
        </p:txBody>
      </p:sp>
      <p:sp>
        <p:nvSpPr>
          <p:cNvPr id="3" name="Text 1"/>
          <p:cNvSpPr/>
          <p:nvPr/>
        </p:nvSpPr>
        <p:spPr>
          <a:xfrm>
            <a:off x="530352" y="713232"/>
            <a:ext cx="10881360" cy="502920"/>
          </a:xfrm>
          <a:prstGeom prst="rect">
            <a:avLst/>
          </a:prstGeom>
          <a:noFill/>
          <a:ln/>
        </p:spPr>
        <p:txBody>
          <a:bodyPr wrap="square" lIns="0" tIns="0" rIns="0" bIns="0" rtlCol="0" anchor="ctr">
            <a:normAutofit/>
          </a:bodyPr>
          <a:lstStyle/>
          <a:p>
            <a:pPr indent="0" marL="0">
              <a:buNone/>
            </a:pPr>
            <a:r>
              <a:rPr lang="en-US" sz="2600" b="1" dirty="0">
                <a:solidFill>
                  <a:srgbClr val="112B46"/>
                </a:solidFill>
                <a:latin typeface="Calibri" pitchFamily="34" charset="0"/>
                <a:ea typeface="Calibri" pitchFamily="34" charset="-122"/>
                <a:cs typeface="Calibri" pitchFamily="34" charset="-120"/>
              </a:rPr>
              <a:t>Phụ lục · Hai lớp suy diễn không bị đánh đồng</a:t>
            </a:r>
            <a:endParaRPr lang="en-US" sz="2600" dirty="0"/>
          </a:p>
        </p:txBody>
      </p:sp>
      <p:sp>
        <p:nvSpPr>
          <p:cNvPr id="4" name="Text 2"/>
          <p:cNvSpPr/>
          <p:nvPr/>
        </p:nvSpPr>
        <p:spPr>
          <a:xfrm>
            <a:off x="548640" y="1261872"/>
            <a:ext cx="10652760" cy="310896"/>
          </a:xfrm>
          <a:prstGeom prst="rect">
            <a:avLst/>
          </a:prstGeom>
          <a:noFill/>
          <a:ln/>
        </p:spPr>
        <p:txBody>
          <a:bodyPr wrap="square" lIns="0" tIns="0" rIns="0" bIns="0" rtlCol="0" anchor="ctr">
            <a:normAutofit/>
          </a:bodyPr>
          <a:lstStyle/>
          <a:p>
            <a:pPr indent="0" marL="0">
              <a:buNone/>
            </a:pPr>
            <a:r>
              <a:rPr lang="en-US" sz="1250" dirty="0">
                <a:solidFill>
                  <a:srgbClr val="697586"/>
                </a:solidFill>
                <a:latin typeface="Calibri" pitchFamily="34" charset="0"/>
                <a:ea typeface="Calibri" pitchFamily="34" charset="-122"/>
                <a:cs typeface="Calibri" pitchFamily="34" charset="-120"/>
              </a:rPr>
              <a:t>OWL entailment phục vụ ngữ nghĩa; Cypher materialization phục vụ luật nghiệp vụ.</a:t>
            </a:r>
            <a:endParaRPr lang="en-US" sz="1250" dirty="0"/>
          </a:p>
        </p:txBody>
      </p:sp>
      <p:sp>
        <p:nvSpPr>
          <p:cNvPr id="5" name="Shape 3"/>
          <p:cNvSpPr/>
          <p:nvPr/>
        </p:nvSpPr>
        <p:spPr>
          <a:xfrm>
            <a:off x="658368" y="1783080"/>
            <a:ext cx="5257800" cy="4069080"/>
          </a:xfrm>
          <a:prstGeom prst="roundRect">
            <a:avLst>
              <a:gd name="adj" fmla="val 1348"/>
            </a:avLst>
          </a:prstGeom>
          <a:solidFill>
            <a:srgbClr val="F0ECF7"/>
          </a:solidFill>
          <a:ln w="12700">
            <a:solidFill>
              <a:srgbClr val="D9CFE8"/>
            </a:solidFill>
            <a:prstDash val="solid"/>
          </a:ln>
          <a:effectLst>
            <a:outerShdw sx="100000" sy="100000" kx="0" ky="0" algn="bl" rotWithShape="0" blurRad="25400" dist="50800" dir="2700000">
              <a:srgbClr val="26384A">
                <a:alpha val="13000"/>
              </a:srgbClr>
            </a:outerShdw>
          </a:effectLst>
        </p:spPr>
      </p:sp>
      <p:sp>
        <p:nvSpPr>
          <p:cNvPr id="6" name="Text 4"/>
          <p:cNvSpPr/>
          <p:nvPr/>
        </p:nvSpPr>
        <p:spPr>
          <a:xfrm>
            <a:off x="886968" y="1965960"/>
            <a:ext cx="4800600" cy="301752"/>
          </a:xfrm>
          <a:prstGeom prst="rect">
            <a:avLst/>
          </a:prstGeom>
          <a:noFill/>
          <a:ln/>
        </p:spPr>
        <p:txBody>
          <a:bodyPr wrap="square" lIns="0" tIns="0" rIns="0" bIns="0" rtlCol="0" anchor="ctr">
            <a:normAutofit/>
          </a:bodyPr>
          <a:lstStyle/>
          <a:p>
            <a:pPr indent="0" marL="0">
              <a:buNone/>
            </a:pPr>
            <a:r>
              <a:rPr lang="en-US" sz="2000" b="1" dirty="0">
                <a:solidFill>
                  <a:srgbClr val="725B9B"/>
                </a:solidFill>
                <a:latin typeface="Calibri" pitchFamily="34" charset="0"/>
                <a:ea typeface="Calibri" pitchFamily="34" charset="-122"/>
                <a:cs typeface="Calibri" pitchFamily="34" charset="-120"/>
              </a:rPr>
              <a:t>RDFS / OWL-RL subset</a:t>
            </a:r>
            <a:endParaRPr lang="en-US" sz="2000" dirty="0"/>
          </a:p>
        </p:txBody>
      </p:sp>
      <p:sp>
        <p:nvSpPr>
          <p:cNvPr id="7" name="Text 5"/>
          <p:cNvSpPr/>
          <p:nvPr/>
        </p:nvSpPr>
        <p:spPr>
          <a:xfrm>
            <a:off x="886968" y="2386584"/>
            <a:ext cx="4800600" cy="3282696"/>
          </a:xfrm>
          <a:prstGeom prst="rect">
            <a:avLst/>
          </a:prstGeom>
          <a:noFill/>
          <a:ln/>
        </p:spPr>
        <p:txBody>
          <a:bodyPr wrap="square" lIns="0" tIns="0" rIns="0" bIns="0" rtlCol="0" anchor="t">
            <a:normAutofit/>
          </a:bodyPr>
          <a:lstStyle/>
          <a:p>
            <a:pPr indent="0" marL="0">
              <a:buNone/>
            </a:pPr>
            <a:r>
              <a:rPr lang="en-US" sz="1500" dirty="0">
                <a:solidFill>
                  <a:srgbClr val="172B3A"/>
                </a:solidFill>
                <a:latin typeface="Calibri" pitchFamily="34" charset="0"/>
                <a:ea typeface="Calibri" pitchFamily="34" charset="-122"/>
                <a:cs typeface="Calibri" pitchFamily="34" charset="-120"/>
              </a:rPr>
              <a:t>domain / range → suy ra kiểu</a:t>
            </a:r>
            <a:endParaRPr lang="en-US" sz="1500" dirty="0"/>
          </a:p>
          <a:p>
            <a:pPr indent="0" marL="0">
              <a:buNone/>
            </a:pPr>
            <a:r>
              <a:rPr lang="en-US" sz="1500" dirty="0">
                <a:solidFill>
                  <a:srgbClr val="172B3A"/>
                </a:solidFill>
                <a:latin typeface="Calibri" pitchFamily="34" charset="0"/>
                <a:ea typeface="Calibri" pitchFamily="34" charset="-122"/>
                <a:cs typeface="Calibri" pitchFamily="34" charset="-120"/>
              </a:rPr>
              <a:t>inverseOf → actedIn ⇄ hasActor</a:t>
            </a:r>
            <a:endParaRPr lang="en-US" sz="1500" dirty="0"/>
          </a:p>
          <a:p>
            <a:pPr indent="0" marL="0">
              <a:buNone/>
            </a:pPr>
            <a:r>
              <a:rPr lang="en-US" sz="1500" dirty="0">
                <a:solidFill>
                  <a:srgbClr val="172B3A"/>
                </a:solidFill>
                <a:latin typeface="Calibri" pitchFamily="34" charset="0"/>
                <a:ea typeface="Calibri" pitchFamily="34" charset="-122"/>
                <a:cs typeface="Calibri" pitchFamily="34" charset="-120"/>
              </a:rPr>
              <a:t>symmetric property</a:t>
            </a:r>
            <a:endParaRPr lang="en-US" sz="1500" dirty="0"/>
          </a:p>
          <a:p>
            <a:pPr indent="0" marL="0">
              <a:buNone/>
            </a:pPr>
            <a:r>
              <a:rPr lang="en-US" sz="1500" dirty="0">
                <a:solidFill>
                  <a:srgbClr val="172B3A"/>
                </a:solidFill>
                <a:latin typeface="Calibri" pitchFamily="34" charset="0"/>
                <a:ea typeface="Calibri" pitchFamily="34" charset="-122"/>
                <a:cs typeface="Calibri" pitchFamily="34" charset="-120"/>
              </a:rPr>
              <a:t>functional/disjoint validation</a:t>
            </a:r>
            <a:endParaRPr lang="en-US" sz="1500" dirty="0"/>
          </a:p>
          <a:p>
            <a:pPr indent="0" marL="0">
              <a:buNone/>
            </a:pPr>
            <a:endParaRPr lang="en-US" sz="1500" dirty="0"/>
          </a:p>
          <a:p>
            <a:pPr indent="0" marL="0">
              <a:buNone/>
            </a:pPr>
            <a:r>
              <a:rPr lang="en-US" sz="1500" dirty="0">
                <a:solidFill>
                  <a:srgbClr val="172B3A"/>
                </a:solidFill>
                <a:latin typeface="Calibri" pitchFamily="34" charset="0"/>
                <a:ea typeface="Calibri" pitchFamily="34" charset="-122"/>
                <a:cs typeface="Calibri" pitchFamily="34" charset="-120"/>
              </a:rPr>
              <a:t>342.683 → 429.192 triple</a:t>
            </a:r>
            <a:endParaRPr lang="en-US" sz="1500" dirty="0"/>
          </a:p>
          <a:p>
            <a:pPr indent="0" marL="0">
              <a:buNone/>
            </a:pPr>
            <a:r>
              <a:rPr lang="en-US" sz="1500" dirty="0">
                <a:solidFill>
                  <a:srgbClr val="172B3A"/>
                </a:solidFill>
                <a:latin typeface="Calibri" pitchFamily="34" charset="0"/>
                <a:ea typeface="Calibri" pitchFamily="34" charset="-122"/>
                <a:cs typeface="Calibri" pitchFamily="34" charset="-120"/>
              </a:rPr>
              <a:t>+86.509 inferred · 0 violation</a:t>
            </a:r>
            <a:endParaRPr lang="en-US" sz="1500" dirty="0"/>
          </a:p>
        </p:txBody>
      </p:sp>
      <p:sp>
        <p:nvSpPr>
          <p:cNvPr id="8" name="Shape 6"/>
          <p:cNvSpPr/>
          <p:nvPr/>
        </p:nvSpPr>
        <p:spPr>
          <a:xfrm>
            <a:off x="6263640" y="1783080"/>
            <a:ext cx="5257800" cy="4069080"/>
          </a:xfrm>
          <a:prstGeom prst="roundRect">
            <a:avLst>
              <a:gd name="adj" fmla="val 1348"/>
            </a:avLst>
          </a:prstGeom>
          <a:solidFill>
            <a:srgbClr val="E8F4EE"/>
          </a:solidFill>
          <a:ln w="12700">
            <a:solidFill>
              <a:srgbClr val="C4E2D1"/>
            </a:solidFill>
            <a:prstDash val="solid"/>
          </a:ln>
          <a:effectLst>
            <a:outerShdw sx="100000" sy="100000" kx="0" ky="0" algn="bl" rotWithShape="0" blurRad="25400" dist="50800" dir="2700000">
              <a:srgbClr val="26384A">
                <a:alpha val="13000"/>
              </a:srgbClr>
            </a:outerShdw>
          </a:effectLst>
        </p:spPr>
      </p:sp>
      <p:sp>
        <p:nvSpPr>
          <p:cNvPr id="9" name="Text 7"/>
          <p:cNvSpPr/>
          <p:nvPr/>
        </p:nvSpPr>
        <p:spPr>
          <a:xfrm>
            <a:off x="6492240" y="1965960"/>
            <a:ext cx="4800600" cy="301752"/>
          </a:xfrm>
          <a:prstGeom prst="rect">
            <a:avLst/>
          </a:prstGeom>
          <a:noFill/>
          <a:ln/>
        </p:spPr>
        <p:txBody>
          <a:bodyPr wrap="square" lIns="0" tIns="0" rIns="0" bIns="0" rtlCol="0" anchor="ctr">
            <a:normAutofit/>
          </a:bodyPr>
          <a:lstStyle/>
          <a:p>
            <a:pPr indent="0" marL="0">
              <a:buNone/>
            </a:pPr>
            <a:r>
              <a:rPr lang="en-US" sz="2000" b="1" dirty="0">
                <a:solidFill>
                  <a:srgbClr val="3D8B66"/>
                </a:solidFill>
                <a:latin typeface="Calibri" pitchFamily="34" charset="0"/>
                <a:ea typeface="Calibri" pitchFamily="34" charset="-122"/>
                <a:cs typeface="Calibri" pitchFamily="34" charset="-120"/>
              </a:rPr>
              <a:t>Cypher rule nghiệp vụ</a:t>
            </a:r>
            <a:endParaRPr lang="en-US" sz="2000" dirty="0"/>
          </a:p>
        </p:txBody>
      </p:sp>
      <p:sp>
        <p:nvSpPr>
          <p:cNvPr id="10" name="Text 8"/>
          <p:cNvSpPr/>
          <p:nvPr/>
        </p:nvSpPr>
        <p:spPr>
          <a:xfrm>
            <a:off x="6492240" y="2386584"/>
            <a:ext cx="4800600" cy="3282696"/>
          </a:xfrm>
          <a:prstGeom prst="rect">
            <a:avLst/>
          </a:prstGeom>
          <a:noFill/>
          <a:ln/>
        </p:spPr>
        <p:txBody>
          <a:bodyPr wrap="square" lIns="0" tIns="0" rIns="0" bIns="0" rtlCol="0" anchor="t">
            <a:normAutofit/>
          </a:bodyPr>
          <a:lstStyle/>
          <a:p>
            <a:pPr indent="0" marL="0">
              <a:buNone/>
            </a:pPr>
            <a:r>
              <a:rPr lang="en-US" sz="1500" dirty="0">
                <a:solidFill>
                  <a:srgbClr val="172B3A"/>
                </a:solidFill>
                <a:latin typeface="Calibri" pitchFamily="34" charset="0"/>
                <a:ea typeface="Calibri" pitchFamily="34" charset="-122"/>
                <a:cs typeface="Calibri" pitchFamily="34" charset="-120"/>
              </a:rPr>
              <a:t>Person A → Movie ← Person B</a:t>
            </a:r>
            <a:endParaRPr lang="en-US" sz="1500" dirty="0"/>
          </a:p>
          <a:p>
            <a:pPr indent="0" marL="0">
              <a:buNone/>
            </a:pPr>
            <a:endParaRPr lang="en-US" sz="1500" dirty="0"/>
          </a:p>
          <a:p>
            <a:pPr indent="0" marL="0">
              <a:buNone/>
            </a:pPr>
            <a:r>
              <a:rPr lang="en-US" sz="1500" dirty="0">
                <a:solidFill>
                  <a:srgbClr val="172B3A"/>
                </a:solidFill>
                <a:latin typeface="Calibri" pitchFamily="34" charset="0"/>
                <a:ea typeface="Calibri" pitchFamily="34" charset="-122"/>
                <a:cs typeface="Calibri" pitchFamily="34" charset="-120"/>
              </a:rPr>
              <a:t>Vật chất hóa CO_STARRED_WITH</a:t>
            </a:r>
            <a:endParaRPr lang="en-US" sz="1500" dirty="0"/>
          </a:p>
          <a:p>
            <a:pPr indent="0" marL="0">
              <a:buNone/>
            </a:pPr>
            <a:r>
              <a:rPr lang="en-US" sz="1500" dirty="0">
                <a:solidFill>
                  <a:srgbClr val="172B3A"/>
                </a:solidFill>
                <a:latin typeface="Calibri" pitchFamily="34" charset="0"/>
                <a:ea typeface="Calibri" pitchFamily="34" charset="-122"/>
                <a:cs typeface="Calibri" pitchFamily="34" charset="-120"/>
              </a:rPr>
              <a:t>movie_count</a:t>
            </a:r>
            <a:endParaRPr lang="en-US" sz="1500" dirty="0"/>
          </a:p>
          <a:p>
            <a:pPr indent="0" marL="0">
              <a:buNone/>
            </a:pPr>
            <a:r>
              <a:rPr lang="en-US" sz="1500" dirty="0">
                <a:solidFill>
                  <a:srgbClr val="172B3A"/>
                </a:solidFill>
                <a:latin typeface="Calibri" pitchFamily="34" charset="0"/>
                <a:ea typeface="Calibri" pitchFamily="34" charset="-122"/>
                <a:cs typeface="Calibri" pitchFamily="34" charset="-120"/>
              </a:rPr>
              <a:t>evidence_movie_ids</a:t>
            </a:r>
            <a:endParaRPr lang="en-US" sz="1500" dirty="0"/>
          </a:p>
          <a:p>
            <a:pPr indent="0" marL="0">
              <a:buNone/>
            </a:pPr>
            <a:r>
              <a:rPr lang="en-US" sz="1500" dirty="0">
                <a:solidFill>
                  <a:srgbClr val="172B3A"/>
                </a:solidFill>
                <a:latin typeface="Calibri" pitchFamily="34" charset="0"/>
                <a:ea typeface="Calibri" pitchFamily="34" charset="-122"/>
                <a:cs typeface="Calibri" pitchFamily="34" charset="-120"/>
              </a:rPr>
              <a:t>derived=true</a:t>
            </a:r>
            <a:endParaRPr lang="en-US" sz="1500" dirty="0"/>
          </a:p>
          <a:p>
            <a:pPr indent="0" marL="0">
              <a:buNone/>
            </a:pPr>
            <a:endParaRPr lang="en-US" sz="1500" dirty="0"/>
          </a:p>
          <a:p>
            <a:pPr indent="0" marL="0">
              <a:buNone/>
            </a:pPr>
            <a:r>
              <a:rPr lang="en-US" sz="1500" dirty="0">
                <a:solidFill>
                  <a:srgbClr val="172B3A"/>
                </a:solidFill>
                <a:latin typeface="Calibri" pitchFamily="34" charset="0"/>
                <a:ea typeface="Calibri" pitchFamily="34" charset="-122"/>
                <a:cs typeface="Calibri" pitchFamily="34" charset="-120"/>
              </a:rPr>
              <a:t>Precision silver: 1,00 / 50 fact</a:t>
            </a:r>
            <a:endParaRPr lang="en-US" sz="1500" dirty="0"/>
          </a:p>
        </p:txBody>
      </p:sp>
      <p:sp>
        <p:nvSpPr>
          <p:cNvPr id="11" name="Text 9"/>
          <p:cNvSpPr/>
          <p:nvPr/>
        </p:nvSpPr>
        <p:spPr>
          <a:xfrm>
            <a:off x="548640" y="6254496"/>
            <a:ext cx="10744200" cy="182880"/>
          </a:xfrm>
          <a:prstGeom prst="rect">
            <a:avLst/>
          </a:prstGeom>
          <a:noFill/>
          <a:ln/>
        </p:spPr>
        <p:txBody>
          <a:bodyPr wrap="square" lIns="0" tIns="0" rIns="0" bIns="0" rtlCol="0" anchor="ctr"/>
          <a:lstStyle/>
          <a:p>
            <a:pPr indent="0" marL="0">
              <a:buNone/>
            </a:pPr>
            <a:r>
              <a:rPr lang="en-US" sz="750" i="1" dirty="0">
                <a:solidFill>
                  <a:srgbClr val="7C8796"/>
                </a:solidFill>
                <a:latin typeface="Arial" pitchFamily="34" charset="0"/>
                <a:ea typeface="Arial" pitchFamily="34" charset="-122"/>
                <a:cs typeface="Arial" pitchFamily="34" charset="-120"/>
              </a:rPr>
              <a:t>Nguồn: semantic_reasoning.json · reasoning.json · costar_reasoning.drawio</a:t>
            </a:r>
            <a:endParaRPr lang="en-US" sz="750" dirty="0"/>
          </a:p>
        </p:txBody>
      </p:sp>
      <p:sp>
        <p:nvSpPr>
          <p:cNvPr id="25" name="Slide Number Placeholder 0"/>
          <p:cNvSpPr>
            <a:spLocks noGrp="1"/>
          </p:cNvSpPr>
          <p:nvPr>
            <p:ph type="sldNum" sz="quarter" idx="4294967295"/>
          </p:nvPr>
        </p:nvSpPr>
        <p:spPr>
          <a:xfrm>
            <a:off x="11631168" y="6473952"/>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97586"/>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Đại học Bách khoa Hà Nội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Xây dựng đồ thị tri thức phim đa nguồn</dc:title>
  <dc:subject>Báo cáo cuối kỳ Cơ sở dữ liệu nâng cao</dc:subject>
  <dc:creator>Hoàng Kim Khánh</dc:creator>
  <cp:lastModifiedBy>Hoàng Kim Khánh</cp:lastModifiedBy>
  <cp:revision>1</cp:revision>
  <dcterms:created xsi:type="dcterms:W3CDTF">2026-07-24T09:17:48Z</dcterms:created>
  <dcterms:modified xsi:type="dcterms:W3CDTF">2026-07-24T09:17:48Z</dcterms:modified>
</cp:coreProperties>
</file>