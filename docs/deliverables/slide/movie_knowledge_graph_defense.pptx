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bài trình bày tập trung vào nền tảng Knowledge Graph theo mô hình Property Graph: thực thể, quan hệ, schema, identity, truy vấn và suy diễn. Movie Knowledge Graph chỉ đóng vai trò nghiên cứu tình huống để kiểm chứng các nguyên lý. Chi tiết triển khai ứng dụng được trình bày trong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gồm thực thể có định danh, quan hệ có ngữ nghĩa và thuộc tính mô tả. Schema Person-DIRECTED-Movie quy định hình dạng được phép; Nolan-DIRECTED-Inception là một instance cụ thể tuân theo schema. Tên phục vụ hiển thị, còn identifier xác định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chỉ minh họa cấu trúc chung của Property Graph: node có label và property, relationship có loại, hướng và cũng có property. Ví dụ ACTED_IN cho thấy character và cast_order mô tả chính lần một Person tham gia một Movie, nên chúng thuộc cạnh. Schema Movie Knowledge Graph đầy đủ sẽ được trình bày riêng ở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khái niệm cấu trúc này đứng sau các năng lực chính của graph. Neighborhood hỗ trợ similarity và common neighbor; path hỗ trợ multi-hop và shortest path; subgraph gom đúng phần ngữ cảnh cần để giải thích hoặc đánh giá. Đây là khác biệt quan trọng so với cách chỉ nhìn từng bản ghi riêng lẻ.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này là tiêu chí xuyên suốt của project. Identity tránh nhập nhằng; schema tạo ngữ nghĩa chung; provenance cho phép kiểm chứng; competency questions bảo đảm mô hình phục vụ mục tiêu. Đây cũng là lý do Knowledge Graph không nên được định nghĩa đơn giản là một mạng node và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 đo số bước, degree mô tả mức kết nối, common neighbor là nền tảng của phim chung và similarity, shortest path tìm liên hệ ngắn nhất. Cần lưu ý đường ngắn nhất về số cạnh chưa chắc là quan hệ có ý nghĩa nhất, vì vậy evidence phải giữ cả loại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phù hợp với traversal, relationship có property và các đường đi bằng chứng. Lựa chọn tập trung vào độ phù hợp của mô hình với miền phim, không dựa trên tuyên bố graph luôn nhanh hơn mô hình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resolution diễn ra trong pipeline tích hợp và ảnh hưởng cấu trúc graph lâu dài. Entity linking diễn ra ở request time để nối câu hỏi vào node canonical. Hai bước dùng kỹ thuật giống nhau nhưng khác đầu vào, thời điểm và hậu quả. Project ưu tiên stable ID ở cả hai ranh giới.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chỉ nguồn gốc, lineage chỉ chuỗi biến đổi, evidence chỉ các fact hỗ trợ một kết quả cụ thể. Project dùng cả ba: source và checksum cho provenance, pipeline manifest cho lineage, graph row/path và shared feature cho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recall và F1 dùng cho entity resolution; precision dùng cho fact suy ra; Precision@K và NDCG@K dùng cho recommendation. NDCG quan tâm thứ tự, còn Precision@K chỉ quan tâm có bao nhiêu mục liên quan trong Top-K. Mọi metric chỉ có ý nghĩa cùng protocol và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Competency question không chỉ dùng để demo. Nó là công cụ thiết kế schema: xác định loại thực thể, quan hệ và thuộc tính tối thiểu; sau đó kiểm tra bằng một graph pattern. Ví dụ phim chung ánh xạ trực tiếp thành shared-neighbor Person–Movie–Person.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một, hỏi trên Web UI: Diễn viên nào đóng trong phim Inception? Bước hai, copy nguyên query trên slide vào Neo4j Browser và chạy. Đối chiếu hai cột actor, character với tên và vai diễn trên Web UI. Nếu cần xem graph, bỏ phần RETURN hiện tại và trả p, r,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ba, hỏi phim chung của Christian Bale và Tom Hardy trên Web UI. Bước bốn, copy nguyên query trên slide vào Neo4j Browser. Kết quả bảng phải có The Dark Knight Rises. Muốn trình bày graph, thay RETURN bằng RETURN a, m, b rồi chỉ ra Movie là láng giềng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năm, chọn Inception, chạy Top-5 và ghi đúng tên phim đứng đầu. Bước sáu, thay giá trị Interstellar trong dòng param nếu Top-1 hiện tại khác, sau đó copy toàn bộ query trên slide vào Neo4j Browser. Đối chiếu kind và shared_features với explanation trên UI. Query này kiểm chứng bằng chứng; điểm và thứ hạng do query IDF đầy đủ của ứng dụng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Nền tảng lý thuyết</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Từ định danh và schema đến truy vấn, suy diễn và khả năng giải thích</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và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Thuộc tính mô tả thực thể; định danh ổn định cho biết chính xác thực thể nào đang được nói tới.</a:t>
            </a:r>
            <a:endParaRPr lang="en-US" sz="108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9" name="Shape 27"/>
          <p:cNvSpPr/>
          <p:nvPr/>
        </p:nvSpPr>
        <p:spPr>
          <a:xfrm>
            <a:off x="896112" y="4709160"/>
            <a:ext cx="6053328" cy="1024128"/>
          </a:xfrm>
          <a:prstGeom prst="roundRect">
            <a:avLst>
              <a:gd name="adj" fmla="val 5357"/>
            </a:avLst>
          </a:prstGeom>
          <a:solidFill>
            <a:srgbClr val="FFF2DF"/>
          </a:solidFill>
          <a:ln w="12700">
            <a:solidFill>
              <a:srgbClr val="F1D5AA"/>
            </a:solidFill>
            <a:prstDash val="solid"/>
          </a:ln>
        </p:spPr>
      </p:sp>
      <p:sp>
        <p:nvSpPr>
          <p:cNvPr id="30" name="Text 28"/>
          <p:cNvSpPr/>
          <p:nvPr/>
        </p:nvSpPr>
        <p:spPr>
          <a:xfrm>
            <a:off x="1124712" y="4892040"/>
            <a:ext cx="559612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Schema và instance</a:t>
            </a:r>
            <a:endParaRPr lang="en-US" sz="1400" dirty="0"/>
          </a:p>
        </p:txBody>
      </p:sp>
      <p:sp>
        <p:nvSpPr>
          <p:cNvPr id="31" name="Text 29"/>
          <p:cNvSpPr/>
          <p:nvPr/>
        </p:nvSpPr>
        <p:spPr>
          <a:xfrm>
            <a:off x="1124712" y="5312664"/>
            <a:ext cx="5596128" cy="237744"/>
          </a:xfrm>
          <a:prstGeom prst="rect">
            <a:avLst/>
          </a:prstGeom>
          <a:noFill/>
          <a:ln/>
        </p:spPr>
        <p:txBody>
          <a:bodyPr wrap="square" lIns="0" tIns="0" rIns="0" bIns="0" rtlCol="0" anchor="t">
            <a:normAutofit/>
          </a:bodyPr>
          <a:lstStyle/>
          <a:p>
            <a:pPr indent="0" marL="0">
              <a:buNone/>
            </a:pPr>
            <a:r>
              <a:rPr lang="en-US" sz="1020" dirty="0">
                <a:solidFill>
                  <a:srgbClr val="172B3A"/>
                </a:solidFill>
                <a:latin typeface="Calibri" pitchFamily="34" charset="0"/>
                <a:ea typeface="Calibri" pitchFamily="34" charset="-122"/>
                <a:cs typeface="Calibri" pitchFamily="34" charset="-120"/>
              </a:rPr>
              <a:t>Schema: Person -[DIRECTED]-&gt; Movie quy định hình dạng được phép.</a:t>
            </a:r>
            <a:endParaRPr lang="en-US" sz="1020" dirty="0"/>
          </a:p>
          <a:p>
            <a:pPr indent="0" marL="0">
              <a:buNone/>
            </a:pPr>
            <a:r>
              <a:rPr lang="en-US" sz="1020" dirty="0">
                <a:solidFill>
                  <a:srgbClr val="172B3A"/>
                </a:solidFill>
                <a:latin typeface="Calibri" pitchFamily="34" charset="0"/>
                <a:ea typeface="Calibri" pitchFamily="34" charset="-122"/>
                <a:cs typeface="Calibri" pitchFamily="34" charset="-120"/>
              </a:rPr>
              <a:t>Instance: Nolan -[DIRECTED]-&gt; Inception là một sự kiện cụ thể tuân theo schema.</a:t>
            </a:r>
            <a:endParaRPr lang="en-US" sz="10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đồ thị duy nhất được triển khai trong dự án.</a:t>
            </a:r>
            <a:endParaRPr lang="en-US" sz="1250" dirty="0"/>
          </a:p>
        </p:txBody>
      </p:sp>
      <p:sp>
        <p:nvSpPr>
          <p:cNvPr id="5" name="Shape 3"/>
          <p:cNvSpPr/>
          <p:nvPr/>
        </p:nvSpPr>
        <p:spPr>
          <a:xfrm>
            <a:off x="621792" y="1755648"/>
            <a:ext cx="7059168" cy="4297680"/>
          </a:xfrm>
          <a:prstGeom prst="roundRect">
            <a:avLst>
              <a:gd name="adj" fmla="val 1064"/>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96112" y="2011680"/>
            <a:ext cx="2011680" cy="219456"/>
          </a:xfrm>
          <a:prstGeom prst="rect">
            <a:avLst/>
          </a:prstGeom>
          <a:noFill/>
          <a:ln/>
        </p:spPr>
        <p:txBody>
          <a:bodyPr wrap="square" lIns="0" tIns="0" rIns="0" bIns="0" rtlCol="0" anchor="ctr"/>
          <a:lstStyle/>
          <a:p>
            <a:pPr indent="0" marL="0">
              <a:buNone/>
            </a:pPr>
            <a:r>
              <a:rPr lang="en-US" sz="950" b="1" spc="110" kern="0" dirty="0">
                <a:solidFill>
                  <a:srgbClr val="337B80"/>
                </a:solidFill>
                <a:latin typeface="Arial" pitchFamily="34" charset="0"/>
                <a:ea typeface="Arial" pitchFamily="34" charset="-122"/>
                <a:cs typeface="Arial" pitchFamily="34" charset="-120"/>
              </a:rPr>
              <a:t>VÍ DỤ KHÁI NIỆM</a:t>
            </a:r>
            <a:endParaRPr lang="en-US" sz="950" dirty="0"/>
          </a:p>
        </p:txBody>
      </p:sp>
      <p:sp>
        <p:nvSpPr>
          <p:cNvPr id="7" name="Shape 5"/>
          <p:cNvSpPr/>
          <p:nvPr/>
        </p:nvSpPr>
        <p:spPr>
          <a:xfrm>
            <a:off x="987552" y="2743200"/>
            <a:ext cx="1508760" cy="150876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1216152" y="3246120"/>
            <a:ext cx="1051560" cy="2743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:Person</a:t>
            </a:r>
            <a:endParaRPr lang="en-US" sz="1800" dirty="0"/>
          </a:p>
        </p:txBody>
      </p:sp>
      <p:sp>
        <p:nvSpPr>
          <p:cNvPr id="9" name="Shape 7"/>
          <p:cNvSpPr/>
          <p:nvPr/>
        </p:nvSpPr>
        <p:spPr>
          <a:xfrm>
            <a:off x="5413248" y="2743200"/>
            <a:ext cx="1508760" cy="150876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5641848" y="3246120"/>
            <a:ext cx="1051560" cy="274320"/>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:Movie</a:t>
            </a:r>
            <a:endParaRPr lang="en-US" sz="1800" dirty="0"/>
          </a:p>
        </p:txBody>
      </p:sp>
      <p:sp>
        <p:nvSpPr>
          <p:cNvPr id="11" name="Shape 9"/>
          <p:cNvSpPr/>
          <p:nvPr/>
        </p:nvSpPr>
        <p:spPr>
          <a:xfrm>
            <a:off x="2542032" y="3493008"/>
            <a:ext cx="2816352" cy="0"/>
          </a:xfrm>
          <a:prstGeom prst="line">
            <a:avLst/>
          </a:prstGeom>
          <a:noFill/>
          <a:ln w="31750">
            <a:solidFill>
              <a:srgbClr val="3D8B66"/>
            </a:solidFill>
            <a:prstDash val="solid"/>
            <a:tailEnd type="triangle"/>
          </a:ln>
        </p:spPr>
      </p:sp>
      <p:sp>
        <p:nvSpPr>
          <p:cNvPr id="12" name="Text 10"/>
          <p:cNvSpPr/>
          <p:nvPr/>
        </p:nvSpPr>
        <p:spPr>
          <a:xfrm>
            <a:off x="3218688" y="3035808"/>
            <a:ext cx="1508760" cy="237744"/>
          </a:xfrm>
          <a:prstGeom prst="rect">
            <a:avLst/>
          </a:prstGeom>
          <a:noFill/>
          <a:ln/>
        </p:spPr>
        <p:txBody>
          <a:bodyPr wrap="square" lIns="0" tIns="0" rIns="0" bIns="0" rtlCol="0" anchor="ctr"/>
          <a:lstStyle/>
          <a:p>
            <a:pPr algn="ctr" indent="0" marL="0">
              <a:buNone/>
            </a:pPr>
            <a:r>
              <a:rPr lang="en-US" sz="1100" b="1" dirty="0">
                <a:solidFill>
                  <a:srgbClr val="3D8B66"/>
                </a:solidFill>
                <a:latin typeface="Arial" pitchFamily="34" charset="0"/>
                <a:ea typeface="Arial" pitchFamily="34" charset="-122"/>
                <a:cs typeface="Arial" pitchFamily="34" charset="-120"/>
              </a:rPr>
              <a:t>:ACTED_IN</a:t>
            </a:r>
            <a:endParaRPr lang="en-US" sz="1100" dirty="0"/>
          </a:p>
        </p:txBody>
      </p:sp>
      <p:sp>
        <p:nvSpPr>
          <p:cNvPr id="13" name="Shape 11"/>
          <p:cNvSpPr/>
          <p:nvPr/>
        </p:nvSpPr>
        <p:spPr>
          <a:xfrm>
            <a:off x="896112" y="4681728"/>
            <a:ext cx="2057400" cy="960120"/>
          </a:xfrm>
          <a:prstGeom prst="roundRect">
            <a:avLst>
              <a:gd name="adj" fmla="val 5714"/>
            </a:avLst>
          </a:prstGeom>
          <a:solidFill>
            <a:srgbClr val="F0ECF7"/>
          </a:solidFill>
          <a:ln w="12700">
            <a:solidFill>
              <a:srgbClr val="D9CFE8"/>
            </a:solidFill>
            <a:prstDash val="solid"/>
          </a:ln>
        </p:spPr>
      </p:sp>
      <p:sp>
        <p:nvSpPr>
          <p:cNvPr id="14" name="Text 12"/>
          <p:cNvSpPr/>
          <p:nvPr/>
        </p:nvSpPr>
        <p:spPr>
          <a:xfrm>
            <a:off x="112471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Person</a:t>
            </a:r>
            <a:endParaRPr lang="en-US" sz="1250" dirty="0"/>
          </a:p>
        </p:txBody>
      </p:sp>
      <p:sp>
        <p:nvSpPr>
          <p:cNvPr id="15" name="Text 13"/>
          <p:cNvSpPr/>
          <p:nvPr/>
        </p:nvSpPr>
        <p:spPr>
          <a:xfrm>
            <a:off x="112471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`name`, `birthday` mô tả người.</a:t>
            </a:r>
            <a:endParaRPr lang="en-US" sz="920" dirty="0"/>
          </a:p>
        </p:txBody>
      </p:sp>
      <p:sp>
        <p:nvSpPr>
          <p:cNvPr id="16" name="Shape 14"/>
          <p:cNvSpPr/>
          <p:nvPr/>
        </p:nvSpPr>
        <p:spPr>
          <a:xfrm>
            <a:off x="2999232" y="4681728"/>
            <a:ext cx="2286000" cy="960120"/>
          </a:xfrm>
          <a:prstGeom prst="roundRect">
            <a:avLst>
              <a:gd name="adj" fmla="val 5714"/>
            </a:avLst>
          </a:prstGeom>
          <a:solidFill>
            <a:srgbClr val="E8F4EE"/>
          </a:solidFill>
          <a:ln w="12700">
            <a:solidFill>
              <a:srgbClr val="C4E2D1"/>
            </a:solidFill>
            <a:prstDash val="solid"/>
          </a:ln>
        </p:spPr>
      </p:sp>
      <p:sp>
        <p:nvSpPr>
          <p:cNvPr id="17" name="Text 15"/>
          <p:cNvSpPr/>
          <p:nvPr/>
        </p:nvSpPr>
        <p:spPr>
          <a:xfrm>
            <a:off x="3227832" y="4864608"/>
            <a:ext cx="18288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ACTED_IN</a:t>
            </a:r>
            <a:endParaRPr lang="en-US" sz="1250" dirty="0"/>
          </a:p>
        </p:txBody>
      </p:sp>
      <p:sp>
        <p:nvSpPr>
          <p:cNvPr id="18" name="Text 16"/>
          <p:cNvSpPr/>
          <p:nvPr/>
        </p:nvSpPr>
        <p:spPr>
          <a:xfrm>
            <a:off x="3227832" y="5285232"/>
            <a:ext cx="18288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`character`, `cast_order` mô tả lần tham gia.</a:t>
            </a:r>
            <a:endParaRPr lang="en-US" sz="920" dirty="0"/>
          </a:p>
        </p:txBody>
      </p:sp>
      <p:sp>
        <p:nvSpPr>
          <p:cNvPr id="19" name="Shape 17"/>
          <p:cNvSpPr/>
          <p:nvPr/>
        </p:nvSpPr>
        <p:spPr>
          <a:xfrm>
            <a:off x="5330952" y="4681728"/>
            <a:ext cx="2057400" cy="960120"/>
          </a:xfrm>
          <a:prstGeom prst="roundRect">
            <a:avLst>
              <a:gd name="adj" fmla="val 5714"/>
            </a:avLst>
          </a:prstGeom>
          <a:solidFill>
            <a:srgbClr val="EAF2F8"/>
          </a:solidFill>
          <a:ln w="12700">
            <a:solidFill>
              <a:srgbClr val="BDD4E5"/>
            </a:solidFill>
            <a:prstDash val="solid"/>
          </a:ln>
        </p:spPr>
      </p:sp>
      <p:sp>
        <p:nvSpPr>
          <p:cNvPr id="20" name="Text 18"/>
          <p:cNvSpPr/>
          <p:nvPr/>
        </p:nvSpPr>
        <p:spPr>
          <a:xfrm>
            <a:off x="555955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Movie</a:t>
            </a:r>
            <a:endParaRPr lang="en-US" sz="1250" dirty="0"/>
          </a:p>
        </p:txBody>
      </p:sp>
      <p:sp>
        <p:nvSpPr>
          <p:cNvPr id="21" name="Text 19"/>
          <p:cNvSpPr/>
          <p:nvPr/>
        </p:nvSpPr>
        <p:spPr>
          <a:xfrm>
            <a:off x="555955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`title`, `release_date` mô tả phim.</a:t>
            </a:r>
            <a:endParaRPr lang="en-US" sz="920" dirty="0"/>
          </a:p>
        </p:txBody>
      </p:sp>
      <p:sp>
        <p:nvSpPr>
          <p:cNvPr id="22" name="Shape 20"/>
          <p:cNvSpPr/>
          <p:nvPr/>
        </p:nvSpPr>
        <p:spPr>
          <a:xfrm>
            <a:off x="7973568" y="1792224"/>
            <a:ext cx="356616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3" name="Shape 21"/>
          <p:cNvSpPr/>
          <p:nvPr/>
        </p:nvSpPr>
        <p:spPr>
          <a:xfrm>
            <a:off x="8174736" y="1993392"/>
            <a:ext cx="384048" cy="384048"/>
          </a:xfrm>
          <a:prstGeom prst="ellipse">
            <a:avLst/>
          </a:prstGeom>
          <a:solidFill>
            <a:srgbClr val="337B80"/>
          </a:solidFill>
          <a:ln w="12700">
            <a:solidFill>
              <a:srgbClr val="337B80"/>
            </a:solidFill>
            <a:prstDash val="solid"/>
          </a:ln>
        </p:spPr>
      </p:sp>
      <p:sp>
        <p:nvSpPr>
          <p:cNvPr id="24" name="Text 22"/>
          <p:cNvSpPr/>
          <p:nvPr/>
        </p:nvSpPr>
        <p:spPr>
          <a:xfrm>
            <a:off x="8174736"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5" name="Text 23"/>
          <p:cNvSpPr/>
          <p:nvPr/>
        </p:nvSpPr>
        <p:spPr>
          <a:xfrm>
            <a:off x="8686800" y="1975104"/>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 biểu diễn thực thể</a:t>
            </a:r>
            <a:endParaRPr lang="en-US" sz="1600" dirty="0"/>
          </a:p>
        </p:txBody>
      </p:sp>
      <p:sp>
        <p:nvSpPr>
          <p:cNvPr id="26" name="Text 24"/>
          <p:cNvSpPr/>
          <p:nvPr/>
        </p:nvSpPr>
        <p:spPr>
          <a:xfrm>
            <a:off x="8202168" y="2395728"/>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node có nhãn lớp, định danh ổn định và các thuộc tính mô tả.</a:t>
            </a:r>
            <a:endParaRPr lang="en-US" sz="1050" dirty="0"/>
          </a:p>
        </p:txBody>
      </p:sp>
      <p:sp>
        <p:nvSpPr>
          <p:cNvPr id="27" name="Shape 25"/>
          <p:cNvSpPr/>
          <p:nvPr/>
        </p:nvSpPr>
        <p:spPr>
          <a:xfrm>
            <a:off x="7973568" y="3145536"/>
            <a:ext cx="356616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28" name="Shape 26"/>
          <p:cNvSpPr/>
          <p:nvPr/>
        </p:nvSpPr>
        <p:spPr>
          <a:xfrm>
            <a:off x="8174736" y="3346704"/>
            <a:ext cx="384048" cy="384048"/>
          </a:xfrm>
          <a:prstGeom prst="ellipse">
            <a:avLst/>
          </a:prstGeom>
          <a:solidFill>
            <a:srgbClr val="3D8B66"/>
          </a:solidFill>
          <a:ln w="12700">
            <a:solidFill>
              <a:srgbClr val="3D8B66"/>
            </a:solidFill>
            <a:prstDash val="solid"/>
          </a:ln>
        </p:spPr>
      </p:sp>
      <p:sp>
        <p:nvSpPr>
          <p:cNvPr id="29" name="Text 27"/>
          <p:cNvSpPr/>
          <p:nvPr/>
        </p:nvSpPr>
        <p:spPr>
          <a:xfrm>
            <a:off x="8174736"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30" name="Text 28"/>
          <p:cNvSpPr/>
          <p:nvPr/>
        </p:nvSpPr>
        <p:spPr>
          <a:xfrm>
            <a:off x="8686800" y="3328416"/>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Cạnh biểu diễn quan hệ</a:t>
            </a:r>
            <a:endParaRPr lang="en-US" sz="1600" dirty="0"/>
          </a:p>
        </p:txBody>
      </p:sp>
      <p:sp>
        <p:nvSpPr>
          <p:cNvPr id="31" name="Text 29"/>
          <p:cNvSpPr/>
          <p:nvPr/>
        </p:nvSpPr>
        <p:spPr>
          <a:xfrm>
            <a:off x="8202168" y="3749040"/>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cạnh có loại và hướng, nhờ đó liên kết mang ý nghĩa thay vì chỉ nối hai điểm.</a:t>
            </a:r>
            <a:endParaRPr lang="en-US" sz="1050" dirty="0"/>
          </a:p>
        </p:txBody>
      </p:sp>
      <p:sp>
        <p:nvSpPr>
          <p:cNvPr id="32" name="Shape 30"/>
          <p:cNvSpPr/>
          <p:nvPr/>
        </p:nvSpPr>
        <p:spPr>
          <a:xfrm>
            <a:off x="7973568" y="4498848"/>
            <a:ext cx="356616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33" name="Shape 31"/>
          <p:cNvSpPr/>
          <p:nvPr/>
        </p:nvSpPr>
        <p:spPr>
          <a:xfrm>
            <a:off x="8174736" y="4700016"/>
            <a:ext cx="384048" cy="384048"/>
          </a:xfrm>
          <a:prstGeom prst="ellipse">
            <a:avLst/>
          </a:prstGeom>
          <a:solidFill>
            <a:srgbClr val="725B9B"/>
          </a:solidFill>
          <a:ln w="12700">
            <a:solidFill>
              <a:srgbClr val="725B9B"/>
            </a:solidFill>
            <a:prstDash val="solid"/>
          </a:ln>
        </p:spPr>
      </p:sp>
      <p:sp>
        <p:nvSpPr>
          <p:cNvPr id="34" name="Text 32"/>
          <p:cNvSpPr/>
          <p:nvPr/>
        </p:nvSpPr>
        <p:spPr>
          <a:xfrm>
            <a:off x="8174736"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35" name="Text 33"/>
          <p:cNvSpPr/>
          <p:nvPr/>
        </p:nvSpPr>
        <p:spPr>
          <a:xfrm>
            <a:off x="8686800" y="4681728"/>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giữ ngữ cảnh</a:t>
            </a:r>
            <a:endParaRPr lang="en-US" sz="1600" dirty="0"/>
          </a:p>
        </p:txBody>
      </p:sp>
      <p:sp>
        <p:nvSpPr>
          <p:cNvPr id="36" name="Text 34"/>
          <p:cNvSpPr/>
          <p:nvPr/>
        </p:nvSpPr>
        <p:spPr>
          <a:xfrm>
            <a:off x="8202168" y="5102352"/>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Thuộc tính có thể nằm trên node hoặc cạnh, tùy đối tượng mà nó thực sự mô tả.</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CẤU TRÚC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Neighborhood, path và subgraph là đơn vị của tư duy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truy vấn graph không chỉ lọc bản ghi; chúng khám phá cấu trúc liên kết quanh thực thể.</a:t>
            </a:r>
            <a:endParaRPr lang="en-US" sz="1250" dirty="0"/>
          </a:p>
        </p:txBody>
      </p:sp>
      <p:sp>
        <p:nvSpPr>
          <p:cNvPr id="5" name="Shape 3"/>
          <p:cNvSpPr/>
          <p:nvPr/>
        </p:nvSpPr>
        <p:spPr>
          <a:xfrm>
            <a:off x="621792" y="1783080"/>
            <a:ext cx="3429000" cy="406908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Lân cận (neighborhood)</a:t>
            </a:r>
            <a:endParaRPr lang="en-US" sz="1900" dirty="0"/>
          </a:p>
        </p:txBody>
      </p:sp>
      <p:sp>
        <p:nvSpPr>
          <p:cNvPr id="9" name="Text 7"/>
          <p:cNvSpPr/>
          <p:nvPr/>
        </p:nvSpPr>
        <p:spPr>
          <a:xfrm>
            <a:off x="850392"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tập thực thể nối trực tiếp hoặc trong một số bước nhất định quanh một thực thể trung tâm.</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Trong dự án, lân cận của một Movie gồm diễn viên, đạo diễn, thể loại, từ khóa và hãng phim; đây là dữ liệu đầu vào của phép gợi ý tương tự.</a:t>
            </a:r>
            <a:endParaRPr lang="en-US" sz="1300" dirty="0"/>
          </a:p>
        </p:txBody>
      </p:sp>
      <p:sp>
        <p:nvSpPr>
          <p:cNvPr id="10" name="Shape 8"/>
          <p:cNvSpPr/>
          <p:nvPr/>
        </p:nvSpPr>
        <p:spPr>
          <a:xfrm>
            <a:off x="4379976" y="1783080"/>
            <a:ext cx="3429000" cy="406908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Đường đi (path)</a:t>
            </a:r>
            <a:endParaRPr lang="en-US" sz="1900" dirty="0"/>
          </a:p>
        </p:txBody>
      </p:sp>
      <p:sp>
        <p:nvSpPr>
          <p:cNvPr id="14" name="Text 12"/>
          <p:cNvSpPr/>
          <p:nvPr/>
        </p:nvSpPr>
        <p:spPr>
          <a:xfrm>
            <a:off x="4608576"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một dãy node và cạnh liên tiếp nối hai thực thể. Độ dài đường đi được tính bằng số cạnh.</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Truy vấn nhiều bước và shortest path không chỉ trả kết quả, mà còn cho biết kết quả được nối qua những quan hệ nào.</a:t>
            </a:r>
            <a:endParaRPr lang="en-US" sz="1300" dirty="0"/>
          </a:p>
        </p:txBody>
      </p:sp>
      <p:sp>
        <p:nvSpPr>
          <p:cNvPr id="15" name="Shape 13"/>
          <p:cNvSpPr/>
          <p:nvPr/>
        </p:nvSpPr>
        <p:spPr>
          <a:xfrm>
            <a:off x="8138160" y="1783080"/>
            <a:ext cx="3429000" cy="406908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D8B66"/>
          </a:solidFill>
          <a:ln w="12700">
            <a:solidFill>
              <a:srgbClr val="3D8B66"/>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Đồ thị con (subgraph)</a:t>
            </a:r>
            <a:endParaRPr lang="en-US" sz="1900" dirty="0"/>
          </a:p>
        </p:txBody>
      </p:sp>
      <p:sp>
        <p:nvSpPr>
          <p:cNvPr id="19" name="Text 17"/>
          <p:cNvSpPr/>
          <p:nvPr/>
        </p:nvSpPr>
        <p:spPr>
          <a:xfrm>
            <a:off x="8366760"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phần graph chỉ gồm các node và cạnh liên quan đến một mục tiêu cụ thể.</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Dự án dùng đồ thị con để giới hạn ngữ cảnh giải thích và tạo các snapshot có cùng phạm vi khi đánh giá.</a:t>
            </a:r>
            <a:endParaRPr lang="en-US" sz="1300" dirty="0"/>
          </a:p>
        </p:txBody>
      </p:sp>
      <p:sp>
        <p:nvSpPr>
          <p:cNvPr id="20" name="Shape 18"/>
          <p:cNvSpPr/>
          <p:nvPr/>
        </p:nvSpPr>
        <p:spPr>
          <a:xfrm>
            <a:off x="2761488" y="4709160"/>
            <a:ext cx="1965960" cy="0"/>
          </a:xfrm>
          <a:prstGeom prst="line">
            <a:avLst/>
          </a:prstGeom>
          <a:noFill/>
          <a:ln w="19050">
            <a:solidFill>
              <a:srgbClr val="697586"/>
            </a:solidFill>
            <a:prstDash val="solid"/>
            <a:tailEnd type="triangle"/>
          </a:ln>
        </p:spPr>
      </p:sp>
      <p:sp>
        <p:nvSpPr>
          <p:cNvPr id="21" name="Shape 19"/>
          <p:cNvSpPr/>
          <p:nvPr/>
        </p:nvSpPr>
        <p:spPr>
          <a:xfrm>
            <a:off x="6528816" y="4709160"/>
            <a:ext cx="1965960" cy="0"/>
          </a:xfrm>
          <a:prstGeom prst="line">
            <a:avLst/>
          </a:prstGeom>
          <a:noFill/>
          <a:ln w="19050">
            <a:solidFill>
              <a:srgbClr val="697586"/>
            </a:solidFill>
            <a:prstDash val="solid"/>
            <a:tailEnd type="triangle"/>
          </a:ln>
        </p:spPr>
      </p:sp>
      <p:sp>
        <p:nvSpPr>
          <p:cNvPr id="22" name="Text 20"/>
          <p:cNvSpPr/>
          <p:nvPr/>
        </p:nvSpPr>
        <p:spPr>
          <a:xfrm>
            <a:off x="2999232"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mở rộng nhiều bước</a:t>
            </a:r>
            <a:endParaRPr lang="en-US" sz="850" dirty="0"/>
          </a:p>
        </p:txBody>
      </p:sp>
      <p:sp>
        <p:nvSpPr>
          <p:cNvPr id="23" name="Text 21"/>
          <p:cNvSpPr/>
          <p:nvPr/>
        </p:nvSpPr>
        <p:spPr>
          <a:xfrm>
            <a:off x="6766560"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giữ phần liên quan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NGUYÊN TẮC THIẾT KẾ</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điều kiện để một graph trở thành Knowledge Graph hữu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Node và cạnh chỉ tạo ra cấu trúc; bốn nguyên tắc dưới đây mới làm cấu trúc đó có nghĩa và có mục đích.</a:t>
            </a:r>
            <a:endParaRPr lang="en-US" sz="1250" dirty="0"/>
          </a:p>
        </p:txBody>
      </p:sp>
      <p:sp>
        <p:nvSpPr>
          <p:cNvPr id="5" name="Shape 3"/>
          <p:cNvSpPr/>
          <p:nvPr/>
        </p:nvSpPr>
        <p:spPr>
          <a:xfrm>
            <a:off x="621792" y="1755648"/>
            <a:ext cx="5349240" cy="1965960"/>
          </a:xfrm>
          <a:prstGeom prst="roundRect">
            <a:avLst>
              <a:gd name="adj" fmla="val 2791"/>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1 · Định danh — biết đang nói về thực thể nào</a:t>
            </a:r>
            <a:endParaRPr lang="en-US" sz="1800" dirty="0"/>
          </a:p>
        </p:txBody>
      </p:sp>
      <p:sp>
        <p:nvSpPr>
          <p:cNvPr id="7" name="Text 5"/>
          <p:cNvSpPr/>
          <p:nvPr/>
        </p:nvSpPr>
        <p:spPr>
          <a:xfrm>
            <a:off x="850392"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Mỗi thực thể cần một ID ổn định, độc lập với cách viết tên. Dự án ưu tiên ID nguồn của TMDB/IMDb; tên chỉ phục vụ hiển thị và tìm kiếm. Nhờ vậy, hai người trùng tên không bị gộp và một phim có nhiều cách viết không bị tách sai.</a:t>
            </a:r>
            <a:endParaRPr lang="en-US" sz="1220" dirty="0"/>
          </a:p>
        </p:txBody>
      </p:sp>
      <p:sp>
        <p:nvSpPr>
          <p:cNvPr id="8" name="Shape 6"/>
          <p:cNvSpPr/>
          <p:nvPr/>
        </p:nvSpPr>
        <p:spPr>
          <a:xfrm>
            <a:off x="6217920" y="1755648"/>
            <a:ext cx="5349240" cy="1965960"/>
          </a:xfrm>
          <a:prstGeom prst="roundRect">
            <a:avLst>
              <a:gd name="adj" fmla="val 2791"/>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2 · Schema — biết sự kiện có hình dạng nào</a:t>
            </a:r>
            <a:endParaRPr lang="en-US" sz="1800" dirty="0"/>
          </a:p>
        </p:txBody>
      </p:sp>
      <p:sp>
        <p:nvSpPr>
          <p:cNvPr id="10" name="Text 8"/>
          <p:cNvSpPr/>
          <p:nvPr/>
        </p:nvSpPr>
        <p:spPr>
          <a:xfrm>
            <a:off x="6446520"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Schema quy định lớp thực thể, loại quan hệ, thuộc tính bắt buộc và miền giá trị. Nó tạo ngôn ngữ chung để dữ liệu từ nhiều nguồn đi vào cùng một mô hình và để truy vấn dựa trên cấu trúc nhất quán.</a:t>
            </a:r>
            <a:endParaRPr lang="en-US" sz="1220" dirty="0"/>
          </a:p>
        </p:txBody>
      </p:sp>
      <p:sp>
        <p:nvSpPr>
          <p:cNvPr id="11" name="Shape 9"/>
          <p:cNvSpPr/>
          <p:nvPr/>
        </p:nvSpPr>
        <p:spPr>
          <a:xfrm>
            <a:off x="621792" y="4005072"/>
            <a:ext cx="5349240" cy="1965960"/>
          </a:xfrm>
          <a:prstGeom prst="roundRect">
            <a:avLst>
              <a:gd name="adj" fmla="val 2791"/>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50392"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3D8B66"/>
                </a:solidFill>
                <a:latin typeface="Calibri" pitchFamily="34" charset="0"/>
                <a:ea typeface="Calibri" pitchFamily="34" charset="-122"/>
                <a:cs typeface="Calibri" pitchFamily="34" charset="-120"/>
              </a:rPr>
              <a:t>3 · Nguồn gốc — biết sự kiện đến từ đâu</a:t>
            </a:r>
            <a:endParaRPr lang="en-US" sz="1800" dirty="0"/>
          </a:p>
        </p:txBody>
      </p:sp>
      <p:sp>
        <p:nvSpPr>
          <p:cNvPr id="13" name="Text 11"/>
          <p:cNvSpPr/>
          <p:nvPr/>
        </p:nvSpPr>
        <p:spPr>
          <a:xfrm>
            <a:off x="850392"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Sự kiện nhập trực tiếp phải chỉ ra nguồn; sự kiện suy ra phải giữ luật và các sự kiện hỗ trợ. Nhờ đó, người dùng có thể kiểm tra và tái tạo kết quả thay vì phải tin vào một hộp đen.</a:t>
            </a:r>
            <a:endParaRPr lang="en-US" sz="1220" dirty="0"/>
          </a:p>
        </p:txBody>
      </p:sp>
      <p:sp>
        <p:nvSpPr>
          <p:cNvPr id="14" name="Shape 12"/>
          <p:cNvSpPr/>
          <p:nvPr/>
        </p:nvSpPr>
        <p:spPr>
          <a:xfrm>
            <a:off x="6217920" y="4005072"/>
            <a:ext cx="5349240" cy="1965960"/>
          </a:xfrm>
          <a:prstGeom prst="roundRect">
            <a:avLst>
              <a:gd name="adj" fmla="val 2791"/>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6446520"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D38B36"/>
                </a:solidFill>
                <a:latin typeface="Calibri" pitchFamily="34" charset="0"/>
                <a:ea typeface="Calibri" pitchFamily="34" charset="-122"/>
                <a:cs typeface="Calibri" pitchFamily="34" charset="-120"/>
              </a:rPr>
              <a:t>4 · Câu hỏi năng lực — biết graph được xây để làm gì</a:t>
            </a:r>
            <a:endParaRPr lang="en-US" sz="1800" dirty="0"/>
          </a:p>
        </p:txBody>
      </p:sp>
      <p:sp>
        <p:nvSpPr>
          <p:cNvPr id="16" name="Text 14"/>
          <p:cNvSpPr/>
          <p:nvPr/>
        </p:nvSpPr>
        <p:spPr>
          <a:xfrm>
            <a:off x="6446520"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Câu hỏi năng lực xác định tri thức tối thiểu cần biểu diễn. Nếu schema không trả lời được các câu hỏi đã công bố, việc có nhiều node và cạnh vẫn chưa tạo ra giá trị cho bài toán.</a:t>
            </a:r>
            <a:endParaRPr lang="en-US" sz="12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DUYỆT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khái niệm giúp mô tả cách duyệt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khái niệm trả lời một câu hỏi khác nhau về khoảng cách, mức kết nối hoặc cấu trúc chung giữa các thực thể.</a:t>
            </a:r>
            <a:endParaRPr lang="en-US" sz="1250" dirty="0"/>
          </a:p>
        </p:txBody>
      </p:sp>
      <p:sp>
        <p:nvSpPr>
          <p:cNvPr id="5" name="Shape 3"/>
          <p:cNvSpPr/>
          <p:nvPr/>
        </p:nvSpPr>
        <p:spPr>
          <a:xfrm>
            <a:off x="621792" y="1783080"/>
            <a:ext cx="5349240" cy="1847088"/>
          </a:xfrm>
          <a:prstGeom prst="roundRect">
            <a:avLst>
              <a:gd name="adj" fmla="val 2970"/>
            </a:avLst>
          </a:prstGeom>
          <a:solidFill>
            <a:srgbClr val="EAF2F8"/>
          </a:solidFill>
          <a:ln w="12700">
            <a:solidFill>
              <a:srgbClr val="337B80"/>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Bước đi (hop)</a:t>
            </a:r>
            <a:endParaRPr lang="en-US" sz="1900" dirty="0"/>
          </a:p>
        </p:txBody>
      </p:sp>
      <p:sp>
        <p:nvSpPr>
          <p:cNvPr id="9" name="Text 7"/>
          <p:cNvSpPr/>
          <p:nvPr/>
        </p:nvSpPr>
        <p:spPr>
          <a:xfrm>
            <a:off x="850392"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Một hop là một lần đi qua cạnh. Person → Movie dài 1 hop; Person → Movie → Genre dài 2 hop. Số hop cho biết truy vấn phải đi qua bao nhiêu lớp quan hệ.</a:t>
            </a:r>
            <a:endParaRPr lang="en-US" sz="1300" dirty="0"/>
          </a:p>
        </p:txBody>
      </p:sp>
      <p:sp>
        <p:nvSpPr>
          <p:cNvPr id="10" name="Shape 8"/>
          <p:cNvSpPr/>
          <p:nvPr/>
        </p:nvSpPr>
        <p:spPr>
          <a:xfrm>
            <a:off x="6217920" y="1783080"/>
            <a:ext cx="5349240" cy="1847088"/>
          </a:xfrm>
          <a:prstGeom prst="roundRect">
            <a:avLst>
              <a:gd name="adj" fmla="val 2970"/>
            </a:avLst>
          </a:prstGeom>
          <a:solidFill>
            <a:srgbClr val="F0ECF7"/>
          </a:solidFill>
          <a:ln w="12700">
            <a:solidFill>
              <a:srgbClr val="725B9B"/>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41908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419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6931152"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Bậc của node (degree)</a:t>
            </a:r>
            <a:endParaRPr lang="en-US" sz="1900" dirty="0"/>
          </a:p>
        </p:txBody>
      </p:sp>
      <p:sp>
        <p:nvSpPr>
          <p:cNvPr id="14" name="Text 12"/>
          <p:cNvSpPr/>
          <p:nvPr/>
        </p:nvSpPr>
        <p:spPr>
          <a:xfrm>
            <a:off x="6446520"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Degree là số cạnh kề một node. Degree cao có thể cho biết thực thể phổ biến, nhưng cũng có thể làm các đặc trưng phổ biến lấn át kết quả xếp hạng.</a:t>
            </a:r>
            <a:endParaRPr lang="en-US" sz="1300" dirty="0"/>
          </a:p>
        </p:txBody>
      </p:sp>
      <p:sp>
        <p:nvSpPr>
          <p:cNvPr id="15" name="Shape 13"/>
          <p:cNvSpPr/>
          <p:nvPr/>
        </p:nvSpPr>
        <p:spPr>
          <a:xfrm>
            <a:off x="621792" y="3931920"/>
            <a:ext cx="5349240" cy="1847088"/>
          </a:xfrm>
          <a:prstGeom prst="roundRect">
            <a:avLst>
              <a:gd name="adj" fmla="val 2970"/>
            </a:avLst>
          </a:prstGeom>
          <a:solidFill>
            <a:srgbClr val="E8F4EE"/>
          </a:solidFill>
          <a:ln w="12700">
            <a:solidFill>
              <a:srgbClr val="3D8B66"/>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22960" y="4133088"/>
            <a:ext cx="384048" cy="384048"/>
          </a:xfrm>
          <a:prstGeom prst="ellipse">
            <a:avLst/>
          </a:prstGeom>
          <a:solidFill>
            <a:srgbClr val="3D8B66"/>
          </a:solidFill>
          <a:ln w="12700">
            <a:solidFill>
              <a:srgbClr val="3D8B66"/>
            </a:solidFill>
            <a:prstDash val="solid"/>
          </a:ln>
        </p:spPr>
      </p:sp>
      <p:sp>
        <p:nvSpPr>
          <p:cNvPr id="17" name="Text 15"/>
          <p:cNvSpPr/>
          <p:nvPr/>
        </p:nvSpPr>
        <p:spPr>
          <a:xfrm>
            <a:off x="822960"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1335024"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Láng giềng chung</a:t>
            </a:r>
            <a:endParaRPr lang="en-US" sz="1900" dirty="0"/>
          </a:p>
        </p:txBody>
      </p:sp>
      <p:sp>
        <p:nvSpPr>
          <p:cNvPr id="19" name="Text 17"/>
          <p:cNvSpPr/>
          <p:nvPr/>
        </p:nvSpPr>
        <p:spPr>
          <a:xfrm>
            <a:off x="850392"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Common neighbor là node được hai node cùng kết nối. Hai Person có thể chung một Movie; hai Movie có thể chung diễn viên, thể loại hoặc từ khóa.</a:t>
            </a:r>
            <a:endParaRPr lang="en-US" sz="1300" dirty="0"/>
          </a:p>
        </p:txBody>
      </p:sp>
      <p:sp>
        <p:nvSpPr>
          <p:cNvPr id="20" name="Shape 18"/>
          <p:cNvSpPr/>
          <p:nvPr/>
        </p:nvSpPr>
        <p:spPr>
          <a:xfrm>
            <a:off x="6217920" y="3931920"/>
            <a:ext cx="5349240" cy="1847088"/>
          </a:xfrm>
          <a:prstGeom prst="roundRect">
            <a:avLst>
              <a:gd name="adj" fmla="val 2970"/>
            </a:avLst>
          </a:prstGeom>
          <a:solidFill>
            <a:srgbClr val="FFF2DF"/>
          </a:solidFill>
          <a:ln w="12700">
            <a:solidFill>
              <a:srgbClr val="D38B36"/>
            </a:solidFill>
            <a:prstDash val="solid"/>
          </a:ln>
          <a:effectLst>
            <a:outerShdw sx="100000" sy="100000" kx="0" ky="0" algn="bl" rotWithShape="0" blurRad="25400" dist="50800" dir="2700000">
              <a:srgbClr val="26384A">
                <a:alpha val="13000"/>
              </a:srgbClr>
            </a:outerShdw>
          </a:effectLst>
        </p:spPr>
      </p:sp>
      <p:sp>
        <p:nvSpPr>
          <p:cNvPr id="21" name="Shape 19"/>
          <p:cNvSpPr/>
          <p:nvPr/>
        </p:nvSpPr>
        <p:spPr>
          <a:xfrm>
            <a:off x="6419088" y="4133088"/>
            <a:ext cx="384048" cy="384048"/>
          </a:xfrm>
          <a:prstGeom prst="ellipse">
            <a:avLst/>
          </a:prstGeom>
          <a:solidFill>
            <a:srgbClr val="D38B36"/>
          </a:solidFill>
          <a:ln w="12700">
            <a:solidFill>
              <a:srgbClr val="D38B36"/>
            </a:solidFill>
            <a:prstDash val="solid"/>
          </a:ln>
        </p:spPr>
      </p:sp>
      <p:sp>
        <p:nvSpPr>
          <p:cNvPr id="22" name="Text 20"/>
          <p:cNvSpPr/>
          <p:nvPr/>
        </p:nvSpPr>
        <p:spPr>
          <a:xfrm>
            <a:off x="6419088"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p:nvPr/>
        </p:nvSpPr>
        <p:spPr>
          <a:xfrm>
            <a:off x="6931152"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D38B36"/>
                </a:solidFill>
                <a:latin typeface="Calibri" pitchFamily="34" charset="0"/>
                <a:ea typeface="Calibri" pitchFamily="34" charset="-122"/>
                <a:cs typeface="Calibri" pitchFamily="34" charset="-120"/>
              </a:rPr>
              <a:t>Đường đi ngắn nhất</a:t>
            </a:r>
            <a:endParaRPr lang="en-US" sz="1900" dirty="0"/>
          </a:p>
        </p:txBody>
      </p:sp>
      <p:sp>
        <p:nvSpPr>
          <p:cNvPr id="24" name="Text 22"/>
          <p:cNvSpPr/>
          <p:nvPr/>
        </p:nvSpPr>
        <p:spPr>
          <a:xfrm>
            <a:off x="6446520"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Shortest path là đường có ít cạnh nhất trong phạm vi quan hệ cho phép. Muốn hiểu kết quả, phải đọc cả loại cạnh trên đường đi chứ không chỉ danh sách node.</a:t>
            </a:r>
            <a:endParaRPr lang="en-US" sz="1300" dirty="0"/>
          </a:p>
        </p:txBody>
      </p:sp>
      <p:sp>
        <p:nvSpPr>
          <p:cNvPr id="25" name="Text 23"/>
          <p:cNvSpPr/>
          <p:nvPr/>
        </p:nvSpPr>
        <p:spPr>
          <a:xfrm>
            <a:off x="960120" y="5925312"/>
            <a:ext cx="10241280" cy="347472"/>
          </a:xfrm>
          <a:prstGeom prst="rect">
            <a:avLst/>
          </a:prstGeom>
          <a:noFill/>
          <a:ln/>
        </p:spPr>
        <p:txBody>
          <a:bodyPr wrap="square" lIns="0" tIns="0" rIns="0" bIns="0" rtlCol="0" anchor="ctr">
            <a:normAutofit/>
          </a:bodyPr>
          <a:lstStyle/>
          <a:p>
            <a:pPr algn="ctr" indent="0" marL="0">
              <a:buNone/>
            </a:pPr>
            <a:r>
              <a:rPr lang="en-US" sz="1350" b="1" dirty="0">
                <a:solidFill>
                  <a:srgbClr val="112B46"/>
                </a:solidFill>
                <a:latin typeface="Calibri" pitchFamily="34" charset="0"/>
                <a:ea typeface="Calibri" pitchFamily="34" charset="-122"/>
                <a:cs typeface="Calibri" pitchFamily="34" charset="-120"/>
              </a:rPr>
              <a:t>Trong dự án: phim chung dựa trên láng giềng chung; quan hệ đồng diễn vật chất hóa cấu trúc đó; gợi ý so sánh lân cận có trọng số; truy vấn đường đi được giới hạn tối đa 8 cạnh.</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Quan hệ có thể mang thuộc tính</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Cung cấp dữ liệu nguồn</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Giữ nguyên JSON và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Xử lý</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Làm sạch, nối ID, chuẩn hóa</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Bảo vệ, nhập và suy diễn</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Điều phối hỏi–đáp và gợi ý</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Giao diện</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Trình bày kết quả và bằng chứng</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tái lập</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Checksum và manifest xác định rõ khi nào phải nhập lại dữ liệu.</a:t>
            </a:r>
            <a:endParaRPr lang="en-US" sz="95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giải thích</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Kết quả giữ thực thể đã liên kết, đường đi và đặc trưng tạo điểm.</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Tên không quyết định danh tính</a:t>
            </a:r>
            <a:endParaRPr lang="en-US" sz="145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`Person.person_id = tmdb:&lt;id&gt;` là khóa ổn định; `name` chỉ dùng để hiển thị và tìm kiếm.</a:t>
            </a:r>
            <a:endParaRPr lang="en-US" sz="103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Vai trò được đặt trên quan hệ</a:t>
            </a:r>
            <a:endParaRPr lang="en-US" sz="145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`ACTED_IN` cho biết một Person tham gia Movie nào và lưu nhân vật, thứ tự diễn viên, nguồn dữ liệu.</a:t>
            </a:r>
            <a:endParaRPr lang="en-US" sz="10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Schema được bảo vệ trước khi nhập</a:t>
            </a:r>
            <a:endParaRPr lang="en-US" sz="145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Constraint ngăn trùng khóa; index giúp tìm node theo khóa hoặc tên.</a:t>
            </a:r>
            <a:endParaRPr lang="en-US" sz="103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THỰC THỂ</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Entity resolution và entity linking giải quyết hai thời điểm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Cả hai đều xử lý identity, nhưng một bước hợp nhất dữ liệu khi xây graph; bước còn lại nối đầu vào người dùng vào graph đã có.</a:t>
            </a:r>
            <a:endParaRPr lang="en-US" sz="1250" dirty="0"/>
          </a:p>
        </p:txBody>
      </p:sp>
      <p:sp>
        <p:nvSpPr>
          <p:cNvPr id="5" name="Shape 3"/>
          <p:cNvSpPr/>
          <p:nvPr/>
        </p:nvSpPr>
        <p:spPr>
          <a:xfrm>
            <a:off x="621792" y="1783080"/>
            <a:ext cx="5349240" cy="4251960"/>
          </a:xfrm>
          <a:prstGeom prst="roundRect">
            <a:avLst>
              <a:gd name="adj" fmla="val 129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Entity resolution · lúc tích hợp dữ liệu</a:t>
            </a:r>
            <a:endParaRPr lang="en-US" sz="2000" dirty="0"/>
          </a:p>
        </p:txBody>
      </p:sp>
      <p:sp>
        <p:nvSpPr>
          <p:cNvPr id="7" name="Text 5"/>
          <p:cNvSpPr/>
          <p:nvPr/>
        </p:nvSpPr>
        <p:spPr>
          <a:xfrm>
            <a:off x="850392"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quyết định hai record từ cùng hoặc khác nguồn có mô tả cùng một thực thể hay không.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Tín hiệu ưu tiên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Exact source ID TMDB/IMDb.</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Thuộc tính hỗ trợ khi ID thiếu.</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matching chỉ là fallback có confidence và log.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Sai false positive làm ô nhiễm graph lâu dài, nên hệ thống ưu tiên precision và có thể abstain.</a:t>
            </a:r>
            <a:endParaRPr lang="en-US" sz="1350" dirty="0"/>
          </a:p>
        </p:txBody>
      </p:sp>
      <p:sp>
        <p:nvSpPr>
          <p:cNvPr id="8" name="Shape 6"/>
          <p:cNvSpPr/>
          <p:nvPr/>
        </p:nvSpPr>
        <p:spPr>
          <a:xfrm>
            <a:off x="6217920" y="1783080"/>
            <a:ext cx="5349240" cy="4251960"/>
          </a:xfrm>
          <a:prstGeom prst="roundRect">
            <a:avLst>
              <a:gd name="adj" fmla="val 129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Entity linking · lúc xử lý câu hỏi</a:t>
            </a:r>
            <a:endParaRPr lang="en-US" sz="2000" dirty="0"/>
          </a:p>
        </p:txBody>
      </p:sp>
      <p:sp>
        <p:nvSpPr>
          <p:cNvPr id="10" name="Text 8"/>
          <p:cNvSpPr/>
          <p:nvPr/>
        </p:nvSpPr>
        <p:spPr>
          <a:xfrm>
            <a:off x="6446520"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nối chuỗi người dùng nhập, ví dụ “Cristopher Nolan”, tới node canonical đã tồn tại.</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Quy trình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Xác định loại slot: Movie/Person/Genre.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Full-text search tạo candidate.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reranking và threshold.</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4. Trả stable ID + canonical name + confidence.</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Query sau đó dùng ID, không mở rộng lại theo tên.</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010912"/>
            <a:ext cx="4160520" cy="914400"/>
          </a:xfrm>
          <a:prstGeom prst="roundRect">
            <a:avLst>
              <a:gd name="adj" fmla="val 6000"/>
            </a:avLst>
          </a:prstGeom>
          <a:solidFill>
            <a:srgbClr val="E8F4EE"/>
          </a:solidFill>
          <a:ln w="12700">
            <a:solidFill>
              <a:srgbClr val="D7DEE8"/>
            </a:solidFill>
            <a:prstDash val="solid"/>
          </a:ln>
        </p:spPr>
      </p:sp>
      <p:sp>
        <p:nvSpPr>
          <p:cNvPr id="24" name="Shape 22"/>
          <p:cNvSpPr/>
          <p:nvPr/>
        </p:nvSpPr>
        <p:spPr>
          <a:xfrm>
            <a:off x="7562088" y="5212080"/>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2669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193792"/>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614416"/>
            <a:ext cx="3703320" cy="12801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Cạnh ACTED_IN được nhập trực tiếp từ danh sách vai diễn của TMDB.</a:t>
            </a:r>
            <a:endParaRPr lang="en-US" sz="108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được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Nếu hai Person cùng ACTED_IN một Movie, hệ thống tạo quan hệ CO_STARRED_WITH.</a:t>
            </a:r>
            <a:endParaRPr lang="en-US" sz="10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Vì sao kết quả kiểm chứng được?</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Cạnh suy ra lưu số phim chung, ID các phim làm bằng chứng và cờ `derived=true`.</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KHẢ NĂNG GIẢI THÍCH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Nguồn gốc, lịch sử biến đổi và bằng chứng trả lời ba câu hỏi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Phân biệt rõ ba lớp truy vết giúp giải thích được cả dữ liệu gốc, dữ liệu suy ra và kết quả ứng dụng.</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1792" y="1783080"/>
          <a:ext cx="10972800" cy="2606040"/>
        </p:xfrm>
        <a:graphic>
          <a:graphicData uri="http://schemas.openxmlformats.org/drawingml/2006/table">
            <a:tbl>
              <a:tblPr/>
              <a:tblGrid>
                <a:gridCol w="1965960"/>
                <a:gridCol w="3703320"/>
                <a:gridCol w="5303520"/>
              </a:tblGrid>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Khái niệm</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Câu hỏi trả lời</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Biểu hiện trong project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Nguồn gốc (provenance)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đến từ nguồn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`source=tmdb`; checksum IMDb; ID của nguồn</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Lịch sử biến đổi (lineage)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đã đi qua các bước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dữ liệu gốc → làm sạch → CSV → nhập → luật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Bằng chứng (evidence)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Kết quả này dựa trên node và cạnh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thực thể đã nối; bản ghi/đường đi; đặc trưng chung</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621792" y="4645152"/>
            <a:ext cx="3429000" cy="1353312"/>
          </a:xfrm>
          <a:prstGeom prst="roundRect">
            <a:avLst>
              <a:gd name="adj" fmla="val 4054"/>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7" name="Shape 4"/>
          <p:cNvSpPr/>
          <p:nvPr/>
        </p:nvSpPr>
        <p:spPr>
          <a:xfrm>
            <a:off x="822960" y="4846320"/>
            <a:ext cx="384048" cy="384048"/>
          </a:xfrm>
          <a:prstGeom prst="ellipse">
            <a:avLst/>
          </a:prstGeom>
          <a:solidFill>
            <a:srgbClr val="337B80"/>
          </a:solidFill>
          <a:ln w="12700">
            <a:solidFill>
              <a:srgbClr val="337B80"/>
            </a:solidFill>
            <a:prstDash val="solid"/>
          </a:ln>
        </p:spPr>
      </p:sp>
      <p:sp>
        <p:nvSpPr>
          <p:cNvPr id="8" name="Text 5"/>
          <p:cNvSpPr/>
          <p:nvPr/>
        </p:nvSpPr>
        <p:spPr>
          <a:xfrm>
            <a:off x="822960"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a:t>
            </a:r>
            <a:endParaRPr lang="en-US" sz="1000" dirty="0"/>
          </a:p>
        </p:txBody>
      </p:sp>
      <p:sp>
        <p:nvSpPr>
          <p:cNvPr id="9" name="Text 6"/>
          <p:cNvSpPr/>
          <p:nvPr/>
        </p:nvSpPr>
        <p:spPr>
          <a:xfrm>
            <a:off x="1335024"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khẳng định</a:t>
            </a:r>
            <a:endParaRPr lang="en-US" sz="1600" dirty="0"/>
          </a:p>
        </p:txBody>
      </p:sp>
      <p:sp>
        <p:nvSpPr>
          <p:cNvPr id="10" name="Text 7"/>
          <p:cNvSpPr/>
          <p:nvPr/>
        </p:nvSpPr>
        <p:spPr>
          <a:xfrm>
            <a:off x="850392"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lấy trực tiếp từ nguồn, ví dụ Person ACTED_IN Movie; cần giữ nguồn và ID gốc.</a:t>
            </a:r>
            <a:endParaRPr lang="en-US" sz="1120" dirty="0"/>
          </a:p>
        </p:txBody>
      </p:sp>
      <p:sp>
        <p:nvSpPr>
          <p:cNvPr id="11" name="Shape 8"/>
          <p:cNvSpPr/>
          <p:nvPr/>
        </p:nvSpPr>
        <p:spPr>
          <a:xfrm>
            <a:off x="4379976" y="4645152"/>
            <a:ext cx="3429000" cy="1353312"/>
          </a:xfrm>
          <a:prstGeom prst="roundRect">
            <a:avLst>
              <a:gd name="adj" fmla="val 405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9"/>
          <p:cNvSpPr/>
          <p:nvPr/>
        </p:nvSpPr>
        <p:spPr>
          <a:xfrm>
            <a:off x="4581144" y="4846320"/>
            <a:ext cx="384048" cy="384048"/>
          </a:xfrm>
          <a:prstGeom prst="ellipse">
            <a:avLst/>
          </a:prstGeom>
          <a:solidFill>
            <a:srgbClr val="725B9B"/>
          </a:solidFill>
          <a:ln w="12700">
            <a:solidFill>
              <a:srgbClr val="725B9B"/>
            </a:solidFill>
            <a:prstDash val="solid"/>
          </a:ln>
        </p:spPr>
      </p:sp>
      <p:sp>
        <p:nvSpPr>
          <p:cNvPr id="13" name="Text 10"/>
          <p:cNvSpPr/>
          <p:nvPr/>
        </p:nvSpPr>
        <p:spPr>
          <a:xfrm>
            <a:off x="4581144"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a:t>
            </a:r>
            <a:endParaRPr lang="en-US" sz="1000" dirty="0"/>
          </a:p>
        </p:txBody>
      </p:sp>
      <p:sp>
        <p:nvSpPr>
          <p:cNvPr id="14" name="Text 11"/>
          <p:cNvSpPr/>
          <p:nvPr/>
        </p:nvSpPr>
        <p:spPr>
          <a:xfrm>
            <a:off x="5093208"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suy ra</a:t>
            </a:r>
            <a:endParaRPr lang="en-US" sz="1600" dirty="0"/>
          </a:p>
        </p:txBody>
      </p:sp>
      <p:sp>
        <p:nvSpPr>
          <p:cNvPr id="15" name="Text 12"/>
          <p:cNvSpPr/>
          <p:nvPr/>
        </p:nvSpPr>
        <p:spPr>
          <a:xfrm>
            <a:off x="4608576"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sinh bởi luật, ví dụ CO_STARRED_WITH; cần giữ luật và các phim làm căn cứ.</a:t>
            </a:r>
            <a:endParaRPr lang="en-US" sz="1120" dirty="0"/>
          </a:p>
        </p:txBody>
      </p:sp>
      <p:sp>
        <p:nvSpPr>
          <p:cNvPr id="16" name="Shape 13"/>
          <p:cNvSpPr/>
          <p:nvPr/>
        </p:nvSpPr>
        <p:spPr>
          <a:xfrm>
            <a:off x="8138160" y="4645152"/>
            <a:ext cx="3429000" cy="1353312"/>
          </a:xfrm>
          <a:prstGeom prst="roundRect">
            <a:avLst>
              <a:gd name="adj" fmla="val 4054"/>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4"/>
          <p:cNvSpPr/>
          <p:nvPr/>
        </p:nvSpPr>
        <p:spPr>
          <a:xfrm>
            <a:off x="8339328" y="4846320"/>
            <a:ext cx="384048" cy="384048"/>
          </a:xfrm>
          <a:prstGeom prst="ellipse">
            <a:avLst/>
          </a:prstGeom>
          <a:solidFill>
            <a:srgbClr val="3D8B66"/>
          </a:solidFill>
          <a:ln w="12700">
            <a:solidFill>
              <a:srgbClr val="3D8B66"/>
            </a:solidFill>
            <a:prstDash val="solid"/>
          </a:ln>
        </p:spPr>
      </p:sp>
      <p:sp>
        <p:nvSpPr>
          <p:cNvPr id="18" name="Text 15"/>
          <p:cNvSpPr/>
          <p:nvPr/>
        </p:nvSpPr>
        <p:spPr>
          <a:xfrm>
            <a:off x="8339328"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6"/>
          <p:cNvSpPr/>
          <p:nvPr/>
        </p:nvSpPr>
        <p:spPr>
          <a:xfrm>
            <a:off x="8851392"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Kết quả giải thích được</a:t>
            </a:r>
            <a:endParaRPr lang="en-US" sz="1600" dirty="0"/>
          </a:p>
        </p:txBody>
      </p:sp>
      <p:sp>
        <p:nvSpPr>
          <p:cNvPr id="20" name="Text 17"/>
          <p:cNvSpPr/>
          <p:nvPr/>
        </p:nvSpPr>
        <p:spPr>
          <a:xfrm>
            <a:off x="8366760"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Kèm đường đi hoặc đặc trưng đóng góp đủ để người dùng kiểm tra ngược cách tạo kết quả.</a:t>
            </a:r>
            <a:endParaRPr lang="en-US" sz="11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Giới hạn ở chín loại câu hỏi</a:t>
            </a:r>
            <a:endParaRPr lang="en-US" sz="142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Mỗi intent ánh xạ tới một mẫu Cypher cố định; câu ngoài phạm vi được trả về là chưa hỗ trợ.</a:t>
            </a:r>
            <a:endParaRPr lang="en-US" sz="97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Tên gọi được nối tới node chuẩn</a:t>
            </a:r>
            <a:endParaRPr lang="en-US" sz="142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Ví dụ “Cristopher Nolan” được liên kết tới Christopher Nolan cùng stable ID và độ tin cậy.</a:t>
            </a:r>
            <a:endParaRPr lang="en-US" sz="97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Câu trả lời đi kèm căn cứ</a:t>
            </a:r>
            <a:endParaRPr lang="en-US" sz="142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Phản hồi giữ intent, thực thể đã liên kết và bản ghi hoặc đường đi dùng để tạo câu trả lời.</a:t>
            </a:r>
            <a:endParaRPr lang="en-US" sz="97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138928"/>
            <a:ext cx="3566160" cy="932688"/>
          </a:xfrm>
          <a:prstGeom prst="roundRect">
            <a:avLst>
              <a:gd name="adj" fmla="val 5882"/>
            </a:avLst>
          </a:prstGeom>
          <a:solidFill>
            <a:srgbClr val="E8F4EE"/>
          </a:solidFill>
          <a:ln w="12700">
            <a:solidFill>
              <a:srgbClr val="C4E2D1"/>
            </a:solidFill>
            <a:prstDash val="solid"/>
          </a:ln>
        </p:spPr>
      </p:sp>
      <p:sp>
        <p:nvSpPr>
          <p:cNvPr id="21" name="Text 18"/>
          <p:cNvSpPr/>
          <p:nvPr/>
        </p:nvSpPr>
        <p:spPr>
          <a:xfrm>
            <a:off x="8202168" y="532180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Mỗi điểm số đều có lời giải thích</a:t>
            </a:r>
            <a:endParaRPr lang="en-US" sz="1200" dirty="0"/>
          </a:p>
        </p:txBody>
      </p:sp>
      <p:sp>
        <p:nvSpPr>
          <p:cNvPr id="22" name="Text 19"/>
          <p:cNvSpPr/>
          <p:nvPr/>
        </p:nvSpPr>
        <p:spPr>
          <a:xfrm>
            <a:off x="8202168" y="5742432"/>
            <a:ext cx="3108960" cy="146304"/>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Neo4j trả cả tổng điểm và các đặc trưng chung đã đóng góp vào điểm đó.</a:t>
            </a:r>
            <a:endParaRPr lang="en-US" sz="92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KHÁI NIỆM ĐÁNH GIÁ</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Các metric đo những loại sai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Không có một con số duy nhất đánh giá toàn bộ Knowledge Graph; metric phải khớp với claim.</a:t>
            </a:r>
            <a:endParaRPr lang="en-US" sz="1250" dirty="0"/>
          </a:p>
        </p:txBody>
      </p:sp>
      <p:sp>
        <p:nvSpPr>
          <p:cNvPr id="5" name="Shape 3"/>
          <p:cNvSpPr/>
          <p:nvPr/>
        </p:nvSpPr>
        <p:spPr>
          <a:xfrm>
            <a:off x="621792" y="1755648"/>
            <a:ext cx="3429000" cy="1993392"/>
          </a:xfrm>
          <a:prstGeom prst="roundRect">
            <a:avLst>
              <a:gd name="adj" fmla="val 2752"/>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37B80"/>
                </a:solidFill>
                <a:latin typeface="Calibri" pitchFamily="34" charset="0"/>
                <a:ea typeface="Calibri" pitchFamily="34" charset="-122"/>
                <a:cs typeface="Calibri" pitchFamily="34" charset="-120"/>
              </a:rPr>
              <a:t>Precision · độ chính xác dương</a:t>
            </a:r>
            <a:endParaRPr lang="en-US" sz="1700" dirty="0"/>
          </a:p>
        </p:txBody>
      </p:sp>
      <p:sp>
        <p:nvSpPr>
          <p:cNvPr id="7" name="Text 5"/>
          <p:cNvSpPr/>
          <p:nvPr/>
        </p:nvSpPr>
        <p:spPr>
          <a:xfrm>
            <a:off x="850392"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hệ thống chấp nhận, bao nhiêu là đúng?</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Precision = TP / (TP + FP)</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Quan trọng khi một phép nối sai có thể làm ô nhiễm nhiều đường đi.</a:t>
            </a:r>
            <a:endParaRPr lang="en-US" sz="1200" dirty="0"/>
          </a:p>
        </p:txBody>
      </p:sp>
      <p:sp>
        <p:nvSpPr>
          <p:cNvPr id="8" name="Shape 6"/>
          <p:cNvSpPr/>
          <p:nvPr/>
        </p:nvSpPr>
        <p:spPr>
          <a:xfrm>
            <a:off x="4379976" y="1755648"/>
            <a:ext cx="3429000" cy="1993392"/>
          </a:xfrm>
          <a:prstGeom prst="roundRect">
            <a:avLst>
              <a:gd name="adj" fmla="val 2752"/>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608576"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725B9B"/>
                </a:solidFill>
                <a:latin typeface="Calibri" pitchFamily="34" charset="0"/>
                <a:ea typeface="Calibri" pitchFamily="34" charset="-122"/>
                <a:cs typeface="Calibri" pitchFamily="34" charset="-120"/>
              </a:rPr>
              <a:t>Recall · độ bao phủ dương</a:t>
            </a:r>
            <a:endParaRPr lang="en-US" sz="1700" dirty="0"/>
          </a:p>
        </p:txBody>
      </p:sp>
      <p:sp>
        <p:nvSpPr>
          <p:cNvPr id="10" name="Text 8"/>
          <p:cNvSpPr/>
          <p:nvPr/>
        </p:nvSpPr>
        <p:spPr>
          <a:xfrm>
            <a:off x="4608576"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đúng cần tìm, hệ thống tìm được bao nhiêu?</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Recall = TP / (TP + FN)</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Abstention bảo thủ thường tăng precision nhưng làm giảm recall.</a:t>
            </a:r>
            <a:endParaRPr lang="en-US" sz="1200" dirty="0"/>
          </a:p>
        </p:txBody>
      </p:sp>
      <p:sp>
        <p:nvSpPr>
          <p:cNvPr id="11" name="Shape 9"/>
          <p:cNvSpPr/>
          <p:nvPr/>
        </p:nvSpPr>
        <p:spPr>
          <a:xfrm>
            <a:off x="8138160" y="1755648"/>
            <a:ext cx="3429000" cy="1993392"/>
          </a:xfrm>
          <a:prstGeom prst="roundRect">
            <a:avLst>
              <a:gd name="adj" fmla="val 2752"/>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366760"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F1 · cân bằng P và R</a:t>
            </a:r>
            <a:endParaRPr lang="en-US" sz="1700" dirty="0"/>
          </a:p>
        </p:txBody>
      </p:sp>
      <p:sp>
        <p:nvSpPr>
          <p:cNvPr id="13" name="Text 11"/>
          <p:cNvSpPr/>
          <p:nvPr/>
        </p:nvSpPr>
        <p:spPr>
          <a:xfrm>
            <a:off x="8366760"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Trung bình điều hòa của precision và recall.</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 2PR / (P + R)</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hữu ích khi cần một số tổng hợp nhưng vẫn phải đọc kèm confusion counts.</a:t>
            </a:r>
            <a:endParaRPr lang="en-US" sz="1200" dirty="0"/>
          </a:p>
        </p:txBody>
      </p:sp>
      <p:sp>
        <p:nvSpPr>
          <p:cNvPr id="14" name="Shape 12"/>
          <p:cNvSpPr/>
          <p:nvPr/>
        </p:nvSpPr>
        <p:spPr>
          <a:xfrm>
            <a:off x="621792" y="4041648"/>
            <a:ext cx="5349240" cy="1938528"/>
          </a:xfrm>
          <a:prstGeom prst="roundRect">
            <a:avLst>
              <a:gd name="adj" fmla="val 283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Shape 13"/>
          <p:cNvSpPr/>
          <p:nvPr/>
        </p:nvSpPr>
        <p:spPr>
          <a:xfrm>
            <a:off x="822960" y="4242816"/>
            <a:ext cx="384048" cy="384048"/>
          </a:xfrm>
          <a:prstGeom prst="ellipse">
            <a:avLst/>
          </a:prstGeom>
          <a:solidFill>
            <a:srgbClr val="D38B36"/>
          </a:solidFill>
          <a:ln w="12700">
            <a:solidFill>
              <a:srgbClr val="D38B36"/>
            </a:solidFill>
            <a:prstDash val="solid"/>
          </a:ln>
        </p:spPr>
      </p:sp>
      <p:sp>
        <p:nvSpPr>
          <p:cNvPr id="16" name="Text 14"/>
          <p:cNvSpPr/>
          <p:nvPr/>
        </p:nvSpPr>
        <p:spPr>
          <a:xfrm>
            <a:off x="822960"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K</a:t>
            </a:r>
            <a:endParaRPr lang="en-US" sz="1000" dirty="0"/>
          </a:p>
        </p:txBody>
      </p:sp>
      <p:sp>
        <p:nvSpPr>
          <p:cNvPr id="17" name="Text 15"/>
          <p:cNvSpPr/>
          <p:nvPr/>
        </p:nvSpPr>
        <p:spPr>
          <a:xfrm>
            <a:off x="1335024"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D38B36"/>
                </a:solidFill>
                <a:latin typeface="Calibri" pitchFamily="34" charset="0"/>
                <a:ea typeface="Calibri" pitchFamily="34" charset="-122"/>
                <a:cs typeface="Calibri" pitchFamily="34" charset="-120"/>
              </a:rPr>
              <a:t>Precision@K · mức liên quan trong Top-K</a:t>
            </a:r>
            <a:endParaRPr lang="en-US" sz="1700" dirty="0"/>
          </a:p>
        </p:txBody>
      </p:sp>
      <p:sp>
        <p:nvSpPr>
          <p:cNvPr id="18" name="Text 16"/>
          <p:cNvSpPr/>
          <p:nvPr/>
        </p:nvSpPr>
        <p:spPr>
          <a:xfrm>
            <a:off x="850392"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Tỷ lệ mục liên quan trong K gợi ý đầu tiên. Metric coi các vị trí trong Top-K như nhau, nên chưa phản ánh việc mục tốt nằm ở đầu hay cuối danh sách.</a:t>
            </a:r>
            <a:endParaRPr lang="en-US" sz="1200" dirty="0"/>
          </a:p>
        </p:txBody>
      </p:sp>
      <p:sp>
        <p:nvSpPr>
          <p:cNvPr id="19" name="Shape 17"/>
          <p:cNvSpPr/>
          <p:nvPr/>
        </p:nvSpPr>
        <p:spPr>
          <a:xfrm>
            <a:off x="6217920" y="4041648"/>
            <a:ext cx="5349240" cy="1938528"/>
          </a:xfrm>
          <a:prstGeom prst="roundRect">
            <a:avLst>
              <a:gd name="adj" fmla="val 283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20" name="Shape 18"/>
          <p:cNvSpPr/>
          <p:nvPr/>
        </p:nvSpPr>
        <p:spPr>
          <a:xfrm>
            <a:off x="6419088" y="4242816"/>
            <a:ext cx="384048" cy="384048"/>
          </a:xfrm>
          <a:prstGeom prst="ellipse">
            <a:avLst/>
          </a:prstGeom>
          <a:solidFill>
            <a:srgbClr val="B94D52"/>
          </a:solidFill>
          <a:ln w="12700">
            <a:solidFill>
              <a:srgbClr val="B94D52"/>
            </a:solidFill>
            <a:prstDash val="solid"/>
          </a:ln>
        </p:spPr>
      </p:sp>
      <p:sp>
        <p:nvSpPr>
          <p:cNvPr id="21" name="Text 19"/>
          <p:cNvSpPr/>
          <p:nvPr/>
        </p:nvSpPr>
        <p:spPr>
          <a:xfrm>
            <a:off x="6419088"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2" name="Text 20"/>
          <p:cNvSpPr/>
          <p:nvPr/>
        </p:nvSpPr>
        <p:spPr>
          <a:xfrm>
            <a:off x="6931152"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B94D52"/>
                </a:solidFill>
                <a:latin typeface="Calibri" pitchFamily="34" charset="0"/>
                <a:ea typeface="Calibri" pitchFamily="34" charset="-122"/>
                <a:cs typeface="Calibri" pitchFamily="34" charset="-120"/>
              </a:rPr>
              <a:t>NDCG@K · chất lượng thứ tự xếp hạng</a:t>
            </a:r>
            <a:endParaRPr lang="en-US" sz="1700" dirty="0"/>
          </a:p>
        </p:txBody>
      </p:sp>
      <p:sp>
        <p:nvSpPr>
          <p:cNvPr id="23" name="Text 21"/>
          <p:cNvSpPr/>
          <p:nvPr/>
        </p:nvSpPr>
        <p:spPr>
          <a:xfrm>
            <a:off x="6446520"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Discounted Cumulative Gain giảm trọng số ở vị trí thấp; chuẩn hóa bởi thứ tự lý tưởng. NDCG phù hợp khi relevance có mức độ và vị trí đầu danh sách quan trọng hơn.</a:t>
            </a:r>
            <a:endParaRPr lang="en-US" sz="12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Protocol được cố định</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kết quả đi kèm snapshot, cấu hình, số lần chạy và tiêu chí chấm.</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Ý nghĩa đúng của các con số</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QA 20/20 chứng minh luồng đã định hoạt động trên tập smoke test. Entity precision cao nhờ hệ thống chấp nhận bỏ sót khi mơ hồ. Chỉ số gợi ý đo trên corpus silver, vì vậy chưa thể thay cho đánh giá độc lập của người dùng.</a:t>
            </a:r>
            <a:endParaRPr lang="en-US" sz="122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TỪ LÝ THUYẾT ĐẾN MÔ HÌNH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Competency question dẫn dắt schema và truy vấn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câu hỏi nghiệp vụ phải ánh xạ được thành một graph pattern có thể kiểm chứng.</a:t>
            </a:r>
            <a:endParaRPr lang="en-US" sz="1250" dirty="0"/>
          </a:p>
        </p:txBody>
      </p:sp>
      <p:sp>
        <p:nvSpPr>
          <p:cNvPr id="5" name="Shape 3"/>
          <p:cNvSpPr/>
          <p:nvPr/>
        </p:nvSpPr>
        <p:spPr>
          <a:xfrm>
            <a:off x="621792" y="1783080"/>
            <a:ext cx="3657600" cy="3337560"/>
          </a:xfrm>
          <a:prstGeom prst="roundRect">
            <a:avLst>
              <a:gd name="adj" fmla="val 164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Câu hỏi năng lực</a:t>
            </a:r>
            <a:endParaRPr lang="en-US" sz="18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Phim nào có hai diễn viên cùng tham gia?</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Khái niệm cần có:</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Person · Movie · ACTED_IN</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Ràng buộc:</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hai Person khác nhau cùng nối tới một Movie.</a:t>
            </a:r>
            <a:endParaRPr lang="en-US" sz="15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GRAPH PATTERN TƯƠNG ỨNG</a:t>
            </a:r>
            <a:endParaRPr lang="en-US" sz="1000" dirty="0"/>
          </a:p>
        </p:txBody>
      </p:sp>
      <p:sp>
        <p:nvSpPr>
          <p:cNvPr id="10" name="Text 8"/>
          <p:cNvSpPr/>
          <p:nvPr/>
        </p:nvSpPr>
        <p:spPr>
          <a:xfrm>
            <a:off x="4800600" y="2450592"/>
            <a:ext cx="6355080" cy="2304288"/>
          </a:xfrm>
          <a:prstGeom prst="rect">
            <a:avLst/>
          </a:prstGeom>
          <a:noFill/>
          <a:ln/>
        </p:spPr>
        <p:txBody>
          <a:bodyPr wrap="square" lIns="0" tIns="0" rIns="0" bIns="0" rtlCol="0" anchor="ctr">
            <a:normAutofit/>
          </a:bodyPr>
          <a:lstStyle/>
          <a:p>
            <a:pPr indent="0" marL="0">
              <a:buNone/>
            </a:pPr>
            <a:r>
              <a:rPr lang="en-US" sz="1300" dirty="0">
                <a:solidFill>
                  <a:srgbClr val="D9E8F2"/>
                </a:solidFill>
                <a:latin typeface="Courier New" pitchFamily="34" charset="0"/>
                <a:ea typeface="Courier New" pitchFamily="34" charset="-122"/>
                <a:cs typeface="Courier New" pitchFamily="34" charset="-120"/>
              </a:rPr>
              <a:t>MATCH (a:Person)-[:ACTED_IN]-&gt;(m:Movie)</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&lt;-[:ACTED_IN]-(b:Person)</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WHERE a.person_id = $person1_id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b.person_id = $person2_id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a &lt;&gt; b</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RETURN DISTINCT m.title AS common_movie;</a:t>
            </a:r>
            <a:endParaRPr lang="en-US" sz="1300" dirty="0"/>
          </a:p>
        </p:txBody>
      </p:sp>
      <p:sp>
        <p:nvSpPr>
          <p:cNvPr id="11" name="Shape 9"/>
          <p:cNvSpPr/>
          <p:nvPr/>
        </p:nvSpPr>
        <p:spPr>
          <a:xfrm>
            <a:off x="621792" y="5138928"/>
            <a:ext cx="3364992" cy="950976"/>
          </a:xfrm>
          <a:prstGeom prst="roundRect">
            <a:avLst>
              <a:gd name="adj" fmla="val 5769"/>
            </a:avLst>
          </a:prstGeom>
          <a:solidFill>
            <a:srgbClr val="EAF2F8"/>
          </a:solidFill>
          <a:ln w="12700">
            <a:solidFill>
              <a:srgbClr val="D7DEE8"/>
            </a:solidFill>
            <a:prstDash val="solid"/>
          </a:ln>
        </p:spPr>
      </p:sp>
      <p:sp>
        <p:nvSpPr>
          <p:cNvPr id="12" name="Text 10"/>
          <p:cNvSpPr/>
          <p:nvPr/>
        </p:nvSpPr>
        <p:spPr>
          <a:xfrm>
            <a:off x="850392"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Schema coverage</a:t>
            </a:r>
            <a:endParaRPr lang="en-US" sz="1200" dirty="0"/>
          </a:p>
        </p:txBody>
      </p:sp>
      <p:sp>
        <p:nvSpPr>
          <p:cNvPr id="13" name="Text 11"/>
          <p:cNvSpPr/>
          <p:nvPr/>
        </p:nvSpPr>
        <p:spPr>
          <a:xfrm>
            <a:off x="850392"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Có đủ lớp và quan hệ để biểu diễn?</a:t>
            </a:r>
            <a:endParaRPr lang="en-US" sz="1050" dirty="0"/>
          </a:p>
        </p:txBody>
      </p:sp>
      <p:sp>
        <p:nvSpPr>
          <p:cNvPr id="14" name="Shape 12"/>
          <p:cNvSpPr/>
          <p:nvPr/>
        </p:nvSpPr>
        <p:spPr>
          <a:xfrm>
            <a:off x="4407408" y="5138928"/>
            <a:ext cx="3364992" cy="950976"/>
          </a:xfrm>
          <a:prstGeom prst="roundRect">
            <a:avLst>
              <a:gd name="adj" fmla="val 5769"/>
            </a:avLst>
          </a:prstGeom>
          <a:solidFill>
            <a:srgbClr val="FFF2DF"/>
          </a:solidFill>
          <a:ln w="12700">
            <a:solidFill>
              <a:srgbClr val="D7DEE8"/>
            </a:solidFill>
            <a:prstDash val="solid"/>
          </a:ln>
        </p:spPr>
      </p:sp>
      <p:sp>
        <p:nvSpPr>
          <p:cNvPr id="15" name="Text 13"/>
          <p:cNvSpPr/>
          <p:nvPr/>
        </p:nvSpPr>
        <p:spPr>
          <a:xfrm>
            <a:off x="4636008"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Query answerability</a:t>
            </a:r>
            <a:endParaRPr lang="en-US" sz="1200" dirty="0"/>
          </a:p>
        </p:txBody>
      </p:sp>
      <p:sp>
        <p:nvSpPr>
          <p:cNvPr id="16" name="Text 14"/>
          <p:cNvSpPr/>
          <p:nvPr/>
        </p:nvSpPr>
        <p:spPr>
          <a:xfrm>
            <a:off x="4636008"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Pattern có trả lời được câu hỏi?</a:t>
            </a:r>
            <a:endParaRPr lang="en-US" sz="1050" dirty="0"/>
          </a:p>
        </p:txBody>
      </p:sp>
      <p:sp>
        <p:nvSpPr>
          <p:cNvPr id="17" name="Shape 15"/>
          <p:cNvSpPr/>
          <p:nvPr/>
        </p:nvSpPr>
        <p:spPr>
          <a:xfrm>
            <a:off x="8193024" y="5138928"/>
            <a:ext cx="3364992" cy="950976"/>
          </a:xfrm>
          <a:prstGeom prst="roundRect">
            <a:avLst>
              <a:gd name="adj" fmla="val 5769"/>
            </a:avLst>
          </a:prstGeom>
          <a:solidFill>
            <a:srgbClr val="E8F4EE"/>
          </a:solidFill>
          <a:ln w="12700">
            <a:solidFill>
              <a:srgbClr val="D7DEE8"/>
            </a:solidFill>
            <a:prstDash val="solid"/>
          </a:ln>
        </p:spPr>
      </p:sp>
      <p:sp>
        <p:nvSpPr>
          <p:cNvPr id="18" name="Text 16"/>
          <p:cNvSpPr/>
          <p:nvPr/>
        </p:nvSpPr>
        <p:spPr>
          <a:xfrm>
            <a:off x="8421624"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Evidence</a:t>
            </a:r>
            <a:endParaRPr lang="en-US" sz="1200" dirty="0"/>
          </a:p>
        </p:txBody>
      </p:sp>
      <p:sp>
        <p:nvSpPr>
          <p:cNvPr id="19" name="Text 17"/>
          <p:cNvSpPr/>
          <p:nvPr/>
        </p:nvSpPr>
        <p:spPr>
          <a:xfrm>
            <a:off x="8421624"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Kết quả có lần ngược được đường đi?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1 · Tra cứu diễn viên và kiểm chứng fact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Hai giao diện khác nhau phải trả về cùng sự kiện vì cùng đọc một graph Neo4j.</a:t>
            </a:r>
            <a:endParaRPr lang="en-US" sz="1250" dirty="0"/>
          </a:p>
        </p:txBody>
      </p:sp>
      <p:sp>
        <p:nvSpPr>
          <p:cNvPr id="5" name="Shape 3"/>
          <p:cNvSpPr/>
          <p:nvPr/>
        </p:nvSpPr>
        <p:spPr>
          <a:xfrm>
            <a:off x="621792" y="1783080"/>
            <a:ext cx="3429000" cy="4315968"/>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Bước 1 · Web UI</a:t>
            </a:r>
            <a:endParaRPr lang="en-US" sz="1900" dirty="0"/>
          </a:p>
        </p:txBody>
      </p:sp>
      <p:sp>
        <p:nvSpPr>
          <p:cNvPr id="9" name="Text 7"/>
          <p:cNvSpPr/>
          <p:nvPr/>
        </p:nvSpPr>
        <p:spPr>
          <a:xfrm>
            <a:off x="850392" y="2386584"/>
            <a:ext cx="2971800" cy="3529584"/>
          </a:xfrm>
          <a:prstGeom prst="rect">
            <a:avLst/>
          </a:prstGeom>
          <a:noFill/>
          <a:ln/>
        </p:spPr>
        <p:txBody>
          <a:bodyPr wrap="square" lIns="0" tIns="0" rIns="0" bIns="0" rtlCol="0" anchor="t">
            <a:normAutofit/>
          </a:bodyPr>
          <a:lstStyle/>
          <a:p>
            <a:pPr indent="0" marL="0">
              <a:buNone/>
            </a:pPr>
            <a:r>
              <a:rPr lang="en-US" sz="1320" dirty="0">
                <a:solidFill>
                  <a:srgbClr val="172B3A"/>
                </a:solidFill>
                <a:latin typeface="Calibri" pitchFamily="34" charset="0"/>
                <a:ea typeface="Calibri" pitchFamily="34" charset="-122"/>
                <a:cs typeface="Calibri" pitchFamily="34" charset="-120"/>
              </a:rPr>
              <a:t>Nhập câu hỏi:</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“Diễn viên nào đóng trong phim Inception?”</a:t>
            </a:r>
            <a:endParaRPr lang="en-US" sz="1320" dirty="0"/>
          </a:p>
          <a:p>
            <a:pPr indent="0" marL="0">
              <a:buNone/>
            </a:pP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Quan sát:</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Movie đã được liên kết;</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tên diễn viên;</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nhân vật;</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evidence ACTED_IN.</a:t>
            </a:r>
            <a:endParaRPr lang="en-US" sz="1320" dirty="0"/>
          </a:p>
        </p:txBody>
      </p:sp>
      <p:sp>
        <p:nvSpPr>
          <p:cNvPr id="10" name="Shape 8"/>
          <p:cNvSpPr/>
          <p:nvPr/>
        </p:nvSpPr>
        <p:spPr>
          <a:xfrm>
            <a:off x="4315968" y="1783080"/>
            <a:ext cx="7251192" cy="4315968"/>
          </a:xfrm>
          <a:prstGeom prst="roundRect">
            <a:avLst>
              <a:gd name="adj" fmla="val 847"/>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11" name="Text 9"/>
          <p:cNvSpPr/>
          <p:nvPr/>
        </p:nvSpPr>
        <p:spPr>
          <a:xfrm>
            <a:off x="4590288" y="2011680"/>
            <a:ext cx="6309360" cy="228600"/>
          </a:xfrm>
          <a:prstGeom prst="rect">
            <a:avLst/>
          </a:prstGeom>
          <a:noFill/>
          <a:ln/>
        </p:spPr>
        <p:txBody>
          <a:bodyPr wrap="square" lIns="0" tIns="0" rIns="0" bIns="0" rtlCol="0" anchor="ctr"/>
          <a:lstStyle/>
          <a:p>
            <a:pPr indent="0" marL="0">
              <a:buNone/>
            </a:pPr>
            <a:r>
              <a:rPr lang="en-US" sz="950" b="1" spc="80" kern="0" dirty="0">
                <a:solidFill>
                  <a:srgbClr val="8FD0CC"/>
                </a:solidFill>
                <a:latin typeface="Arial" pitchFamily="34" charset="0"/>
                <a:ea typeface="Arial" pitchFamily="34" charset="-122"/>
                <a:cs typeface="Arial" pitchFamily="34" charset="-120"/>
              </a:rPr>
              <a:t>BƯỚC 2 · COPY VÀ CHẠY TRONG NEO4J BROWSER</a:t>
            </a:r>
            <a:endParaRPr lang="en-US" sz="950" dirty="0"/>
          </a:p>
        </p:txBody>
      </p:sp>
      <p:sp>
        <p:nvSpPr>
          <p:cNvPr id="12" name="Text 10"/>
          <p:cNvSpPr/>
          <p:nvPr/>
        </p:nvSpPr>
        <p:spPr>
          <a:xfrm>
            <a:off x="4590288" y="2487168"/>
            <a:ext cx="6629400" cy="2377440"/>
          </a:xfrm>
          <a:prstGeom prst="rect">
            <a:avLst/>
          </a:prstGeom>
          <a:noFill/>
          <a:ln/>
        </p:spPr>
        <p:txBody>
          <a:bodyPr wrap="square" lIns="0" tIns="0" rIns="0" bIns="0" rtlCol="0" anchor="ctr">
            <a:normAutofit/>
          </a:bodyPr>
          <a:lstStyle/>
          <a:p>
            <a:pPr indent="0" marL="0">
              <a:buNone/>
            </a:pPr>
            <a:r>
              <a:rPr lang="en-US" sz="1400" dirty="0">
                <a:solidFill>
                  <a:srgbClr val="D9E8F2"/>
                </a:solidFill>
                <a:latin typeface="Courier New" pitchFamily="34" charset="0"/>
                <a:ea typeface="Courier New" pitchFamily="34" charset="-122"/>
                <a:cs typeface="Courier New" pitchFamily="34" charset="-120"/>
              </a:rPr>
              <a:t>MATCH (p:Person)-[r:ACTED_IN]-&gt;(m:Movie)</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WHERE toLower(m.title) = toLower('Inception')</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RETURN p.name AS actor,</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       r.character AS character</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ORDER BY r.cast_order</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LIMIT 50;</a:t>
            </a:r>
            <a:endParaRPr lang="en-US" sz="1400" dirty="0"/>
          </a:p>
        </p:txBody>
      </p:sp>
      <p:sp>
        <p:nvSpPr>
          <p:cNvPr id="13" name="Text 11"/>
          <p:cNvSpPr/>
          <p:nvPr/>
        </p:nvSpPr>
        <p:spPr>
          <a:xfrm>
            <a:off x="4590288" y="5193792"/>
            <a:ext cx="6400800" cy="411480"/>
          </a:xfrm>
          <a:prstGeom prst="rect">
            <a:avLst/>
          </a:prstGeom>
          <a:noFill/>
          <a:ln/>
        </p:spPr>
        <p:txBody>
          <a:bodyPr wrap="square" lIns="0" tIns="0" rIns="0" bIns="0" rtlCol="0" anchor="ctr">
            <a:normAutofit/>
          </a:bodyPr>
          <a:lstStyle/>
          <a:p>
            <a:pPr indent="0" marL="0">
              <a:buNone/>
            </a:pPr>
            <a:r>
              <a:rPr lang="en-US" sz="1300" b="1" dirty="0">
                <a:solidFill>
                  <a:srgbClr val="8FD0CC"/>
                </a:solidFill>
                <a:latin typeface="Calibri" pitchFamily="34" charset="0"/>
                <a:ea typeface="Calibri" pitchFamily="34" charset="-122"/>
                <a:cs typeface="Calibri" pitchFamily="34" charset="-120"/>
              </a:rPr>
              <a:t>Đối chiếu `actor` và `character` với kết quả trên Web UI.</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2 · Truy vấn nhiều bước và kiểm chứng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Kết quả phim chung được chứng minh bằng shared-neighbor pattern Person → Movie ← Person.</a:t>
            </a:r>
            <a:endParaRPr lang="en-US" sz="1250" dirty="0"/>
          </a:p>
        </p:txBody>
      </p:sp>
      <p:sp>
        <p:nvSpPr>
          <p:cNvPr id="5" name="Shape 3"/>
          <p:cNvSpPr/>
          <p:nvPr/>
        </p:nvSpPr>
        <p:spPr>
          <a:xfrm>
            <a:off x="621792" y="1783080"/>
            <a:ext cx="3429000" cy="4315968"/>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D8B66"/>
          </a:solidFill>
          <a:ln w="12700">
            <a:solidFill>
              <a:srgbClr val="3D8B66"/>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Bước 3 · Web UI</a:t>
            </a:r>
            <a:endParaRPr lang="en-US" sz="1900" dirty="0"/>
          </a:p>
        </p:txBody>
      </p:sp>
      <p:sp>
        <p:nvSpPr>
          <p:cNvPr id="9" name="Text 7"/>
          <p:cNvSpPr/>
          <p:nvPr/>
        </p:nvSpPr>
        <p:spPr>
          <a:xfrm>
            <a:off x="850392" y="2386584"/>
            <a:ext cx="2971800" cy="352958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Nhập câu hỏi:</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“Phim chung của Christian Bale và Tom Hardy?”</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Quan sát:</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hai Person đã được link;</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intent common_movies;</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The Dark Knight Rises;</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Movie chung làm evidence.</a:t>
            </a:r>
            <a:endParaRPr lang="en-US" sz="1300" dirty="0"/>
          </a:p>
        </p:txBody>
      </p:sp>
      <p:sp>
        <p:nvSpPr>
          <p:cNvPr id="10" name="Shape 8"/>
          <p:cNvSpPr/>
          <p:nvPr/>
        </p:nvSpPr>
        <p:spPr>
          <a:xfrm>
            <a:off x="4315968" y="1783080"/>
            <a:ext cx="7251192" cy="4315968"/>
          </a:xfrm>
          <a:prstGeom prst="roundRect">
            <a:avLst>
              <a:gd name="adj" fmla="val 847"/>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11" name="Text 9"/>
          <p:cNvSpPr/>
          <p:nvPr/>
        </p:nvSpPr>
        <p:spPr>
          <a:xfrm>
            <a:off x="4590288" y="2011680"/>
            <a:ext cx="6309360" cy="228600"/>
          </a:xfrm>
          <a:prstGeom prst="rect">
            <a:avLst/>
          </a:prstGeom>
          <a:noFill/>
          <a:ln/>
        </p:spPr>
        <p:txBody>
          <a:bodyPr wrap="square" lIns="0" tIns="0" rIns="0" bIns="0" rtlCol="0" anchor="ctr"/>
          <a:lstStyle/>
          <a:p>
            <a:pPr indent="0" marL="0">
              <a:buNone/>
            </a:pPr>
            <a:r>
              <a:rPr lang="en-US" sz="950" b="1" spc="80" kern="0" dirty="0">
                <a:solidFill>
                  <a:srgbClr val="8FD0CC"/>
                </a:solidFill>
                <a:latin typeface="Arial" pitchFamily="34" charset="0"/>
                <a:ea typeface="Arial" pitchFamily="34" charset="-122"/>
                <a:cs typeface="Arial" pitchFamily="34" charset="-120"/>
              </a:rPr>
              <a:t>BƯỚC 4 · COPY VÀ CHẠY TRONG NEO4J BROWSER</a:t>
            </a:r>
            <a:endParaRPr lang="en-US" sz="950" dirty="0"/>
          </a:p>
        </p:txBody>
      </p:sp>
      <p:sp>
        <p:nvSpPr>
          <p:cNvPr id="12" name="Text 10"/>
          <p:cNvSpPr/>
          <p:nvPr/>
        </p:nvSpPr>
        <p:spPr>
          <a:xfrm>
            <a:off x="4590288" y="2487168"/>
            <a:ext cx="6629400" cy="2514600"/>
          </a:xfrm>
          <a:prstGeom prst="rect">
            <a:avLst/>
          </a:prstGeom>
          <a:noFill/>
          <a:ln/>
        </p:spPr>
        <p:txBody>
          <a:bodyPr wrap="square" lIns="0" tIns="0" rIns="0" bIns="0" rtlCol="0" anchor="ctr">
            <a:normAutofit/>
          </a:bodyPr>
          <a:lstStyle/>
          <a:p>
            <a:pPr indent="0" marL="0">
              <a:buNone/>
            </a:pPr>
            <a:r>
              <a:rPr lang="en-US" sz="1250" dirty="0">
                <a:solidFill>
                  <a:srgbClr val="D9E8F2"/>
                </a:solidFill>
                <a:latin typeface="Courier New" pitchFamily="34" charset="0"/>
                <a:ea typeface="Courier New" pitchFamily="34" charset="-122"/>
                <a:cs typeface="Courier New" pitchFamily="34" charset="-120"/>
              </a:rPr>
              <a:t>MATCH (a:Person)-[:ACTED_IN]-&gt;(m:Movie)</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&lt;-[:ACTED_IN]-(b:Person)</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WHERE toLower(a.name) = toLower('Christian Bale')</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AND toLower(b.name) = toLower('Tom Hardy')</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RETURN DISTINCT m.title AS common_movie;</a:t>
            </a:r>
            <a:endParaRPr lang="en-US" sz="1250" dirty="0"/>
          </a:p>
        </p:txBody>
      </p:sp>
      <p:sp>
        <p:nvSpPr>
          <p:cNvPr id="13" name="Text 11"/>
          <p:cNvSpPr/>
          <p:nvPr/>
        </p:nvSpPr>
        <p:spPr>
          <a:xfrm>
            <a:off x="4590288" y="5193792"/>
            <a:ext cx="6400800" cy="438912"/>
          </a:xfrm>
          <a:prstGeom prst="rect">
            <a:avLst/>
          </a:prstGeom>
          <a:noFill/>
          <a:ln/>
        </p:spPr>
        <p:txBody>
          <a:bodyPr wrap="square" lIns="0" tIns="0" rIns="0" bIns="0" rtlCol="0" anchor="ctr">
            <a:normAutofit/>
          </a:bodyPr>
          <a:lstStyle/>
          <a:p>
            <a:pPr indent="0" marL="0">
              <a:buNone/>
            </a:pPr>
            <a:r>
              <a:rPr lang="en-US" sz="1250" b="1" dirty="0">
                <a:solidFill>
                  <a:srgbClr val="8FD0CC"/>
                </a:solidFill>
                <a:latin typeface="Calibri" pitchFamily="34" charset="0"/>
                <a:ea typeface="Calibri" pitchFamily="34" charset="-122"/>
                <a:cs typeface="Calibri" pitchFamily="34" charset="-120"/>
              </a:rPr>
              <a:t>Kết quả cần có: The Dark Knight Rises. Trả `a, m, b` nếu muốn xem dạng graph.</a:t>
            </a:r>
            <a:endParaRPr lang="en-US" sz="12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3 · Gợi ý phim và kiểm chứng lời giải thích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Điểm xếp hạng và lời giải thích phải dựa trên cùng các đặc trưng chung trong graph.</a:t>
            </a:r>
            <a:endParaRPr lang="en-US" sz="1250" dirty="0"/>
          </a:p>
        </p:txBody>
      </p:sp>
      <p:sp>
        <p:nvSpPr>
          <p:cNvPr id="5" name="Shape 3"/>
          <p:cNvSpPr/>
          <p:nvPr/>
        </p:nvSpPr>
        <p:spPr>
          <a:xfrm>
            <a:off x="502920" y="1700784"/>
            <a:ext cx="2926080" cy="4480560"/>
          </a:xfrm>
          <a:prstGeom prst="roundRect">
            <a:avLst>
              <a:gd name="adj" fmla="val 187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704088" y="1901952"/>
            <a:ext cx="384048" cy="384048"/>
          </a:xfrm>
          <a:prstGeom prst="ellipse">
            <a:avLst/>
          </a:prstGeom>
          <a:solidFill>
            <a:srgbClr val="337B80"/>
          </a:solidFill>
          <a:ln w="12700">
            <a:solidFill>
              <a:srgbClr val="337B80"/>
            </a:solidFill>
            <a:prstDash val="solid"/>
          </a:ln>
        </p:spPr>
      </p:sp>
      <p:sp>
        <p:nvSpPr>
          <p:cNvPr id="7" name="Text 5"/>
          <p:cNvSpPr/>
          <p:nvPr/>
        </p:nvSpPr>
        <p:spPr>
          <a:xfrm>
            <a:off x="704088" y="195681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8" name="Text 6"/>
          <p:cNvSpPr/>
          <p:nvPr/>
        </p:nvSpPr>
        <p:spPr>
          <a:xfrm>
            <a:off x="1216152" y="1883664"/>
            <a:ext cx="201168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Bước 5 · Web UI</a:t>
            </a:r>
            <a:endParaRPr lang="en-US" sz="1800" dirty="0"/>
          </a:p>
        </p:txBody>
      </p:sp>
      <p:sp>
        <p:nvSpPr>
          <p:cNvPr id="9" name="Text 7"/>
          <p:cNvSpPr/>
          <p:nvPr/>
        </p:nvSpPr>
        <p:spPr>
          <a:xfrm>
            <a:off x="731520" y="2304288"/>
            <a:ext cx="2468880" cy="369417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Chọn Inception → Top-5.</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Ghi lại đúng tên phim đứng đầu và mở explanation.</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Quan sát:</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tổng điểm;</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shared features;</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contribution.</a:t>
            </a:r>
            <a:endParaRPr lang="en-US" sz="1250" dirty="0"/>
          </a:p>
        </p:txBody>
      </p:sp>
      <p:sp>
        <p:nvSpPr>
          <p:cNvPr id="10" name="Shape 8"/>
          <p:cNvSpPr/>
          <p:nvPr/>
        </p:nvSpPr>
        <p:spPr>
          <a:xfrm>
            <a:off x="3657600" y="1700784"/>
            <a:ext cx="8028432" cy="4480560"/>
          </a:xfrm>
          <a:prstGeom prst="roundRect">
            <a:avLst>
              <a:gd name="adj" fmla="val 816"/>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11" name="Text 9"/>
          <p:cNvSpPr/>
          <p:nvPr/>
        </p:nvSpPr>
        <p:spPr>
          <a:xfrm>
            <a:off x="3886200" y="1901952"/>
            <a:ext cx="7269480" cy="219456"/>
          </a:xfrm>
          <a:prstGeom prst="rect">
            <a:avLst/>
          </a:prstGeom>
          <a:noFill/>
          <a:ln/>
        </p:spPr>
        <p:txBody>
          <a:bodyPr wrap="square" lIns="0" tIns="0" rIns="0" bIns="0" rtlCol="0" anchor="ctr"/>
          <a:lstStyle/>
          <a:p>
            <a:pPr indent="0" marL="0">
              <a:buNone/>
            </a:pPr>
            <a:r>
              <a:rPr lang="en-US" sz="880" b="1" spc="50" kern="0" dirty="0">
                <a:solidFill>
                  <a:srgbClr val="8FD0CC"/>
                </a:solidFill>
                <a:latin typeface="Arial" pitchFamily="34" charset="0"/>
                <a:ea typeface="Arial" pitchFamily="34" charset="-122"/>
                <a:cs typeface="Arial" pitchFamily="34" charset="-120"/>
              </a:rPr>
              <a:t>BƯỚC 6 · THAY TÊN TOP-1, COPY VÀ CHẠY TRONG NEO4J BROWSER</a:t>
            </a:r>
            <a:endParaRPr lang="en-US" sz="880" dirty="0"/>
          </a:p>
        </p:txBody>
      </p:sp>
      <p:sp>
        <p:nvSpPr>
          <p:cNvPr id="12" name="Text 10"/>
          <p:cNvSpPr/>
          <p:nvPr/>
        </p:nvSpPr>
        <p:spPr>
          <a:xfrm>
            <a:off x="3886200" y="2240280"/>
            <a:ext cx="7424928" cy="3493008"/>
          </a:xfrm>
          <a:prstGeom prst="rect">
            <a:avLst/>
          </a:prstGeom>
          <a:noFill/>
          <a:ln/>
        </p:spPr>
        <p:txBody>
          <a:bodyPr wrap="square" lIns="0" tIns="0" rIns="0" bIns="0" rtlCol="0" anchor="ctr">
            <a:normAutofit/>
          </a:bodyPr>
          <a:lstStyle/>
          <a:p>
            <a:pPr indent="0" marL="0">
              <a:buNone/>
            </a:pPr>
            <a:r>
              <a:rPr lang="en-US" sz="880" dirty="0">
                <a:solidFill>
                  <a:srgbClr val="D9E8F2"/>
                </a:solidFill>
                <a:latin typeface="Courier New" pitchFamily="34" charset="0"/>
                <a:ea typeface="Courier New" pitchFamily="34" charset="-122"/>
                <a:cs typeface="Courier New" pitchFamily="34" charset="-120"/>
              </a:rPr>
              <a:t>:param candidate_title =&gt; 'Interstellar';</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MATCH (source:Movie {tmdb_id: 27205})</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MATCH (candidate:Movie {title: $candidate_title})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CALL (source, candidate) {</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(source)&lt;-[:DIRECTED]-(f:Person)-[:DIRECTED]-&gt;(candidate)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'director'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(source)&lt;-[:ACTED_IN]-(f:Person)-[:ACTED_IN]-&gt;(candidate)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'actor'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(source)-[:HAS_GENRE]-&gt;(f:Genre)&lt;-[:HAS_GENRE]-(candidate)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'genre'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(source)-[:HAS_KEYWORD]-&gt;(f:Keyword)&lt;-[:HAS_KEYWORD]-(candidate)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'keyword'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(source)-[:PRODUCED_BY]-&gt;(f:Studio)&lt;-[:PRODUCED_BY]-(candidate)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'studio' AS kind, f.name AS feature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RETURN candidate.title AS recommended_movie,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kind, collect(DISTINCT feature) AS shared_features;</a:t>
            </a:r>
            <a:endParaRPr lang="en-US" sz="880" dirty="0"/>
          </a:p>
        </p:txBody>
      </p:sp>
      <p:sp>
        <p:nvSpPr>
          <p:cNvPr id="13" name="Text 11"/>
          <p:cNvSpPr/>
          <p:nvPr/>
        </p:nvSpPr>
        <p:spPr>
          <a:xfrm>
            <a:off x="3886200" y="5806440"/>
            <a:ext cx="7132320" cy="201168"/>
          </a:xfrm>
          <a:prstGeom prst="rect">
            <a:avLst/>
          </a:prstGeom>
          <a:noFill/>
          <a:ln/>
        </p:spPr>
        <p:txBody>
          <a:bodyPr wrap="square" lIns="0" tIns="0" rIns="0" bIns="0" rtlCol="0" anchor="ctr">
            <a:normAutofit/>
          </a:bodyPr>
          <a:lstStyle/>
          <a:p>
            <a:pPr indent="0" marL="0">
              <a:buNone/>
            </a:pPr>
            <a:r>
              <a:rPr lang="en-US" sz="1050" b="1" dirty="0">
                <a:solidFill>
                  <a:srgbClr val="8FD0CC"/>
                </a:solidFill>
                <a:latin typeface="Calibri" pitchFamily="34" charset="0"/>
                <a:ea typeface="Calibri" pitchFamily="34" charset="-122"/>
                <a:cs typeface="Calibri" pitchFamily="34" charset="-120"/>
              </a:rPr>
              <a:t>Đổi `Interstellar` thành đúng tên Top-1 nếu kết quả hiện tại khác.</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nhất quán</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và IMDb được nối bằng ID ổn định, giữ nguồn gốc và có thể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Khai thác quan hệ</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duyệt nhiều bước và tạo sự kiện suy ra kèm căn cứ.</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Kiểm chứng kết quả</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Hỏi–đáp và gợi ý trả cả thực thể, đường đi và đặc trưng đóng góp.</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Nền tảng lý thuyết và nghiên cứu tình huống phim</dc:title>
  <dc:subject>Cơ sở lý thuyết Knowledge Graph và nghiên cứu tình huống phim</dc:subject>
  <dc:creator>Hoàng Kim Khánh</dc:creator>
  <cp:lastModifiedBy>Hoàng Kim Khánh</cp:lastModifiedBy>
  <cp:revision>1</cp:revision>
  <dcterms:created xsi:type="dcterms:W3CDTF">2026-07-25T10:40:29Z</dcterms:created>
  <dcterms:modified xsi:type="dcterms:W3CDTF">2026-07-25T10:40:29Z</dcterms:modified>
</cp:coreProperties>
</file>