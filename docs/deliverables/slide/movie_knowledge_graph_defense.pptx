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Giá trị</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QA</c:v>
                  </c:pt>
                  <c:pt idx="1">
                    <c:v>ER F1</c:v>
                  </c:pt>
                  <c:pt idx="2">
                    <c:v>Co-star</c:v>
                  </c:pt>
                  <c:pt idx="3">
                    <c:v>P@10</c:v>
                  </c:pt>
                  <c:pt idx="4">
                    <c:v>NDCG@10</c:v>
                  </c:pt>
                </c:lvl>
              </c:multiLvlStrCache>
            </c:multiLvlStrRef>
          </c:cat>
          <c:val>
            <c:numRef>
              <c:f>Sheet1!$B$2:$B$6</c:f>
              <c:numCache>
                <c:formatCode>General</c:formatCode>
                <c:ptCount val="5"/>
                <c:pt idx="0">
                  <c:v>1</c:v>
                </c:pt>
                <c:pt idx="1">
                  <c:v>0.966</c:v>
                </c:pt>
                <c:pt idx="2">
                  <c:v>1</c:v>
                </c:pt>
                <c:pt idx="3">
                  <c:v>0.635</c:v>
                </c:pt>
                <c:pt idx="4">
                  <c:v>0.672</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w="12700" cap="flat">
          <a:solidFill>
            <a:srgbClr val="D7DEE8"/>
          </a:solid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Median latency · common_movies (ms)</a:t>
            </a:r>
          </a:p>
        </c:rich>
      </c:tx>
      <c:layout/>
      <c:overlay val="0"/>
    </c:title>
    <c:autoTitleDeleted val="0"/>
    <c:plotArea>
      <c:layout/>
      <c:lineChart>
        <c:varyColors val="0"/>
        <c:ser>
          <c:idx val="0"/>
          <c:order val="0"/>
          <c:tx>
            <c:strRef>
              <c:f>Sheet1!$B$1</c:f>
              <c:strCache>
                <c:ptCount val="1"/>
                <c:pt idx="0">
                  <c:v>Neo4j · common_movies</c:v>
                </c:pt>
              </c:strCache>
            </c:strRef>
          </c:tx>
          <c:spPr>
            <a:solidFill>
              <a:srgbClr val="337B80"/>
            </a:solidFill>
            <a:ln w="25400" cap="flat">
              <a:solidFill>
                <a:srgbClr val="337B8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37B80"/>
              </a:solidFill>
              <a:ln w="9525" cap="flat">
                <a:solidFill>
                  <a:srgbClr val="337B80"/>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Sheet1!$B$2:$B$5</c:f>
              <c:numCache>
                <c:formatCode>General</c:formatCode>
                <c:ptCount val="4"/>
                <c:pt idx="0">
                  <c:v>15.16</c:v>
                </c:pt>
                <c:pt idx="1">
                  <c:v>16.9</c:v>
                </c:pt>
                <c:pt idx="2">
                  <c:v>25.67</c:v>
                </c:pt>
                <c:pt idx="3">
                  <c:v>44.31</c:v>
                </c:pt>
              </c:numCache>
            </c:numRef>
          </c:val>
          <c:smooth val="0"/>
        </c:ser>
        <c:ser>
          <c:idx val="1"/>
          <c:order val="1"/>
          <c:tx>
            <c:strRef>
              <c:f>Sheet1!$C$1</c:f>
              <c:strCache>
                <c:ptCount val="1"/>
                <c:pt idx="0">
                  <c:v>SQLite · common_movies</c:v>
                </c:pt>
              </c:strCache>
            </c:strRef>
          </c:tx>
          <c:spPr>
            <a:solidFill>
              <a:srgbClr val="D38B36"/>
            </a:solidFill>
            <a:ln w="25400" cap="flat">
              <a:solidFill>
                <a:srgbClr val="D38B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8B36"/>
              </a:solidFill>
              <a:ln w="9525" cap="flat">
                <a:solidFill>
                  <a:srgbClr val="D38B36"/>
                </a:solidFill>
                <a:prstDash val="solid"/>
                <a:round/>
              </a:ln>
              <a:effectLst/>
            </c:spPr>
          </c:marker>
          <c:cat>
            <c:multiLvlStrRef>
              <c:f>Sheet1!$A$2:$A$5</c:f>
              <c:multiLvlStrCache>
                <c:ptCount val="4"/>
                <c:lvl>
                  <c:pt idx="0">
                    <c:v>500</c:v>
                  </c:pt>
                  <c:pt idx="1">
                    <c:v>1.000</c:v>
                  </c:pt>
                  <c:pt idx="2">
                    <c:v>2.000</c:v>
                  </c:pt>
                  <c:pt idx="3">
                    <c:v>4.999</c:v>
                  </c:pt>
                </c:lvl>
              </c:multiLvlStrCache>
            </c:multiLvlStrRef>
          </c:cat>
          <c:val>
            <c:numRef>
              <c:f>Sheet1!$C$2:$C$5</c:f>
              <c:numCache>
                <c:formatCode>General</c:formatCode>
                <c:ptCount val="4"/>
                <c:pt idx="0">
                  <c:v>2.77</c:v>
                </c:pt>
                <c:pt idx="1">
                  <c:v>7.31</c:v>
                </c:pt>
                <c:pt idx="2">
                  <c:v>14.19</c:v>
                </c:pt>
                <c:pt idx="3">
                  <c:v>40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2B46"/>
                </a:solidFill>
                <a:latin typeface="Calibri"/>
              </a:defRPr>
            </a:pPr>
            <a:r>
              <a:rPr sz="1400" b="0" i="0" u="none" strike="noStrike">
                <a:solidFill>
                  <a:srgbClr val="112B46"/>
                </a:solidFill>
                <a:latin typeface="Calibri"/>
              </a:rPr>
              <a:t>Lịch sử thiết kế ranker · 20 case</a:t>
            </a:r>
          </a:p>
        </c:rich>
      </c:tx>
      <c:layout/>
      <c:overlay val="0"/>
    </c:title>
    <c:autoTitleDeleted val="0"/>
    <c:plotArea>
      <c:layout/>
      <c:barChart>
        <c:barDir val="col"/>
        <c:grouping val="clustered"/>
        <c:varyColors val="0"/>
        <c:ser>
          <c:idx val="0"/>
          <c:order val="0"/>
          <c:tx>
            <c:strRef>
              <c:f>Sheet1!$B$1</c:f>
              <c:strCache>
                <c:ptCount val="1"/>
                <c:pt idx="0">
                  <c:v>P@10</c:v>
                </c:pt>
              </c:strCache>
            </c:strRef>
          </c:tx>
          <c:spPr>
            <a:solidFill>
              <a:srgbClr val="337B8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Sheet1!$B$2:$B$5</c:f>
              <c:numCache>
                <c:formatCode>General</c:formatCode>
                <c:ptCount val="4"/>
                <c:pt idx="0">
                  <c:v>0.67</c:v>
                </c:pt>
                <c:pt idx="1">
                  <c:v>0.64</c:v>
                </c:pt>
                <c:pt idx="2">
                  <c:v>0.59</c:v>
                </c:pt>
                <c:pt idx="3">
                  <c:v>0.635</c:v>
                </c:pt>
              </c:numCache>
            </c:numRef>
          </c:val>
        </c:ser>
        <c:ser>
          <c:idx val="1"/>
          <c:order val="1"/>
          <c:tx>
            <c:strRef>
              <c:f>Sheet1!$C$1</c:f>
              <c:strCache>
                <c:ptCount val="1"/>
                <c:pt idx="0">
                  <c:v>NDCG@10</c:v>
                </c:pt>
              </c:strCache>
            </c:strRef>
          </c:tx>
          <c:spPr>
            <a:solidFill>
              <a:srgbClr val="725B9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Overlap</c:v>
                  </c:pt>
                  <c:pt idx="1">
                    <c:v>Weighted Jaccard</c:v>
                  </c:pt>
                  <c:pt idx="2">
                    <c:v>Hybrid</c:v>
                  </c:pt>
                  <c:pt idx="3">
                    <c:v>IDF production</c:v>
                  </c:pt>
                </c:lvl>
              </c:multiLvlStrCache>
            </c:multiLvlStrRef>
          </c:cat>
          <c:val>
            <c:numRef>
              <c:f>Sheet1!$C$2:$C$5</c:f>
              <c:numCache>
                <c:formatCode>General</c:formatCode>
                <c:ptCount val="4"/>
                <c:pt idx="0">
                  <c:v>0.723</c:v>
                </c:pt>
                <c:pt idx="1">
                  <c:v>0.699</c:v>
                </c:pt>
                <c:pt idx="2">
                  <c:v>0.657</c:v>
                </c:pt>
                <c:pt idx="3">
                  <c:v>0.672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12700" cap="flat">
              <a:solidFill>
                <a:srgbClr val="D7DE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0.2"/>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bài trình bày tập trung vào nền tảng Knowledge Graph theo mô hình Property Graph: thực thể, quan hệ, schema, identity, truy vấn và suy diễn. Movie Knowledge Graph chỉ đóng vai trò nghiên cứu tình huống để kiểm chứng các nguyên lý. Chi tiết triển khai ứng dụng được trình bày trong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phân biệt bốn mức. Dữ liệu là các ký hiệu rời rạc. Thông tin thêm ngữ cảnh. Tri thức nối các thực thể bằng một quan hệ có nghĩa. Khi có schema và quy tắc, hệ thống còn có thể suy ra sự kiện mới. Knowledge Graph chủ yếu hoạt động ở hai tầng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có một định nghĩa duy nhất được mọi tài liệu dùng giống hệt nhau. Trong phạm vi này, Knowledge Graph là mô hình đồ thị của các thực thể có định danh, các quan hệ có ngữ nghĩa và schema đủ để máy diễn giải. Mệnh đề cơ bản có thể đọc theo subject–predicate–object.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mô tả label, loại quan hệ, thuộc tính và constraint chung. Instance chứa các node, edge và fact cụ thể, ví dụ Nolan DIRECTED Inception. Knowledge Graph kết hợp mô hình và dữ liệu thực tế để truy vấn.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chỉ minh họa cấu trúc chung của Property Graph: node có label và property, relationship có loại, hướng và cũng có property. Ví dụ ACTED_IN cho thấy character và cast_order mô tả chính lần một Person tham gia một Movie, nên chúng thuộc cạnh. Schema Movie Knowledge Graph đầy đủ sẽ được trình bày riêng ở slide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khái niệm cấu trúc này đứng sau các năng lực chính của graph. Neighborhood hỗ trợ similarity và common neighbor; path hỗ trợ multi-hop và shortest path; subgraph gom đúng phần ngữ cảnh cần để giải thích hoặc đánh giá. Đây là khác biệt quan trọng so với cách chỉ nhìn từng bản ghi riêng lẻ.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này là tiêu chí xuyên suốt của project. Identity tránh nhập nhằng; schema tạo ngữ nghĩa chung; provenance cho phép kiểm chứng; competency questions bảo đảm mô hình phục vụ mục tiêu. Đây cũng là lý do Knowledge Graph không nên được định nghĩa đơn giản là một mạng node và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khái niệm cần được nối với cơ chế bảo đảm vận hành. Uniqueness constraint bảo vệ identity; pipeline validation kiểm tra các quy tắc phức tạp hơn; index và full-text index hỗ trợ tìm điểm bắt đầu. Index chỉ tối ưu lookup, còn traversal vẫn dựa trên cấu trúc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Cypher phục vụ cả truy vấn và materialization. Query catalog dùng pattern có parameter. Luật CO_STARRED_WITH được chạy sau import và lưu evidence.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Hop đo số bước, degree mô tả mức kết nối, common neighbor là nền tảng của phim chung và similarity, shortest path tìm liên hệ ngắn nhất. Cần lưu ý đường ngắn nhất về số cạnh chưa chắc là quan hệ có ý nghĩa nhất, vì vậy evidence phải giữ cả loại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Neo4j là kho graph duy nhất vì thuận tiện cho traversal, relationship có property và ứng dụng. SQLite chỉ là mốc so sánh được kiểm soát. Em không kết luận đồ thị luôn nhanh hơn quan hệ; giá trị chính là mô hình và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chính đi từ TMDB và IMDb qua cache bất biến, xử lý và chuẩn hóa sang Neo4j. FastAPI cung cấp QA và recommendation. Manifest, checksum và các phép kiểm tra bao quanh toàn bộ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giữ quy mô lưu trữ hợp lý, hệ thống chỉ tải tệp title.ratings.tsv.gz và đọc streaming. Phép nối là exact ID giữa imdb_id của TMDB và tconst của IMDb. Trong 4.558 phim có IMDb ID, 4.351 phim ghép được rating; hai thang rating được giữ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có năm loại nút và năm quan hệ gốc. Person chỉ dùng một label vì cùng một người có thể có nhiều vai trò. Stable source ID là khóa; ACTED_IN giữ metadata trên cạnh. Constraint và index được tạo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 trình gồm collect, cache, clean, exact-ID enrich, normalize, load, reason và validate. Raw cache là bất biến; manifest ghi checksum và số lượng. Import dùng batch và MERGE nên có thể chạy lặp. Runtime chỉ import lại khi checksum processed hoặc số Movie thay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Ảnh chụp cuối có 76.612 nút và 846.309 quan hệ. Không có orphan Movie, stable ID trùng, thuộc tính bắt buộc bị thiếu hay cạnh sai kiểu. Một Movie không có quan hệ đã bị loại ở bước kiểm tra trước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Phép nối TMDB–IMDb dùng exact imdb_id với confidence 1.0. Entity linker ưu tiên exact và full-text candidate trước fuzzy reranking. Trên 100 cặp silver, precision 1.0, recall 0.933 và F1 0.966. Năm lỗi là abstention bảo thủ, không có false positive.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resolution diễn ra trong pipeline tích hợp và ảnh hưởng cấu trúc graph lâu dài. Entity linking diễn ra ở request time để nối câu hỏi vào node canonical. Hai bước dùng kỹ thuật giống nhau nhưng khác đầu vào, thời điểm và hậu quả. Project ưu tiên stable ID ở cả hai ranh giới.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danh mục truy vấn tham số hóa gồm lookup, aggregation, multi-hop, shortest path và similarity. Ví dụ này đi từ director qua movie sang genre. Giá trị genre và limit là tham số; người dùng không thể thay đổi cấu trúc Cypher.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hai cạnh ACTED_IN cùng đi vào một Movie, hệ thống vật chất hóa CO_STARRED_WITH. Cạnh suy ra lưu số phim chung và danh sách Movie hỗ trợ, nên có thể lần ngược. Đây là cơ chế suy diễn duy nhất của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chỉ nguồn gốc, lineage chỉ chuỗi biến đổi, evidence chỉ các fact hỗ trợ một kết quả cụ thể. Project dùng cả ba: source và checksum cho provenance, pipeline manifest cho lineage, graph row/path và shared feature cho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Chatbot không thay Neo4j và không sinh Cypher tự do. Parser chỉ nhận diện một trong chín ý định và trích slot. Entity linker chuẩn hóa thực thể; catalog chọn mẫu Cypher cố định; Neo4j thực hiện traversal. Response trả cả intent, confidence, evidence và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Ranker dùng IDF-weighted graph similarity. Đặc trưng chung hiếm đóng góp nhiều hơn đặc trưng phổ biến. Trọng số ưu tiên director và actor. Điểm và explanation đều được tính từ traversal trong Neo4j, không tải toàn graph về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Precision, recall và F1 dùng cho entity resolution; precision dùng cho fact suy ra; Precision@K và NDCG@K dùng cho recommendation. NDCG quan tâm thứ tự, còn Precision@K chỉ quan tâm có bao nhiêu mục liên quan trong Top-K. Mọi metric chỉ có ý nghĩa cùng protocol và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tuyên bố có một tập đánh giá riêng. Entity resolution và recommendation dùng silver corpus có provenance. QA là smoke test 20 câu. Benchmark chạy cùng snapshot, máy, warm-up và 100 iterations. Vì vậy em không suy rộng kết quả thành độ chính xác sản xuất hoặc scalability tổng quát.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 smoke đạt 20/20; entity resolution F1 0.966; co-star precision 1.0; recommendation đạt P@10 0.635 và NDCG@10 0.672. Các metric silver phản ánh protocol đã công bố, chưa thay thế đánh giá người dùng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SQLite nhanh hơn trên tất cả query và quy mô đã đo. Điều đó cho thấy không nên bán đồ thị bằng tốc độ tuyệt đối; lợi ích là biểu diễn và bằng chứng traversal. Với recommendation, các phương pháp cũ chỉ là lịch sử thiết kế; runtime hiện dùng IDF-weighted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Competency question không chỉ dùng để demo. Nó là công cụ thiết kế schema: xác định loại thực thể, quan hệ và thuộc tính tối thiểu; sau đó kiểm tra bằng một graph pattern. Ví dụ phim chung ánh xạ trực tiếp thành shared-neighbor Person–Movie–Person.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chỉ minh họa ba bước lý thuyết: xác định intent và thực thể, chọn graph pattern có tham số, rồi đối chiếu đường đi bằng chứng. Em không đi sâu giao diện hay cấu trúc API trên slide; các chi tiết đó nằm trong chương triển khai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Hạn chế chính là QA chỉ có chín ý định, corpus đánh giá chủ yếu là silver, quy mô tối đa 4.999 phim và top-20 cast. Hướng tiếp theo là thu thập câu hỏi thật, đánh giá người dùng, benchmark tải đồng thời và mở rộng liên kết sang Person/Wikidata.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xây dựng được một quy trình tích hợp đa nguồn có stable identity và provenance; Neo4j hỗ trợ traversal và suy diễn bằng Cypher; hai ứng dụng trả kết quả kèm bằng chứng. Em xin cảm ơn thầy và xin lắng nghe phản biện.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B"/>
          </a:solidFill>
          <a:ln w="12700">
            <a:solidFill>
              <a:srgbClr val="F6F8FB">
                <a:alpha val="0"/>
              </a:srgbClr>
            </a:solidFill>
            <a:prstDash val="solid"/>
          </a:ln>
        </p:spPr>
      </p:sp>
      <p:sp>
        <p:nvSpPr>
          <p:cNvPr id="3" name="Text 1"/>
          <p:cNvSpPr/>
          <p:nvPr/>
        </p:nvSpPr>
        <p:spPr>
          <a:xfrm>
            <a:off x="530352" y="164592"/>
            <a:ext cx="3931920" cy="201168"/>
          </a:xfrm>
          <a:prstGeom prst="rect">
            <a:avLst/>
          </a:prstGeom>
          <a:noFill/>
          <a:ln/>
        </p:spPr>
        <p:txBody>
          <a:bodyPr wrap="square" lIns="0" tIns="0" rIns="0" bIns="0" rtlCol="0" anchor="ctr"/>
          <a:lstStyle/>
          <a:p>
            <a:pPr indent="0" marL="0">
              <a:buNone/>
            </a:pPr>
            <a:r>
              <a:rPr lang="en-US" sz="900" b="1" spc="150" kern="0" dirty="0">
                <a:solidFill>
                  <a:srgbClr val="337B80"/>
                </a:solidFill>
                <a:latin typeface="Arial" pitchFamily="34" charset="0"/>
                <a:ea typeface="Arial" pitchFamily="34" charset="-122"/>
                <a:cs typeface="Arial" pitchFamily="34" charset="-120"/>
              </a:rPr>
              <a:t>KNOWLEDGE GRAPH</a:t>
            </a:r>
            <a:endParaRPr lang="en-US" sz="900" dirty="0"/>
          </a:p>
        </p:txBody>
      </p:sp>
      <p:sp>
        <p:nvSpPr>
          <p:cNvPr id="4" name="Text 2"/>
          <p:cNvSpPr/>
          <p:nvPr/>
        </p:nvSpPr>
        <p:spPr>
          <a:xfrm>
            <a:off x="8001000" y="6510528"/>
            <a:ext cx="3520440" cy="164592"/>
          </a:xfrm>
          <a:prstGeom prst="rect">
            <a:avLst/>
          </a:prstGeom>
          <a:noFill/>
          <a:ln/>
        </p:spPr>
        <p:txBody>
          <a:bodyPr wrap="square" lIns="0" tIns="0" rIns="0" bIns="0" rtlCol="0" anchor="ctr"/>
          <a:lstStyle/>
          <a:p>
            <a:pPr algn="r" indent="0" marL="0">
              <a:buNone/>
            </a:pPr>
            <a:r>
              <a:rPr lang="en-US" sz="800" dirty="0">
                <a:solidFill>
                  <a:srgbClr val="697586"/>
                </a:solidFill>
                <a:latin typeface="Arial" pitchFamily="34" charset="0"/>
                <a:ea typeface="Arial" pitchFamily="34" charset="-122"/>
                <a:cs typeface="Arial" pitchFamily="34" charset="-120"/>
              </a:rPr>
              <a:t>Đại học Bách khoa Hà Nội · Khoa Toán – Tin</a:t>
            </a:r>
            <a:endParaRPr lang="en-US" sz="8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58368" y="566928"/>
            <a:ext cx="5943600" cy="274320"/>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BÁO CÁO CUỐI KỲ · CƠ SỞ DỮ LIỆU NÂNG CAO</a:t>
            </a:r>
            <a:endParaRPr lang="en-US" sz="1000" dirty="0"/>
          </a:p>
        </p:txBody>
      </p:sp>
      <p:sp>
        <p:nvSpPr>
          <p:cNvPr id="5" name="Text 3"/>
          <p:cNvSpPr/>
          <p:nvPr/>
        </p:nvSpPr>
        <p:spPr>
          <a:xfrm>
            <a:off x="658368" y="1115568"/>
            <a:ext cx="6583680" cy="141732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Calibri" pitchFamily="34" charset="0"/>
                <a:ea typeface="Calibri" pitchFamily="34" charset="-122"/>
                <a:cs typeface="Calibri" pitchFamily="34" charset="-120"/>
              </a:rPr>
              <a:t>Knowledge Graph</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Nền tảng lý thuyết</a:t>
            </a:r>
            <a:endParaRPr lang="en-US" sz="3400" dirty="0"/>
          </a:p>
        </p:txBody>
      </p:sp>
      <p:sp>
        <p:nvSpPr>
          <p:cNvPr id="6" name="Text 4"/>
          <p:cNvSpPr/>
          <p:nvPr/>
        </p:nvSpPr>
        <p:spPr>
          <a:xfrm>
            <a:off x="685800" y="2761488"/>
            <a:ext cx="5897880" cy="749808"/>
          </a:xfrm>
          <a:prstGeom prst="rect">
            <a:avLst/>
          </a:prstGeom>
          <a:noFill/>
          <a:ln/>
        </p:spPr>
        <p:txBody>
          <a:bodyPr wrap="square" lIns="0" tIns="0" rIns="0" bIns="0" rtlCol="0" anchor="ctr">
            <a:normAutofit/>
          </a:bodyPr>
          <a:lstStyle/>
          <a:p>
            <a:pPr indent="0" marL="0">
              <a:buNone/>
            </a:pPr>
            <a:r>
              <a:rPr lang="en-US" sz="1550" dirty="0">
                <a:solidFill>
                  <a:srgbClr val="D6E3ED"/>
                </a:solidFill>
                <a:latin typeface="Calibri" pitchFamily="34" charset="0"/>
                <a:ea typeface="Calibri" pitchFamily="34" charset="-122"/>
                <a:cs typeface="Calibri" pitchFamily="34" charset="-120"/>
              </a:rPr>
              <a:t>Khái niệm · Property Graph · Schema · Identity · Suy diễn · Cypher</a:t>
            </a:r>
            <a:endParaRPr lang="en-US" sz="1550" dirty="0"/>
          </a:p>
          <a:p>
            <a:pPr indent="0" marL="0">
              <a:buNone/>
            </a:pPr>
            <a:r>
              <a:rPr lang="en-US" sz="1550" dirty="0">
                <a:solidFill>
                  <a:srgbClr val="D6E3ED"/>
                </a:solidFill>
                <a:latin typeface="Calibri" pitchFamily="34" charset="0"/>
                <a:ea typeface="Calibri" pitchFamily="34" charset="-122"/>
                <a:cs typeface="Calibri" pitchFamily="34" charset="-120"/>
              </a:rPr>
              <a:t>Nghiên cứu tình huống: đồ thị tri thức phim đa nguồn</a:t>
            </a:r>
            <a:endParaRPr lang="en-US" sz="1550" dirty="0"/>
          </a:p>
        </p:txBody>
      </p:sp>
      <p:pic>
        <p:nvPicPr>
          <p:cNvPr id="7" name="Image 0" descr="/home/khanhhk/VNPTAI/advanced_database/docs/deliverables/slide/assets/movie_kg_overview.png">    </p:cNvPr>
          <p:cNvPicPr>
            <a:picLocks noChangeAspect="1"/>
          </p:cNvPicPr>
          <p:nvPr/>
        </p:nvPicPr>
        <p:blipFill>
          <a:blip r:embed="rId1"/>
          <a:stretch>
            <a:fillRect/>
          </a:stretch>
        </p:blipFill>
        <p:spPr>
          <a:xfrm>
            <a:off x="7013448" y="2137776"/>
            <a:ext cx="4489704" cy="1439447"/>
          </a:xfrm>
          <a:prstGeom prst="rect">
            <a:avLst/>
          </a:prstGeom>
        </p:spPr>
      </p:pic>
      <p:sp>
        <p:nvSpPr>
          <p:cNvPr id="8" name="Text 5"/>
          <p:cNvSpPr/>
          <p:nvPr/>
        </p:nvSpPr>
        <p:spPr>
          <a:xfrm>
            <a:off x="685800" y="4892040"/>
            <a:ext cx="100584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Học viên</a:t>
            </a:r>
            <a:endParaRPr lang="en-US" sz="900" dirty="0"/>
          </a:p>
        </p:txBody>
      </p:sp>
      <p:sp>
        <p:nvSpPr>
          <p:cNvPr id="9" name="Text 6"/>
          <p:cNvSpPr/>
          <p:nvPr/>
        </p:nvSpPr>
        <p:spPr>
          <a:xfrm>
            <a:off x="685800" y="5193792"/>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Hoàng Kim Khánh · 20252307M</a:t>
            </a:r>
            <a:endParaRPr lang="en-US" sz="1500" dirty="0"/>
          </a:p>
        </p:txBody>
      </p:sp>
      <p:sp>
        <p:nvSpPr>
          <p:cNvPr id="10" name="Text 7"/>
          <p:cNvSpPr/>
          <p:nvPr/>
        </p:nvSpPr>
        <p:spPr>
          <a:xfrm>
            <a:off x="6217920" y="4892040"/>
            <a:ext cx="1645920" cy="219456"/>
          </a:xfrm>
          <a:prstGeom prst="rect">
            <a:avLst/>
          </a:prstGeom>
          <a:noFill/>
          <a:ln/>
        </p:spPr>
        <p:txBody>
          <a:bodyPr wrap="square" lIns="0" tIns="0" rIns="0" bIns="0" rtlCol="0" anchor="ctr"/>
          <a:lstStyle/>
          <a:p>
            <a:pPr indent="0" marL="0">
              <a:buNone/>
            </a:pPr>
            <a:r>
              <a:rPr lang="en-US" sz="900" b="1" dirty="0">
                <a:solidFill>
                  <a:srgbClr val="8FD0CC"/>
                </a:solidFill>
                <a:latin typeface="Arial" pitchFamily="34" charset="0"/>
                <a:ea typeface="Arial" pitchFamily="34" charset="-122"/>
                <a:cs typeface="Arial" pitchFamily="34" charset="-120"/>
              </a:rPr>
              <a:t>Giảng viên hướng dẫn</a:t>
            </a:r>
            <a:endParaRPr lang="en-US" sz="900" dirty="0"/>
          </a:p>
        </p:txBody>
      </p:sp>
      <p:sp>
        <p:nvSpPr>
          <p:cNvPr id="11" name="Text 8"/>
          <p:cNvSpPr/>
          <p:nvPr/>
        </p:nvSpPr>
        <p:spPr>
          <a:xfrm>
            <a:off x="6217920" y="5193792"/>
            <a:ext cx="31089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TS. Trần Ngọc Thăng</a:t>
            </a:r>
            <a:endParaRPr lang="en-US" sz="1500" dirty="0"/>
          </a:p>
        </p:txBody>
      </p:sp>
      <p:sp>
        <p:nvSpPr>
          <p:cNvPr id="12" name="Text 9"/>
          <p:cNvSpPr/>
          <p:nvPr/>
        </p:nvSpPr>
        <p:spPr>
          <a:xfrm>
            <a:off x="685800" y="6327648"/>
            <a:ext cx="7315200" cy="182880"/>
          </a:xfrm>
          <a:prstGeom prst="rect">
            <a:avLst/>
          </a:prstGeom>
          <a:noFill/>
          <a:ln/>
        </p:spPr>
        <p:txBody>
          <a:bodyPr wrap="square" lIns="0" tIns="0" rIns="0" bIns="0" rtlCol="0" anchor="ctr"/>
          <a:lstStyle/>
          <a:p>
            <a:pPr indent="0" marL="0">
              <a:buNone/>
            </a:pPr>
            <a:r>
              <a:rPr lang="en-US" sz="850" dirty="0">
                <a:solidFill>
                  <a:srgbClr val="9FB2C3"/>
                </a:solidFill>
                <a:latin typeface="Arial" pitchFamily="34" charset="0"/>
                <a:ea typeface="Arial" pitchFamily="34" charset="-122"/>
                <a:cs typeface="Arial" pitchFamily="34" charset="-120"/>
              </a:rPr>
              <a:t>ĐẠI HỌC BÁCH KHOA HÀ NỘI · KHOA TOÁN – TIN · 07/2026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dữ liệu đến tri thức có thể sử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Knowledge Graph không chỉ lưu giá trị; nó đặt giá trị vào ngữ cảnh, quan hệ và ngữ nghĩa.</a:t>
            </a:r>
            <a:endParaRPr lang="en-US" sz="1250" dirty="0"/>
          </a:p>
        </p:txBody>
      </p:sp>
      <p:sp>
        <p:nvSpPr>
          <p:cNvPr id="5" name="Shape 3"/>
          <p:cNvSpPr/>
          <p:nvPr/>
        </p:nvSpPr>
        <p:spPr>
          <a:xfrm>
            <a:off x="658368" y="4480560"/>
            <a:ext cx="2395728" cy="1298448"/>
          </a:xfrm>
          <a:prstGeom prst="roundRect">
            <a:avLst>
              <a:gd name="adj" fmla="val 3521"/>
            </a:avLst>
          </a:prstGeom>
          <a:solidFill>
            <a:srgbClr val="EDF2F7"/>
          </a:solidFill>
          <a:ln w="16510">
            <a:solidFill>
              <a:srgbClr val="697586"/>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41248" y="4681728"/>
            <a:ext cx="2011680" cy="228600"/>
          </a:xfrm>
          <a:prstGeom prst="rect">
            <a:avLst/>
          </a:prstGeom>
          <a:noFill/>
          <a:ln/>
        </p:spPr>
        <p:txBody>
          <a:bodyPr wrap="square" lIns="0" tIns="0" rIns="0" bIns="0" rtlCol="0" anchor="ctr"/>
          <a:lstStyle/>
          <a:p>
            <a:pPr indent="0" marL="0">
              <a:buNone/>
            </a:pPr>
            <a:r>
              <a:rPr lang="en-US" sz="1000" b="1" spc="110" kern="0" dirty="0">
                <a:solidFill>
                  <a:srgbClr val="697586"/>
                </a:solidFill>
                <a:latin typeface="Arial" pitchFamily="34" charset="0"/>
                <a:ea typeface="Arial" pitchFamily="34" charset="-122"/>
                <a:cs typeface="Arial" pitchFamily="34" charset="-120"/>
              </a:rPr>
              <a:t>DỮ LIỆU</a:t>
            </a:r>
            <a:endParaRPr lang="en-US" sz="1000" dirty="0"/>
          </a:p>
        </p:txBody>
      </p:sp>
      <p:sp>
        <p:nvSpPr>
          <p:cNvPr id="7" name="Text 5"/>
          <p:cNvSpPr/>
          <p:nvPr/>
        </p:nvSpPr>
        <p:spPr>
          <a:xfrm>
            <a:off x="841248" y="5120640"/>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“2010”, “Inception”, “Nolan”</a:t>
            </a:r>
            <a:endParaRPr lang="en-US" sz="1300" dirty="0"/>
          </a:p>
        </p:txBody>
      </p:sp>
      <p:sp>
        <p:nvSpPr>
          <p:cNvPr id="8" name="Shape 6"/>
          <p:cNvSpPr/>
          <p:nvPr/>
        </p:nvSpPr>
        <p:spPr>
          <a:xfrm>
            <a:off x="3090672" y="5120640"/>
            <a:ext cx="347472" cy="-228600"/>
          </a:xfrm>
          <a:prstGeom prst="line">
            <a:avLst/>
          </a:prstGeom>
          <a:noFill/>
          <a:ln w="17780">
            <a:solidFill>
              <a:srgbClr val="697586"/>
            </a:solidFill>
            <a:prstDash val="solid"/>
            <a:tailEnd type="triangle"/>
          </a:ln>
        </p:spPr>
      </p:sp>
      <p:sp>
        <p:nvSpPr>
          <p:cNvPr id="9" name="Shape 7"/>
          <p:cNvSpPr/>
          <p:nvPr/>
        </p:nvSpPr>
        <p:spPr>
          <a:xfrm>
            <a:off x="3511296" y="3767328"/>
            <a:ext cx="2395728" cy="2011680"/>
          </a:xfrm>
          <a:prstGeom prst="roundRect">
            <a:avLst>
              <a:gd name="adj" fmla="val 2273"/>
            </a:avLst>
          </a:prstGeom>
          <a:solidFill>
            <a:srgbClr val="EAF2F8"/>
          </a:solidFill>
          <a:ln w="1651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694176" y="3968496"/>
            <a:ext cx="20116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THÔNG TIN</a:t>
            </a:r>
            <a:endParaRPr lang="en-US" sz="1000" dirty="0"/>
          </a:p>
        </p:txBody>
      </p:sp>
      <p:sp>
        <p:nvSpPr>
          <p:cNvPr id="11" name="Text 9"/>
          <p:cNvSpPr/>
          <p:nvPr/>
        </p:nvSpPr>
        <p:spPr>
          <a:xfrm>
            <a:off x="3694176" y="4407408"/>
            <a:ext cx="1993392" cy="65836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Inception là một phim phát hành năm 2010.</a:t>
            </a:r>
            <a:endParaRPr lang="en-US" sz="1300" dirty="0"/>
          </a:p>
        </p:txBody>
      </p:sp>
      <p:sp>
        <p:nvSpPr>
          <p:cNvPr id="12" name="Shape 10"/>
          <p:cNvSpPr/>
          <p:nvPr/>
        </p:nvSpPr>
        <p:spPr>
          <a:xfrm>
            <a:off x="5943600" y="4407408"/>
            <a:ext cx="347472" cy="-228600"/>
          </a:xfrm>
          <a:prstGeom prst="line">
            <a:avLst/>
          </a:prstGeom>
          <a:noFill/>
          <a:ln w="17780">
            <a:solidFill>
              <a:srgbClr val="697586"/>
            </a:solidFill>
            <a:prstDash val="solid"/>
            <a:tailEnd type="triangle"/>
          </a:ln>
        </p:spPr>
      </p:sp>
      <p:sp>
        <p:nvSpPr>
          <p:cNvPr id="13" name="Shape 11"/>
          <p:cNvSpPr/>
          <p:nvPr/>
        </p:nvSpPr>
        <p:spPr>
          <a:xfrm>
            <a:off x="6364224" y="3054096"/>
            <a:ext cx="2395728" cy="2724912"/>
          </a:xfrm>
          <a:prstGeom prst="roundRect">
            <a:avLst>
              <a:gd name="adj" fmla="val 1908"/>
            </a:avLst>
          </a:prstGeom>
          <a:solidFill>
            <a:srgbClr val="F0ECF7"/>
          </a:solidFill>
          <a:ln w="16510">
            <a:solidFill>
              <a:srgbClr val="725B9B"/>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6547104" y="3255264"/>
            <a:ext cx="20116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TRI THỨC</a:t>
            </a:r>
            <a:endParaRPr lang="en-US" sz="1000" dirty="0"/>
          </a:p>
        </p:txBody>
      </p:sp>
      <p:sp>
        <p:nvSpPr>
          <p:cNvPr id="15" name="Text 13"/>
          <p:cNvSpPr/>
          <p:nvPr/>
        </p:nvSpPr>
        <p:spPr>
          <a:xfrm>
            <a:off x="6547104" y="3694176"/>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Christopher Nolan đạo diễn Inception.</a:t>
            </a:r>
            <a:endParaRPr lang="en-US" sz="1300" dirty="0"/>
          </a:p>
        </p:txBody>
      </p:sp>
      <p:sp>
        <p:nvSpPr>
          <p:cNvPr id="16" name="Shape 14"/>
          <p:cNvSpPr/>
          <p:nvPr/>
        </p:nvSpPr>
        <p:spPr>
          <a:xfrm>
            <a:off x="8796528" y="3694176"/>
            <a:ext cx="347472" cy="-228600"/>
          </a:xfrm>
          <a:prstGeom prst="line">
            <a:avLst/>
          </a:prstGeom>
          <a:noFill/>
          <a:ln w="17780">
            <a:solidFill>
              <a:srgbClr val="697586"/>
            </a:solidFill>
            <a:prstDash val="solid"/>
            <a:tailEnd type="triangle"/>
          </a:ln>
        </p:spPr>
      </p:sp>
      <p:sp>
        <p:nvSpPr>
          <p:cNvPr id="17" name="Shape 15"/>
          <p:cNvSpPr/>
          <p:nvPr/>
        </p:nvSpPr>
        <p:spPr>
          <a:xfrm>
            <a:off x="9217152" y="2340864"/>
            <a:ext cx="2395728" cy="3438144"/>
          </a:xfrm>
          <a:prstGeom prst="roundRect">
            <a:avLst>
              <a:gd name="adj" fmla="val 1908"/>
            </a:avLst>
          </a:prstGeom>
          <a:solidFill>
            <a:srgbClr val="E8F4EE"/>
          </a:solidFill>
          <a:ln w="16510">
            <a:solidFill>
              <a:srgbClr val="3D8B6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400032" y="2542032"/>
            <a:ext cx="2011680" cy="228600"/>
          </a:xfrm>
          <a:prstGeom prst="rect">
            <a:avLst/>
          </a:prstGeom>
          <a:noFill/>
          <a:ln/>
        </p:spPr>
        <p:txBody>
          <a:bodyPr wrap="square" lIns="0" tIns="0" rIns="0" bIns="0" rtlCol="0" anchor="ctr"/>
          <a:lstStyle/>
          <a:p>
            <a:pPr indent="0" marL="0">
              <a:buNone/>
            </a:pPr>
            <a:r>
              <a:rPr lang="en-US" sz="1000" b="1" spc="110" kern="0" dirty="0">
                <a:solidFill>
                  <a:srgbClr val="3D8B66"/>
                </a:solidFill>
                <a:latin typeface="Arial" pitchFamily="34" charset="0"/>
                <a:ea typeface="Arial" pitchFamily="34" charset="-122"/>
                <a:cs typeface="Arial" pitchFamily="34" charset="-120"/>
              </a:rPr>
              <a:t>SUY LUẬN</a:t>
            </a:r>
            <a:endParaRPr lang="en-US" sz="1000" dirty="0"/>
          </a:p>
        </p:txBody>
      </p:sp>
      <p:sp>
        <p:nvSpPr>
          <p:cNvPr id="19" name="Text 17"/>
          <p:cNvSpPr/>
          <p:nvPr/>
        </p:nvSpPr>
        <p:spPr>
          <a:xfrm>
            <a:off x="9400032" y="2980944"/>
            <a:ext cx="1993392" cy="658368"/>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Nolan là đạo diễn của một phim khoa học viễn tưởng.</a:t>
            </a:r>
            <a:endParaRPr lang="en-US" sz="1300" dirty="0"/>
          </a:p>
        </p:txBody>
      </p:sp>
      <p:sp>
        <p:nvSpPr>
          <p:cNvPr id="20" name="Text 18"/>
          <p:cNvSpPr/>
          <p:nvPr/>
        </p:nvSpPr>
        <p:spPr>
          <a:xfrm>
            <a:off x="1280160" y="5925312"/>
            <a:ext cx="9601200" cy="310896"/>
          </a:xfrm>
          <a:prstGeom prst="rect">
            <a:avLst/>
          </a:prstGeom>
          <a:noFill/>
          <a:ln/>
        </p:spPr>
        <p:txBody>
          <a:bodyPr wrap="square" lIns="0" tIns="0" rIns="0" bIns="0" rtlCol="0" anchor="ctr"/>
          <a:lstStyle/>
          <a:p>
            <a:pPr algn="ctr" indent="0" marL="0">
              <a:buNone/>
            </a:pPr>
            <a:r>
              <a:rPr lang="en-US" sz="1500" b="1" dirty="0">
                <a:solidFill>
                  <a:srgbClr val="112B46"/>
                </a:solidFill>
                <a:latin typeface="Calibri" pitchFamily="34" charset="0"/>
                <a:ea typeface="Calibri" pitchFamily="34" charset="-122"/>
                <a:cs typeface="Calibri" pitchFamily="34" charset="-120"/>
              </a:rPr>
              <a:t>Ngữ cảnh + quan hệ + quy tắc làm cho dữ liệu trở thành tri thức có thể truy vấn và suy luận.</a:t>
            </a:r>
            <a:endParaRPr lang="en-US" sz="15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Knowledge Graph là gì?</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mô hình tri thức dạng đồ thị, trong đó thực thể và quan hệ mang ngữ nghĩa có thể đọc bởi cả người và máy.</a:t>
            </a:r>
            <a:endParaRPr lang="en-US" sz="1250" dirty="0"/>
          </a:p>
        </p:txBody>
      </p:sp>
      <p:sp>
        <p:nvSpPr>
          <p:cNvPr id="5" name="Shape 3"/>
          <p:cNvSpPr/>
          <p:nvPr/>
        </p:nvSpPr>
        <p:spPr>
          <a:xfrm>
            <a:off x="914400" y="2148840"/>
            <a:ext cx="1828800" cy="182880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1143000" y="2697480"/>
            <a:ext cx="1371600" cy="5029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Christopher</a:t>
            </a:r>
            <a:endParaRPr lang="en-US" sz="1800" dirty="0"/>
          </a:p>
          <a:p>
            <a:pPr algn="ctr" indent="0" marL="0">
              <a:buNone/>
            </a:pPr>
            <a:r>
              <a:rPr lang="en-US" sz="1800" b="1" dirty="0">
                <a:solidFill>
                  <a:srgbClr val="725B9B"/>
                </a:solidFill>
                <a:latin typeface="Calibri" pitchFamily="34" charset="0"/>
                <a:ea typeface="Calibri" pitchFamily="34" charset="-122"/>
                <a:cs typeface="Calibri" pitchFamily="34" charset="-120"/>
              </a:rPr>
              <a:t>Nolan</a:t>
            </a:r>
            <a:endParaRPr lang="en-US" sz="1800" dirty="0"/>
          </a:p>
        </p:txBody>
      </p:sp>
      <p:sp>
        <p:nvSpPr>
          <p:cNvPr id="7" name="Shape 5"/>
          <p:cNvSpPr/>
          <p:nvPr/>
        </p:nvSpPr>
        <p:spPr>
          <a:xfrm>
            <a:off x="5120640" y="2148840"/>
            <a:ext cx="1828800" cy="182880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5349240" y="2816352"/>
            <a:ext cx="1371600" cy="256032"/>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Inception</a:t>
            </a:r>
            <a:endParaRPr lang="en-US" sz="1800" dirty="0"/>
          </a:p>
        </p:txBody>
      </p:sp>
      <p:sp>
        <p:nvSpPr>
          <p:cNvPr id="9" name="Shape 7"/>
          <p:cNvSpPr/>
          <p:nvPr/>
        </p:nvSpPr>
        <p:spPr>
          <a:xfrm>
            <a:off x="2788920" y="3044952"/>
            <a:ext cx="2267712" cy="0"/>
          </a:xfrm>
          <a:prstGeom prst="line">
            <a:avLst/>
          </a:prstGeom>
          <a:noFill/>
          <a:ln w="31750">
            <a:solidFill>
              <a:srgbClr val="3D8B66"/>
            </a:solidFill>
            <a:prstDash val="solid"/>
            <a:tailEnd type="triangle"/>
          </a:ln>
        </p:spPr>
      </p:sp>
      <p:sp>
        <p:nvSpPr>
          <p:cNvPr id="10" name="Text 8"/>
          <p:cNvSpPr/>
          <p:nvPr/>
        </p:nvSpPr>
        <p:spPr>
          <a:xfrm>
            <a:off x="3218688" y="2633472"/>
            <a:ext cx="1417320" cy="228600"/>
          </a:xfrm>
          <a:prstGeom prst="rect">
            <a:avLst/>
          </a:prstGeom>
          <a:noFill/>
          <a:ln/>
        </p:spPr>
        <p:txBody>
          <a:bodyPr wrap="square" lIns="0" tIns="0" rIns="0" bIns="0" rtlCol="0" anchor="ctr"/>
          <a:lstStyle/>
          <a:p>
            <a:pPr algn="ctr" indent="0" marL="0">
              <a:buNone/>
            </a:pPr>
            <a:r>
              <a:rPr lang="en-US" sz="1000" b="1" dirty="0">
                <a:solidFill>
                  <a:srgbClr val="3D8B66"/>
                </a:solidFill>
                <a:latin typeface="Arial" pitchFamily="34" charset="0"/>
                <a:ea typeface="Arial" pitchFamily="34" charset="-122"/>
                <a:cs typeface="Arial" pitchFamily="34" charset="-120"/>
              </a:rPr>
              <a:t>DIRECTED</a:t>
            </a:r>
            <a:endParaRPr lang="en-US" sz="1000" dirty="0"/>
          </a:p>
        </p:txBody>
      </p:sp>
      <p:sp>
        <p:nvSpPr>
          <p:cNvPr id="11" name="Shape 9"/>
          <p:cNvSpPr/>
          <p:nvPr/>
        </p:nvSpPr>
        <p:spPr>
          <a:xfrm>
            <a:off x="7543800" y="1783080"/>
            <a:ext cx="397764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10"/>
          <p:cNvSpPr/>
          <p:nvPr/>
        </p:nvSpPr>
        <p:spPr>
          <a:xfrm>
            <a:off x="7744968" y="1984248"/>
            <a:ext cx="384048" cy="384048"/>
          </a:xfrm>
          <a:prstGeom prst="ellipse">
            <a:avLst/>
          </a:prstGeom>
          <a:solidFill>
            <a:srgbClr val="725B9B"/>
          </a:solidFill>
          <a:ln w="12700">
            <a:solidFill>
              <a:srgbClr val="725B9B"/>
            </a:solidFill>
            <a:prstDash val="solid"/>
          </a:ln>
        </p:spPr>
      </p:sp>
      <p:sp>
        <p:nvSpPr>
          <p:cNvPr id="13" name="Text 11"/>
          <p:cNvSpPr/>
          <p:nvPr/>
        </p:nvSpPr>
        <p:spPr>
          <a:xfrm>
            <a:off x="774496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14" name="Text 12"/>
          <p:cNvSpPr/>
          <p:nvPr/>
        </p:nvSpPr>
        <p:spPr>
          <a:xfrm>
            <a:off x="8257032" y="1965960"/>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Thực thể (entity)</a:t>
            </a:r>
            <a:endParaRPr lang="en-US" sz="1600" dirty="0"/>
          </a:p>
        </p:txBody>
      </p:sp>
      <p:sp>
        <p:nvSpPr>
          <p:cNvPr id="15" name="Text 13"/>
          <p:cNvSpPr/>
          <p:nvPr/>
        </p:nvSpPr>
        <p:spPr>
          <a:xfrm>
            <a:off x="7772400" y="2386584"/>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Đối tượng có định danh: người, phim, địa điểm, tổ chức…</a:t>
            </a:r>
            <a:endParaRPr lang="en-US" sz="1150" dirty="0"/>
          </a:p>
        </p:txBody>
      </p:sp>
      <p:sp>
        <p:nvSpPr>
          <p:cNvPr id="16" name="Shape 14"/>
          <p:cNvSpPr/>
          <p:nvPr/>
        </p:nvSpPr>
        <p:spPr>
          <a:xfrm>
            <a:off x="7543800" y="3182112"/>
            <a:ext cx="3977640" cy="1143000"/>
          </a:xfrm>
          <a:prstGeom prst="roundRect">
            <a:avLst>
              <a:gd name="adj" fmla="val 48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5"/>
          <p:cNvSpPr/>
          <p:nvPr/>
        </p:nvSpPr>
        <p:spPr>
          <a:xfrm>
            <a:off x="7744968" y="3383280"/>
            <a:ext cx="384048" cy="384048"/>
          </a:xfrm>
          <a:prstGeom prst="ellipse">
            <a:avLst/>
          </a:prstGeom>
          <a:solidFill>
            <a:srgbClr val="3D8B66"/>
          </a:solidFill>
          <a:ln w="12700">
            <a:solidFill>
              <a:srgbClr val="3D8B66"/>
            </a:solidFill>
            <a:prstDash val="solid"/>
          </a:ln>
        </p:spPr>
      </p:sp>
      <p:sp>
        <p:nvSpPr>
          <p:cNvPr id="18" name="Text 16"/>
          <p:cNvSpPr/>
          <p:nvPr/>
        </p:nvSpPr>
        <p:spPr>
          <a:xfrm>
            <a:off x="7744968" y="34381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7"/>
          <p:cNvSpPr/>
          <p:nvPr/>
        </p:nvSpPr>
        <p:spPr>
          <a:xfrm>
            <a:off x="8257032" y="3364992"/>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Quan hệ (relationship)</a:t>
            </a:r>
            <a:endParaRPr lang="en-US" sz="1600" dirty="0"/>
          </a:p>
        </p:txBody>
      </p:sp>
      <p:sp>
        <p:nvSpPr>
          <p:cNvPr id="20" name="Text 18"/>
          <p:cNvSpPr/>
          <p:nvPr/>
        </p:nvSpPr>
        <p:spPr>
          <a:xfrm>
            <a:off x="7772400" y="3785616"/>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Liên kết có nghĩa và có hướng giữa các thực thể.</a:t>
            </a:r>
            <a:endParaRPr lang="en-US" sz="1150" dirty="0"/>
          </a:p>
        </p:txBody>
      </p:sp>
      <p:sp>
        <p:nvSpPr>
          <p:cNvPr id="21" name="Shape 19"/>
          <p:cNvSpPr/>
          <p:nvPr/>
        </p:nvSpPr>
        <p:spPr>
          <a:xfrm>
            <a:off x="7543800" y="4581144"/>
            <a:ext cx="397764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Shape 20"/>
          <p:cNvSpPr/>
          <p:nvPr/>
        </p:nvSpPr>
        <p:spPr>
          <a:xfrm>
            <a:off x="7744968" y="4782312"/>
            <a:ext cx="384048" cy="384048"/>
          </a:xfrm>
          <a:prstGeom prst="ellipse">
            <a:avLst/>
          </a:prstGeom>
          <a:solidFill>
            <a:srgbClr val="337B80"/>
          </a:solidFill>
          <a:ln w="12700">
            <a:solidFill>
              <a:srgbClr val="337B80"/>
            </a:solidFill>
            <a:prstDash val="solid"/>
          </a:ln>
        </p:spPr>
      </p:sp>
      <p:sp>
        <p:nvSpPr>
          <p:cNvPr id="23" name="Text 21"/>
          <p:cNvSpPr/>
          <p:nvPr/>
        </p:nvSpPr>
        <p:spPr>
          <a:xfrm>
            <a:off x="7744968" y="483717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24" name="Text 22"/>
          <p:cNvSpPr/>
          <p:nvPr/>
        </p:nvSpPr>
        <p:spPr>
          <a:xfrm>
            <a:off x="8257032" y="4764024"/>
            <a:ext cx="30632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Thuộc tính &amp; định danh</a:t>
            </a:r>
            <a:endParaRPr lang="en-US" sz="1600" dirty="0"/>
          </a:p>
        </p:txBody>
      </p:sp>
      <p:sp>
        <p:nvSpPr>
          <p:cNvPr id="25" name="Text 23"/>
          <p:cNvSpPr/>
          <p:nvPr/>
        </p:nvSpPr>
        <p:spPr>
          <a:xfrm>
            <a:off x="7772400" y="5184648"/>
            <a:ext cx="352044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Tên, ngày, rating… mô tả node/cạnh; ID phân biệt identity.</a:t>
            </a:r>
            <a:endParaRPr lang="en-US" sz="1150" dirty="0"/>
          </a:p>
        </p:txBody>
      </p:sp>
      <p:sp>
        <p:nvSpPr>
          <p:cNvPr id="26" name="Text 24"/>
          <p:cNvSpPr/>
          <p:nvPr/>
        </p:nvSpPr>
        <p:spPr>
          <a:xfrm>
            <a:off x="141732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subject</a:t>
            </a:r>
            <a:endParaRPr lang="en-US" sz="900" dirty="0"/>
          </a:p>
        </p:txBody>
      </p:sp>
      <p:sp>
        <p:nvSpPr>
          <p:cNvPr id="27" name="Text 25"/>
          <p:cNvSpPr/>
          <p:nvPr/>
        </p:nvSpPr>
        <p:spPr>
          <a:xfrm>
            <a:off x="3401568" y="3310128"/>
            <a:ext cx="100584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predicate</a:t>
            </a:r>
            <a:endParaRPr lang="en-US" sz="900" dirty="0"/>
          </a:p>
        </p:txBody>
      </p:sp>
      <p:sp>
        <p:nvSpPr>
          <p:cNvPr id="28" name="Text 26"/>
          <p:cNvSpPr/>
          <p:nvPr/>
        </p:nvSpPr>
        <p:spPr>
          <a:xfrm>
            <a:off x="5623560" y="4187952"/>
            <a:ext cx="822960" cy="201168"/>
          </a:xfrm>
          <a:prstGeom prst="rect">
            <a:avLst/>
          </a:prstGeom>
          <a:noFill/>
          <a:ln/>
        </p:spPr>
        <p:txBody>
          <a:bodyPr wrap="square" lIns="0" tIns="0" rIns="0" bIns="0" rtlCol="0" anchor="ctr"/>
          <a:lstStyle/>
          <a:p>
            <a:pPr algn="ctr" indent="0" marL="0">
              <a:buNone/>
            </a:pPr>
            <a:r>
              <a:rPr lang="en-US" sz="900" dirty="0">
                <a:solidFill>
                  <a:srgbClr val="697586"/>
                </a:solidFill>
                <a:latin typeface="Arial" pitchFamily="34" charset="0"/>
                <a:ea typeface="Arial" pitchFamily="34" charset="-122"/>
                <a:cs typeface="Arial" pitchFamily="34" charset="-120"/>
              </a:rPr>
              <a:t>object</a:t>
            </a:r>
            <a:endParaRPr lang="en-US" sz="9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NỀN TẢNG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Schema nói điều gì được phép; instance nói điều gì đang đúng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Tách lớp khái niệm khỏi dữ liệu cụ thể giúp kiểm tra tính nhất quán và tái sử dụng mô hình.</a:t>
            </a:r>
            <a:endParaRPr lang="en-US" sz="1250" dirty="0"/>
          </a:p>
        </p:txBody>
      </p:sp>
      <p:sp>
        <p:nvSpPr>
          <p:cNvPr id="5" name="Text 3"/>
          <p:cNvSpPr/>
          <p:nvPr/>
        </p:nvSpPr>
        <p:spPr>
          <a:xfrm>
            <a:off x="685800" y="1755648"/>
            <a:ext cx="3840480" cy="228600"/>
          </a:xfrm>
          <a:prstGeom prst="rect">
            <a:avLst/>
          </a:prstGeom>
          <a:noFill/>
          <a:ln/>
        </p:spPr>
        <p:txBody>
          <a:bodyPr wrap="square" lIns="0" tIns="0" rIns="0" bIns="0" rtlCol="0" anchor="ctr"/>
          <a:lstStyle/>
          <a:p>
            <a:pPr indent="0" marL="0">
              <a:buNone/>
            </a:pPr>
            <a:r>
              <a:rPr lang="en-US" sz="1000" b="1" spc="110" kern="0" dirty="0">
                <a:solidFill>
                  <a:srgbClr val="725B9B"/>
                </a:solidFill>
                <a:latin typeface="Arial" pitchFamily="34" charset="0"/>
                <a:ea typeface="Arial" pitchFamily="34" charset="-122"/>
                <a:cs typeface="Arial" pitchFamily="34" charset="-120"/>
              </a:rPr>
              <a:t>LỚP KHÁI NIỆM · TBOX / SCHEMA</a:t>
            </a:r>
            <a:endParaRPr lang="en-US" sz="1000" dirty="0"/>
          </a:p>
        </p:txBody>
      </p:sp>
      <p:sp>
        <p:nvSpPr>
          <p:cNvPr id="6" name="Shape 4"/>
          <p:cNvSpPr/>
          <p:nvPr/>
        </p:nvSpPr>
        <p:spPr>
          <a:xfrm>
            <a:off x="685800" y="2148840"/>
            <a:ext cx="21031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7" name="Text 5"/>
          <p:cNvSpPr/>
          <p:nvPr/>
        </p:nvSpPr>
        <p:spPr>
          <a:xfrm>
            <a:off x="9144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Person</a:t>
            </a:r>
            <a:endParaRPr lang="en-US" sz="1600" dirty="0"/>
          </a:p>
        </p:txBody>
      </p:sp>
      <p:sp>
        <p:nvSpPr>
          <p:cNvPr id="8" name="Text 6"/>
          <p:cNvSpPr/>
          <p:nvPr/>
        </p:nvSpPr>
        <p:spPr>
          <a:xfrm>
            <a:off x="9144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9" name="Shape 7"/>
          <p:cNvSpPr/>
          <p:nvPr/>
        </p:nvSpPr>
        <p:spPr>
          <a:xfrm>
            <a:off x="3657600" y="2148840"/>
            <a:ext cx="210312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3886200" y="2331720"/>
            <a:ext cx="164592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Movie</a:t>
            </a:r>
            <a:endParaRPr lang="en-US" sz="1600" dirty="0"/>
          </a:p>
        </p:txBody>
      </p:sp>
      <p:sp>
        <p:nvSpPr>
          <p:cNvPr id="11" name="Text 9"/>
          <p:cNvSpPr/>
          <p:nvPr/>
        </p:nvSpPr>
        <p:spPr>
          <a:xfrm>
            <a:off x="3886200" y="2752344"/>
            <a:ext cx="16459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Một lớp thực thể</a:t>
            </a:r>
            <a:endParaRPr lang="en-US" sz="1150" dirty="0"/>
          </a:p>
        </p:txBody>
      </p:sp>
      <p:sp>
        <p:nvSpPr>
          <p:cNvPr id="12" name="Shape 10"/>
          <p:cNvSpPr/>
          <p:nvPr/>
        </p:nvSpPr>
        <p:spPr>
          <a:xfrm>
            <a:off x="2816352" y="2724912"/>
            <a:ext cx="795528" cy="0"/>
          </a:xfrm>
          <a:prstGeom prst="line">
            <a:avLst/>
          </a:prstGeom>
          <a:noFill/>
          <a:ln w="25400">
            <a:solidFill>
              <a:srgbClr val="3D8B66"/>
            </a:solidFill>
            <a:prstDash val="solid"/>
            <a:tailEnd type="triangle"/>
          </a:ln>
        </p:spPr>
      </p:sp>
      <p:sp>
        <p:nvSpPr>
          <p:cNvPr id="13" name="Text 11"/>
          <p:cNvSpPr/>
          <p:nvPr/>
        </p:nvSpPr>
        <p:spPr>
          <a:xfrm>
            <a:off x="2816352" y="2359152"/>
            <a:ext cx="795528"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14" name="Text 12"/>
          <p:cNvSpPr/>
          <p:nvPr/>
        </p:nvSpPr>
        <p:spPr>
          <a:xfrm>
            <a:off x="1417320" y="3584448"/>
            <a:ext cx="3566160" cy="256032"/>
          </a:xfrm>
          <a:prstGeom prst="rect">
            <a:avLst/>
          </a:prstGeom>
          <a:noFill/>
          <a:ln/>
        </p:spPr>
        <p:txBody>
          <a:bodyPr wrap="square" lIns="0" tIns="0" rIns="0" bIns="0" rtlCol="0" anchor="ctr"/>
          <a:lstStyle/>
          <a:p>
            <a:pPr algn="ctr" indent="0" marL="0">
              <a:buNone/>
            </a:pPr>
            <a:r>
              <a:rPr lang="en-US" sz="1300" b="1" dirty="0">
                <a:solidFill>
                  <a:srgbClr val="112B46"/>
                </a:solidFill>
                <a:latin typeface="Calibri" pitchFamily="34" charset="0"/>
                <a:ea typeface="Calibri" pitchFamily="34" charset="-122"/>
                <a:cs typeface="Calibri" pitchFamily="34" charset="-120"/>
              </a:rPr>
              <a:t>Domain: Person · Range: Movie</a:t>
            </a:r>
            <a:endParaRPr lang="en-US" sz="1300" dirty="0"/>
          </a:p>
        </p:txBody>
      </p:sp>
      <p:sp>
        <p:nvSpPr>
          <p:cNvPr id="15" name="Shape 13"/>
          <p:cNvSpPr/>
          <p:nvPr/>
        </p:nvSpPr>
        <p:spPr>
          <a:xfrm>
            <a:off x="6080760" y="2057400"/>
            <a:ext cx="914400" cy="1874520"/>
          </a:xfrm>
          <a:prstGeom prst="chevron">
            <a:avLst/>
          </a:prstGeom>
          <a:solidFill>
            <a:srgbClr val="FFF2DF"/>
          </a:solidFill>
          <a:ln w="12700">
            <a:solidFill>
              <a:srgbClr val="D38B36"/>
            </a:solidFill>
            <a:prstDash val="solid"/>
          </a:ln>
        </p:spPr>
      </p:sp>
      <p:sp>
        <p:nvSpPr>
          <p:cNvPr id="16" name="Text 14"/>
          <p:cNvSpPr/>
          <p:nvPr/>
        </p:nvSpPr>
        <p:spPr>
          <a:xfrm rot="5400000">
            <a:off x="6126480" y="2761488"/>
            <a:ext cx="640080" cy="228600"/>
          </a:xfrm>
          <a:prstGeom prst="rect">
            <a:avLst/>
          </a:prstGeom>
          <a:noFill/>
          <a:ln/>
        </p:spPr>
        <p:txBody>
          <a:bodyPr wrap="square" lIns="0" tIns="0" rIns="0" bIns="0" rtlCol="0" anchor="ctr"/>
          <a:lstStyle/>
          <a:p>
            <a:pPr algn="ctr" indent="0" marL="0">
              <a:buNone/>
            </a:pPr>
            <a:r>
              <a:rPr lang="en-US" sz="900" b="1" dirty="0">
                <a:solidFill>
                  <a:srgbClr val="D38B36"/>
                </a:solidFill>
                <a:latin typeface="Arial" pitchFamily="34" charset="0"/>
                <a:ea typeface="Arial" pitchFamily="34" charset="-122"/>
                <a:cs typeface="Arial" pitchFamily="34" charset="-120"/>
              </a:rPr>
              <a:t>thể hiện</a:t>
            </a:r>
            <a:endParaRPr lang="en-US" sz="900" dirty="0"/>
          </a:p>
        </p:txBody>
      </p:sp>
      <p:sp>
        <p:nvSpPr>
          <p:cNvPr id="17" name="Text 15"/>
          <p:cNvSpPr/>
          <p:nvPr/>
        </p:nvSpPr>
        <p:spPr>
          <a:xfrm>
            <a:off x="7360920" y="1755648"/>
            <a:ext cx="3840480" cy="228600"/>
          </a:xfrm>
          <a:prstGeom prst="rect">
            <a:avLst/>
          </a:prstGeom>
          <a:noFill/>
          <a:ln/>
        </p:spPr>
        <p:txBody>
          <a:bodyPr wrap="square" lIns="0" tIns="0" rIns="0" bIns="0" rtlCol="0" anchor="ctr"/>
          <a:lstStyle/>
          <a:p>
            <a:pPr indent="0" marL="0">
              <a:buNone/>
            </a:pPr>
            <a:r>
              <a:rPr lang="en-US" sz="1000" b="1" spc="110" kern="0" dirty="0">
                <a:solidFill>
                  <a:srgbClr val="337B80"/>
                </a:solidFill>
                <a:latin typeface="Arial" pitchFamily="34" charset="0"/>
                <a:ea typeface="Arial" pitchFamily="34" charset="-122"/>
                <a:cs typeface="Arial" pitchFamily="34" charset="-120"/>
              </a:rPr>
              <a:t>LỚP SỰ KIỆN · ABOX / INSTANCE</a:t>
            </a:r>
            <a:endParaRPr lang="en-US" sz="1000" dirty="0"/>
          </a:p>
        </p:txBody>
      </p:sp>
      <p:sp>
        <p:nvSpPr>
          <p:cNvPr id="18" name="Shape 16"/>
          <p:cNvSpPr/>
          <p:nvPr/>
        </p:nvSpPr>
        <p:spPr>
          <a:xfrm>
            <a:off x="7360920" y="2148840"/>
            <a:ext cx="1874520" cy="1143000"/>
          </a:xfrm>
          <a:prstGeom prst="roundRect">
            <a:avLst>
              <a:gd name="adj" fmla="val 48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9" name="Text 17"/>
          <p:cNvSpPr/>
          <p:nvPr/>
        </p:nvSpPr>
        <p:spPr>
          <a:xfrm>
            <a:off x="7589520" y="2331720"/>
            <a:ext cx="141732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Nolan</a:t>
            </a:r>
            <a:endParaRPr lang="en-US" sz="1600" dirty="0"/>
          </a:p>
        </p:txBody>
      </p:sp>
      <p:sp>
        <p:nvSpPr>
          <p:cNvPr id="20" name="Text 18"/>
          <p:cNvSpPr/>
          <p:nvPr/>
        </p:nvSpPr>
        <p:spPr>
          <a:xfrm>
            <a:off x="7589520" y="2752344"/>
            <a:ext cx="141732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Person</a:t>
            </a:r>
            <a:endParaRPr lang="en-US" sz="1150" dirty="0"/>
          </a:p>
        </p:txBody>
      </p:sp>
      <p:sp>
        <p:nvSpPr>
          <p:cNvPr id="21" name="Shape 19"/>
          <p:cNvSpPr/>
          <p:nvPr/>
        </p:nvSpPr>
        <p:spPr>
          <a:xfrm>
            <a:off x="10012680" y="2148840"/>
            <a:ext cx="1554480"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10241280" y="2331720"/>
            <a:ext cx="1097280" cy="301752"/>
          </a:xfrm>
          <a:prstGeom prst="rect">
            <a:avLst/>
          </a:prstGeom>
          <a:noFill/>
          <a:ln/>
        </p:spPr>
        <p:txBody>
          <a:bodyPr wrap="square" lIns="0" tIns="0" rIns="0" bIns="0" rtlCol="0" anchor="ctr">
            <a:normAutofit/>
          </a:bodyPr>
          <a:lstStyle/>
          <a:p>
            <a:pPr indent="0" marL="0">
              <a:buNone/>
            </a:pPr>
            <a:r>
              <a:rPr lang="en-US" sz="1500" b="1" dirty="0">
                <a:solidFill>
                  <a:srgbClr val="337B80"/>
                </a:solidFill>
                <a:latin typeface="Calibri" pitchFamily="34" charset="0"/>
                <a:ea typeface="Calibri" pitchFamily="34" charset="-122"/>
                <a:cs typeface="Calibri" pitchFamily="34" charset="-120"/>
              </a:rPr>
              <a:t>Inception</a:t>
            </a:r>
            <a:endParaRPr lang="en-US" sz="1500" dirty="0"/>
          </a:p>
        </p:txBody>
      </p:sp>
      <p:sp>
        <p:nvSpPr>
          <p:cNvPr id="23" name="Text 21"/>
          <p:cNvSpPr/>
          <p:nvPr/>
        </p:nvSpPr>
        <p:spPr>
          <a:xfrm>
            <a:off x="10241280" y="2752344"/>
            <a:ext cx="1097280" cy="35661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instanceOf Movie</a:t>
            </a:r>
            <a:endParaRPr lang="en-US" sz="1150" dirty="0"/>
          </a:p>
        </p:txBody>
      </p:sp>
      <p:sp>
        <p:nvSpPr>
          <p:cNvPr id="24" name="Shape 22"/>
          <p:cNvSpPr/>
          <p:nvPr/>
        </p:nvSpPr>
        <p:spPr>
          <a:xfrm>
            <a:off x="9253728" y="2724912"/>
            <a:ext cx="731520" cy="0"/>
          </a:xfrm>
          <a:prstGeom prst="line">
            <a:avLst/>
          </a:prstGeom>
          <a:noFill/>
          <a:ln w="25400">
            <a:solidFill>
              <a:srgbClr val="3D8B66"/>
            </a:solidFill>
            <a:prstDash val="solid"/>
            <a:tailEnd type="triangle"/>
          </a:ln>
        </p:spPr>
      </p:sp>
      <p:sp>
        <p:nvSpPr>
          <p:cNvPr id="25" name="Text 23"/>
          <p:cNvSpPr/>
          <p:nvPr/>
        </p:nvSpPr>
        <p:spPr>
          <a:xfrm>
            <a:off x="9253728" y="2359152"/>
            <a:ext cx="731520" cy="182880"/>
          </a:xfrm>
          <a:prstGeom prst="rect">
            <a:avLst/>
          </a:prstGeom>
          <a:noFill/>
          <a:ln/>
        </p:spPr>
        <p:txBody>
          <a:bodyPr wrap="square" lIns="0" tIns="0" rIns="0" bIns="0" rtlCol="0" anchor="ctr"/>
          <a:lstStyle/>
          <a:p>
            <a:pPr algn="ctr" indent="0" marL="0">
              <a:buNone/>
            </a:pPr>
            <a:r>
              <a:rPr lang="en-US" sz="900" b="1" dirty="0">
                <a:solidFill>
                  <a:srgbClr val="3D8B66"/>
                </a:solidFill>
                <a:latin typeface="Arial" pitchFamily="34" charset="0"/>
                <a:ea typeface="Arial" pitchFamily="34" charset="-122"/>
                <a:cs typeface="Arial" pitchFamily="34" charset="-120"/>
              </a:rPr>
              <a:t>directed</a:t>
            </a:r>
            <a:endParaRPr lang="en-US" sz="900" dirty="0"/>
          </a:p>
        </p:txBody>
      </p:sp>
      <p:sp>
        <p:nvSpPr>
          <p:cNvPr id="26" name="Shape 24"/>
          <p:cNvSpPr/>
          <p:nvPr/>
        </p:nvSpPr>
        <p:spPr>
          <a:xfrm>
            <a:off x="1005840" y="4681728"/>
            <a:ext cx="3063240" cy="960120"/>
          </a:xfrm>
          <a:prstGeom prst="roundRect">
            <a:avLst>
              <a:gd name="adj" fmla="val 5714"/>
            </a:avLst>
          </a:prstGeom>
          <a:solidFill>
            <a:srgbClr val="FFFFFF"/>
          </a:solidFill>
          <a:ln w="12700">
            <a:solidFill>
              <a:srgbClr val="D7DEE8"/>
            </a:solidFill>
            <a:prstDash val="solid"/>
          </a:ln>
        </p:spPr>
      </p:sp>
      <p:sp>
        <p:nvSpPr>
          <p:cNvPr id="27" name="Shape 25"/>
          <p:cNvSpPr/>
          <p:nvPr/>
        </p:nvSpPr>
        <p:spPr>
          <a:xfrm>
            <a:off x="1207008" y="4882896"/>
            <a:ext cx="384048" cy="384048"/>
          </a:xfrm>
          <a:prstGeom prst="ellipse">
            <a:avLst/>
          </a:prstGeom>
          <a:solidFill>
            <a:srgbClr val="337B80"/>
          </a:solidFill>
          <a:ln w="12700">
            <a:solidFill>
              <a:srgbClr val="337B80"/>
            </a:solidFill>
            <a:prstDash val="solid"/>
          </a:ln>
        </p:spPr>
      </p:sp>
      <p:sp>
        <p:nvSpPr>
          <p:cNvPr id="28" name="Text 26"/>
          <p:cNvSpPr/>
          <p:nvPr/>
        </p:nvSpPr>
        <p:spPr>
          <a:xfrm>
            <a:off x="120700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9" name="Text 27"/>
          <p:cNvSpPr/>
          <p:nvPr/>
        </p:nvSpPr>
        <p:spPr>
          <a:xfrm>
            <a:off x="171907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Graph schema</a:t>
            </a:r>
            <a:endParaRPr lang="en-US" sz="1600" dirty="0"/>
          </a:p>
        </p:txBody>
      </p:sp>
      <p:sp>
        <p:nvSpPr>
          <p:cNvPr id="30" name="Text 28"/>
          <p:cNvSpPr/>
          <p:nvPr/>
        </p:nvSpPr>
        <p:spPr>
          <a:xfrm>
            <a:off x="123444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Định nghĩa label, thuộc tính, quan hệ, ràng buộc.</a:t>
            </a:r>
            <a:endParaRPr lang="en-US" sz="1150" dirty="0"/>
          </a:p>
        </p:txBody>
      </p:sp>
      <p:sp>
        <p:nvSpPr>
          <p:cNvPr id="31" name="Shape 29"/>
          <p:cNvSpPr/>
          <p:nvPr/>
        </p:nvSpPr>
        <p:spPr>
          <a:xfrm>
            <a:off x="4572000" y="4681728"/>
            <a:ext cx="3063240" cy="960120"/>
          </a:xfrm>
          <a:prstGeom prst="roundRect">
            <a:avLst>
              <a:gd name="adj" fmla="val 5714"/>
            </a:avLst>
          </a:prstGeom>
          <a:solidFill>
            <a:srgbClr val="F0ECF7"/>
          </a:solidFill>
          <a:ln w="12700">
            <a:solidFill>
              <a:srgbClr val="D7DEE8"/>
            </a:solidFill>
            <a:prstDash val="solid"/>
          </a:ln>
        </p:spPr>
      </p:sp>
      <p:sp>
        <p:nvSpPr>
          <p:cNvPr id="32" name="Shape 30"/>
          <p:cNvSpPr/>
          <p:nvPr/>
        </p:nvSpPr>
        <p:spPr>
          <a:xfrm>
            <a:off x="4773168" y="4882896"/>
            <a:ext cx="384048" cy="384048"/>
          </a:xfrm>
          <a:prstGeom prst="ellipse">
            <a:avLst/>
          </a:prstGeom>
          <a:solidFill>
            <a:srgbClr val="725B9B"/>
          </a:solidFill>
          <a:ln w="12700">
            <a:solidFill>
              <a:srgbClr val="725B9B"/>
            </a:solidFill>
            <a:prstDash val="solid"/>
          </a:ln>
        </p:spPr>
      </p:sp>
      <p:sp>
        <p:nvSpPr>
          <p:cNvPr id="33" name="Text 31"/>
          <p:cNvSpPr/>
          <p:nvPr/>
        </p:nvSpPr>
        <p:spPr>
          <a:xfrm>
            <a:off x="477316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4" name="Text 32"/>
          <p:cNvSpPr/>
          <p:nvPr/>
        </p:nvSpPr>
        <p:spPr>
          <a:xfrm>
            <a:off x="528523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base</a:t>
            </a:r>
            <a:endParaRPr lang="en-US" sz="1600" dirty="0"/>
          </a:p>
        </p:txBody>
      </p:sp>
      <p:sp>
        <p:nvSpPr>
          <p:cNvPr id="35" name="Text 33"/>
          <p:cNvSpPr/>
          <p:nvPr/>
        </p:nvSpPr>
        <p:spPr>
          <a:xfrm>
            <a:off x="480060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Schema + tập instance/fact đang lưu.</a:t>
            </a:r>
            <a:endParaRPr lang="en-US" sz="1150" dirty="0"/>
          </a:p>
        </p:txBody>
      </p:sp>
      <p:sp>
        <p:nvSpPr>
          <p:cNvPr id="36" name="Shape 34"/>
          <p:cNvSpPr/>
          <p:nvPr/>
        </p:nvSpPr>
        <p:spPr>
          <a:xfrm>
            <a:off x="8138160" y="4681728"/>
            <a:ext cx="3063240" cy="960120"/>
          </a:xfrm>
          <a:prstGeom prst="roundRect">
            <a:avLst>
              <a:gd name="adj" fmla="val 5714"/>
            </a:avLst>
          </a:prstGeom>
          <a:solidFill>
            <a:srgbClr val="E8F4EE"/>
          </a:solidFill>
          <a:ln w="12700">
            <a:solidFill>
              <a:srgbClr val="D7DEE8"/>
            </a:solidFill>
            <a:prstDash val="solid"/>
          </a:ln>
        </p:spPr>
      </p:sp>
      <p:sp>
        <p:nvSpPr>
          <p:cNvPr id="37" name="Shape 35"/>
          <p:cNvSpPr/>
          <p:nvPr/>
        </p:nvSpPr>
        <p:spPr>
          <a:xfrm>
            <a:off x="8339328" y="4882896"/>
            <a:ext cx="384048" cy="384048"/>
          </a:xfrm>
          <a:prstGeom prst="ellipse">
            <a:avLst/>
          </a:prstGeom>
          <a:solidFill>
            <a:srgbClr val="3D8B66"/>
          </a:solidFill>
          <a:ln w="12700">
            <a:solidFill>
              <a:srgbClr val="3D8B66"/>
            </a:solidFill>
            <a:prstDash val="solid"/>
          </a:ln>
        </p:spPr>
      </p:sp>
      <p:sp>
        <p:nvSpPr>
          <p:cNvPr id="38" name="Text 36"/>
          <p:cNvSpPr/>
          <p:nvPr/>
        </p:nvSpPr>
        <p:spPr>
          <a:xfrm>
            <a:off x="8339328" y="493776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Text 37"/>
          <p:cNvSpPr/>
          <p:nvPr/>
        </p:nvSpPr>
        <p:spPr>
          <a:xfrm>
            <a:off x="8851392" y="4864608"/>
            <a:ext cx="214884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Knowledge Graph</a:t>
            </a:r>
            <a:endParaRPr lang="en-US" sz="1600" dirty="0"/>
          </a:p>
        </p:txBody>
      </p:sp>
      <p:sp>
        <p:nvSpPr>
          <p:cNvPr id="40" name="Text 38"/>
          <p:cNvSpPr/>
          <p:nvPr/>
        </p:nvSpPr>
        <p:spPr>
          <a:xfrm>
            <a:off x="8366760" y="5285232"/>
            <a:ext cx="2606040" cy="17373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Knowledge base được tổ chức và truy vấn như đồ thị.</a:t>
            </a:r>
            <a:endParaRPr lang="en-US" sz="11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BIỂU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Property Graph biểu diễn trực tiếp node, cạnh và thuộc tính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mô hình graph duy nhất được triển khai trong project.</a:t>
            </a:r>
            <a:endParaRPr lang="en-US" sz="1250" dirty="0"/>
          </a:p>
        </p:txBody>
      </p:sp>
      <p:sp>
        <p:nvSpPr>
          <p:cNvPr id="5" name="Shape 3"/>
          <p:cNvSpPr/>
          <p:nvPr/>
        </p:nvSpPr>
        <p:spPr>
          <a:xfrm>
            <a:off x="621792" y="1755648"/>
            <a:ext cx="7059168" cy="4297680"/>
          </a:xfrm>
          <a:prstGeom prst="roundRect">
            <a:avLst>
              <a:gd name="adj" fmla="val 1064"/>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96112" y="2011680"/>
            <a:ext cx="2011680" cy="219456"/>
          </a:xfrm>
          <a:prstGeom prst="rect">
            <a:avLst/>
          </a:prstGeom>
          <a:noFill/>
          <a:ln/>
        </p:spPr>
        <p:txBody>
          <a:bodyPr wrap="square" lIns="0" tIns="0" rIns="0" bIns="0" rtlCol="0" anchor="ctr"/>
          <a:lstStyle/>
          <a:p>
            <a:pPr indent="0" marL="0">
              <a:buNone/>
            </a:pPr>
            <a:r>
              <a:rPr lang="en-US" sz="950" b="1" spc="110" kern="0" dirty="0">
                <a:solidFill>
                  <a:srgbClr val="337B80"/>
                </a:solidFill>
                <a:latin typeface="Arial" pitchFamily="34" charset="0"/>
                <a:ea typeface="Arial" pitchFamily="34" charset="-122"/>
                <a:cs typeface="Arial" pitchFamily="34" charset="-120"/>
              </a:rPr>
              <a:t>VÍ DỤ KHÁI NIỆM</a:t>
            </a:r>
            <a:endParaRPr lang="en-US" sz="950" dirty="0"/>
          </a:p>
        </p:txBody>
      </p:sp>
      <p:sp>
        <p:nvSpPr>
          <p:cNvPr id="7" name="Shape 5"/>
          <p:cNvSpPr/>
          <p:nvPr/>
        </p:nvSpPr>
        <p:spPr>
          <a:xfrm>
            <a:off x="987552" y="2743200"/>
            <a:ext cx="1508760" cy="1508760"/>
          </a:xfrm>
          <a:prstGeom prst="ellipse">
            <a:avLst/>
          </a:prstGeom>
          <a:solidFill>
            <a:srgbClr val="F0ECF7"/>
          </a:solidFill>
          <a:ln w="25400">
            <a:solidFill>
              <a:srgbClr val="725B9B"/>
            </a:solidFill>
            <a:prstDash val="solid"/>
          </a:ln>
          <a:effectLst>
            <a:outerShdw sx="100000" sy="100000" kx="0" ky="0" algn="bl" rotWithShape="0" blurRad="25400" dist="50800" dir="2700000">
              <a:srgbClr val="26384A">
                <a:alpha val="13000"/>
              </a:srgbClr>
            </a:outerShdw>
          </a:effectLst>
        </p:spPr>
      </p:sp>
      <p:sp>
        <p:nvSpPr>
          <p:cNvPr id="8" name="Text 6"/>
          <p:cNvSpPr/>
          <p:nvPr/>
        </p:nvSpPr>
        <p:spPr>
          <a:xfrm>
            <a:off x="1216152" y="3246120"/>
            <a:ext cx="1051560" cy="274320"/>
          </a:xfrm>
          <a:prstGeom prst="rect">
            <a:avLst/>
          </a:prstGeom>
          <a:noFill/>
          <a:ln/>
        </p:spPr>
        <p:txBody>
          <a:bodyPr wrap="square" lIns="0" tIns="0" rIns="0" bIns="0" rtlCol="0" anchor="ctr"/>
          <a:lstStyle/>
          <a:p>
            <a:pPr algn="ctr" indent="0" marL="0">
              <a:buNone/>
            </a:pPr>
            <a:r>
              <a:rPr lang="en-US" sz="1800" b="1" dirty="0">
                <a:solidFill>
                  <a:srgbClr val="725B9B"/>
                </a:solidFill>
                <a:latin typeface="Calibri" pitchFamily="34" charset="0"/>
                <a:ea typeface="Calibri" pitchFamily="34" charset="-122"/>
                <a:cs typeface="Calibri" pitchFamily="34" charset="-120"/>
              </a:rPr>
              <a:t>:Person</a:t>
            </a:r>
            <a:endParaRPr lang="en-US" sz="1800" dirty="0"/>
          </a:p>
        </p:txBody>
      </p:sp>
      <p:sp>
        <p:nvSpPr>
          <p:cNvPr id="9" name="Shape 7"/>
          <p:cNvSpPr/>
          <p:nvPr/>
        </p:nvSpPr>
        <p:spPr>
          <a:xfrm>
            <a:off x="5413248" y="2743200"/>
            <a:ext cx="1508760" cy="1508760"/>
          </a:xfrm>
          <a:prstGeom prst="ellipse">
            <a:avLst/>
          </a:prstGeom>
          <a:solidFill>
            <a:srgbClr val="EAF2F8"/>
          </a:solidFill>
          <a:ln w="25400">
            <a:solidFill>
              <a:srgbClr val="337B80"/>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5641848" y="3246120"/>
            <a:ext cx="1051560" cy="274320"/>
          </a:xfrm>
          <a:prstGeom prst="rect">
            <a:avLst/>
          </a:prstGeom>
          <a:noFill/>
          <a:ln/>
        </p:spPr>
        <p:txBody>
          <a:bodyPr wrap="square" lIns="0" tIns="0" rIns="0" bIns="0" rtlCol="0" anchor="ctr"/>
          <a:lstStyle/>
          <a:p>
            <a:pPr algn="ctr" indent="0" marL="0">
              <a:buNone/>
            </a:pPr>
            <a:r>
              <a:rPr lang="en-US" sz="1800" b="1" dirty="0">
                <a:solidFill>
                  <a:srgbClr val="337B80"/>
                </a:solidFill>
                <a:latin typeface="Calibri" pitchFamily="34" charset="0"/>
                <a:ea typeface="Calibri" pitchFamily="34" charset="-122"/>
                <a:cs typeface="Calibri" pitchFamily="34" charset="-120"/>
              </a:rPr>
              <a:t>:Movie</a:t>
            </a:r>
            <a:endParaRPr lang="en-US" sz="1800" dirty="0"/>
          </a:p>
        </p:txBody>
      </p:sp>
      <p:sp>
        <p:nvSpPr>
          <p:cNvPr id="11" name="Shape 9"/>
          <p:cNvSpPr/>
          <p:nvPr/>
        </p:nvSpPr>
        <p:spPr>
          <a:xfrm>
            <a:off x="2542032" y="3493008"/>
            <a:ext cx="2816352" cy="0"/>
          </a:xfrm>
          <a:prstGeom prst="line">
            <a:avLst/>
          </a:prstGeom>
          <a:noFill/>
          <a:ln w="31750">
            <a:solidFill>
              <a:srgbClr val="3D8B66"/>
            </a:solidFill>
            <a:prstDash val="solid"/>
            <a:tailEnd type="triangle"/>
          </a:ln>
        </p:spPr>
      </p:sp>
      <p:sp>
        <p:nvSpPr>
          <p:cNvPr id="12" name="Text 10"/>
          <p:cNvSpPr/>
          <p:nvPr/>
        </p:nvSpPr>
        <p:spPr>
          <a:xfrm>
            <a:off x="3218688" y="3035808"/>
            <a:ext cx="1508760" cy="237744"/>
          </a:xfrm>
          <a:prstGeom prst="rect">
            <a:avLst/>
          </a:prstGeom>
          <a:noFill/>
          <a:ln/>
        </p:spPr>
        <p:txBody>
          <a:bodyPr wrap="square" lIns="0" tIns="0" rIns="0" bIns="0" rtlCol="0" anchor="ctr"/>
          <a:lstStyle/>
          <a:p>
            <a:pPr algn="ctr" indent="0" marL="0">
              <a:buNone/>
            </a:pPr>
            <a:r>
              <a:rPr lang="en-US" sz="1100" b="1" dirty="0">
                <a:solidFill>
                  <a:srgbClr val="3D8B66"/>
                </a:solidFill>
                <a:latin typeface="Arial" pitchFamily="34" charset="0"/>
                <a:ea typeface="Arial" pitchFamily="34" charset="-122"/>
                <a:cs typeface="Arial" pitchFamily="34" charset="-120"/>
              </a:rPr>
              <a:t>:ACTED_IN</a:t>
            </a:r>
            <a:endParaRPr lang="en-US" sz="1100" dirty="0"/>
          </a:p>
        </p:txBody>
      </p:sp>
      <p:sp>
        <p:nvSpPr>
          <p:cNvPr id="13" name="Shape 11"/>
          <p:cNvSpPr/>
          <p:nvPr/>
        </p:nvSpPr>
        <p:spPr>
          <a:xfrm>
            <a:off x="896112" y="4681728"/>
            <a:ext cx="2057400" cy="960120"/>
          </a:xfrm>
          <a:prstGeom prst="roundRect">
            <a:avLst>
              <a:gd name="adj" fmla="val 5714"/>
            </a:avLst>
          </a:prstGeom>
          <a:solidFill>
            <a:srgbClr val="F0ECF7"/>
          </a:solidFill>
          <a:ln w="12700">
            <a:solidFill>
              <a:srgbClr val="D9CFE8"/>
            </a:solidFill>
            <a:prstDash val="solid"/>
          </a:ln>
        </p:spPr>
      </p:sp>
      <p:sp>
        <p:nvSpPr>
          <p:cNvPr id="14" name="Text 12"/>
          <p:cNvSpPr/>
          <p:nvPr/>
        </p:nvSpPr>
        <p:spPr>
          <a:xfrm>
            <a:off x="1124712" y="4864608"/>
            <a:ext cx="16002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Node properties</a:t>
            </a:r>
            <a:endParaRPr lang="en-US" sz="1300" dirty="0"/>
          </a:p>
        </p:txBody>
      </p:sp>
      <p:sp>
        <p:nvSpPr>
          <p:cNvPr id="15" name="Text 13"/>
          <p:cNvSpPr/>
          <p:nvPr/>
        </p:nvSpPr>
        <p:spPr>
          <a:xfrm>
            <a:off x="1124712" y="5285232"/>
            <a:ext cx="16002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name · birthday</a:t>
            </a:r>
            <a:endParaRPr lang="en-US" sz="1000" dirty="0"/>
          </a:p>
        </p:txBody>
      </p:sp>
      <p:sp>
        <p:nvSpPr>
          <p:cNvPr id="16" name="Shape 14"/>
          <p:cNvSpPr/>
          <p:nvPr/>
        </p:nvSpPr>
        <p:spPr>
          <a:xfrm>
            <a:off x="2999232" y="4681728"/>
            <a:ext cx="2286000" cy="960120"/>
          </a:xfrm>
          <a:prstGeom prst="roundRect">
            <a:avLst>
              <a:gd name="adj" fmla="val 5714"/>
            </a:avLst>
          </a:prstGeom>
          <a:solidFill>
            <a:srgbClr val="E8F4EE"/>
          </a:solidFill>
          <a:ln w="12700">
            <a:solidFill>
              <a:srgbClr val="C4E2D1"/>
            </a:solidFill>
            <a:prstDash val="solid"/>
          </a:ln>
        </p:spPr>
      </p:sp>
      <p:sp>
        <p:nvSpPr>
          <p:cNvPr id="17" name="Text 15"/>
          <p:cNvSpPr/>
          <p:nvPr/>
        </p:nvSpPr>
        <p:spPr>
          <a:xfrm>
            <a:off x="3227832" y="4864608"/>
            <a:ext cx="18288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Edge properties</a:t>
            </a:r>
            <a:endParaRPr lang="en-US" sz="1300" dirty="0"/>
          </a:p>
        </p:txBody>
      </p:sp>
      <p:sp>
        <p:nvSpPr>
          <p:cNvPr id="18" name="Text 16"/>
          <p:cNvSpPr/>
          <p:nvPr/>
        </p:nvSpPr>
        <p:spPr>
          <a:xfrm>
            <a:off x="3227832" y="5285232"/>
            <a:ext cx="18288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character · cast_order</a:t>
            </a:r>
            <a:endParaRPr lang="en-US" sz="1000" dirty="0"/>
          </a:p>
        </p:txBody>
      </p:sp>
      <p:sp>
        <p:nvSpPr>
          <p:cNvPr id="19" name="Shape 17"/>
          <p:cNvSpPr/>
          <p:nvPr/>
        </p:nvSpPr>
        <p:spPr>
          <a:xfrm>
            <a:off x="5330952" y="4681728"/>
            <a:ext cx="2057400" cy="960120"/>
          </a:xfrm>
          <a:prstGeom prst="roundRect">
            <a:avLst>
              <a:gd name="adj" fmla="val 5714"/>
            </a:avLst>
          </a:prstGeom>
          <a:solidFill>
            <a:srgbClr val="EAF2F8"/>
          </a:solidFill>
          <a:ln w="12700">
            <a:solidFill>
              <a:srgbClr val="BDD4E5"/>
            </a:solidFill>
            <a:prstDash val="solid"/>
          </a:ln>
        </p:spPr>
      </p:sp>
      <p:sp>
        <p:nvSpPr>
          <p:cNvPr id="20" name="Text 18"/>
          <p:cNvSpPr/>
          <p:nvPr/>
        </p:nvSpPr>
        <p:spPr>
          <a:xfrm>
            <a:off x="5559552" y="4864608"/>
            <a:ext cx="160020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Node properties</a:t>
            </a:r>
            <a:endParaRPr lang="en-US" sz="1300" dirty="0"/>
          </a:p>
        </p:txBody>
      </p:sp>
      <p:sp>
        <p:nvSpPr>
          <p:cNvPr id="21" name="Text 19"/>
          <p:cNvSpPr/>
          <p:nvPr/>
        </p:nvSpPr>
        <p:spPr>
          <a:xfrm>
            <a:off x="5559552" y="5285232"/>
            <a:ext cx="160020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title · release_date</a:t>
            </a:r>
            <a:endParaRPr lang="en-US" sz="1000" dirty="0"/>
          </a:p>
        </p:txBody>
      </p:sp>
      <p:sp>
        <p:nvSpPr>
          <p:cNvPr id="22" name="Shape 20"/>
          <p:cNvSpPr/>
          <p:nvPr/>
        </p:nvSpPr>
        <p:spPr>
          <a:xfrm>
            <a:off x="7973568" y="1792224"/>
            <a:ext cx="356616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23" name="Shape 21"/>
          <p:cNvSpPr/>
          <p:nvPr/>
        </p:nvSpPr>
        <p:spPr>
          <a:xfrm>
            <a:off x="8174736" y="1993392"/>
            <a:ext cx="384048" cy="384048"/>
          </a:xfrm>
          <a:prstGeom prst="ellipse">
            <a:avLst/>
          </a:prstGeom>
          <a:solidFill>
            <a:srgbClr val="337B80"/>
          </a:solidFill>
          <a:ln w="12700">
            <a:solidFill>
              <a:srgbClr val="337B80"/>
            </a:solidFill>
            <a:prstDash val="solid"/>
          </a:ln>
        </p:spPr>
      </p:sp>
      <p:sp>
        <p:nvSpPr>
          <p:cNvPr id="24" name="Text 22"/>
          <p:cNvSpPr/>
          <p:nvPr/>
        </p:nvSpPr>
        <p:spPr>
          <a:xfrm>
            <a:off x="8174736" y="204825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5" name="Text 23"/>
          <p:cNvSpPr/>
          <p:nvPr/>
        </p:nvSpPr>
        <p:spPr>
          <a:xfrm>
            <a:off x="8686800" y="1975104"/>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Node</a:t>
            </a:r>
            <a:endParaRPr lang="en-US" sz="1600" dirty="0"/>
          </a:p>
        </p:txBody>
      </p:sp>
      <p:sp>
        <p:nvSpPr>
          <p:cNvPr id="26" name="Text 24"/>
          <p:cNvSpPr/>
          <p:nvPr/>
        </p:nvSpPr>
        <p:spPr>
          <a:xfrm>
            <a:off x="8202168" y="2395728"/>
            <a:ext cx="3108960"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Thực thể có label, định danh và thuộc tính.</a:t>
            </a:r>
            <a:endParaRPr lang="en-US" sz="1150" dirty="0"/>
          </a:p>
        </p:txBody>
      </p:sp>
      <p:sp>
        <p:nvSpPr>
          <p:cNvPr id="27" name="Shape 25"/>
          <p:cNvSpPr/>
          <p:nvPr/>
        </p:nvSpPr>
        <p:spPr>
          <a:xfrm>
            <a:off x="7973568" y="3145536"/>
            <a:ext cx="356616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28" name="Shape 26"/>
          <p:cNvSpPr/>
          <p:nvPr/>
        </p:nvSpPr>
        <p:spPr>
          <a:xfrm>
            <a:off x="8174736" y="3346704"/>
            <a:ext cx="384048" cy="384048"/>
          </a:xfrm>
          <a:prstGeom prst="ellipse">
            <a:avLst/>
          </a:prstGeom>
          <a:solidFill>
            <a:srgbClr val="3D8B66"/>
          </a:solidFill>
          <a:ln w="12700">
            <a:solidFill>
              <a:srgbClr val="3D8B66"/>
            </a:solidFill>
            <a:prstDash val="solid"/>
          </a:ln>
        </p:spPr>
      </p:sp>
      <p:sp>
        <p:nvSpPr>
          <p:cNvPr id="29" name="Text 27"/>
          <p:cNvSpPr/>
          <p:nvPr/>
        </p:nvSpPr>
        <p:spPr>
          <a:xfrm>
            <a:off x="8174736" y="3401568"/>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30" name="Text 28"/>
          <p:cNvSpPr/>
          <p:nvPr/>
        </p:nvSpPr>
        <p:spPr>
          <a:xfrm>
            <a:off x="8686800" y="3328416"/>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Relationship</a:t>
            </a:r>
            <a:endParaRPr lang="en-US" sz="1600" dirty="0"/>
          </a:p>
        </p:txBody>
      </p:sp>
      <p:sp>
        <p:nvSpPr>
          <p:cNvPr id="31" name="Text 29"/>
          <p:cNvSpPr/>
          <p:nvPr/>
        </p:nvSpPr>
        <p:spPr>
          <a:xfrm>
            <a:off x="8202168" y="3749040"/>
            <a:ext cx="3108960" cy="310896"/>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Cạnh có loại, hướng và nối hai node.</a:t>
            </a:r>
            <a:endParaRPr lang="en-US" sz="1150" dirty="0"/>
          </a:p>
        </p:txBody>
      </p:sp>
      <p:sp>
        <p:nvSpPr>
          <p:cNvPr id="32" name="Shape 30"/>
          <p:cNvSpPr/>
          <p:nvPr/>
        </p:nvSpPr>
        <p:spPr>
          <a:xfrm>
            <a:off x="7973568" y="4498848"/>
            <a:ext cx="356616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33" name="Shape 31"/>
          <p:cNvSpPr/>
          <p:nvPr/>
        </p:nvSpPr>
        <p:spPr>
          <a:xfrm>
            <a:off x="8174736" y="4700016"/>
            <a:ext cx="384048" cy="384048"/>
          </a:xfrm>
          <a:prstGeom prst="ellipse">
            <a:avLst/>
          </a:prstGeom>
          <a:solidFill>
            <a:srgbClr val="725B9B"/>
          </a:solidFill>
          <a:ln w="12700">
            <a:solidFill>
              <a:srgbClr val="725B9B"/>
            </a:solidFill>
            <a:prstDash val="solid"/>
          </a:ln>
        </p:spPr>
      </p:sp>
      <p:sp>
        <p:nvSpPr>
          <p:cNvPr id="34" name="Text 32"/>
          <p:cNvSpPr/>
          <p:nvPr/>
        </p:nvSpPr>
        <p:spPr>
          <a:xfrm>
            <a:off x="8174736" y="47548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P</a:t>
            </a:r>
            <a:endParaRPr lang="en-US" sz="1000" dirty="0"/>
          </a:p>
        </p:txBody>
      </p:sp>
      <p:sp>
        <p:nvSpPr>
          <p:cNvPr id="35" name="Text 33"/>
          <p:cNvSpPr/>
          <p:nvPr/>
        </p:nvSpPr>
        <p:spPr>
          <a:xfrm>
            <a:off x="8686800" y="4681728"/>
            <a:ext cx="265176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Property</a:t>
            </a:r>
            <a:endParaRPr lang="en-US" sz="1600" dirty="0"/>
          </a:p>
        </p:txBody>
      </p:sp>
      <p:sp>
        <p:nvSpPr>
          <p:cNvPr id="36" name="Text 34"/>
          <p:cNvSpPr/>
          <p:nvPr/>
        </p:nvSpPr>
        <p:spPr>
          <a:xfrm>
            <a:off x="8202168" y="5102352"/>
            <a:ext cx="3108960" cy="31089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Dữ liệu mô tả có thể nằm trên cả node và cạnh.</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CẤU TRÚC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Neighborhood, path và subgraph là đơn vị của tư duy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truy vấn graph không chỉ lọc bản ghi; chúng khám phá cấu trúc liên kết quanh thực thể.</a:t>
            </a:r>
            <a:endParaRPr lang="en-US" sz="1250" dirty="0"/>
          </a:p>
        </p:txBody>
      </p:sp>
      <p:sp>
        <p:nvSpPr>
          <p:cNvPr id="5" name="Shape 3"/>
          <p:cNvSpPr/>
          <p:nvPr/>
        </p:nvSpPr>
        <p:spPr>
          <a:xfrm>
            <a:off x="621792" y="1783080"/>
            <a:ext cx="3429000" cy="406908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Neighborhood</a:t>
            </a:r>
            <a:endParaRPr lang="en-US" sz="2100" dirty="0"/>
          </a:p>
        </p:txBody>
      </p:sp>
      <p:sp>
        <p:nvSpPr>
          <p:cNvPr id="9" name="Text 7"/>
          <p:cNvSpPr/>
          <p:nvPr/>
        </p:nvSpPr>
        <p:spPr>
          <a:xfrm>
            <a:off x="850392" y="2386584"/>
            <a:ext cx="2971800" cy="32826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Tập node kề một node qua một hoặc nhiều loại quan hệ.</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Ví dụ:</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các diễn viên, đạo diễn, thể loại và keyword lân cận một Movie.</a:t>
            </a:r>
            <a:endParaRPr lang="en-US" sz="1400" dirty="0"/>
          </a:p>
        </p:txBody>
      </p:sp>
      <p:sp>
        <p:nvSpPr>
          <p:cNvPr id="10" name="Shape 8"/>
          <p:cNvSpPr/>
          <p:nvPr/>
        </p:nvSpPr>
        <p:spPr>
          <a:xfrm>
            <a:off x="4379976" y="1783080"/>
            <a:ext cx="3429000" cy="406908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Path</a:t>
            </a:r>
            <a:endParaRPr lang="en-US" sz="2100" dirty="0"/>
          </a:p>
        </p:txBody>
      </p:sp>
      <p:sp>
        <p:nvSpPr>
          <p:cNvPr id="14" name="Text 12"/>
          <p:cNvSpPr/>
          <p:nvPr/>
        </p:nvSpPr>
        <p:spPr>
          <a:xfrm>
            <a:off x="4608576" y="2386584"/>
            <a:ext cx="2971800" cy="32826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Dãy node và relationship nối hai thực thể.</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Độ dài path là số cạnh; shortest path tối thiểu hóa số bước trong phạm vi đã định.</a:t>
            </a:r>
            <a:endParaRPr lang="en-US" sz="1400" dirty="0"/>
          </a:p>
        </p:txBody>
      </p:sp>
      <p:sp>
        <p:nvSpPr>
          <p:cNvPr id="15" name="Shape 13"/>
          <p:cNvSpPr/>
          <p:nvPr/>
        </p:nvSpPr>
        <p:spPr>
          <a:xfrm>
            <a:off x="8138160" y="1783080"/>
            <a:ext cx="3429000" cy="406908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D8B66"/>
          </a:solidFill>
          <a:ln w="12700">
            <a:solidFill>
              <a:srgbClr val="3D8B66"/>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2100" b="1" dirty="0">
                <a:solidFill>
                  <a:srgbClr val="3D8B66"/>
                </a:solidFill>
                <a:latin typeface="Calibri" pitchFamily="34" charset="0"/>
                <a:ea typeface="Calibri" pitchFamily="34" charset="-122"/>
                <a:cs typeface="Calibri" pitchFamily="34" charset="-120"/>
              </a:rPr>
              <a:t>Subgraph</a:t>
            </a:r>
            <a:endParaRPr lang="en-US" sz="2100" dirty="0"/>
          </a:p>
        </p:txBody>
      </p:sp>
      <p:sp>
        <p:nvSpPr>
          <p:cNvPr id="19" name="Text 17"/>
          <p:cNvSpPr/>
          <p:nvPr/>
        </p:nvSpPr>
        <p:spPr>
          <a:xfrm>
            <a:off x="8366760" y="2386584"/>
            <a:ext cx="2971800" cy="3282696"/>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Một phần của graph được cảm sinh bởi tập node/edge liên quan.</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Subgraph giúp giới hạn ngữ cảnh, trình bày evidence và tạo snapshot đánh giá.</a:t>
            </a:r>
            <a:endParaRPr lang="en-US" sz="1400" dirty="0"/>
          </a:p>
        </p:txBody>
      </p:sp>
      <p:sp>
        <p:nvSpPr>
          <p:cNvPr id="20" name="Shape 18"/>
          <p:cNvSpPr/>
          <p:nvPr/>
        </p:nvSpPr>
        <p:spPr>
          <a:xfrm>
            <a:off x="2761488" y="4709160"/>
            <a:ext cx="1965960" cy="0"/>
          </a:xfrm>
          <a:prstGeom prst="line">
            <a:avLst/>
          </a:prstGeom>
          <a:noFill/>
          <a:ln w="19050">
            <a:solidFill>
              <a:srgbClr val="697586"/>
            </a:solidFill>
            <a:prstDash val="solid"/>
            <a:tailEnd type="triangle"/>
          </a:ln>
        </p:spPr>
      </p:sp>
      <p:sp>
        <p:nvSpPr>
          <p:cNvPr id="21" name="Shape 19"/>
          <p:cNvSpPr/>
          <p:nvPr/>
        </p:nvSpPr>
        <p:spPr>
          <a:xfrm>
            <a:off x="6528816" y="4709160"/>
            <a:ext cx="1965960" cy="0"/>
          </a:xfrm>
          <a:prstGeom prst="line">
            <a:avLst/>
          </a:prstGeom>
          <a:noFill/>
          <a:ln w="19050">
            <a:solidFill>
              <a:srgbClr val="697586"/>
            </a:solidFill>
            <a:prstDash val="solid"/>
            <a:tailEnd type="triangle"/>
          </a:ln>
        </p:spPr>
      </p:sp>
      <p:sp>
        <p:nvSpPr>
          <p:cNvPr id="22" name="Text 20"/>
          <p:cNvSpPr/>
          <p:nvPr/>
        </p:nvSpPr>
        <p:spPr>
          <a:xfrm>
            <a:off x="2999232"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mở rộng nhiều bước</a:t>
            </a:r>
            <a:endParaRPr lang="en-US" sz="850" dirty="0"/>
          </a:p>
        </p:txBody>
      </p:sp>
      <p:sp>
        <p:nvSpPr>
          <p:cNvPr id="23" name="Text 21"/>
          <p:cNvSpPr/>
          <p:nvPr/>
        </p:nvSpPr>
        <p:spPr>
          <a:xfrm>
            <a:off x="6766560" y="4370832"/>
            <a:ext cx="1481328" cy="201168"/>
          </a:xfrm>
          <a:prstGeom prst="rect">
            <a:avLst/>
          </a:prstGeom>
          <a:noFill/>
          <a:ln/>
        </p:spPr>
        <p:txBody>
          <a:bodyPr wrap="square" lIns="0" tIns="0" rIns="0" bIns="0" rtlCol="0" anchor="ctr"/>
          <a:lstStyle/>
          <a:p>
            <a:pPr algn="ctr" indent="0" marL="0">
              <a:buNone/>
            </a:pPr>
            <a:r>
              <a:rPr lang="en-US" sz="850" b="1" dirty="0">
                <a:solidFill>
                  <a:srgbClr val="697586"/>
                </a:solidFill>
                <a:latin typeface="Arial" pitchFamily="34" charset="0"/>
                <a:ea typeface="Arial" pitchFamily="34" charset="-122"/>
                <a:cs typeface="Arial" pitchFamily="34" charset="-120"/>
              </a:rPr>
              <a:t>giữ phần liên quan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NGUYÊN TẮC THIẾT KẾ</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Bốn điều kiện để một graph trở thành Knowledge Graph hữu dụng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Node và edge mới chỉ là cấu trúc; identity, schema, provenance và competency questions tạo nên lớp tri thức.</a:t>
            </a:r>
            <a:endParaRPr lang="en-US" sz="1250" dirty="0"/>
          </a:p>
        </p:txBody>
      </p:sp>
      <p:sp>
        <p:nvSpPr>
          <p:cNvPr id="5" name="Shape 3"/>
          <p:cNvSpPr/>
          <p:nvPr/>
        </p:nvSpPr>
        <p:spPr>
          <a:xfrm>
            <a:off x="621792" y="1755648"/>
            <a:ext cx="5349240" cy="1965960"/>
          </a:xfrm>
          <a:prstGeom prst="roundRect">
            <a:avLst>
              <a:gd name="adj" fmla="val 2791"/>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337B80"/>
                </a:solidFill>
                <a:latin typeface="Calibri" pitchFamily="34" charset="0"/>
                <a:ea typeface="Calibri" pitchFamily="34" charset="-122"/>
                <a:cs typeface="Calibri" pitchFamily="34" charset="-120"/>
              </a:rPr>
              <a:t>1 · Identity — biết đang nói về ai/cái gì</a:t>
            </a:r>
            <a:endParaRPr lang="en-US" sz="1800" dirty="0"/>
          </a:p>
        </p:txBody>
      </p:sp>
      <p:sp>
        <p:nvSpPr>
          <p:cNvPr id="7" name="Text 5"/>
          <p:cNvSpPr/>
          <p:nvPr/>
        </p:nvSpPr>
        <p:spPr>
          <a:xfrm>
            <a:off x="850392" y="2359152"/>
            <a:ext cx="4892040" cy="11795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Mỗi thực thể cần một định danh ổn định, độc lập với cách viết tên. Trong project, source ID của TMDB/IMDb được ưu tiên; tên chỉ phục vụ hiển thị và tìm kiếm. Điều này ngăn hai người trùng tên bị gộp và một phim có nhiều cách viết bị tách sai.</a:t>
            </a:r>
            <a:endParaRPr lang="en-US" sz="1250" dirty="0"/>
          </a:p>
        </p:txBody>
      </p:sp>
      <p:sp>
        <p:nvSpPr>
          <p:cNvPr id="8" name="Shape 6"/>
          <p:cNvSpPr/>
          <p:nvPr/>
        </p:nvSpPr>
        <p:spPr>
          <a:xfrm>
            <a:off x="6217920" y="1755648"/>
            <a:ext cx="5349240" cy="1965960"/>
          </a:xfrm>
          <a:prstGeom prst="roundRect">
            <a:avLst>
              <a:gd name="adj" fmla="val 2791"/>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38528"/>
            <a:ext cx="489204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2 · Schema — biết fact có hình dạng nào</a:t>
            </a:r>
            <a:endParaRPr lang="en-US" sz="1800" dirty="0"/>
          </a:p>
        </p:txBody>
      </p:sp>
      <p:sp>
        <p:nvSpPr>
          <p:cNvPr id="10" name="Text 8"/>
          <p:cNvSpPr/>
          <p:nvPr/>
        </p:nvSpPr>
        <p:spPr>
          <a:xfrm>
            <a:off x="6446520" y="2359152"/>
            <a:ext cx="4892040" cy="11795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Schema quy định label, loại relationship, thuộc tính bắt buộc và miền giá trị. Nó tạo một ngôn ngữ chung để dữ liệu từ nhiều nguồn có thể nhập vào cùng mô hình và để query không phụ thuộc cấu trúc tùy ý.</a:t>
            </a:r>
            <a:endParaRPr lang="en-US" sz="1250" dirty="0"/>
          </a:p>
        </p:txBody>
      </p:sp>
      <p:sp>
        <p:nvSpPr>
          <p:cNvPr id="11" name="Shape 9"/>
          <p:cNvSpPr/>
          <p:nvPr/>
        </p:nvSpPr>
        <p:spPr>
          <a:xfrm>
            <a:off x="621792" y="4005072"/>
            <a:ext cx="5349240" cy="1965960"/>
          </a:xfrm>
          <a:prstGeom prst="roundRect">
            <a:avLst>
              <a:gd name="adj" fmla="val 2791"/>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50392"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3D8B66"/>
                </a:solidFill>
                <a:latin typeface="Calibri" pitchFamily="34" charset="0"/>
                <a:ea typeface="Calibri" pitchFamily="34" charset="-122"/>
                <a:cs typeface="Calibri" pitchFamily="34" charset="-120"/>
              </a:rPr>
              <a:t>3 · Provenance — biết fact đến từ đâu</a:t>
            </a:r>
            <a:endParaRPr lang="en-US" sz="1800" dirty="0"/>
          </a:p>
        </p:txBody>
      </p:sp>
      <p:sp>
        <p:nvSpPr>
          <p:cNvPr id="13" name="Text 11"/>
          <p:cNvSpPr/>
          <p:nvPr/>
        </p:nvSpPr>
        <p:spPr>
          <a:xfrm>
            <a:off x="850392" y="4608576"/>
            <a:ext cx="4892040" cy="11795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Fact được khẳng định cần gắn với nguồn; fact suy ra cần giữ luật và supporting facts. Provenance giúp kiểm tra, tái tạo và giải thích kết quả thay vì coi graph như một hộp đen.</a:t>
            </a:r>
            <a:endParaRPr lang="en-US" sz="1250" dirty="0"/>
          </a:p>
        </p:txBody>
      </p:sp>
      <p:sp>
        <p:nvSpPr>
          <p:cNvPr id="14" name="Shape 12"/>
          <p:cNvSpPr/>
          <p:nvPr/>
        </p:nvSpPr>
        <p:spPr>
          <a:xfrm>
            <a:off x="6217920" y="4005072"/>
            <a:ext cx="5349240" cy="1965960"/>
          </a:xfrm>
          <a:prstGeom prst="roundRect">
            <a:avLst>
              <a:gd name="adj" fmla="val 2791"/>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6446520" y="4187952"/>
            <a:ext cx="4892040" cy="301752"/>
          </a:xfrm>
          <a:prstGeom prst="rect">
            <a:avLst/>
          </a:prstGeom>
          <a:noFill/>
          <a:ln/>
        </p:spPr>
        <p:txBody>
          <a:bodyPr wrap="square" lIns="0" tIns="0" rIns="0" bIns="0" rtlCol="0" anchor="ctr">
            <a:normAutofit/>
          </a:bodyPr>
          <a:lstStyle/>
          <a:p>
            <a:pPr indent="0" marL="0">
              <a:buNone/>
            </a:pPr>
            <a:r>
              <a:rPr lang="en-US" sz="1800" b="1" dirty="0">
                <a:solidFill>
                  <a:srgbClr val="D38B36"/>
                </a:solidFill>
                <a:latin typeface="Calibri" pitchFamily="34" charset="0"/>
                <a:ea typeface="Calibri" pitchFamily="34" charset="-122"/>
                <a:cs typeface="Calibri" pitchFamily="34" charset="-120"/>
              </a:rPr>
              <a:t>4 · Competency questions — biết graph dùng để làm gì</a:t>
            </a:r>
            <a:endParaRPr lang="en-US" sz="1800" dirty="0"/>
          </a:p>
        </p:txBody>
      </p:sp>
      <p:sp>
        <p:nvSpPr>
          <p:cNvPr id="16" name="Text 14"/>
          <p:cNvSpPr/>
          <p:nvPr/>
        </p:nvSpPr>
        <p:spPr>
          <a:xfrm>
            <a:off x="6446520" y="4608576"/>
            <a:ext cx="4892040" cy="117957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Câu hỏi năng lực xác định phạm vi tri thức cần biểu diễn. Nếu schema không trả lời được các câu hỏi đã công bố, việc có nhiều node/edge không tạo ra giá trị nghiệp vụ.</a:t>
            </a:r>
            <a:endParaRPr lang="en-US" sz="12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RÀNG BUỘC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Constraint và index biến schema logic thành bảo đảm vận hành</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Neo4j không tự hiểu mọi quy tắc miền; một phần tính đúng đắn phải được khai báo và kiểm tra rõ ràng.</a:t>
            </a:r>
            <a:endParaRPr lang="en-US" sz="1250" dirty="0"/>
          </a:p>
        </p:txBody>
      </p:sp>
      <p:sp>
        <p:nvSpPr>
          <p:cNvPr id="5" name="Shape 3"/>
          <p:cNvSpPr/>
          <p:nvPr/>
        </p:nvSpPr>
        <p:spPr>
          <a:xfrm>
            <a:off x="621792" y="1783080"/>
            <a:ext cx="3429000" cy="4114800"/>
          </a:xfrm>
          <a:prstGeom prst="roundRect">
            <a:avLst>
              <a:gd name="adj" fmla="val 16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U</a:t>
            </a:r>
            <a:endParaRPr lang="en-US" sz="1000" dirty="0"/>
          </a:p>
        </p:txBody>
      </p:sp>
      <p:sp>
        <p:nvSpPr>
          <p:cNvPr id="8" name="Text 6"/>
          <p:cNvSpPr/>
          <p:nvPr/>
        </p:nvSpPr>
        <p:spPr>
          <a:xfrm>
            <a:off x="1335024"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Uniqueness constraint</a:t>
            </a:r>
            <a:endParaRPr lang="en-US" sz="1900" dirty="0"/>
          </a:p>
        </p:txBody>
      </p:sp>
      <p:sp>
        <p:nvSpPr>
          <p:cNvPr id="9" name="Text 7"/>
          <p:cNvSpPr/>
          <p:nvPr/>
        </p:nvSpPr>
        <p:spPr>
          <a:xfrm>
            <a:off x="850392" y="2386584"/>
            <a:ext cx="2971800" cy="332841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Bảo đảm khóa ổn định không xuất hiện hai lần trong cùng label.</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Ví dụ:</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Movie.tmdb_id</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Person.person_id</a:t>
            </a: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Genre.genre_id</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Tác dụng: ngăn duplicate ngay tại tầng lưu trữ và làm cho MERGE có ý nghĩa xác định.</a:t>
            </a:r>
            <a:endParaRPr lang="en-US" sz="1300" dirty="0"/>
          </a:p>
        </p:txBody>
      </p:sp>
      <p:sp>
        <p:nvSpPr>
          <p:cNvPr id="10" name="Shape 8"/>
          <p:cNvSpPr/>
          <p:nvPr/>
        </p:nvSpPr>
        <p:spPr>
          <a:xfrm>
            <a:off x="4379976" y="1783080"/>
            <a:ext cx="3429000" cy="4114800"/>
          </a:xfrm>
          <a:prstGeom prst="roundRect">
            <a:avLst>
              <a:gd name="adj" fmla="val 16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4581144" y="1984248"/>
            <a:ext cx="384048" cy="384048"/>
          </a:xfrm>
          <a:prstGeom prst="ellipse">
            <a:avLst/>
          </a:prstGeom>
          <a:solidFill>
            <a:srgbClr val="3D8B66"/>
          </a:solidFill>
          <a:ln w="12700">
            <a:solidFill>
              <a:srgbClr val="3D8B66"/>
            </a:solidFill>
            <a:prstDash val="solid"/>
          </a:ln>
        </p:spPr>
      </p:sp>
      <p:sp>
        <p:nvSpPr>
          <p:cNvPr id="12" name="Text 10"/>
          <p:cNvSpPr/>
          <p:nvPr/>
        </p:nvSpPr>
        <p:spPr>
          <a:xfrm>
            <a:off x="4581144"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V</a:t>
            </a:r>
            <a:endParaRPr lang="en-US" sz="1000" dirty="0"/>
          </a:p>
        </p:txBody>
      </p:sp>
      <p:sp>
        <p:nvSpPr>
          <p:cNvPr id="13" name="Text 11"/>
          <p:cNvSpPr/>
          <p:nvPr/>
        </p:nvSpPr>
        <p:spPr>
          <a:xfrm>
            <a:off x="5093208"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Property existence &amp; validation</a:t>
            </a:r>
            <a:endParaRPr lang="en-US" sz="1900" dirty="0"/>
          </a:p>
        </p:txBody>
      </p:sp>
      <p:sp>
        <p:nvSpPr>
          <p:cNvPr id="14" name="Text 12"/>
          <p:cNvSpPr/>
          <p:nvPr/>
        </p:nvSpPr>
        <p:spPr>
          <a:xfrm>
            <a:off x="4608576" y="2386584"/>
            <a:ext cx="2971800" cy="3328416"/>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Các thuộc tính như ID và tên được kiểm tra trước hoặc sau import. Project còn kiểm tra orphan Movie, kiểu đầu mút relationship, thuộc tính bắt buộc và fact suy ra không có bằng chứng.</a:t>
            </a:r>
            <a:endParaRPr lang="en-US" sz="1250" dirty="0"/>
          </a:p>
          <a:p>
            <a:pPr indent="0" marL="0">
              <a:buNone/>
            </a:pP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Constraint trong DB và quality gate trong pipeline bổ sung cho nhau.</a:t>
            </a:r>
            <a:endParaRPr lang="en-US" sz="1250" dirty="0"/>
          </a:p>
        </p:txBody>
      </p:sp>
      <p:sp>
        <p:nvSpPr>
          <p:cNvPr id="15" name="Shape 13"/>
          <p:cNvSpPr/>
          <p:nvPr/>
        </p:nvSpPr>
        <p:spPr>
          <a:xfrm>
            <a:off x="8138160" y="1783080"/>
            <a:ext cx="3429000" cy="4114800"/>
          </a:xfrm>
          <a:prstGeom prst="roundRect">
            <a:avLst>
              <a:gd name="adj" fmla="val 16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339328" y="1984248"/>
            <a:ext cx="384048" cy="384048"/>
          </a:xfrm>
          <a:prstGeom prst="ellipse">
            <a:avLst/>
          </a:prstGeom>
          <a:solidFill>
            <a:srgbClr val="337B80"/>
          </a:solidFill>
          <a:ln w="12700">
            <a:solidFill>
              <a:srgbClr val="337B80"/>
            </a:solidFill>
            <a:prstDash val="solid"/>
          </a:ln>
        </p:spPr>
      </p:sp>
      <p:sp>
        <p:nvSpPr>
          <p:cNvPr id="17" name="Text 15"/>
          <p:cNvSpPr/>
          <p:nvPr/>
        </p:nvSpPr>
        <p:spPr>
          <a:xfrm>
            <a:off x="833932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a:t>
            </a:r>
            <a:endParaRPr lang="en-US" sz="1000" dirty="0"/>
          </a:p>
        </p:txBody>
      </p:sp>
      <p:sp>
        <p:nvSpPr>
          <p:cNvPr id="18" name="Text 16"/>
          <p:cNvSpPr/>
          <p:nvPr/>
        </p:nvSpPr>
        <p:spPr>
          <a:xfrm>
            <a:off x="8851392" y="1965960"/>
            <a:ext cx="251460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Index và full-text index</a:t>
            </a:r>
            <a:endParaRPr lang="en-US" sz="1900" dirty="0"/>
          </a:p>
        </p:txBody>
      </p:sp>
      <p:sp>
        <p:nvSpPr>
          <p:cNvPr id="19" name="Text 17"/>
          <p:cNvSpPr/>
          <p:nvPr/>
        </p:nvSpPr>
        <p:spPr>
          <a:xfrm>
            <a:off x="8366760" y="2386584"/>
            <a:ext cx="2971800" cy="3328416"/>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Index tăng tốc tra cứu theo thuộc tính; full-text index tạo candidate cho entity linking theo tên.</a:t>
            </a:r>
            <a:endParaRPr lang="en-US" sz="1300" dirty="0"/>
          </a:p>
          <a:p>
            <a:pPr indent="0" marL="0">
              <a:buNone/>
            </a:pPr>
            <a:endParaRPr lang="en-US" sz="1300" dirty="0"/>
          </a:p>
          <a:p>
            <a:pPr indent="0" marL="0">
              <a:buNone/>
            </a:pPr>
            <a:r>
              <a:rPr lang="en-US" sz="1300" dirty="0">
                <a:solidFill>
                  <a:srgbClr val="172B3A"/>
                </a:solidFill>
                <a:latin typeface="Calibri" pitchFamily="34" charset="0"/>
                <a:ea typeface="Calibri" pitchFamily="34" charset="-122"/>
                <a:cs typeface="Calibri" pitchFamily="34" charset="-120"/>
              </a:rPr>
              <a:t>Index không thay đổi ngữ nghĩa của graph. Nó chỉ tối ưu cách tìm điểm bắt đầu trước khi traversal tiếp tục qua relationship.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 VÀ 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vừa truy vấn mẫu đường đi, vừa vật chất hóa luật nghiệp vụ</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ngôn ngữ thống nhất cho constraint, traversal, aggregation và derived relationship.</a:t>
            </a:r>
            <a:endParaRPr lang="en-US" sz="1250" dirty="0"/>
          </a:p>
        </p:txBody>
      </p:sp>
      <p:sp>
        <p:nvSpPr>
          <p:cNvPr id="5" name="Shape 3"/>
          <p:cNvSpPr/>
          <p:nvPr/>
        </p:nvSpPr>
        <p:spPr>
          <a:xfrm>
            <a:off x="658368" y="1783080"/>
            <a:ext cx="5303520" cy="4160520"/>
          </a:xfrm>
          <a:prstGeom prst="roundRect">
            <a:avLst>
              <a:gd name="adj" fmla="val 1319"/>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8696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337B80"/>
                </a:solidFill>
                <a:latin typeface="Calibri" pitchFamily="34" charset="0"/>
                <a:ea typeface="Calibri" pitchFamily="34" charset="-122"/>
                <a:cs typeface="Calibri" pitchFamily="34" charset="-120"/>
              </a:rPr>
              <a:t>Truy vấn bằng pattern</a:t>
            </a:r>
            <a:endParaRPr lang="en-US" sz="2100" dirty="0"/>
          </a:p>
        </p:txBody>
      </p:sp>
      <p:sp>
        <p:nvSpPr>
          <p:cNvPr id="7" name="Text 5"/>
          <p:cNvSpPr/>
          <p:nvPr/>
        </p:nvSpPr>
        <p:spPr>
          <a:xfrm>
            <a:off x="88696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(p:Person)-[:DIRECTED]-&gt;(m:Movie)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WHERE p.name = $name</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RETURN m.title</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Pattern thể hiện trực tiếp node và cạnh cần tìm; giá trị người dùng được truyền bằng parameter.</a:t>
            </a:r>
            <a:endParaRPr lang="en-US" sz="1500" dirty="0"/>
          </a:p>
        </p:txBody>
      </p:sp>
      <p:sp>
        <p:nvSpPr>
          <p:cNvPr id="8" name="Shape 6"/>
          <p:cNvSpPr/>
          <p:nvPr/>
        </p:nvSpPr>
        <p:spPr>
          <a:xfrm>
            <a:off x="6236208" y="1783080"/>
            <a:ext cx="5303520" cy="4160520"/>
          </a:xfrm>
          <a:prstGeom prst="roundRect">
            <a:avLst>
              <a:gd name="adj" fmla="val 1319"/>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64808" y="1965960"/>
            <a:ext cx="4846320" cy="301752"/>
          </a:xfrm>
          <a:prstGeom prst="rect">
            <a:avLst/>
          </a:prstGeom>
          <a:noFill/>
          <a:ln/>
        </p:spPr>
        <p:txBody>
          <a:bodyPr wrap="square" lIns="0" tIns="0" rIns="0" bIns="0" rtlCol="0" anchor="ctr">
            <a:normAutofit/>
          </a:bodyPr>
          <a:lstStyle/>
          <a:p>
            <a:pPr indent="0" marL="0">
              <a:buNone/>
            </a:pPr>
            <a:r>
              <a:rPr lang="en-US" sz="2100" b="1" dirty="0">
                <a:solidFill>
                  <a:srgbClr val="725B9B"/>
                </a:solidFill>
                <a:latin typeface="Calibri" pitchFamily="34" charset="0"/>
                <a:ea typeface="Calibri" pitchFamily="34" charset="-122"/>
                <a:cs typeface="Calibri" pitchFamily="34" charset="-120"/>
              </a:rPr>
              <a:t>Suy diễn bằng rule</a:t>
            </a:r>
            <a:endParaRPr lang="en-US" sz="2100" dirty="0"/>
          </a:p>
        </p:txBody>
      </p:sp>
      <p:sp>
        <p:nvSpPr>
          <p:cNvPr id="10" name="Text 8"/>
          <p:cNvSpPr/>
          <p:nvPr/>
        </p:nvSpPr>
        <p:spPr>
          <a:xfrm>
            <a:off x="6464808" y="2386584"/>
            <a:ext cx="4846320" cy="337413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MATCH (a)-[:ACTED_IN]-&gt;(m)&lt;-[:ACTED_IN]-(b)</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MERGE (a)-[:CO_STARRED_WITH]-&gt;(b)</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Fact suy ra lưu movie_count, evidence_movie_ids và derived=true để kiểm chứng.</a:t>
            </a:r>
            <a:endParaRPr lang="en-US" sz="1500" dirty="0"/>
          </a:p>
        </p:txBody>
      </p:sp>
      <p:sp>
        <p:nvSpPr>
          <p:cNvPr id="11" name="Text 9"/>
          <p:cNvSpPr/>
          <p:nvPr/>
        </p:nvSpPr>
        <p:spPr>
          <a:xfrm>
            <a:off x="1188720" y="6126480"/>
            <a:ext cx="9784080" cy="256032"/>
          </a:xfrm>
          <a:prstGeom prst="rect">
            <a:avLst/>
          </a:prstGeom>
          <a:noFill/>
          <a:ln/>
        </p:spPr>
        <p:txBody>
          <a:bodyPr wrap="square" lIns="0" tIns="0" rIns="0" bIns="0" rtlCol="0" anchor="ctr"/>
          <a:lstStyle/>
          <a:p>
            <a:pPr algn="ctr" indent="0" marL="0">
              <a:buNone/>
            </a:pPr>
            <a:r>
              <a:rPr lang="en-US" sz="1350" b="1" dirty="0">
                <a:solidFill>
                  <a:srgbClr val="112B46"/>
                </a:solidFill>
                <a:latin typeface="Calibri" pitchFamily="34" charset="0"/>
                <a:ea typeface="Calibri" pitchFamily="34" charset="-122"/>
                <a:cs typeface="Calibri" pitchFamily="34" charset="-120"/>
              </a:rPr>
              <a:t>Không có reasoner riêng: luật nghiệp vụ được khai báo và thực thi trực tiếp trong Neo4j.</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DUYỆT ĐỒ THỊ</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Từ vựng traversal được dùng xuyên suốt project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Hiểu hop, degree, common neighbor và shortest path giúp đọc đúng cả Cypher lẫn bằng chứng trả về.</a:t>
            </a:r>
            <a:endParaRPr lang="en-US" sz="1250" dirty="0"/>
          </a:p>
        </p:txBody>
      </p:sp>
      <p:sp>
        <p:nvSpPr>
          <p:cNvPr id="5" name="Shape 3"/>
          <p:cNvSpPr/>
          <p:nvPr/>
        </p:nvSpPr>
        <p:spPr>
          <a:xfrm>
            <a:off x="621792" y="1783080"/>
            <a:ext cx="5349240" cy="1847088"/>
          </a:xfrm>
          <a:prstGeom prst="roundRect">
            <a:avLst>
              <a:gd name="adj" fmla="val 2970"/>
            </a:avLst>
          </a:prstGeom>
          <a:solidFill>
            <a:srgbClr val="EAF2F8"/>
          </a:solidFill>
          <a:ln w="12700">
            <a:solidFill>
              <a:srgbClr val="337B80"/>
            </a:solidFill>
            <a:prstDash val="solid"/>
          </a:ln>
          <a:effectLst>
            <a:outerShdw sx="100000" sy="100000" kx="0" ky="0" algn="bl" rotWithShape="0" blurRad="25400" dist="50800" dir="2700000">
              <a:srgbClr val="26384A">
                <a:alpha val="13000"/>
              </a:srgbClr>
            </a:outerShdw>
          </a:effectLst>
        </p:spPr>
      </p:sp>
      <p:sp>
        <p:nvSpPr>
          <p:cNvPr id="6" name="Shape 4"/>
          <p:cNvSpPr/>
          <p:nvPr/>
        </p:nvSpPr>
        <p:spPr>
          <a:xfrm>
            <a:off x="822960" y="1984248"/>
            <a:ext cx="384048" cy="384048"/>
          </a:xfrm>
          <a:prstGeom prst="ellipse">
            <a:avLst/>
          </a:prstGeom>
          <a:solidFill>
            <a:srgbClr val="337B80"/>
          </a:solidFill>
          <a:ln w="12700">
            <a:solidFill>
              <a:srgbClr val="337B80"/>
            </a:solidFill>
            <a:prstDash val="solid"/>
          </a:ln>
        </p:spPr>
      </p:sp>
      <p:sp>
        <p:nvSpPr>
          <p:cNvPr id="7" name="Text 5"/>
          <p:cNvSpPr/>
          <p:nvPr/>
        </p:nvSpPr>
        <p:spPr>
          <a:xfrm>
            <a:off x="822960"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8" name="Text 6"/>
          <p:cNvSpPr/>
          <p:nvPr/>
        </p:nvSpPr>
        <p:spPr>
          <a:xfrm>
            <a:off x="1335024"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337B80"/>
                </a:solidFill>
                <a:latin typeface="Calibri" pitchFamily="34" charset="0"/>
                <a:ea typeface="Calibri" pitchFamily="34" charset="-122"/>
                <a:cs typeface="Calibri" pitchFamily="34" charset="-120"/>
              </a:rPr>
              <a:t>Hop</a:t>
            </a:r>
            <a:endParaRPr lang="en-US" sz="1900" dirty="0"/>
          </a:p>
        </p:txBody>
      </p:sp>
      <p:sp>
        <p:nvSpPr>
          <p:cNvPr id="9" name="Text 7"/>
          <p:cNvSpPr/>
          <p:nvPr/>
        </p:nvSpPr>
        <p:spPr>
          <a:xfrm>
            <a:off x="850392"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Một lần đi qua relationship. Person → Movie là 1 hop; Person → Movie → Genre là 2 hop.</a:t>
            </a:r>
            <a:endParaRPr lang="en-US" sz="1300" dirty="0"/>
          </a:p>
        </p:txBody>
      </p:sp>
      <p:sp>
        <p:nvSpPr>
          <p:cNvPr id="10" name="Shape 8"/>
          <p:cNvSpPr/>
          <p:nvPr/>
        </p:nvSpPr>
        <p:spPr>
          <a:xfrm>
            <a:off x="6217920" y="1783080"/>
            <a:ext cx="5349240" cy="1847088"/>
          </a:xfrm>
          <a:prstGeom prst="roundRect">
            <a:avLst>
              <a:gd name="adj" fmla="val 2970"/>
            </a:avLst>
          </a:prstGeom>
          <a:solidFill>
            <a:srgbClr val="F0ECF7"/>
          </a:solidFill>
          <a:ln w="12700">
            <a:solidFill>
              <a:srgbClr val="725B9B"/>
            </a:solidFill>
            <a:prstDash val="solid"/>
          </a:ln>
          <a:effectLst>
            <a:outerShdw sx="100000" sy="100000" kx="0" ky="0" algn="bl" rotWithShape="0" blurRad="25400" dist="50800" dir="2700000">
              <a:srgbClr val="26384A">
                <a:alpha val="13000"/>
              </a:srgbClr>
            </a:outerShdw>
          </a:effectLst>
        </p:spPr>
      </p:sp>
      <p:sp>
        <p:nvSpPr>
          <p:cNvPr id="11" name="Shape 9"/>
          <p:cNvSpPr/>
          <p:nvPr/>
        </p:nvSpPr>
        <p:spPr>
          <a:xfrm>
            <a:off x="6419088" y="1984248"/>
            <a:ext cx="384048" cy="384048"/>
          </a:xfrm>
          <a:prstGeom prst="ellipse">
            <a:avLst/>
          </a:prstGeom>
          <a:solidFill>
            <a:srgbClr val="725B9B"/>
          </a:solidFill>
          <a:ln w="12700">
            <a:solidFill>
              <a:srgbClr val="725B9B"/>
            </a:solidFill>
            <a:prstDash val="solid"/>
          </a:ln>
        </p:spPr>
      </p:sp>
      <p:sp>
        <p:nvSpPr>
          <p:cNvPr id="12" name="Text 10"/>
          <p:cNvSpPr/>
          <p:nvPr/>
        </p:nvSpPr>
        <p:spPr>
          <a:xfrm>
            <a:off x="6419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3" name="Text 11"/>
          <p:cNvSpPr/>
          <p:nvPr/>
        </p:nvSpPr>
        <p:spPr>
          <a:xfrm>
            <a:off x="6931152" y="1965960"/>
            <a:ext cx="4434840" cy="301752"/>
          </a:xfrm>
          <a:prstGeom prst="rect">
            <a:avLst/>
          </a:prstGeom>
          <a:noFill/>
          <a:ln/>
        </p:spPr>
        <p:txBody>
          <a:bodyPr wrap="square" lIns="0" tIns="0" rIns="0" bIns="0" rtlCol="0" anchor="ctr">
            <a:normAutofit/>
          </a:bodyPr>
          <a:lstStyle/>
          <a:p>
            <a:pPr indent="0" marL="0">
              <a:buNone/>
            </a:pPr>
            <a:r>
              <a:rPr lang="en-US" sz="1900" b="1" dirty="0">
                <a:solidFill>
                  <a:srgbClr val="725B9B"/>
                </a:solidFill>
                <a:latin typeface="Calibri" pitchFamily="34" charset="0"/>
                <a:ea typeface="Calibri" pitchFamily="34" charset="-122"/>
                <a:cs typeface="Calibri" pitchFamily="34" charset="-120"/>
              </a:rPr>
              <a:t>Degree</a:t>
            </a:r>
            <a:endParaRPr lang="en-US" sz="1900" dirty="0"/>
          </a:p>
        </p:txBody>
      </p:sp>
      <p:sp>
        <p:nvSpPr>
          <p:cNvPr id="14" name="Text 12"/>
          <p:cNvSpPr/>
          <p:nvPr/>
        </p:nvSpPr>
        <p:spPr>
          <a:xfrm>
            <a:off x="6446520" y="238658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Số relationship kề một node. Degree cao có thể biểu thị thực thể phổ biến nhưng cũng gây thiên lệch khi xếp hạng.</a:t>
            </a:r>
            <a:endParaRPr lang="en-US" sz="1300" dirty="0"/>
          </a:p>
        </p:txBody>
      </p:sp>
      <p:sp>
        <p:nvSpPr>
          <p:cNvPr id="15" name="Shape 13"/>
          <p:cNvSpPr/>
          <p:nvPr/>
        </p:nvSpPr>
        <p:spPr>
          <a:xfrm>
            <a:off x="621792" y="3931920"/>
            <a:ext cx="5349240" cy="1847088"/>
          </a:xfrm>
          <a:prstGeom prst="roundRect">
            <a:avLst>
              <a:gd name="adj" fmla="val 2970"/>
            </a:avLst>
          </a:prstGeom>
          <a:solidFill>
            <a:srgbClr val="E8F4EE"/>
          </a:solidFill>
          <a:ln w="12700">
            <a:solidFill>
              <a:srgbClr val="3D8B66"/>
            </a:solidFill>
            <a:prstDash val="solid"/>
          </a:ln>
          <a:effectLst>
            <a:outerShdw sx="100000" sy="100000" kx="0" ky="0" algn="bl" rotWithShape="0" blurRad="25400" dist="50800" dir="2700000">
              <a:srgbClr val="26384A">
                <a:alpha val="13000"/>
              </a:srgbClr>
            </a:outerShdw>
          </a:effectLst>
        </p:spPr>
      </p:sp>
      <p:sp>
        <p:nvSpPr>
          <p:cNvPr id="16" name="Shape 14"/>
          <p:cNvSpPr/>
          <p:nvPr/>
        </p:nvSpPr>
        <p:spPr>
          <a:xfrm>
            <a:off x="822960" y="4133088"/>
            <a:ext cx="384048" cy="384048"/>
          </a:xfrm>
          <a:prstGeom prst="ellipse">
            <a:avLst/>
          </a:prstGeom>
          <a:solidFill>
            <a:srgbClr val="3D8B66"/>
          </a:solidFill>
          <a:ln w="12700">
            <a:solidFill>
              <a:srgbClr val="3D8B66"/>
            </a:solidFill>
            <a:prstDash val="solid"/>
          </a:ln>
        </p:spPr>
      </p:sp>
      <p:sp>
        <p:nvSpPr>
          <p:cNvPr id="17" name="Text 15"/>
          <p:cNvSpPr/>
          <p:nvPr/>
        </p:nvSpPr>
        <p:spPr>
          <a:xfrm>
            <a:off x="822960"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8" name="Text 16"/>
          <p:cNvSpPr/>
          <p:nvPr/>
        </p:nvSpPr>
        <p:spPr>
          <a:xfrm>
            <a:off x="1335024"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3D8B66"/>
                </a:solidFill>
                <a:latin typeface="Calibri" pitchFamily="34" charset="0"/>
                <a:ea typeface="Calibri" pitchFamily="34" charset="-122"/>
                <a:cs typeface="Calibri" pitchFamily="34" charset="-120"/>
              </a:rPr>
              <a:t>Common neighbor</a:t>
            </a:r>
            <a:endParaRPr lang="en-US" sz="1900" dirty="0"/>
          </a:p>
        </p:txBody>
      </p:sp>
      <p:sp>
        <p:nvSpPr>
          <p:cNvPr id="19" name="Text 17"/>
          <p:cNvSpPr/>
          <p:nvPr/>
        </p:nvSpPr>
        <p:spPr>
          <a:xfrm>
            <a:off x="850392"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Node lân cận được hai node cùng chia sẻ. Hai Person có Movie chung; hai Movie có actor/genre/keyword chung.</a:t>
            </a:r>
            <a:endParaRPr lang="en-US" sz="1300" dirty="0"/>
          </a:p>
        </p:txBody>
      </p:sp>
      <p:sp>
        <p:nvSpPr>
          <p:cNvPr id="20" name="Shape 18"/>
          <p:cNvSpPr/>
          <p:nvPr/>
        </p:nvSpPr>
        <p:spPr>
          <a:xfrm>
            <a:off x="6217920" y="3931920"/>
            <a:ext cx="5349240" cy="1847088"/>
          </a:xfrm>
          <a:prstGeom prst="roundRect">
            <a:avLst>
              <a:gd name="adj" fmla="val 2970"/>
            </a:avLst>
          </a:prstGeom>
          <a:solidFill>
            <a:srgbClr val="FFF2DF"/>
          </a:solidFill>
          <a:ln w="12700">
            <a:solidFill>
              <a:srgbClr val="D38B36"/>
            </a:solidFill>
            <a:prstDash val="solid"/>
          </a:ln>
          <a:effectLst>
            <a:outerShdw sx="100000" sy="100000" kx="0" ky="0" algn="bl" rotWithShape="0" blurRad="25400" dist="50800" dir="2700000">
              <a:srgbClr val="26384A">
                <a:alpha val="13000"/>
              </a:srgbClr>
            </a:outerShdw>
          </a:effectLst>
        </p:spPr>
      </p:sp>
      <p:sp>
        <p:nvSpPr>
          <p:cNvPr id="21" name="Shape 19"/>
          <p:cNvSpPr/>
          <p:nvPr/>
        </p:nvSpPr>
        <p:spPr>
          <a:xfrm>
            <a:off x="6419088" y="4133088"/>
            <a:ext cx="384048" cy="384048"/>
          </a:xfrm>
          <a:prstGeom prst="ellipse">
            <a:avLst/>
          </a:prstGeom>
          <a:solidFill>
            <a:srgbClr val="D38B36"/>
          </a:solidFill>
          <a:ln w="12700">
            <a:solidFill>
              <a:srgbClr val="D38B36"/>
            </a:solidFill>
            <a:prstDash val="solid"/>
          </a:ln>
        </p:spPr>
      </p:sp>
      <p:sp>
        <p:nvSpPr>
          <p:cNvPr id="22" name="Text 20"/>
          <p:cNvSpPr/>
          <p:nvPr/>
        </p:nvSpPr>
        <p:spPr>
          <a:xfrm>
            <a:off x="6419088" y="418795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3" name="Text 21"/>
          <p:cNvSpPr/>
          <p:nvPr/>
        </p:nvSpPr>
        <p:spPr>
          <a:xfrm>
            <a:off x="6931152" y="4114800"/>
            <a:ext cx="4434840" cy="301752"/>
          </a:xfrm>
          <a:prstGeom prst="rect">
            <a:avLst/>
          </a:prstGeom>
          <a:noFill/>
          <a:ln/>
        </p:spPr>
        <p:txBody>
          <a:bodyPr wrap="square" lIns="0" tIns="0" rIns="0" bIns="0" rtlCol="0" anchor="ctr">
            <a:normAutofit/>
          </a:bodyPr>
          <a:lstStyle/>
          <a:p>
            <a:pPr indent="0" marL="0">
              <a:buNone/>
            </a:pPr>
            <a:r>
              <a:rPr lang="en-US" sz="1900" b="1" dirty="0">
                <a:solidFill>
                  <a:srgbClr val="D38B36"/>
                </a:solidFill>
                <a:latin typeface="Calibri" pitchFamily="34" charset="0"/>
                <a:ea typeface="Calibri" pitchFamily="34" charset="-122"/>
                <a:cs typeface="Calibri" pitchFamily="34" charset="-120"/>
              </a:rPr>
              <a:t>Shortest path</a:t>
            </a:r>
            <a:endParaRPr lang="en-US" sz="1900" dirty="0"/>
          </a:p>
        </p:txBody>
      </p:sp>
      <p:sp>
        <p:nvSpPr>
          <p:cNvPr id="24" name="Text 22"/>
          <p:cNvSpPr/>
          <p:nvPr/>
        </p:nvSpPr>
        <p:spPr>
          <a:xfrm>
            <a:off x="6446520" y="4535424"/>
            <a:ext cx="4892040" cy="1060704"/>
          </a:xfrm>
          <a:prstGeom prst="rect">
            <a:avLst/>
          </a:prstGeom>
          <a:noFill/>
          <a:ln/>
        </p:spPr>
        <p:txBody>
          <a:bodyPr wrap="square" lIns="0" tIns="0" rIns="0" bIns="0" rtlCol="0" anchor="t">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Đường đi có số cạnh nhỏ nhất trong phạm vi quan hệ cho phép. Kết quả cần đọc kèm loại cạnh, không chỉ danh sách node.</a:t>
            </a:r>
            <a:endParaRPr lang="en-US" sz="1300" dirty="0"/>
          </a:p>
        </p:txBody>
      </p:sp>
      <p:sp>
        <p:nvSpPr>
          <p:cNvPr id="25" name="Text 23"/>
          <p:cNvSpPr/>
          <p:nvPr/>
        </p:nvSpPr>
        <p:spPr>
          <a:xfrm>
            <a:off x="960120" y="5925312"/>
            <a:ext cx="10241280" cy="347472"/>
          </a:xfrm>
          <a:prstGeom prst="rect">
            <a:avLst/>
          </a:prstGeom>
          <a:noFill/>
          <a:ln/>
        </p:spPr>
        <p:txBody>
          <a:bodyPr wrap="square" lIns="0" tIns="0" rIns="0" bIns="0" rtlCol="0" anchor="ctr">
            <a:normAutofit/>
          </a:bodyPr>
          <a:lstStyle/>
          <a:p>
            <a:pPr algn="ctr" indent="0" marL="0">
              <a:buNone/>
            </a:pPr>
            <a:r>
              <a:rPr lang="en-US" sz="1350" b="1" dirty="0">
                <a:solidFill>
                  <a:srgbClr val="112B46"/>
                </a:solidFill>
                <a:latin typeface="Calibri" pitchFamily="34" charset="0"/>
                <a:ea typeface="Calibri" pitchFamily="34" charset="-122"/>
                <a:cs typeface="Calibri" pitchFamily="34" charset="-120"/>
              </a:rPr>
              <a:t>Trong project: common_movies dùng shared neighbor; co-star là common neighbor được vật chất hóa; recommendation dùng weighted neighborhood overlap; shortest_path bị giới hạn tối đa 8 cạnh.</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LỰA CHỌN CÔNG NGHỆ</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Neo4j được chọn vì phù hợp với quan hệ và traversal</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Giá trị của đồ thị nằm ở mô hình quan hệ và đường đi bằng chứng — không phải luôn nhanh hơn SQL.</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648" y="1874520"/>
          <a:ext cx="6629400" cy="3611880"/>
        </p:xfrm>
        <a:graphic>
          <a:graphicData uri="http://schemas.openxmlformats.org/drawingml/2006/table">
            <a:tbl>
              <a:tblPr/>
              <a:tblGrid>
                <a:gridCol w="1965960"/>
                <a:gridCol w="2057400"/>
                <a:gridCol w="2606040"/>
              </a:tblGrid>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Yêu cầu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Mô hình bảng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Đồ thị thuộc tính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Quan hệ nhiều–nhiều</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Bảng nối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trực tiếp</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Truy vấn nhiều bước</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Chuỗi JOIN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Mẫu đường đi</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Suy diễn co-star</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Logic vật chất hóa riêng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Cạnh suy ra có bằng chứng</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21792">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Giải thích</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Dựng lại quan hệ</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200" dirty="0">
                          <a:solidFill>
                            <a:srgbClr val="172B3A"/>
                          </a:solidFill>
                          <a:latin typeface="Calibri" pitchFamily="34" charset="0"/>
                          <a:ea typeface="Calibri" pitchFamily="34" charset="-122"/>
                          <a:cs typeface="Calibri" pitchFamily="34" charset="-120"/>
                        </a:rPr>
                        <a:t>Đường đi tự nhiên</a:t>
                      </a:r>
                      <a:endParaRPr lang="en-US" sz="12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7635240" y="1874520"/>
            <a:ext cx="3931920" cy="1572768"/>
          </a:xfrm>
          <a:prstGeom prst="roundRect">
            <a:avLst>
              <a:gd name="adj" fmla="val 3488"/>
            </a:avLst>
          </a:prstGeom>
          <a:solidFill>
            <a:srgbClr val="EAF2F8"/>
          </a:solidFill>
          <a:ln w="12700">
            <a:solidFill>
              <a:srgbClr val="B9D3E8"/>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7909560" y="2148840"/>
            <a:ext cx="3383280" cy="320040"/>
          </a:xfrm>
          <a:prstGeom prst="rect">
            <a:avLst/>
          </a:prstGeom>
          <a:noFill/>
          <a:ln/>
        </p:spPr>
        <p:txBody>
          <a:bodyPr wrap="square" lIns="0" tIns="0" rIns="0" bIns="0" rtlCol="0" anchor="ctr"/>
          <a:lstStyle/>
          <a:p>
            <a:pPr indent="0" marL="0">
              <a:buNone/>
            </a:pPr>
            <a:r>
              <a:rPr lang="en-US" sz="2000" b="1" dirty="0">
                <a:solidFill>
                  <a:srgbClr val="112B46"/>
                </a:solidFill>
                <a:latin typeface="Calibri" pitchFamily="34" charset="0"/>
                <a:ea typeface="Calibri" pitchFamily="34" charset="-122"/>
                <a:cs typeface="Calibri" pitchFamily="34" charset="-120"/>
              </a:rPr>
              <a:t>Neo4j / Cypher</a:t>
            </a:r>
            <a:endParaRPr lang="en-US" sz="2000" dirty="0"/>
          </a:p>
        </p:txBody>
      </p:sp>
      <p:sp>
        <p:nvSpPr>
          <p:cNvPr id="8" name="Text 5"/>
          <p:cNvSpPr/>
          <p:nvPr/>
        </p:nvSpPr>
        <p:spPr>
          <a:xfrm>
            <a:off x="7909560" y="2615184"/>
            <a:ext cx="3154680" cy="420624"/>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Kho vận hành cho duyệt đồ thị, hỏi–đáp và gợi ý.</a:t>
            </a:r>
            <a:endParaRPr lang="en-US" sz="1300" dirty="0"/>
          </a:p>
        </p:txBody>
      </p:sp>
      <p:sp>
        <p:nvSpPr>
          <p:cNvPr id="9" name="Shape 6"/>
          <p:cNvSpPr/>
          <p:nvPr/>
        </p:nvSpPr>
        <p:spPr>
          <a:xfrm>
            <a:off x="7635240" y="3794760"/>
            <a:ext cx="3931920" cy="1572768"/>
          </a:xfrm>
          <a:prstGeom prst="roundRect">
            <a:avLst>
              <a:gd name="adj" fmla="val 3488"/>
            </a:avLst>
          </a:prstGeom>
          <a:solidFill>
            <a:srgbClr val="F0ECF7"/>
          </a:solidFill>
          <a:ln w="12700">
            <a:solidFill>
              <a:srgbClr val="D5C9E8"/>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7909560" y="4069080"/>
            <a:ext cx="3383280" cy="320040"/>
          </a:xfrm>
          <a:prstGeom prst="rect">
            <a:avLst/>
          </a:prstGeom>
          <a:noFill/>
          <a:ln/>
        </p:spPr>
        <p:txBody>
          <a:bodyPr wrap="square" lIns="0" tIns="0" rIns="0" bIns="0" rtlCol="0" anchor="ctr"/>
          <a:lstStyle/>
          <a:p>
            <a:pPr indent="0" marL="0">
              <a:buNone/>
            </a:pPr>
            <a:r>
              <a:rPr lang="en-US" sz="2000" b="1" dirty="0">
                <a:solidFill>
                  <a:srgbClr val="725B9B"/>
                </a:solidFill>
                <a:latin typeface="Calibri" pitchFamily="34" charset="0"/>
                <a:ea typeface="Calibri" pitchFamily="34" charset="-122"/>
                <a:cs typeface="Calibri" pitchFamily="34" charset="-120"/>
              </a:rPr>
              <a:t>Property-rich relationships</a:t>
            </a:r>
            <a:endParaRPr lang="en-US" sz="2000" dirty="0"/>
          </a:p>
        </p:txBody>
      </p:sp>
      <p:sp>
        <p:nvSpPr>
          <p:cNvPr id="11" name="Text 8"/>
          <p:cNvSpPr/>
          <p:nvPr/>
        </p:nvSpPr>
        <p:spPr>
          <a:xfrm>
            <a:off x="7909560" y="4535424"/>
            <a:ext cx="3154680" cy="475488"/>
          </a:xfrm>
          <a:prstGeom prst="rect">
            <a:avLst/>
          </a:prstGeom>
          <a:noFill/>
          <a:ln/>
        </p:spPr>
        <p:txBody>
          <a:bodyPr wrap="square" lIns="0" tIns="0" rIns="0" bIns="0" rtlCol="0" anchor="ctr">
            <a:normAutofit/>
          </a:bodyPr>
          <a:lstStyle/>
          <a:p>
            <a:pPr indent="0" marL="0">
              <a:buNone/>
            </a:pPr>
            <a:r>
              <a:rPr lang="en-US" sz="1300" dirty="0">
                <a:solidFill>
                  <a:srgbClr val="172B3A"/>
                </a:solidFill>
                <a:latin typeface="Calibri" pitchFamily="34" charset="0"/>
                <a:ea typeface="Calibri" pitchFamily="34" charset="-122"/>
                <a:cs typeface="Calibri" pitchFamily="34" charset="-120"/>
              </a:rPr>
              <a:t>Cạnh ACTED_IN và CO_STARRED_WITH mang thuộc tính và bằng chứng trực tiếp.</a:t>
            </a:r>
            <a:endParaRPr lang="en-US" sz="13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THIẾT KẾ HỆ THỐNG</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Kiến trúc đầu cuối: từ nguồn đến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Sau khi import, đường chạy trình diễn không phụ thuộc Internet.</a:t>
            </a:r>
            <a:endParaRPr lang="en-US" sz="1250" dirty="0"/>
          </a:p>
        </p:txBody>
      </p:sp>
      <p:sp>
        <p:nvSpPr>
          <p:cNvPr id="5" name="Shape 3"/>
          <p:cNvSpPr/>
          <p:nvPr/>
        </p:nvSpPr>
        <p:spPr>
          <a:xfrm>
            <a:off x="502920" y="2148840"/>
            <a:ext cx="1572768" cy="2057400"/>
          </a:xfrm>
          <a:prstGeom prst="roundRect">
            <a:avLst>
              <a:gd name="adj" fmla="val 2907"/>
            </a:avLst>
          </a:prstGeom>
          <a:solidFill>
            <a:srgbClr val="EAF2F8"/>
          </a:solidFill>
          <a:ln w="1905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66751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37B80"/>
                </a:solidFill>
                <a:latin typeface="Calibri" pitchFamily="34" charset="0"/>
                <a:ea typeface="Calibri" pitchFamily="34" charset="-122"/>
                <a:cs typeface="Calibri" pitchFamily="34" charset="-120"/>
              </a:rPr>
              <a:t>TMDB + IMDb</a:t>
            </a:r>
            <a:endParaRPr lang="en-US" sz="1700" dirty="0"/>
          </a:p>
        </p:txBody>
      </p:sp>
      <p:sp>
        <p:nvSpPr>
          <p:cNvPr id="7" name="Text 5"/>
          <p:cNvSpPr/>
          <p:nvPr/>
        </p:nvSpPr>
        <p:spPr>
          <a:xfrm>
            <a:off x="66751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Nguồn dữ liệu</a:t>
            </a:r>
            <a:endParaRPr lang="en-US" sz="1200" dirty="0"/>
          </a:p>
        </p:txBody>
      </p:sp>
      <p:sp>
        <p:nvSpPr>
          <p:cNvPr id="8" name="Shape 6"/>
          <p:cNvSpPr/>
          <p:nvPr/>
        </p:nvSpPr>
        <p:spPr>
          <a:xfrm>
            <a:off x="2093976" y="3182112"/>
            <a:ext cx="310896" cy="0"/>
          </a:xfrm>
          <a:prstGeom prst="line">
            <a:avLst/>
          </a:prstGeom>
          <a:noFill/>
          <a:ln w="21590">
            <a:solidFill>
              <a:srgbClr val="697586"/>
            </a:solidFill>
            <a:prstDash val="solid"/>
            <a:tailEnd type="triangle"/>
          </a:ln>
        </p:spPr>
      </p:sp>
      <p:sp>
        <p:nvSpPr>
          <p:cNvPr id="9" name="Shape 7"/>
          <p:cNvSpPr/>
          <p:nvPr/>
        </p:nvSpPr>
        <p:spPr>
          <a:xfrm>
            <a:off x="2441448" y="2148840"/>
            <a:ext cx="1572768" cy="2057400"/>
          </a:xfrm>
          <a:prstGeom prst="roundRect">
            <a:avLst>
              <a:gd name="adj" fmla="val 2907"/>
            </a:avLst>
          </a:prstGeom>
          <a:solidFill>
            <a:srgbClr val="FFF2DF"/>
          </a:solidFill>
          <a:ln w="19050">
            <a:solidFill>
              <a:srgbClr val="D38B36"/>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606040"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D38B36"/>
                </a:solidFill>
                <a:latin typeface="Calibri" pitchFamily="34" charset="0"/>
                <a:ea typeface="Calibri" pitchFamily="34" charset="-122"/>
                <a:cs typeface="Calibri" pitchFamily="34" charset="-120"/>
              </a:rPr>
              <a:t>Raw cache</a:t>
            </a:r>
            <a:endParaRPr lang="en-US" sz="1700" dirty="0"/>
          </a:p>
        </p:txBody>
      </p:sp>
      <p:sp>
        <p:nvSpPr>
          <p:cNvPr id="11" name="Text 9"/>
          <p:cNvSpPr/>
          <p:nvPr/>
        </p:nvSpPr>
        <p:spPr>
          <a:xfrm>
            <a:off x="2606040"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JSON · GZIP</a:t>
            </a:r>
            <a:endParaRPr lang="en-US" sz="1200" dirty="0"/>
          </a:p>
        </p:txBody>
      </p:sp>
      <p:sp>
        <p:nvSpPr>
          <p:cNvPr id="12" name="Shape 10"/>
          <p:cNvSpPr/>
          <p:nvPr/>
        </p:nvSpPr>
        <p:spPr>
          <a:xfrm>
            <a:off x="4032504" y="3182112"/>
            <a:ext cx="310896" cy="0"/>
          </a:xfrm>
          <a:prstGeom prst="line">
            <a:avLst/>
          </a:prstGeom>
          <a:noFill/>
          <a:ln w="21590">
            <a:solidFill>
              <a:srgbClr val="697586"/>
            </a:solidFill>
            <a:prstDash val="solid"/>
            <a:tailEnd type="triangle"/>
          </a:ln>
        </p:spPr>
      </p:sp>
      <p:sp>
        <p:nvSpPr>
          <p:cNvPr id="13" name="Shape 11"/>
          <p:cNvSpPr/>
          <p:nvPr/>
        </p:nvSpPr>
        <p:spPr>
          <a:xfrm>
            <a:off x="4379976" y="2148840"/>
            <a:ext cx="1572768" cy="2057400"/>
          </a:xfrm>
          <a:prstGeom prst="roundRect">
            <a:avLst>
              <a:gd name="adj" fmla="val 2907"/>
            </a:avLst>
          </a:prstGeom>
          <a:solidFill>
            <a:srgbClr val="E8F4EE"/>
          </a:solidFill>
          <a:ln w="19050">
            <a:solidFill>
              <a:srgbClr val="3D8B66"/>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4544568"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3D8B66"/>
                </a:solidFill>
                <a:latin typeface="Calibri" pitchFamily="34" charset="0"/>
                <a:ea typeface="Calibri" pitchFamily="34" charset="-122"/>
                <a:cs typeface="Calibri" pitchFamily="34" charset="-120"/>
              </a:rPr>
              <a:t>Processing</a:t>
            </a:r>
            <a:endParaRPr lang="en-US" sz="1700" dirty="0"/>
          </a:p>
        </p:txBody>
      </p:sp>
      <p:sp>
        <p:nvSpPr>
          <p:cNvPr id="15" name="Text 13"/>
          <p:cNvSpPr/>
          <p:nvPr/>
        </p:nvSpPr>
        <p:spPr>
          <a:xfrm>
            <a:off x="4544568"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Clean · exact join · CSV</a:t>
            </a:r>
            <a:endParaRPr lang="en-US" sz="1200" dirty="0"/>
          </a:p>
        </p:txBody>
      </p:sp>
      <p:sp>
        <p:nvSpPr>
          <p:cNvPr id="16" name="Shape 14"/>
          <p:cNvSpPr/>
          <p:nvPr/>
        </p:nvSpPr>
        <p:spPr>
          <a:xfrm>
            <a:off x="5971032" y="3182112"/>
            <a:ext cx="310896" cy="0"/>
          </a:xfrm>
          <a:prstGeom prst="line">
            <a:avLst/>
          </a:prstGeom>
          <a:noFill/>
          <a:ln w="21590">
            <a:solidFill>
              <a:srgbClr val="697586"/>
            </a:solidFill>
            <a:prstDash val="solid"/>
            <a:tailEnd type="triangle"/>
          </a:ln>
        </p:spPr>
      </p:sp>
      <p:sp>
        <p:nvSpPr>
          <p:cNvPr id="17" name="Shape 15"/>
          <p:cNvSpPr/>
          <p:nvPr/>
        </p:nvSpPr>
        <p:spPr>
          <a:xfrm>
            <a:off x="6318504" y="2148840"/>
            <a:ext cx="1572768" cy="2057400"/>
          </a:xfrm>
          <a:prstGeom prst="roundRect">
            <a:avLst>
              <a:gd name="adj" fmla="val 2907"/>
            </a:avLst>
          </a:prstGeom>
          <a:solidFill>
            <a:srgbClr val="F0ECF7"/>
          </a:solidFill>
          <a:ln w="19050">
            <a:solidFill>
              <a:srgbClr val="725B9B"/>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483096"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725B9B"/>
                </a:solidFill>
                <a:latin typeface="Calibri" pitchFamily="34" charset="0"/>
                <a:ea typeface="Calibri" pitchFamily="34" charset="-122"/>
                <a:cs typeface="Calibri" pitchFamily="34" charset="-120"/>
              </a:rPr>
              <a:t>Neo4j</a:t>
            </a:r>
            <a:endParaRPr lang="en-US" sz="1700" dirty="0"/>
          </a:p>
        </p:txBody>
      </p:sp>
      <p:sp>
        <p:nvSpPr>
          <p:cNvPr id="19" name="Text 17"/>
          <p:cNvSpPr/>
          <p:nvPr/>
        </p:nvSpPr>
        <p:spPr>
          <a:xfrm>
            <a:off x="6483096"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Constraint · import · reasoning</a:t>
            </a:r>
            <a:endParaRPr lang="en-US" sz="1200" dirty="0"/>
          </a:p>
        </p:txBody>
      </p:sp>
      <p:sp>
        <p:nvSpPr>
          <p:cNvPr id="20" name="Shape 18"/>
          <p:cNvSpPr/>
          <p:nvPr/>
        </p:nvSpPr>
        <p:spPr>
          <a:xfrm>
            <a:off x="7909560" y="3182112"/>
            <a:ext cx="310896" cy="0"/>
          </a:xfrm>
          <a:prstGeom prst="line">
            <a:avLst/>
          </a:prstGeom>
          <a:noFill/>
          <a:ln w="21590">
            <a:solidFill>
              <a:srgbClr val="697586"/>
            </a:solidFill>
            <a:prstDash val="solid"/>
            <a:tailEnd type="triangle"/>
          </a:ln>
        </p:spPr>
      </p:sp>
      <p:sp>
        <p:nvSpPr>
          <p:cNvPr id="21" name="Shape 19"/>
          <p:cNvSpPr/>
          <p:nvPr/>
        </p:nvSpPr>
        <p:spPr>
          <a:xfrm>
            <a:off x="8257032" y="2148840"/>
            <a:ext cx="1572768" cy="2057400"/>
          </a:xfrm>
          <a:prstGeom prst="roundRect">
            <a:avLst>
              <a:gd name="adj" fmla="val 2907"/>
            </a:avLst>
          </a:prstGeom>
          <a:solidFill>
            <a:srgbClr val="FBEAEC"/>
          </a:solidFill>
          <a:ln w="19050">
            <a:solidFill>
              <a:srgbClr val="B94D52"/>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8421624"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B94D52"/>
                </a:solidFill>
                <a:latin typeface="Calibri" pitchFamily="34" charset="0"/>
                <a:ea typeface="Calibri" pitchFamily="34" charset="-122"/>
                <a:cs typeface="Calibri" pitchFamily="34" charset="-120"/>
              </a:rPr>
              <a:t>FastAPI</a:t>
            </a:r>
            <a:endParaRPr lang="en-US" sz="1700" dirty="0"/>
          </a:p>
        </p:txBody>
      </p:sp>
      <p:sp>
        <p:nvSpPr>
          <p:cNvPr id="23" name="Text 21"/>
          <p:cNvSpPr/>
          <p:nvPr/>
        </p:nvSpPr>
        <p:spPr>
          <a:xfrm>
            <a:off x="8421624"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QA · recommendation</a:t>
            </a:r>
            <a:endParaRPr lang="en-US" sz="1200" dirty="0"/>
          </a:p>
        </p:txBody>
      </p:sp>
      <p:sp>
        <p:nvSpPr>
          <p:cNvPr id="24" name="Shape 22"/>
          <p:cNvSpPr/>
          <p:nvPr/>
        </p:nvSpPr>
        <p:spPr>
          <a:xfrm>
            <a:off x="9848088" y="3182112"/>
            <a:ext cx="310896" cy="0"/>
          </a:xfrm>
          <a:prstGeom prst="line">
            <a:avLst/>
          </a:prstGeom>
          <a:noFill/>
          <a:ln w="21590">
            <a:solidFill>
              <a:srgbClr val="697586"/>
            </a:solidFill>
            <a:prstDash val="solid"/>
            <a:tailEnd type="triangle"/>
          </a:ln>
        </p:spPr>
      </p:sp>
      <p:sp>
        <p:nvSpPr>
          <p:cNvPr id="25" name="Shape 23"/>
          <p:cNvSpPr/>
          <p:nvPr/>
        </p:nvSpPr>
        <p:spPr>
          <a:xfrm>
            <a:off x="10195560" y="2148840"/>
            <a:ext cx="1572768" cy="2057400"/>
          </a:xfrm>
          <a:prstGeom prst="roundRect">
            <a:avLst>
              <a:gd name="adj" fmla="val 2907"/>
            </a:avLst>
          </a:prstGeom>
          <a:solidFill>
            <a:srgbClr val="EDF2F7"/>
          </a:solidFill>
          <a:ln w="19050">
            <a:solidFill>
              <a:srgbClr val="183D5D"/>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10360152" y="2487168"/>
            <a:ext cx="1243584" cy="384048"/>
          </a:xfrm>
          <a:prstGeom prst="rect">
            <a:avLst/>
          </a:prstGeom>
          <a:noFill/>
          <a:ln/>
        </p:spPr>
        <p:txBody>
          <a:bodyPr wrap="square" lIns="0" tIns="0" rIns="0" bIns="0" rtlCol="0" anchor="ctr">
            <a:normAutofit/>
          </a:bodyPr>
          <a:lstStyle/>
          <a:p>
            <a:pPr algn="ctr" indent="0" marL="0">
              <a:buNone/>
            </a:pPr>
            <a:r>
              <a:rPr lang="en-US" sz="1700" b="1" dirty="0">
                <a:solidFill>
                  <a:srgbClr val="183D5D"/>
                </a:solidFill>
                <a:latin typeface="Calibri" pitchFamily="34" charset="0"/>
                <a:ea typeface="Calibri" pitchFamily="34" charset="-122"/>
                <a:cs typeface="Calibri" pitchFamily="34" charset="-120"/>
              </a:rPr>
              <a:t>Web UI</a:t>
            </a:r>
            <a:endParaRPr lang="en-US" sz="1700" dirty="0"/>
          </a:p>
        </p:txBody>
      </p:sp>
      <p:sp>
        <p:nvSpPr>
          <p:cNvPr id="27" name="Text 25"/>
          <p:cNvSpPr/>
          <p:nvPr/>
        </p:nvSpPr>
        <p:spPr>
          <a:xfrm>
            <a:off x="10360152" y="3200400"/>
            <a:ext cx="1243584" cy="530352"/>
          </a:xfrm>
          <a:prstGeom prst="rect">
            <a:avLst/>
          </a:prstGeom>
          <a:noFill/>
          <a:ln/>
        </p:spPr>
        <p:txBody>
          <a:bodyPr wrap="square" lIns="0" tIns="0" rIns="0" bIns="0" rtlCol="0" anchor="ctr">
            <a:normAutofit/>
          </a:bodyPr>
          <a:lstStyle/>
          <a:p>
            <a:pPr algn="ctr" indent="0" marL="0">
              <a:buNone/>
            </a:pPr>
            <a:r>
              <a:rPr lang="en-US" sz="1200" dirty="0">
                <a:solidFill>
                  <a:srgbClr val="172B3A"/>
                </a:solidFill>
                <a:latin typeface="Calibri" pitchFamily="34" charset="0"/>
                <a:ea typeface="Calibri" pitchFamily="34" charset="-122"/>
                <a:cs typeface="Calibri" pitchFamily="34" charset="-120"/>
              </a:rPr>
              <a:t>Answer · evidence</a:t>
            </a:r>
            <a:endParaRPr lang="en-US" sz="1200" dirty="0"/>
          </a:p>
        </p:txBody>
      </p:sp>
      <p:sp>
        <p:nvSpPr>
          <p:cNvPr id="28" name="Shape 26"/>
          <p:cNvSpPr/>
          <p:nvPr/>
        </p:nvSpPr>
        <p:spPr>
          <a:xfrm>
            <a:off x="1920240" y="4800600"/>
            <a:ext cx="3337560" cy="841248"/>
          </a:xfrm>
          <a:prstGeom prst="roundRect">
            <a:avLst>
              <a:gd name="adj" fmla="val 6522"/>
            </a:avLst>
          </a:prstGeom>
          <a:solidFill>
            <a:srgbClr val="FFF2DF"/>
          </a:solidFill>
          <a:ln w="12700">
            <a:solidFill>
              <a:srgbClr val="D7DEE8"/>
            </a:solidFill>
            <a:prstDash val="solid"/>
          </a:ln>
        </p:spPr>
      </p:sp>
      <p:sp>
        <p:nvSpPr>
          <p:cNvPr id="29" name="Text 27"/>
          <p:cNvSpPr/>
          <p:nvPr/>
        </p:nvSpPr>
        <p:spPr>
          <a:xfrm>
            <a:off x="214884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Reproducibility</a:t>
            </a:r>
            <a:endParaRPr lang="en-US" sz="1300" dirty="0"/>
          </a:p>
        </p:txBody>
      </p:sp>
      <p:sp>
        <p:nvSpPr>
          <p:cNvPr id="30" name="Text 28"/>
          <p:cNvSpPr/>
          <p:nvPr/>
        </p:nvSpPr>
        <p:spPr>
          <a:xfrm>
            <a:off x="214884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Checksum + manifest quyết định import hay reuse.</a:t>
            </a:r>
            <a:endParaRPr lang="en-US" sz="1000" dirty="0"/>
          </a:p>
        </p:txBody>
      </p:sp>
      <p:sp>
        <p:nvSpPr>
          <p:cNvPr id="31" name="Shape 29"/>
          <p:cNvSpPr/>
          <p:nvPr/>
        </p:nvSpPr>
        <p:spPr>
          <a:xfrm>
            <a:off x="6903720" y="4800600"/>
            <a:ext cx="3337560" cy="841248"/>
          </a:xfrm>
          <a:prstGeom prst="roundRect">
            <a:avLst>
              <a:gd name="adj" fmla="val 6522"/>
            </a:avLst>
          </a:prstGeom>
          <a:solidFill>
            <a:srgbClr val="E8F4EE"/>
          </a:solidFill>
          <a:ln w="12700">
            <a:solidFill>
              <a:srgbClr val="D7DEE8"/>
            </a:solidFill>
            <a:prstDash val="solid"/>
          </a:ln>
        </p:spPr>
      </p:sp>
      <p:sp>
        <p:nvSpPr>
          <p:cNvPr id="32" name="Text 30"/>
          <p:cNvSpPr/>
          <p:nvPr/>
        </p:nvSpPr>
        <p:spPr>
          <a:xfrm>
            <a:off x="7132320" y="4983480"/>
            <a:ext cx="288036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Explainability</a:t>
            </a:r>
            <a:endParaRPr lang="en-US" sz="1300" dirty="0"/>
          </a:p>
        </p:txBody>
      </p:sp>
      <p:sp>
        <p:nvSpPr>
          <p:cNvPr id="33" name="Text 31"/>
          <p:cNvSpPr/>
          <p:nvPr/>
        </p:nvSpPr>
        <p:spPr>
          <a:xfrm>
            <a:off x="7132320" y="5404104"/>
            <a:ext cx="2880360" cy="54864"/>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Entity link, graph row/path và shared feature.</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Tích hợp IMDb theo chiến lược tiết kiệm lưu trữ</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Chỉ đọc tuần tự tệp rating nén và ghép chính xác theo IMDb ID; không tải toàn bộ IMDb vào đồ thị.</a:t>
            </a:r>
            <a:endParaRPr lang="en-US" sz="1250" dirty="0"/>
          </a:p>
        </p:txBody>
      </p:sp>
      <p:sp>
        <p:nvSpPr>
          <p:cNvPr id="5" name="Shape 3"/>
          <p:cNvSpPr/>
          <p:nvPr/>
        </p:nvSpPr>
        <p:spPr>
          <a:xfrm>
            <a:off x="685800" y="1828800"/>
            <a:ext cx="2011680" cy="1097280"/>
          </a:xfrm>
          <a:prstGeom prst="roundRect">
            <a:avLst>
              <a:gd name="adj" fmla="val 5000"/>
            </a:avLst>
          </a:prstGeom>
          <a:solidFill>
            <a:srgbClr val="EAF2F8"/>
          </a:solidFill>
          <a:ln w="17780">
            <a:solidFill>
              <a:srgbClr val="337B80"/>
            </a:solidFill>
            <a:prstDash val="solid"/>
          </a:ln>
        </p:spPr>
      </p:sp>
      <p:sp>
        <p:nvSpPr>
          <p:cNvPr id="6" name="Text 4"/>
          <p:cNvSpPr/>
          <p:nvPr/>
        </p:nvSpPr>
        <p:spPr>
          <a:xfrm>
            <a:off x="82296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TMDB</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external_ids</a:t>
            </a:r>
            <a:endParaRPr lang="en-US" sz="1400" dirty="0"/>
          </a:p>
        </p:txBody>
      </p:sp>
      <p:sp>
        <p:nvSpPr>
          <p:cNvPr id="7" name="Shape 5"/>
          <p:cNvSpPr/>
          <p:nvPr/>
        </p:nvSpPr>
        <p:spPr>
          <a:xfrm>
            <a:off x="2715768" y="2377440"/>
            <a:ext cx="502920" cy="0"/>
          </a:xfrm>
          <a:prstGeom prst="line">
            <a:avLst/>
          </a:prstGeom>
          <a:noFill/>
          <a:ln w="22860">
            <a:solidFill>
              <a:srgbClr val="697586"/>
            </a:solidFill>
            <a:prstDash val="solid"/>
            <a:headEnd type="none"/>
            <a:tailEnd type="triangle"/>
          </a:ln>
        </p:spPr>
      </p:sp>
      <p:sp>
        <p:nvSpPr>
          <p:cNvPr id="8" name="Shape 6"/>
          <p:cNvSpPr/>
          <p:nvPr/>
        </p:nvSpPr>
        <p:spPr>
          <a:xfrm>
            <a:off x="3291840" y="1828800"/>
            <a:ext cx="2011680" cy="1097280"/>
          </a:xfrm>
          <a:prstGeom prst="chevron">
            <a:avLst>
              <a:gd name="adj" fmla="val 5000"/>
            </a:avLst>
          </a:prstGeom>
          <a:solidFill>
            <a:srgbClr val="FFF2DF"/>
          </a:solidFill>
          <a:ln w="17780">
            <a:solidFill>
              <a:srgbClr val="D38B36"/>
            </a:solidFill>
            <a:prstDash val="solid"/>
          </a:ln>
        </p:spPr>
      </p:sp>
      <p:sp>
        <p:nvSpPr>
          <p:cNvPr id="9" name="Text 7"/>
          <p:cNvSpPr/>
          <p:nvPr/>
        </p:nvSpPr>
        <p:spPr>
          <a:xfrm>
            <a:off x="342900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imdb_id = tconst</a:t>
            </a:r>
            <a:endParaRPr lang="en-US" sz="1400" dirty="0"/>
          </a:p>
        </p:txBody>
      </p:sp>
      <p:sp>
        <p:nvSpPr>
          <p:cNvPr id="10" name="Shape 8"/>
          <p:cNvSpPr/>
          <p:nvPr/>
        </p:nvSpPr>
        <p:spPr>
          <a:xfrm>
            <a:off x="5321808" y="2377440"/>
            <a:ext cx="502920" cy="0"/>
          </a:xfrm>
          <a:prstGeom prst="line">
            <a:avLst/>
          </a:prstGeom>
          <a:noFill/>
          <a:ln w="22860">
            <a:solidFill>
              <a:srgbClr val="697586"/>
            </a:solidFill>
            <a:prstDash val="solid"/>
            <a:headEnd type="none"/>
            <a:tailEnd type="triangle"/>
          </a:ln>
        </p:spPr>
      </p:sp>
      <p:sp>
        <p:nvSpPr>
          <p:cNvPr id="11" name="Shape 9"/>
          <p:cNvSpPr/>
          <p:nvPr/>
        </p:nvSpPr>
        <p:spPr>
          <a:xfrm>
            <a:off x="5897880" y="1828800"/>
            <a:ext cx="2011680" cy="1097280"/>
          </a:xfrm>
          <a:prstGeom prst="roundRect">
            <a:avLst>
              <a:gd name="adj" fmla="val 5000"/>
            </a:avLst>
          </a:prstGeom>
          <a:solidFill>
            <a:srgbClr val="EAF2F8"/>
          </a:solidFill>
          <a:ln w="17780">
            <a:solidFill>
              <a:srgbClr val="337B80"/>
            </a:solidFill>
            <a:prstDash val="solid"/>
          </a:ln>
        </p:spPr>
      </p:sp>
      <p:sp>
        <p:nvSpPr>
          <p:cNvPr id="12" name="Text 10"/>
          <p:cNvSpPr/>
          <p:nvPr/>
        </p:nvSpPr>
        <p:spPr>
          <a:xfrm>
            <a:off x="603504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IMDb ratings.gz</a:t>
            </a:r>
            <a:endParaRPr lang="en-US" sz="1400" dirty="0"/>
          </a:p>
        </p:txBody>
      </p:sp>
      <p:sp>
        <p:nvSpPr>
          <p:cNvPr id="13" name="Shape 11"/>
          <p:cNvSpPr/>
          <p:nvPr/>
        </p:nvSpPr>
        <p:spPr>
          <a:xfrm>
            <a:off x="7927848" y="2377440"/>
            <a:ext cx="502920" cy="0"/>
          </a:xfrm>
          <a:prstGeom prst="line">
            <a:avLst/>
          </a:prstGeom>
          <a:noFill/>
          <a:ln w="22860">
            <a:solidFill>
              <a:srgbClr val="697586"/>
            </a:solidFill>
            <a:prstDash val="solid"/>
            <a:headEnd type="none"/>
            <a:tailEnd type="triangle"/>
          </a:ln>
        </p:spPr>
      </p:sp>
      <p:sp>
        <p:nvSpPr>
          <p:cNvPr id="14" name="Shape 12"/>
          <p:cNvSpPr/>
          <p:nvPr/>
        </p:nvSpPr>
        <p:spPr>
          <a:xfrm>
            <a:off x="8503920" y="1828800"/>
            <a:ext cx="2011680" cy="1097280"/>
          </a:xfrm>
          <a:prstGeom prst="roundRect">
            <a:avLst>
              <a:gd name="adj" fmla="val 5000"/>
            </a:avLst>
          </a:prstGeom>
          <a:solidFill>
            <a:srgbClr val="E8F4EE"/>
          </a:solidFill>
          <a:ln w="17780">
            <a:solidFill>
              <a:srgbClr val="3D8B66"/>
            </a:solidFill>
            <a:prstDash val="solid"/>
          </a:ln>
        </p:spPr>
      </p:sp>
      <p:sp>
        <p:nvSpPr>
          <p:cNvPr id="15" name="Text 13"/>
          <p:cNvSpPr/>
          <p:nvPr/>
        </p:nvSpPr>
        <p:spPr>
          <a:xfrm>
            <a:off x="8641080" y="2121408"/>
            <a:ext cx="1737360" cy="475488"/>
          </a:xfrm>
          <a:prstGeom prst="rect">
            <a:avLst/>
          </a:prstGeom>
          <a:noFill/>
          <a:ln/>
        </p:spPr>
        <p:txBody>
          <a:bodyPr wrap="square" lIns="0" tIns="0" rIns="0" bIns="0" rtlCol="0" anchor="ctr">
            <a:normAutofit/>
          </a:bodyPr>
          <a:lstStyle/>
          <a:p>
            <a:pPr algn="ctr" indent="0" marL="0">
              <a:buNone/>
            </a:pPr>
            <a:r>
              <a:rPr lang="en-US" sz="1400" b="1" dirty="0">
                <a:solidFill>
                  <a:srgbClr val="112B46"/>
                </a:solidFill>
                <a:latin typeface="Calibri" pitchFamily="34" charset="0"/>
                <a:ea typeface="Calibri" pitchFamily="34" charset="-122"/>
                <a:cs typeface="Calibri" pitchFamily="34" charset="-120"/>
              </a:rPr>
              <a:t>Movie</a:t>
            </a:r>
            <a:endParaRPr lang="en-US" sz="1400" dirty="0"/>
          </a:p>
          <a:p>
            <a:pPr algn="ctr" indent="0" marL="0">
              <a:buNone/>
            </a:pPr>
            <a:r>
              <a:rPr lang="en-US" sz="1400" b="1" dirty="0">
                <a:solidFill>
                  <a:srgbClr val="112B46"/>
                </a:solidFill>
                <a:latin typeface="Calibri" pitchFamily="34" charset="0"/>
                <a:ea typeface="Calibri" pitchFamily="34" charset="-122"/>
                <a:cs typeface="Calibri" pitchFamily="34" charset="-120"/>
              </a:rPr>
              <a:t>enrichment</a:t>
            </a:r>
            <a:endParaRPr lang="en-US" sz="1400" dirty="0"/>
          </a:p>
        </p:txBody>
      </p:sp>
      <p:sp>
        <p:nvSpPr>
          <p:cNvPr id="16" name="Shape 14"/>
          <p:cNvSpPr/>
          <p:nvPr/>
        </p:nvSpPr>
        <p:spPr>
          <a:xfrm>
            <a:off x="68580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7" name="Text 15"/>
          <p:cNvSpPr/>
          <p:nvPr/>
        </p:nvSpPr>
        <p:spPr>
          <a:xfrm>
            <a:off x="85039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4.558</a:t>
            </a:r>
            <a:endParaRPr lang="en-US" sz="2800" dirty="0"/>
          </a:p>
        </p:txBody>
      </p:sp>
      <p:sp>
        <p:nvSpPr>
          <p:cNvPr id="18" name="Text 16"/>
          <p:cNvSpPr/>
          <p:nvPr/>
        </p:nvSpPr>
        <p:spPr>
          <a:xfrm>
            <a:off x="86868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Movie có IMDb ID</a:t>
            </a:r>
            <a:endParaRPr lang="en-US" sz="1100" dirty="0"/>
          </a:p>
        </p:txBody>
      </p:sp>
      <p:sp>
        <p:nvSpPr>
          <p:cNvPr id="19" name="Shape 17"/>
          <p:cNvSpPr/>
          <p:nvPr/>
        </p:nvSpPr>
        <p:spPr>
          <a:xfrm>
            <a:off x="324612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0" name="Text 18"/>
          <p:cNvSpPr/>
          <p:nvPr/>
        </p:nvSpPr>
        <p:spPr>
          <a:xfrm>
            <a:off x="341071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4.351</a:t>
            </a:r>
            <a:endParaRPr lang="en-US" sz="2800" dirty="0"/>
          </a:p>
        </p:txBody>
      </p:sp>
      <p:sp>
        <p:nvSpPr>
          <p:cNvPr id="21" name="Text 19"/>
          <p:cNvSpPr/>
          <p:nvPr/>
        </p:nvSpPr>
        <p:spPr>
          <a:xfrm>
            <a:off x="342900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Rating ghép chính xác</a:t>
            </a:r>
            <a:endParaRPr lang="en-US" sz="1100" dirty="0"/>
          </a:p>
        </p:txBody>
      </p:sp>
      <p:sp>
        <p:nvSpPr>
          <p:cNvPr id="22" name="Shape 20"/>
          <p:cNvSpPr/>
          <p:nvPr/>
        </p:nvSpPr>
        <p:spPr>
          <a:xfrm>
            <a:off x="5806440" y="3749040"/>
            <a:ext cx="23317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3" name="Text 21"/>
          <p:cNvSpPr/>
          <p:nvPr/>
        </p:nvSpPr>
        <p:spPr>
          <a:xfrm>
            <a:off x="5971032" y="3913632"/>
            <a:ext cx="20025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95,5%</a:t>
            </a:r>
            <a:endParaRPr lang="en-US" sz="2800" dirty="0"/>
          </a:p>
        </p:txBody>
      </p:sp>
      <p:sp>
        <p:nvSpPr>
          <p:cNvPr id="24" name="Text 22"/>
          <p:cNvSpPr/>
          <p:nvPr/>
        </p:nvSpPr>
        <p:spPr>
          <a:xfrm>
            <a:off x="5989320" y="4425696"/>
            <a:ext cx="19659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Tỷ lệ ghép trên IMDb ID</a:t>
            </a:r>
            <a:endParaRPr lang="en-US" sz="1100" dirty="0"/>
          </a:p>
        </p:txBody>
      </p:sp>
      <p:sp>
        <p:nvSpPr>
          <p:cNvPr id="25" name="Shape 23"/>
          <p:cNvSpPr/>
          <p:nvPr/>
        </p:nvSpPr>
        <p:spPr>
          <a:xfrm>
            <a:off x="8366760" y="3749040"/>
            <a:ext cx="3154680" cy="1261872"/>
          </a:xfrm>
          <a:prstGeom prst="roundRect">
            <a:avLst>
              <a:gd name="adj" fmla="val 4348"/>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26" name="Text 24"/>
          <p:cNvSpPr/>
          <p:nvPr/>
        </p:nvSpPr>
        <p:spPr>
          <a:xfrm>
            <a:off x="8595360" y="3931920"/>
            <a:ext cx="269748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Không ghi đè</a:t>
            </a:r>
            <a:endParaRPr lang="en-US" sz="1500" dirty="0"/>
          </a:p>
        </p:txBody>
      </p:sp>
      <p:sp>
        <p:nvSpPr>
          <p:cNvPr id="27" name="Text 25"/>
          <p:cNvSpPr/>
          <p:nvPr/>
        </p:nvSpPr>
        <p:spPr>
          <a:xfrm>
            <a:off x="8595360" y="4352544"/>
            <a:ext cx="2697480" cy="475488"/>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`rating`, `imdb_rating` và `imdb_votes` được giữ riêng.</a:t>
            </a:r>
            <a:endParaRPr lang="en-US" sz="11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MÔ HÌNH TRI THỨC</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Mô hình dữ liệu đặt định danh lên trước tên gọi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Person có thể vừa là diễn viên vừa là đạo diễn; vai trò được biểu diễn bằng quan hệ.</a:t>
            </a:r>
            <a:endParaRPr lang="en-US" sz="1250" dirty="0"/>
          </a:p>
        </p:txBody>
      </p:sp>
      <p:sp>
        <p:nvSpPr>
          <p:cNvPr id="5" name="Shape 3"/>
          <p:cNvSpPr/>
          <p:nvPr/>
        </p:nvSpPr>
        <p:spPr>
          <a:xfrm>
            <a:off x="566928" y="1737360"/>
            <a:ext cx="7452360" cy="4315968"/>
          </a:xfrm>
          <a:prstGeom prst="roundRect">
            <a:avLst>
              <a:gd name="adj" fmla="val 847"/>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property_graph_schema.png">    </p:cNvPr>
          <p:cNvPicPr>
            <a:picLocks noChangeAspect="1"/>
          </p:cNvPicPr>
          <p:nvPr/>
        </p:nvPicPr>
        <p:blipFill>
          <a:blip r:embed="rId1"/>
          <a:stretch>
            <a:fillRect/>
          </a:stretch>
        </p:blipFill>
        <p:spPr>
          <a:xfrm>
            <a:off x="676656" y="2672095"/>
            <a:ext cx="7232904" cy="2446498"/>
          </a:xfrm>
          <a:prstGeom prst="rect">
            <a:avLst/>
          </a:prstGeom>
        </p:spPr>
      </p:pic>
      <p:sp>
        <p:nvSpPr>
          <p:cNvPr id="7" name="Shape 4"/>
          <p:cNvSpPr/>
          <p:nvPr/>
        </p:nvSpPr>
        <p:spPr>
          <a:xfrm>
            <a:off x="8321040" y="1755648"/>
            <a:ext cx="3246120" cy="1097280"/>
          </a:xfrm>
          <a:prstGeom prst="roundRect">
            <a:avLst>
              <a:gd name="adj" fmla="val 50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549640" y="1938528"/>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Định danh ổn định</a:t>
            </a:r>
            <a:endParaRPr lang="en-US" sz="1500" dirty="0"/>
          </a:p>
        </p:txBody>
      </p:sp>
      <p:sp>
        <p:nvSpPr>
          <p:cNvPr id="9" name="Text 6"/>
          <p:cNvSpPr/>
          <p:nvPr/>
        </p:nvSpPr>
        <p:spPr>
          <a:xfrm>
            <a:off x="8549640" y="2359152"/>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`Person.person_id = tmdb:&lt;id&gt;`</a:t>
            </a:r>
            <a:endParaRPr lang="en-US" sz="1100" dirty="0"/>
          </a:p>
          <a:p>
            <a:pPr indent="0" marL="0">
              <a:buNone/>
            </a:pPr>
            <a:r>
              <a:rPr lang="en-US" sz="1100" dirty="0">
                <a:solidFill>
                  <a:srgbClr val="172B3A"/>
                </a:solidFill>
                <a:latin typeface="Calibri" pitchFamily="34" charset="0"/>
                <a:ea typeface="Calibri" pitchFamily="34" charset="-122"/>
                <a:cs typeface="Calibri" pitchFamily="34" charset="-120"/>
              </a:rPr>
              <a:t>Tên không phải khóa chính.</a:t>
            </a:r>
            <a:endParaRPr lang="en-US" sz="1100" dirty="0"/>
          </a:p>
        </p:txBody>
      </p:sp>
      <p:sp>
        <p:nvSpPr>
          <p:cNvPr id="10" name="Shape 7"/>
          <p:cNvSpPr/>
          <p:nvPr/>
        </p:nvSpPr>
        <p:spPr>
          <a:xfrm>
            <a:off x="8321040" y="3090672"/>
            <a:ext cx="3246120" cy="1097280"/>
          </a:xfrm>
          <a:prstGeom prst="roundRect">
            <a:avLst>
              <a:gd name="adj" fmla="val 5000"/>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549640" y="3273552"/>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Vai trò trên cạnh</a:t>
            </a:r>
            <a:endParaRPr lang="en-US" sz="1500" dirty="0"/>
          </a:p>
        </p:txBody>
      </p:sp>
      <p:sp>
        <p:nvSpPr>
          <p:cNvPr id="12" name="Text 9"/>
          <p:cNvSpPr/>
          <p:nvPr/>
        </p:nvSpPr>
        <p:spPr>
          <a:xfrm>
            <a:off x="8549640" y="3694176"/>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`ACTED_IN` giữ character, cast_order và source.</a:t>
            </a:r>
            <a:endParaRPr lang="en-US" sz="1100" dirty="0"/>
          </a:p>
        </p:txBody>
      </p:sp>
      <p:sp>
        <p:nvSpPr>
          <p:cNvPr id="13" name="Shape 10"/>
          <p:cNvSpPr/>
          <p:nvPr/>
        </p:nvSpPr>
        <p:spPr>
          <a:xfrm>
            <a:off x="8321040" y="4425696"/>
            <a:ext cx="3246120" cy="1097280"/>
          </a:xfrm>
          <a:prstGeom prst="roundRect">
            <a:avLst>
              <a:gd name="adj" fmla="val 500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549640" y="4608576"/>
            <a:ext cx="2788920"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Ràng buộc</a:t>
            </a:r>
            <a:endParaRPr lang="en-US" sz="1500" dirty="0"/>
          </a:p>
        </p:txBody>
      </p:sp>
      <p:sp>
        <p:nvSpPr>
          <p:cNvPr id="15" name="Text 12"/>
          <p:cNvSpPr/>
          <p:nvPr/>
        </p:nvSpPr>
        <p:spPr>
          <a:xfrm>
            <a:off x="8549640" y="5029200"/>
            <a:ext cx="2788920" cy="31089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Ràng buộc (constraint) và chỉ mục được tạo trước khi nhập dữ liệu.</a:t>
            </a:r>
            <a:endParaRPr lang="en-US" sz="11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report_latex/images/sources/property_graph_schema.drawio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QUY TRÌNH XỬ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Quy trình dữ liệu có thể chạy lại và kiểm tra</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Raw cache bất biến → dữ liệu chuẩn hóa tất định → import idempotent → validation.</a:t>
            </a:r>
            <a:endParaRPr lang="en-US" sz="1250" dirty="0"/>
          </a:p>
        </p:txBody>
      </p:sp>
      <p:sp>
        <p:nvSpPr>
          <p:cNvPr id="5" name="Shape 3"/>
          <p:cNvSpPr/>
          <p:nvPr/>
        </p:nvSpPr>
        <p:spPr>
          <a:xfrm>
            <a:off x="457200" y="2194560"/>
            <a:ext cx="1143000" cy="914400"/>
          </a:xfrm>
          <a:prstGeom prst="roundRect">
            <a:avLst>
              <a:gd name="adj" fmla="val 4000"/>
            </a:avLst>
          </a:prstGeom>
          <a:solidFill>
            <a:srgbClr val="EDF2F7"/>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54864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Collect</a:t>
            </a:r>
            <a:endParaRPr lang="en-US" sz="1300" dirty="0"/>
          </a:p>
        </p:txBody>
      </p:sp>
      <p:sp>
        <p:nvSpPr>
          <p:cNvPr id="7" name="Shape 5"/>
          <p:cNvSpPr/>
          <p:nvPr/>
        </p:nvSpPr>
        <p:spPr>
          <a:xfrm>
            <a:off x="1618488" y="2651760"/>
            <a:ext cx="237744" cy="0"/>
          </a:xfrm>
          <a:prstGeom prst="line">
            <a:avLst/>
          </a:prstGeom>
          <a:noFill/>
          <a:ln w="17780">
            <a:solidFill>
              <a:srgbClr val="697586"/>
            </a:solidFill>
            <a:prstDash val="solid"/>
            <a:tailEnd type="triangle"/>
          </a:ln>
        </p:spPr>
      </p:sp>
      <p:sp>
        <p:nvSpPr>
          <p:cNvPr id="8" name="Shape 6"/>
          <p:cNvSpPr/>
          <p:nvPr/>
        </p:nvSpPr>
        <p:spPr>
          <a:xfrm>
            <a:off x="1892808" y="2194560"/>
            <a:ext cx="1143000" cy="914400"/>
          </a:xfrm>
          <a:prstGeom prst="roundRect">
            <a:avLst>
              <a:gd name="adj" fmla="val 4000"/>
            </a:avLst>
          </a:prstGeom>
          <a:solidFill>
            <a:srgbClr val="FFFFFF"/>
          </a:solidFill>
          <a:ln w="17780">
            <a:solidFill>
              <a:srgbClr val="337B80"/>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198424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37B80"/>
                </a:solidFill>
                <a:latin typeface="Calibri" pitchFamily="34" charset="0"/>
                <a:ea typeface="Calibri" pitchFamily="34" charset="-122"/>
                <a:cs typeface="Calibri" pitchFamily="34" charset="-120"/>
              </a:rPr>
              <a:t>Cache</a:t>
            </a:r>
            <a:endParaRPr lang="en-US" sz="1300" dirty="0"/>
          </a:p>
        </p:txBody>
      </p:sp>
      <p:sp>
        <p:nvSpPr>
          <p:cNvPr id="10" name="Shape 8"/>
          <p:cNvSpPr/>
          <p:nvPr/>
        </p:nvSpPr>
        <p:spPr>
          <a:xfrm>
            <a:off x="3054096" y="2651760"/>
            <a:ext cx="237744" cy="0"/>
          </a:xfrm>
          <a:prstGeom prst="line">
            <a:avLst/>
          </a:prstGeom>
          <a:noFill/>
          <a:ln w="17780">
            <a:solidFill>
              <a:srgbClr val="697586"/>
            </a:solidFill>
            <a:prstDash val="solid"/>
            <a:tailEnd type="triangle"/>
          </a:ln>
        </p:spPr>
      </p:sp>
      <p:sp>
        <p:nvSpPr>
          <p:cNvPr id="11" name="Shape 9"/>
          <p:cNvSpPr/>
          <p:nvPr/>
        </p:nvSpPr>
        <p:spPr>
          <a:xfrm>
            <a:off x="3328416"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341985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Clean</a:t>
            </a:r>
            <a:endParaRPr lang="en-US" sz="1300" dirty="0"/>
          </a:p>
        </p:txBody>
      </p:sp>
      <p:sp>
        <p:nvSpPr>
          <p:cNvPr id="13" name="Shape 11"/>
          <p:cNvSpPr/>
          <p:nvPr/>
        </p:nvSpPr>
        <p:spPr>
          <a:xfrm>
            <a:off x="4489704" y="2651760"/>
            <a:ext cx="237744" cy="0"/>
          </a:xfrm>
          <a:prstGeom prst="line">
            <a:avLst/>
          </a:prstGeom>
          <a:noFill/>
          <a:ln w="17780">
            <a:solidFill>
              <a:srgbClr val="697586"/>
            </a:solidFill>
            <a:prstDash val="solid"/>
            <a:tailEnd type="triangle"/>
          </a:ln>
        </p:spPr>
      </p:sp>
      <p:sp>
        <p:nvSpPr>
          <p:cNvPr id="14" name="Shape 12"/>
          <p:cNvSpPr/>
          <p:nvPr/>
        </p:nvSpPr>
        <p:spPr>
          <a:xfrm>
            <a:off x="4764024" y="2194560"/>
            <a:ext cx="1143000" cy="914400"/>
          </a:xfrm>
          <a:prstGeom prst="roundRect">
            <a:avLst>
              <a:gd name="adj" fmla="val 4000"/>
            </a:avLst>
          </a:prstGeom>
          <a:solidFill>
            <a:srgbClr val="FFFFFF"/>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4855464"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IMDb join</a:t>
            </a:r>
            <a:endParaRPr lang="en-US" sz="1300" dirty="0"/>
          </a:p>
        </p:txBody>
      </p:sp>
      <p:sp>
        <p:nvSpPr>
          <p:cNvPr id="16" name="Shape 14"/>
          <p:cNvSpPr/>
          <p:nvPr/>
        </p:nvSpPr>
        <p:spPr>
          <a:xfrm>
            <a:off x="5925312" y="2651760"/>
            <a:ext cx="237744" cy="0"/>
          </a:xfrm>
          <a:prstGeom prst="line">
            <a:avLst/>
          </a:prstGeom>
          <a:noFill/>
          <a:ln w="17780">
            <a:solidFill>
              <a:srgbClr val="697586"/>
            </a:solidFill>
            <a:prstDash val="solid"/>
            <a:tailEnd type="triangle"/>
          </a:ln>
        </p:spPr>
      </p:sp>
      <p:sp>
        <p:nvSpPr>
          <p:cNvPr id="17" name="Shape 15"/>
          <p:cNvSpPr/>
          <p:nvPr/>
        </p:nvSpPr>
        <p:spPr>
          <a:xfrm>
            <a:off x="6199632" y="2194560"/>
            <a:ext cx="1143000" cy="914400"/>
          </a:xfrm>
          <a:prstGeom prst="roundRect">
            <a:avLst>
              <a:gd name="adj" fmla="val 4000"/>
            </a:avLst>
          </a:prstGeom>
          <a:solidFill>
            <a:srgbClr val="EDF2F7"/>
          </a:solidFill>
          <a:ln w="17780">
            <a:solidFill>
              <a:srgbClr val="D38B36"/>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6291072"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D38B36"/>
                </a:solidFill>
                <a:latin typeface="Calibri" pitchFamily="34" charset="0"/>
                <a:ea typeface="Calibri" pitchFamily="34" charset="-122"/>
                <a:cs typeface="Calibri" pitchFamily="34" charset="-120"/>
              </a:rPr>
              <a:t>Normalize</a:t>
            </a:r>
            <a:endParaRPr lang="en-US" sz="1300" dirty="0"/>
          </a:p>
        </p:txBody>
      </p:sp>
      <p:sp>
        <p:nvSpPr>
          <p:cNvPr id="19" name="Shape 17"/>
          <p:cNvSpPr/>
          <p:nvPr/>
        </p:nvSpPr>
        <p:spPr>
          <a:xfrm>
            <a:off x="7360920" y="2651760"/>
            <a:ext cx="237744" cy="0"/>
          </a:xfrm>
          <a:prstGeom prst="line">
            <a:avLst/>
          </a:prstGeom>
          <a:noFill/>
          <a:ln w="17780">
            <a:solidFill>
              <a:srgbClr val="697586"/>
            </a:solidFill>
            <a:prstDash val="solid"/>
            <a:tailEnd type="triangle"/>
          </a:ln>
        </p:spPr>
      </p:sp>
      <p:sp>
        <p:nvSpPr>
          <p:cNvPr id="20" name="Shape 18"/>
          <p:cNvSpPr/>
          <p:nvPr/>
        </p:nvSpPr>
        <p:spPr>
          <a:xfrm>
            <a:off x="7635240" y="2194560"/>
            <a:ext cx="1143000" cy="914400"/>
          </a:xfrm>
          <a:prstGeom prst="roundRect">
            <a:avLst>
              <a:gd name="adj" fmla="val 4000"/>
            </a:avLst>
          </a:prstGeom>
          <a:solidFill>
            <a:srgbClr val="FFFFFF"/>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1" name="Text 19"/>
          <p:cNvSpPr/>
          <p:nvPr/>
        </p:nvSpPr>
        <p:spPr>
          <a:xfrm>
            <a:off x="7726680"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Neo4j load</a:t>
            </a:r>
            <a:endParaRPr lang="en-US" sz="1300" dirty="0"/>
          </a:p>
        </p:txBody>
      </p:sp>
      <p:sp>
        <p:nvSpPr>
          <p:cNvPr id="22" name="Shape 20"/>
          <p:cNvSpPr/>
          <p:nvPr/>
        </p:nvSpPr>
        <p:spPr>
          <a:xfrm>
            <a:off x="8796528" y="2651760"/>
            <a:ext cx="237744" cy="0"/>
          </a:xfrm>
          <a:prstGeom prst="line">
            <a:avLst/>
          </a:prstGeom>
          <a:noFill/>
          <a:ln w="17780">
            <a:solidFill>
              <a:srgbClr val="697586"/>
            </a:solidFill>
            <a:prstDash val="solid"/>
            <a:tailEnd type="triangle"/>
          </a:ln>
        </p:spPr>
      </p:sp>
      <p:sp>
        <p:nvSpPr>
          <p:cNvPr id="23" name="Shape 21"/>
          <p:cNvSpPr/>
          <p:nvPr/>
        </p:nvSpPr>
        <p:spPr>
          <a:xfrm>
            <a:off x="9070848" y="2194560"/>
            <a:ext cx="1143000" cy="914400"/>
          </a:xfrm>
          <a:prstGeom prst="roundRect">
            <a:avLst>
              <a:gd name="adj" fmla="val 4000"/>
            </a:avLst>
          </a:prstGeom>
          <a:solidFill>
            <a:srgbClr val="EDF2F7"/>
          </a:solidFill>
          <a:ln w="17780">
            <a:solidFill>
              <a:srgbClr val="725B9B"/>
            </a:solidFill>
            <a:prstDash val="solid"/>
          </a:ln>
          <a:effectLst>
            <a:outerShdw sx="100000" sy="100000" kx="0" ky="0" algn="bl" rotWithShape="0" blurRad="25400" dist="50800" dir="2700000">
              <a:srgbClr val="26384A">
                <a:alpha val="13000"/>
              </a:srgbClr>
            </a:outerShdw>
          </a:effectLst>
        </p:spPr>
      </p:sp>
      <p:sp>
        <p:nvSpPr>
          <p:cNvPr id="24" name="Text 22"/>
          <p:cNvSpPr/>
          <p:nvPr/>
        </p:nvSpPr>
        <p:spPr>
          <a:xfrm>
            <a:off x="9162288"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725B9B"/>
                </a:solidFill>
                <a:latin typeface="Calibri" pitchFamily="34" charset="0"/>
                <a:ea typeface="Calibri" pitchFamily="34" charset="-122"/>
                <a:cs typeface="Calibri" pitchFamily="34" charset="-120"/>
              </a:rPr>
              <a:t>Reason</a:t>
            </a:r>
            <a:endParaRPr lang="en-US" sz="1300" dirty="0"/>
          </a:p>
        </p:txBody>
      </p:sp>
      <p:sp>
        <p:nvSpPr>
          <p:cNvPr id="25" name="Shape 23"/>
          <p:cNvSpPr/>
          <p:nvPr/>
        </p:nvSpPr>
        <p:spPr>
          <a:xfrm>
            <a:off x="10232136" y="2651760"/>
            <a:ext cx="237744" cy="0"/>
          </a:xfrm>
          <a:prstGeom prst="line">
            <a:avLst/>
          </a:prstGeom>
          <a:noFill/>
          <a:ln w="17780">
            <a:solidFill>
              <a:srgbClr val="697586"/>
            </a:solidFill>
            <a:prstDash val="solid"/>
            <a:tailEnd type="triangle"/>
          </a:ln>
        </p:spPr>
      </p:sp>
      <p:sp>
        <p:nvSpPr>
          <p:cNvPr id="26" name="Shape 24"/>
          <p:cNvSpPr/>
          <p:nvPr/>
        </p:nvSpPr>
        <p:spPr>
          <a:xfrm>
            <a:off x="10506456" y="2194560"/>
            <a:ext cx="1143000" cy="914400"/>
          </a:xfrm>
          <a:prstGeom prst="roundRect">
            <a:avLst>
              <a:gd name="adj" fmla="val 4000"/>
            </a:avLst>
          </a:prstGeom>
          <a:solidFill>
            <a:srgbClr val="FFFFFF"/>
          </a:solidFill>
          <a:ln w="17780">
            <a:solidFill>
              <a:srgbClr val="3D8B66"/>
            </a:solidFill>
            <a:prstDash val="solid"/>
          </a:ln>
          <a:effectLst>
            <a:outerShdw sx="100000" sy="100000" kx="0" ky="0" algn="bl" rotWithShape="0" blurRad="25400" dist="50800" dir="2700000">
              <a:srgbClr val="26384A">
                <a:alpha val="13000"/>
              </a:srgbClr>
            </a:outerShdw>
          </a:effectLst>
        </p:spPr>
      </p:sp>
      <p:sp>
        <p:nvSpPr>
          <p:cNvPr id="27" name="Text 25"/>
          <p:cNvSpPr/>
          <p:nvPr/>
        </p:nvSpPr>
        <p:spPr>
          <a:xfrm>
            <a:off x="10597896" y="2505456"/>
            <a:ext cx="960120" cy="256032"/>
          </a:xfrm>
          <a:prstGeom prst="rect">
            <a:avLst/>
          </a:prstGeom>
          <a:noFill/>
          <a:ln/>
        </p:spPr>
        <p:txBody>
          <a:bodyPr wrap="square" lIns="0" tIns="0" rIns="0" bIns="0" rtlCol="0" anchor="ctr">
            <a:normAutofit/>
          </a:bodyPr>
          <a:lstStyle/>
          <a:p>
            <a:pPr algn="ctr" indent="0" marL="0">
              <a:buNone/>
            </a:pPr>
            <a:r>
              <a:rPr lang="en-US" sz="1300" b="1" dirty="0">
                <a:solidFill>
                  <a:srgbClr val="3D8B66"/>
                </a:solidFill>
                <a:latin typeface="Calibri" pitchFamily="34" charset="0"/>
                <a:ea typeface="Calibri" pitchFamily="34" charset="-122"/>
                <a:cs typeface="Calibri" pitchFamily="34" charset="-120"/>
              </a:rPr>
              <a:t>Validate</a:t>
            </a:r>
            <a:endParaRPr lang="en-US" sz="1300" dirty="0"/>
          </a:p>
        </p:txBody>
      </p:sp>
      <p:sp>
        <p:nvSpPr>
          <p:cNvPr id="28" name="Shape 26"/>
          <p:cNvSpPr/>
          <p:nvPr/>
        </p:nvSpPr>
        <p:spPr>
          <a:xfrm>
            <a:off x="621792" y="5074920"/>
            <a:ext cx="2487168" cy="1005840"/>
          </a:xfrm>
          <a:prstGeom prst="roundRect">
            <a:avLst>
              <a:gd name="adj" fmla="val 5455"/>
            </a:avLst>
          </a:prstGeom>
          <a:solidFill>
            <a:srgbClr val="FFFFFF"/>
          </a:solidFill>
          <a:ln w="12700">
            <a:solidFill>
              <a:srgbClr val="D7DEE8"/>
            </a:solidFill>
            <a:prstDash val="solid"/>
          </a:ln>
        </p:spPr>
      </p:sp>
      <p:sp>
        <p:nvSpPr>
          <p:cNvPr id="29" name="Text 27"/>
          <p:cNvSpPr/>
          <p:nvPr/>
        </p:nvSpPr>
        <p:spPr>
          <a:xfrm>
            <a:off x="850392"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Cache</a:t>
            </a:r>
            <a:endParaRPr lang="en-US" sz="1200" dirty="0"/>
          </a:p>
        </p:txBody>
      </p:sp>
      <p:sp>
        <p:nvSpPr>
          <p:cNvPr id="30" name="Text 28"/>
          <p:cNvSpPr/>
          <p:nvPr/>
        </p:nvSpPr>
        <p:spPr>
          <a:xfrm>
            <a:off x="850392"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lại nguồn khi xử lý lại</a:t>
            </a:r>
            <a:endParaRPr lang="en-US" sz="950" dirty="0"/>
          </a:p>
        </p:txBody>
      </p:sp>
      <p:sp>
        <p:nvSpPr>
          <p:cNvPr id="31" name="Shape 29"/>
          <p:cNvSpPr/>
          <p:nvPr/>
        </p:nvSpPr>
        <p:spPr>
          <a:xfrm>
            <a:off x="3392424" y="5074920"/>
            <a:ext cx="2487168" cy="1005840"/>
          </a:xfrm>
          <a:prstGeom prst="roundRect">
            <a:avLst>
              <a:gd name="adj" fmla="val 5455"/>
            </a:avLst>
          </a:prstGeom>
          <a:solidFill>
            <a:srgbClr val="F0F6F8"/>
          </a:solidFill>
          <a:ln w="12700">
            <a:solidFill>
              <a:srgbClr val="D7DEE8"/>
            </a:solidFill>
            <a:prstDash val="solid"/>
          </a:ln>
        </p:spPr>
      </p:sp>
      <p:sp>
        <p:nvSpPr>
          <p:cNvPr id="32" name="Text 30"/>
          <p:cNvSpPr/>
          <p:nvPr/>
        </p:nvSpPr>
        <p:spPr>
          <a:xfrm>
            <a:off x="3621024"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Manifest</a:t>
            </a:r>
            <a:endParaRPr lang="en-US" sz="1200" dirty="0"/>
          </a:p>
        </p:txBody>
      </p:sp>
      <p:sp>
        <p:nvSpPr>
          <p:cNvPr id="33" name="Text 31"/>
          <p:cNvSpPr/>
          <p:nvPr/>
        </p:nvSpPr>
        <p:spPr>
          <a:xfrm>
            <a:off x="3621024"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Count + checksum + chất lượng</a:t>
            </a:r>
            <a:endParaRPr lang="en-US" sz="950" dirty="0"/>
          </a:p>
        </p:txBody>
      </p:sp>
      <p:sp>
        <p:nvSpPr>
          <p:cNvPr id="34" name="Shape 32"/>
          <p:cNvSpPr/>
          <p:nvPr/>
        </p:nvSpPr>
        <p:spPr>
          <a:xfrm>
            <a:off x="6163056" y="5074920"/>
            <a:ext cx="2487168" cy="1005840"/>
          </a:xfrm>
          <a:prstGeom prst="roundRect">
            <a:avLst>
              <a:gd name="adj" fmla="val 5455"/>
            </a:avLst>
          </a:prstGeom>
          <a:solidFill>
            <a:srgbClr val="FFFFFF"/>
          </a:solidFill>
          <a:ln w="12700">
            <a:solidFill>
              <a:srgbClr val="D7DEE8"/>
            </a:solidFill>
            <a:prstDash val="solid"/>
          </a:ln>
        </p:spPr>
      </p:sp>
      <p:sp>
        <p:nvSpPr>
          <p:cNvPr id="35" name="Text 33"/>
          <p:cNvSpPr/>
          <p:nvPr/>
        </p:nvSpPr>
        <p:spPr>
          <a:xfrm>
            <a:off x="6391656"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MERGE</a:t>
            </a:r>
            <a:endParaRPr lang="en-US" sz="1200" dirty="0"/>
          </a:p>
        </p:txBody>
      </p:sp>
      <p:sp>
        <p:nvSpPr>
          <p:cNvPr id="36" name="Text 34"/>
          <p:cNvSpPr/>
          <p:nvPr/>
        </p:nvSpPr>
        <p:spPr>
          <a:xfrm>
            <a:off x="6391656"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Import lặp không nhân bản</a:t>
            </a:r>
            <a:endParaRPr lang="en-US" sz="950" dirty="0"/>
          </a:p>
        </p:txBody>
      </p:sp>
      <p:sp>
        <p:nvSpPr>
          <p:cNvPr id="37" name="Shape 35"/>
          <p:cNvSpPr/>
          <p:nvPr/>
        </p:nvSpPr>
        <p:spPr>
          <a:xfrm>
            <a:off x="8933688" y="5074920"/>
            <a:ext cx="2487168" cy="1005840"/>
          </a:xfrm>
          <a:prstGeom prst="roundRect">
            <a:avLst>
              <a:gd name="adj" fmla="val 5455"/>
            </a:avLst>
          </a:prstGeom>
          <a:solidFill>
            <a:srgbClr val="F0F6F8"/>
          </a:solidFill>
          <a:ln w="12700">
            <a:solidFill>
              <a:srgbClr val="D7DEE8"/>
            </a:solidFill>
            <a:prstDash val="solid"/>
          </a:ln>
        </p:spPr>
      </p:sp>
      <p:sp>
        <p:nvSpPr>
          <p:cNvPr id="38" name="Text 36"/>
          <p:cNvSpPr/>
          <p:nvPr/>
        </p:nvSpPr>
        <p:spPr>
          <a:xfrm>
            <a:off x="9162288" y="5257800"/>
            <a:ext cx="2029968"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Gate</a:t>
            </a:r>
            <a:endParaRPr lang="en-US" sz="1200" dirty="0"/>
          </a:p>
        </p:txBody>
      </p:sp>
      <p:sp>
        <p:nvSpPr>
          <p:cNvPr id="39" name="Text 37"/>
          <p:cNvSpPr/>
          <p:nvPr/>
        </p:nvSpPr>
        <p:spPr>
          <a:xfrm>
            <a:off x="9162288" y="5678424"/>
            <a:ext cx="2029968" cy="219456"/>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Phát hiện orphan và khóa lỗi</a:t>
            </a:r>
            <a:endParaRPr lang="en-US" sz="9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CHẤT LƯỢNG DỮ LIỆU</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Đồ thị cuối cùng vượt qua toàn bộ quality gate</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Một bản ghi Movie không có quan hệ bị loại; ảnh chụp hợp lệ còn 4.999 phim.</a:t>
            </a:r>
            <a:endParaRPr lang="en-US" sz="1250" dirty="0"/>
          </a:p>
        </p:txBody>
      </p:sp>
      <p:sp>
        <p:nvSpPr>
          <p:cNvPr id="5" name="Shape 3"/>
          <p:cNvSpPr/>
          <p:nvPr/>
        </p:nvSpPr>
        <p:spPr>
          <a:xfrm>
            <a:off x="59436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76.612</a:t>
            </a:r>
            <a:endParaRPr lang="en-US" sz="2800" dirty="0"/>
          </a:p>
        </p:txBody>
      </p:sp>
      <p:sp>
        <p:nvSpPr>
          <p:cNvPr id="7" name="Text 5"/>
          <p:cNvSpPr/>
          <p:nvPr/>
        </p:nvSpPr>
        <p:spPr>
          <a:xfrm>
            <a:off x="77724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nút</a:t>
            </a:r>
            <a:endParaRPr lang="en-US" sz="1100" dirty="0"/>
          </a:p>
        </p:txBody>
      </p:sp>
      <p:sp>
        <p:nvSpPr>
          <p:cNvPr id="8" name="Shape 6"/>
          <p:cNvSpPr/>
          <p:nvPr/>
        </p:nvSpPr>
        <p:spPr>
          <a:xfrm>
            <a:off x="278892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295351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846.309</a:t>
            </a:r>
            <a:endParaRPr lang="en-US" sz="2800" dirty="0"/>
          </a:p>
        </p:txBody>
      </p:sp>
      <p:sp>
        <p:nvSpPr>
          <p:cNvPr id="10" name="Text 8"/>
          <p:cNvSpPr/>
          <p:nvPr/>
        </p:nvSpPr>
        <p:spPr>
          <a:xfrm>
            <a:off x="297180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Tổng số quan hệ</a:t>
            </a:r>
            <a:endParaRPr lang="en-US" sz="1100" dirty="0"/>
          </a:p>
        </p:txBody>
      </p:sp>
      <p:sp>
        <p:nvSpPr>
          <p:cNvPr id="11" name="Shape 9"/>
          <p:cNvSpPr/>
          <p:nvPr/>
        </p:nvSpPr>
        <p:spPr>
          <a:xfrm>
            <a:off x="498348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514807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53.555</a:t>
            </a:r>
            <a:endParaRPr lang="en-US" sz="2800" dirty="0"/>
          </a:p>
        </p:txBody>
      </p:sp>
      <p:sp>
        <p:nvSpPr>
          <p:cNvPr id="13" name="Text 11"/>
          <p:cNvSpPr/>
          <p:nvPr/>
        </p:nvSpPr>
        <p:spPr>
          <a:xfrm>
            <a:off x="516636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Person</a:t>
            </a:r>
            <a:endParaRPr lang="en-US" sz="1100" dirty="0"/>
          </a:p>
        </p:txBody>
      </p:sp>
      <p:sp>
        <p:nvSpPr>
          <p:cNvPr id="14" name="Shape 12"/>
          <p:cNvSpPr/>
          <p:nvPr/>
        </p:nvSpPr>
        <p:spPr>
          <a:xfrm>
            <a:off x="717804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5" name="Text 13"/>
          <p:cNvSpPr/>
          <p:nvPr/>
        </p:nvSpPr>
        <p:spPr>
          <a:xfrm>
            <a:off x="734263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12.509</a:t>
            </a:r>
            <a:endParaRPr lang="en-US" sz="2800" dirty="0"/>
          </a:p>
        </p:txBody>
      </p:sp>
      <p:sp>
        <p:nvSpPr>
          <p:cNvPr id="16" name="Text 14"/>
          <p:cNvSpPr/>
          <p:nvPr/>
        </p:nvSpPr>
        <p:spPr>
          <a:xfrm>
            <a:off x="736092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Keyword</a:t>
            </a:r>
            <a:endParaRPr lang="en-US" sz="1100" dirty="0"/>
          </a:p>
        </p:txBody>
      </p:sp>
      <p:sp>
        <p:nvSpPr>
          <p:cNvPr id="17" name="Shape 15"/>
          <p:cNvSpPr/>
          <p:nvPr/>
        </p:nvSpPr>
        <p:spPr>
          <a:xfrm>
            <a:off x="9372600" y="1810512"/>
            <a:ext cx="201168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9537192" y="1975104"/>
            <a:ext cx="1682496" cy="457200"/>
          </a:xfrm>
          <a:prstGeom prst="rect">
            <a:avLst/>
          </a:prstGeom>
          <a:noFill/>
          <a:ln/>
        </p:spPr>
        <p:txBody>
          <a:bodyPr wrap="square" lIns="0" tIns="0" rIns="0" bIns="0" rtlCol="0" anchor="ctr">
            <a:normAutofit/>
          </a:bodyPr>
          <a:lstStyle/>
          <a:p>
            <a:pPr indent="0" marL="0">
              <a:buNone/>
            </a:pPr>
            <a:r>
              <a:rPr lang="en-US" sz="2800" b="1" dirty="0">
                <a:solidFill>
                  <a:srgbClr val="183D5D"/>
                </a:solidFill>
                <a:latin typeface="Arial" pitchFamily="34" charset="0"/>
                <a:ea typeface="Arial" pitchFamily="34" charset="-122"/>
                <a:cs typeface="Arial" pitchFamily="34" charset="-120"/>
              </a:rPr>
              <a:t>5.530</a:t>
            </a:r>
            <a:endParaRPr lang="en-US" sz="2800" dirty="0"/>
          </a:p>
        </p:txBody>
      </p:sp>
      <p:sp>
        <p:nvSpPr>
          <p:cNvPr id="19" name="Text 17"/>
          <p:cNvSpPr/>
          <p:nvPr/>
        </p:nvSpPr>
        <p:spPr>
          <a:xfrm>
            <a:off x="9555480" y="2487168"/>
            <a:ext cx="164592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Studio</a:t>
            </a:r>
            <a:endParaRPr lang="en-US" sz="1100" dirty="0"/>
          </a:p>
        </p:txBody>
      </p:sp>
      <p:sp>
        <p:nvSpPr>
          <p:cNvPr id="20" name="Text 18"/>
          <p:cNvSpPr/>
          <p:nvPr/>
        </p:nvSpPr>
        <p:spPr>
          <a:xfrm>
            <a:off x="685800" y="3657600"/>
            <a:ext cx="1920240" cy="685800"/>
          </a:xfrm>
          <a:prstGeom prst="rect">
            <a:avLst/>
          </a:prstGeom>
          <a:noFill/>
          <a:ln/>
        </p:spPr>
        <p:txBody>
          <a:bodyPr wrap="square" lIns="0" tIns="0" rIns="0" bIns="0" rtlCol="0" anchor="ctr"/>
          <a:lstStyle/>
          <a:p>
            <a:pPr algn="ctr" indent="0" marL="0">
              <a:buNone/>
            </a:pPr>
            <a:r>
              <a:rPr lang="en-US" sz="4800" b="1" dirty="0">
                <a:solidFill>
                  <a:srgbClr val="3D8B66"/>
                </a:solidFill>
                <a:latin typeface="Arial" pitchFamily="34" charset="0"/>
                <a:ea typeface="Arial" pitchFamily="34" charset="-122"/>
                <a:cs typeface="Arial" pitchFamily="34" charset="-120"/>
              </a:rPr>
              <a:t>0</a:t>
            </a:r>
            <a:endParaRPr lang="en-US" sz="4800" dirty="0"/>
          </a:p>
        </p:txBody>
      </p:sp>
      <p:sp>
        <p:nvSpPr>
          <p:cNvPr id="21" name="Text 19"/>
          <p:cNvSpPr/>
          <p:nvPr/>
        </p:nvSpPr>
        <p:spPr>
          <a:xfrm>
            <a:off x="685800" y="4370832"/>
            <a:ext cx="1920240" cy="274320"/>
          </a:xfrm>
          <a:prstGeom prst="rect">
            <a:avLst/>
          </a:prstGeom>
          <a:noFill/>
          <a:ln/>
        </p:spPr>
        <p:txBody>
          <a:bodyPr wrap="square" lIns="0" tIns="0" rIns="0" bIns="0" rtlCol="0" anchor="ctr"/>
          <a:lstStyle/>
          <a:p>
            <a:pPr algn="ctr" indent="0" marL="0">
              <a:buNone/>
            </a:pPr>
            <a:r>
              <a:rPr lang="en-US" sz="1300" b="1" dirty="0">
                <a:solidFill>
                  <a:srgbClr val="172B3A"/>
                </a:solidFill>
                <a:latin typeface="Calibri" pitchFamily="34" charset="0"/>
                <a:ea typeface="Calibri" pitchFamily="34" charset="-122"/>
                <a:cs typeface="Calibri" pitchFamily="34" charset="-120"/>
              </a:rPr>
              <a:t>vi phạm cấu trúc</a:t>
            </a:r>
            <a:endParaRPr lang="en-US" sz="1300" dirty="0"/>
          </a:p>
        </p:txBody>
      </p:sp>
      <p:sp>
        <p:nvSpPr>
          <p:cNvPr id="22" name="Shape 20"/>
          <p:cNvSpPr/>
          <p:nvPr/>
        </p:nvSpPr>
        <p:spPr>
          <a:xfrm>
            <a:off x="3108960" y="3611880"/>
            <a:ext cx="384048" cy="384048"/>
          </a:xfrm>
          <a:prstGeom prst="ellipse">
            <a:avLst/>
          </a:prstGeom>
          <a:solidFill>
            <a:srgbClr val="3D8B66"/>
          </a:solidFill>
          <a:ln w="12700">
            <a:solidFill>
              <a:srgbClr val="3D8B66"/>
            </a:solidFill>
            <a:prstDash val="solid"/>
          </a:ln>
        </p:spPr>
      </p:sp>
      <p:sp>
        <p:nvSpPr>
          <p:cNvPr id="23" name="Text 21"/>
          <p:cNvSpPr/>
          <p:nvPr/>
        </p:nvSpPr>
        <p:spPr>
          <a:xfrm>
            <a:off x="310896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4" name="Text 22"/>
          <p:cNvSpPr/>
          <p:nvPr/>
        </p:nvSpPr>
        <p:spPr>
          <a:xfrm>
            <a:off x="367588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Orphan Movie</a:t>
            </a:r>
            <a:endParaRPr lang="en-US" sz="1300" dirty="0"/>
          </a:p>
        </p:txBody>
      </p:sp>
      <p:sp>
        <p:nvSpPr>
          <p:cNvPr id="25" name="Shape 23"/>
          <p:cNvSpPr/>
          <p:nvPr/>
        </p:nvSpPr>
        <p:spPr>
          <a:xfrm>
            <a:off x="7086600" y="3611880"/>
            <a:ext cx="384048" cy="384048"/>
          </a:xfrm>
          <a:prstGeom prst="ellipse">
            <a:avLst/>
          </a:prstGeom>
          <a:solidFill>
            <a:srgbClr val="3D8B66"/>
          </a:solidFill>
          <a:ln w="12700">
            <a:solidFill>
              <a:srgbClr val="3D8B66"/>
            </a:solidFill>
            <a:prstDash val="solid"/>
          </a:ln>
        </p:spPr>
      </p:sp>
      <p:sp>
        <p:nvSpPr>
          <p:cNvPr id="26" name="Text 24"/>
          <p:cNvSpPr/>
          <p:nvPr/>
        </p:nvSpPr>
        <p:spPr>
          <a:xfrm>
            <a:off x="7086600" y="3657600"/>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7" name="Text 25"/>
          <p:cNvSpPr/>
          <p:nvPr/>
        </p:nvSpPr>
        <p:spPr>
          <a:xfrm>
            <a:off x="7653528" y="3639312"/>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Stable ID trùng</a:t>
            </a:r>
            <a:endParaRPr lang="en-US" sz="1300" dirty="0"/>
          </a:p>
        </p:txBody>
      </p:sp>
      <p:sp>
        <p:nvSpPr>
          <p:cNvPr id="28" name="Shape 26"/>
          <p:cNvSpPr/>
          <p:nvPr/>
        </p:nvSpPr>
        <p:spPr>
          <a:xfrm>
            <a:off x="3108960" y="4599432"/>
            <a:ext cx="384048" cy="384048"/>
          </a:xfrm>
          <a:prstGeom prst="ellipse">
            <a:avLst/>
          </a:prstGeom>
          <a:solidFill>
            <a:srgbClr val="3D8B66"/>
          </a:solidFill>
          <a:ln w="12700">
            <a:solidFill>
              <a:srgbClr val="3D8B66"/>
            </a:solidFill>
            <a:prstDash val="solid"/>
          </a:ln>
        </p:spPr>
      </p:sp>
      <p:sp>
        <p:nvSpPr>
          <p:cNvPr id="29" name="Text 27"/>
          <p:cNvSpPr/>
          <p:nvPr/>
        </p:nvSpPr>
        <p:spPr>
          <a:xfrm>
            <a:off x="310896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0" name="Text 28"/>
          <p:cNvSpPr/>
          <p:nvPr/>
        </p:nvSpPr>
        <p:spPr>
          <a:xfrm>
            <a:off x="367588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Thiếu thuộc tính bắt buộc</a:t>
            </a:r>
            <a:endParaRPr lang="en-US" sz="1300" dirty="0"/>
          </a:p>
        </p:txBody>
      </p:sp>
      <p:sp>
        <p:nvSpPr>
          <p:cNvPr id="31" name="Shape 29"/>
          <p:cNvSpPr/>
          <p:nvPr/>
        </p:nvSpPr>
        <p:spPr>
          <a:xfrm>
            <a:off x="7086600" y="4599432"/>
            <a:ext cx="384048" cy="384048"/>
          </a:xfrm>
          <a:prstGeom prst="ellipse">
            <a:avLst/>
          </a:prstGeom>
          <a:solidFill>
            <a:srgbClr val="3D8B66"/>
          </a:solidFill>
          <a:ln w="12700">
            <a:solidFill>
              <a:srgbClr val="3D8B66"/>
            </a:solidFill>
            <a:prstDash val="solid"/>
          </a:ln>
        </p:spPr>
      </p:sp>
      <p:sp>
        <p:nvSpPr>
          <p:cNvPr id="32" name="Text 30"/>
          <p:cNvSpPr/>
          <p:nvPr/>
        </p:nvSpPr>
        <p:spPr>
          <a:xfrm>
            <a:off x="7086600" y="4645152"/>
            <a:ext cx="384048" cy="18288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3" name="Text 31"/>
          <p:cNvSpPr/>
          <p:nvPr/>
        </p:nvSpPr>
        <p:spPr>
          <a:xfrm>
            <a:off x="7653528" y="4626864"/>
            <a:ext cx="3108960" cy="256032"/>
          </a:xfrm>
          <a:prstGeom prst="rect">
            <a:avLst/>
          </a:prstGeom>
          <a:noFill/>
          <a:ln/>
        </p:spPr>
        <p:txBody>
          <a:bodyPr wrap="square" lIns="0" tIns="0" rIns="0" bIns="0" rtlCol="0" anchor="ctr">
            <a:normAutofit/>
          </a:bodyPr>
          <a:lstStyle/>
          <a:p>
            <a:pPr indent="0" marL="0">
              <a:buNone/>
            </a:pPr>
            <a:r>
              <a:rPr lang="en-US" sz="1300" b="1" dirty="0">
                <a:solidFill>
                  <a:srgbClr val="172B3A"/>
                </a:solidFill>
                <a:latin typeface="Calibri" pitchFamily="34" charset="0"/>
                <a:ea typeface="Calibri" pitchFamily="34" charset="-122"/>
                <a:cs typeface="Calibri" pitchFamily="34" charset="-120"/>
              </a:rPr>
              <a:t>Cạnh sai kiểu/đầu mút</a:t>
            </a:r>
            <a:endParaRPr lang="en-US" sz="1300" dirty="0"/>
          </a:p>
        </p:txBody>
      </p:sp>
      <p:sp>
        <p:nvSpPr>
          <p:cNvPr id="34" name="Text 32"/>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số liệu: experiments/results/quality/{knowledge_quality_audit,neo4j_validation}.json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VÀ PROVENANCE</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Phân giải thực thể: exact trước, fuzzy có kiểm soát</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Mục tiêu là tránh false positive; trường hợp mơ hồ có thể từ chối thay vì nối sai.</a:t>
            </a:r>
            <a:endParaRPr lang="en-US" sz="1250" dirty="0"/>
          </a:p>
        </p:txBody>
      </p:sp>
      <p:sp>
        <p:nvSpPr>
          <p:cNvPr id="5" name="Shape 3"/>
          <p:cNvSpPr/>
          <p:nvPr/>
        </p:nvSpPr>
        <p:spPr>
          <a:xfrm>
            <a:off x="576072" y="1773936"/>
            <a:ext cx="7406640" cy="4261104"/>
          </a:xfrm>
          <a:prstGeom prst="roundRect">
            <a:avLst>
              <a:gd name="adj" fmla="val 85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entity_resolution_flow.png">    </p:cNvPr>
          <p:cNvPicPr>
            <a:picLocks noChangeAspect="1"/>
          </p:cNvPicPr>
          <p:nvPr/>
        </p:nvPicPr>
        <p:blipFill>
          <a:blip r:embed="rId1"/>
          <a:stretch>
            <a:fillRect/>
          </a:stretch>
        </p:blipFill>
        <p:spPr>
          <a:xfrm>
            <a:off x="685800" y="2817893"/>
            <a:ext cx="7187184" cy="2173191"/>
          </a:xfrm>
          <a:prstGeom prst="rect">
            <a:avLst/>
          </a:prstGeom>
        </p:spPr>
      </p:pic>
      <p:sp>
        <p:nvSpPr>
          <p:cNvPr id="7" name="Shape 4"/>
          <p:cNvSpPr/>
          <p:nvPr/>
        </p:nvSpPr>
        <p:spPr>
          <a:xfrm>
            <a:off x="8275320" y="181051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75104"/>
            <a:ext cx="291693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1,000</a:t>
            </a:r>
            <a:endParaRPr lang="en-US" sz="2800" dirty="0"/>
          </a:p>
        </p:txBody>
      </p:sp>
      <p:sp>
        <p:nvSpPr>
          <p:cNvPr id="9" name="Text 6"/>
          <p:cNvSpPr/>
          <p:nvPr/>
        </p:nvSpPr>
        <p:spPr>
          <a:xfrm>
            <a:off x="8458200" y="248716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Precision</a:t>
            </a:r>
            <a:endParaRPr lang="en-US" sz="1100" dirty="0"/>
          </a:p>
        </p:txBody>
      </p:sp>
      <p:sp>
        <p:nvSpPr>
          <p:cNvPr id="10" name="Text 7"/>
          <p:cNvSpPr/>
          <p:nvPr/>
        </p:nvSpPr>
        <p:spPr>
          <a:xfrm>
            <a:off x="8458200" y="277977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1" name="Shape 8"/>
          <p:cNvSpPr/>
          <p:nvPr/>
        </p:nvSpPr>
        <p:spPr>
          <a:xfrm>
            <a:off x="8275320" y="327355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2" name="Text 9"/>
          <p:cNvSpPr/>
          <p:nvPr/>
        </p:nvSpPr>
        <p:spPr>
          <a:xfrm>
            <a:off x="8439912" y="3438144"/>
            <a:ext cx="291693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0,933</a:t>
            </a:r>
            <a:endParaRPr lang="en-US" sz="2800" dirty="0"/>
          </a:p>
        </p:txBody>
      </p:sp>
      <p:sp>
        <p:nvSpPr>
          <p:cNvPr id="13" name="Text 10"/>
          <p:cNvSpPr/>
          <p:nvPr/>
        </p:nvSpPr>
        <p:spPr>
          <a:xfrm>
            <a:off x="8458200" y="395020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Recall</a:t>
            </a:r>
            <a:endParaRPr lang="en-US" sz="1100" dirty="0"/>
          </a:p>
        </p:txBody>
      </p:sp>
      <p:sp>
        <p:nvSpPr>
          <p:cNvPr id="14" name="Text 11"/>
          <p:cNvSpPr/>
          <p:nvPr/>
        </p:nvSpPr>
        <p:spPr>
          <a:xfrm>
            <a:off x="8458200" y="424281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 trường hợp abstain</a:t>
            </a:r>
            <a:endParaRPr lang="en-US" sz="750" dirty="0"/>
          </a:p>
        </p:txBody>
      </p:sp>
      <p:sp>
        <p:nvSpPr>
          <p:cNvPr id="15" name="Shape 12"/>
          <p:cNvSpPr/>
          <p:nvPr/>
        </p:nvSpPr>
        <p:spPr>
          <a:xfrm>
            <a:off x="8275320" y="4736592"/>
            <a:ext cx="324612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6" name="Text 13"/>
          <p:cNvSpPr/>
          <p:nvPr/>
        </p:nvSpPr>
        <p:spPr>
          <a:xfrm>
            <a:off x="8439912" y="4901184"/>
            <a:ext cx="291693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0,966</a:t>
            </a:r>
            <a:endParaRPr lang="en-US" sz="2800" dirty="0"/>
          </a:p>
        </p:txBody>
      </p:sp>
      <p:sp>
        <p:nvSpPr>
          <p:cNvPr id="17" name="Text 14"/>
          <p:cNvSpPr/>
          <p:nvPr/>
        </p:nvSpPr>
        <p:spPr>
          <a:xfrm>
            <a:off x="8458200" y="5413248"/>
            <a:ext cx="288036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F1</a:t>
            </a:r>
            <a:endParaRPr lang="en-US" sz="1100" dirty="0"/>
          </a:p>
        </p:txBody>
      </p:sp>
      <p:sp>
        <p:nvSpPr>
          <p:cNvPr id="18" name="Text 15"/>
          <p:cNvSpPr/>
          <p:nvPr/>
        </p:nvSpPr>
        <p:spPr>
          <a:xfrm>
            <a:off x="8458200" y="5705856"/>
            <a:ext cx="288036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nearest-name hard negatives</a:t>
            </a:r>
            <a:endParaRPr lang="en-US" sz="750" dirty="0"/>
          </a:p>
        </p:txBody>
      </p:sp>
      <p:sp>
        <p:nvSpPr>
          <p:cNvPr id="19" name="Text 1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entity_resolution.json · sơ đồ: report_latex/images/sources/entity_resolution_flow.drawio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ĐỊNH DANH THỰC THỂ</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Entity resolution và entity linking giải quyết hai thời điểm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Cả hai đều xử lý identity, nhưng một bước hợp nhất dữ liệu khi xây graph; bước còn lại nối đầu vào người dùng vào graph đã có.</a:t>
            </a:r>
            <a:endParaRPr lang="en-US" sz="1250" dirty="0"/>
          </a:p>
        </p:txBody>
      </p:sp>
      <p:sp>
        <p:nvSpPr>
          <p:cNvPr id="5" name="Shape 3"/>
          <p:cNvSpPr/>
          <p:nvPr/>
        </p:nvSpPr>
        <p:spPr>
          <a:xfrm>
            <a:off x="621792" y="1783080"/>
            <a:ext cx="5349240" cy="4251960"/>
          </a:xfrm>
          <a:prstGeom prst="roundRect">
            <a:avLst>
              <a:gd name="adj" fmla="val 1290"/>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725B9B"/>
                </a:solidFill>
                <a:latin typeface="Calibri" pitchFamily="34" charset="0"/>
                <a:ea typeface="Calibri" pitchFamily="34" charset="-122"/>
                <a:cs typeface="Calibri" pitchFamily="34" charset="-120"/>
              </a:rPr>
              <a:t>Entity resolution · lúc tích hợp dữ liệu</a:t>
            </a:r>
            <a:endParaRPr lang="en-US" sz="2000" dirty="0"/>
          </a:p>
        </p:txBody>
      </p:sp>
      <p:sp>
        <p:nvSpPr>
          <p:cNvPr id="7" name="Text 5"/>
          <p:cNvSpPr/>
          <p:nvPr/>
        </p:nvSpPr>
        <p:spPr>
          <a:xfrm>
            <a:off x="850392"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quyết định hai record từ cùng hoặc khác nguồn có mô tả cùng một thực thể hay không.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Tín hiệu ưu tiên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Exact source ID TMDB/IMDb.</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Thuộc tính hỗ trợ khi ID thiếu.</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matching chỉ là fallback có confidence và log.</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Sai false positive làm ô nhiễm graph lâu dài, nên hệ thống ưu tiên precision và có thể abstain.</a:t>
            </a:r>
            <a:endParaRPr lang="en-US" sz="1350" dirty="0"/>
          </a:p>
        </p:txBody>
      </p:sp>
      <p:sp>
        <p:nvSpPr>
          <p:cNvPr id="8" name="Shape 6"/>
          <p:cNvSpPr/>
          <p:nvPr/>
        </p:nvSpPr>
        <p:spPr>
          <a:xfrm>
            <a:off x="6217920" y="1783080"/>
            <a:ext cx="5349240" cy="4251960"/>
          </a:xfrm>
          <a:prstGeom prst="roundRect">
            <a:avLst>
              <a:gd name="adj" fmla="val 129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6446520" y="1965960"/>
            <a:ext cx="4892040" cy="301752"/>
          </a:xfrm>
          <a:prstGeom prst="rect">
            <a:avLst/>
          </a:prstGeom>
          <a:noFill/>
          <a:ln/>
        </p:spPr>
        <p:txBody>
          <a:bodyPr wrap="square" lIns="0" tIns="0" rIns="0" bIns="0" rtlCol="0" anchor="ctr">
            <a:normAutofit/>
          </a:bodyPr>
          <a:lstStyle/>
          <a:p>
            <a:pPr indent="0" marL="0">
              <a:buNone/>
            </a:pPr>
            <a:r>
              <a:rPr lang="en-US" sz="2000" b="1" dirty="0">
                <a:solidFill>
                  <a:srgbClr val="337B80"/>
                </a:solidFill>
                <a:latin typeface="Calibri" pitchFamily="34" charset="0"/>
                <a:ea typeface="Calibri" pitchFamily="34" charset="-122"/>
                <a:cs typeface="Calibri" pitchFamily="34" charset="-120"/>
              </a:rPr>
              <a:t>Entity linking · lúc xử lý câu hỏi</a:t>
            </a:r>
            <a:endParaRPr lang="en-US" sz="2000" dirty="0"/>
          </a:p>
        </p:txBody>
      </p:sp>
      <p:sp>
        <p:nvSpPr>
          <p:cNvPr id="10" name="Text 8"/>
          <p:cNvSpPr/>
          <p:nvPr/>
        </p:nvSpPr>
        <p:spPr>
          <a:xfrm>
            <a:off x="6446520" y="2386584"/>
            <a:ext cx="4892040" cy="3465576"/>
          </a:xfrm>
          <a:prstGeom prst="rect">
            <a:avLst/>
          </a:prstGeom>
          <a:noFill/>
          <a:ln/>
        </p:spPr>
        <p:txBody>
          <a:bodyPr wrap="square" lIns="0" tIns="0" rIns="0" bIns="0" rtlCol="0" anchor="t">
            <a:normAutofit/>
          </a:bodyPr>
          <a:lstStyle/>
          <a:p>
            <a:pPr indent="0" marL="0">
              <a:buNone/>
            </a:pPr>
            <a:r>
              <a:rPr lang="en-US" sz="1350" dirty="0">
                <a:solidFill>
                  <a:srgbClr val="172B3A"/>
                </a:solidFill>
                <a:latin typeface="Calibri" pitchFamily="34" charset="0"/>
                <a:ea typeface="Calibri" pitchFamily="34" charset="-122"/>
                <a:cs typeface="Calibri" pitchFamily="34" charset="-120"/>
              </a:rPr>
              <a:t>Mục tiêu: nối chuỗi người dùng nhập, ví dụ “Cristopher Nolan”, tới node canonical đã tồn tại.</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Quy trình trong project:</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1. Xác định loại slot: Movie/Person/Genre.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2. Full-text search tạo candidate.</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3. Fuzzy reranking và threshold.</a:t>
            </a: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4. Trả stable ID + canonical name + confidence.</a:t>
            </a:r>
            <a:endParaRPr lang="en-US" sz="1350" dirty="0"/>
          </a:p>
          <a:p>
            <a:pPr indent="0" marL="0">
              <a:buNone/>
            </a:pPr>
            <a:endParaRPr lang="en-US" sz="1350" dirty="0"/>
          </a:p>
          <a:p>
            <a:pPr indent="0" marL="0">
              <a:buNone/>
            </a:pPr>
            <a:r>
              <a:rPr lang="en-US" sz="1350" dirty="0">
                <a:solidFill>
                  <a:srgbClr val="172B3A"/>
                </a:solidFill>
                <a:latin typeface="Calibri" pitchFamily="34" charset="0"/>
                <a:ea typeface="Calibri" pitchFamily="34" charset="-122"/>
                <a:cs typeface="Calibri" pitchFamily="34" charset="-120"/>
              </a:rPr>
              <a:t>Query sau đó dùng ID, không mở rộng lại theo tên.</a:t>
            </a:r>
            <a:endParaRPr lang="en-US" sz="13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TRUY VẤN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Cypher biến câu hỏi quan hệ thành mẫu đường đi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Tham số người dùng được truyền riêng; cấu trúc truy vấn lấy từ danh mục cố định.</a:t>
            </a:r>
            <a:endParaRPr lang="en-US" sz="1250" dirty="0"/>
          </a:p>
        </p:txBody>
      </p:sp>
      <p:sp>
        <p:nvSpPr>
          <p:cNvPr id="5" name="Shape 3"/>
          <p:cNvSpPr/>
          <p:nvPr/>
        </p:nvSpPr>
        <p:spPr>
          <a:xfrm>
            <a:off x="621792" y="1755648"/>
            <a:ext cx="6400800" cy="4114800"/>
          </a:xfrm>
          <a:prstGeom prst="roundRect">
            <a:avLst>
              <a:gd name="adj" fmla="val 1111"/>
            </a:avLst>
          </a:prstGeom>
          <a:solidFill>
            <a:srgbClr val="10283D"/>
          </a:solidFill>
          <a:ln w="12700">
            <a:solidFill>
              <a:srgbClr val="10283D"/>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932688" y="2084832"/>
            <a:ext cx="5806440" cy="2697480"/>
          </a:xfrm>
          <a:prstGeom prst="rect">
            <a:avLst/>
          </a:prstGeom>
          <a:noFill/>
          <a:ln/>
        </p:spPr>
        <p:txBody>
          <a:bodyPr wrap="square" lIns="635" tIns="635" rIns="635" bIns="635" rtlCol="0" anchor="ctr">
            <a:normAutofit/>
          </a:bodyPr>
          <a:lstStyle/>
          <a:p>
            <a:pPr indent="0" marL="0">
              <a:buNone/>
            </a:pPr>
            <a:r>
              <a:rPr lang="en-US" sz="1500" dirty="0">
                <a:solidFill>
                  <a:srgbClr val="D9E8F2"/>
                </a:solidFill>
                <a:latin typeface="Courier New" pitchFamily="34" charset="0"/>
                <a:ea typeface="Courier New" pitchFamily="34" charset="-122"/>
                <a:cs typeface="Courier New" pitchFamily="34" charset="-120"/>
              </a:rPr>
              <a:t>MATCH (d:Person)-[:DIRECTED]-&gt;(m:Movie)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      -[:HAS_GENRE]-&gt;(g:Genre)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WHERE g.name = $genre</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RETURN d.name, count(m) AS movie_count</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ORDER BY movie_count DESC</a:t>
            </a:r>
            <a:endParaRPr lang="en-US" sz="1500" dirty="0"/>
          </a:p>
          <a:p>
            <a:pPr indent="0" marL="0">
              <a:buNone/>
            </a:pPr>
            <a:r>
              <a:rPr lang="en-US" sz="1500" dirty="0">
                <a:solidFill>
                  <a:srgbClr val="D9E8F2"/>
                </a:solidFill>
                <a:latin typeface="Courier New" pitchFamily="34" charset="0"/>
                <a:ea typeface="Courier New" pitchFamily="34" charset="-122"/>
                <a:cs typeface="Courier New" pitchFamily="34" charset="-120"/>
              </a:rPr>
              <a:t>LIMIT $limit</a:t>
            </a:r>
            <a:endParaRPr lang="en-US" sz="1500" dirty="0"/>
          </a:p>
        </p:txBody>
      </p:sp>
      <p:sp>
        <p:nvSpPr>
          <p:cNvPr id="7" name="Text 5"/>
          <p:cNvSpPr/>
          <p:nvPr/>
        </p:nvSpPr>
        <p:spPr>
          <a:xfrm>
            <a:off x="932688" y="5138928"/>
            <a:ext cx="2377440" cy="329184"/>
          </a:xfrm>
          <a:prstGeom prst="rect">
            <a:avLst/>
          </a:prstGeom>
          <a:noFill/>
          <a:ln/>
        </p:spPr>
        <p:txBody>
          <a:bodyPr wrap="square" lIns="0" tIns="0" rIns="0" bIns="0" rtlCol="0" anchor="ctr"/>
          <a:lstStyle/>
          <a:p>
            <a:pPr indent="0" marL="0">
              <a:buNone/>
            </a:pPr>
            <a:r>
              <a:rPr lang="en-US" sz="1300" b="1" dirty="0">
                <a:solidFill>
                  <a:srgbClr val="8FD0CC"/>
                </a:solidFill>
                <a:latin typeface="Courier New" pitchFamily="34" charset="0"/>
                <a:ea typeface="Courier New" pitchFamily="34" charset="-122"/>
                <a:cs typeface="Courier New" pitchFamily="34" charset="-120"/>
              </a:rPr>
              <a:t>$genre · $limit</a:t>
            </a:r>
            <a:endParaRPr lang="en-US" sz="1300" dirty="0"/>
          </a:p>
        </p:txBody>
      </p:sp>
      <p:sp>
        <p:nvSpPr>
          <p:cNvPr id="8" name="Shape 6"/>
          <p:cNvSpPr/>
          <p:nvPr/>
        </p:nvSpPr>
        <p:spPr>
          <a:xfrm>
            <a:off x="7360920" y="1783080"/>
            <a:ext cx="4160520" cy="960120"/>
          </a:xfrm>
          <a:prstGeom prst="roundRect">
            <a:avLst>
              <a:gd name="adj" fmla="val 5714"/>
            </a:avLst>
          </a:prstGeom>
          <a:solidFill>
            <a:srgbClr val="FFFFFF"/>
          </a:solidFill>
          <a:ln w="12700">
            <a:solidFill>
              <a:srgbClr val="D7DEE8"/>
            </a:solidFill>
            <a:prstDash val="solid"/>
          </a:ln>
        </p:spPr>
      </p:sp>
      <p:sp>
        <p:nvSpPr>
          <p:cNvPr id="9" name="Shape 7"/>
          <p:cNvSpPr/>
          <p:nvPr/>
        </p:nvSpPr>
        <p:spPr>
          <a:xfrm>
            <a:off x="7562088" y="1984248"/>
            <a:ext cx="384048" cy="384048"/>
          </a:xfrm>
          <a:prstGeom prst="ellipse">
            <a:avLst/>
          </a:prstGeom>
          <a:solidFill>
            <a:srgbClr val="337B80"/>
          </a:solidFill>
          <a:ln w="12700">
            <a:solidFill>
              <a:srgbClr val="337B80"/>
            </a:solidFill>
            <a:prstDash val="solid"/>
          </a:ln>
        </p:spPr>
      </p:sp>
      <p:sp>
        <p:nvSpPr>
          <p:cNvPr id="10" name="Text 8"/>
          <p:cNvSpPr/>
          <p:nvPr/>
        </p:nvSpPr>
        <p:spPr>
          <a:xfrm>
            <a:off x="7562088" y="2039112"/>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9"/>
          <p:cNvSpPr/>
          <p:nvPr/>
        </p:nvSpPr>
        <p:spPr>
          <a:xfrm>
            <a:off x="8074152" y="1965960"/>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Tra cứu</a:t>
            </a:r>
            <a:endParaRPr lang="en-US" sz="1600" dirty="0"/>
          </a:p>
        </p:txBody>
      </p:sp>
      <p:sp>
        <p:nvSpPr>
          <p:cNvPr id="12" name="Text 10"/>
          <p:cNvSpPr/>
          <p:nvPr/>
        </p:nvSpPr>
        <p:spPr>
          <a:xfrm>
            <a:off x="7589520" y="2386584"/>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theo đạo diễn · diễn viên theo phim</a:t>
            </a:r>
            <a:endParaRPr lang="en-US" sz="1100" dirty="0"/>
          </a:p>
        </p:txBody>
      </p:sp>
      <p:sp>
        <p:nvSpPr>
          <p:cNvPr id="13" name="Shape 11"/>
          <p:cNvSpPr/>
          <p:nvPr/>
        </p:nvSpPr>
        <p:spPr>
          <a:xfrm>
            <a:off x="7360920" y="2907792"/>
            <a:ext cx="4160520" cy="960120"/>
          </a:xfrm>
          <a:prstGeom prst="roundRect">
            <a:avLst>
              <a:gd name="adj" fmla="val 5714"/>
            </a:avLst>
          </a:prstGeom>
          <a:solidFill>
            <a:srgbClr val="FFF2DF"/>
          </a:solidFill>
          <a:ln w="12700">
            <a:solidFill>
              <a:srgbClr val="D7DEE8"/>
            </a:solidFill>
            <a:prstDash val="solid"/>
          </a:ln>
        </p:spPr>
      </p:sp>
      <p:sp>
        <p:nvSpPr>
          <p:cNvPr id="14" name="Shape 12"/>
          <p:cNvSpPr/>
          <p:nvPr/>
        </p:nvSpPr>
        <p:spPr>
          <a:xfrm>
            <a:off x="7562088" y="3108960"/>
            <a:ext cx="384048" cy="384048"/>
          </a:xfrm>
          <a:prstGeom prst="ellipse">
            <a:avLst/>
          </a:prstGeom>
          <a:solidFill>
            <a:srgbClr val="D38B36"/>
          </a:solidFill>
          <a:ln w="12700">
            <a:solidFill>
              <a:srgbClr val="D38B36"/>
            </a:solidFill>
            <a:prstDash val="solid"/>
          </a:ln>
        </p:spPr>
      </p:sp>
      <p:sp>
        <p:nvSpPr>
          <p:cNvPr id="15" name="Text 13"/>
          <p:cNvSpPr/>
          <p:nvPr/>
        </p:nvSpPr>
        <p:spPr>
          <a:xfrm>
            <a:off x="7562088" y="316382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4"/>
          <p:cNvSpPr/>
          <p:nvPr/>
        </p:nvSpPr>
        <p:spPr>
          <a:xfrm>
            <a:off x="8074152" y="3090672"/>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Nhiều bước (multi-hop)</a:t>
            </a:r>
            <a:endParaRPr lang="en-US" sz="1600" dirty="0"/>
          </a:p>
        </p:txBody>
      </p:sp>
      <p:sp>
        <p:nvSpPr>
          <p:cNvPr id="17" name="Text 15"/>
          <p:cNvSpPr/>
          <p:nvPr/>
        </p:nvSpPr>
        <p:spPr>
          <a:xfrm>
            <a:off x="7589520" y="3511296"/>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Phim chung · đạo diễn → phim → thể loại</a:t>
            </a:r>
            <a:endParaRPr lang="en-US" sz="1100" dirty="0"/>
          </a:p>
        </p:txBody>
      </p:sp>
      <p:sp>
        <p:nvSpPr>
          <p:cNvPr id="18" name="Shape 16"/>
          <p:cNvSpPr/>
          <p:nvPr/>
        </p:nvSpPr>
        <p:spPr>
          <a:xfrm>
            <a:off x="7360920" y="4032504"/>
            <a:ext cx="4160520" cy="960120"/>
          </a:xfrm>
          <a:prstGeom prst="roundRect">
            <a:avLst>
              <a:gd name="adj" fmla="val 5714"/>
            </a:avLst>
          </a:prstGeom>
          <a:solidFill>
            <a:srgbClr val="F0ECF7"/>
          </a:solidFill>
          <a:ln w="12700">
            <a:solidFill>
              <a:srgbClr val="D7DEE8"/>
            </a:solidFill>
            <a:prstDash val="solid"/>
          </a:ln>
        </p:spPr>
      </p:sp>
      <p:sp>
        <p:nvSpPr>
          <p:cNvPr id="19" name="Shape 17"/>
          <p:cNvSpPr/>
          <p:nvPr/>
        </p:nvSpPr>
        <p:spPr>
          <a:xfrm>
            <a:off x="7562088" y="4233672"/>
            <a:ext cx="384048" cy="384048"/>
          </a:xfrm>
          <a:prstGeom prst="ellipse">
            <a:avLst/>
          </a:prstGeom>
          <a:solidFill>
            <a:srgbClr val="725B9B"/>
          </a:solidFill>
          <a:ln w="12700">
            <a:solidFill>
              <a:srgbClr val="725B9B"/>
            </a:solidFill>
            <a:prstDash val="solid"/>
          </a:ln>
        </p:spPr>
      </p:sp>
      <p:sp>
        <p:nvSpPr>
          <p:cNvPr id="20" name="Text 18"/>
          <p:cNvSpPr/>
          <p:nvPr/>
        </p:nvSpPr>
        <p:spPr>
          <a:xfrm>
            <a:off x="7562088" y="4288536"/>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p:nvPr/>
        </p:nvSpPr>
        <p:spPr>
          <a:xfrm>
            <a:off x="8074152" y="4215384"/>
            <a:ext cx="324612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Đường đi và suy diễn</a:t>
            </a:r>
            <a:endParaRPr lang="en-US" sz="1600" dirty="0"/>
          </a:p>
        </p:txBody>
      </p:sp>
      <p:sp>
        <p:nvSpPr>
          <p:cNvPr id="22" name="Text 20"/>
          <p:cNvSpPr/>
          <p:nvPr/>
        </p:nvSpPr>
        <p:spPr>
          <a:xfrm>
            <a:off x="7589520" y="4636008"/>
            <a:ext cx="3703320" cy="173736"/>
          </a:xfrm>
          <a:prstGeom prst="rect">
            <a:avLst/>
          </a:prstGeom>
          <a:noFill/>
          <a:ln/>
        </p:spPr>
        <p:txBody>
          <a:bodyPr wrap="square" lIns="0" tIns="0" rIns="0" bIns="0" rtlCol="0" anchor="t">
            <a:normAutofit/>
          </a:bodyPr>
          <a:lstStyle/>
          <a:p>
            <a:pPr indent="0" marL="0">
              <a:buNone/>
            </a:pPr>
            <a:r>
              <a:rPr lang="en-US" sz="1100" dirty="0">
                <a:solidFill>
                  <a:srgbClr val="172B3A"/>
                </a:solidFill>
                <a:latin typeface="Calibri" pitchFamily="34" charset="0"/>
                <a:ea typeface="Calibri" pitchFamily="34" charset="-122"/>
                <a:cs typeface="Calibri" pitchFamily="34" charset="-120"/>
              </a:rPr>
              <a:t>shortestPath([*..8]) · CO_STARRED_WITH</a:t>
            </a:r>
            <a:endParaRPr lang="en-US" sz="1100" dirty="0"/>
          </a:p>
        </p:txBody>
      </p:sp>
      <p:sp>
        <p:nvSpPr>
          <p:cNvPr id="23" name="Shape 21"/>
          <p:cNvSpPr/>
          <p:nvPr/>
        </p:nvSpPr>
        <p:spPr>
          <a:xfrm>
            <a:off x="7360920" y="5010912"/>
            <a:ext cx="4160520" cy="914400"/>
          </a:xfrm>
          <a:prstGeom prst="roundRect">
            <a:avLst>
              <a:gd name="adj" fmla="val 6000"/>
            </a:avLst>
          </a:prstGeom>
          <a:solidFill>
            <a:srgbClr val="E8F4EE"/>
          </a:solidFill>
          <a:ln w="12700">
            <a:solidFill>
              <a:srgbClr val="D7DEE8"/>
            </a:solidFill>
            <a:prstDash val="solid"/>
          </a:ln>
        </p:spPr>
      </p:sp>
      <p:sp>
        <p:nvSpPr>
          <p:cNvPr id="24" name="Shape 22"/>
          <p:cNvSpPr/>
          <p:nvPr/>
        </p:nvSpPr>
        <p:spPr>
          <a:xfrm>
            <a:off x="7562088" y="5212080"/>
            <a:ext cx="384048" cy="384048"/>
          </a:xfrm>
          <a:prstGeom prst="ellipse">
            <a:avLst/>
          </a:prstGeom>
          <a:solidFill>
            <a:srgbClr val="3D8B66"/>
          </a:solidFill>
          <a:ln w="12700">
            <a:solidFill>
              <a:srgbClr val="3D8B66"/>
            </a:solidFill>
            <a:prstDash val="solid"/>
          </a:ln>
        </p:spPr>
      </p:sp>
      <p:sp>
        <p:nvSpPr>
          <p:cNvPr id="25" name="Text 23"/>
          <p:cNvSpPr/>
          <p:nvPr/>
        </p:nvSpPr>
        <p:spPr>
          <a:xfrm>
            <a:off x="7562088" y="526694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p>
        </p:txBody>
      </p:sp>
      <p:sp>
        <p:nvSpPr>
          <p:cNvPr id="26" name="Text 24"/>
          <p:cNvSpPr/>
          <p:nvPr/>
        </p:nvSpPr>
        <p:spPr>
          <a:xfrm>
            <a:off x="8074152" y="5193792"/>
            <a:ext cx="324612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An toàn</a:t>
            </a:r>
            <a:endParaRPr lang="en-US" sz="1300" dirty="0"/>
          </a:p>
        </p:txBody>
      </p:sp>
      <p:sp>
        <p:nvSpPr>
          <p:cNvPr id="27" name="Text 25"/>
          <p:cNvSpPr/>
          <p:nvPr/>
        </p:nvSpPr>
        <p:spPr>
          <a:xfrm>
            <a:off x="7589520" y="5614416"/>
            <a:ext cx="3703320" cy="12801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Không nối chuỗi đầu vào vào Cypher.</a:t>
            </a:r>
            <a:endParaRPr lang="en-US" sz="10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SUY DIỄN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CO_STARRED_WITH là fact suy ra có thể kiểm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Đây là phép vật chất hóa luật nghiệp vụ bằng Cypher.</a:t>
            </a:r>
            <a:endParaRPr lang="en-US" sz="1250" dirty="0"/>
          </a:p>
        </p:txBody>
      </p:sp>
      <p:sp>
        <p:nvSpPr>
          <p:cNvPr id="5" name="Shape 3"/>
          <p:cNvSpPr/>
          <p:nvPr/>
        </p:nvSpPr>
        <p:spPr>
          <a:xfrm>
            <a:off x="594360" y="1755648"/>
            <a:ext cx="73152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costar_reasoning.png">    </p:cNvPr>
          <p:cNvPicPr>
            <a:picLocks noChangeAspect="1"/>
          </p:cNvPicPr>
          <p:nvPr/>
        </p:nvPicPr>
        <p:blipFill>
          <a:blip r:embed="rId1"/>
          <a:stretch>
            <a:fillRect/>
          </a:stretch>
        </p:blipFill>
        <p:spPr>
          <a:xfrm>
            <a:off x="704088" y="2096005"/>
            <a:ext cx="7095744" cy="3616967"/>
          </a:xfrm>
          <a:prstGeom prst="rect">
            <a:avLst/>
          </a:prstGeom>
        </p:spPr>
      </p:pic>
      <p:sp>
        <p:nvSpPr>
          <p:cNvPr id="7" name="Shape 4"/>
          <p:cNvSpPr/>
          <p:nvPr/>
        </p:nvSpPr>
        <p:spPr>
          <a:xfrm>
            <a:off x="8211312" y="1783080"/>
            <a:ext cx="3383280" cy="1078992"/>
          </a:xfrm>
          <a:prstGeom prst="roundRect">
            <a:avLst>
              <a:gd name="adj" fmla="val 5085"/>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439912" y="1965960"/>
            <a:ext cx="2926080" cy="301752"/>
          </a:xfrm>
          <a:prstGeom prst="rect">
            <a:avLst/>
          </a:prstGeom>
          <a:noFill/>
          <a:ln/>
        </p:spPr>
        <p:txBody>
          <a:bodyPr wrap="square" lIns="0" tIns="0" rIns="0" bIns="0" rtlCol="0" anchor="ctr">
            <a:normAutofit/>
          </a:bodyPr>
          <a:lstStyle/>
          <a:p>
            <a:pPr indent="0" marL="0">
              <a:buNone/>
            </a:pPr>
            <a:r>
              <a:rPr lang="en-US" sz="1600" b="1" dirty="0">
                <a:solidFill>
                  <a:srgbClr val="337B80"/>
                </a:solidFill>
                <a:latin typeface="Calibri" pitchFamily="34" charset="0"/>
                <a:ea typeface="Calibri" pitchFamily="34" charset="-122"/>
                <a:cs typeface="Calibri" pitchFamily="34" charset="-120"/>
              </a:rPr>
              <a:t>Sự kiện được khẳng định</a:t>
            </a:r>
            <a:endParaRPr lang="en-US" sz="1600" dirty="0"/>
          </a:p>
        </p:txBody>
      </p:sp>
      <p:sp>
        <p:nvSpPr>
          <p:cNvPr id="9" name="Text 6"/>
          <p:cNvSpPr/>
          <p:nvPr/>
        </p:nvSpPr>
        <p:spPr>
          <a:xfrm>
            <a:off x="8439912" y="2386584"/>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ACTED_IN đến từ danh sách vai diễn của TMDB.</a:t>
            </a:r>
            <a:endParaRPr lang="en-US" sz="1150" dirty="0"/>
          </a:p>
        </p:txBody>
      </p:sp>
      <p:sp>
        <p:nvSpPr>
          <p:cNvPr id="10" name="Shape 7"/>
          <p:cNvSpPr/>
          <p:nvPr/>
        </p:nvSpPr>
        <p:spPr>
          <a:xfrm>
            <a:off x="8211312" y="3136392"/>
            <a:ext cx="3383280" cy="1078992"/>
          </a:xfrm>
          <a:prstGeom prst="roundRect">
            <a:avLst>
              <a:gd name="adj" fmla="val 5085"/>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439912" y="3319272"/>
            <a:ext cx="2926080" cy="301752"/>
          </a:xfrm>
          <a:prstGeom prst="rect">
            <a:avLst/>
          </a:prstGeom>
          <a:noFill/>
          <a:ln/>
        </p:spPr>
        <p:txBody>
          <a:bodyPr wrap="square" lIns="0" tIns="0" rIns="0" bIns="0" rtlCol="0" anchor="ctr">
            <a:normAutofit/>
          </a:bodyPr>
          <a:lstStyle/>
          <a:p>
            <a:pPr indent="0" marL="0">
              <a:buNone/>
            </a:pPr>
            <a:r>
              <a:rPr lang="en-US" sz="1600" b="1" dirty="0">
                <a:solidFill>
                  <a:srgbClr val="725B9B"/>
                </a:solidFill>
                <a:latin typeface="Calibri" pitchFamily="34" charset="0"/>
                <a:ea typeface="Calibri" pitchFamily="34" charset="-122"/>
                <a:cs typeface="Calibri" pitchFamily="34" charset="-120"/>
              </a:rPr>
              <a:t>Sự kiện suy ra</a:t>
            </a:r>
            <a:endParaRPr lang="en-US" sz="1600" dirty="0"/>
          </a:p>
        </p:txBody>
      </p:sp>
      <p:sp>
        <p:nvSpPr>
          <p:cNvPr id="12" name="Text 9"/>
          <p:cNvSpPr/>
          <p:nvPr/>
        </p:nvSpPr>
        <p:spPr>
          <a:xfrm>
            <a:off x="8439912" y="3739896"/>
            <a:ext cx="2926080" cy="29260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CO_STARRED_WITH được tạo từ phim chung.</a:t>
            </a:r>
            <a:endParaRPr lang="en-US" sz="1150" dirty="0"/>
          </a:p>
        </p:txBody>
      </p:sp>
      <p:sp>
        <p:nvSpPr>
          <p:cNvPr id="13" name="Shape 10"/>
          <p:cNvSpPr/>
          <p:nvPr/>
        </p:nvSpPr>
        <p:spPr>
          <a:xfrm>
            <a:off x="8211312" y="4489704"/>
            <a:ext cx="3383280" cy="1280160"/>
          </a:xfrm>
          <a:prstGeom prst="roundRect">
            <a:avLst>
              <a:gd name="adj" fmla="val 4286"/>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439912" y="4672584"/>
            <a:ext cx="2926080" cy="301752"/>
          </a:xfrm>
          <a:prstGeom prst="rect">
            <a:avLst/>
          </a:prstGeom>
          <a:noFill/>
          <a:ln/>
        </p:spPr>
        <p:txBody>
          <a:bodyPr wrap="square" lIns="0" tIns="0" rIns="0" bIns="0" rtlCol="0" anchor="ctr">
            <a:normAutofit/>
          </a:bodyPr>
          <a:lstStyle/>
          <a:p>
            <a:pPr indent="0" marL="0">
              <a:buNone/>
            </a:pPr>
            <a:r>
              <a:rPr lang="en-US" sz="1600" b="1" dirty="0">
                <a:solidFill>
                  <a:srgbClr val="3D8B66"/>
                </a:solidFill>
                <a:latin typeface="Calibri" pitchFamily="34" charset="0"/>
                <a:ea typeface="Calibri" pitchFamily="34" charset="-122"/>
                <a:cs typeface="Calibri" pitchFamily="34" charset="-120"/>
              </a:rPr>
              <a:t>Bằng chứng</a:t>
            </a:r>
            <a:endParaRPr lang="en-US" sz="1600" dirty="0"/>
          </a:p>
        </p:txBody>
      </p:sp>
      <p:sp>
        <p:nvSpPr>
          <p:cNvPr id="15" name="Text 12"/>
          <p:cNvSpPr/>
          <p:nvPr/>
        </p:nvSpPr>
        <p:spPr>
          <a:xfrm>
            <a:off x="8439912" y="5093208"/>
            <a:ext cx="2926080" cy="493776"/>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movie_count · evidence_movie_ids · derived=true</a:t>
            </a:r>
            <a:endParaRPr lang="en-US" sz="120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report_latex/images/sources/costar_reasoning.drawio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KHẢ NĂNG GIẢI THÍCH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Provenance, lineage và evidence không hoàn toàn giống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Ba khái niệm cùng hỗ trợ kiểm chứng nhưng trả lời ba câu hỏi khác nhau.</a:t>
            </a:r>
            <a:endParaRPr lang="en-US" sz="12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21792" y="1783080"/>
          <a:ext cx="10972800" cy="2606040"/>
        </p:xfrm>
        <a:graphic>
          <a:graphicData uri="http://schemas.openxmlformats.org/drawingml/2006/table">
            <a:tbl>
              <a:tblPr/>
              <a:tblGrid>
                <a:gridCol w="1965960"/>
                <a:gridCol w="3703320"/>
                <a:gridCol w="5303520"/>
              </a:tblGrid>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Khái niệm</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Câu hỏi trả lời</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Biểu hiện trong project</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Provenance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Fact đến từ nguồn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`source=tmdb`; checksum IMDb; source ID</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Lineage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Fact đã đi qua biến đổi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raw cache → clean → CSV → import → rule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603504">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Kết quả này dựa trên node/edge nào?</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300" dirty="0">
                          <a:solidFill>
                            <a:srgbClr val="172B3A"/>
                          </a:solidFill>
                          <a:latin typeface="Calibri" pitchFamily="34" charset="0"/>
                          <a:ea typeface="Calibri" pitchFamily="34" charset="-122"/>
                          <a:cs typeface="Calibri" pitchFamily="34" charset="-120"/>
                        </a:rPr>
                        <a:t>entity link; graph row/path; shared feature</a:t>
                      </a:r>
                      <a:endParaRPr lang="en-US" sz="1300" dirty="0">
                        <a:latin typeface="Calibri" charset="0"/>
                        <a:ea typeface="Calibri" charset="0"/>
                        <a:cs typeface="Calibri" charset="0"/>
                      </a:endParaRPr>
                    </a:p>
                  </a:txBody>
                  <a:tcPr marL="91440" marR="91440" marT="91440" marB="91440"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621792" y="4645152"/>
            <a:ext cx="3429000" cy="1353312"/>
          </a:xfrm>
          <a:prstGeom prst="roundRect">
            <a:avLst>
              <a:gd name="adj" fmla="val 4054"/>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7" name="Shape 4"/>
          <p:cNvSpPr/>
          <p:nvPr/>
        </p:nvSpPr>
        <p:spPr>
          <a:xfrm>
            <a:off x="822960" y="4846320"/>
            <a:ext cx="384048" cy="384048"/>
          </a:xfrm>
          <a:prstGeom prst="ellipse">
            <a:avLst/>
          </a:prstGeom>
          <a:solidFill>
            <a:srgbClr val="337B80"/>
          </a:solidFill>
          <a:ln w="12700">
            <a:solidFill>
              <a:srgbClr val="337B80"/>
            </a:solidFill>
            <a:prstDash val="solid"/>
          </a:ln>
        </p:spPr>
      </p:sp>
      <p:sp>
        <p:nvSpPr>
          <p:cNvPr id="8" name="Text 5"/>
          <p:cNvSpPr/>
          <p:nvPr/>
        </p:nvSpPr>
        <p:spPr>
          <a:xfrm>
            <a:off x="822960"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A</a:t>
            </a:r>
            <a:endParaRPr lang="en-US" sz="1000" dirty="0"/>
          </a:p>
        </p:txBody>
      </p:sp>
      <p:sp>
        <p:nvSpPr>
          <p:cNvPr id="9" name="Text 6"/>
          <p:cNvSpPr/>
          <p:nvPr/>
        </p:nvSpPr>
        <p:spPr>
          <a:xfrm>
            <a:off x="1335024"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Asserted fact</a:t>
            </a:r>
            <a:endParaRPr lang="en-US" sz="1600" dirty="0"/>
          </a:p>
        </p:txBody>
      </p:sp>
      <p:sp>
        <p:nvSpPr>
          <p:cNvPr id="10" name="Text 7"/>
          <p:cNvSpPr/>
          <p:nvPr/>
        </p:nvSpPr>
        <p:spPr>
          <a:xfrm>
            <a:off x="850392" y="5248656"/>
            <a:ext cx="2971800" cy="56692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Fact lấy trực tiếp từ nguồn, ví dụ Person ACTED_IN Movie.</a:t>
            </a:r>
            <a:endParaRPr lang="en-US" sz="1150" dirty="0"/>
          </a:p>
        </p:txBody>
      </p:sp>
      <p:sp>
        <p:nvSpPr>
          <p:cNvPr id="11" name="Shape 8"/>
          <p:cNvSpPr/>
          <p:nvPr/>
        </p:nvSpPr>
        <p:spPr>
          <a:xfrm>
            <a:off x="4379976" y="4645152"/>
            <a:ext cx="3429000" cy="1353312"/>
          </a:xfrm>
          <a:prstGeom prst="roundRect">
            <a:avLst>
              <a:gd name="adj" fmla="val 405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12" name="Shape 9"/>
          <p:cNvSpPr/>
          <p:nvPr/>
        </p:nvSpPr>
        <p:spPr>
          <a:xfrm>
            <a:off x="4581144" y="4846320"/>
            <a:ext cx="384048" cy="384048"/>
          </a:xfrm>
          <a:prstGeom prst="ellipse">
            <a:avLst/>
          </a:prstGeom>
          <a:solidFill>
            <a:srgbClr val="725B9B"/>
          </a:solidFill>
          <a:ln w="12700">
            <a:solidFill>
              <a:srgbClr val="725B9B"/>
            </a:solidFill>
            <a:prstDash val="solid"/>
          </a:ln>
        </p:spPr>
      </p:sp>
      <p:sp>
        <p:nvSpPr>
          <p:cNvPr id="13" name="Text 10"/>
          <p:cNvSpPr/>
          <p:nvPr/>
        </p:nvSpPr>
        <p:spPr>
          <a:xfrm>
            <a:off x="4581144"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D</a:t>
            </a:r>
            <a:endParaRPr lang="en-US" sz="1000" dirty="0"/>
          </a:p>
        </p:txBody>
      </p:sp>
      <p:sp>
        <p:nvSpPr>
          <p:cNvPr id="14" name="Text 11"/>
          <p:cNvSpPr/>
          <p:nvPr/>
        </p:nvSpPr>
        <p:spPr>
          <a:xfrm>
            <a:off x="5093208"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Derived fact</a:t>
            </a:r>
            <a:endParaRPr lang="en-US" sz="1600" dirty="0"/>
          </a:p>
        </p:txBody>
      </p:sp>
      <p:sp>
        <p:nvSpPr>
          <p:cNvPr id="15" name="Text 12"/>
          <p:cNvSpPr/>
          <p:nvPr/>
        </p:nvSpPr>
        <p:spPr>
          <a:xfrm>
            <a:off x="4608576" y="5248656"/>
            <a:ext cx="2971800" cy="56692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Fact sinh bởi luật, ví dụ CO_STARRED_WITH; phải đánh dấu derived.</a:t>
            </a:r>
            <a:endParaRPr lang="en-US" sz="1150" dirty="0"/>
          </a:p>
        </p:txBody>
      </p:sp>
      <p:sp>
        <p:nvSpPr>
          <p:cNvPr id="16" name="Shape 13"/>
          <p:cNvSpPr/>
          <p:nvPr/>
        </p:nvSpPr>
        <p:spPr>
          <a:xfrm>
            <a:off x="8138160" y="4645152"/>
            <a:ext cx="3429000" cy="1353312"/>
          </a:xfrm>
          <a:prstGeom prst="roundRect">
            <a:avLst>
              <a:gd name="adj" fmla="val 4054"/>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7" name="Shape 14"/>
          <p:cNvSpPr/>
          <p:nvPr/>
        </p:nvSpPr>
        <p:spPr>
          <a:xfrm>
            <a:off x="8339328" y="4846320"/>
            <a:ext cx="384048" cy="384048"/>
          </a:xfrm>
          <a:prstGeom prst="ellipse">
            <a:avLst/>
          </a:prstGeom>
          <a:solidFill>
            <a:srgbClr val="3D8B66"/>
          </a:solidFill>
          <a:ln w="12700">
            <a:solidFill>
              <a:srgbClr val="3D8B66"/>
            </a:solidFill>
            <a:prstDash val="solid"/>
          </a:ln>
        </p:spPr>
      </p:sp>
      <p:sp>
        <p:nvSpPr>
          <p:cNvPr id="18" name="Text 15"/>
          <p:cNvSpPr/>
          <p:nvPr/>
        </p:nvSpPr>
        <p:spPr>
          <a:xfrm>
            <a:off x="8339328" y="4901184"/>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E</a:t>
            </a:r>
            <a:endParaRPr lang="en-US" sz="1000" dirty="0"/>
          </a:p>
        </p:txBody>
      </p:sp>
      <p:sp>
        <p:nvSpPr>
          <p:cNvPr id="19" name="Text 16"/>
          <p:cNvSpPr/>
          <p:nvPr/>
        </p:nvSpPr>
        <p:spPr>
          <a:xfrm>
            <a:off x="8851392" y="4828032"/>
            <a:ext cx="2514600" cy="301752"/>
          </a:xfrm>
          <a:prstGeom prst="rect">
            <a:avLst/>
          </a:prstGeom>
          <a:noFill/>
          <a:ln/>
        </p:spPr>
        <p:txBody>
          <a:bodyPr wrap="square" lIns="0" tIns="0" rIns="0" bIns="0" rtlCol="0" anchor="ctr">
            <a:normAutofit/>
          </a:bodyPr>
          <a:lstStyle/>
          <a:p>
            <a:pPr indent="0" marL="0">
              <a:buNone/>
            </a:pPr>
            <a:r>
              <a:rPr lang="en-US" sz="1600" b="1" dirty="0">
                <a:solidFill>
                  <a:srgbClr val="112B46"/>
                </a:solidFill>
                <a:latin typeface="Calibri" pitchFamily="34" charset="0"/>
                <a:ea typeface="Calibri" pitchFamily="34" charset="-122"/>
                <a:cs typeface="Calibri" pitchFamily="34" charset="-120"/>
              </a:rPr>
              <a:t>Explainable result</a:t>
            </a:r>
            <a:endParaRPr lang="en-US" sz="1600" dirty="0"/>
          </a:p>
        </p:txBody>
      </p:sp>
      <p:sp>
        <p:nvSpPr>
          <p:cNvPr id="20" name="Text 17"/>
          <p:cNvSpPr/>
          <p:nvPr/>
        </p:nvSpPr>
        <p:spPr>
          <a:xfrm>
            <a:off x="8366760" y="5248656"/>
            <a:ext cx="2971800" cy="566928"/>
          </a:xfrm>
          <a:prstGeom prst="rect">
            <a:avLst/>
          </a:prstGeom>
          <a:noFill/>
          <a:ln/>
        </p:spPr>
        <p:txBody>
          <a:bodyPr wrap="square" lIns="0" tIns="0" rIns="0" bIns="0" rtlCol="0" anchor="t">
            <a:normAutofit/>
          </a:bodyPr>
          <a:lstStyle/>
          <a:p>
            <a:pPr indent="0" marL="0">
              <a:buNone/>
            </a:pPr>
            <a:r>
              <a:rPr lang="en-US" sz="1150" dirty="0">
                <a:solidFill>
                  <a:srgbClr val="172B3A"/>
                </a:solidFill>
                <a:latin typeface="Calibri" pitchFamily="34" charset="0"/>
                <a:ea typeface="Calibri" pitchFamily="34" charset="-122"/>
                <a:cs typeface="Calibri" pitchFamily="34" charset="-120"/>
              </a:rPr>
              <a:t>Kết quả kèm path hoặc feature đủ để người dùng kiểm tra ngược.</a:t>
            </a:r>
            <a:endParaRPr lang="en-US" sz="11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HỎI–ĐÁP</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Giá trị của chatbot nằm ở việc điều phối Cypher an toàn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Ngôn ngữ tự nhiên chọn ý định và thực thể; Neo4j thực hiện traversal và trả bằng chứng.</a:t>
            </a:r>
            <a:endParaRPr lang="en-US" sz="1250" dirty="0"/>
          </a:p>
        </p:txBody>
      </p:sp>
      <p:sp>
        <p:nvSpPr>
          <p:cNvPr id="5" name="Shape 3"/>
          <p:cNvSpPr/>
          <p:nvPr/>
        </p:nvSpPr>
        <p:spPr>
          <a:xfrm>
            <a:off x="566928" y="1755648"/>
            <a:ext cx="7543800"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qa_sequence.png">    </p:cNvPr>
          <p:cNvPicPr>
            <a:picLocks noChangeAspect="1"/>
          </p:cNvPicPr>
          <p:nvPr/>
        </p:nvPicPr>
        <p:blipFill>
          <a:blip r:embed="rId1"/>
          <a:stretch>
            <a:fillRect/>
          </a:stretch>
        </p:blipFill>
        <p:spPr>
          <a:xfrm>
            <a:off x="676656" y="2201322"/>
            <a:ext cx="7324344" cy="3406332"/>
          </a:xfrm>
          <a:prstGeom prst="rect">
            <a:avLst/>
          </a:prstGeom>
        </p:spPr>
      </p:pic>
      <p:sp>
        <p:nvSpPr>
          <p:cNvPr id="7" name="Shape 4"/>
          <p:cNvSpPr/>
          <p:nvPr/>
        </p:nvSpPr>
        <p:spPr>
          <a:xfrm>
            <a:off x="8394192" y="1773936"/>
            <a:ext cx="3182112" cy="1051560"/>
          </a:xfrm>
          <a:prstGeom prst="roundRect">
            <a:avLst>
              <a:gd name="adj" fmla="val 5217"/>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8" name="Text 5"/>
          <p:cNvSpPr/>
          <p:nvPr/>
        </p:nvSpPr>
        <p:spPr>
          <a:xfrm>
            <a:off x="8622792" y="1956816"/>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9 ý định cố định</a:t>
            </a:r>
            <a:endParaRPr lang="en-US" sz="1500" dirty="0"/>
          </a:p>
        </p:txBody>
      </p:sp>
      <p:sp>
        <p:nvSpPr>
          <p:cNvPr id="9" name="Text 6"/>
          <p:cNvSpPr/>
          <p:nvPr/>
        </p:nvSpPr>
        <p:spPr>
          <a:xfrm>
            <a:off x="8622792" y="2377440"/>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Tra cứu · tổng hợp · nhiều bước · đường đi ngắn nhất</a:t>
            </a:r>
            <a:endParaRPr lang="en-US" sz="1050" dirty="0"/>
          </a:p>
        </p:txBody>
      </p:sp>
      <p:sp>
        <p:nvSpPr>
          <p:cNvPr id="10" name="Shape 7"/>
          <p:cNvSpPr/>
          <p:nvPr/>
        </p:nvSpPr>
        <p:spPr>
          <a:xfrm>
            <a:off x="8394192" y="3081528"/>
            <a:ext cx="3182112" cy="1051560"/>
          </a:xfrm>
          <a:prstGeom prst="roundRect">
            <a:avLst>
              <a:gd name="adj" fmla="val 5217"/>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1" name="Text 8"/>
          <p:cNvSpPr/>
          <p:nvPr/>
        </p:nvSpPr>
        <p:spPr>
          <a:xfrm>
            <a:off x="8622792" y="3264408"/>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Liên kết thực thể</a:t>
            </a:r>
            <a:endParaRPr lang="en-US" sz="1500" dirty="0"/>
          </a:p>
        </p:txBody>
      </p:sp>
      <p:sp>
        <p:nvSpPr>
          <p:cNvPr id="12" name="Text 9"/>
          <p:cNvSpPr/>
          <p:nvPr/>
        </p:nvSpPr>
        <p:spPr>
          <a:xfrm>
            <a:off x="8622792" y="3685032"/>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“Cristopher Nolan” → Christopher Nolan + độ tin cậy</a:t>
            </a:r>
            <a:endParaRPr lang="en-US" sz="1050" dirty="0"/>
          </a:p>
        </p:txBody>
      </p:sp>
      <p:sp>
        <p:nvSpPr>
          <p:cNvPr id="13" name="Shape 10"/>
          <p:cNvSpPr/>
          <p:nvPr/>
        </p:nvSpPr>
        <p:spPr>
          <a:xfrm>
            <a:off x="8394192" y="4389120"/>
            <a:ext cx="3182112" cy="1051560"/>
          </a:xfrm>
          <a:prstGeom prst="roundRect">
            <a:avLst>
              <a:gd name="adj" fmla="val 5217"/>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4" name="Text 11"/>
          <p:cNvSpPr/>
          <p:nvPr/>
        </p:nvSpPr>
        <p:spPr>
          <a:xfrm>
            <a:off x="8622792" y="4572000"/>
            <a:ext cx="2724912" cy="301752"/>
          </a:xfrm>
          <a:prstGeom prst="rect">
            <a:avLst/>
          </a:prstGeom>
          <a:noFill/>
          <a:ln/>
        </p:spPr>
        <p:txBody>
          <a:bodyPr wrap="square" lIns="0" tIns="0" rIns="0" bIns="0" rtlCol="0" anchor="ctr">
            <a:normAutofit/>
          </a:bodyPr>
          <a:lstStyle/>
          <a:p>
            <a:pPr indent="0" marL="0">
              <a:buNone/>
            </a:pPr>
            <a:r>
              <a:rPr lang="en-US" sz="1500" b="1" dirty="0">
                <a:solidFill>
                  <a:srgbClr val="112B46"/>
                </a:solidFill>
                <a:latin typeface="Calibri" pitchFamily="34" charset="0"/>
                <a:ea typeface="Calibri" pitchFamily="34" charset="-122"/>
                <a:cs typeface="Calibri" pitchFamily="34" charset="-120"/>
              </a:rPr>
              <a:t>Bằng chứng đồ thị</a:t>
            </a:r>
            <a:endParaRPr lang="en-US" sz="1500" dirty="0"/>
          </a:p>
        </p:txBody>
      </p:sp>
      <p:sp>
        <p:nvSpPr>
          <p:cNvPr id="15" name="Text 12"/>
          <p:cNvSpPr/>
          <p:nvPr/>
        </p:nvSpPr>
        <p:spPr>
          <a:xfrm>
            <a:off x="8622792" y="4992624"/>
            <a:ext cx="2724912" cy="26517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Ý định · thực thể · bản ghi/đường đi · độ trễ</a:t>
            </a:r>
            <a:endParaRPr lang="en-US" sz="1050" dirty="0"/>
          </a:p>
        </p:txBody>
      </p:sp>
      <p:sp>
        <p:nvSpPr>
          <p:cNvPr id="16" name="Text 13"/>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report_latex/images/sources/qa_sequence.drawio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ỨNG DỤNG GỢI 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Gợi ý giải thích được bằng đóng góp trên đồ thị</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IDF giảm ảnh hưởng của đặc trưng quá phổ biến; mỗi đề xuất kèm các đặc trưng chung tạo điểm.</a:t>
            </a:r>
            <a:endParaRPr lang="en-US" sz="1250" dirty="0"/>
          </a:p>
        </p:txBody>
      </p:sp>
      <p:sp>
        <p:nvSpPr>
          <p:cNvPr id="5" name="Shape 3"/>
          <p:cNvSpPr/>
          <p:nvPr/>
        </p:nvSpPr>
        <p:spPr>
          <a:xfrm>
            <a:off x="576072" y="1755648"/>
            <a:ext cx="7114032" cy="4297680"/>
          </a:xfrm>
          <a:prstGeom prst="roundRect">
            <a:avLst>
              <a:gd name="adj" fmla="val 851"/>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pic>
        <p:nvPicPr>
          <p:cNvPr id="6" name="Image 0" descr="/home/khanhhk/VNPTAI/advanced_database/docs/deliverables/slide/assets/recommendation_explanation.png">    </p:cNvPr>
          <p:cNvPicPr>
            <a:picLocks noChangeAspect="1"/>
          </p:cNvPicPr>
          <p:nvPr/>
        </p:nvPicPr>
        <p:blipFill>
          <a:blip r:embed="rId1"/>
          <a:stretch>
            <a:fillRect/>
          </a:stretch>
        </p:blipFill>
        <p:spPr>
          <a:xfrm>
            <a:off x="685800" y="2952448"/>
            <a:ext cx="6894576" cy="1904081"/>
          </a:xfrm>
          <a:prstGeom prst="rect">
            <a:avLst/>
          </a:prstGeom>
        </p:spPr>
      </p:pic>
      <p:sp>
        <p:nvSpPr>
          <p:cNvPr id="7" name="Text 4"/>
          <p:cNvSpPr/>
          <p:nvPr/>
        </p:nvSpPr>
        <p:spPr>
          <a:xfrm>
            <a:off x="7973568" y="1847088"/>
            <a:ext cx="3566160" cy="566928"/>
          </a:xfrm>
          <a:prstGeom prst="rect">
            <a:avLst/>
          </a:prstGeom>
          <a:noFill/>
          <a:ln/>
        </p:spPr>
        <p:txBody>
          <a:bodyPr wrap="square" lIns="0" tIns="0" rIns="0" bIns="0" rtlCol="0" anchor="ctr">
            <a:normAutofit/>
          </a:bodyPr>
          <a:lstStyle/>
          <a:p>
            <a:pPr indent="0" marL="0">
              <a:buNone/>
            </a:pPr>
            <a:r>
              <a:rPr lang="en-US" sz="1250" b="1" dirty="0">
                <a:solidFill>
                  <a:srgbClr val="112B46"/>
                </a:solidFill>
                <a:latin typeface="Courier New" pitchFamily="34" charset="0"/>
                <a:ea typeface="Courier New" pitchFamily="34" charset="-122"/>
                <a:cs typeface="Courier New" pitchFamily="34" charset="-120"/>
              </a:rPr>
              <a:t>contribution = type_weight × (1 + ln((N+1)/(df+1)))</a:t>
            </a:r>
            <a:endParaRPr lang="en-US" sz="1250" dirty="0"/>
          </a:p>
        </p:txBody>
      </p:sp>
      <p:sp>
        <p:nvSpPr>
          <p:cNvPr id="8" name="Text 5"/>
          <p:cNvSpPr/>
          <p:nvPr/>
        </p:nvSpPr>
        <p:spPr>
          <a:xfrm>
            <a:off x="8001000" y="2697480"/>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Đạo diễn</a:t>
            </a:r>
            <a:endParaRPr lang="en-US" sz="1200" dirty="0"/>
          </a:p>
        </p:txBody>
      </p:sp>
      <p:sp>
        <p:nvSpPr>
          <p:cNvPr id="9" name="Shape 6"/>
          <p:cNvSpPr/>
          <p:nvPr/>
        </p:nvSpPr>
        <p:spPr>
          <a:xfrm>
            <a:off x="9217152" y="2724912"/>
            <a:ext cx="1536192" cy="164592"/>
          </a:xfrm>
          <a:prstGeom prst="rect">
            <a:avLst/>
          </a:prstGeom>
          <a:solidFill>
            <a:srgbClr val="725B9B"/>
          </a:solidFill>
          <a:ln w="12700">
            <a:solidFill>
              <a:srgbClr val="725B9B"/>
            </a:solidFill>
            <a:prstDash val="solid"/>
          </a:ln>
        </p:spPr>
      </p:sp>
      <p:sp>
        <p:nvSpPr>
          <p:cNvPr id="10" name="Text 7"/>
          <p:cNvSpPr/>
          <p:nvPr/>
        </p:nvSpPr>
        <p:spPr>
          <a:xfrm>
            <a:off x="10881360" y="2697480"/>
            <a:ext cx="457200" cy="219456"/>
          </a:xfrm>
          <a:prstGeom prst="rect">
            <a:avLst/>
          </a:prstGeom>
          <a:noFill/>
          <a:ln/>
        </p:spPr>
        <p:txBody>
          <a:bodyPr wrap="square" lIns="0" tIns="0" rIns="0" bIns="0" rtlCol="0" anchor="ctr"/>
          <a:lstStyle/>
          <a:p>
            <a:pPr algn="r" indent="0" marL="0">
              <a:buNone/>
            </a:pPr>
            <a:r>
              <a:rPr lang="en-US" sz="1100" b="1" dirty="0">
                <a:solidFill>
                  <a:srgbClr val="725B9B"/>
                </a:solidFill>
                <a:latin typeface="Arial" pitchFamily="34" charset="0"/>
                <a:ea typeface="Arial" pitchFamily="34" charset="-122"/>
                <a:cs typeface="Arial" pitchFamily="34" charset="-120"/>
              </a:rPr>
              <a:t>3,0</a:t>
            </a:r>
            <a:endParaRPr lang="en-US" sz="1100" dirty="0"/>
          </a:p>
        </p:txBody>
      </p:sp>
      <p:sp>
        <p:nvSpPr>
          <p:cNvPr id="11" name="Text 8"/>
          <p:cNvSpPr/>
          <p:nvPr/>
        </p:nvSpPr>
        <p:spPr>
          <a:xfrm>
            <a:off x="8001000" y="3355848"/>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Diễn viên</a:t>
            </a:r>
            <a:endParaRPr lang="en-US" sz="1200" dirty="0"/>
          </a:p>
        </p:txBody>
      </p:sp>
      <p:sp>
        <p:nvSpPr>
          <p:cNvPr id="12" name="Shape 9"/>
          <p:cNvSpPr/>
          <p:nvPr/>
        </p:nvSpPr>
        <p:spPr>
          <a:xfrm>
            <a:off x="9217152" y="3383280"/>
            <a:ext cx="1024128" cy="164592"/>
          </a:xfrm>
          <a:prstGeom prst="rect">
            <a:avLst/>
          </a:prstGeom>
          <a:solidFill>
            <a:srgbClr val="337B80"/>
          </a:solidFill>
          <a:ln w="12700">
            <a:solidFill>
              <a:srgbClr val="337B80"/>
            </a:solidFill>
            <a:prstDash val="solid"/>
          </a:ln>
        </p:spPr>
      </p:sp>
      <p:sp>
        <p:nvSpPr>
          <p:cNvPr id="13" name="Text 10"/>
          <p:cNvSpPr/>
          <p:nvPr/>
        </p:nvSpPr>
        <p:spPr>
          <a:xfrm>
            <a:off x="10881360" y="3355848"/>
            <a:ext cx="457200" cy="219456"/>
          </a:xfrm>
          <a:prstGeom prst="rect">
            <a:avLst/>
          </a:prstGeom>
          <a:noFill/>
          <a:ln/>
        </p:spPr>
        <p:txBody>
          <a:bodyPr wrap="square" lIns="0" tIns="0" rIns="0" bIns="0" rtlCol="0" anchor="ctr"/>
          <a:lstStyle/>
          <a:p>
            <a:pPr algn="r" indent="0" marL="0">
              <a:buNone/>
            </a:pPr>
            <a:r>
              <a:rPr lang="en-US" sz="1100" b="1" dirty="0">
                <a:solidFill>
                  <a:srgbClr val="337B80"/>
                </a:solidFill>
                <a:latin typeface="Arial" pitchFamily="34" charset="0"/>
                <a:ea typeface="Arial" pitchFamily="34" charset="-122"/>
                <a:cs typeface="Arial" pitchFamily="34" charset="-120"/>
              </a:rPr>
              <a:t>2,0</a:t>
            </a:r>
            <a:endParaRPr lang="en-US" sz="1100" dirty="0"/>
          </a:p>
        </p:txBody>
      </p:sp>
      <p:sp>
        <p:nvSpPr>
          <p:cNvPr id="14" name="Text 11"/>
          <p:cNvSpPr/>
          <p:nvPr/>
        </p:nvSpPr>
        <p:spPr>
          <a:xfrm>
            <a:off x="8001000" y="4014216"/>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Thể loại</a:t>
            </a:r>
            <a:endParaRPr lang="en-US" sz="1200" dirty="0"/>
          </a:p>
        </p:txBody>
      </p:sp>
      <p:sp>
        <p:nvSpPr>
          <p:cNvPr id="15" name="Shape 12"/>
          <p:cNvSpPr/>
          <p:nvPr/>
        </p:nvSpPr>
        <p:spPr>
          <a:xfrm>
            <a:off x="9217152" y="4041648"/>
            <a:ext cx="768096" cy="164592"/>
          </a:xfrm>
          <a:prstGeom prst="rect">
            <a:avLst/>
          </a:prstGeom>
          <a:solidFill>
            <a:srgbClr val="3D8B66"/>
          </a:solidFill>
          <a:ln w="12700">
            <a:solidFill>
              <a:srgbClr val="3D8B66"/>
            </a:solidFill>
            <a:prstDash val="solid"/>
          </a:ln>
        </p:spPr>
      </p:sp>
      <p:sp>
        <p:nvSpPr>
          <p:cNvPr id="16" name="Text 13"/>
          <p:cNvSpPr/>
          <p:nvPr/>
        </p:nvSpPr>
        <p:spPr>
          <a:xfrm>
            <a:off x="10881360" y="4014216"/>
            <a:ext cx="457200" cy="219456"/>
          </a:xfrm>
          <a:prstGeom prst="rect">
            <a:avLst/>
          </a:prstGeom>
          <a:noFill/>
          <a:ln/>
        </p:spPr>
        <p:txBody>
          <a:bodyPr wrap="square" lIns="0" tIns="0" rIns="0" bIns="0" rtlCol="0" anchor="ctr"/>
          <a:lstStyle/>
          <a:p>
            <a:pPr algn="r" indent="0" marL="0">
              <a:buNone/>
            </a:pPr>
            <a:r>
              <a:rPr lang="en-US" sz="1100" b="1" dirty="0">
                <a:solidFill>
                  <a:srgbClr val="3D8B66"/>
                </a:solidFill>
                <a:latin typeface="Arial" pitchFamily="34" charset="0"/>
                <a:ea typeface="Arial" pitchFamily="34" charset="-122"/>
                <a:cs typeface="Arial" pitchFamily="34" charset="-120"/>
              </a:rPr>
              <a:t>1,5</a:t>
            </a:r>
            <a:endParaRPr lang="en-US" sz="1100" dirty="0"/>
          </a:p>
        </p:txBody>
      </p:sp>
      <p:sp>
        <p:nvSpPr>
          <p:cNvPr id="17" name="Text 14"/>
          <p:cNvSpPr/>
          <p:nvPr/>
        </p:nvSpPr>
        <p:spPr>
          <a:xfrm>
            <a:off x="8001000" y="4672584"/>
            <a:ext cx="1143000" cy="219456"/>
          </a:xfrm>
          <a:prstGeom prst="rect">
            <a:avLst/>
          </a:prstGeom>
          <a:noFill/>
          <a:ln/>
        </p:spPr>
        <p:txBody>
          <a:bodyPr wrap="square" lIns="0" tIns="0" rIns="0" bIns="0" rtlCol="0" anchor="ctr"/>
          <a:lstStyle/>
          <a:p>
            <a:pPr indent="0" marL="0">
              <a:buNone/>
            </a:pPr>
            <a:r>
              <a:rPr lang="en-US" sz="1200" b="1" dirty="0">
                <a:solidFill>
                  <a:srgbClr val="172B3A"/>
                </a:solidFill>
                <a:latin typeface="Calibri" pitchFamily="34" charset="0"/>
                <a:ea typeface="Calibri" pitchFamily="34" charset="-122"/>
                <a:cs typeface="Calibri" pitchFamily="34" charset="-120"/>
              </a:rPr>
              <a:t>Từ khóa</a:t>
            </a:r>
            <a:endParaRPr lang="en-US" sz="1200" dirty="0"/>
          </a:p>
        </p:txBody>
      </p:sp>
      <p:sp>
        <p:nvSpPr>
          <p:cNvPr id="18" name="Shape 15"/>
          <p:cNvSpPr/>
          <p:nvPr/>
        </p:nvSpPr>
        <p:spPr>
          <a:xfrm>
            <a:off x="9217152" y="4700016"/>
            <a:ext cx="512064" cy="164592"/>
          </a:xfrm>
          <a:prstGeom prst="rect">
            <a:avLst/>
          </a:prstGeom>
          <a:solidFill>
            <a:srgbClr val="D38B36"/>
          </a:solidFill>
          <a:ln w="12700">
            <a:solidFill>
              <a:srgbClr val="D38B36"/>
            </a:solidFill>
            <a:prstDash val="solid"/>
          </a:ln>
        </p:spPr>
      </p:sp>
      <p:sp>
        <p:nvSpPr>
          <p:cNvPr id="19" name="Text 16"/>
          <p:cNvSpPr/>
          <p:nvPr/>
        </p:nvSpPr>
        <p:spPr>
          <a:xfrm>
            <a:off x="10881360" y="4672584"/>
            <a:ext cx="457200" cy="219456"/>
          </a:xfrm>
          <a:prstGeom prst="rect">
            <a:avLst/>
          </a:prstGeom>
          <a:noFill/>
          <a:ln/>
        </p:spPr>
        <p:txBody>
          <a:bodyPr wrap="square" lIns="0" tIns="0" rIns="0" bIns="0" rtlCol="0" anchor="ctr"/>
          <a:lstStyle/>
          <a:p>
            <a:pPr algn="r" indent="0" marL="0">
              <a:buNone/>
            </a:pPr>
            <a:r>
              <a:rPr lang="en-US" sz="1100" b="1" dirty="0">
                <a:solidFill>
                  <a:srgbClr val="D38B36"/>
                </a:solidFill>
                <a:latin typeface="Arial" pitchFamily="34" charset="0"/>
                <a:ea typeface="Arial" pitchFamily="34" charset="-122"/>
                <a:cs typeface="Arial" pitchFamily="34" charset="-120"/>
              </a:rPr>
              <a:t>1,0</a:t>
            </a:r>
            <a:endParaRPr lang="en-US" sz="1100" dirty="0"/>
          </a:p>
        </p:txBody>
      </p:sp>
      <p:sp>
        <p:nvSpPr>
          <p:cNvPr id="20" name="Shape 17"/>
          <p:cNvSpPr/>
          <p:nvPr/>
        </p:nvSpPr>
        <p:spPr>
          <a:xfrm>
            <a:off x="7973568" y="5138928"/>
            <a:ext cx="3566160" cy="932688"/>
          </a:xfrm>
          <a:prstGeom prst="roundRect">
            <a:avLst>
              <a:gd name="adj" fmla="val 5882"/>
            </a:avLst>
          </a:prstGeom>
          <a:solidFill>
            <a:srgbClr val="E8F4EE"/>
          </a:solidFill>
          <a:ln w="12700">
            <a:solidFill>
              <a:srgbClr val="C4E2D1"/>
            </a:solidFill>
            <a:prstDash val="solid"/>
          </a:ln>
        </p:spPr>
      </p:sp>
      <p:sp>
        <p:nvSpPr>
          <p:cNvPr id="21" name="Text 18"/>
          <p:cNvSpPr/>
          <p:nvPr/>
        </p:nvSpPr>
        <p:spPr>
          <a:xfrm>
            <a:off x="8202168" y="5321808"/>
            <a:ext cx="3108960"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Điểm được tính trong Neo4j</a:t>
            </a:r>
            <a:endParaRPr lang="en-US" sz="1200" dirty="0"/>
          </a:p>
        </p:txBody>
      </p:sp>
      <p:sp>
        <p:nvSpPr>
          <p:cNvPr id="22" name="Text 19"/>
          <p:cNvSpPr/>
          <p:nvPr/>
        </p:nvSpPr>
        <p:spPr>
          <a:xfrm>
            <a:off x="8202168" y="5742432"/>
            <a:ext cx="3108960" cy="146304"/>
          </a:xfrm>
          <a:prstGeom prst="rect">
            <a:avLst/>
          </a:prstGeom>
          <a:noFill/>
          <a:ln/>
        </p:spPr>
        <p:txBody>
          <a:bodyPr wrap="square" lIns="0" tIns="0" rIns="0" bIns="0" rtlCol="0" anchor="t">
            <a:normAutofit/>
          </a:bodyPr>
          <a:lstStyle/>
          <a:p>
            <a:pPr indent="0" marL="0">
              <a:buNone/>
            </a:pPr>
            <a:r>
              <a:rPr lang="en-US" sz="950" dirty="0">
                <a:solidFill>
                  <a:srgbClr val="172B3A"/>
                </a:solidFill>
                <a:latin typeface="Calibri" pitchFamily="34" charset="0"/>
                <a:ea typeface="Calibri" pitchFamily="34" charset="-122"/>
                <a:cs typeface="Calibri" pitchFamily="34" charset="-120"/>
              </a:rPr>
              <a:t>Không tải toàn bộ graph về Python.</a:t>
            </a:r>
            <a:endParaRPr lang="en-US" sz="950" dirty="0"/>
          </a:p>
        </p:txBody>
      </p:sp>
      <p:sp>
        <p:nvSpPr>
          <p:cNvPr id="23" name="Text 20"/>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chỉnh sửa: report_latex/images/sources/recommendation_explanation.drawio</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KHÁI NIỆM ĐÁNH GIÁ</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Các metric đo những loại sai khác nhau</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Không có một con số duy nhất đánh giá toàn bộ Knowledge Graph; metric phải khớp với claim.</a:t>
            </a:r>
            <a:endParaRPr lang="en-US" sz="1250" dirty="0"/>
          </a:p>
        </p:txBody>
      </p:sp>
      <p:sp>
        <p:nvSpPr>
          <p:cNvPr id="5" name="Shape 3"/>
          <p:cNvSpPr/>
          <p:nvPr/>
        </p:nvSpPr>
        <p:spPr>
          <a:xfrm>
            <a:off x="621792" y="1755648"/>
            <a:ext cx="3429000" cy="1993392"/>
          </a:xfrm>
          <a:prstGeom prst="roundRect">
            <a:avLst>
              <a:gd name="adj" fmla="val 2752"/>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37B80"/>
                </a:solidFill>
                <a:latin typeface="Calibri" pitchFamily="34" charset="0"/>
                <a:ea typeface="Calibri" pitchFamily="34" charset="-122"/>
                <a:cs typeface="Calibri" pitchFamily="34" charset="-120"/>
              </a:rPr>
              <a:t>Precision · độ chính xác dương</a:t>
            </a:r>
            <a:endParaRPr lang="en-US" sz="1700" dirty="0"/>
          </a:p>
        </p:txBody>
      </p:sp>
      <p:sp>
        <p:nvSpPr>
          <p:cNvPr id="7" name="Text 5"/>
          <p:cNvSpPr/>
          <p:nvPr/>
        </p:nvSpPr>
        <p:spPr>
          <a:xfrm>
            <a:off x="850392"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hệ thống chấp nhận, bao nhiêu là đúng?</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Precision = TP / (TP + FP)</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Quan trọng khi một phép nối sai có thể làm ô nhiễm nhiều đường đi.</a:t>
            </a:r>
            <a:endParaRPr lang="en-US" sz="1200" dirty="0"/>
          </a:p>
        </p:txBody>
      </p:sp>
      <p:sp>
        <p:nvSpPr>
          <p:cNvPr id="8" name="Shape 6"/>
          <p:cNvSpPr/>
          <p:nvPr/>
        </p:nvSpPr>
        <p:spPr>
          <a:xfrm>
            <a:off x="4379976" y="1755648"/>
            <a:ext cx="3429000" cy="1993392"/>
          </a:xfrm>
          <a:prstGeom prst="roundRect">
            <a:avLst>
              <a:gd name="adj" fmla="val 2752"/>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608576"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725B9B"/>
                </a:solidFill>
                <a:latin typeface="Calibri" pitchFamily="34" charset="0"/>
                <a:ea typeface="Calibri" pitchFamily="34" charset="-122"/>
                <a:cs typeface="Calibri" pitchFamily="34" charset="-120"/>
              </a:rPr>
              <a:t>Recall · độ bao phủ dương</a:t>
            </a:r>
            <a:endParaRPr lang="en-US" sz="1700" dirty="0"/>
          </a:p>
        </p:txBody>
      </p:sp>
      <p:sp>
        <p:nvSpPr>
          <p:cNvPr id="10" name="Text 8"/>
          <p:cNvSpPr/>
          <p:nvPr/>
        </p:nvSpPr>
        <p:spPr>
          <a:xfrm>
            <a:off x="4608576"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Trong các liên kết/fact đúng cần tìm, hệ thống tìm được bao nhiêu?</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Recall = TP / (TP + FN)</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Abstention bảo thủ thường tăng precision nhưng làm giảm recall.</a:t>
            </a:r>
            <a:endParaRPr lang="en-US" sz="1200" dirty="0"/>
          </a:p>
        </p:txBody>
      </p:sp>
      <p:sp>
        <p:nvSpPr>
          <p:cNvPr id="11" name="Shape 9"/>
          <p:cNvSpPr/>
          <p:nvPr/>
        </p:nvSpPr>
        <p:spPr>
          <a:xfrm>
            <a:off x="8138160" y="1755648"/>
            <a:ext cx="3429000" cy="1993392"/>
          </a:xfrm>
          <a:prstGeom prst="roundRect">
            <a:avLst>
              <a:gd name="adj" fmla="val 2752"/>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12" name="Text 10"/>
          <p:cNvSpPr/>
          <p:nvPr/>
        </p:nvSpPr>
        <p:spPr>
          <a:xfrm>
            <a:off x="8366760" y="1938528"/>
            <a:ext cx="297180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F1 · cân bằng P và R</a:t>
            </a:r>
            <a:endParaRPr lang="en-US" sz="1700" dirty="0"/>
          </a:p>
        </p:txBody>
      </p:sp>
      <p:sp>
        <p:nvSpPr>
          <p:cNvPr id="13" name="Text 11"/>
          <p:cNvSpPr/>
          <p:nvPr/>
        </p:nvSpPr>
        <p:spPr>
          <a:xfrm>
            <a:off x="8366760" y="2359152"/>
            <a:ext cx="2971800" cy="1207008"/>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Trung bình điều hòa của precision và recall.</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 2PR / (P + R)</a:t>
            </a:r>
            <a:endParaRPr lang="en-US" sz="1200" dirty="0"/>
          </a:p>
          <a:p>
            <a:pPr indent="0" marL="0">
              <a:buNone/>
            </a:pPr>
            <a:endParaRPr lang="en-US" sz="1200" dirty="0"/>
          </a:p>
          <a:p>
            <a:pPr indent="0" marL="0">
              <a:buNone/>
            </a:pPr>
            <a:r>
              <a:rPr lang="en-US" sz="1200" dirty="0">
                <a:solidFill>
                  <a:srgbClr val="172B3A"/>
                </a:solidFill>
                <a:latin typeface="Calibri" pitchFamily="34" charset="0"/>
                <a:ea typeface="Calibri" pitchFamily="34" charset="-122"/>
                <a:cs typeface="Calibri" pitchFamily="34" charset="-120"/>
              </a:rPr>
              <a:t>F1 hữu ích khi cần một số tổng hợp nhưng vẫn phải đọc kèm confusion counts.</a:t>
            </a:r>
            <a:endParaRPr lang="en-US" sz="1200" dirty="0"/>
          </a:p>
        </p:txBody>
      </p:sp>
      <p:sp>
        <p:nvSpPr>
          <p:cNvPr id="14" name="Shape 12"/>
          <p:cNvSpPr/>
          <p:nvPr/>
        </p:nvSpPr>
        <p:spPr>
          <a:xfrm>
            <a:off x="621792" y="4041648"/>
            <a:ext cx="5349240" cy="1938528"/>
          </a:xfrm>
          <a:prstGeom prst="roundRect">
            <a:avLst>
              <a:gd name="adj" fmla="val 283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15" name="Shape 13"/>
          <p:cNvSpPr/>
          <p:nvPr/>
        </p:nvSpPr>
        <p:spPr>
          <a:xfrm>
            <a:off x="822960" y="4242816"/>
            <a:ext cx="384048" cy="384048"/>
          </a:xfrm>
          <a:prstGeom prst="ellipse">
            <a:avLst/>
          </a:prstGeom>
          <a:solidFill>
            <a:srgbClr val="D38B36"/>
          </a:solidFill>
          <a:ln w="12700">
            <a:solidFill>
              <a:srgbClr val="D38B36"/>
            </a:solidFill>
            <a:prstDash val="solid"/>
          </a:ln>
        </p:spPr>
      </p:sp>
      <p:sp>
        <p:nvSpPr>
          <p:cNvPr id="16" name="Text 14"/>
          <p:cNvSpPr/>
          <p:nvPr/>
        </p:nvSpPr>
        <p:spPr>
          <a:xfrm>
            <a:off x="822960"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K</a:t>
            </a:r>
            <a:endParaRPr lang="en-US" sz="1000" dirty="0"/>
          </a:p>
        </p:txBody>
      </p:sp>
      <p:sp>
        <p:nvSpPr>
          <p:cNvPr id="17" name="Text 15"/>
          <p:cNvSpPr/>
          <p:nvPr/>
        </p:nvSpPr>
        <p:spPr>
          <a:xfrm>
            <a:off x="1335024"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D38B36"/>
                </a:solidFill>
                <a:latin typeface="Calibri" pitchFamily="34" charset="0"/>
                <a:ea typeface="Calibri" pitchFamily="34" charset="-122"/>
                <a:cs typeface="Calibri" pitchFamily="34" charset="-120"/>
              </a:rPr>
              <a:t>Precision@K · mức liên quan trong Top-K</a:t>
            </a:r>
            <a:endParaRPr lang="en-US" sz="1700" dirty="0"/>
          </a:p>
        </p:txBody>
      </p:sp>
      <p:sp>
        <p:nvSpPr>
          <p:cNvPr id="18" name="Text 16"/>
          <p:cNvSpPr/>
          <p:nvPr/>
        </p:nvSpPr>
        <p:spPr>
          <a:xfrm>
            <a:off x="850392"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Tỷ lệ mục liên quan trong K gợi ý đầu tiên. Metric coi các vị trí trong Top-K như nhau, nên chưa phản ánh việc mục tốt nằm ở đầu hay cuối danh sách.</a:t>
            </a:r>
            <a:endParaRPr lang="en-US" sz="1200" dirty="0"/>
          </a:p>
        </p:txBody>
      </p:sp>
      <p:sp>
        <p:nvSpPr>
          <p:cNvPr id="19" name="Shape 17"/>
          <p:cNvSpPr/>
          <p:nvPr/>
        </p:nvSpPr>
        <p:spPr>
          <a:xfrm>
            <a:off x="6217920" y="4041648"/>
            <a:ext cx="5349240" cy="1938528"/>
          </a:xfrm>
          <a:prstGeom prst="roundRect">
            <a:avLst>
              <a:gd name="adj" fmla="val 283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20" name="Shape 18"/>
          <p:cNvSpPr/>
          <p:nvPr/>
        </p:nvSpPr>
        <p:spPr>
          <a:xfrm>
            <a:off x="6419088" y="4242816"/>
            <a:ext cx="384048" cy="384048"/>
          </a:xfrm>
          <a:prstGeom prst="ellipse">
            <a:avLst/>
          </a:prstGeom>
          <a:solidFill>
            <a:srgbClr val="B94D52"/>
          </a:solidFill>
          <a:ln w="12700">
            <a:solidFill>
              <a:srgbClr val="B94D52"/>
            </a:solidFill>
            <a:prstDash val="solid"/>
          </a:ln>
        </p:spPr>
      </p:sp>
      <p:sp>
        <p:nvSpPr>
          <p:cNvPr id="21" name="Text 19"/>
          <p:cNvSpPr/>
          <p:nvPr/>
        </p:nvSpPr>
        <p:spPr>
          <a:xfrm>
            <a:off x="6419088" y="4297680"/>
            <a:ext cx="384048" cy="14630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a:t>
            </a:r>
            <a:endParaRPr lang="en-US" sz="1000" dirty="0"/>
          </a:p>
        </p:txBody>
      </p:sp>
      <p:sp>
        <p:nvSpPr>
          <p:cNvPr id="22" name="Text 20"/>
          <p:cNvSpPr/>
          <p:nvPr/>
        </p:nvSpPr>
        <p:spPr>
          <a:xfrm>
            <a:off x="6931152" y="4224528"/>
            <a:ext cx="4434840" cy="301752"/>
          </a:xfrm>
          <a:prstGeom prst="rect">
            <a:avLst/>
          </a:prstGeom>
          <a:noFill/>
          <a:ln/>
        </p:spPr>
        <p:txBody>
          <a:bodyPr wrap="square" lIns="0" tIns="0" rIns="0" bIns="0" rtlCol="0" anchor="ctr">
            <a:normAutofit/>
          </a:bodyPr>
          <a:lstStyle/>
          <a:p>
            <a:pPr indent="0" marL="0">
              <a:buNone/>
            </a:pPr>
            <a:r>
              <a:rPr lang="en-US" sz="1700" b="1" dirty="0">
                <a:solidFill>
                  <a:srgbClr val="B94D52"/>
                </a:solidFill>
                <a:latin typeface="Calibri" pitchFamily="34" charset="0"/>
                <a:ea typeface="Calibri" pitchFamily="34" charset="-122"/>
                <a:cs typeface="Calibri" pitchFamily="34" charset="-120"/>
              </a:rPr>
              <a:t>NDCG@K · chất lượng thứ tự xếp hạng</a:t>
            </a:r>
            <a:endParaRPr lang="en-US" sz="1700" dirty="0"/>
          </a:p>
        </p:txBody>
      </p:sp>
      <p:sp>
        <p:nvSpPr>
          <p:cNvPr id="23" name="Text 21"/>
          <p:cNvSpPr/>
          <p:nvPr/>
        </p:nvSpPr>
        <p:spPr>
          <a:xfrm>
            <a:off x="6446520" y="4645152"/>
            <a:ext cx="4892040" cy="1152144"/>
          </a:xfrm>
          <a:prstGeom prst="rect">
            <a:avLst/>
          </a:prstGeom>
          <a:noFill/>
          <a:ln/>
        </p:spPr>
        <p:txBody>
          <a:bodyPr wrap="square" lIns="0" tIns="0" rIns="0" bIns="0" rtlCol="0" anchor="t">
            <a:normAutofit/>
          </a:bodyPr>
          <a:lstStyle/>
          <a:p>
            <a:pPr indent="0" marL="0">
              <a:buNone/>
            </a:pPr>
            <a:r>
              <a:rPr lang="en-US" sz="1200" dirty="0">
                <a:solidFill>
                  <a:srgbClr val="172B3A"/>
                </a:solidFill>
                <a:latin typeface="Calibri" pitchFamily="34" charset="0"/>
                <a:ea typeface="Calibri" pitchFamily="34" charset="-122"/>
                <a:cs typeface="Calibri" pitchFamily="34" charset="-120"/>
              </a:rPr>
              <a:t>Discounted Cumulative Gain giảm trọng số ở vị trí thấp; chuẩn hóa bởi thứ tự lý tưởng. NDCG phù hợp khi relevance có mức độ và vị trí đầu danh sách quan trọng hơn.</a:t>
            </a:r>
            <a:endParaRPr lang="en-US" sz="120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THỰC NGHIỆM</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Đánh giá được thiết kế theo từng tuyên bố</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metric gắn với dataset, protocol và giới hạn diễn giải cụ thể.</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648" y="1773936"/>
          <a:ext cx="7498080" cy="4343400"/>
        </p:xfrm>
        <a:graphic>
          <a:graphicData uri="http://schemas.openxmlformats.org/drawingml/2006/table">
            <a:tbl>
              <a:tblPr/>
              <a:tblGrid>
                <a:gridCol w="2103120"/>
                <a:gridCol w="2377440"/>
                <a:gridCol w="3017520"/>
              </a:tblGrid>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Hạng mục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Tập đánh giá</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Metric</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Chất lượng dữ liệu</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Toàn corpus</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missing · duplicate · orphan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Phân giải thực thể</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100 cặp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 · R · F1</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Suy diễn co-star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50 fact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precision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Hỏi–đáp</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câu smoke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accuracy + evidence</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Gợi ý</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20 case silver</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P@10 · NDCG@10</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r h="548640">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Hiệu năng</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4 quy mô × 4 query</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c>
                  <a:txBody>
                    <a:bodyPr/>
                    <a:lstStyle/>
                    <a:p>
                      <a:pPr indent="0" marL="0">
                        <a:buNone/>
                      </a:pPr>
                      <a:r>
                        <a:rPr lang="en-US" sz="1120" dirty="0">
                          <a:solidFill>
                            <a:srgbClr val="172B3A"/>
                          </a:solidFill>
                          <a:latin typeface="Calibri" pitchFamily="34" charset="0"/>
                          <a:ea typeface="Calibri" pitchFamily="34" charset="-122"/>
                          <a:cs typeface="Calibri" pitchFamily="34" charset="-120"/>
                        </a:rPr>
                        <a:t>median · p95 · 100 lần</a:t>
                      </a:r>
                      <a:endParaRPr lang="en-US" sz="1120" dirty="0">
                        <a:latin typeface="Calibri" charset="0"/>
                        <a:ea typeface="Calibri" charset="0"/>
                        <a:cs typeface="Calibri" charset="0"/>
                      </a:endParaRPr>
                    </a:p>
                  </a:txBody>
                  <a:tcPr marL="73152" marR="73152" marT="73152" marB="73152" anchor="mid">
                    <a:lnL w="12700" cap="flat" cmpd="sng" algn="ctr">
                      <a:solidFill>
                        <a:srgbClr val="D7DEE8"/>
                      </a:solidFill>
                      <a:prstDash val="solid"/>
                      <a:round/>
                      <a:headEnd type="none" w="med" len="med"/>
                      <a:tailEnd type="none" w="med" len="med"/>
                    </a:lnL>
                    <a:lnR w="12700" cap="flat" cmpd="sng" algn="ctr">
                      <a:solidFill>
                        <a:srgbClr val="D7DEE8"/>
                      </a:solidFill>
                      <a:prstDash val="solid"/>
                      <a:round/>
                      <a:headEnd type="none" w="med" len="med"/>
                      <a:tailEnd type="none" w="med" len="med"/>
                    </a:lnR>
                    <a:lnT w="12700" cap="flat" cmpd="sng" algn="ctr">
                      <a:solidFill>
                        <a:srgbClr val="D7DEE8"/>
                      </a:solidFill>
                      <a:prstDash val="solid"/>
                      <a:round/>
                      <a:headEnd type="none" w="med" len="med"/>
                      <a:tailEnd type="none" w="med" len="med"/>
                    </a:lnT>
                    <a:lnB w="12700" cap="flat" cmpd="sng" algn="ctr">
                      <a:solidFill>
                        <a:srgbClr val="D7DEE8"/>
                      </a:solidFill>
                      <a:prstDash val="solid"/>
                      <a:round/>
                      <a:headEnd type="none" w="med" len="med"/>
                      <a:tailEnd type="none" w="med" len="med"/>
                    </a:lnB>
                    <a:solidFill>
                      <a:srgbClr val="FFFFFF"/>
                    </a:solidFill>
                  </a:tcPr>
                </a:tc>
              </a:tr>
            </a:tbl>
          </a:graphicData>
        </a:graphic>
      </p:graphicFrame>
      <p:sp>
        <p:nvSpPr>
          <p:cNvPr id="6" name="Shape 3"/>
          <p:cNvSpPr/>
          <p:nvPr/>
        </p:nvSpPr>
        <p:spPr>
          <a:xfrm>
            <a:off x="8430768" y="1792224"/>
            <a:ext cx="3127248" cy="1143000"/>
          </a:xfrm>
          <a:prstGeom prst="roundRect">
            <a:avLst>
              <a:gd name="adj" fmla="val 4800"/>
            </a:avLst>
          </a:prstGeom>
          <a:solidFill>
            <a:srgbClr val="FFF2DF"/>
          </a:solidFill>
          <a:ln w="12700">
            <a:solidFill>
              <a:srgbClr val="F1D5AA"/>
            </a:solidFill>
            <a:prstDash val="solid"/>
          </a:ln>
          <a:effectLst>
            <a:outerShdw sx="100000" sy="100000" kx="0" ky="0" algn="bl" rotWithShape="0" blurRad="25400" dist="50800" dir="2700000">
              <a:srgbClr val="26384A">
                <a:alpha val="13000"/>
              </a:srgbClr>
            </a:outerShdw>
          </a:effectLst>
        </p:spPr>
      </p:sp>
      <p:sp>
        <p:nvSpPr>
          <p:cNvPr id="7" name="Text 4"/>
          <p:cNvSpPr/>
          <p:nvPr/>
        </p:nvSpPr>
        <p:spPr>
          <a:xfrm>
            <a:off x="8659368" y="1975104"/>
            <a:ext cx="2670048" cy="301752"/>
          </a:xfrm>
          <a:prstGeom prst="rect">
            <a:avLst/>
          </a:prstGeom>
          <a:noFill/>
          <a:ln/>
        </p:spPr>
        <p:txBody>
          <a:bodyPr wrap="square" lIns="0" tIns="0" rIns="0" bIns="0" rtlCol="0" anchor="ctr">
            <a:normAutofit/>
          </a:bodyPr>
          <a:lstStyle/>
          <a:p>
            <a:pPr indent="0" marL="0">
              <a:buNone/>
            </a:pPr>
            <a:r>
              <a:rPr lang="en-US" sz="1400" b="1" dirty="0">
                <a:solidFill>
                  <a:srgbClr val="D38B36"/>
                </a:solidFill>
                <a:latin typeface="Calibri" pitchFamily="34" charset="0"/>
                <a:ea typeface="Calibri" pitchFamily="34" charset="-122"/>
                <a:cs typeface="Calibri" pitchFamily="34" charset="-120"/>
              </a:rPr>
              <a:t>Silver ≠ ground truth độc lập</a:t>
            </a:r>
            <a:endParaRPr lang="en-US" sz="1400" dirty="0"/>
          </a:p>
        </p:txBody>
      </p:sp>
      <p:sp>
        <p:nvSpPr>
          <p:cNvPr id="8" name="Text 5"/>
          <p:cNvSpPr/>
          <p:nvPr/>
        </p:nvSpPr>
        <p:spPr>
          <a:xfrm>
            <a:off x="8659368" y="2395728"/>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Corpus được sinh tất định, có provenance và rubric công bố.</a:t>
            </a:r>
            <a:endParaRPr lang="en-US" sz="1050" dirty="0"/>
          </a:p>
        </p:txBody>
      </p:sp>
      <p:sp>
        <p:nvSpPr>
          <p:cNvPr id="9" name="Shape 6"/>
          <p:cNvSpPr/>
          <p:nvPr/>
        </p:nvSpPr>
        <p:spPr>
          <a:xfrm>
            <a:off x="8430768" y="3236976"/>
            <a:ext cx="3127248" cy="1143000"/>
          </a:xfrm>
          <a:prstGeom prst="roundRect">
            <a:avLst>
              <a:gd name="adj" fmla="val 4800"/>
            </a:avLst>
          </a:prstGeom>
          <a:solidFill>
            <a:srgbClr val="EAF2F8"/>
          </a:solidFill>
          <a:ln w="12700">
            <a:solidFill>
              <a:srgbClr val="BDD4E5"/>
            </a:solidFill>
            <a:prstDash val="solid"/>
          </a:ln>
          <a:effectLst>
            <a:outerShdw sx="100000" sy="100000" kx="0" ky="0" algn="bl" rotWithShape="0" blurRad="25400" dist="50800" dir="2700000">
              <a:srgbClr val="26384A">
                <a:alpha val="13000"/>
              </a:srgbClr>
            </a:outerShdw>
          </a:effectLst>
        </p:spPr>
      </p:sp>
      <p:sp>
        <p:nvSpPr>
          <p:cNvPr id="10" name="Text 7"/>
          <p:cNvSpPr/>
          <p:nvPr/>
        </p:nvSpPr>
        <p:spPr>
          <a:xfrm>
            <a:off x="8659368" y="3419856"/>
            <a:ext cx="2670048" cy="301752"/>
          </a:xfrm>
          <a:prstGeom prst="rect">
            <a:avLst/>
          </a:prstGeom>
          <a:noFill/>
          <a:ln/>
        </p:spPr>
        <p:txBody>
          <a:bodyPr wrap="square" lIns="0" tIns="0" rIns="0" bIns="0" rtlCol="0" anchor="ctr">
            <a:normAutofit/>
          </a:bodyPr>
          <a:lstStyle/>
          <a:p>
            <a:pPr indent="0" marL="0">
              <a:buNone/>
            </a:pPr>
            <a:r>
              <a:rPr lang="en-US" sz="1400" b="1" dirty="0">
                <a:solidFill>
                  <a:srgbClr val="337B80"/>
                </a:solidFill>
                <a:latin typeface="Calibri" pitchFamily="34" charset="0"/>
                <a:ea typeface="Calibri" pitchFamily="34" charset="-122"/>
                <a:cs typeface="Calibri" pitchFamily="34" charset="-120"/>
              </a:rPr>
              <a:t>So sánh công bằng</a:t>
            </a:r>
            <a:endParaRPr lang="en-US" sz="1400" dirty="0"/>
          </a:p>
        </p:txBody>
      </p:sp>
      <p:sp>
        <p:nvSpPr>
          <p:cNvPr id="11" name="Text 8"/>
          <p:cNvSpPr/>
          <p:nvPr/>
        </p:nvSpPr>
        <p:spPr>
          <a:xfrm>
            <a:off x="8659368" y="3840480"/>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Neo4j và SQLite dùng cùng snapshot, máy, warm-up và số lần chạy.</a:t>
            </a:r>
            <a:endParaRPr lang="en-US" sz="1050" dirty="0"/>
          </a:p>
        </p:txBody>
      </p:sp>
      <p:sp>
        <p:nvSpPr>
          <p:cNvPr id="12" name="Shape 9"/>
          <p:cNvSpPr/>
          <p:nvPr/>
        </p:nvSpPr>
        <p:spPr>
          <a:xfrm>
            <a:off x="8430768" y="4681728"/>
            <a:ext cx="3127248" cy="1143000"/>
          </a:xfrm>
          <a:prstGeom prst="roundRect">
            <a:avLst>
              <a:gd name="adj" fmla="val 4800"/>
            </a:avLst>
          </a:prstGeom>
          <a:solidFill>
            <a:srgbClr val="FBEAEC"/>
          </a:solidFill>
          <a:ln w="12700">
            <a:solidFill>
              <a:srgbClr val="E9C3C6"/>
            </a:solidFill>
            <a:prstDash val="solid"/>
          </a:ln>
          <a:effectLst>
            <a:outerShdw sx="100000" sy="100000" kx="0" ky="0" algn="bl" rotWithShape="0" blurRad="25400" dist="50800" dir="2700000">
              <a:srgbClr val="26384A">
                <a:alpha val="13000"/>
              </a:srgbClr>
            </a:outerShdw>
          </a:effectLst>
        </p:spPr>
      </p:sp>
      <p:sp>
        <p:nvSpPr>
          <p:cNvPr id="13" name="Text 10"/>
          <p:cNvSpPr/>
          <p:nvPr/>
        </p:nvSpPr>
        <p:spPr>
          <a:xfrm>
            <a:off x="8659368" y="4864608"/>
            <a:ext cx="2670048" cy="301752"/>
          </a:xfrm>
          <a:prstGeom prst="rect">
            <a:avLst/>
          </a:prstGeom>
          <a:noFill/>
          <a:ln/>
        </p:spPr>
        <p:txBody>
          <a:bodyPr wrap="square" lIns="0" tIns="0" rIns="0" bIns="0" rtlCol="0" anchor="ctr">
            <a:normAutofit/>
          </a:bodyPr>
          <a:lstStyle/>
          <a:p>
            <a:pPr indent="0" marL="0">
              <a:buNone/>
            </a:pPr>
            <a:r>
              <a:rPr lang="en-US" sz="1400" b="1" dirty="0">
                <a:solidFill>
                  <a:srgbClr val="B94D52"/>
                </a:solidFill>
                <a:latin typeface="Calibri" pitchFamily="34" charset="0"/>
                <a:ea typeface="Calibri" pitchFamily="34" charset="-122"/>
                <a:cs typeface="Calibri" pitchFamily="34" charset="-120"/>
              </a:rPr>
              <a:t>Không vượt quá bằng chứng</a:t>
            </a:r>
            <a:endParaRPr lang="en-US" sz="1400" dirty="0"/>
          </a:p>
        </p:txBody>
      </p:sp>
      <p:sp>
        <p:nvSpPr>
          <p:cNvPr id="14" name="Text 11"/>
          <p:cNvSpPr/>
          <p:nvPr/>
        </p:nvSpPr>
        <p:spPr>
          <a:xfrm>
            <a:off x="8659368" y="5285232"/>
            <a:ext cx="2670048" cy="356616"/>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Không suy rộng sang concurrency, cold cache hay production scale.</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KẾT QUẢ</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Kết quả chính: đúng cấu trúc, có bằng chứng, còn dư địa cải thiện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con số dưới đây đều thuộc lần chạy 5.000 đầu vào ngày 24/07/2026.</a:t>
            </a:r>
            <a:endParaRPr lang="en-US" sz="1250" dirty="0"/>
          </a:p>
        </p:txBody>
      </p:sp>
      <p:sp>
        <p:nvSpPr>
          <p:cNvPr id="5" name="Shape 3"/>
          <p:cNvSpPr/>
          <p:nvPr/>
        </p:nvSpPr>
        <p:spPr>
          <a:xfrm>
            <a:off x="59436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5895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D8B66"/>
                </a:solidFill>
                <a:latin typeface="Arial" pitchFamily="34" charset="0"/>
                <a:ea typeface="Arial" pitchFamily="34" charset="-122"/>
                <a:cs typeface="Arial" pitchFamily="34" charset="-120"/>
              </a:rPr>
              <a:t>20/20</a:t>
            </a:r>
            <a:endParaRPr lang="en-US" sz="2800" dirty="0"/>
          </a:p>
        </p:txBody>
      </p:sp>
      <p:sp>
        <p:nvSpPr>
          <p:cNvPr id="7" name="Text 5"/>
          <p:cNvSpPr/>
          <p:nvPr/>
        </p:nvSpPr>
        <p:spPr>
          <a:xfrm>
            <a:off x="77724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QA smoke</a:t>
            </a:r>
            <a:endParaRPr lang="en-US" sz="1100" dirty="0"/>
          </a:p>
        </p:txBody>
      </p:sp>
      <p:sp>
        <p:nvSpPr>
          <p:cNvPr id="8" name="Text 6"/>
          <p:cNvSpPr/>
          <p:nvPr/>
        </p:nvSpPr>
        <p:spPr>
          <a:xfrm>
            <a:off x="77724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Neo4j + evidence</a:t>
            </a:r>
            <a:endParaRPr lang="en-US" sz="750" dirty="0"/>
          </a:p>
        </p:txBody>
      </p:sp>
      <p:sp>
        <p:nvSpPr>
          <p:cNvPr id="9" name="Shape 7"/>
          <p:cNvSpPr/>
          <p:nvPr/>
        </p:nvSpPr>
        <p:spPr>
          <a:xfrm>
            <a:off x="283464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0" name="Text 8"/>
          <p:cNvSpPr/>
          <p:nvPr/>
        </p:nvSpPr>
        <p:spPr>
          <a:xfrm>
            <a:off x="299923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337B80"/>
                </a:solidFill>
                <a:latin typeface="Arial" pitchFamily="34" charset="0"/>
                <a:ea typeface="Arial" pitchFamily="34" charset="-122"/>
                <a:cs typeface="Arial" pitchFamily="34" charset="-120"/>
              </a:rPr>
              <a:t>0,966</a:t>
            </a:r>
            <a:endParaRPr lang="en-US" sz="2800" dirty="0"/>
          </a:p>
        </p:txBody>
      </p:sp>
      <p:sp>
        <p:nvSpPr>
          <p:cNvPr id="11" name="Text 9"/>
          <p:cNvSpPr/>
          <p:nvPr/>
        </p:nvSpPr>
        <p:spPr>
          <a:xfrm>
            <a:off x="301752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Entity F1</a:t>
            </a:r>
            <a:endParaRPr lang="en-US" sz="1100" dirty="0"/>
          </a:p>
        </p:txBody>
      </p:sp>
      <p:sp>
        <p:nvSpPr>
          <p:cNvPr id="12" name="Text 10"/>
          <p:cNvSpPr/>
          <p:nvPr/>
        </p:nvSpPr>
        <p:spPr>
          <a:xfrm>
            <a:off x="301752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100 cặp silver</a:t>
            </a:r>
            <a:endParaRPr lang="en-US" sz="750" dirty="0"/>
          </a:p>
        </p:txBody>
      </p:sp>
      <p:sp>
        <p:nvSpPr>
          <p:cNvPr id="13" name="Shape 11"/>
          <p:cNvSpPr/>
          <p:nvPr/>
        </p:nvSpPr>
        <p:spPr>
          <a:xfrm>
            <a:off x="507492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4" name="Text 12"/>
          <p:cNvSpPr/>
          <p:nvPr/>
        </p:nvSpPr>
        <p:spPr>
          <a:xfrm>
            <a:off x="523951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725B9B"/>
                </a:solidFill>
                <a:latin typeface="Arial" pitchFamily="34" charset="0"/>
                <a:ea typeface="Arial" pitchFamily="34" charset="-122"/>
                <a:cs typeface="Arial" pitchFamily="34" charset="-120"/>
              </a:rPr>
              <a:t>1,00</a:t>
            </a:r>
            <a:endParaRPr lang="en-US" sz="2800" dirty="0"/>
          </a:p>
        </p:txBody>
      </p:sp>
      <p:sp>
        <p:nvSpPr>
          <p:cNvPr id="15" name="Text 13"/>
          <p:cNvSpPr/>
          <p:nvPr/>
        </p:nvSpPr>
        <p:spPr>
          <a:xfrm>
            <a:off x="525780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Co-star precision</a:t>
            </a:r>
            <a:endParaRPr lang="en-US" sz="1100" dirty="0"/>
          </a:p>
        </p:txBody>
      </p:sp>
      <p:sp>
        <p:nvSpPr>
          <p:cNvPr id="16" name="Text 14"/>
          <p:cNvSpPr/>
          <p:nvPr/>
        </p:nvSpPr>
        <p:spPr>
          <a:xfrm>
            <a:off x="525780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50 fact silver</a:t>
            </a:r>
            <a:endParaRPr lang="en-US" sz="750" dirty="0"/>
          </a:p>
        </p:txBody>
      </p:sp>
      <p:sp>
        <p:nvSpPr>
          <p:cNvPr id="17" name="Shape 15"/>
          <p:cNvSpPr/>
          <p:nvPr/>
        </p:nvSpPr>
        <p:spPr>
          <a:xfrm>
            <a:off x="731520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18" name="Text 16"/>
          <p:cNvSpPr/>
          <p:nvPr/>
        </p:nvSpPr>
        <p:spPr>
          <a:xfrm>
            <a:off x="747979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D38B36"/>
                </a:solidFill>
                <a:latin typeface="Arial" pitchFamily="34" charset="0"/>
                <a:ea typeface="Arial" pitchFamily="34" charset="-122"/>
                <a:cs typeface="Arial" pitchFamily="34" charset="-120"/>
              </a:rPr>
              <a:t>0,635</a:t>
            </a:r>
            <a:endParaRPr lang="en-US" sz="2800" dirty="0"/>
          </a:p>
        </p:txBody>
      </p:sp>
      <p:sp>
        <p:nvSpPr>
          <p:cNvPr id="19" name="Text 17"/>
          <p:cNvSpPr/>
          <p:nvPr/>
        </p:nvSpPr>
        <p:spPr>
          <a:xfrm>
            <a:off x="749808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Recommendation P@10</a:t>
            </a:r>
            <a:endParaRPr lang="en-US" sz="1100" dirty="0"/>
          </a:p>
        </p:txBody>
      </p:sp>
      <p:sp>
        <p:nvSpPr>
          <p:cNvPr id="20" name="Text 18"/>
          <p:cNvSpPr/>
          <p:nvPr/>
        </p:nvSpPr>
        <p:spPr>
          <a:xfrm>
            <a:off x="749808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sp>
        <p:nvSpPr>
          <p:cNvPr id="21" name="Shape 19"/>
          <p:cNvSpPr/>
          <p:nvPr/>
        </p:nvSpPr>
        <p:spPr>
          <a:xfrm>
            <a:off x="9555480" y="1783080"/>
            <a:ext cx="2057400" cy="1261872"/>
          </a:xfrm>
          <a:prstGeom prst="roundRect">
            <a:avLst>
              <a:gd name="adj" fmla="val 4348"/>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2" name="Text 20"/>
          <p:cNvSpPr/>
          <p:nvPr/>
        </p:nvSpPr>
        <p:spPr>
          <a:xfrm>
            <a:off x="9720072" y="1947672"/>
            <a:ext cx="1728216" cy="457200"/>
          </a:xfrm>
          <a:prstGeom prst="rect">
            <a:avLst/>
          </a:prstGeom>
          <a:noFill/>
          <a:ln/>
        </p:spPr>
        <p:txBody>
          <a:bodyPr wrap="square" lIns="0" tIns="0" rIns="0" bIns="0" rtlCol="0" anchor="ctr">
            <a:normAutofit/>
          </a:bodyPr>
          <a:lstStyle/>
          <a:p>
            <a:pPr indent="0" marL="0">
              <a:buNone/>
            </a:pPr>
            <a:r>
              <a:rPr lang="en-US" sz="2800" b="1" dirty="0">
                <a:solidFill>
                  <a:srgbClr val="B94D52"/>
                </a:solidFill>
                <a:latin typeface="Arial" pitchFamily="34" charset="0"/>
                <a:ea typeface="Arial" pitchFamily="34" charset="-122"/>
                <a:cs typeface="Arial" pitchFamily="34" charset="-120"/>
              </a:rPr>
              <a:t>0,672</a:t>
            </a:r>
            <a:endParaRPr lang="en-US" sz="2800" dirty="0"/>
          </a:p>
        </p:txBody>
      </p:sp>
      <p:sp>
        <p:nvSpPr>
          <p:cNvPr id="23" name="Text 21"/>
          <p:cNvSpPr/>
          <p:nvPr/>
        </p:nvSpPr>
        <p:spPr>
          <a:xfrm>
            <a:off x="9738360" y="2459736"/>
            <a:ext cx="1691640" cy="256032"/>
          </a:xfrm>
          <a:prstGeom prst="rect">
            <a:avLst/>
          </a:prstGeom>
          <a:noFill/>
          <a:ln/>
        </p:spPr>
        <p:txBody>
          <a:bodyPr wrap="square" lIns="0" tIns="0" rIns="0" bIns="0" rtlCol="0" anchor="ctr">
            <a:normAutofit/>
          </a:bodyPr>
          <a:lstStyle/>
          <a:p>
            <a:pPr indent="0" marL="0">
              <a:buNone/>
            </a:pPr>
            <a:r>
              <a:rPr lang="en-US" sz="1100" b="1" dirty="0">
                <a:solidFill>
                  <a:srgbClr val="172B3A"/>
                </a:solidFill>
                <a:latin typeface="Calibri" pitchFamily="34" charset="0"/>
                <a:ea typeface="Calibri" pitchFamily="34" charset="-122"/>
                <a:cs typeface="Calibri" pitchFamily="34" charset="-120"/>
              </a:rPr>
              <a:t>NDCG@10</a:t>
            </a:r>
            <a:endParaRPr lang="en-US" sz="1100" dirty="0"/>
          </a:p>
        </p:txBody>
      </p:sp>
      <p:sp>
        <p:nvSpPr>
          <p:cNvPr id="24" name="Text 22"/>
          <p:cNvSpPr/>
          <p:nvPr/>
        </p:nvSpPr>
        <p:spPr>
          <a:xfrm>
            <a:off x="9738360" y="2752344"/>
            <a:ext cx="1691640" cy="164592"/>
          </a:xfrm>
          <a:prstGeom prst="rect">
            <a:avLst/>
          </a:prstGeom>
          <a:noFill/>
          <a:ln/>
        </p:spPr>
        <p:txBody>
          <a:bodyPr wrap="square" lIns="0" tIns="0" rIns="0" bIns="0" rtlCol="0" anchor="ctr">
            <a:normAutofit/>
          </a:bodyPr>
          <a:lstStyle/>
          <a:p>
            <a:pPr indent="0" marL="0">
              <a:buNone/>
            </a:pPr>
            <a:r>
              <a:rPr lang="en-US" sz="750" dirty="0">
                <a:solidFill>
                  <a:srgbClr val="697586"/>
                </a:solidFill>
                <a:latin typeface="Arial" pitchFamily="34" charset="0"/>
                <a:ea typeface="Arial" pitchFamily="34" charset="-122"/>
                <a:cs typeface="Arial" pitchFamily="34" charset="-120"/>
              </a:rPr>
              <a:t>20 case silver</a:t>
            </a:r>
            <a:endParaRPr lang="en-US" sz="750" dirty="0"/>
          </a:p>
        </p:txBody>
      </p:sp>
      <p:graphicFrame>
        <p:nvGraphicFramePr>
          <p:cNvPr id="25" name="Chart 0" descr=""/>
          <p:cNvGraphicFramePr/>
          <p:nvPr/>
        </p:nvGraphicFramePr>
        <p:xfrm>
          <a:off x="731520" y="3429000"/>
          <a:ext cx="6583680" cy="2395728"/>
        </p:xfrm>
        <a:graphic xmlns:a="http://schemas.openxmlformats.org/drawingml/2006/main">
          <a:graphicData uri="http://schemas.openxmlformats.org/drawingml/2006/chart">
            <c:chart xmlns:c="http://schemas.openxmlformats.org/drawingml/2006/chart" r:id="rId1"/>
          </a:graphicData>
        </a:graphic>
      </p:graphicFrame>
      <p:sp>
        <p:nvSpPr>
          <p:cNvPr id="26" name="Shape 23"/>
          <p:cNvSpPr/>
          <p:nvPr/>
        </p:nvSpPr>
        <p:spPr>
          <a:xfrm>
            <a:off x="7680960" y="3493008"/>
            <a:ext cx="3886200" cy="2267712"/>
          </a:xfrm>
          <a:prstGeom prst="roundRect">
            <a:avLst>
              <a:gd name="adj" fmla="val 2419"/>
            </a:avLst>
          </a:prstGeom>
          <a:solidFill>
            <a:srgbClr val="FFFFFF"/>
          </a:solidFill>
          <a:ln w="12700">
            <a:solidFill>
              <a:srgbClr val="D7DEE8"/>
            </a:solidFill>
            <a:prstDash val="solid"/>
          </a:ln>
          <a:effectLst>
            <a:outerShdw sx="100000" sy="100000" kx="0" ky="0" algn="bl" rotWithShape="0" blurRad="25400" dist="50800" dir="2700000">
              <a:srgbClr val="26384A">
                <a:alpha val="13000"/>
              </a:srgbClr>
            </a:outerShdw>
          </a:effectLst>
        </p:spPr>
      </p:sp>
      <p:sp>
        <p:nvSpPr>
          <p:cNvPr id="27" name="Text 24"/>
          <p:cNvSpPr/>
          <p:nvPr/>
        </p:nvSpPr>
        <p:spPr>
          <a:xfrm>
            <a:off x="7909560" y="3675888"/>
            <a:ext cx="3429000" cy="301752"/>
          </a:xfrm>
          <a:prstGeom prst="rect">
            <a:avLst/>
          </a:prstGeom>
          <a:noFill/>
          <a:ln/>
        </p:spPr>
        <p:txBody>
          <a:bodyPr wrap="square" lIns="0" tIns="0" rIns="0" bIns="0" rtlCol="0" anchor="ctr">
            <a:normAutofit/>
          </a:bodyPr>
          <a:lstStyle/>
          <a:p>
            <a:pPr indent="0" marL="0">
              <a:buNone/>
            </a:pPr>
            <a:r>
              <a:rPr lang="en-US" sz="1700" b="1" dirty="0">
                <a:solidFill>
                  <a:srgbClr val="112B46"/>
                </a:solidFill>
                <a:latin typeface="Calibri" pitchFamily="34" charset="0"/>
                <a:ea typeface="Calibri" pitchFamily="34" charset="-122"/>
                <a:cs typeface="Calibri" pitchFamily="34" charset="-120"/>
              </a:rPr>
              <a:t>Cách đọc thận trọng</a:t>
            </a:r>
            <a:endParaRPr lang="en-US" sz="1700" dirty="0"/>
          </a:p>
        </p:txBody>
      </p:sp>
      <p:sp>
        <p:nvSpPr>
          <p:cNvPr id="28" name="Text 25"/>
          <p:cNvSpPr/>
          <p:nvPr/>
        </p:nvSpPr>
        <p:spPr>
          <a:xfrm>
            <a:off x="7909560" y="4096512"/>
            <a:ext cx="3429000" cy="1481328"/>
          </a:xfrm>
          <a:prstGeom prst="rect">
            <a:avLst/>
          </a:prstGeom>
          <a:noFill/>
          <a:ln/>
        </p:spPr>
        <p:txBody>
          <a:bodyPr wrap="square" lIns="0" tIns="0" rIns="0" bIns="0" rtlCol="0" anchor="t">
            <a:normAutofit/>
          </a:bodyPr>
          <a:lstStyle/>
          <a:p>
            <a:pPr indent="0" marL="0">
              <a:buNone/>
            </a:pPr>
            <a:r>
              <a:rPr lang="en-US" sz="1250" dirty="0">
                <a:solidFill>
                  <a:srgbClr val="172B3A"/>
                </a:solidFill>
                <a:latin typeface="Calibri" pitchFamily="34" charset="0"/>
                <a:ea typeface="Calibri" pitchFamily="34" charset="-122"/>
                <a:cs typeface="Calibri" pitchFamily="34" charset="-120"/>
              </a:rPr>
              <a:t>• QA là smoke corpus được quản lý.</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Entity precision cao nhờ abstention bảo thủ.</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Recommendation là metric silver, chưa phải đánh giá người dùng.</a:t>
            </a:r>
            <a:endParaRPr lang="en-US" sz="1250" dirty="0"/>
          </a:p>
          <a:p>
            <a:pPr indent="0" marL="0">
              <a:buNone/>
            </a:pPr>
            <a:r>
              <a:rPr lang="en-US" sz="1250" dirty="0">
                <a:solidFill>
                  <a:srgbClr val="172B3A"/>
                </a:solidFill>
                <a:latin typeface="Calibri" pitchFamily="34" charset="0"/>
                <a:ea typeface="Calibri" pitchFamily="34" charset="-122"/>
                <a:cs typeface="Calibri" pitchFamily="34" charset="-120"/>
              </a:rPr>
              <a:t>• Mọi output gợi ý đều có đường giải thích.</a:t>
            </a:r>
            <a:endParaRPr lang="en-US" sz="1250" dirty="0"/>
          </a:p>
        </p:txBody>
      </p:sp>
      <p:sp>
        <p:nvSpPr>
          <p:cNvPr id="29" name="Text 26"/>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experiments/results/summary/quality_metrics.csv</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PHÂN TÍCH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Phép đo so sánh cho thấy sự đánh đổi</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SQLite nhanh hơn ở toàn bộ cặp truy vấn/quy mô; Neo4j đổi lại mô hình duyệt đồ thị và bằng chứng trực tiếp.</a:t>
            </a:r>
            <a:endParaRPr lang="en-US" sz="1250" dirty="0"/>
          </a:p>
        </p:txBody>
      </p:sp>
      <p:graphicFrame>
        <p:nvGraphicFramePr>
          <p:cNvPr id="5" name="Chart 0" descr=""/>
          <p:cNvGraphicFramePr/>
          <p:nvPr/>
        </p:nvGraphicFramePr>
        <p:xfrm>
          <a:off x="594360" y="1792224"/>
          <a:ext cx="566928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537960" y="1792224"/>
          <a:ext cx="5029200" cy="3246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85800" y="5029200"/>
            <a:ext cx="5440680" cy="960120"/>
          </a:xfrm>
          <a:prstGeom prst="roundRect">
            <a:avLst>
              <a:gd name="adj" fmla="val 5714"/>
            </a:avLst>
          </a:prstGeom>
          <a:solidFill>
            <a:srgbClr val="FFF2DF"/>
          </a:solidFill>
          <a:ln w="12700">
            <a:solidFill>
              <a:srgbClr val="F1D5AA"/>
            </a:solidFill>
            <a:prstDash val="solid"/>
          </a:ln>
        </p:spPr>
      </p:sp>
      <p:sp>
        <p:nvSpPr>
          <p:cNvPr id="8" name="Text 4"/>
          <p:cNvSpPr/>
          <p:nvPr/>
        </p:nvSpPr>
        <p:spPr>
          <a:xfrm>
            <a:off x="914400" y="5212080"/>
            <a:ext cx="4983480"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hiệu năng</a:t>
            </a:r>
            <a:endParaRPr lang="en-US" sz="1300" dirty="0"/>
          </a:p>
        </p:txBody>
      </p:sp>
      <p:sp>
        <p:nvSpPr>
          <p:cNvPr id="9" name="Text 5"/>
          <p:cNvSpPr/>
          <p:nvPr/>
        </p:nvSpPr>
        <p:spPr>
          <a:xfrm>
            <a:off x="914400" y="5632704"/>
            <a:ext cx="4983480"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Đo warm-cache, 100 lần/query, không đo concurrency hoặc cold cache.</a:t>
            </a:r>
            <a:endParaRPr lang="en-US" sz="1000" dirty="0"/>
          </a:p>
        </p:txBody>
      </p:sp>
      <p:sp>
        <p:nvSpPr>
          <p:cNvPr id="10" name="Shape 6"/>
          <p:cNvSpPr/>
          <p:nvPr/>
        </p:nvSpPr>
        <p:spPr>
          <a:xfrm>
            <a:off x="6537960" y="5029200"/>
            <a:ext cx="5010912" cy="960120"/>
          </a:xfrm>
          <a:prstGeom prst="roundRect">
            <a:avLst>
              <a:gd name="adj" fmla="val 5714"/>
            </a:avLst>
          </a:prstGeom>
          <a:solidFill>
            <a:srgbClr val="F0ECF7"/>
          </a:solidFill>
          <a:ln w="12700">
            <a:solidFill>
              <a:srgbClr val="D9CFE8"/>
            </a:solidFill>
            <a:prstDash val="solid"/>
          </a:ln>
        </p:spPr>
      </p:sp>
      <p:sp>
        <p:nvSpPr>
          <p:cNvPr id="11" name="Text 7"/>
          <p:cNvSpPr/>
          <p:nvPr/>
        </p:nvSpPr>
        <p:spPr>
          <a:xfrm>
            <a:off x="6766560" y="5212080"/>
            <a:ext cx="4553712" cy="301752"/>
          </a:xfrm>
          <a:prstGeom prst="rect">
            <a:avLst/>
          </a:prstGeom>
          <a:noFill/>
          <a:ln/>
        </p:spPr>
        <p:txBody>
          <a:bodyPr wrap="square" lIns="0" tIns="0" rIns="0" bIns="0" rtlCol="0" anchor="ctr">
            <a:normAutofit/>
          </a:bodyPr>
          <a:lstStyle/>
          <a:p>
            <a:pPr indent="0" marL="0">
              <a:buNone/>
            </a:pPr>
            <a:r>
              <a:rPr lang="en-US" sz="1300" b="1" dirty="0">
                <a:solidFill>
                  <a:srgbClr val="112B46"/>
                </a:solidFill>
                <a:latin typeface="Calibri" pitchFamily="34" charset="0"/>
                <a:ea typeface="Calibri" pitchFamily="34" charset="-122"/>
                <a:cs typeface="Calibri" pitchFamily="34" charset="-120"/>
              </a:rPr>
              <a:t>Kết luận gợi ý</a:t>
            </a:r>
            <a:endParaRPr lang="en-US" sz="1300" dirty="0"/>
          </a:p>
        </p:txBody>
      </p:sp>
      <p:sp>
        <p:nvSpPr>
          <p:cNvPr id="12" name="Text 8"/>
          <p:cNvSpPr/>
          <p:nvPr/>
        </p:nvSpPr>
        <p:spPr>
          <a:xfrm>
            <a:off x="6766560" y="5632704"/>
            <a:ext cx="4553712" cy="173736"/>
          </a:xfrm>
          <a:prstGeom prst="rect">
            <a:avLst/>
          </a:prstGeom>
          <a:noFill/>
          <a:ln/>
        </p:spPr>
        <p:txBody>
          <a:bodyPr wrap="square" lIns="0" tIns="0" rIns="0" bIns="0" rtlCol="0" anchor="t">
            <a:normAutofit/>
          </a:bodyPr>
          <a:lstStyle/>
          <a:p>
            <a:pPr indent="0" marL="0">
              <a:buNone/>
            </a:pPr>
            <a:r>
              <a:rPr lang="en-US" sz="1000" dirty="0">
                <a:solidFill>
                  <a:srgbClr val="172B3A"/>
                </a:solidFill>
                <a:latin typeface="Calibri" pitchFamily="34" charset="0"/>
                <a:ea typeface="Calibri" pitchFamily="34" charset="-122"/>
                <a:cs typeface="Calibri" pitchFamily="34" charset="-120"/>
              </a:rPr>
              <a:t>Các mốc cũ là lịch sử thiết kế, không phải lựa chọn runtime.</a:t>
            </a:r>
            <a:endParaRPr lang="en-US" sz="1000" dirty="0"/>
          </a:p>
        </p:txBody>
      </p:sp>
      <p:sp>
        <p:nvSpPr>
          <p:cNvPr id="13" name="Text 9"/>
          <p:cNvSpPr/>
          <p:nvPr/>
        </p:nvSpPr>
        <p:spPr>
          <a:xfrm>
            <a:off x="548640" y="6254496"/>
            <a:ext cx="10744200" cy="182880"/>
          </a:xfrm>
          <a:prstGeom prst="rect">
            <a:avLst/>
          </a:prstGeom>
          <a:noFill/>
          <a:ln/>
        </p:spPr>
        <p:txBody>
          <a:bodyPr wrap="square" lIns="0" tIns="0" rIns="0" bIns="0" rtlCol="0" anchor="ctr"/>
          <a:lstStyle/>
          <a:p>
            <a:pPr indent="0" marL="0">
              <a:buNone/>
            </a:pPr>
            <a:r>
              <a:rPr lang="en-US" sz="750" i="1" dirty="0">
                <a:solidFill>
                  <a:srgbClr val="7C8796"/>
                </a:solidFill>
                <a:latin typeface="Arial" pitchFamily="34" charset="0"/>
                <a:ea typeface="Arial" pitchFamily="34" charset="-122"/>
                <a:cs typeface="Arial" pitchFamily="34" charset="-120"/>
              </a:rPr>
              <a:t>Nguồn: multiscale_benchmark.csv · recommendation_ablation.json · recommendation.json</a:t>
            </a:r>
            <a:endParaRPr lang="en-US" sz="7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TỪ LÝ THUYẾT ĐẾN MÔ HÌNH</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Competency question dẫn dắt schema và truy vấn</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Mỗi câu hỏi nghiệp vụ phải ánh xạ được thành một graph pattern có thể kiểm chứng.</a:t>
            </a:r>
            <a:endParaRPr lang="en-US" sz="1250" dirty="0"/>
          </a:p>
        </p:txBody>
      </p:sp>
      <p:sp>
        <p:nvSpPr>
          <p:cNvPr id="5" name="Shape 3"/>
          <p:cNvSpPr/>
          <p:nvPr/>
        </p:nvSpPr>
        <p:spPr>
          <a:xfrm>
            <a:off x="621792" y="1783080"/>
            <a:ext cx="3657600" cy="3337560"/>
          </a:xfrm>
          <a:prstGeom prst="roundRect">
            <a:avLst>
              <a:gd name="adj" fmla="val 1644"/>
            </a:avLst>
          </a:prstGeom>
          <a:solidFill>
            <a:srgbClr val="F0ECF7"/>
          </a:solidFill>
          <a:ln w="12700">
            <a:solidFill>
              <a:srgbClr val="D9CFE8"/>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850392" y="1965960"/>
            <a:ext cx="3200400" cy="301752"/>
          </a:xfrm>
          <a:prstGeom prst="rect">
            <a:avLst/>
          </a:prstGeom>
          <a:noFill/>
          <a:ln/>
        </p:spPr>
        <p:txBody>
          <a:bodyPr wrap="square" lIns="0" tIns="0" rIns="0" bIns="0" rtlCol="0" anchor="ctr">
            <a:normAutofit/>
          </a:bodyPr>
          <a:lstStyle/>
          <a:p>
            <a:pPr indent="0" marL="0">
              <a:buNone/>
            </a:pPr>
            <a:r>
              <a:rPr lang="en-US" sz="1800" b="1" dirty="0">
                <a:solidFill>
                  <a:srgbClr val="725B9B"/>
                </a:solidFill>
                <a:latin typeface="Calibri" pitchFamily="34" charset="0"/>
                <a:ea typeface="Calibri" pitchFamily="34" charset="-122"/>
                <a:cs typeface="Calibri" pitchFamily="34" charset="-120"/>
              </a:rPr>
              <a:t>Câu hỏi năng lực</a:t>
            </a:r>
            <a:endParaRPr lang="en-US" sz="1800" dirty="0"/>
          </a:p>
        </p:txBody>
      </p:sp>
      <p:sp>
        <p:nvSpPr>
          <p:cNvPr id="7" name="Text 5"/>
          <p:cNvSpPr/>
          <p:nvPr/>
        </p:nvSpPr>
        <p:spPr>
          <a:xfrm>
            <a:off x="850392" y="2386584"/>
            <a:ext cx="3200400" cy="2551176"/>
          </a:xfrm>
          <a:prstGeom prst="rect">
            <a:avLst/>
          </a:prstGeom>
          <a:noFill/>
          <a:ln/>
        </p:spPr>
        <p:txBody>
          <a:bodyPr wrap="square" lIns="0" tIns="0" rIns="0" bIns="0" rtlCol="0" anchor="t">
            <a:normAutofit/>
          </a:bodyPr>
          <a:lstStyle/>
          <a:p>
            <a:pPr indent="0" marL="0">
              <a:buNone/>
            </a:pPr>
            <a:r>
              <a:rPr lang="en-US" sz="1500" dirty="0">
                <a:solidFill>
                  <a:srgbClr val="172B3A"/>
                </a:solidFill>
                <a:latin typeface="Calibri" pitchFamily="34" charset="0"/>
                <a:ea typeface="Calibri" pitchFamily="34" charset="-122"/>
                <a:cs typeface="Calibri" pitchFamily="34" charset="-120"/>
              </a:rPr>
              <a:t>Phim nào có hai diễn viên cùng tham gia?</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Khái niệm cần có:</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Person · Movie · ACTED_IN</a:t>
            </a:r>
            <a:endParaRPr lang="en-US" sz="1500" dirty="0"/>
          </a:p>
          <a:p>
            <a:pPr indent="0" marL="0">
              <a:buNone/>
            </a:pP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Ràng buộc:</a:t>
            </a:r>
            <a:endParaRPr lang="en-US" sz="1500" dirty="0"/>
          </a:p>
          <a:p>
            <a:pPr indent="0" marL="0">
              <a:buNone/>
            </a:pPr>
            <a:r>
              <a:rPr lang="en-US" sz="1500" dirty="0">
                <a:solidFill>
                  <a:srgbClr val="172B3A"/>
                </a:solidFill>
                <a:latin typeface="Calibri" pitchFamily="34" charset="0"/>
                <a:ea typeface="Calibri" pitchFamily="34" charset="-122"/>
                <a:cs typeface="Calibri" pitchFamily="34" charset="-120"/>
              </a:rPr>
              <a:t>hai Person khác nhau cùng nối tới một Movie.</a:t>
            </a:r>
            <a:endParaRPr lang="en-US" sz="1500" dirty="0"/>
          </a:p>
        </p:txBody>
      </p:sp>
      <p:sp>
        <p:nvSpPr>
          <p:cNvPr id="8" name="Shape 6"/>
          <p:cNvSpPr/>
          <p:nvPr/>
        </p:nvSpPr>
        <p:spPr>
          <a:xfrm>
            <a:off x="4553712" y="1783080"/>
            <a:ext cx="7013448" cy="3337560"/>
          </a:xfrm>
          <a:prstGeom prst="roundRect">
            <a:avLst>
              <a:gd name="adj" fmla="val 1096"/>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800600" y="2011680"/>
            <a:ext cx="4206240" cy="256032"/>
          </a:xfrm>
          <a:prstGeom prst="rect">
            <a:avLst/>
          </a:prstGeom>
          <a:noFill/>
          <a:ln/>
        </p:spPr>
        <p:txBody>
          <a:bodyPr wrap="square" lIns="0" tIns="0" rIns="0" bIns="0" rtlCol="0" anchor="ctr"/>
          <a:lstStyle/>
          <a:p>
            <a:pPr indent="0" marL="0">
              <a:buNone/>
            </a:pPr>
            <a:r>
              <a:rPr lang="en-US" sz="1000" b="1" spc="110" kern="0" dirty="0">
                <a:solidFill>
                  <a:srgbClr val="8FD0CC"/>
                </a:solidFill>
                <a:latin typeface="Arial" pitchFamily="34" charset="0"/>
                <a:ea typeface="Arial" pitchFamily="34" charset="-122"/>
                <a:cs typeface="Arial" pitchFamily="34" charset="-120"/>
              </a:rPr>
              <a:t>GRAPH PATTERN TƯƠNG ỨNG</a:t>
            </a:r>
            <a:endParaRPr lang="en-US" sz="1000" dirty="0"/>
          </a:p>
        </p:txBody>
      </p:sp>
      <p:sp>
        <p:nvSpPr>
          <p:cNvPr id="10" name="Text 8"/>
          <p:cNvSpPr/>
          <p:nvPr/>
        </p:nvSpPr>
        <p:spPr>
          <a:xfrm>
            <a:off x="4800600" y="2450592"/>
            <a:ext cx="6355080" cy="2304288"/>
          </a:xfrm>
          <a:prstGeom prst="rect">
            <a:avLst/>
          </a:prstGeom>
          <a:noFill/>
          <a:ln/>
        </p:spPr>
        <p:txBody>
          <a:bodyPr wrap="square" lIns="0" tIns="0" rIns="0" bIns="0" rtlCol="0" anchor="ctr">
            <a:normAutofit/>
          </a:bodyPr>
          <a:lstStyle/>
          <a:p>
            <a:pPr indent="0" marL="0">
              <a:buNone/>
            </a:pPr>
            <a:r>
              <a:rPr lang="en-US" sz="1300" dirty="0">
                <a:solidFill>
                  <a:srgbClr val="D9E8F2"/>
                </a:solidFill>
                <a:latin typeface="Courier New" pitchFamily="34" charset="0"/>
                <a:ea typeface="Courier New" pitchFamily="34" charset="-122"/>
                <a:cs typeface="Courier New" pitchFamily="34" charset="-120"/>
              </a:rPr>
              <a:t>MATCH (a:Person)-[:ACTED_IN]-&gt;(m:Movie)</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&lt;-[:ACTED_IN]-(b:Person)</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WHERE a.person_id = $person1_id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b.person_id = $person2_id</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  AND a &lt;&gt; b</a:t>
            </a:r>
            <a:endParaRPr lang="en-US" sz="1300" dirty="0"/>
          </a:p>
          <a:p>
            <a:pPr indent="0" marL="0">
              <a:buNone/>
            </a:pPr>
            <a:r>
              <a:rPr lang="en-US" sz="1300" dirty="0">
                <a:solidFill>
                  <a:srgbClr val="D9E8F2"/>
                </a:solidFill>
                <a:latin typeface="Courier New" pitchFamily="34" charset="0"/>
                <a:ea typeface="Courier New" pitchFamily="34" charset="-122"/>
                <a:cs typeface="Courier New" pitchFamily="34" charset="-120"/>
              </a:rPr>
              <a:t>RETURN DISTINCT m.title AS common_movie;</a:t>
            </a:r>
            <a:endParaRPr lang="en-US" sz="1300" dirty="0"/>
          </a:p>
        </p:txBody>
      </p:sp>
      <p:sp>
        <p:nvSpPr>
          <p:cNvPr id="11" name="Shape 9"/>
          <p:cNvSpPr/>
          <p:nvPr/>
        </p:nvSpPr>
        <p:spPr>
          <a:xfrm>
            <a:off x="621792" y="5138928"/>
            <a:ext cx="3364992" cy="950976"/>
          </a:xfrm>
          <a:prstGeom prst="roundRect">
            <a:avLst>
              <a:gd name="adj" fmla="val 5769"/>
            </a:avLst>
          </a:prstGeom>
          <a:solidFill>
            <a:srgbClr val="EAF2F8"/>
          </a:solidFill>
          <a:ln w="12700">
            <a:solidFill>
              <a:srgbClr val="D7DEE8"/>
            </a:solidFill>
            <a:prstDash val="solid"/>
          </a:ln>
        </p:spPr>
      </p:sp>
      <p:sp>
        <p:nvSpPr>
          <p:cNvPr id="12" name="Text 10"/>
          <p:cNvSpPr/>
          <p:nvPr/>
        </p:nvSpPr>
        <p:spPr>
          <a:xfrm>
            <a:off x="850392"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Schema coverage</a:t>
            </a:r>
            <a:endParaRPr lang="en-US" sz="1200" dirty="0"/>
          </a:p>
        </p:txBody>
      </p:sp>
      <p:sp>
        <p:nvSpPr>
          <p:cNvPr id="13" name="Text 11"/>
          <p:cNvSpPr/>
          <p:nvPr/>
        </p:nvSpPr>
        <p:spPr>
          <a:xfrm>
            <a:off x="850392"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Có đủ lớp và quan hệ để biểu diễn?</a:t>
            </a:r>
            <a:endParaRPr lang="en-US" sz="1050" dirty="0"/>
          </a:p>
        </p:txBody>
      </p:sp>
      <p:sp>
        <p:nvSpPr>
          <p:cNvPr id="14" name="Shape 12"/>
          <p:cNvSpPr/>
          <p:nvPr/>
        </p:nvSpPr>
        <p:spPr>
          <a:xfrm>
            <a:off x="4407408" y="5138928"/>
            <a:ext cx="3364992" cy="950976"/>
          </a:xfrm>
          <a:prstGeom prst="roundRect">
            <a:avLst>
              <a:gd name="adj" fmla="val 5769"/>
            </a:avLst>
          </a:prstGeom>
          <a:solidFill>
            <a:srgbClr val="FFF2DF"/>
          </a:solidFill>
          <a:ln w="12700">
            <a:solidFill>
              <a:srgbClr val="D7DEE8"/>
            </a:solidFill>
            <a:prstDash val="solid"/>
          </a:ln>
        </p:spPr>
      </p:sp>
      <p:sp>
        <p:nvSpPr>
          <p:cNvPr id="15" name="Text 13"/>
          <p:cNvSpPr/>
          <p:nvPr/>
        </p:nvSpPr>
        <p:spPr>
          <a:xfrm>
            <a:off x="4636008"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Query answerability</a:t>
            </a:r>
            <a:endParaRPr lang="en-US" sz="1200" dirty="0"/>
          </a:p>
        </p:txBody>
      </p:sp>
      <p:sp>
        <p:nvSpPr>
          <p:cNvPr id="16" name="Text 14"/>
          <p:cNvSpPr/>
          <p:nvPr/>
        </p:nvSpPr>
        <p:spPr>
          <a:xfrm>
            <a:off x="4636008"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Pattern có trả lời được câu hỏi?</a:t>
            </a:r>
            <a:endParaRPr lang="en-US" sz="1050" dirty="0"/>
          </a:p>
        </p:txBody>
      </p:sp>
      <p:sp>
        <p:nvSpPr>
          <p:cNvPr id="17" name="Shape 15"/>
          <p:cNvSpPr/>
          <p:nvPr/>
        </p:nvSpPr>
        <p:spPr>
          <a:xfrm>
            <a:off x="8193024" y="5138928"/>
            <a:ext cx="3364992" cy="950976"/>
          </a:xfrm>
          <a:prstGeom prst="roundRect">
            <a:avLst>
              <a:gd name="adj" fmla="val 5769"/>
            </a:avLst>
          </a:prstGeom>
          <a:solidFill>
            <a:srgbClr val="E8F4EE"/>
          </a:solidFill>
          <a:ln w="12700">
            <a:solidFill>
              <a:srgbClr val="D7DEE8"/>
            </a:solidFill>
            <a:prstDash val="solid"/>
          </a:ln>
        </p:spPr>
      </p:sp>
      <p:sp>
        <p:nvSpPr>
          <p:cNvPr id="18" name="Text 16"/>
          <p:cNvSpPr/>
          <p:nvPr/>
        </p:nvSpPr>
        <p:spPr>
          <a:xfrm>
            <a:off x="8421624" y="5321808"/>
            <a:ext cx="2907792" cy="301752"/>
          </a:xfrm>
          <a:prstGeom prst="rect">
            <a:avLst/>
          </a:prstGeom>
          <a:noFill/>
          <a:ln/>
        </p:spPr>
        <p:txBody>
          <a:bodyPr wrap="square" lIns="0" tIns="0" rIns="0" bIns="0" rtlCol="0" anchor="ctr">
            <a:normAutofit/>
          </a:bodyPr>
          <a:lstStyle/>
          <a:p>
            <a:pPr indent="0" marL="0">
              <a:buNone/>
            </a:pPr>
            <a:r>
              <a:rPr lang="en-US" sz="1200" b="1" dirty="0">
                <a:solidFill>
                  <a:srgbClr val="112B46"/>
                </a:solidFill>
                <a:latin typeface="Calibri" pitchFamily="34" charset="0"/>
                <a:ea typeface="Calibri" pitchFamily="34" charset="-122"/>
                <a:cs typeface="Calibri" pitchFamily="34" charset="-120"/>
              </a:rPr>
              <a:t>Evidence</a:t>
            </a:r>
            <a:endParaRPr lang="en-US" sz="1200" dirty="0"/>
          </a:p>
        </p:txBody>
      </p:sp>
      <p:sp>
        <p:nvSpPr>
          <p:cNvPr id="19" name="Text 17"/>
          <p:cNvSpPr/>
          <p:nvPr/>
        </p:nvSpPr>
        <p:spPr>
          <a:xfrm>
            <a:off x="8421624" y="5742432"/>
            <a:ext cx="2907792" cy="164592"/>
          </a:xfrm>
          <a:prstGeom prst="rect">
            <a:avLst/>
          </a:prstGeom>
          <a:noFill/>
          <a:ln/>
        </p:spPr>
        <p:txBody>
          <a:bodyPr wrap="square" lIns="0" tIns="0" rIns="0" bIns="0" rtlCol="0" anchor="t">
            <a:normAutofit/>
          </a:bodyPr>
          <a:lstStyle/>
          <a:p>
            <a:pPr indent="0" marL="0">
              <a:buNone/>
            </a:pPr>
            <a:r>
              <a:rPr lang="en-US" sz="1050" dirty="0">
                <a:solidFill>
                  <a:srgbClr val="172B3A"/>
                </a:solidFill>
                <a:latin typeface="Calibri" pitchFamily="34" charset="0"/>
                <a:ea typeface="Calibri" pitchFamily="34" charset="-122"/>
                <a:cs typeface="Calibri" pitchFamily="34" charset="-120"/>
              </a:rPr>
              <a:t>Kết quả có lần ngược được đường đi?</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MINH HỌA NGUYÊN LÝ</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Demo tổng hợp · từ câu hỏi đến đường đi bằng chứng</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Ứng dụng chỉ là bề mặt minh họa; trọng tâm là phép ánh xạ từ ngôn ngữ sang graph pattern.</a:t>
            </a:r>
            <a:endParaRPr lang="en-US" sz="1250" dirty="0"/>
          </a:p>
        </p:txBody>
      </p:sp>
      <p:sp>
        <p:nvSpPr>
          <p:cNvPr id="5" name="Shape 3"/>
          <p:cNvSpPr/>
          <p:nvPr/>
        </p:nvSpPr>
        <p:spPr>
          <a:xfrm>
            <a:off x="566928" y="1691640"/>
            <a:ext cx="3154680" cy="4315968"/>
          </a:xfrm>
          <a:prstGeom prst="roundRect">
            <a:avLst>
              <a:gd name="adj" fmla="val 1739"/>
            </a:avLst>
          </a:prstGeom>
          <a:solidFill>
            <a:srgbClr val="E8F4EE"/>
          </a:solidFill>
          <a:ln w="12700">
            <a:solidFill>
              <a:srgbClr val="C4E2D1"/>
            </a:solidFill>
            <a:prstDash val="solid"/>
          </a:ln>
          <a:effectLst>
            <a:outerShdw sx="100000" sy="100000" kx="0" ky="0" algn="bl" rotWithShape="0" blurRad="25400" dist="50800" dir="2700000">
              <a:srgbClr val="26384A">
                <a:alpha val="13000"/>
              </a:srgbClr>
            </a:outerShdw>
          </a:effectLst>
        </p:spPr>
      </p:sp>
      <p:sp>
        <p:nvSpPr>
          <p:cNvPr id="6" name="Text 4"/>
          <p:cNvSpPr/>
          <p:nvPr/>
        </p:nvSpPr>
        <p:spPr>
          <a:xfrm>
            <a:off x="795528" y="1874520"/>
            <a:ext cx="2697480" cy="301752"/>
          </a:xfrm>
          <a:prstGeom prst="rect">
            <a:avLst/>
          </a:prstGeom>
          <a:noFill/>
          <a:ln/>
        </p:spPr>
        <p:txBody>
          <a:bodyPr wrap="square" lIns="0" tIns="0" rIns="0" bIns="0" rtlCol="0" anchor="ctr">
            <a:normAutofit/>
          </a:bodyPr>
          <a:lstStyle/>
          <a:p>
            <a:pPr indent="0" marL="0">
              <a:buNone/>
            </a:pPr>
            <a:r>
              <a:rPr lang="en-US" sz="1700" b="1" dirty="0">
                <a:solidFill>
                  <a:srgbClr val="3D8B66"/>
                </a:solidFill>
                <a:latin typeface="Calibri" pitchFamily="34" charset="0"/>
                <a:ea typeface="Calibri" pitchFamily="34" charset="-122"/>
                <a:cs typeface="Calibri" pitchFamily="34" charset="-120"/>
              </a:rPr>
              <a:t>① Câu hỏi tự nhiên</a:t>
            </a:r>
            <a:endParaRPr lang="en-US" sz="1700" dirty="0"/>
          </a:p>
        </p:txBody>
      </p:sp>
      <p:sp>
        <p:nvSpPr>
          <p:cNvPr id="7" name="Text 5"/>
          <p:cNvSpPr/>
          <p:nvPr/>
        </p:nvSpPr>
        <p:spPr>
          <a:xfrm>
            <a:off x="795528" y="2295144"/>
            <a:ext cx="2697480" cy="3529584"/>
          </a:xfrm>
          <a:prstGeom prst="rect">
            <a:avLst/>
          </a:prstGeom>
          <a:noFill/>
          <a:ln/>
        </p:spPr>
        <p:txBody>
          <a:bodyPr wrap="square" lIns="0" tIns="0" rIns="0" bIns="0" rtlCol="0" anchor="t">
            <a:normAutofit/>
          </a:bodyPr>
          <a:lstStyle/>
          <a:p>
            <a:pPr indent="0" marL="0">
              <a:buNone/>
            </a:pPr>
            <a:r>
              <a:rPr lang="en-US" sz="1400" dirty="0">
                <a:solidFill>
                  <a:srgbClr val="172B3A"/>
                </a:solidFill>
                <a:latin typeface="Calibri" pitchFamily="34" charset="0"/>
                <a:ea typeface="Calibri" pitchFamily="34" charset="-122"/>
                <a:cs typeface="Calibri" pitchFamily="34" charset="-120"/>
              </a:rPr>
              <a:t>Phim chung của Christian Bale và Tom Hardy?</a:t>
            </a:r>
            <a:endParaRPr lang="en-US" sz="1400" dirty="0"/>
          </a:p>
          <a:p>
            <a:pPr indent="0" marL="0">
              <a:buNone/>
            </a:pP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Quan sát:</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hai thực thể Person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quan hệ ACTED_IN</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một Movie dùng chung</a:t>
            </a:r>
            <a:endParaRPr lang="en-US" sz="1400" dirty="0"/>
          </a:p>
          <a:p>
            <a:pPr indent="0" marL="0">
              <a:buNone/>
            </a:pPr>
            <a:r>
              <a:rPr lang="en-US" sz="1400" dirty="0">
                <a:solidFill>
                  <a:srgbClr val="172B3A"/>
                </a:solidFill>
                <a:latin typeface="Calibri" pitchFamily="34" charset="0"/>
                <a:ea typeface="Calibri" pitchFamily="34" charset="-122"/>
                <a:cs typeface="Calibri" pitchFamily="34" charset="-120"/>
              </a:rPr>
              <a:t>• kết quả cần evidence</a:t>
            </a:r>
            <a:endParaRPr lang="en-US" sz="1400" dirty="0"/>
          </a:p>
        </p:txBody>
      </p:sp>
      <p:sp>
        <p:nvSpPr>
          <p:cNvPr id="8" name="Shape 6"/>
          <p:cNvSpPr/>
          <p:nvPr/>
        </p:nvSpPr>
        <p:spPr>
          <a:xfrm>
            <a:off x="3950208" y="1691640"/>
            <a:ext cx="7662672" cy="4315968"/>
          </a:xfrm>
          <a:prstGeom prst="roundRect">
            <a:avLst>
              <a:gd name="adj" fmla="val 847"/>
            </a:avLst>
          </a:prstGeom>
          <a:solidFill>
            <a:srgbClr val="112B46"/>
          </a:solidFill>
          <a:ln w="12700">
            <a:solidFill>
              <a:srgbClr val="112B46"/>
            </a:solidFill>
            <a:prstDash val="solid"/>
          </a:ln>
          <a:effectLst>
            <a:outerShdw sx="100000" sy="100000" kx="0" ky="0" algn="bl" rotWithShape="0" blurRad="25400" dist="50800" dir="2700000">
              <a:srgbClr val="26384A">
                <a:alpha val="13000"/>
              </a:srgbClr>
            </a:outerShdw>
          </a:effectLst>
        </p:spPr>
      </p:sp>
      <p:sp>
        <p:nvSpPr>
          <p:cNvPr id="9" name="Text 7"/>
          <p:cNvSpPr/>
          <p:nvPr/>
        </p:nvSpPr>
        <p:spPr>
          <a:xfrm>
            <a:off x="4187952" y="1901952"/>
            <a:ext cx="5303520" cy="228600"/>
          </a:xfrm>
          <a:prstGeom prst="rect">
            <a:avLst/>
          </a:prstGeom>
          <a:noFill/>
          <a:ln/>
        </p:spPr>
        <p:txBody>
          <a:bodyPr wrap="square" lIns="0" tIns="0" rIns="0" bIns="0" rtlCol="0" anchor="ctr"/>
          <a:lstStyle/>
          <a:p>
            <a:pPr indent="0" marL="0">
              <a:buNone/>
            </a:pPr>
            <a:r>
              <a:rPr lang="en-US" sz="950" b="1" spc="90" kern="0" dirty="0">
                <a:solidFill>
                  <a:srgbClr val="8FD0CC"/>
                </a:solidFill>
                <a:latin typeface="Arial" pitchFamily="34" charset="0"/>
                <a:ea typeface="Arial" pitchFamily="34" charset="-122"/>
                <a:cs typeface="Arial" pitchFamily="34" charset="-120"/>
              </a:rPr>
              <a:t>② ÁNH XẠ AN TOÀN VÀ KIỂM CHỨNG</a:t>
            </a:r>
            <a:endParaRPr lang="en-US" sz="950" dirty="0"/>
          </a:p>
        </p:txBody>
      </p:sp>
      <p:sp>
        <p:nvSpPr>
          <p:cNvPr id="10" name="Text 8"/>
          <p:cNvSpPr/>
          <p:nvPr/>
        </p:nvSpPr>
        <p:spPr>
          <a:xfrm>
            <a:off x="4187952" y="2286000"/>
            <a:ext cx="7059168" cy="3154680"/>
          </a:xfrm>
          <a:prstGeom prst="rect">
            <a:avLst/>
          </a:prstGeom>
          <a:noFill/>
          <a:ln/>
        </p:spPr>
        <p:txBody>
          <a:bodyPr wrap="square" lIns="0" tIns="0" rIns="0" bIns="0" rtlCol="0" anchor="ctr">
            <a:normAutofit/>
          </a:bodyPr>
          <a:lstStyle/>
          <a:p>
            <a:pPr indent="0" marL="0">
              <a:buNone/>
            </a:pPr>
            <a:r>
              <a:rPr lang="en-US" sz="1220" dirty="0">
                <a:solidFill>
                  <a:srgbClr val="D9E8F2"/>
                </a:solidFill>
                <a:latin typeface="Courier New" pitchFamily="34" charset="0"/>
                <a:ea typeface="Courier New" pitchFamily="34" charset="-122"/>
                <a:cs typeface="Courier New" pitchFamily="34" charset="-120"/>
              </a:rPr>
              <a:t>Intent: common_movies</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Entity links: tmdb:3894 · tmdb:2524</a:t>
            </a:r>
            <a:endParaRPr lang="en-US" sz="1220" dirty="0"/>
          </a:p>
          <a:p>
            <a:pPr indent="0" marL="0">
              <a:buNone/>
            </a:pP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MATCH (a:Person)-[:ACTED_IN]-&gt;(m:Movie)</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      &lt;-[:ACTED_IN]-(b:Person)</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WHERE a.person_id = $person1_id</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  AND b.person_id = $person2_id</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RETURN m.title, m.tmdb_id;</a:t>
            </a:r>
            <a:endParaRPr lang="en-US" sz="1220" dirty="0"/>
          </a:p>
          <a:p>
            <a:pPr indent="0" marL="0">
              <a:buNone/>
            </a:pP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Evidence path:</a:t>
            </a:r>
            <a:endParaRPr lang="en-US" sz="1220" dirty="0"/>
          </a:p>
          <a:p>
            <a:pPr indent="0" marL="0">
              <a:buNone/>
            </a:pPr>
            <a:r>
              <a:rPr lang="en-US" sz="1220" dirty="0">
                <a:solidFill>
                  <a:srgbClr val="D9E8F2"/>
                </a:solidFill>
                <a:latin typeface="Courier New" pitchFamily="34" charset="0"/>
                <a:ea typeface="Courier New" pitchFamily="34" charset="-122"/>
                <a:cs typeface="Courier New" pitchFamily="34" charset="-120"/>
              </a:rPr>
              <a:t>Christian Bale → The Dark Knight Rises ← Tom Hardy</a:t>
            </a:r>
            <a:endParaRPr lang="en-US" sz="1220" dirty="0"/>
          </a:p>
        </p:txBody>
      </p:sp>
      <p:sp>
        <p:nvSpPr>
          <p:cNvPr id="11" name="Text 9"/>
          <p:cNvSpPr/>
          <p:nvPr/>
        </p:nvSpPr>
        <p:spPr>
          <a:xfrm>
            <a:off x="4187952" y="5559552"/>
            <a:ext cx="7059168" cy="256032"/>
          </a:xfrm>
          <a:prstGeom prst="rect">
            <a:avLst/>
          </a:prstGeom>
          <a:noFill/>
          <a:ln/>
        </p:spPr>
        <p:txBody>
          <a:bodyPr wrap="square" lIns="0" tIns="0" rIns="0" bIns="0" rtlCol="0" anchor="ctr">
            <a:normAutofit/>
          </a:bodyPr>
          <a:lstStyle/>
          <a:p>
            <a:pPr indent="0" marL="0">
              <a:buNone/>
            </a:pPr>
            <a:r>
              <a:rPr lang="en-US" sz="1050" b="1" dirty="0">
                <a:solidFill>
                  <a:srgbClr val="8FD0CC"/>
                </a:solidFill>
                <a:latin typeface="Calibri" pitchFamily="34" charset="0"/>
                <a:ea typeface="Calibri" pitchFamily="34" charset="-122"/>
                <a:cs typeface="Calibri" pitchFamily="34" charset="-120"/>
              </a:rPr>
              <a:t>Chi tiết parser, API response và giao diện: xem Chương 4–5 của báo cáo.</a:t>
            </a:r>
            <a:endParaRPr lang="en-US" sz="10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30352" y="475488"/>
            <a:ext cx="2194560" cy="219456"/>
          </a:xfrm>
          <a:prstGeom prst="rect">
            <a:avLst/>
          </a:prstGeom>
          <a:noFill/>
          <a:ln/>
        </p:spPr>
        <p:txBody>
          <a:bodyPr wrap="square" lIns="0" tIns="0" rIns="0" bIns="0" rtlCol="0" anchor="ctr"/>
          <a:lstStyle/>
          <a:p>
            <a:pPr indent="0" marL="0">
              <a:buNone/>
            </a:pPr>
            <a:r>
              <a:rPr lang="en-US" sz="900" b="1" spc="140" kern="0" dirty="0">
                <a:solidFill>
                  <a:srgbClr val="337B80"/>
                </a:solidFill>
                <a:latin typeface="Arial" pitchFamily="34" charset="0"/>
                <a:ea typeface="Arial" pitchFamily="34" charset="-122"/>
                <a:cs typeface="Arial" pitchFamily="34" charset="-120"/>
              </a:rPr>
              <a:t>GIỚI HẠN VÀ HƯỚNG PHÁT TRIỂN</a:t>
            </a:r>
            <a:endParaRPr lang="en-US" sz="900" dirty="0"/>
          </a:p>
        </p:txBody>
      </p:sp>
      <p:sp>
        <p:nvSpPr>
          <p:cNvPr id="3" name="Text 1"/>
          <p:cNvSpPr/>
          <p:nvPr/>
        </p:nvSpPr>
        <p:spPr>
          <a:xfrm>
            <a:off x="530352" y="713232"/>
            <a:ext cx="10881360" cy="502920"/>
          </a:xfrm>
          <a:prstGeom prst="rect">
            <a:avLst/>
          </a:prstGeom>
          <a:noFill/>
          <a:ln/>
        </p:spPr>
        <p:txBody>
          <a:bodyPr wrap="square" lIns="0" tIns="0" rIns="0" bIns="0" rtlCol="0" anchor="ctr">
            <a:normAutofit/>
          </a:bodyPr>
          <a:lstStyle/>
          <a:p>
            <a:pPr indent="0" marL="0">
              <a:buNone/>
            </a:pPr>
            <a:r>
              <a:rPr lang="en-US" sz="2600" b="1" dirty="0">
                <a:solidFill>
                  <a:srgbClr val="112B46"/>
                </a:solidFill>
                <a:latin typeface="Calibri" pitchFamily="34" charset="0"/>
                <a:ea typeface="Calibri" pitchFamily="34" charset="-122"/>
                <a:cs typeface="Calibri" pitchFamily="34" charset="-120"/>
              </a:rPr>
              <a:t>Giới hạn được xem là một phần của kết quả</a:t>
            </a:r>
            <a:endParaRPr lang="en-US" sz="2600" dirty="0"/>
          </a:p>
        </p:txBody>
      </p:sp>
      <p:sp>
        <p:nvSpPr>
          <p:cNvPr id="4" name="Text 2"/>
          <p:cNvSpPr/>
          <p:nvPr/>
        </p:nvSpPr>
        <p:spPr>
          <a:xfrm>
            <a:off x="548640" y="1261872"/>
            <a:ext cx="10652760" cy="310896"/>
          </a:xfrm>
          <a:prstGeom prst="rect">
            <a:avLst/>
          </a:prstGeom>
          <a:noFill/>
          <a:ln/>
        </p:spPr>
        <p:txBody>
          <a:bodyPr wrap="square" lIns="0" tIns="0" rIns="0" bIns="0" rtlCol="0" anchor="ctr">
            <a:normAutofit/>
          </a:bodyPr>
          <a:lstStyle/>
          <a:p>
            <a:pPr indent="0" marL="0">
              <a:buNone/>
            </a:pPr>
            <a:r>
              <a:rPr lang="en-US" sz="1250" dirty="0">
                <a:solidFill>
                  <a:srgbClr val="697586"/>
                </a:solidFill>
                <a:latin typeface="Calibri" pitchFamily="34" charset="0"/>
                <a:ea typeface="Calibri" pitchFamily="34" charset="-122"/>
                <a:cs typeface="Calibri" pitchFamily="34" charset="-120"/>
              </a:rPr>
              <a:t>Các kết luận chỉ có giá trị trong ảnh chụp dữ liệu và protocol đã công bố.</a:t>
            </a:r>
            <a:endParaRPr lang="en-US" sz="1250" dirty="0"/>
          </a:p>
        </p:txBody>
      </p:sp>
      <p:sp>
        <p:nvSpPr>
          <p:cNvPr id="5" name="Shape 3"/>
          <p:cNvSpPr/>
          <p:nvPr/>
        </p:nvSpPr>
        <p:spPr>
          <a:xfrm>
            <a:off x="621792" y="1737360"/>
            <a:ext cx="2011680" cy="822960"/>
          </a:xfrm>
          <a:prstGeom prst="roundRect">
            <a:avLst>
              <a:gd name="adj" fmla="val 4444"/>
            </a:avLst>
          </a:prstGeom>
          <a:solidFill>
            <a:srgbClr val="FBEAEC"/>
          </a:solidFill>
          <a:ln w="12700">
            <a:solidFill>
              <a:srgbClr val="E9C3C6"/>
            </a:solidFill>
            <a:prstDash val="solid"/>
          </a:ln>
        </p:spPr>
      </p:sp>
      <p:sp>
        <p:nvSpPr>
          <p:cNvPr id="6" name="Text 4"/>
          <p:cNvSpPr/>
          <p:nvPr/>
        </p:nvSpPr>
        <p:spPr>
          <a:xfrm>
            <a:off x="841248" y="1975104"/>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QA đóng</a:t>
            </a:r>
            <a:endParaRPr lang="en-US" sz="1500" dirty="0"/>
          </a:p>
        </p:txBody>
      </p:sp>
      <p:sp>
        <p:nvSpPr>
          <p:cNvPr id="7" name="Text 5"/>
          <p:cNvSpPr/>
          <p:nvPr/>
        </p:nvSpPr>
        <p:spPr>
          <a:xfrm>
            <a:off x="2926080" y="1828800"/>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Chín ý định; chưa phải open-domain QA.</a:t>
            </a:r>
            <a:endParaRPr lang="en-US" sz="1220" dirty="0"/>
          </a:p>
        </p:txBody>
      </p:sp>
      <p:sp>
        <p:nvSpPr>
          <p:cNvPr id="8" name="Shape 6"/>
          <p:cNvSpPr/>
          <p:nvPr/>
        </p:nvSpPr>
        <p:spPr>
          <a:xfrm>
            <a:off x="6967728" y="2148840"/>
            <a:ext cx="685800" cy="0"/>
          </a:xfrm>
          <a:prstGeom prst="line">
            <a:avLst/>
          </a:prstGeom>
          <a:noFill/>
          <a:ln w="17780">
            <a:solidFill>
              <a:srgbClr val="697586"/>
            </a:solidFill>
            <a:prstDash val="solid"/>
            <a:tailEnd type="triangle"/>
          </a:ln>
        </p:spPr>
      </p:sp>
      <p:sp>
        <p:nvSpPr>
          <p:cNvPr id="9" name="Text 7"/>
          <p:cNvSpPr/>
          <p:nvPr/>
        </p:nvSpPr>
        <p:spPr>
          <a:xfrm>
            <a:off x="7845552" y="1828800"/>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intent dựa trên câu hỏi thực tế.</a:t>
            </a:r>
            <a:endParaRPr lang="en-US" sz="1220" dirty="0"/>
          </a:p>
        </p:txBody>
      </p:sp>
      <p:sp>
        <p:nvSpPr>
          <p:cNvPr id="10" name="Shape 8"/>
          <p:cNvSpPr/>
          <p:nvPr/>
        </p:nvSpPr>
        <p:spPr>
          <a:xfrm>
            <a:off x="621792" y="2852928"/>
            <a:ext cx="2011680" cy="822960"/>
          </a:xfrm>
          <a:prstGeom prst="roundRect">
            <a:avLst>
              <a:gd name="adj" fmla="val 4444"/>
            </a:avLst>
          </a:prstGeom>
          <a:solidFill>
            <a:srgbClr val="FBEAEC"/>
          </a:solidFill>
          <a:ln w="12700">
            <a:solidFill>
              <a:srgbClr val="E9C3C6"/>
            </a:solidFill>
            <a:prstDash val="solid"/>
          </a:ln>
        </p:spPr>
      </p:sp>
      <p:sp>
        <p:nvSpPr>
          <p:cNvPr id="11" name="Text 9"/>
          <p:cNvSpPr/>
          <p:nvPr/>
        </p:nvSpPr>
        <p:spPr>
          <a:xfrm>
            <a:off x="841248" y="3090672"/>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Silver corpus</a:t>
            </a:r>
            <a:endParaRPr lang="en-US" sz="1500" dirty="0"/>
          </a:p>
        </p:txBody>
      </p:sp>
      <p:sp>
        <p:nvSpPr>
          <p:cNvPr id="12" name="Text 10"/>
          <p:cNvSpPr/>
          <p:nvPr/>
        </p:nvSpPr>
        <p:spPr>
          <a:xfrm>
            <a:off x="2926080" y="2944368"/>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Tất định và có provenance nhưng chưa có người chấm độc lập.</a:t>
            </a:r>
            <a:endParaRPr lang="en-US" sz="1220" dirty="0"/>
          </a:p>
        </p:txBody>
      </p:sp>
      <p:sp>
        <p:nvSpPr>
          <p:cNvPr id="13" name="Shape 11"/>
          <p:cNvSpPr/>
          <p:nvPr/>
        </p:nvSpPr>
        <p:spPr>
          <a:xfrm>
            <a:off x="6967728" y="3264408"/>
            <a:ext cx="685800" cy="0"/>
          </a:xfrm>
          <a:prstGeom prst="line">
            <a:avLst/>
          </a:prstGeom>
          <a:noFill/>
          <a:ln w="17780">
            <a:solidFill>
              <a:srgbClr val="697586"/>
            </a:solidFill>
            <a:prstDash val="solid"/>
            <a:tailEnd type="triangle"/>
          </a:ln>
        </p:spPr>
      </p:sp>
      <p:sp>
        <p:nvSpPr>
          <p:cNvPr id="14" name="Text 12"/>
          <p:cNvSpPr/>
          <p:nvPr/>
        </p:nvSpPr>
        <p:spPr>
          <a:xfrm>
            <a:off x="7845552" y="2944368"/>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Bổ sung đánh giá người dùng và inter-rater review.</a:t>
            </a:r>
            <a:endParaRPr lang="en-US" sz="1220" dirty="0"/>
          </a:p>
        </p:txBody>
      </p:sp>
      <p:sp>
        <p:nvSpPr>
          <p:cNvPr id="15" name="Shape 13"/>
          <p:cNvSpPr/>
          <p:nvPr/>
        </p:nvSpPr>
        <p:spPr>
          <a:xfrm>
            <a:off x="621792" y="3968496"/>
            <a:ext cx="2011680" cy="822960"/>
          </a:xfrm>
          <a:prstGeom prst="roundRect">
            <a:avLst>
              <a:gd name="adj" fmla="val 4444"/>
            </a:avLst>
          </a:prstGeom>
          <a:solidFill>
            <a:srgbClr val="FBEAEC"/>
          </a:solidFill>
          <a:ln w="12700">
            <a:solidFill>
              <a:srgbClr val="E9C3C6"/>
            </a:solidFill>
            <a:prstDash val="solid"/>
          </a:ln>
        </p:spPr>
      </p:sp>
      <p:sp>
        <p:nvSpPr>
          <p:cNvPr id="16" name="Text 14"/>
          <p:cNvSpPr/>
          <p:nvPr/>
        </p:nvSpPr>
        <p:spPr>
          <a:xfrm>
            <a:off x="841248" y="4206240"/>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Quy mô</a:t>
            </a:r>
            <a:endParaRPr lang="en-US" sz="1500" dirty="0"/>
          </a:p>
        </p:txBody>
      </p:sp>
      <p:sp>
        <p:nvSpPr>
          <p:cNvPr id="17" name="Text 15"/>
          <p:cNvSpPr/>
          <p:nvPr/>
        </p:nvSpPr>
        <p:spPr>
          <a:xfrm>
            <a:off x="2926080" y="4059936"/>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Tối đa 4.999 phim; chưa đo concurrent/cold-cache.</a:t>
            </a:r>
            <a:endParaRPr lang="en-US" sz="1220" dirty="0"/>
          </a:p>
        </p:txBody>
      </p:sp>
      <p:sp>
        <p:nvSpPr>
          <p:cNvPr id="18" name="Shape 16"/>
          <p:cNvSpPr/>
          <p:nvPr/>
        </p:nvSpPr>
        <p:spPr>
          <a:xfrm>
            <a:off x="6967728" y="4379976"/>
            <a:ext cx="685800" cy="0"/>
          </a:xfrm>
          <a:prstGeom prst="line">
            <a:avLst/>
          </a:prstGeom>
          <a:noFill/>
          <a:ln w="17780">
            <a:solidFill>
              <a:srgbClr val="697586"/>
            </a:solidFill>
            <a:prstDash val="solid"/>
            <a:tailEnd type="triangle"/>
          </a:ln>
        </p:spPr>
      </p:sp>
      <p:sp>
        <p:nvSpPr>
          <p:cNvPr id="19" name="Text 17"/>
          <p:cNvSpPr/>
          <p:nvPr/>
        </p:nvSpPr>
        <p:spPr>
          <a:xfrm>
            <a:off x="7845552" y="4059936"/>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Thử nghiệm graph lớn hơn và tải đồng thời.</a:t>
            </a:r>
            <a:endParaRPr lang="en-US" sz="1220" dirty="0"/>
          </a:p>
        </p:txBody>
      </p:sp>
      <p:sp>
        <p:nvSpPr>
          <p:cNvPr id="20" name="Shape 18"/>
          <p:cNvSpPr/>
          <p:nvPr/>
        </p:nvSpPr>
        <p:spPr>
          <a:xfrm>
            <a:off x="621792" y="5084064"/>
            <a:ext cx="2011680" cy="822960"/>
          </a:xfrm>
          <a:prstGeom prst="roundRect">
            <a:avLst>
              <a:gd name="adj" fmla="val 4444"/>
            </a:avLst>
          </a:prstGeom>
          <a:solidFill>
            <a:srgbClr val="FBEAEC"/>
          </a:solidFill>
          <a:ln w="12700">
            <a:solidFill>
              <a:srgbClr val="E9C3C6"/>
            </a:solidFill>
            <a:prstDash val="solid"/>
          </a:ln>
        </p:spPr>
      </p:sp>
      <p:sp>
        <p:nvSpPr>
          <p:cNvPr id="21" name="Text 19"/>
          <p:cNvSpPr/>
          <p:nvPr/>
        </p:nvSpPr>
        <p:spPr>
          <a:xfrm>
            <a:off x="841248" y="5321808"/>
            <a:ext cx="1554480" cy="256032"/>
          </a:xfrm>
          <a:prstGeom prst="rect">
            <a:avLst/>
          </a:prstGeom>
          <a:noFill/>
          <a:ln/>
        </p:spPr>
        <p:txBody>
          <a:bodyPr wrap="square" lIns="0" tIns="0" rIns="0" bIns="0" rtlCol="0" anchor="ctr"/>
          <a:lstStyle/>
          <a:p>
            <a:pPr algn="ctr" indent="0" marL="0">
              <a:buNone/>
            </a:pPr>
            <a:r>
              <a:rPr lang="en-US" sz="1500" b="1" dirty="0">
                <a:solidFill>
                  <a:srgbClr val="B94D52"/>
                </a:solidFill>
                <a:latin typeface="Calibri" pitchFamily="34" charset="0"/>
                <a:ea typeface="Calibri" pitchFamily="34" charset="-122"/>
                <a:cs typeface="Calibri" pitchFamily="34" charset="-120"/>
              </a:rPr>
              <a:t>Độ phủ</a:t>
            </a:r>
            <a:endParaRPr lang="en-US" sz="1500" dirty="0"/>
          </a:p>
        </p:txBody>
      </p:sp>
      <p:sp>
        <p:nvSpPr>
          <p:cNvPr id="22" name="Text 20"/>
          <p:cNvSpPr/>
          <p:nvPr/>
        </p:nvSpPr>
        <p:spPr>
          <a:xfrm>
            <a:off x="2926080" y="5175504"/>
            <a:ext cx="3886200" cy="621792"/>
          </a:xfrm>
          <a:prstGeom prst="rect">
            <a:avLst/>
          </a:prstGeom>
          <a:noFill/>
          <a:ln/>
        </p:spPr>
        <p:txBody>
          <a:bodyPr wrap="square" lIns="0" tIns="0" rIns="0" bIns="0" rtlCol="0" anchor="ctr">
            <a:normAutofit/>
          </a:bodyPr>
          <a:lstStyle/>
          <a:p>
            <a:pPr indent="0" marL="0">
              <a:buNone/>
            </a:pPr>
            <a:r>
              <a:rPr lang="en-US" sz="1220" dirty="0">
                <a:solidFill>
                  <a:srgbClr val="172B3A"/>
                </a:solidFill>
                <a:latin typeface="Calibri" pitchFamily="34" charset="0"/>
                <a:ea typeface="Calibri" pitchFamily="34" charset="-122"/>
                <a:cs typeface="Calibri" pitchFamily="34" charset="-120"/>
              </a:rPr>
              <a:t>Top-20 cast; IMDb mới enrich Movie.</a:t>
            </a:r>
            <a:endParaRPr lang="en-US" sz="1220" dirty="0"/>
          </a:p>
        </p:txBody>
      </p:sp>
      <p:sp>
        <p:nvSpPr>
          <p:cNvPr id="23" name="Shape 21"/>
          <p:cNvSpPr/>
          <p:nvPr/>
        </p:nvSpPr>
        <p:spPr>
          <a:xfrm>
            <a:off x="6967728" y="5495544"/>
            <a:ext cx="685800" cy="0"/>
          </a:xfrm>
          <a:prstGeom prst="line">
            <a:avLst/>
          </a:prstGeom>
          <a:noFill/>
          <a:ln w="17780">
            <a:solidFill>
              <a:srgbClr val="697586"/>
            </a:solidFill>
            <a:prstDash val="solid"/>
            <a:tailEnd type="triangle"/>
          </a:ln>
        </p:spPr>
      </p:sp>
      <p:sp>
        <p:nvSpPr>
          <p:cNvPr id="24" name="Text 22"/>
          <p:cNvSpPr/>
          <p:nvPr/>
        </p:nvSpPr>
        <p:spPr>
          <a:xfrm>
            <a:off x="7845552" y="5175504"/>
            <a:ext cx="3611880" cy="621792"/>
          </a:xfrm>
          <a:prstGeom prst="rect">
            <a:avLst/>
          </a:prstGeom>
          <a:noFill/>
          <a:ln/>
        </p:spPr>
        <p:txBody>
          <a:bodyPr wrap="square" lIns="0" tIns="0" rIns="0" bIns="0" rtlCol="0" anchor="ctr">
            <a:normAutofit/>
          </a:bodyPr>
          <a:lstStyle/>
          <a:p>
            <a:pPr indent="0" marL="0">
              <a:buNone/>
            </a:pPr>
            <a:r>
              <a:rPr lang="en-US" sz="1220" b="1" dirty="0">
                <a:solidFill>
                  <a:srgbClr val="3D8B66"/>
                </a:solidFill>
                <a:latin typeface="Calibri" pitchFamily="34" charset="0"/>
                <a:ea typeface="Calibri" pitchFamily="34" charset="-122"/>
                <a:cs typeface="Calibri" pitchFamily="34" charset="-120"/>
              </a:rPr>
              <a:t>Mở rộng credits và liên kết Person/Wikidata.</a:t>
            </a:r>
            <a:endParaRPr lang="en-US" sz="1220" dirty="0"/>
          </a:p>
        </p:txBody>
      </p:sp>
      <p:sp>
        <p:nvSpPr>
          <p:cNvPr id="25" name="Text 23"/>
          <p:cNvSpPr/>
          <p:nvPr/>
        </p:nvSpPr>
        <p:spPr>
          <a:xfrm>
            <a:off x="2926080" y="6144768"/>
            <a:ext cx="2286000" cy="201168"/>
          </a:xfrm>
          <a:prstGeom prst="rect">
            <a:avLst/>
          </a:prstGeom>
          <a:noFill/>
          <a:ln/>
        </p:spPr>
        <p:txBody>
          <a:bodyPr wrap="square" lIns="0" tIns="0" rIns="0" bIns="0" rtlCol="0" anchor="ctr"/>
          <a:lstStyle/>
          <a:p>
            <a:pPr indent="0" marL="0">
              <a:buNone/>
            </a:pPr>
            <a:r>
              <a:rPr lang="en-US" sz="850" b="1" spc="120" kern="0" dirty="0">
                <a:solidFill>
                  <a:srgbClr val="B94D52"/>
                </a:solidFill>
                <a:latin typeface="Arial" pitchFamily="34" charset="0"/>
                <a:ea typeface="Arial" pitchFamily="34" charset="-122"/>
                <a:cs typeface="Arial" pitchFamily="34" charset="-120"/>
              </a:rPr>
              <a:t>GIỚI HẠN HIỆN TẠI</a:t>
            </a:r>
            <a:endParaRPr lang="en-US" sz="850" dirty="0"/>
          </a:p>
        </p:txBody>
      </p:sp>
      <p:sp>
        <p:nvSpPr>
          <p:cNvPr id="26" name="Text 24"/>
          <p:cNvSpPr/>
          <p:nvPr/>
        </p:nvSpPr>
        <p:spPr>
          <a:xfrm>
            <a:off x="7845552" y="6144768"/>
            <a:ext cx="2286000" cy="201168"/>
          </a:xfrm>
          <a:prstGeom prst="rect">
            <a:avLst/>
          </a:prstGeom>
          <a:noFill/>
          <a:ln/>
        </p:spPr>
        <p:txBody>
          <a:bodyPr wrap="square" lIns="0" tIns="0" rIns="0" bIns="0" rtlCol="0" anchor="ctr"/>
          <a:lstStyle/>
          <a:p>
            <a:pPr indent="0" marL="0">
              <a:buNone/>
            </a:pPr>
            <a:r>
              <a:rPr lang="en-US" sz="850" b="1" spc="120" kern="0" dirty="0">
                <a:solidFill>
                  <a:srgbClr val="3D8B66"/>
                </a:solidFill>
                <a:latin typeface="Arial" pitchFamily="34" charset="0"/>
                <a:ea typeface="Arial" pitchFamily="34" charset="-122"/>
                <a:cs typeface="Arial" pitchFamily="34" charset="-120"/>
              </a:rPr>
              <a:t>HƯỚNG PHÁT TRIỂN</a:t>
            </a:r>
            <a:endParaRPr lang="en-US" sz="850" dirty="0"/>
          </a:p>
        </p:txBody>
      </p:sp>
      <p:sp>
        <p:nvSpPr>
          <p:cNvPr id="25" name="Slide Number Placeholder 0"/>
          <p:cNvSpPr>
            <a:spLocks noGrp="1"/>
          </p:cNvSpPr>
          <p:nvPr>
            <p:ph type="sldNum" sz="quarter" idx="4294967295"/>
          </p:nvPr>
        </p:nvSpPr>
        <p:spPr>
          <a:xfrm>
            <a:off x="11631168" y="6473952"/>
            <a:ext cx="22860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697586"/>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2B46"/>
        </a:solidFill>
      </p:bgPr>
    </p:bg>
    <p:spTree>
      <p:nvGrpSpPr>
        <p:cNvPr id="1" name=""/>
        <p:cNvGrpSpPr/>
        <p:nvPr/>
      </p:nvGrpSpPr>
      <p:grpSpPr>
        <a:xfrm>
          <a:off x="0" y="0"/>
          <a:ext cx="0" cy="0"/>
          <a:chOff x="0" y="0"/>
          <a:chExt cx="0" cy="0"/>
        </a:xfrm>
      </p:grpSpPr>
      <p:sp>
        <p:nvSpPr>
          <p:cNvPr id="2" name="Shape 0"/>
          <p:cNvSpPr/>
          <p:nvPr/>
        </p:nvSpPr>
        <p:spPr>
          <a:xfrm>
            <a:off x="9784080" y="-640080"/>
            <a:ext cx="3200400" cy="3200400"/>
          </a:xfrm>
          <a:prstGeom prst="ellipse">
            <a:avLst/>
          </a:prstGeom>
          <a:solidFill>
            <a:srgbClr val="337B80">
              <a:alpha val="28000"/>
            </a:srgbClr>
          </a:solidFill>
          <a:ln w="12700">
            <a:solidFill>
              <a:srgbClr val="337B80">
                <a:alpha val="0"/>
              </a:srgbClr>
            </a:solidFill>
            <a:prstDash val="solid"/>
          </a:ln>
        </p:spPr>
      </p:sp>
      <p:sp>
        <p:nvSpPr>
          <p:cNvPr id="3" name="Shape 1"/>
          <p:cNvSpPr/>
          <p:nvPr/>
        </p:nvSpPr>
        <p:spPr>
          <a:xfrm>
            <a:off x="-640080" y="5303520"/>
            <a:ext cx="2103120" cy="2103120"/>
          </a:xfrm>
          <a:prstGeom prst="ellipse">
            <a:avLst/>
          </a:prstGeom>
          <a:solidFill>
            <a:srgbClr val="725B9B">
              <a:alpha val="30000"/>
            </a:srgbClr>
          </a:solidFill>
          <a:ln w="12700">
            <a:solidFill>
              <a:srgbClr val="725B9B">
                <a:alpha val="0"/>
              </a:srgbClr>
            </a:solidFill>
            <a:prstDash val="solid"/>
          </a:ln>
        </p:spPr>
      </p:sp>
      <p:sp>
        <p:nvSpPr>
          <p:cNvPr id="4" name="Text 2"/>
          <p:cNvSpPr/>
          <p:nvPr/>
        </p:nvSpPr>
        <p:spPr>
          <a:xfrm>
            <a:off x="685800" y="621792"/>
            <a:ext cx="2286000" cy="256032"/>
          </a:xfrm>
          <a:prstGeom prst="rect">
            <a:avLst/>
          </a:prstGeom>
          <a:noFill/>
          <a:ln/>
        </p:spPr>
        <p:txBody>
          <a:bodyPr wrap="square" lIns="0" tIns="0" rIns="0" bIns="0" rtlCol="0" anchor="ctr"/>
          <a:lstStyle/>
          <a:p>
            <a:pPr indent="0" marL="0">
              <a:buNone/>
            </a:pPr>
            <a:r>
              <a:rPr lang="en-US" sz="1000" b="1" spc="170" kern="0" dirty="0">
                <a:solidFill>
                  <a:srgbClr val="8FD0CC"/>
                </a:solidFill>
                <a:latin typeface="Arial" pitchFamily="34" charset="0"/>
                <a:ea typeface="Arial" pitchFamily="34" charset="-122"/>
                <a:cs typeface="Arial" pitchFamily="34" charset="-120"/>
              </a:rPr>
              <a:t>KẾT LUẬN</a:t>
            </a:r>
            <a:endParaRPr lang="en-US" sz="1000" dirty="0"/>
          </a:p>
        </p:txBody>
      </p:sp>
      <p:sp>
        <p:nvSpPr>
          <p:cNvPr id="5" name="Text 3"/>
          <p:cNvSpPr/>
          <p:nvPr/>
        </p:nvSpPr>
        <p:spPr>
          <a:xfrm>
            <a:off x="685800" y="1078992"/>
            <a:ext cx="8412480" cy="1143000"/>
          </a:xfrm>
          <a:prstGeom prst="rect">
            <a:avLst/>
          </a:prstGeom>
          <a:noFill/>
          <a:ln/>
        </p:spPr>
        <p:txBody>
          <a:bodyPr wrap="square" lIns="0" tIns="0" rIns="0" bIns="0" rtlCol="0" anchor="ctr">
            <a:normAutofit/>
          </a:bodyPr>
          <a:lstStyle/>
          <a:p>
            <a:pPr indent="0" marL="0">
              <a:buNone/>
            </a:pPr>
            <a:r>
              <a:rPr lang="en-US" sz="3100" b="1" dirty="0">
                <a:solidFill>
                  <a:srgbClr val="FFFFFF"/>
                </a:solidFill>
                <a:latin typeface="Calibri" pitchFamily="34" charset="0"/>
                <a:ea typeface="Calibri" pitchFamily="34" charset="-122"/>
                <a:cs typeface="Calibri" pitchFamily="34" charset="-120"/>
              </a:rPr>
              <a:t>Đồ thị tri thức tạo giá trị khi</a:t>
            </a:r>
            <a:endParaRPr lang="en-US" sz="3100" dirty="0"/>
          </a:p>
          <a:p>
            <a:pPr indent="0" marL="0">
              <a:buNone/>
            </a:pPr>
            <a:r>
              <a:rPr lang="en-US" sz="3100" b="1" dirty="0">
                <a:solidFill>
                  <a:srgbClr val="FFFFFF"/>
                </a:solidFill>
                <a:latin typeface="Calibri" pitchFamily="34" charset="0"/>
                <a:ea typeface="Calibri" pitchFamily="34" charset="-122"/>
                <a:cs typeface="Calibri" pitchFamily="34" charset="-120"/>
              </a:rPr>
              <a:t>mỗi quan hệ đều có thể được kiểm chứng</a:t>
            </a:r>
            <a:endParaRPr lang="en-US" sz="3100" dirty="0"/>
          </a:p>
        </p:txBody>
      </p:sp>
      <p:sp>
        <p:nvSpPr>
          <p:cNvPr id="6" name="Text 4"/>
          <p:cNvSpPr/>
          <p:nvPr/>
        </p:nvSpPr>
        <p:spPr>
          <a:xfrm>
            <a:off x="713232"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713232"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Tích hợp đúng</a:t>
            </a:r>
            <a:endParaRPr lang="en-US" sz="2000" dirty="0"/>
          </a:p>
        </p:txBody>
      </p:sp>
      <p:sp>
        <p:nvSpPr>
          <p:cNvPr id="8" name="Text 6"/>
          <p:cNvSpPr/>
          <p:nvPr/>
        </p:nvSpPr>
        <p:spPr>
          <a:xfrm>
            <a:off x="713232"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TMDB + IMDb, stable ID, provenance và quy trình tái lập.</a:t>
            </a:r>
            <a:endParaRPr lang="en-US" sz="1350" dirty="0"/>
          </a:p>
        </p:txBody>
      </p:sp>
      <p:sp>
        <p:nvSpPr>
          <p:cNvPr id="9" name="Text 7"/>
          <p:cNvSpPr/>
          <p:nvPr/>
        </p:nvSpPr>
        <p:spPr>
          <a:xfrm>
            <a:off x="4425696"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02</a:t>
            </a:r>
            <a:endParaRPr lang="en-US" sz="1200" dirty="0"/>
          </a:p>
        </p:txBody>
      </p:sp>
      <p:sp>
        <p:nvSpPr>
          <p:cNvPr id="10" name="Text 8"/>
          <p:cNvSpPr/>
          <p:nvPr/>
        </p:nvSpPr>
        <p:spPr>
          <a:xfrm>
            <a:off x="4425696"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Truy vấn được</a:t>
            </a:r>
            <a:endParaRPr lang="en-US" sz="2000" dirty="0"/>
          </a:p>
        </p:txBody>
      </p:sp>
      <p:sp>
        <p:nvSpPr>
          <p:cNvPr id="11" name="Text 9"/>
          <p:cNvSpPr/>
          <p:nvPr/>
        </p:nvSpPr>
        <p:spPr>
          <a:xfrm>
            <a:off x="4425696"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Cypher multi-hop và derived fact có bằng chứng.</a:t>
            </a:r>
            <a:endParaRPr lang="en-US" sz="1350" dirty="0"/>
          </a:p>
        </p:txBody>
      </p:sp>
      <p:sp>
        <p:nvSpPr>
          <p:cNvPr id="12" name="Text 10"/>
          <p:cNvSpPr/>
          <p:nvPr/>
        </p:nvSpPr>
        <p:spPr>
          <a:xfrm>
            <a:off x="8138160" y="3246120"/>
            <a:ext cx="411480" cy="256032"/>
          </a:xfrm>
          <a:prstGeom prst="rect">
            <a:avLst/>
          </a:prstGeom>
          <a:noFill/>
          <a:ln/>
        </p:spPr>
        <p:txBody>
          <a:bodyPr wrap="square" lIns="0" tIns="0" rIns="0" bIns="0" rtlCol="0" anchor="ctr"/>
          <a:lstStyle/>
          <a:p>
            <a:pPr indent="0" marL="0">
              <a:buNone/>
            </a:pPr>
            <a:r>
              <a:rPr lang="en-US" sz="1200" b="1" dirty="0">
                <a:solidFill>
                  <a:srgbClr val="8FD0CC"/>
                </a:solidFill>
                <a:latin typeface="Arial" pitchFamily="34" charset="0"/>
                <a:ea typeface="Arial" pitchFamily="34" charset="-122"/>
                <a:cs typeface="Arial" pitchFamily="34" charset="-120"/>
              </a:rPr>
              <a:t>03</a:t>
            </a:r>
            <a:endParaRPr lang="en-US" sz="1200" dirty="0"/>
          </a:p>
        </p:txBody>
      </p:sp>
      <p:sp>
        <p:nvSpPr>
          <p:cNvPr id="13" name="Text 11"/>
          <p:cNvSpPr/>
          <p:nvPr/>
        </p:nvSpPr>
        <p:spPr>
          <a:xfrm>
            <a:off x="8138160" y="3685032"/>
            <a:ext cx="3063240" cy="32004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Giải thích được</a:t>
            </a:r>
            <a:endParaRPr lang="en-US" sz="2000" dirty="0"/>
          </a:p>
        </p:txBody>
      </p:sp>
      <p:sp>
        <p:nvSpPr>
          <p:cNvPr id="14" name="Text 12"/>
          <p:cNvSpPr/>
          <p:nvPr/>
        </p:nvSpPr>
        <p:spPr>
          <a:xfrm>
            <a:off x="8138160" y="4187952"/>
            <a:ext cx="2971800" cy="749808"/>
          </a:xfrm>
          <a:prstGeom prst="rect">
            <a:avLst/>
          </a:prstGeom>
          <a:noFill/>
          <a:ln/>
        </p:spPr>
        <p:txBody>
          <a:bodyPr wrap="square" lIns="0" tIns="0" rIns="0" bIns="0" rtlCol="0" anchor="ctr">
            <a:normAutofit/>
          </a:bodyPr>
          <a:lstStyle/>
          <a:p>
            <a:pPr indent="0" marL="0">
              <a:buNone/>
            </a:pPr>
            <a:r>
              <a:rPr lang="en-US" sz="1350" dirty="0">
                <a:solidFill>
                  <a:srgbClr val="C9D8E4"/>
                </a:solidFill>
                <a:latin typeface="Calibri" pitchFamily="34" charset="0"/>
                <a:ea typeface="Calibri" pitchFamily="34" charset="-122"/>
                <a:cs typeface="Calibri" pitchFamily="34" charset="-120"/>
              </a:rPr>
              <a:t>QA và gợi ý trả cả thực thể, path và đóng góp điểm.</a:t>
            </a:r>
            <a:endParaRPr lang="en-US" sz="1350" dirty="0"/>
          </a:p>
        </p:txBody>
      </p:sp>
      <p:sp>
        <p:nvSpPr>
          <p:cNvPr id="15" name="Text 13"/>
          <p:cNvSpPr/>
          <p:nvPr/>
        </p:nvSpPr>
        <p:spPr>
          <a:xfrm>
            <a:off x="713232" y="5943600"/>
            <a:ext cx="7772400" cy="365760"/>
          </a:xfrm>
          <a:prstGeom prst="rect">
            <a:avLst/>
          </a:prstGeom>
          <a:noFill/>
          <a:ln/>
        </p:spPr>
        <p:txBody>
          <a:bodyPr wrap="square" lIns="0" tIns="0" rIns="0" bIns="0" rtlCol="0" anchor="ctr"/>
          <a:lstStyle/>
          <a:p>
            <a:pPr indent="0" marL="0">
              <a:buNone/>
            </a:pPr>
            <a:r>
              <a:rPr lang="en-US" sz="1600" b="1" dirty="0">
                <a:solidFill>
                  <a:srgbClr val="8FD0CC"/>
                </a:solidFill>
                <a:latin typeface="Calibri" pitchFamily="34" charset="0"/>
                <a:ea typeface="Calibri" pitchFamily="34" charset="-122"/>
                <a:cs typeface="Calibri" pitchFamily="34" charset="-120"/>
              </a:rPr>
              <a:t>Xin cảm ơn thầy. Em xin lắng nghe câu hỏi và phản biện.</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Đại học Bách khoa Hà Nội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Knowledge Graph: Nền tảng lý thuyết và nghiên cứu tình huống phim</dc:title>
  <dc:subject>Cơ sở lý thuyết Knowledge Graph và nghiên cứu tình huống phim</dc:subject>
  <dc:creator>Hoàng Kim Khánh</dc:creator>
  <cp:lastModifiedBy>Hoàng Kim Khánh</cp:lastModifiedBy>
  <cp:revision>1</cp:revision>
  <dcterms:created xsi:type="dcterms:W3CDTF">2026-07-25T09:14:44Z</dcterms:created>
  <dcterms:modified xsi:type="dcterms:W3CDTF">2026-07-25T09:14:44Z</dcterms:modified>
</cp:coreProperties>
</file>