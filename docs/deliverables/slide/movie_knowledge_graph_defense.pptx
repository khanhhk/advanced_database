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Giá trị</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QA</c:v>
                  </c:pt>
                  <c:pt idx="1">
                    <c:v>ER F1</c:v>
                  </c:pt>
                  <c:pt idx="2">
                    <c:v>Co-star</c:v>
                  </c:pt>
                  <c:pt idx="3">
                    <c:v>P@10</c:v>
                  </c:pt>
                  <c:pt idx="4">
                    <c:v>NDCG@10</c:v>
                  </c:pt>
                </c:lvl>
              </c:multiLvlStrCache>
            </c:multiLvlStrRef>
          </c:cat>
          <c:val>
            <c:numRef>
              <c:f>Sheet1!$B$2:$B$6</c:f>
              <c:numCache>
                <c:formatCode>General</c:formatCode>
                <c:ptCount val="5"/>
                <c:pt idx="0">
                  <c:v>1</c:v>
                </c:pt>
                <c:pt idx="1">
                  <c:v>0.966</c:v>
                </c:pt>
                <c:pt idx="2">
                  <c:v>1</c:v>
                </c:pt>
                <c:pt idx="3">
                  <c:v>0.635</c:v>
                </c:pt>
                <c:pt idx="4">
                  <c:v>0.672</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w="12700" cap="flat">
          <a:solidFill>
            <a:srgbClr val="D7DEE8"/>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thầy, bài trình bày tập trung vào nền tảng Knowledge Graph theo mô hình Property Graph: thực thể, quan hệ, schema, identity, truy vấn và suy diễn. Movie Knowledge Graph chỉ đóng vai trò nghiên cứu tình huống để kiểm chứng các nguyên lý. Chi tiết triển khai ứng dụng được trình bày trong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phân biệt bốn mức. Dữ liệu là các ký hiệu rời rạc. Thông tin thêm ngữ cảnh. Tri thức nối các thực thể bằng một quan hệ có nghĩa. Khi có schema và quy tắc, hệ thống còn có thể suy ra sự kiện mới. Knowledge Graph chủ yếu hoạt động ở hai tầng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có một định nghĩa duy nhất được mọi tài liệu dùng giống hệt nhau. Trong phạm vi này, Knowledge Graph là mô hình đồ thị của các thực thể có định danh, các quan hệ có ngữ nghĩa và schema đủ để máy diễn giải. Mệnh đề cơ bản có thể đọc theo subject–predicate–object.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 mô tả label, loại quan hệ, thuộc tính và constraint chung. Instance chứa các node, edge và fact cụ thể, ví dụ Nolan DIRECTED Inception. Knowledge Graph kết hợp mô hình và dữ liệu thực tế để truy vấn.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chỉ minh họa cấu trúc chung của Property Graph: node có label và property, relationship có loại, hướng và cũng có property. Ví dụ ACTED_IN cho thấy character và cast_order mô tả chính lần một Person tham gia một Movie, nên chúng thuộc cạnh. Schema Movie Knowledge Graph đầy đủ sẽ được trình bày riêng ở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khái niệm cấu trúc này đứng sau các năng lực chính của graph. Neighborhood hỗ trợ similarity và common neighbor; path hỗ trợ multi-hop và shortest path; subgraph gom đúng phần ngữ cảnh cần để giải thích hoặc đánh giá. Đây là khác biệt quan trọng so với cách chỉ nhìn từng bản ghi riêng lẻ.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nguyên tắc này là tiêu chí xuyên suốt của project. Identity tránh nhập nhằng; schema tạo ngữ nghĩa chung; provenance cho phép kiểm chứng; competency questions bảo đảm mô hình phục vụ mục tiêu. Đây cũng là lý do Knowledge Graph không nên được định nghĩa đơn giản là một mạng node và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 khái niệm cần được nối với cơ chế bảo đảm vận hành. Uniqueness constraint bảo vệ identity; pipeline validation kiểm tra các quy tắc phức tạp hơn; index và full-text index hỗ trợ tìm điểm bắt đầu. Index chỉ tối ưu lookup, còn traversal vẫn dựa trên cấu trúc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Cypher phục vụ cả truy vấn và materialization. Query catalog dùng pattern có parameter. Luật CO_STARRED_WITH được chạy sau import và lưu evidence.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Hop đo số bước, degree mô tả mức kết nối, common neighbor là nền tảng của phim chung và similarity, shortest path tìm liên hệ ngắn nhất. Cần lưu ý đường ngắn nhất về số cạnh chưa chắc là quan hệ có ý nghĩa nhất, vì vậy evidence phải giữ cả loại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Neo4j là kho graph duy nhất vì phù hợp với traversal, relationship có property và các đường đi bằng chứng. Lựa chọn tập trung vào độ phù hợp của mô hình với miền phim, không dựa trên tuyên bố graph luôn nhanh hơn mô hình quan hệ.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chính đi từ TMDB và IMDb qua cache bất biến, xử lý và chuẩn hóa sang Neo4j. FastAPI cung cấp QA và recommendation. Manifest, checksum và các phép kiểm tra bao quanh toàn bộ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có năm loại nút và năm quan hệ gốc. Person chỉ dùng một label vì cùng một người có thể có nhiều vai trò. Stable source ID là khóa; ACTED_IN giữ metadata trên cạnh. Constraint và index được tạo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Ảnh chụp cuối có 76.612 nút và 846.309 quan hệ. Không có orphan Movie, stable ID trùng, thuộc tính bắt buộc bị thiếu hay cạnh sai kiểu. Một Movie không có quan hệ đã bị loại ở bước kiểm tra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Phép nối TMDB–IMDb dùng exact imdb_id với confidence 1.0. Entity linker ưu tiên exact và full-text candidate trước fuzzy reranking. Trên 100 cặp silver, precision 1.0, recall 0.933 và F1 0.966. Năm lỗi là abstention bảo thủ, không có false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resolution diễn ra trong pipeline tích hợp và ảnh hưởng cấu trúc graph lâu dài. Entity linking diễn ra ở request time để nối câu hỏi vào node canonical. Hai bước dùng kỹ thuật giống nhau nhưng khác đầu vào, thời điểm và hậu quả. Project ưu tiên stable ID ở cả hai ranh giới.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danh mục truy vấn tham số hóa gồm lookup, aggregation, multi-hop, shortest path và similarity. Ví dụ này đi từ director qua movie sang genre. Giá trị genre và limit là tham số; người dùng không thể thay đổi cấu trúc Cypher.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hai cạnh ACTED_IN cùng đi vào một Movie, hệ thống vật chất hóa CO_STARRED_WITH. Cạnh suy ra lưu số phim chung và danh sách Movie hỗ trợ, nên có thể lần ngược.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chỉ nguồn gốc, lineage chỉ chuỗi biến đổi, evidence chỉ các fact hỗ trợ một kết quả cụ thể. Project dùng cả ba: source và checksum cho provenance, pipeline manifest cho lineage, graph row/path và shared feature cho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không thay Neo4j và không sinh Cypher tự do. Parser chỉ nhận diện một trong chín ý định và trích slot. Entity linker chuẩn hóa thực thể; catalog chọn mẫu Cypher cố định; Neo4j thực hiện traversal. Response trả cả intent, confidence, evidence và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Ranker dùng IDF-weighted graph similarity. Đặc trưng chung hiếm đóng góp nhiều hơn đặc trưng phổ biến. Trọng số ưu tiên director và actor. Điểm và explanation đều được tính từ traversal trong Neo4j, không tải toàn graph về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Precision, recall và F1 dùng cho entity resolution; precision dùng cho fact suy ra; Precision@K và NDCG@K dùng cho recommendation. NDCG quan tâm thứ tự, còn Precision@K chỉ quan tâm có bao nhiêu mục liên quan trong Top-K. Mọi metric chỉ có ý nghĩa cùng protocol và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tuyên bố có một tập đánh giá riêng. Entity resolution và recommendation dùng silver corpus có provenance. QA là smoke test 20 câu. Benchmark chạy cùng snapshot, máy, warm-up và 100 iterations. Vì vậy em không suy rộng kết quả thành độ chính xác sản xuất hoặc scalability tổng quát.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 smoke đạt 20/20; entity resolution F1 0.966; co-star precision 1.0; recommendation đạt P@10 0.635 và NDCG@10 0.672. Các metric silver phản ánh protocol đã công bố, chưa thay thế đánh giá người dùng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Competency question không chỉ dùng để demo. Nó là công cụ thiết kế schema: xác định loại thực thể, quan hệ và thuộc tính tối thiểu; sau đó kiểm tra bằng một graph pattern. Ví dụ phim chung ánh xạ trực tiếp thành shared-neighbor Person–Movie–Person.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một, hỏi trên Web UI: Diễn viên nào đóng trong phim Inception? Chỉ vào Movie đã được liên kết, danh sách diễn viên và bằng chứng. Bước hai, chạy truy vấn ACTED_IN trong Neo4j Browser rồi đối chiếu tên và character. Hai giao diện khác nhau nhưng phải đọc cùng một fact trong Neo4j.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ba, hỏi phim chung của Christian Bale và Tom Hardy trên Web UI và chỉ vào The Dark Knight Rises. Bước bốn, chạy shared-neighbor pattern trong Neo4j Browser. Chuyển giữa bảng và graph để cho thấy cùng một Movie nối tới hai Person qua ACTED_IN.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năm, chọn Inception, chạy Top-5 và mở explanation của kết quả đứng đầu. Bước sáu, dùng chính tên phim đó trong query kiểm chứng shared features trên Neo4j Browser. Đối chiếu feature giữa hai giao diện; Browser chỉ kiểm chứng bằng chứng, còn query IDF đầy đủ của ứng dụng tính điểm và thứ hạng.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chính là QA chỉ có chín ý định, corpus đánh giá chủ yếu là silver, quy mô tối đa 4.999 phim và top-20 cast. Hướng tiếp theo là thu thập câu hỏi thật, đánh giá người dùng, benchmark tải đồng thời và mở rộng liên kết sang Person/Wikidata.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đề tài đã xây dựng được một quy trình tích hợp đa nguồn có stable identity và provenance; Neo4j hỗ trợ traversal và suy diễn bằng Cypher; hai ứng dụng trả kết quả kèm bằng chứng. Em xin cảm ơn thầy và xin lắng nghe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B"/>
          </a:solidFill>
          <a:ln w="12700">
            <a:solidFill>
              <a:srgbClr val="F6F8FB">
                <a:alpha val="0"/>
              </a:srgbClr>
            </a:solidFill>
            <a:prstDash val="solid"/>
          </a:ln>
        </p:spPr>
      </p:sp>
      <p:sp>
        <p:nvSpPr>
          <p:cNvPr id="3" name="Text 1"/>
          <p:cNvSpPr/>
          <p:nvPr/>
        </p:nvSpPr>
        <p:spPr>
          <a:xfrm>
            <a:off x="530352" y="164592"/>
            <a:ext cx="3931920" cy="201168"/>
          </a:xfrm>
          <a:prstGeom prst="rect">
            <a:avLst/>
          </a:prstGeom>
          <a:noFill/>
          <a:ln/>
        </p:spPr>
        <p:txBody>
          <a:bodyPr wrap="square" lIns="0" tIns="0" rIns="0" bIns="0" rtlCol="0" anchor="ctr"/>
          <a:lstStyle/>
          <a:p>
            <a:pPr indent="0" marL="0">
              <a:buNone/>
            </a:pPr>
            <a:r>
              <a:rPr lang="en-US" sz="900" b="1" spc="150" kern="0" dirty="0">
                <a:solidFill>
                  <a:srgbClr val="337B80"/>
                </a:solidFill>
                <a:latin typeface="Arial" pitchFamily="34" charset="0"/>
                <a:ea typeface="Arial" pitchFamily="34" charset="-122"/>
                <a:cs typeface="Arial" pitchFamily="34" charset="-120"/>
              </a:rPr>
              <a:t>KNOWLEDGE GRAPH</a:t>
            </a:r>
            <a:endParaRPr lang="en-US" sz="900" dirty="0"/>
          </a:p>
        </p:txBody>
      </p:sp>
      <p:sp>
        <p:nvSpPr>
          <p:cNvPr id="4" name="Text 2"/>
          <p:cNvSpPr/>
          <p:nvPr/>
        </p:nvSpPr>
        <p:spPr>
          <a:xfrm>
            <a:off x="8001000" y="6510528"/>
            <a:ext cx="3520440" cy="164592"/>
          </a:xfrm>
          <a:prstGeom prst="rect">
            <a:avLst/>
          </a:prstGeom>
          <a:noFill/>
          <a:ln/>
        </p:spPr>
        <p:txBody>
          <a:bodyPr wrap="square" lIns="0" tIns="0" rIns="0" bIns="0" rtlCol="0" anchor="ctr"/>
          <a:lstStyle/>
          <a:p>
            <a:pPr algn="r" indent="0" marL="0">
              <a:buNone/>
            </a:pPr>
            <a:r>
              <a:rPr lang="en-US" sz="800" dirty="0">
                <a:solidFill>
                  <a:srgbClr val="697586"/>
                </a:solidFill>
                <a:latin typeface="Arial" pitchFamily="34" charset="0"/>
                <a:ea typeface="Arial" pitchFamily="34" charset="-122"/>
                <a:cs typeface="Arial" pitchFamily="34" charset="-120"/>
              </a:rPr>
              <a:t>Đại học Bách khoa Hà Nội · Khoa Toán – Tin</a:t>
            </a:r>
            <a:endParaRPr lang="en-US" sz="8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58368" y="566928"/>
            <a:ext cx="5943600" cy="274320"/>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BÁO CÁO CUỐI KỲ · CƠ SỞ DỮ LIỆU NÂNG CAO</a:t>
            </a:r>
            <a:endParaRPr lang="en-US" sz="1000" dirty="0"/>
          </a:p>
        </p:txBody>
      </p:sp>
      <p:sp>
        <p:nvSpPr>
          <p:cNvPr id="5" name="Text 3"/>
          <p:cNvSpPr/>
          <p:nvPr/>
        </p:nvSpPr>
        <p:spPr>
          <a:xfrm>
            <a:off x="658368" y="1115568"/>
            <a:ext cx="6583680" cy="141732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Calibri" pitchFamily="34" charset="0"/>
                <a:ea typeface="Calibri" pitchFamily="34" charset="-122"/>
                <a:cs typeface="Calibri" pitchFamily="34" charset="-120"/>
              </a:rPr>
              <a:t>Knowledge Graph</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Nền tảng lý thuyết</a:t>
            </a:r>
            <a:endParaRPr lang="en-US" sz="3400" dirty="0"/>
          </a:p>
        </p:txBody>
      </p:sp>
      <p:sp>
        <p:nvSpPr>
          <p:cNvPr id="6" name="Text 4"/>
          <p:cNvSpPr/>
          <p:nvPr/>
        </p:nvSpPr>
        <p:spPr>
          <a:xfrm>
            <a:off x="685800" y="2761488"/>
            <a:ext cx="5897880" cy="749808"/>
          </a:xfrm>
          <a:prstGeom prst="rect">
            <a:avLst/>
          </a:prstGeom>
          <a:noFill/>
          <a:ln/>
        </p:spPr>
        <p:txBody>
          <a:bodyPr wrap="square" lIns="0" tIns="0" rIns="0" bIns="0" rtlCol="0" anchor="ctr">
            <a:normAutofit/>
          </a:bodyPr>
          <a:lstStyle/>
          <a:p>
            <a:pPr indent="0" marL="0">
              <a:buNone/>
            </a:pPr>
            <a:r>
              <a:rPr lang="en-US" sz="1550" dirty="0">
                <a:solidFill>
                  <a:srgbClr val="D6E3ED"/>
                </a:solidFill>
                <a:latin typeface="Calibri" pitchFamily="34" charset="0"/>
                <a:ea typeface="Calibri" pitchFamily="34" charset="-122"/>
                <a:cs typeface="Calibri" pitchFamily="34" charset="-120"/>
              </a:rPr>
              <a:t>Từ định danh và schema đến truy vấn, suy diễn và khả năng giải thích</a:t>
            </a:r>
            <a:endParaRPr lang="en-US" sz="1550" dirty="0"/>
          </a:p>
          <a:p>
            <a:pPr indent="0" marL="0">
              <a:buNone/>
            </a:pPr>
            <a:r>
              <a:rPr lang="en-US" sz="1550" dirty="0">
                <a:solidFill>
                  <a:srgbClr val="D6E3ED"/>
                </a:solidFill>
                <a:latin typeface="Calibri" pitchFamily="34" charset="0"/>
                <a:ea typeface="Calibri" pitchFamily="34" charset="-122"/>
                <a:cs typeface="Calibri" pitchFamily="34" charset="-120"/>
              </a:rPr>
              <a:t>Nghiên cứu tình huống: đồ thị tri thức phim đa nguồn</a:t>
            </a:r>
            <a:endParaRPr lang="en-US" sz="1550" dirty="0"/>
          </a:p>
        </p:txBody>
      </p:sp>
      <p:pic>
        <p:nvPicPr>
          <p:cNvPr id="7" name="Image 0" descr="/home/khanhhk/VNPTAI/advanced_database/docs/deliverables/slide/assets/movie_kg_overview.png">    </p:cNvPr>
          <p:cNvPicPr>
            <a:picLocks noChangeAspect="1"/>
          </p:cNvPicPr>
          <p:nvPr/>
        </p:nvPicPr>
        <p:blipFill>
          <a:blip r:embed="rId1"/>
          <a:stretch>
            <a:fillRect/>
          </a:stretch>
        </p:blipFill>
        <p:spPr>
          <a:xfrm>
            <a:off x="7013448" y="2137776"/>
            <a:ext cx="4489704" cy="1439447"/>
          </a:xfrm>
          <a:prstGeom prst="rect">
            <a:avLst/>
          </a:prstGeom>
        </p:spPr>
      </p:pic>
      <p:sp>
        <p:nvSpPr>
          <p:cNvPr id="8" name="Text 5"/>
          <p:cNvSpPr/>
          <p:nvPr/>
        </p:nvSpPr>
        <p:spPr>
          <a:xfrm>
            <a:off x="685800" y="4892040"/>
            <a:ext cx="100584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Học viên</a:t>
            </a:r>
            <a:endParaRPr lang="en-US" sz="900" dirty="0"/>
          </a:p>
        </p:txBody>
      </p:sp>
      <p:sp>
        <p:nvSpPr>
          <p:cNvPr id="9" name="Text 6"/>
          <p:cNvSpPr/>
          <p:nvPr/>
        </p:nvSpPr>
        <p:spPr>
          <a:xfrm>
            <a:off x="685800" y="5193792"/>
            <a:ext cx="40233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Hoàng Kim Khánh · 20252307M</a:t>
            </a:r>
            <a:endParaRPr lang="en-US" sz="1500" dirty="0"/>
          </a:p>
        </p:txBody>
      </p:sp>
      <p:sp>
        <p:nvSpPr>
          <p:cNvPr id="10" name="Text 7"/>
          <p:cNvSpPr/>
          <p:nvPr/>
        </p:nvSpPr>
        <p:spPr>
          <a:xfrm>
            <a:off x="6217920" y="4892040"/>
            <a:ext cx="164592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Giảng viên hướng dẫn</a:t>
            </a:r>
            <a:endParaRPr lang="en-US" sz="900" dirty="0"/>
          </a:p>
        </p:txBody>
      </p:sp>
      <p:sp>
        <p:nvSpPr>
          <p:cNvPr id="11" name="Text 8"/>
          <p:cNvSpPr/>
          <p:nvPr/>
        </p:nvSpPr>
        <p:spPr>
          <a:xfrm>
            <a:off x="6217920" y="5193792"/>
            <a:ext cx="31089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TS. Trần Ngọc Thăng</a:t>
            </a:r>
            <a:endParaRPr lang="en-US" sz="1500" dirty="0"/>
          </a:p>
        </p:txBody>
      </p:sp>
      <p:sp>
        <p:nvSpPr>
          <p:cNvPr id="12" name="Text 9"/>
          <p:cNvSpPr/>
          <p:nvPr/>
        </p:nvSpPr>
        <p:spPr>
          <a:xfrm>
            <a:off x="685800" y="6327648"/>
            <a:ext cx="7315200" cy="182880"/>
          </a:xfrm>
          <a:prstGeom prst="rect">
            <a:avLst/>
          </a:prstGeom>
          <a:noFill/>
          <a:ln/>
        </p:spPr>
        <p:txBody>
          <a:bodyPr wrap="square" lIns="0" tIns="0" rIns="0" bIns="0" rtlCol="0" anchor="ctr"/>
          <a:lstStyle/>
          <a:p>
            <a:pPr indent="0" marL="0">
              <a:buNone/>
            </a:pPr>
            <a:r>
              <a:rPr lang="en-US" sz="850" dirty="0">
                <a:solidFill>
                  <a:srgbClr val="9FB2C3"/>
                </a:solidFill>
                <a:latin typeface="Arial" pitchFamily="34" charset="0"/>
                <a:ea typeface="Arial" pitchFamily="34" charset="-122"/>
                <a:cs typeface="Arial" pitchFamily="34" charset="-120"/>
              </a:rPr>
              <a:t>ĐẠI HỌC BÁCH KHOA HÀ NỘI · KHOA TOÁN – TIN · 07/2026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Từ dữ liệu đến tri thức có thể sử dụng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Knowledge Graph không chỉ lưu giá trị; nó đặt giá trị vào ngữ cảnh, quan hệ và ngữ nghĩa.</a:t>
            </a:r>
            <a:endParaRPr lang="en-US" sz="1250" dirty="0"/>
          </a:p>
        </p:txBody>
      </p:sp>
      <p:sp>
        <p:nvSpPr>
          <p:cNvPr id="5" name="Shape 3"/>
          <p:cNvSpPr/>
          <p:nvPr/>
        </p:nvSpPr>
        <p:spPr>
          <a:xfrm>
            <a:off x="658368" y="4480560"/>
            <a:ext cx="2395728" cy="1298448"/>
          </a:xfrm>
          <a:prstGeom prst="roundRect">
            <a:avLst>
              <a:gd name="adj" fmla="val 3521"/>
            </a:avLst>
          </a:prstGeom>
          <a:solidFill>
            <a:srgbClr val="EDF2F7"/>
          </a:solidFill>
          <a:ln w="16510">
            <a:solidFill>
              <a:srgbClr val="697586"/>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41248" y="4681728"/>
            <a:ext cx="2011680" cy="228600"/>
          </a:xfrm>
          <a:prstGeom prst="rect">
            <a:avLst/>
          </a:prstGeom>
          <a:noFill/>
          <a:ln/>
        </p:spPr>
        <p:txBody>
          <a:bodyPr wrap="square" lIns="0" tIns="0" rIns="0" bIns="0" rtlCol="0" anchor="ctr"/>
          <a:lstStyle/>
          <a:p>
            <a:pPr indent="0" marL="0">
              <a:buNone/>
            </a:pPr>
            <a:r>
              <a:rPr lang="en-US" sz="1000" b="1" spc="110" kern="0" dirty="0">
                <a:solidFill>
                  <a:srgbClr val="697586"/>
                </a:solidFill>
                <a:latin typeface="Arial" pitchFamily="34" charset="0"/>
                <a:ea typeface="Arial" pitchFamily="34" charset="-122"/>
                <a:cs typeface="Arial" pitchFamily="34" charset="-120"/>
              </a:rPr>
              <a:t>DỮ LIỆU</a:t>
            </a:r>
            <a:endParaRPr lang="en-US" sz="1000" dirty="0"/>
          </a:p>
        </p:txBody>
      </p:sp>
      <p:sp>
        <p:nvSpPr>
          <p:cNvPr id="7" name="Text 5"/>
          <p:cNvSpPr/>
          <p:nvPr/>
        </p:nvSpPr>
        <p:spPr>
          <a:xfrm>
            <a:off x="841248" y="5120640"/>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“2010”, “Inception”, “Nolan”</a:t>
            </a:r>
            <a:endParaRPr lang="en-US" sz="1300" dirty="0"/>
          </a:p>
        </p:txBody>
      </p:sp>
      <p:sp>
        <p:nvSpPr>
          <p:cNvPr id="8" name="Shape 6"/>
          <p:cNvSpPr/>
          <p:nvPr/>
        </p:nvSpPr>
        <p:spPr>
          <a:xfrm>
            <a:off x="3090672" y="5120640"/>
            <a:ext cx="347472" cy="-228600"/>
          </a:xfrm>
          <a:prstGeom prst="line">
            <a:avLst/>
          </a:prstGeom>
          <a:noFill/>
          <a:ln w="17780">
            <a:solidFill>
              <a:srgbClr val="697586"/>
            </a:solidFill>
            <a:prstDash val="solid"/>
            <a:tailEnd type="triangle"/>
          </a:ln>
        </p:spPr>
      </p:sp>
      <p:sp>
        <p:nvSpPr>
          <p:cNvPr id="9" name="Shape 7"/>
          <p:cNvSpPr/>
          <p:nvPr/>
        </p:nvSpPr>
        <p:spPr>
          <a:xfrm>
            <a:off x="3511296" y="3767328"/>
            <a:ext cx="2395728" cy="2011680"/>
          </a:xfrm>
          <a:prstGeom prst="roundRect">
            <a:avLst>
              <a:gd name="adj" fmla="val 2273"/>
            </a:avLst>
          </a:prstGeom>
          <a:solidFill>
            <a:srgbClr val="EAF2F8"/>
          </a:solidFill>
          <a:ln w="1651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694176" y="3968496"/>
            <a:ext cx="2011680" cy="228600"/>
          </a:xfrm>
          <a:prstGeom prst="rect">
            <a:avLst/>
          </a:prstGeom>
          <a:noFill/>
          <a:ln/>
        </p:spPr>
        <p:txBody>
          <a:bodyPr wrap="square" lIns="0" tIns="0" rIns="0" bIns="0" rtlCol="0" anchor="ctr"/>
          <a:lstStyle/>
          <a:p>
            <a:pPr indent="0" marL="0">
              <a:buNone/>
            </a:pPr>
            <a:r>
              <a:rPr lang="en-US" sz="1000" b="1" spc="110" kern="0" dirty="0">
                <a:solidFill>
                  <a:srgbClr val="337B80"/>
                </a:solidFill>
                <a:latin typeface="Arial" pitchFamily="34" charset="0"/>
                <a:ea typeface="Arial" pitchFamily="34" charset="-122"/>
                <a:cs typeface="Arial" pitchFamily="34" charset="-120"/>
              </a:rPr>
              <a:t>THÔNG TIN</a:t>
            </a:r>
            <a:endParaRPr lang="en-US" sz="1000" dirty="0"/>
          </a:p>
        </p:txBody>
      </p:sp>
      <p:sp>
        <p:nvSpPr>
          <p:cNvPr id="11" name="Text 9"/>
          <p:cNvSpPr/>
          <p:nvPr/>
        </p:nvSpPr>
        <p:spPr>
          <a:xfrm>
            <a:off x="3694176" y="4407408"/>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Inception là một phim phát hành năm 2010.</a:t>
            </a:r>
            <a:endParaRPr lang="en-US" sz="1300" dirty="0"/>
          </a:p>
        </p:txBody>
      </p:sp>
      <p:sp>
        <p:nvSpPr>
          <p:cNvPr id="12" name="Shape 10"/>
          <p:cNvSpPr/>
          <p:nvPr/>
        </p:nvSpPr>
        <p:spPr>
          <a:xfrm>
            <a:off x="5943600" y="4407408"/>
            <a:ext cx="347472" cy="-228600"/>
          </a:xfrm>
          <a:prstGeom prst="line">
            <a:avLst/>
          </a:prstGeom>
          <a:noFill/>
          <a:ln w="17780">
            <a:solidFill>
              <a:srgbClr val="697586"/>
            </a:solidFill>
            <a:prstDash val="solid"/>
            <a:tailEnd type="triangle"/>
          </a:ln>
        </p:spPr>
      </p:sp>
      <p:sp>
        <p:nvSpPr>
          <p:cNvPr id="13" name="Shape 11"/>
          <p:cNvSpPr/>
          <p:nvPr/>
        </p:nvSpPr>
        <p:spPr>
          <a:xfrm>
            <a:off x="6364224" y="3054096"/>
            <a:ext cx="2395728" cy="2724912"/>
          </a:xfrm>
          <a:prstGeom prst="roundRect">
            <a:avLst>
              <a:gd name="adj" fmla="val 1908"/>
            </a:avLst>
          </a:prstGeom>
          <a:solidFill>
            <a:srgbClr val="F0ECF7"/>
          </a:solidFill>
          <a:ln w="16510">
            <a:solidFill>
              <a:srgbClr val="725B9B"/>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6547104" y="3255264"/>
            <a:ext cx="2011680" cy="228600"/>
          </a:xfrm>
          <a:prstGeom prst="rect">
            <a:avLst/>
          </a:prstGeom>
          <a:noFill/>
          <a:ln/>
        </p:spPr>
        <p:txBody>
          <a:bodyPr wrap="square" lIns="0" tIns="0" rIns="0" bIns="0" rtlCol="0" anchor="ctr"/>
          <a:lstStyle/>
          <a:p>
            <a:pPr indent="0" marL="0">
              <a:buNone/>
            </a:pPr>
            <a:r>
              <a:rPr lang="en-US" sz="1000" b="1" spc="110" kern="0" dirty="0">
                <a:solidFill>
                  <a:srgbClr val="725B9B"/>
                </a:solidFill>
                <a:latin typeface="Arial" pitchFamily="34" charset="0"/>
                <a:ea typeface="Arial" pitchFamily="34" charset="-122"/>
                <a:cs typeface="Arial" pitchFamily="34" charset="-120"/>
              </a:rPr>
              <a:t>TRI THỨC</a:t>
            </a:r>
            <a:endParaRPr lang="en-US" sz="1000" dirty="0"/>
          </a:p>
        </p:txBody>
      </p:sp>
      <p:sp>
        <p:nvSpPr>
          <p:cNvPr id="15" name="Text 13"/>
          <p:cNvSpPr/>
          <p:nvPr/>
        </p:nvSpPr>
        <p:spPr>
          <a:xfrm>
            <a:off x="6547104" y="3694176"/>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Christopher Nolan đạo diễn Inception.</a:t>
            </a:r>
            <a:endParaRPr lang="en-US" sz="1300" dirty="0"/>
          </a:p>
        </p:txBody>
      </p:sp>
      <p:sp>
        <p:nvSpPr>
          <p:cNvPr id="16" name="Shape 14"/>
          <p:cNvSpPr/>
          <p:nvPr/>
        </p:nvSpPr>
        <p:spPr>
          <a:xfrm>
            <a:off x="8796528" y="3694176"/>
            <a:ext cx="347472" cy="-228600"/>
          </a:xfrm>
          <a:prstGeom prst="line">
            <a:avLst/>
          </a:prstGeom>
          <a:noFill/>
          <a:ln w="17780">
            <a:solidFill>
              <a:srgbClr val="697586"/>
            </a:solidFill>
            <a:prstDash val="solid"/>
            <a:tailEnd type="triangle"/>
          </a:ln>
        </p:spPr>
      </p:sp>
      <p:sp>
        <p:nvSpPr>
          <p:cNvPr id="17" name="Shape 15"/>
          <p:cNvSpPr/>
          <p:nvPr/>
        </p:nvSpPr>
        <p:spPr>
          <a:xfrm>
            <a:off x="9217152" y="2340864"/>
            <a:ext cx="2395728" cy="3438144"/>
          </a:xfrm>
          <a:prstGeom prst="roundRect">
            <a:avLst>
              <a:gd name="adj" fmla="val 1908"/>
            </a:avLst>
          </a:prstGeom>
          <a:solidFill>
            <a:srgbClr val="E8F4EE"/>
          </a:solidFill>
          <a:ln w="16510">
            <a:solidFill>
              <a:srgbClr val="3D8B66"/>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400032" y="2542032"/>
            <a:ext cx="2011680" cy="228600"/>
          </a:xfrm>
          <a:prstGeom prst="rect">
            <a:avLst/>
          </a:prstGeom>
          <a:noFill/>
          <a:ln/>
        </p:spPr>
        <p:txBody>
          <a:bodyPr wrap="square" lIns="0" tIns="0" rIns="0" bIns="0" rtlCol="0" anchor="ctr"/>
          <a:lstStyle/>
          <a:p>
            <a:pPr indent="0" marL="0">
              <a:buNone/>
            </a:pPr>
            <a:r>
              <a:rPr lang="en-US" sz="1000" b="1" spc="110" kern="0" dirty="0">
                <a:solidFill>
                  <a:srgbClr val="3D8B66"/>
                </a:solidFill>
                <a:latin typeface="Arial" pitchFamily="34" charset="0"/>
                <a:ea typeface="Arial" pitchFamily="34" charset="-122"/>
                <a:cs typeface="Arial" pitchFamily="34" charset="-120"/>
              </a:rPr>
              <a:t>SUY LUẬN</a:t>
            </a:r>
            <a:endParaRPr lang="en-US" sz="1000" dirty="0"/>
          </a:p>
        </p:txBody>
      </p:sp>
      <p:sp>
        <p:nvSpPr>
          <p:cNvPr id="19" name="Text 17"/>
          <p:cNvSpPr/>
          <p:nvPr/>
        </p:nvSpPr>
        <p:spPr>
          <a:xfrm>
            <a:off x="9400032" y="2980944"/>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Nolan là đạo diễn của một phim khoa học viễn tưởng.</a:t>
            </a:r>
            <a:endParaRPr lang="en-US" sz="1300" dirty="0"/>
          </a:p>
        </p:txBody>
      </p:sp>
      <p:sp>
        <p:nvSpPr>
          <p:cNvPr id="20" name="Text 18"/>
          <p:cNvSpPr/>
          <p:nvPr/>
        </p:nvSpPr>
        <p:spPr>
          <a:xfrm>
            <a:off x="1280160" y="5925312"/>
            <a:ext cx="9601200" cy="310896"/>
          </a:xfrm>
          <a:prstGeom prst="rect">
            <a:avLst/>
          </a:prstGeom>
          <a:noFill/>
          <a:ln/>
        </p:spPr>
        <p:txBody>
          <a:bodyPr wrap="square" lIns="0" tIns="0" rIns="0" bIns="0" rtlCol="0" anchor="ctr"/>
          <a:lstStyle/>
          <a:p>
            <a:pPr algn="ctr" indent="0" marL="0">
              <a:buNone/>
            </a:pPr>
            <a:r>
              <a:rPr lang="en-US" sz="1500" b="1" dirty="0">
                <a:solidFill>
                  <a:srgbClr val="112B46"/>
                </a:solidFill>
                <a:latin typeface="Calibri" pitchFamily="34" charset="0"/>
                <a:ea typeface="Calibri" pitchFamily="34" charset="-122"/>
                <a:cs typeface="Calibri" pitchFamily="34" charset="-120"/>
              </a:rPr>
              <a:t>Ngữ cảnh + quan hệ + quy tắc làm cho dữ liệu trở thành tri thức có thể truy vấn và suy luận.</a:t>
            </a:r>
            <a:endParaRPr lang="en-US" sz="15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Knowledge Graph là gì?</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mô hình tri thức dạng đồ thị, trong đó thực thể và quan hệ mang ngữ nghĩa có thể đọc bởi cả người và máy.</a:t>
            </a:r>
            <a:endParaRPr lang="en-US" sz="1250" dirty="0"/>
          </a:p>
        </p:txBody>
      </p:sp>
      <p:sp>
        <p:nvSpPr>
          <p:cNvPr id="5" name="Shape 3"/>
          <p:cNvSpPr/>
          <p:nvPr/>
        </p:nvSpPr>
        <p:spPr>
          <a:xfrm>
            <a:off x="914400" y="2148840"/>
            <a:ext cx="1828800" cy="182880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1143000" y="2697480"/>
            <a:ext cx="1371600" cy="5029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Christopher</a:t>
            </a:r>
            <a:endParaRPr lang="en-US" sz="1800" dirty="0"/>
          </a:p>
          <a:p>
            <a:pPr algn="ctr" indent="0" marL="0">
              <a:buNone/>
            </a:pPr>
            <a:r>
              <a:rPr lang="en-US" sz="1800" b="1" dirty="0">
                <a:solidFill>
                  <a:srgbClr val="725B9B"/>
                </a:solidFill>
                <a:latin typeface="Calibri" pitchFamily="34" charset="0"/>
                <a:ea typeface="Calibri" pitchFamily="34" charset="-122"/>
                <a:cs typeface="Calibri" pitchFamily="34" charset="-120"/>
              </a:rPr>
              <a:t>Nolan</a:t>
            </a:r>
            <a:endParaRPr lang="en-US" sz="1800" dirty="0"/>
          </a:p>
        </p:txBody>
      </p:sp>
      <p:sp>
        <p:nvSpPr>
          <p:cNvPr id="7" name="Shape 5"/>
          <p:cNvSpPr/>
          <p:nvPr/>
        </p:nvSpPr>
        <p:spPr>
          <a:xfrm>
            <a:off x="5120640" y="2148840"/>
            <a:ext cx="1828800" cy="182880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5349240" y="2816352"/>
            <a:ext cx="1371600" cy="256032"/>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Inception</a:t>
            </a:r>
            <a:endParaRPr lang="en-US" sz="1800" dirty="0"/>
          </a:p>
        </p:txBody>
      </p:sp>
      <p:sp>
        <p:nvSpPr>
          <p:cNvPr id="9" name="Shape 7"/>
          <p:cNvSpPr/>
          <p:nvPr/>
        </p:nvSpPr>
        <p:spPr>
          <a:xfrm>
            <a:off x="2788920" y="3044952"/>
            <a:ext cx="2267712" cy="0"/>
          </a:xfrm>
          <a:prstGeom prst="line">
            <a:avLst/>
          </a:prstGeom>
          <a:noFill/>
          <a:ln w="31750">
            <a:solidFill>
              <a:srgbClr val="3D8B66"/>
            </a:solidFill>
            <a:prstDash val="solid"/>
            <a:tailEnd type="triangle"/>
          </a:ln>
        </p:spPr>
      </p:sp>
      <p:sp>
        <p:nvSpPr>
          <p:cNvPr id="10" name="Text 8"/>
          <p:cNvSpPr/>
          <p:nvPr/>
        </p:nvSpPr>
        <p:spPr>
          <a:xfrm>
            <a:off x="3218688" y="2633472"/>
            <a:ext cx="1417320" cy="228600"/>
          </a:xfrm>
          <a:prstGeom prst="rect">
            <a:avLst/>
          </a:prstGeom>
          <a:noFill/>
          <a:ln/>
        </p:spPr>
        <p:txBody>
          <a:bodyPr wrap="square" lIns="0" tIns="0" rIns="0" bIns="0" rtlCol="0" anchor="ctr"/>
          <a:lstStyle/>
          <a:p>
            <a:pPr algn="ctr" indent="0" marL="0">
              <a:buNone/>
            </a:pPr>
            <a:r>
              <a:rPr lang="en-US" sz="1000" b="1" dirty="0">
                <a:solidFill>
                  <a:srgbClr val="3D8B66"/>
                </a:solidFill>
                <a:latin typeface="Arial" pitchFamily="34" charset="0"/>
                <a:ea typeface="Arial" pitchFamily="34" charset="-122"/>
                <a:cs typeface="Arial" pitchFamily="34" charset="-120"/>
              </a:rPr>
              <a:t>DIRECTED</a:t>
            </a:r>
            <a:endParaRPr lang="en-US" sz="1000" dirty="0"/>
          </a:p>
        </p:txBody>
      </p:sp>
      <p:sp>
        <p:nvSpPr>
          <p:cNvPr id="11" name="Shape 9"/>
          <p:cNvSpPr/>
          <p:nvPr/>
        </p:nvSpPr>
        <p:spPr>
          <a:xfrm>
            <a:off x="7543800" y="1783080"/>
            <a:ext cx="397764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2" name="Shape 10"/>
          <p:cNvSpPr/>
          <p:nvPr/>
        </p:nvSpPr>
        <p:spPr>
          <a:xfrm>
            <a:off x="7744968" y="1984248"/>
            <a:ext cx="384048" cy="384048"/>
          </a:xfrm>
          <a:prstGeom prst="ellipse">
            <a:avLst/>
          </a:prstGeom>
          <a:solidFill>
            <a:srgbClr val="725B9B"/>
          </a:solidFill>
          <a:ln w="12700">
            <a:solidFill>
              <a:srgbClr val="725B9B"/>
            </a:solidFill>
            <a:prstDash val="solid"/>
          </a:ln>
        </p:spPr>
      </p:sp>
      <p:sp>
        <p:nvSpPr>
          <p:cNvPr id="13" name="Text 11"/>
          <p:cNvSpPr/>
          <p:nvPr/>
        </p:nvSpPr>
        <p:spPr>
          <a:xfrm>
            <a:off x="774496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14" name="Text 12"/>
          <p:cNvSpPr/>
          <p:nvPr/>
        </p:nvSpPr>
        <p:spPr>
          <a:xfrm>
            <a:off x="8257032" y="1965960"/>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Thực thể (entity)</a:t>
            </a:r>
            <a:endParaRPr lang="en-US" sz="1600" dirty="0"/>
          </a:p>
        </p:txBody>
      </p:sp>
      <p:sp>
        <p:nvSpPr>
          <p:cNvPr id="15" name="Text 13"/>
          <p:cNvSpPr/>
          <p:nvPr/>
        </p:nvSpPr>
        <p:spPr>
          <a:xfrm>
            <a:off x="7772400" y="2386584"/>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Đối tượng có định danh: người, phim, địa điểm, tổ chức…</a:t>
            </a:r>
            <a:endParaRPr lang="en-US" sz="1150" dirty="0"/>
          </a:p>
        </p:txBody>
      </p:sp>
      <p:sp>
        <p:nvSpPr>
          <p:cNvPr id="16" name="Shape 14"/>
          <p:cNvSpPr/>
          <p:nvPr/>
        </p:nvSpPr>
        <p:spPr>
          <a:xfrm>
            <a:off x="7543800" y="3182112"/>
            <a:ext cx="3977640" cy="1143000"/>
          </a:xfrm>
          <a:prstGeom prst="roundRect">
            <a:avLst>
              <a:gd name="adj" fmla="val 48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7" name="Shape 15"/>
          <p:cNvSpPr/>
          <p:nvPr/>
        </p:nvSpPr>
        <p:spPr>
          <a:xfrm>
            <a:off x="7744968" y="3383280"/>
            <a:ext cx="384048" cy="384048"/>
          </a:xfrm>
          <a:prstGeom prst="ellipse">
            <a:avLst/>
          </a:prstGeom>
          <a:solidFill>
            <a:srgbClr val="3D8B66"/>
          </a:solidFill>
          <a:ln w="12700">
            <a:solidFill>
              <a:srgbClr val="3D8B66"/>
            </a:solidFill>
            <a:prstDash val="solid"/>
          </a:ln>
        </p:spPr>
      </p:sp>
      <p:sp>
        <p:nvSpPr>
          <p:cNvPr id="18" name="Text 16"/>
          <p:cNvSpPr/>
          <p:nvPr/>
        </p:nvSpPr>
        <p:spPr>
          <a:xfrm>
            <a:off x="7744968" y="34381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9" name="Text 17"/>
          <p:cNvSpPr/>
          <p:nvPr/>
        </p:nvSpPr>
        <p:spPr>
          <a:xfrm>
            <a:off x="8257032" y="3364992"/>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Quan hệ (relationship)</a:t>
            </a:r>
            <a:endParaRPr lang="en-US" sz="1600" dirty="0"/>
          </a:p>
        </p:txBody>
      </p:sp>
      <p:sp>
        <p:nvSpPr>
          <p:cNvPr id="20" name="Text 18"/>
          <p:cNvSpPr/>
          <p:nvPr/>
        </p:nvSpPr>
        <p:spPr>
          <a:xfrm>
            <a:off x="7772400" y="3785616"/>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Liên kết có nghĩa và có hướng giữa các thực thể.</a:t>
            </a:r>
            <a:endParaRPr lang="en-US" sz="1150" dirty="0"/>
          </a:p>
        </p:txBody>
      </p:sp>
      <p:sp>
        <p:nvSpPr>
          <p:cNvPr id="21" name="Shape 19"/>
          <p:cNvSpPr/>
          <p:nvPr/>
        </p:nvSpPr>
        <p:spPr>
          <a:xfrm>
            <a:off x="7543800" y="4581144"/>
            <a:ext cx="397764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2" name="Shape 20"/>
          <p:cNvSpPr/>
          <p:nvPr/>
        </p:nvSpPr>
        <p:spPr>
          <a:xfrm>
            <a:off x="7744968" y="4782312"/>
            <a:ext cx="384048" cy="384048"/>
          </a:xfrm>
          <a:prstGeom prst="ellipse">
            <a:avLst/>
          </a:prstGeom>
          <a:solidFill>
            <a:srgbClr val="337B80"/>
          </a:solidFill>
          <a:ln w="12700">
            <a:solidFill>
              <a:srgbClr val="337B80"/>
            </a:solidFill>
            <a:prstDash val="solid"/>
          </a:ln>
        </p:spPr>
      </p:sp>
      <p:sp>
        <p:nvSpPr>
          <p:cNvPr id="23" name="Text 21"/>
          <p:cNvSpPr/>
          <p:nvPr/>
        </p:nvSpPr>
        <p:spPr>
          <a:xfrm>
            <a:off x="7744968" y="483717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24" name="Text 22"/>
          <p:cNvSpPr/>
          <p:nvPr/>
        </p:nvSpPr>
        <p:spPr>
          <a:xfrm>
            <a:off x="8257032" y="4764024"/>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Thuộc tính và định danh</a:t>
            </a:r>
            <a:endParaRPr lang="en-US" sz="1600" dirty="0"/>
          </a:p>
        </p:txBody>
      </p:sp>
      <p:sp>
        <p:nvSpPr>
          <p:cNvPr id="25" name="Text 23"/>
          <p:cNvSpPr/>
          <p:nvPr/>
        </p:nvSpPr>
        <p:spPr>
          <a:xfrm>
            <a:off x="7772400" y="5184648"/>
            <a:ext cx="3520440" cy="356616"/>
          </a:xfrm>
          <a:prstGeom prst="rect">
            <a:avLst/>
          </a:prstGeom>
          <a:noFill/>
          <a:ln/>
        </p:spPr>
        <p:txBody>
          <a:bodyPr wrap="square" lIns="0" tIns="0" rIns="0" bIns="0" rtlCol="0" anchor="t">
            <a:normAutofit/>
          </a:bodyPr>
          <a:lstStyle/>
          <a:p>
            <a:pPr indent="0" marL="0">
              <a:buNone/>
            </a:pPr>
            <a:r>
              <a:rPr lang="en-US" sz="1080" dirty="0">
                <a:solidFill>
                  <a:srgbClr val="172B3A"/>
                </a:solidFill>
                <a:latin typeface="Calibri" pitchFamily="34" charset="0"/>
                <a:ea typeface="Calibri" pitchFamily="34" charset="-122"/>
                <a:cs typeface="Calibri" pitchFamily="34" charset="-120"/>
              </a:rPr>
              <a:t>Thuộc tính mô tả thực thể; định danh ổn định cho biết chính xác thực thể nào đang được nói tới.</a:t>
            </a:r>
            <a:endParaRPr lang="en-US" sz="1080" dirty="0"/>
          </a:p>
        </p:txBody>
      </p:sp>
      <p:sp>
        <p:nvSpPr>
          <p:cNvPr id="26" name="Text 24"/>
          <p:cNvSpPr/>
          <p:nvPr/>
        </p:nvSpPr>
        <p:spPr>
          <a:xfrm>
            <a:off x="141732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subject</a:t>
            </a:r>
            <a:endParaRPr lang="en-US" sz="900" dirty="0"/>
          </a:p>
        </p:txBody>
      </p:sp>
      <p:sp>
        <p:nvSpPr>
          <p:cNvPr id="27" name="Text 25"/>
          <p:cNvSpPr/>
          <p:nvPr/>
        </p:nvSpPr>
        <p:spPr>
          <a:xfrm>
            <a:off x="3401568" y="3310128"/>
            <a:ext cx="100584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predicate</a:t>
            </a:r>
            <a:endParaRPr lang="en-US" sz="900" dirty="0"/>
          </a:p>
        </p:txBody>
      </p:sp>
      <p:sp>
        <p:nvSpPr>
          <p:cNvPr id="28" name="Text 26"/>
          <p:cNvSpPr/>
          <p:nvPr/>
        </p:nvSpPr>
        <p:spPr>
          <a:xfrm>
            <a:off x="562356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object</a:t>
            </a:r>
            <a:endParaRPr lang="en-US" sz="9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Schema nói điều gì được phép; instance nói điều gì đang đúng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Tách lớp khái niệm khỏi dữ liệu cụ thể giúp kiểm tra tính nhất quán và tái sử dụng mô hình.</a:t>
            </a:r>
            <a:endParaRPr lang="en-US" sz="1250" dirty="0"/>
          </a:p>
        </p:txBody>
      </p:sp>
      <p:sp>
        <p:nvSpPr>
          <p:cNvPr id="5" name="Text 3"/>
          <p:cNvSpPr/>
          <p:nvPr/>
        </p:nvSpPr>
        <p:spPr>
          <a:xfrm>
            <a:off x="685800" y="1755648"/>
            <a:ext cx="3840480" cy="228600"/>
          </a:xfrm>
          <a:prstGeom prst="rect">
            <a:avLst/>
          </a:prstGeom>
          <a:noFill/>
          <a:ln/>
        </p:spPr>
        <p:txBody>
          <a:bodyPr wrap="square" lIns="0" tIns="0" rIns="0" bIns="0" rtlCol="0" anchor="ctr"/>
          <a:lstStyle/>
          <a:p>
            <a:pPr indent="0" marL="0">
              <a:buNone/>
            </a:pPr>
            <a:r>
              <a:rPr lang="en-US" sz="1000" b="1" spc="110" kern="0" dirty="0">
                <a:solidFill>
                  <a:srgbClr val="725B9B"/>
                </a:solidFill>
                <a:latin typeface="Arial" pitchFamily="34" charset="0"/>
                <a:ea typeface="Arial" pitchFamily="34" charset="-122"/>
                <a:cs typeface="Arial" pitchFamily="34" charset="-120"/>
              </a:rPr>
              <a:t>LỚP KHÁI NIỆM · TBOX / SCHEMA</a:t>
            </a:r>
            <a:endParaRPr lang="en-US" sz="1000" dirty="0"/>
          </a:p>
        </p:txBody>
      </p:sp>
      <p:sp>
        <p:nvSpPr>
          <p:cNvPr id="6" name="Shape 4"/>
          <p:cNvSpPr/>
          <p:nvPr/>
        </p:nvSpPr>
        <p:spPr>
          <a:xfrm>
            <a:off x="685800" y="2148840"/>
            <a:ext cx="210312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7" name="Text 5"/>
          <p:cNvSpPr/>
          <p:nvPr/>
        </p:nvSpPr>
        <p:spPr>
          <a:xfrm>
            <a:off x="914400" y="2331720"/>
            <a:ext cx="164592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Person</a:t>
            </a:r>
            <a:endParaRPr lang="en-US" sz="1600" dirty="0"/>
          </a:p>
        </p:txBody>
      </p:sp>
      <p:sp>
        <p:nvSpPr>
          <p:cNvPr id="8" name="Text 6"/>
          <p:cNvSpPr/>
          <p:nvPr/>
        </p:nvSpPr>
        <p:spPr>
          <a:xfrm>
            <a:off x="914400" y="2752344"/>
            <a:ext cx="16459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Một lớp thực thể</a:t>
            </a:r>
            <a:endParaRPr lang="en-US" sz="1150" dirty="0"/>
          </a:p>
        </p:txBody>
      </p:sp>
      <p:sp>
        <p:nvSpPr>
          <p:cNvPr id="9" name="Shape 7"/>
          <p:cNvSpPr/>
          <p:nvPr/>
        </p:nvSpPr>
        <p:spPr>
          <a:xfrm>
            <a:off x="3657600" y="2148840"/>
            <a:ext cx="210312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886200" y="2331720"/>
            <a:ext cx="164592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Movie</a:t>
            </a:r>
            <a:endParaRPr lang="en-US" sz="1600" dirty="0"/>
          </a:p>
        </p:txBody>
      </p:sp>
      <p:sp>
        <p:nvSpPr>
          <p:cNvPr id="11" name="Text 9"/>
          <p:cNvSpPr/>
          <p:nvPr/>
        </p:nvSpPr>
        <p:spPr>
          <a:xfrm>
            <a:off x="3886200" y="2752344"/>
            <a:ext cx="16459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Một lớp thực thể</a:t>
            </a:r>
            <a:endParaRPr lang="en-US" sz="1150" dirty="0"/>
          </a:p>
        </p:txBody>
      </p:sp>
      <p:sp>
        <p:nvSpPr>
          <p:cNvPr id="12" name="Shape 10"/>
          <p:cNvSpPr/>
          <p:nvPr/>
        </p:nvSpPr>
        <p:spPr>
          <a:xfrm>
            <a:off x="2816352" y="2724912"/>
            <a:ext cx="795528" cy="0"/>
          </a:xfrm>
          <a:prstGeom prst="line">
            <a:avLst/>
          </a:prstGeom>
          <a:noFill/>
          <a:ln w="25400">
            <a:solidFill>
              <a:srgbClr val="3D8B66"/>
            </a:solidFill>
            <a:prstDash val="solid"/>
            <a:tailEnd type="triangle"/>
          </a:ln>
        </p:spPr>
      </p:sp>
      <p:sp>
        <p:nvSpPr>
          <p:cNvPr id="13" name="Text 11"/>
          <p:cNvSpPr/>
          <p:nvPr/>
        </p:nvSpPr>
        <p:spPr>
          <a:xfrm>
            <a:off x="2816352" y="2359152"/>
            <a:ext cx="795528" cy="182880"/>
          </a:xfrm>
          <a:prstGeom prst="rect">
            <a:avLst/>
          </a:prstGeom>
          <a:noFill/>
          <a:ln/>
        </p:spPr>
        <p:txBody>
          <a:bodyPr wrap="square" lIns="0" tIns="0" rIns="0" bIns="0" rtlCol="0" anchor="ctr"/>
          <a:lstStyle/>
          <a:p>
            <a:pPr algn="ctr" indent="0" marL="0">
              <a:buNone/>
            </a:pPr>
            <a:r>
              <a:rPr lang="en-US" sz="900" b="1" dirty="0">
                <a:solidFill>
                  <a:srgbClr val="3D8B66"/>
                </a:solidFill>
                <a:latin typeface="Arial" pitchFamily="34" charset="0"/>
                <a:ea typeface="Arial" pitchFamily="34" charset="-122"/>
                <a:cs typeface="Arial" pitchFamily="34" charset="-120"/>
              </a:rPr>
              <a:t>directed</a:t>
            </a:r>
            <a:endParaRPr lang="en-US" sz="900" dirty="0"/>
          </a:p>
        </p:txBody>
      </p:sp>
      <p:sp>
        <p:nvSpPr>
          <p:cNvPr id="14" name="Text 12"/>
          <p:cNvSpPr/>
          <p:nvPr/>
        </p:nvSpPr>
        <p:spPr>
          <a:xfrm>
            <a:off x="1417320" y="3584448"/>
            <a:ext cx="3566160" cy="256032"/>
          </a:xfrm>
          <a:prstGeom prst="rect">
            <a:avLst/>
          </a:prstGeom>
          <a:noFill/>
          <a:ln/>
        </p:spPr>
        <p:txBody>
          <a:bodyPr wrap="square" lIns="0" tIns="0" rIns="0" bIns="0" rtlCol="0" anchor="ctr"/>
          <a:lstStyle/>
          <a:p>
            <a:pPr algn="ctr" indent="0" marL="0">
              <a:buNone/>
            </a:pPr>
            <a:r>
              <a:rPr lang="en-US" sz="1300" b="1" dirty="0">
                <a:solidFill>
                  <a:srgbClr val="112B46"/>
                </a:solidFill>
                <a:latin typeface="Calibri" pitchFamily="34" charset="0"/>
                <a:ea typeface="Calibri" pitchFamily="34" charset="-122"/>
                <a:cs typeface="Calibri" pitchFamily="34" charset="-120"/>
              </a:rPr>
              <a:t>Domain: Person · Range: Movie</a:t>
            </a:r>
            <a:endParaRPr lang="en-US" sz="1300" dirty="0"/>
          </a:p>
        </p:txBody>
      </p:sp>
      <p:sp>
        <p:nvSpPr>
          <p:cNvPr id="15" name="Shape 13"/>
          <p:cNvSpPr/>
          <p:nvPr/>
        </p:nvSpPr>
        <p:spPr>
          <a:xfrm>
            <a:off x="6080760" y="2057400"/>
            <a:ext cx="914400" cy="1874520"/>
          </a:xfrm>
          <a:prstGeom prst="chevron">
            <a:avLst/>
          </a:prstGeom>
          <a:solidFill>
            <a:srgbClr val="FFF2DF"/>
          </a:solidFill>
          <a:ln w="12700">
            <a:solidFill>
              <a:srgbClr val="D38B36"/>
            </a:solidFill>
            <a:prstDash val="solid"/>
          </a:ln>
        </p:spPr>
      </p:sp>
      <p:sp>
        <p:nvSpPr>
          <p:cNvPr id="16" name="Text 14"/>
          <p:cNvSpPr/>
          <p:nvPr/>
        </p:nvSpPr>
        <p:spPr>
          <a:xfrm rot="5400000">
            <a:off x="6126480" y="2761488"/>
            <a:ext cx="640080" cy="228600"/>
          </a:xfrm>
          <a:prstGeom prst="rect">
            <a:avLst/>
          </a:prstGeom>
          <a:noFill/>
          <a:ln/>
        </p:spPr>
        <p:txBody>
          <a:bodyPr wrap="square" lIns="0" tIns="0" rIns="0" bIns="0" rtlCol="0" anchor="ctr"/>
          <a:lstStyle/>
          <a:p>
            <a:pPr algn="ctr" indent="0" marL="0">
              <a:buNone/>
            </a:pPr>
            <a:r>
              <a:rPr lang="en-US" sz="900" b="1" dirty="0">
                <a:solidFill>
                  <a:srgbClr val="D38B36"/>
                </a:solidFill>
                <a:latin typeface="Arial" pitchFamily="34" charset="0"/>
                <a:ea typeface="Arial" pitchFamily="34" charset="-122"/>
                <a:cs typeface="Arial" pitchFamily="34" charset="-120"/>
              </a:rPr>
              <a:t>thể hiện</a:t>
            </a:r>
            <a:endParaRPr lang="en-US" sz="900" dirty="0"/>
          </a:p>
        </p:txBody>
      </p:sp>
      <p:sp>
        <p:nvSpPr>
          <p:cNvPr id="17" name="Text 15"/>
          <p:cNvSpPr/>
          <p:nvPr/>
        </p:nvSpPr>
        <p:spPr>
          <a:xfrm>
            <a:off x="7360920" y="1755648"/>
            <a:ext cx="3840480" cy="228600"/>
          </a:xfrm>
          <a:prstGeom prst="rect">
            <a:avLst/>
          </a:prstGeom>
          <a:noFill/>
          <a:ln/>
        </p:spPr>
        <p:txBody>
          <a:bodyPr wrap="square" lIns="0" tIns="0" rIns="0" bIns="0" rtlCol="0" anchor="ctr"/>
          <a:lstStyle/>
          <a:p>
            <a:pPr indent="0" marL="0">
              <a:buNone/>
            </a:pPr>
            <a:r>
              <a:rPr lang="en-US" sz="1000" b="1" spc="110" kern="0" dirty="0">
                <a:solidFill>
                  <a:srgbClr val="337B80"/>
                </a:solidFill>
                <a:latin typeface="Arial" pitchFamily="34" charset="0"/>
                <a:ea typeface="Arial" pitchFamily="34" charset="-122"/>
                <a:cs typeface="Arial" pitchFamily="34" charset="-120"/>
              </a:rPr>
              <a:t>LỚP SỰ KIỆN · ABOX / INSTANCE</a:t>
            </a:r>
            <a:endParaRPr lang="en-US" sz="1000" dirty="0"/>
          </a:p>
        </p:txBody>
      </p:sp>
      <p:sp>
        <p:nvSpPr>
          <p:cNvPr id="18" name="Shape 16"/>
          <p:cNvSpPr/>
          <p:nvPr/>
        </p:nvSpPr>
        <p:spPr>
          <a:xfrm>
            <a:off x="7360920" y="2148840"/>
            <a:ext cx="187452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9" name="Text 17"/>
          <p:cNvSpPr/>
          <p:nvPr/>
        </p:nvSpPr>
        <p:spPr>
          <a:xfrm>
            <a:off x="7589520" y="2331720"/>
            <a:ext cx="141732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Nolan</a:t>
            </a:r>
            <a:endParaRPr lang="en-US" sz="1600" dirty="0"/>
          </a:p>
        </p:txBody>
      </p:sp>
      <p:sp>
        <p:nvSpPr>
          <p:cNvPr id="20" name="Text 18"/>
          <p:cNvSpPr/>
          <p:nvPr/>
        </p:nvSpPr>
        <p:spPr>
          <a:xfrm>
            <a:off x="7589520" y="2752344"/>
            <a:ext cx="14173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instanceOf Person</a:t>
            </a:r>
            <a:endParaRPr lang="en-US" sz="1150" dirty="0"/>
          </a:p>
        </p:txBody>
      </p:sp>
      <p:sp>
        <p:nvSpPr>
          <p:cNvPr id="21" name="Shape 19"/>
          <p:cNvSpPr/>
          <p:nvPr/>
        </p:nvSpPr>
        <p:spPr>
          <a:xfrm>
            <a:off x="10012680" y="2148840"/>
            <a:ext cx="155448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10241280" y="2331720"/>
            <a:ext cx="1097280" cy="301752"/>
          </a:xfrm>
          <a:prstGeom prst="rect">
            <a:avLst/>
          </a:prstGeom>
          <a:noFill/>
          <a:ln/>
        </p:spPr>
        <p:txBody>
          <a:bodyPr wrap="square" lIns="0" tIns="0" rIns="0" bIns="0" rtlCol="0" anchor="ctr">
            <a:normAutofit/>
          </a:bodyPr>
          <a:lstStyle/>
          <a:p>
            <a:pPr indent="0" marL="0">
              <a:buNone/>
            </a:pPr>
            <a:r>
              <a:rPr lang="en-US" sz="1500" b="1" dirty="0">
                <a:solidFill>
                  <a:srgbClr val="337B80"/>
                </a:solidFill>
                <a:latin typeface="Calibri" pitchFamily="34" charset="0"/>
                <a:ea typeface="Calibri" pitchFamily="34" charset="-122"/>
                <a:cs typeface="Calibri" pitchFamily="34" charset="-120"/>
              </a:rPr>
              <a:t>Inception</a:t>
            </a:r>
            <a:endParaRPr lang="en-US" sz="1500" dirty="0"/>
          </a:p>
        </p:txBody>
      </p:sp>
      <p:sp>
        <p:nvSpPr>
          <p:cNvPr id="23" name="Text 21"/>
          <p:cNvSpPr/>
          <p:nvPr/>
        </p:nvSpPr>
        <p:spPr>
          <a:xfrm>
            <a:off x="10241280" y="2752344"/>
            <a:ext cx="109728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instanceOf Movie</a:t>
            </a:r>
            <a:endParaRPr lang="en-US" sz="1150" dirty="0"/>
          </a:p>
        </p:txBody>
      </p:sp>
      <p:sp>
        <p:nvSpPr>
          <p:cNvPr id="24" name="Shape 22"/>
          <p:cNvSpPr/>
          <p:nvPr/>
        </p:nvSpPr>
        <p:spPr>
          <a:xfrm>
            <a:off x="9253728" y="2724912"/>
            <a:ext cx="731520" cy="0"/>
          </a:xfrm>
          <a:prstGeom prst="line">
            <a:avLst/>
          </a:prstGeom>
          <a:noFill/>
          <a:ln w="25400">
            <a:solidFill>
              <a:srgbClr val="3D8B66"/>
            </a:solidFill>
            <a:prstDash val="solid"/>
            <a:tailEnd type="triangle"/>
          </a:ln>
        </p:spPr>
      </p:sp>
      <p:sp>
        <p:nvSpPr>
          <p:cNvPr id="25" name="Text 23"/>
          <p:cNvSpPr/>
          <p:nvPr/>
        </p:nvSpPr>
        <p:spPr>
          <a:xfrm>
            <a:off x="9253728" y="2359152"/>
            <a:ext cx="731520" cy="182880"/>
          </a:xfrm>
          <a:prstGeom prst="rect">
            <a:avLst/>
          </a:prstGeom>
          <a:noFill/>
          <a:ln/>
        </p:spPr>
        <p:txBody>
          <a:bodyPr wrap="square" lIns="0" tIns="0" rIns="0" bIns="0" rtlCol="0" anchor="ctr"/>
          <a:lstStyle/>
          <a:p>
            <a:pPr algn="ctr" indent="0" marL="0">
              <a:buNone/>
            </a:pPr>
            <a:r>
              <a:rPr lang="en-US" sz="900" b="1" dirty="0">
                <a:solidFill>
                  <a:srgbClr val="3D8B66"/>
                </a:solidFill>
                <a:latin typeface="Arial" pitchFamily="34" charset="0"/>
                <a:ea typeface="Arial" pitchFamily="34" charset="-122"/>
                <a:cs typeface="Arial" pitchFamily="34" charset="-120"/>
              </a:rPr>
              <a:t>directed</a:t>
            </a:r>
            <a:endParaRPr lang="en-US" sz="900" dirty="0"/>
          </a:p>
        </p:txBody>
      </p:sp>
      <p:sp>
        <p:nvSpPr>
          <p:cNvPr id="26" name="Shape 24"/>
          <p:cNvSpPr/>
          <p:nvPr/>
        </p:nvSpPr>
        <p:spPr>
          <a:xfrm>
            <a:off x="1005840" y="4681728"/>
            <a:ext cx="3063240" cy="960120"/>
          </a:xfrm>
          <a:prstGeom prst="roundRect">
            <a:avLst>
              <a:gd name="adj" fmla="val 5714"/>
            </a:avLst>
          </a:prstGeom>
          <a:solidFill>
            <a:srgbClr val="FFFFFF"/>
          </a:solidFill>
          <a:ln w="12700">
            <a:solidFill>
              <a:srgbClr val="D7DEE8"/>
            </a:solidFill>
            <a:prstDash val="solid"/>
          </a:ln>
        </p:spPr>
      </p:sp>
      <p:sp>
        <p:nvSpPr>
          <p:cNvPr id="27" name="Shape 25"/>
          <p:cNvSpPr/>
          <p:nvPr/>
        </p:nvSpPr>
        <p:spPr>
          <a:xfrm>
            <a:off x="1207008" y="4882896"/>
            <a:ext cx="384048" cy="384048"/>
          </a:xfrm>
          <a:prstGeom prst="ellipse">
            <a:avLst/>
          </a:prstGeom>
          <a:solidFill>
            <a:srgbClr val="337B80"/>
          </a:solidFill>
          <a:ln w="12700">
            <a:solidFill>
              <a:srgbClr val="337B80"/>
            </a:solidFill>
            <a:prstDash val="solid"/>
          </a:ln>
        </p:spPr>
      </p:sp>
      <p:sp>
        <p:nvSpPr>
          <p:cNvPr id="28" name="Text 26"/>
          <p:cNvSpPr/>
          <p:nvPr/>
        </p:nvSpPr>
        <p:spPr>
          <a:xfrm>
            <a:off x="120700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9" name="Text 27"/>
          <p:cNvSpPr/>
          <p:nvPr/>
        </p:nvSpPr>
        <p:spPr>
          <a:xfrm>
            <a:off x="171907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Schema của đồ thị</a:t>
            </a:r>
            <a:endParaRPr lang="en-US" sz="1600" dirty="0"/>
          </a:p>
        </p:txBody>
      </p:sp>
      <p:sp>
        <p:nvSpPr>
          <p:cNvPr id="30" name="Text 28"/>
          <p:cNvSpPr/>
          <p:nvPr/>
        </p:nvSpPr>
        <p:spPr>
          <a:xfrm>
            <a:off x="1234440" y="5285232"/>
            <a:ext cx="2606040" cy="17373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Quy định dữ liệu được phép có những lớp, quan hệ và ràng buộc nào.</a:t>
            </a:r>
            <a:endParaRPr lang="en-US" sz="950" dirty="0"/>
          </a:p>
        </p:txBody>
      </p:sp>
      <p:sp>
        <p:nvSpPr>
          <p:cNvPr id="31" name="Shape 29"/>
          <p:cNvSpPr/>
          <p:nvPr/>
        </p:nvSpPr>
        <p:spPr>
          <a:xfrm>
            <a:off x="4572000" y="4681728"/>
            <a:ext cx="3063240" cy="960120"/>
          </a:xfrm>
          <a:prstGeom prst="roundRect">
            <a:avLst>
              <a:gd name="adj" fmla="val 5714"/>
            </a:avLst>
          </a:prstGeom>
          <a:solidFill>
            <a:srgbClr val="F0ECF7"/>
          </a:solidFill>
          <a:ln w="12700">
            <a:solidFill>
              <a:srgbClr val="D7DEE8"/>
            </a:solidFill>
            <a:prstDash val="solid"/>
          </a:ln>
        </p:spPr>
      </p:sp>
      <p:sp>
        <p:nvSpPr>
          <p:cNvPr id="32" name="Shape 30"/>
          <p:cNvSpPr/>
          <p:nvPr/>
        </p:nvSpPr>
        <p:spPr>
          <a:xfrm>
            <a:off x="4773168" y="4882896"/>
            <a:ext cx="384048" cy="384048"/>
          </a:xfrm>
          <a:prstGeom prst="ellipse">
            <a:avLst/>
          </a:prstGeom>
          <a:solidFill>
            <a:srgbClr val="725B9B"/>
          </a:solidFill>
          <a:ln w="12700">
            <a:solidFill>
              <a:srgbClr val="725B9B"/>
            </a:solidFill>
            <a:prstDash val="solid"/>
          </a:ln>
        </p:spPr>
      </p:sp>
      <p:sp>
        <p:nvSpPr>
          <p:cNvPr id="33" name="Text 31"/>
          <p:cNvSpPr/>
          <p:nvPr/>
        </p:nvSpPr>
        <p:spPr>
          <a:xfrm>
            <a:off x="477316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4" name="Text 32"/>
          <p:cNvSpPr/>
          <p:nvPr/>
        </p:nvSpPr>
        <p:spPr>
          <a:xfrm>
            <a:off x="528523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Cơ sở tri thức</a:t>
            </a:r>
            <a:endParaRPr lang="en-US" sz="1600" dirty="0"/>
          </a:p>
        </p:txBody>
      </p:sp>
      <p:sp>
        <p:nvSpPr>
          <p:cNvPr id="35" name="Text 33"/>
          <p:cNvSpPr/>
          <p:nvPr/>
        </p:nvSpPr>
        <p:spPr>
          <a:xfrm>
            <a:off x="4800600" y="5285232"/>
            <a:ext cx="2606040" cy="17373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Kết hợp schema với tập thực thể và sự kiện đang được lưu.</a:t>
            </a:r>
            <a:endParaRPr lang="en-US" sz="950" dirty="0"/>
          </a:p>
        </p:txBody>
      </p:sp>
      <p:sp>
        <p:nvSpPr>
          <p:cNvPr id="36" name="Shape 34"/>
          <p:cNvSpPr/>
          <p:nvPr/>
        </p:nvSpPr>
        <p:spPr>
          <a:xfrm>
            <a:off x="8138160" y="4681728"/>
            <a:ext cx="3063240" cy="960120"/>
          </a:xfrm>
          <a:prstGeom prst="roundRect">
            <a:avLst>
              <a:gd name="adj" fmla="val 5714"/>
            </a:avLst>
          </a:prstGeom>
          <a:solidFill>
            <a:srgbClr val="E8F4EE"/>
          </a:solidFill>
          <a:ln w="12700">
            <a:solidFill>
              <a:srgbClr val="D7DEE8"/>
            </a:solidFill>
            <a:prstDash val="solid"/>
          </a:ln>
        </p:spPr>
      </p:sp>
      <p:sp>
        <p:nvSpPr>
          <p:cNvPr id="37" name="Shape 35"/>
          <p:cNvSpPr/>
          <p:nvPr/>
        </p:nvSpPr>
        <p:spPr>
          <a:xfrm>
            <a:off x="8339328" y="4882896"/>
            <a:ext cx="384048" cy="384048"/>
          </a:xfrm>
          <a:prstGeom prst="ellipse">
            <a:avLst/>
          </a:prstGeom>
          <a:solidFill>
            <a:srgbClr val="3D8B66"/>
          </a:solidFill>
          <a:ln w="12700">
            <a:solidFill>
              <a:srgbClr val="3D8B66"/>
            </a:solidFill>
            <a:prstDash val="solid"/>
          </a:ln>
        </p:spPr>
      </p:sp>
      <p:sp>
        <p:nvSpPr>
          <p:cNvPr id="38" name="Text 36"/>
          <p:cNvSpPr/>
          <p:nvPr/>
        </p:nvSpPr>
        <p:spPr>
          <a:xfrm>
            <a:off x="833932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9" name="Text 37"/>
          <p:cNvSpPr/>
          <p:nvPr/>
        </p:nvSpPr>
        <p:spPr>
          <a:xfrm>
            <a:off x="885139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Đồ thị tri thức</a:t>
            </a:r>
            <a:endParaRPr lang="en-US" sz="1600" dirty="0"/>
          </a:p>
        </p:txBody>
      </p:sp>
      <p:sp>
        <p:nvSpPr>
          <p:cNvPr id="40" name="Text 38"/>
          <p:cNvSpPr/>
          <p:nvPr/>
        </p:nvSpPr>
        <p:spPr>
          <a:xfrm>
            <a:off x="8366760" y="5285232"/>
            <a:ext cx="2606040" cy="17373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Tổ chức cơ sở tri thức thành các đường liên kết có thể truy vấn và kiểm chứng.</a:t>
            </a:r>
            <a:endParaRPr lang="en-US" sz="9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BIỂU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Property Graph biểu diễn trực tiếp node, cạnh và thuộc tính</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mô hình đồ thị duy nhất được triển khai trong dự án.</a:t>
            </a:r>
            <a:endParaRPr lang="en-US" sz="1250" dirty="0"/>
          </a:p>
        </p:txBody>
      </p:sp>
      <p:sp>
        <p:nvSpPr>
          <p:cNvPr id="5" name="Shape 3"/>
          <p:cNvSpPr/>
          <p:nvPr/>
        </p:nvSpPr>
        <p:spPr>
          <a:xfrm>
            <a:off x="621792" y="1755648"/>
            <a:ext cx="7059168" cy="4297680"/>
          </a:xfrm>
          <a:prstGeom prst="roundRect">
            <a:avLst>
              <a:gd name="adj" fmla="val 1064"/>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96112" y="2011680"/>
            <a:ext cx="2011680" cy="219456"/>
          </a:xfrm>
          <a:prstGeom prst="rect">
            <a:avLst/>
          </a:prstGeom>
          <a:noFill/>
          <a:ln/>
        </p:spPr>
        <p:txBody>
          <a:bodyPr wrap="square" lIns="0" tIns="0" rIns="0" bIns="0" rtlCol="0" anchor="ctr"/>
          <a:lstStyle/>
          <a:p>
            <a:pPr indent="0" marL="0">
              <a:buNone/>
            </a:pPr>
            <a:r>
              <a:rPr lang="en-US" sz="950" b="1" spc="110" kern="0" dirty="0">
                <a:solidFill>
                  <a:srgbClr val="337B80"/>
                </a:solidFill>
                <a:latin typeface="Arial" pitchFamily="34" charset="0"/>
                <a:ea typeface="Arial" pitchFamily="34" charset="-122"/>
                <a:cs typeface="Arial" pitchFamily="34" charset="-120"/>
              </a:rPr>
              <a:t>VÍ DỤ KHÁI NIỆM</a:t>
            </a:r>
            <a:endParaRPr lang="en-US" sz="950" dirty="0"/>
          </a:p>
        </p:txBody>
      </p:sp>
      <p:sp>
        <p:nvSpPr>
          <p:cNvPr id="7" name="Shape 5"/>
          <p:cNvSpPr/>
          <p:nvPr/>
        </p:nvSpPr>
        <p:spPr>
          <a:xfrm>
            <a:off x="987552" y="2743200"/>
            <a:ext cx="1508760" cy="150876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1216152" y="3246120"/>
            <a:ext cx="1051560" cy="2743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:Person</a:t>
            </a:r>
            <a:endParaRPr lang="en-US" sz="1800" dirty="0"/>
          </a:p>
        </p:txBody>
      </p:sp>
      <p:sp>
        <p:nvSpPr>
          <p:cNvPr id="9" name="Shape 7"/>
          <p:cNvSpPr/>
          <p:nvPr/>
        </p:nvSpPr>
        <p:spPr>
          <a:xfrm>
            <a:off x="5413248" y="2743200"/>
            <a:ext cx="1508760" cy="150876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5641848" y="3246120"/>
            <a:ext cx="1051560" cy="274320"/>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:Movie</a:t>
            </a:r>
            <a:endParaRPr lang="en-US" sz="1800" dirty="0"/>
          </a:p>
        </p:txBody>
      </p:sp>
      <p:sp>
        <p:nvSpPr>
          <p:cNvPr id="11" name="Shape 9"/>
          <p:cNvSpPr/>
          <p:nvPr/>
        </p:nvSpPr>
        <p:spPr>
          <a:xfrm>
            <a:off x="2542032" y="3493008"/>
            <a:ext cx="2816352" cy="0"/>
          </a:xfrm>
          <a:prstGeom prst="line">
            <a:avLst/>
          </a:prstGeom>
          <a:noFill/>
          <a:ln w="31750">
            <a:solidFill>
              <a:srgbClr val="3D8B66"/>
            </a:solidFill>
            <a:prstDash val="solid"/>
            <a:tailEnd type="triangle"/>
          </a:ln>
        </p:spPr>
      </p:sp>
      <p:sp>
        <p:nvSpPr>
          <p:cNvPr id="12" name="Text 10"/>
          <p:cNvSpPr/>
          <p:nvPr/>
        </p:nvSpPr>
        <p:spPr>
          <a:xfrm>
            <a:off x="3218688" y="3035808"/>
            <a:ext cx="1508760" cy="237744"/>
          </a:xfrm>
          <a:prstGeom prst="rect">
            <a:avLst/>
          </a:prstGeom>
          <a:noFill/>
          <a:ln/>
        </p:spPr>
        <p:txBody>
          <a:bodyPr wrap="square" lIns="0" tIns="0" rIns="0" bIns="0" rtlCol="0" anchor="ctr"/>
          <a:lstStyle/>
          <a:p>
            <a:pPr algn="ctr" indent="0" marL="0">
              <a:buNone/>
            </a:pPr>
            <a:r>
              <a:rPr lang="en-US" sz="1100" b="1" dirty="0">
                <a:solidFill>
                  <a:srgbClr val="3D8B66"/>
                </a:solidFill>
                <a:latin typeface="Arial" pitchFamily="34" charset="0"/>
                <a:ea typeface="Arial" pitchFamily="34" charset="-122"/>
                <a:cs typeface="Arial" pitchFamily="34" charset="-120"/>
              </a:rPr>
              <a:t>:ACTED_IN</a:t>
            </a:r>
            <a:endParaRPr lang="en-US" sz="1100" dirty="0"/>
          </a:p>
        </p:txBody>
      </p:sp>
      <p:sp>
        <p:nvSpPr>
          <p:cNvPr id="13" name="Shape 11"/>
          <p:cNvSpPr/>
          <p:nvPr/>
        </p:nvSpPr>
        <p:spPr>
          <a:xfrm>
            <a:off x="896112" y="4681728"/>
            <a:ext cx="2057400" cy="960120"/>
          </a:xfrm>
          <a:prstGeom prst="roundRect">
            <a:avLst>
              <a:gd name="adj" fmla="val 5714"/>
            </a:avLst>
          </a:prstGeom>
          <a:solidFill>
            <a:srgbClr val="F0ECF7"/>
          </a:solidFill>
          <a:ln w="12700">
            <a:solidFill>
              <a:srgbClr val="D9CFE8"/>
            </a:solidFill>
            <a:prstDash val="solid"/>
          </a:ln>
        </p:spPr>
      </p:sp>
      <p:sp>
        <p:nvSpPr>
          <p:cNvPr id="14" name="Text 12"/>
          <p:cNvSpPr/>
          <p:nvPr/>
        </p:nvSpPr>
        <p:spPr>
          <a:xfrm>
            <a:off x="1124712" y="4864608"/>
            <a:ext cx="1600200" cy="301752"/>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alibri" pitchFamily="34" charset="0"/>
                <a:ea typeface="Calibri" pitchFamily="34" charset="-122"/>
                <a:cs typeface="Calibri" pitchFamily="34" charset="-120"/>
              </a:rPr>
              <a:t>Thuộc tính Person</a:t>
            </a:r>
            <a:endParaRPr lang="en-US" sz="1250" dirty="0"/>
          </a:p>
        </p:txBody>
      </p:sp>
      <p:sp>
        <p:nvSpPr>
          <p:cNvPr id="15" name="Text 13"/>
          <p:cNvSpPr/>
          <p:nvPr/>
        </p:nvSpPr>
        <p:spPr>
          <a:xfrm>
            <a:off x="1124712" y="5285232"/>
            <a:ext cx="1600200" cy="173736"/>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`name`, `birthday` mô tả người.</a:t>
            </a:r>
            <a:endParaRPr lang="en-US" sz="920" dirty="0"/>
          </a:p>
        </p:txBody>
      </p:sp>
      <p:sp>
        <p:nvSpPr>
          <p:cNvPr id="16" name="Shape 14"/>
          <p:cNvSpPr/>
          <p:nvPr/>
        </p:nvSpPr>
        <p:spPr>
          <a:xfrm>
            <a:off x="2999232" y="4681728"/>
            <a:ext cx="2286000" cy="960120"/>
          </a:xfrm>
          <a:prstGeom prst="roundRect">
            <a:avLst>
              <a:gd name="adj" fmla="val 5714"/>
            </a:avLst>
          </a:prstGeom>
          <a:solidFill>
            <a:srgbClr val="E8F4EE"/>
          </a:solidFill>
          <a:ln w="12700">
            <a:solidFill>
              <a:srgbClr val="C4E2D1"/>
            </a:solidFill>
            <a:prstDash val="solid"/>
          </a:ln>
        </p:spPr>
      </p:sp>
      <p:sp>
        <p:nvSpPr>
          <p:cNvPr id="17" name="Text 15"/>
          <p:cNvSpPr/>
          <p:nvPr/>
        </p:nvSpPr>
        <p:spPr>
          <a:xfrm>
            <a:off x="3227832" y="4864608"/>
            <a:ext cx="1828800" cy="301752"/>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alibri" pitchFamily="34" charset="0"/>
                <a:ea typeface="Calibri" pitchFamily="34" charset="-122"/>
                <a:cs typeface="Calibri" pitchFamily="34" charset="-120"/>
              </a:rPr>
              <a:t>Thuộc tính ACTED_IN</a:t>
            </a:r>
            <a:endParaRPr lang="en-US" sz="1250" dirty="0"/>
          </a:p>
        </p:txBody>
      </p:sp>
      <p:sp>
        <p:nvSpPr>
          <p:cNvPr id="18" name="Text 16"/>
          <p:cNvSpPr/>
          <p:nvPr/>
        </p:nvSpPr>
        <p:spPr>
          <a:xfrm>
            <a:off x="3227832" y="5285232"/>
            <a:ext cx="1828800" cy="173736"/>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`character`, `cast_order` mô tả lần tham gia.</a:t>
            </a:r>
            <a:endParaRPr lang="en-US" sz="920" dirty="0"/>
          </a:p>
        </p:txBody>
      </p:sp>
      <p:sp>
        <p:nvSpPr>
          <p:cNvPr id="19" name="Shape 17"/>
          <p:cNvSpPr/>
          <p:nvPr/>
        </p:nvSpPr>
        <p:spPr>
          <a:xfrm>
            <a:off x="5330952" y="4681728"/>
            <a:ext cx="2057400" cy="960120"/>
          </a:xfrm>
          <a:prstGeom prst="roundRect">
            <a:avLst>
              <a:gd name="adj" fmla="val 5714"/>
            </a:avLst>
          </a:prstGeom>
          <a:solidFill>
            <a:srgbClr val="EAF2F8"/>
          </a:solidFill>
          <a:ln w="12700">
            <a:solidFill>
              <a:srgbClr val="BDD4E5"/>
            </a:solidFill>
            <a:prstDash val="solid"/>
          </a:ln>
        </p:spPr>
      </p:sp>
      <p:sp>
        <p:nvSpPr>
          <p:cNvPr id="20" name="Text 18"/>
          <p:cNvSpPr/>
          <p:nvPr/>
        </p:nvSpPr>
        <p:spPr>
          <a:xfrm>
            <a:off x="5559552" y="4864608"/>
            <a:ext cx="1600200" cy="301752"/>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alibri" pitchFamily="34" charset="0"/>
                <a:ea typeface="Calibri" pitchFamily="34" charset="-122"/>
                <a:cs typeface="Calibri" pitchFamily="34" charset="-120"/>
              </a:rPr>
              <a:t>Thuộc tính Movie</a:t>
            </a:r>
            <a:endParaRPr lang="en-US" sz="1250" dirty="0"/>
          </a:p>
        </p:txBody>
      </p:sp>
      <p:sp>
        <p:nvSpPr>
          <p:cNvPr id="21" name="Text 19"/>
          <p:cNvSpPr/>
          <p:nvPr/>
        </p:nvSpPr>
        <p:spPr>
          <a:xfrm>
            <a:off x="5559552" y="5285232"/>
            <a:ext cx="1600200" cy="173736"/>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`title`, `release_date` mô tả phim.</a:t>
            </a:r>
            <a:endParaRPr lang="en-US" sz="920" dirty="0"/>
          </a:p>
        </p:txBody>
      </p:sp>
      <p:sp>
        <p:nvSpPr>
          <p:cNvPr id="22" name="Shape 20"/>
          <p:cNvSpPr/>
          <p:nvPr/>
        </p:nvSpPr>
        <p:spPr>
          <a:xfrm>
            <a:off x="7973568" y="1792224"/>
            <a:ext cx="356616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3" name="Shape 21"/>
          <p:cNvSpPr/>
          <p:nvPr/>
        </p:nvSpPr>
        <p:spPr>
          <a:xfrm>
            <a:off x="8174736" y="1993392"/>
            <a:ext cx="384048" cy="384048"/>
          </a:xfrm>
          <a:prstGeom prst="ellipse">
            <a:avLst/>
          </a:prstGeom>
          <a:solidFill>
            <a:srgbClr val="337B80"/>
          </a:solidFill>
          <a:ln w="12700">
            <a:solidFill>
              <a:srgbClr val="337B80"/>
            </a:solidFill>
            <a:prstDash val="solid"/>
          </a:ln>
        </p:spPr>
      </p:sp>
      <p:sp>
        <p:nvSpPr>
          <p:cNvPr id="24" name="Text 22"/>
          <p:cNvSpPr/>
          <p:nvPr/>
        </p:nvSpPr>
        <p:spPr>
          <a:xfrm>
            <a:off x="8174736" y="204825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25" name="Text 23"/>
          <p:cNvSpPr/>
          <p:nvPr/>
        </p:nvSpPr>
        <p:spPr>
          <a:xfrm>
            <a:off x="8686800" y="1975104"/>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Node biểu diễn thực thể</a:t>
            </a:r>
            <a:endParaRPr lang="en-US" sz="1600" dirty="0"/>
          </a:p>
        </p:txBody>
      </p:sp>
      <p:sp>
        <p:nvSpPr>
          <p:cNvPr id="26" name="Text 24"/>
          <p:cNvSpPr/>
          <p:nvPr/>
        </p:nvSpPr>
        <p:spPr>
          <a:xfrm>
            <a:off x="8202168" y="2395728"/>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Mỗi node có nhãn lớp, định danh ổn định và các thuộc tính mô tả.</a:t>
            </a:r>
            <a:endParaRPr lang="en-US" sz="1050" dirty="0"/>
          </a:p>
        </p:txBody>
      </p:sp>
      <p:sp>
        <p:nvSpPr>
          <p:cNvPr id="27" name="Shape 25"/>
          <p:cNvSpPr/>
          <p:nvPr/>
        </p:nvSpPr>
        <p:spPr>
          <a:xfrm>
            <a:off x="7973568" y="3145536"/>
            <a:ext cx="356616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28" name="Shape 26"/>
          <p:cNvSpPr/>
          <p:nvPr/>
        </p:nvSpPr>
        <p:spPr>
          <a:xfrm>
            <a:off x="8174736" y="3346704"/>
            <a:ext cx="384048" cy="384048"/>
          </a:xfrm>
          <a:prstGeom prst="ellipse">
            <a:avLst/>
          </a:prstGeom>
          <a:solidFill>
            <a:srgbClr val="3D8B66"/>
          </a:solidFill>
          <a:ln w="12700">
            <a:solidFill>
              <a:srgbClr val="3D8B66"/>
            </a:solidFill>
            <a:prstDash val="solid"/>
          </a:ln>
        </p:spPr>
      </p:sp>
      <p:sp>
        <p:nvSpPr>
          <p:cNvPr id="29" name="Text 27"/>
          <p:cNvSpPr/>
          <p:nvPr/>
        </p:nvSpPr>
        <p:spPr>
          <a:xfrm>
            <a:off x="8174736" y="3401568"/>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30" name="Text 28"/>
          <p:cNvSpPr/>
          <p:nvPr/>
        </p:nvSpPr>
        <p:spPr>
          <a:xfrm>
            <a:off x="8686800" y="3328416"/>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Cạnh biểu diễn quan hệ</a:t>
            </a:r>
            <a:endParaRPr lang="en-US" sz="1600" dirty="0"/>
          </a:p>
        </p:txBody>
      </p:sp>
      <p:sp>
        <p:nvSpPr>
          <p:cNvPr id="31" name="Text 29"/>
          <p:cNvSpPr/>
          <p:nvPr/>
        </p:nvSpPr>
        <p:spPr>
          <a:xfrm>
            <a:off x="8202168" y="3749040"/>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Mỗi cạnh có loại và hướng, nhờ đó liên kết mang ý nghĩa thay vì chỉ nối hai điểm.</a:t>
            </a:r>
            <a:endParaRPr lang="en-US" sz="1050" dirty="0"/>
          </a:p>
        </p:txBody>
      </p:sp>
      <p:sp>
        <p:nvSpPr>
          <p:cNvPr id="32" name="Shape 30"/>
          <p:cNvSpPr/>
          <p:nvPr/>
        </p:nvSpPr>
        <p:spPr>
          <a:xfrm>
            <a:off x="7973568" y="4498848"/>
            <a:ext cx="356616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33" name="Shape 31"/>
          <p:cNvSpPr/>
          <p:nvPr/>
        </p:nvSpPr>
        <p:spPr>
          <a:xfrm>
            <a:off x="8174736" y="4700016"/>
            <a:ext cx="384048" cy="384048"/>
          </a:xfrm>
          <a:prstGeom prst="ellipse">
            <a:avLst/>
          </a:prstGeom>
          <a:solidFill>
            <a:srgbClr val="725B9B"/>
          </a:solidFill>
          <a:ln w="12700">
            <a:solidFill>
              <a:srgbClr val="725B9B"/>
            </a:solidFill>
            <a:prstDash val="solid"/>
          </a:ln>
        </p:spPr>
      </p:sp>
      <p:sp>
        <p:nvSpPr>
          <p:cNvPr id="34" name="Text 32"/>
          <p:cNvSpPr/>
          <p:nvPr/>
        </p:nvSpPr>
        <p:spPr>
          <a:xfrm>
            <a:off x="8174736" y="47548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35" name="Text 33"/>
          <p:cNvSpPr/>
          <p:nvPr/>
        </p:nvSpPr>
        <p:spPr>
          <a:xfrm>
            <a:off x="8686800" y="4681728"/>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Thuộc tính giữ ngữ cảnh</a:t>
            </a:r>
            <a:endParaRPr lang="en-US" sz="1600" dirty="0"/>
          </a:p>
        </p:txBody>
      </p:sp>
      <p:sp>
        <p:nvSpPr>
          <p:cNvPr id="36" name="Text 34"/>
          <p:cNvSpPr/>
          <p:nvPr/>
        </p:nvSpPr>
        <p:spPr>
          <a:xfrm>
            <a:off x="8202168" y="5102352"/>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Thuộc tính có thể nằm trên node hoặc cạnh, tùy đối tượng mà nó thực sự mô tả.</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CẤU TRÚC ĐỒ THỊ</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Neighborhood, path và subgraph là đơn vị của tư duy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truy vấn graph không chỉ lọc bản ghi; chúng khám phá cấu trúc liên kết quanh thực thể.</a:t>
            </a:r>
            <a:endParaRPr lang="en-US" sz="1250" dirty="0"/>
          </a:p>
        </p:txBody>
      </p:sp>
      <p:sp>
        <p:nvSpPr>
          <p:cNvPr id="5" name="Shape 3"/>
          <p:cNvSpPr/>
          <p:nvPr/>
        </p:nvSpPr>
        <p:spPr>
          <a:xfrm>
            <a:off x="621792" y="1783080"/>
            <a:ext cx="3429000" cy="4069080"/>
          </a:xfrm>
          <a:prstGeom prst="roundRect">
            <a:avLst>
              <a:gd name="adj" fmla="val 16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Lân cận (neighborhood)</a:t>
            </a:r>
            <a:endParaRPr lang="en-US" sz="1900" dirty="0"/>
          </a:p>
        </p:txBody>
      </p:sp>
      <p:sp>
        <p:nvSpPr>
          <p:cNvPr id="9" name="Text 7"/>
          <p:cNvSpPr/>
          <p:nvPr/>
        </p:nvSpPr>
        <p:spPr>
          <a:xfrm>
            <a:off x="850392" y="2386584"/>
            <a:ext cx="2971800" cy="328269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Là tập thực thể nối trực tiếp hoặc trong một số bước nhất định quanh một thực thể trung tâm.</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Trong dự án, lân cận của một Movie gồm diễn viên, đạo diễn, thể loại, từ khóa và hãng phim; đây là dữ liệu đầu vào của phép gợi ý tương tự.</a:t>
            </a:r>
            <a:endParaRPr lang="en-US" sz="1300" dirty="0"/>
          </a:p>
        </p:txBody>
      </p:sp>
      <p:sp>
        <p:nvSpPr>
          <p:cNvPr id="10" name="Shape 8"/>
          <p:cNvSpPr/>
          <p:nvPr/>
        </p:nvSpPr>
        <p:spPr>
          <a:xfrm>
            <a:off x="4379976" y="1783080"/>
            <a:ext cx="3429000" cy="4069080"/>
          </a:xfrm>
          <a:prstGeom prst="roundRect">
            <a:avLst>
              <a:gd name="adj" fmla="val 16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4581144" y="1984248"/>
            <a:ext cx="384048" cy="384048"/>
          </a:xfrm>
          <a:prstGeom prst="ellipse">
            <a:avLst/>
          </a:prstGeom>
          <a:solidFill>
            <a:srgbClr val="725B9B"/>
          </a:solidFill>
          <a:ln w="12700">
            <a:solidFill>
              <a:srgbClr val="725B9B"/>
            </a:solidFill>
            <a:prstDash val="solid"/>
          </a:ln>
        </p:spPr>
      </p:sp>
      <p:sp>
        <p:nvSpPr>
          <p:cNvPr id="12" name="Text 10"/>
          <p:cNvSpPr/>
          <p:nvPr/>
        </p:nvSpPr>
        <p:spPr>
          <a:xfrm>
            <a:off x="4581144"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p:nvPr/>
        </p:nvSpPr>
        <p:spPr>
          <a:xfrm>
            <a:off x="5093208"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725B9B"/>
                </a:solidFill>
                <a:latin typeface="Calibri" pitchFamily="34" charset="0"/>
                <a:ea typeface="Calibri" pitchFamily="34" charset="-122"/>
                <a:cs typeface="Calibri" pitchFamily="34" charset="-120"/>
              </a:rPr>
              <a:t>Đường đi (path)</a:t>
            </a:r>
            <a:endParaRPr lang="en-US" sz="1900" dirty="0"/>
          </a:p>
        </p:txBody>
      </p:sp>
      <p:sp>
        <p:nvSpPr>
          <p:cNvPr id="14" name="Text 12"/>
          <p:cNvSpPr/>
          <p:nvPr/>
        </p:nvSpPr>
        <p:spPr>
          <a:xfrm>
            <a:off x="4608576" y="2386584"/>
            <a:ext cx="2971800" cy="328269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Là một dãy node và cạnh liên tiếp nối hai thực thể. Độ dài đường đi được tính bằng số cạnh.</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Truy vấn nhiều bước và shortest path không chỉ trả kết quả, mà còn cho biết kết quả được nối qua những quan hệ nào.</a:t>
            </a:r>
            <a:endParaRPr lang="en-US" sz="1300" dirty="0"/>
          </a:p>
        </p:txBody>
      </p:sp>
      <p:sp>
        <p:nvSpPr>
          <p:cNvPr id="15" name="Shape 13"/>
          <p:cNvSpPr/>
          <p:nvPr/>
        </p:nvSpPr>
        <p:spPr>
          <a:xfrm>
            <a:off x="8138160" y="1783080"/>
            <a:ext cx="3429000" cy="4069080"/>
          </a:xfrm>
          <a:prstGeom prst="roundRect">
            <a:avLst>
              <a:gd name="adj" fmla="val 16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339328" y="1984248"/>
            <a:ext cx="384048" cy="384048"/>
          </a:xfrm>
          <a:prstGeom prst="ellipse">
            <a:avLst/>
          </a:prstGeom>
          <a:solidFill>
            <a:srgbClr val="3D8B66"/>
          </a:solidFill>
          <a:ln w="12700">
            <a:solidFill>
              <a:srgbClr val="3D8B66"/>
            </a:solidFill>
            <a:prstDash val="solid"/>
          </a:ln>
        </p:spPr>
      </p:sp>
      <p:sp>
        <p:nvSpPr>
          <p:cNvPr id="17" name="Text 15"/>
          <p:cNvSpPr/>
          <p:nvPr/>
        </p:nvSpPr>
        <p:spPr>
          <a:xfrm>
            <a:off x="833932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p:nvPr/>
        </p:nvSpPr>
        <p:spPr>
          <a:xfrm>
            <a:off x="8851392"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Đồ thị con (subgraph)</a:t>
            </a:r>
            <a:endParaRPr lang="en-US" sz="1900" dirty="0"/>
          </a:p>
        </p:txBody>
      </p:sp>
      <p:sp>
        <p:nvSpPr>
          <p:cNvPr id="19" name="Text 17"/>
          <p:cNvSpPr/>
          <p:nvPr/>
        </p:nvSpPr>
        <p:spPr>
          <a:xfrm>
            <a:off x="8366760" y="2386584"/>
            <a:ext cx="2971800" cy="328269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Là phần graph chỉ gồm các node và cạnh liên quan đến một mục tiêu cụ thể.</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Dự án dùng đồ thị con để giới hạn ngữ cảnh giải thích và tạo các snapshot có cùng phạm vi khi đánh giá.</a:t>
            </a:r>
            <a:endParaRPr lang="en-US" sz="1300" dirty="0"/>
          </a:p>
        </p:txBody>
      </p:sp>
      <p:sp>
        <p:nvSpPr>
          <p:cNvPr id="20" name="Shape 18"/>
          <p:cNvSpPr/>
          <p:nvPr/>
        </p:nvSpPr>
        <p:spPr>
          <a:xfrm>
            <a:off x="2761488" y="4709160"/>
            <a:ext cx="1965960" cy="0"/>
          </a:xfrm>
          <a:prstGeom prst="line">
            <a:avLst/>
          </a:prstGeom>
          <a:noFill/>
          <a:ln w="19050">
            <a:solidFill>
              <a:srgbClr val="697586"/>
            </a:solidFill>
            <a:prstDash val="solid"/>
            <a:tailEnd type="triangle"/>
          </a:ln>
        </p:spPr>
      </p:sp>
      <p:sp>
        <p:nvSpPr>
          <p:cNvPr id="21" name="Shape 19"/>
          <p:cNvSpPr/>
          <p:nvPr/>
        </p:nvSpPr>
        <p:spPr>
          <a:xfrm>
            <a:off x="6528816" y="4709160"/>
            <a:ext cx="1965960" cy="0"/>
          </a:xfrm>
          <a:prstGeom prst="line">
            <a:avLst/>
          </a:prstGeom>
          <a:noFill/>
          <a:ln w="19050">
            <a:solidFill>
              <a:srgbClr val="697586"/>
            </a:solidFill>
            <a:prstDash val="solid"/>
            <a:tailEnd type="triangle"/>
          </a:ln>
        </p:spPr>
      </p:sp>
      <p:sp>
        <p:nvSpPr>
          <p:cNvPr id="22" name="Text 20"/>
          <p:cNvSpPr/>
          <p:nvPr/>
        </p:nvSpPr>
        <p:spPr>
          <a:xfrm>
            <a:off x="2999232" y="4370832"/>
            <a:ext cx="1481328" cy="201168"/>
          </a:xfrm>
          <a:prstGeom prst="rect">
            <a:avLst/>
          </a:prstGeom>
          <a:noFill/>
          <a:ln/>
        </p:spPr>
        <p:txBody>
          <a:bodyPr wrap="square" lIns="0" tIns="0" rIns="0" bIns="0" rtlCol="0" anchor="ctr"/>
          <a:lstStyle/>
          <a:p>
            <a:pPr algn="ctr" indent="0" marL="0">
              <a:buNone/>
            </a:pPr>
            <a:r>
              <a:rPr lang="en-US" sz="850" b="1" dirty="0">
                <a:solidFill>
                  <a:srgbClr val="697586"/>
                </a:solidFill>
                <a:latin typeface="Arial" pitchFamily="34" charset="0"/>
                <a:ea typeface="Arial" pitchFamily="34" charset="-122"/>
                <a:cs typeface="Arial" pitchFamily="34" charset="-120"/>
              </a:rPr>
              <a:t>mở rộng nhiều bước</a:t>
            </a:r>
            <a:endParaRPr lang="en-US" sz="850" dirty="0"/>
          </a:p>
        </p:txBody>
      </p:sp>
      <p:sp>
        <p:nvSpPr>
          <p:cNvPr id="23" name="Text 21"/>
          <p:cNvSpPr/>
          <p:nvPr/>
        </p:nvSpPr>
        <p:spPr>
          <a:xfrm>
            <a:off x="6766560" y="4370832"/>
            <a:ext cx="1481328" cy="201168"/>
          </a:xfrm>
          <a:prstGeom prst="rect">
            <a:avLst/>
          </a:prstGeom>
          <a:noFill/>
          <a:ln/>
        </p:spPr>
        <p:txBody>
          <a:bodyPr wrap="square" lIns="0" tIns="0" rIns="0" bIns="0" rtlCol="0" anchor="ctr"/>
          <a:lstStyle/>
          <a:p>
            <a:pPr algn="ctr" indent="0" marL="0">
              <a:buNone/>
            </a:pPr>
            <a:r>
              <a:rPr lang="en-US" sz="850" b="1" dirty="0">
                <a:solidFill>
                  <a:srgbClr val="697586"/>
                </a:solidFill>
                <a:latin typeface="Arial" pitchFamily="34" charset="0"/>
                <a:ea typeface="Arial" pitchFamily="34" charset="-122"/>
                <a:cs typeface="Arial" pitchFamily="34" charset="-120"/>
              </a:rPr>
              <a:t>giữ phần liên quan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NGUYÊN TẮC THIẾT KẾ</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Bốn điều kiện để một graph trở thành Knowledge Graph hữu dụng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Node và cạnh chỉ tạo ra cấu trúc; bốn nguyên tắc dưới đây mới làm cấu trúc đó có nghĩa và có mục đích.</a:t>
            </a:r>
            <a:endParaRPr lang="en-US" sz="1250" dirty="0"/>
          </a:p>
        </p:txBody>
      </p:sp>
      <p:sp>
        <p:nvSpPr>
          <p:cNvPr id="5" name="Shape 3"/>
          <p:cNvSpPr/>
          <p:nvPr/>
        </p:nvSpPr>
        <p:spPr>
          <a:xfrm>
            <a:off x="621792" y="1755648"/>
            <a:ext cx="5349240" cy="1965960"/>
          </a:xfrm>
          <a:prstGeom prst="roundRect">
            <a:avLst>
              <a:gd name="adj" fmla="val 2791"/>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38528"/>
            <a:ext cx="4892040" cy="301752"/>
          </a:xfrm>
          <a:prstGeom prst="rect">
            <a:avLst/>
          </a:prstGeom>
          <a:noFill/>
          <a:ln/>
        </p:spPr>
        <p:txBody>
          <a:bodyPr wrap="square" lIns="0" tIns="0" rIns="0" bIns="0" rtlCol="0" anchor="ctr">
            <a:normAutofit/>
          </a:bodyPr>
          <a:lstStyle/>
          <a:p>
            <a:pPr indent="0" marL="0">
              <a:buNone/>
            </a:pPr>
            <a:r>
              <a:rPr lang="en-US" sz="1800" b="1" dirty="0">
                <a:solidFill>
                  <a:srgbClr val="337B80"/>
                </a:solidFill>
                <a:latin typeface="Calibri" pitchFamily="34" charset="0"/>
                <a:ea typeface="Calibri" pitchFamily="34" charset="-122"/>
                <a:cs typeface="Calibri" pitchFamily="34" charset="-120"/>
              </a:rPr>
              <a:t>1 · Định danh — biết đang nói về thực thể nào</a:t>
            </a:r>
            <a:endParaRPr lang="en-US" sz="1800" dirty="0"/>
          </a:p>
        </p:txBody>
      </p:sp>
      <p:sp>
        <p:nvSpPr>
          <p:cNvPr id="7" name="Text 5"/>
          <p:cNvSpPr/>
          <p:nvPr/>
        </p:nvSpPr>
        <p:spPr>
          <a:xfrm>
            <a:off x="850392" y="2359152"/>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Mỗi thực thể cần một ID ổn định, độc lập với cách viết tên. Dự án ưu tiên ID nguồn của TMDB/IMDb; tên chỉ phục vụ hiển thị và tìm kiếm. Nhờ vậy, hai người trùng tên không bị gộp và một phim có nhiều cách viết không bị tách sai.</a:t>
            </a:r>
            <a:endParaRPr lang="en-US" sz="1220" dirty="0"/>
          </a:p>
        </p:txBody>
      </p:sp>
      <p:sp>
        <p:nvSpPr>
          <p:cNvPr id="8" name="Shape 6"/>
          <p:cNvSpPr/>
          <p:nvPr/>
        </p:nvSpPr>
        <p:spPr>
          <a:xfrm>
            <a:off x="6217920" y="1755648"/>
            <a:ext cx="5349240" cy="1965960"/>
          </a:xfrm>
          <a:prstGeom prst="roundRect">
            <a:avLst>
              <a:gd name="adj" fmla="val 2791"/>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46520" y="1938528"/>
            <a:ext cx="4892040" cy="301752"/>
          </a:xfrm>
          <a:prstGeom prst="rect">
            <a:avLst/>
          </a:prstGeom>
          <a:noFill/>
          <a:ln/>
        </p:spPr>
        <p:txBody>
          <a:bodyPr wrap="square" lIns="0" tIns="0" rIns="0" bIns="0" rtlCol="0" anchor="ctr">
            <a:normAutofit/>
          </a:bodyPr>
          <a:lstStyle/>
          <a:p>
            <a:pPr indent="0" marL="0">
              <a:buNone/>
            </a:pPr>
            <a:r>
              <a:rPr lang="en-US" sz="1800" b="1" dirty="0">
                <a:solidFill>
                  <a:srgbClr val="725B9B"/>
                </a:solidFill>
                <a:latin typeface="Calibri" pitchFamily="34" charset="0"/>
                <a:ea typeface="Calibri" pitchFamily="34" charset="-122"/>
                <a:cs typeface="Calibri" pitchFamily="34" charset="-120"/>
              </a:rPr>
              <a:t>2 · Schema — biết sự kiện có hình dạng nào</a:t>
            </a:r>
            <a:endParaRPr lang="en-US" sz="1800" dirty="0"/>
          </a:p>
        </p:txBody>
      </p:sp>
      <p:sp>
        <p:nvSpPr>
          <p:cNvPr id="10" name="Text 8"/>
          <p:cNvSpPr/>
          <p:nvPr/>
        </p:nvSpPr>
        <p:spPr>
          <a:xfrm>
            <a:off x="6446520" y="2359152"/>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Schema quy định lớp thực thể, loại quan hệ, thuộc tính bắt buộc và miền giá trị. Nó tạo ngôn ngữ chung để dữ liệu từ nhiều nguồn đi vào cùng một mô hình và để truy vấn dựa trên cấu trúc nhất quán.</a:t>
            </a:r>
            <a:endParaRPr lang="en-US" sz="1220" dirty="0"/>
          </a:p>
        </p:txBody>
      </p:sp>
      <p:sp>
        <p:nvSpPr>
          <p:cNvPr id="11" name="Shape 9"/>
          <p:cNvSpPr/>
          <p:nvPr/>
        </p:nvSpPr>
        <p:spPr>
          <a:xfrm>
            <a:off x="621792" y="4005072"/>
            <a:ext cx="5349240" cy="1965960"/>
          </a:xfrm>
          <a:prstGeom prst="roundRect">
            <a:avLst>
              <a:gd name="adj" fmla="val 2791"/>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850392" y="4187952"/>
            <a:ext cx="4892040" cy="301752"/>
          </a:xfrm>
          <a:prstGeom prst="rect">
            <a:avLst/>
          </a:prstGeom>
          <a:noFill/>
          <a:ln/>
        </p:spPr>
        <p:txBody>
          <a:bodyPr wrap="square" lIns="0" tIns="0" rIns="0" bIns="0" rtlCol="0" anchor="ctr">
            <a:normAutofit/>
          </a:bodyPr>
          <a:lstStyle/>
          <a:p>
            <a:pPr indent="0" marL="0">
              <a:buNone/>
            </a:pPr>
            <a:r>
              <a:rPr lang="en-US" sz="1800" b="1" dirty="0">
                <a:solidFill>
                  <a:srgbClr val="3D8B66"/>
                </a:solidFill>
                <a:latin typeface="Calibri" pitchFamily="34" charset="0"/>
                <a:ea typeface="Calibri" pitchFamily="34" charset="-122"/>
                <a:cs typeface="Calibri" pitchFamily="34" charset="-120"/>
              </a:rPr>
              <a:t>3 · Nguồn gốc — biết sự kiện đến từ đâu</a:t>
            </a:r>
            <a:endParaRPr lang="en-US" sz="1800" dirty="0"/>
          </a:p>
        </p:txBody>
      </p:sp>
      <p:sp>
        <p:nvSpPr>
          <p:cNvPr id="13" name="Text 11"/>
          <p:cNvSpPr/>
          <p:nvPr/>
        </p:nvSpPr>
        <p:spPr>
          <a:xfrm>
            <a:off x="850392" y="4608576"/>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Sự kiện nhập trực tiếp phải chỉ ra nguồn; sự kiện suy ra phải giữ luật và các sự kiện hỗ trợ. Nhờ đó, người dùng có thể kiểm tra và tái tạo kết quả thay vì phải tin vào một hộp đen.</a:t>
            </a:r>
            <a:endParaRPr lang="en-US" sz="1220" dirty="0"/>
          </a:p>
        </p:txBody>
      </p:sp>
      <p:sp>
        <p:nvSpPr>
          <p:cNvPr id="14" name="Shape 12"/>
          <p:cNvSpPr/>
          <p:nvPr/>
        </p:nvSpPr>
        <p:spPr>
          <a:xfrm>
            <a:off x="6217920" y="4005072"/>
            <a:ext cx="5349240" cy="1965960"/>
          </a:xfrm>
          <a:prstGeom prst="roundRect">
            <a:avLst>
              <a:gd name="adj" fmla="val 2791"/>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6446520" y="4187952"/>
            <a:ext cx="4892040" cy="301752"/>
          </a:xfrm>
          <a:prstGeom prst="rect">
            <a:avLst/>
          </a:prstGeom>
          <a:noFill/>
          <a:ln/>
        </p:spPr>
        <p:txBody>
          <a:bodyPr wrap="square" lIns="0" tIns="0" rIns="0" bIns="0" rtlCol="0" anchor="ctr">
            <a:normAutofit/>
          </a:bodyPr>
          <a:lstStyle/>
          <a:p>
            <a:pPr indent="0" marL="0">
              <a:buNone/>
            </a:pPr>
            <a:r>
              <a:rPr lang="en-US" sz="1800" b="1" dirty="0">
                <a:solidFill>
                  <a:srgbClr val="D38B36"/>
                </a:solidFill>
                <a:latin typeface="Calibri" pitchFamily="34" charset="0"/>
                <a:ea typeface="Calibri" pitchFamily="34" charset="-122"/>
                <a:cs typeface="Calibri" pitchFamily="34" charset="-120"/>
              </a:rPr>
              <a:t>4 · Câu hỏi năng lực — biết graph được xây để làm gì</a:t>
            </a:r>
            <a:endParaRPr lang="en-US" sz="1800" dirty="0"/>
          </a:p>
        </p:txBody>
      </p:sp>
      <p:sp>
        <p:nvSpPr>
          <p:cNvPr id="16" name="Text 14"/>
          <p:cNvSpPr/>
          <p:nvPr/>
        </p:nvSpPr>
        <p:spPr>
          <a:xfrm>
            <a:off x="6446520" y="4608576"/>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Câu hỏi năng lực xác định tri thức tối thiểu cần biểu diễn. Nếu schema không trả lời được các câu hỏi đã công bố, việc có nhiều node và cạnh vẫn chưa tạo ra giá trị cho bài toán.</a:t>
            </a:r>
            <a:endParaRPr lang="en-US" sz="122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RÀNG BUỘC 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Constraint bảo vệ tính đúng đắn; index phục vụ tốc độ tra cứu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Hai cơ chế thường được tạo cùng lúc nhưng giải quyết hai vấn đề khác nhau và không thể thay thế cho nhau.</a:t>
            </a:r>
            <a:endParaRPr lang="en-US" sz="1250" dirty="0"/>
          </a:p>
        </p:txBody>
      </p:sp>
      <p:sp>
        <p:nvSpPr>
          <p:cNvPr id="5" name="Shape 3"/>
          <p:cNvSpPr/>
          <p:nvPr/>
        </p:nvSpPr>
        <p:spPr>
          <a:xfrm>
            <a:off x="621792" y="1783080"/>
            <a:ext cx="3429000" cy="4114800"/>
          </a:xfrm>
          <a:prstGeom prst="roundRect">
            <a:avLst>
              <a:gd name="adj" fmla="val 16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U</a:t>
            </a:r>
            <a:endParaRPr lang="en-US" sz="1000" dirty="0"/>
          </a:p>
        </p:txBody>
      </p:sp>
      <p:sp>
        <p:nvSpPr>
          <p:cNvPr id="8" name="Text 6"/>
          <p:cNvSpPr/>
          <p:nvPr/>
        </p:nvSpPr>
        <p:spPr>
          <a:xfrm>
            <a:off x="1335024"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725B9B"/>
                </a:solidFill>
                <a:latin typeface="Calibri" pitchFamily="34" charset="0"/>
                <a:ea typeface="Calibri" pitchFamily="34" charset="-122"/>
                <a:cs typeface="Calibri" pitchFamily="34" charset="-120"/>
              </a:rPr>
              <a:t>Ràng buộc duy nhất</a:t>
            </a:r>
            <a:endParaRPr lang="en-US" sz="1900" dirty="0"/>
          </a:p>
        </p:txBody>
      </p:sp>
      <p:sp>
        <p:nvSpPr>
          <p:cNvPr id="9" name="Text 7"/>
          <p:cNvSpPr/>
          <p:nvPr/>
        </p:nvSpPr>
        <p:spPr>
          <a:xfrm>
            <a:off x="850392" y="2386584"/>
            <a:ext cx="2971800" cy="3328416"/>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Bảo đảm một khóa ổn định không xuất hiện hai lần trong cùng một nhãn.</a:t>
            </a:r>
            <a:endParaRPr lang="en-US" sz="1250" dirty="0"/>
          </a:p>
          <a:p>
            <a:pPr indent="0" marL="0">
              <a:buNone/>
            </a:pP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Ví dụ:</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Movie.tmdb_id</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Person.person_id</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Genre.genre_id</a:t>
            </a:r>
            <a:endParaRPr lang="en-US" sz="1250" dirty="0"/>
          </a:p>
          <a:p>
            <a:pPr indent="0" marL="0">
              <a:buNone/>
            </a:pP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Nhờ đó, dữ liệu trùng bị chặn ngay tại tầng lưu trữ và lệnh MERGE luôn xác định đúng node cần dùng.</a:t>
            </a:r>
            <a:endParaRPr lang="en-US" sz="1250" dirty="0"/>
          </a:p>
        </p:txBody>
      </p:sp>
      <p:sp>
        <p:nvSpPr>
          <p:cNvPr id="10" name="Shape 8"/>
          <p:cNvSpPr/>
          <p:nvPr/>
        </p:nvSpPr>
        <p:spPr>
          <a:xfrm>
            <a:off x="4379976" y="1783080"/>
            <a:ext cx="3429000" cy="4114800"/>
          </a:xfrm>
          <a:prstGeom prst="roundRect">
            <a:avLst>
              <a:gd name="adj" fmla="val 16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4581144" y="1984248"/>
            <a:ext cx="384048" cy="384048"/>
          </a:xfrm>
          <a:prstGeom prst="ellipse">
            <a:avLst/>
          </a:prstGeom>
          <a:solidFill>
            <a:srgbClr val="3D8B66"/>
          </a:solidFill>
          <a:ln w="12700">
            <a:solidFill>
              <a:srgbClr val="3D8B66"/>
            </a:solidFill>
            <a:prstDash val="solid"/>
          </a:ln>
        </p:spPr>
      </p:sp>
      <p:sp>
        <p:nvSpPr>
          <p:cNvPr id="12" name="Text 10"/>
          <p:cNvSpPr/>
          <p:nvPr/>
        </p:nvSpPr>
        <p:spPr>
          <a:xfrm>
            <a:off x="4581144"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V</a:t>
            </a:r>
            <a:endParaRPr lang="en-US" sz="1000" dirty="0"/>
          </a:p>
        </p:txBody>
      </p:sp>
      <p:sp>
        <p:nvSpPr>
          <p:cNvPr id="13" name="Text 11"/>
          <p:cNvSpPr/>
          <p:nvPr/>
        </p:nvSpPr>
        <p:spPr>
          <a:xfrm>
            <a:off x="5093208"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Kiểm tra tính hợp lệ</a:t>
            </a:r>
            <a:endParaRPr lang="en-US" sz="1900" dirty="0"/>
          </a:p>
        </p:txBody>
      </p:sp>
      <p:sp>
        <p:nvSpPr>
          <p:cNvPr id="14" name="Text 12"/>
          <p:cNvSpPr/>
          <p:nvPr/>
        </p:nvSpPr>
        <p:spPr>
          <a:xfrm>
            <a:off x="4608576" y="2386584"/>
            <a:ext cx="2971800" cy="332841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ID và tên bắt buộc được kiểm tra trước hoặc sau khi nhập. Dự án còn phát hiện Movie không có quan hệ, cạnh nối sai loại node và sự kiện suy ra không có bằng chứng.</a:t>
            </a:r>
            <a:endParaRPr lang="en-US" sz="1220" dirty="0"/>
          </a:p>
          <a:p>
            <a:pPr indent="0" marL="0">
              <a:buNone/>
            </a:pPr>
            <a:endParaRPr lang="en-US" sz="1220" dirty="0"/>
          </a:p>
          <a:p>
            <a:pPr indent="0" marL="0">
              <a:buNone/>
            </a:pPr>
            <a:r>
              <a:rPr lang="en-US" sz="1220" dirty="0">
                <a:solidFill>
                  <a:srgbClr val="172B3A"/>
                </a:solidFill>
                <a:latin typeface="Calibri" pitchFamily="34" charset="0"/>
                <a:ea typeface="Calibri" pitchFamily="34" charset="-122"/>
                <a:cs typeface="Calibri" pitchFamily="34" charset="-120"/>
              </a:rPr>
              <a:t>Ràng buộc trong Neo4j và cổng chất lượng của pipeline bổ sung cho nhau.</a:t>
            </a:r>
            <a:endParaRPr lang="en-US" sz="1220" dirty="0"/>
          </a:p>
        </p:txBody>
      </p:sp>
      <p:sp>
        <p:nvSpPr>
          <p:cNvPr id="15" name="Shape 13"/>
          <p:cNvSpPr/>
          <p:nvPr/>
        </p:nvSpPr>
        <p:spPr>
          <a:xfrm>
            <a:off x="8138160" y="1783080"/>
            <a:ext cx="3429000" cy="4114800"/>
          </a:xfrm>
          <a:prstGeom prst="roundRect">
            <a:avLst>
              <a:gd name="adj" fmla="val 16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339328" y="1984248"/>
            <a:ext cx="384048" cy="384048"/>
          </a:xfrm>
          <a:prstGeom prst="ellipse">
            <a:avLst/>
          </a:prstGeom>
          <a:solidFill>
            <a:srgbClr val="337B80"/>
          </a:solidFill>
          <a:ln w="12700">
            <a:solidFill>
              <a:srgbClr val="337B80"/>
            </a:solidFill>
            <a:prstDash val="solid"/>
          </a:ln>
        </p:spPr>
      </p:sp>
      <p:sp>
        <p:nvSpPr>
          <p:cNvPr id="17" name="Text 15"/>
          <p:cNvSpPr/>
          <p:nvPr/>
        </p:nvSpPr>
        <p:spPr>
          <a:xfrm>
            <a:off x="833932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a:t>
            </a:r>
            <a:endParaRPr lang="en-US" sz="1000" dirty="0"/>
          </a:p>
        </p:txBody>
      </p:sp>
      <p:sp>
        <p:nvSpPr>
          <p:cNvPr id="18" name="Text 16"/>
          <p:cNvSpPr/>
          <p:nvPr/>
        </p:nvSpPr>
        <p:spPr>
          <a:xfrm>
            <a:off x="8851392"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Index và chỉ mục toàn văn</a:t>
            </a:r>
            <a:endParaRPr lang="en-US" sz="1900" dirty="0"/>
          </a:p>
        </p:txBody>
      </p:sp>
      <p:sp>
        <p:nvSpPr>
          <p:cNvPr id="19" name="Text 17"/>
          <p:cNvSpPr/>
          <p:nvPr/>
        </p:nvSpPr>
        <p:spPr>
          <a:xfrm>
            <a:off x="8366760" y="2386584"/>
            <a:ext cx="2971800" cy="3328416"/>
          </a:xfrm>
          <a:prstGeom prst="rect">
            <a:avLst/>
          </a:prstGeom>
          <a:noFill/>
          <a:ln/>
        </p:spPr>
        <p:txBody>
          <a:bodyPr wrap="square" lIns="0" tIns="0" rIns="0" bIns="0" rtlCol="0" anchor="t">
            <a:normAutofit/>
          </a:bodyPr>
          <a:lstStyle/>
          <a:p>
            <a:pPr indent="0" marL="0">
              <a:buNone/>
            </a:pPr>
            <a:r>
              <a:rPr lang="en-US" sz="1270" dirty="0">
                <a:solidFill>
                  <a:srgbClr val="172B3A"/>
                </a:solidFill>
                <a:latin typeface="Calibri" pitchFamily="34" charset="0"/>
                <a:ea typeface="Calibri" pitchFamily="34" charset="-122"/>
                <a:cs typeface="Calibri" pitchFamily="34" charset="-120"/>
              </a:rPr>
              <a:t>Index tăng tốc tra cứu chính xác theo thuộc tính; chỉ mục toàn văn tạo danh sách ứng viên khi tên người dùng nhập không hoàn toàn trùng khớp.</a:t>
            </a:r>
            <a:endParaRPr lang="en-US" sz="1270" dirty="0"/>
          </a:p>
          <a:p>
            <a:pPr indent="0" marL="0">
              <a:buNone/>
            </a:pPr>
            <a:endParaRPr lang="en-US" sz="1270" dirty="0"/>
          </a:p>
          <a:p>
            <a:pPr indent="0" marL="0">
              <a:buNone/>
            </a:pPr>
            <a:r>
              <a:rPr lang="en-US" sz="1270" dirty="0">
                <a:solidFill>
                  <a:srgbClr val="172B3A"/>
                </a:solidFill>
                <a:latin typeface="Calibri" pitchFamily="34" charset="0"/>
                <a:ea typeface="Calibri" pitchFamily="34" charset="-122"/>
                <a:cs typeface="Calibri" pitchFamily="34" charset="-120"/>
              </a:rPr>
              <a:t>Index không chứng minh dữ liệu đúng. Nó chỉ giúp tìm node bắt đầu nhanh hơn trước khi duyệt tiếp các quan hệ.</a:t>
            </a:r>
            <a:endParaRPr lang="en-US" sz="127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 VÀ 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vừa truy vấn mẫu đường đi, vừa vật chất hóa luật nghiệp vụ</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ngôn ngữ thống nhất cho constraint, traversal, aggregation và derived relationship.</a:t>
            </a:r>
            <a:endParaRPr lang="en-US" sz="1250" dirty="0"/>
          </a:p>
        </p:txBody>
      </p:sp>
      <p:sp>
        <p:nvSpPr>
          <p:cNvPr id="5" name="Shape 3"/>
          <p:cNvSpPr/>
          <p:nvPr/>
        </p:nvSpPr>
        <p:spPr>
          <a:xfrm>
            <a:off x="658368" y="1783080"/>
            <a:ext cx="5303520" cy="4160520"/>
          </a:xfrm>
          <a:prstGeom prst="roundRect">
            <a:avLst>
              <a:gd name="adj" fmla="val 1319"/>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8696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337B80"/>
                </a:solidFill>
                <a:latin typeface="Calibri" pitchFamily="34" charset="0"/>
                <a:ea typeface="Calibri" pitchFamily="34" charset="-122"/>
                <a:cs typeface="Calibri" pitchFamily="34" charset="-120"/>
              </a:rPr>
              <a:t>Truy vấn bằng pattern</a:t>
            </a:r>
            <a:endParaRPr lang="en-US" sz="2100" dirty="0"/>
          </a:p>
        </p:txBody>
      </p:sp>
      <p:sp>
        <p:nvSpPr>
          <p:cNvPr id="7" name="Text 5"/>
          <p:cNvSpPr/>
          <p:nvPr/>
        </p:nvSpPr>
        <p:spPr>
          <a:xfrm>
            <a:off x="88696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(p:Person)-[:DIRECTED]-&gt;(m:Movie)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WHERE p.name = $name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RETURN m.title</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Pattern thể hiện trực tiếp node và cạnh cần tìm; giá trị người dùng được truyền bằng parameter.</a:t>
            </a:r>
            <a:endParaRPr lang="en-US" sz="1500" dirty="0"/>
          </a:p>
        </p:txBody>
      </p:sp>
      <p:sp>
        <p:nvSpPr>
          <p:cNvPr id="8" name="Shape 6"/>
          <p:cNvSpPr/>
          <p:nvPr/>
        </p:nvSpPr>
        <p:spPr>
          <a:xfrm>
            <a:off x="6236208" y="1783080"/>
            <a:ext cx="5303520" cy="4160520"/>
          </a:xfrm>
          <a:prstGeom prst="roundRect">
            <a:avLst>
              <a:gd name="adj" fmla="val 1319"/>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6480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725B9B"/>
                </a:solidFill>
                <a:latin typeface="Calibri" pitchFamily="34" charset="0"/>
                <a:ea typeface="Calibri" pitchFamily="34" charset="-122"/>
                <a:cs typeface="Calibri" pitchFamily="34" charset="-120"/>
              </a:rPr>
              <a:t>Suy diễn bằng rule</a:t>
            </a:r>
            <a:endParaRPr lang="en-US" sz="2100" dirty="0"/>
          </a:p>
        </p:txBody>
      </p:sp>
      <p:sp>
        <p:nvSpPr>
          <p:cNvPr id="10" name="Text 8"/>
          <p:cNvSpPr/>
          <p:nvPr/>
        </p:nvSpPr>
        <p:spPr>
          <a:xfrm>
            <a:off x="646480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(a)-[:ACTED_IN]-&gt;(m)&lt;-[:ACTED_IN]-(b)</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MERGE (a)-[:CO_STARRED_WITH]-&gt;(b)</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Fact suy ra lưu movie_count, evidence_movie_ids và derived=true để kiểm chứng.</a:t>
            </a:r>
            <a:endParaRPr lang="en-US" sz="1500" dirty="0"/>
          </a:p>
        </p:txBody>
      </p:sp>
      <p:sp>
        <p:nvSpPr>
          <p:cNvPr id="11" name="Text 9"/>
          <p:cNvSpPr/>
          <p:nvPr/>
        </p:nvSpPr>
        <p:spPr>
          <a:xfrm>
            <a:off x="1188720" y="6126480"/>
            <a:ext cx="9784080" cy="256032"/>
          </a:xfrm>
          <a:prstGeom prst="rect">
            <a:avLst/>
          </a:prstGeom>
          <a:noFill/>
          <a:ln/>
        </p:spPr>
        <p:txBody>
          <a:bodyPr wrap="square" lIns="0" tIns="0" rIns="0" bIns="0" rtlCol="0" anchor="ctr"/>
          <a:lstStyle/>
          <a:p>
            <a:pPr algn="ctr" indent="0" marL="0">
              <a:buNone/>
            </a:pPr>
            <a:r>
              <a:rPr lang="en-US" sz="1350" b="1" dirty="0">
                <a:solidFill>
                  <a:srgbClr val="112B46"/>
                </a:solidFill>
                <a:latin typeface="Calibri" pitchFamily="34" charset="0"/>
                <a:ea typeface="Calibri" pitchFamily="34" charset="-122"/>
                <a:cs typeface="Calibri" pitchFamily="34" charset="-120"/>
              </a:rPr>
              <a:t>Không có reasoner riêng: luật nghiệp vụ được khai báo và thực thi trực tiếp trong Neo4j.</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DUYỆT ĐỒ THỊ</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Bốn khái niệm giúp mô tả cách duyệt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khái niệm trả lời một câu hỏi khác nhau về khoảng cách, mức kết nối hoặc cấu trúc chung giữa các thực thể.</a:t>
            </a:r>
            <a:endParaRPr lang="en-US" sz="1250" dirty="0"/>
          </a:p>
        </p:txBody>
      </p:sp>
      <p:sp>
        <p:nvSpPr>
          <p:cNvPr id="5" name="Shape 3"/>
          <p:cNvSpPr/>
          <p:nvPr/>
        </p:nvSpPr>
        <p:spPr>
          <a:xfrm>
            <a:off x="621792" y="1783080"/>
            <a:ext cx="5349240" cy="1847088"/>
          </a:xfrm>
          <a:prstGeom prst="roundRect">
            <a:avLst>
              <a:gd name="adj" fmla="val 2970"/>
            </a:avLst>
          </a:prstGeom>
          <a:solidFill>
            <a:srgbClr val="EAF2F8"/>
          </a:solidFill>
          <a:ln w="12700">
            <a:solidFill>
              <a:srgbClr val="337B80"/>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443484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Bước đi (hop)</a:t>
            </a:r>
            <a:endParaRPr lang="en-US" sz="1900" dirty="0"/>
          </a:p>
        </p:txBody>
      </p:sp>
      <p:sp>
        <p:nvSpPr>
          <p:cNvPr id="9" name="Text 7"/>
          <p:cNvSpPr/>
          <p:nvPr/>
        </p:nvSpPr>
        <p:spPr>
          <a:xfrm>
            <a:off x="850392" y="238658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Một hop là một lần đi qua cạnh. Person → Movie dài 1 hop; Person → Movie → Genre dài 2 hop. Số hop cho biết truy vấn phải đi qua bao nhiêu lớp quan hệ.</a:t>
            </a:r>
            <a:endParaRPr lang="en-US" sz="1300" dirty="0"/>
          </a:p>
        </p:txBody>
      </p:sp>
      <p:sp>
        <p:nvSpPr>
          <p:cNvPr id="10" name="Shape 8"/>
          <p:cNvSpPr/>
          <p:nvPr/>
        </p:nvSpPr>
        <p:spPr>
          <a:xfrm>
            <a:off x="6217920" y="1783080"/>
            <a:ext cx="5349240" cy="1847088"/>
          </a:xfrm>
          <a:prstGeom prst="roundRect">
            <a:avLst>
              <a:gd name="adj" fmla="val 2970"/>
            </a:avLst>
          </a:prstGeom>
          <a:solidFill>
            <a:srgbClr val="F0ECF7"/>
          </a:solidFill>
          <a:ln w="12700">
            <a:solidFill>
              <a:srgbClr val="725B9B"/>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6419088" y="1984248"/>
            <a:ext cx="384048" cy="384048"/>
          </a:xfrm>
          <a:prstGeom prst="ellipse">
            <a:avLst/>
          </a:prstGeom>
          <a:solidFill>
            <a:srgbClr val="725B9B"/>
          </a:solidFill>
          <a:ln w="12700">
            <a:solidFill>
              <a:srgbClr val="725B9B"/>
            </a:solidFill>
            <a:prstDash val="solid"/>
          </a:ln>
        </p:spPr>
      </p:sp>
      <p:sp>
        <p:nvSpPr>
          <p:cNvPr id="12" name="Text 10"/>
          <p:cNvSpPr/>
          <p:nvPr/>
        </p:nvSpPr>
        <p:spPr>
          <a:xfrm>
            <a:off x="6419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p:nvPr/>
        </p:nvSpPr>
        <p:spPr>
          <a:xfrm>
            <a:off x="6931152" y="1965960"/>
            <a:ext cx="4434840" cy="301752"/>
          </a:xfrm>
          <a:prstGeom prst="rect">
            <a:avLst/>
          </a:prstGeom>
          <a:noFill/>
          <a:ln/>
        </p:spPr>
        <p:txBody>
          <a:bodyPr wrap="square" lIns="0" tIns="0" rIns="0" bIns="0" rtlCol="0" anchor="ctr">
            <a:normAutofit/>
          </a:bodyPr>
          <a:lstStyle/>
          <a:p>
            <a:pPr indent="0" marL="0">
              <a:buNone/>
            </a:pPr>
            <a:r>
              <a:rPr lang="en-US" sz="1900" b="1" dirty="0">
                <a:solidFill>
                  <a:srgbClr val="725B9B"/>
                </a:solidFill>
                <a:latin typeface="Calibri" pitchFamily="34" charset="0"/>
                <a:ea typeface="Calibri" pitchFamily="34" charset="-122"/>
                <a:cs typeface="Calibri" pitchFamily="34" charset="-120"/>
              </a:rPr>
              <a:t>Bậc của node (degree)</a:t>
            </a:r>
            <a:endParaRPr lang="en-US" sz="1900" dirty="0"/>
          </a:p>
        </p:txBody>
      </p:sp>
      <p:sp>
        <p:nvSpPr>
          <p:cNvPr id="14" name="Text 12"/>
          <p:cNvSpPr/>
          <p:nvPr/>
        </p:nvSpPr>
        <p:spPr>
          <a:xfrm>
            <a:off x="6446520" y="238658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Degree là số cạnh kề một node. Degree cao có thể cho biết thực thể phổ biến, nhưng cũng có thể làm các đặc trưng phổ biến lấn át kết quả xếp hạng.</a:t>
            </a:r>
            <a:endParaRPr lang="en-US" sz="1300" dirty="0"/>
          </a:p>
        </p:txBody>
      </p:sp>
      <p:sp>
        <p:nvSpPr>
          <p:cNvPr id="15" name="Shape 13"/>
          <p:cNvSpPr/>
          <p:nvPr/>
        </p:nvSpPr>
        <p:spPr>
          <a:xfrm>
            <a:off x="621792" y="3931920"/>
            <a:ext cx="5349240" cy="1847088"/>
          </a:xfrm>
          <a:prstGeom prst="roundRect">
            <a:avLst>
              <a:gd name="adj" fmla="val 2970"/>
            </a:avLst>
          </a:prstGeom>
          <a:solidFill>
            <a:srgbClr val="E8F4EE"/>
          </a:solidFill>
          <a:ln w="12700">
            <a:solidFill>
              <a:srgbClr val="3D8B66"/>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22960" y="4133088"/>
            <a:ext cx="384048" cy="384048"/>
          </a:xfrm>
          <a:prstGeom prst="ellipse">
            <a:avLst/>
          </a:prstGeom>
          <a:solidFill>
            <a:srgbClr val="3D8B66"/>
          </a:solidFill>
          <a:ln w="12700">
            <a:solidFill>
              <a:srgbClr val="3D8B66"/>
            </a:solidFill>
            <a:prstDash val="solid"/>
          </a:ln>
        </p:spPr>
      </p:sp>
      <p:sp>
        <p:nvSpPr>
          <p:cNvPr id="17" name="Text 15"/>
          <p:cNvSpPr/>
          <p:nvPr/>
        </p:nvSpPr>
        <p:spPr>
          <a:xfrm>
            <a:off x="822960" y="41879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p:nvPr/>
        </p:nvSpPr>
        <p:spPr>
          <a:xfrm>
            <a:off x="1335024" y="4114800"/>
            <a:ext cx="443484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Láng giềng chung</a:t>
            </a:r>
            <a:endParaRPr lang="en-US" sz="1900" dirty="0"/>
          </a:p>
        </p:txBody>
      </p:sp>
      <p:sp>
        <p:nvSpPr>
          <p:cNvPr id="19" name="Text 17"/>
          <p:cNvSpPr/>
          <p:nvPr/>
        </p:nvSpPr>
        <p:spPr>
          <a:xfrm>
            <a:off x="850392" y="453542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Common neighbor là node được hai node cùng kết nối. Hai Person có thể chung một Movie; hai Movie có thể chung diễn viên, thể loại hoặc từ khóa.</a:t>
            </a:r>
            <a:endParaRPr lang="en-US" sz="1300" dirty="0"/>
          </a:p>
        </p:txBody>
      </p:sp>
      <p:sp>
        <p:nvSpPr>
          <p:cNvPr id="20" name="Shape 18"/>
          <p:cNvSpPr/>
          <p:nvPr/>
        </p:nvSpPr>
        <p:spPr>
          <a:xfrm>
            <a:off x="6217920" y="3931920"/>
            <a:ext cx="5349240" cy="1847088"/>
          </a:xfrm>
          <a:prstGeom prst="roundRect">
            <a:avLst>
              <a:gd name="adj" fmla="val 2970"/>
            </a:avLst>
          </a:prstGeom>
          <a:solidFill>
            <a:srgbClr val="FFF2DF"/>
          </a:solidFill>
          <a:ln w="12700">
            <a:solidFill>
              <a:srgbClr val="D38B36"/>
            </a:solidFill>
            <a:prstDash val="solid"/>
          </a:ln>
          <a:effectLst>
            <a:outerShdw sx="100000" sy="100000" kx="0" ky="0" algn="bl" rotWithShape="0" blurRad="25400" dist="50800" dir="2700000">
              <a:srgbClr val="26384A">
                <a:alpha val="13000"/>
              </a:srgbClr>
            </a:outerShdw>
          </a:effectLst>
        </p:spPr>
      </p:sp>
      <p:sp>
        <p:nvSpPr>
          <p:cNvPr id="21" name="Shape 19"/>
          <p:cNvSpPr/>
          <p:nvPr/>
        </p:nvSpPr>
        <p:spPr>
          <a:xfrm>
            <a:off x="6419088" y="4133088"/>
            <a:ext cx="384048" cy="384048"/>
          </a:xfrm>
          <a:prstGeom prst="ellipse">
            <a:avLst/>
          </a:prstGeom>
          <a:solidFill>
            <a:srgbClr val="D38B36"/>
          </a:solidFill>
          <a:ln w="12700">
            <a:solidFill>
              <a:srgbClr val="D38B36"/>
            </a:solidFill>
            <a:prstDash val="solid"/>
          </a:ln>
        </p:spPr>
      </p:sp>
      <p:sp>
        <p:nvSpPr>
          <p:cNvPr id="22" name="Text 20"/>
          <p:cNvSpPr/>
          <p:nvPr/>
        </p:nvSpPr>
        <p:spPr>
          <a:xfrm>
            <a:off x="6419088" y="41879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3" name="Text 21"/>
          <p:cNvSpPr/>
          <p:nvPr/>
        </p:nvSpPr>
        <p:spPr>
          <a:xfrm>
            <a:off x="6931152" y="4114800"/>
            <a:ext cx="4434840" cy="301752"/>
          </a:xfrm>
          <a:prstGeom prst="rect">
            <a:avLst/>
          </a:prstGeom>
          <a:noFill/>
          <a:ln/>
        </p:spPr>
        <p:txBody>
          <a:bodyPr wrap="square" lIns="0" tIns="0" rIns="0" bIns="0" rtlCol="0" anchor="ctr">
            <a:normAutofit/>
          </a:bodyPr>
          <a:lstStyle/>
          <a:p>
            <a:pPr indent="0" marL="0">
              <a:buNone/>
            </a:pPr>
            <a:r>
              <a:rPr lang="en-US" sz="1900" b="1" dirty="0">
                <a:solidFill>
                  <a:srgbClr val="D38B36"/>
                </a:solidFill>
                <a:latin typeface="Calibri" pitchFamily="34" charset="0"/>
                <a:ea typeface="Calibri" pitchFamily="34" charset="-122"/>
                <a:cs typeface="Calibri" pitchFamily="34" charset="-120"/>
              </a:rPr>
              <a:t>Đường đi ngắn nhất</a:t>
            </a:r>
            <a:endParaRPr lang="en-US" sz="1900" dirty="0"/>
          </a:p>
        </p:txBody>
      </p:sp>
      <p:sp>
        <p:nvSpPr>
          <p:cNvPr id="24" name="Text 22"/>
          <p:cNvSpPr/>
          <p:nvPr/>
        </p:nvSpPr>
        <p:spPr>
          <a:xfrm>
            <a:off x="6446520" y="453542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Shortest path là đường có ít cạnh nhất trong phạm vi quan hệ cho phép. Muốn hiểu kết quả, phải đọc cả loại cạnh trên đường đi chứ không chỉ danh sách node.</a:t>
            </a:r>
            <a:endParaRPr lang="en-US" sz="1300" dirty="0"/>
          </a:p>
        </p:txBody>
      </p:sp>
      <p:sp>
        <p:nvSpPr>
          <p:cNvPr id="25" name="Text 23"/>
          <p:cNvSpPr/>
          <p:nvPr/>
        </p:nvSpPr>
        <p:spPr>
          <a:xfrm>
            <a:off x="960120" y="5925312"/>
            <a:ext cx="10241280" cy="347472"/>
          </a:xfrm>
          <a:prstGeom prst="rect">
            <a:avLst/>
          </a:prstGeom>
          <a:noFill/>
          <a:ln/>
        </p:spPr>
        <p:txBody>
          <a:bodyPr wrap="square" lIns="0" tIns="0" rIns="0" bIns="0" rtlCol="0" anchor="ctr">
            <a:normAutofit/>
          </a:bodyPr>
          <a:lstStyle/>
          <a:p>
            <a:pPr algn="ctr" indent="0" marL="0">
              <a:buNone/>
            </a:pPr>
            <a:r>
              <a:rPr lang="en-US" sz="1350" b="1" dirty="0">
                <a:solidFill>
                  <a:srgbClr val="112B46"/>
                </a:solidFill>
                <a:latin typeface="Calibri" pitchFamily="34" charset="0"/>
                <a:ea typeface="Calibri" pitchFamily="34" charset="-122"/>
                <a:cs typeface="Calibri" pitchFamily="34" charset="-120"/>
              </a:rPr>
              <a:t>Trong dự án: phim chung dựa trên láng giềng chung; quan hệ đồng diễn vật chất hóa cấu trúc đó; gợi ý so sánh lân cận có trọng số; truy vấn đường đi được giới hạn tối đa 8 cạnh.</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LỰA CHỌN CÔNG NGHỆ</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Neo4j được chọn vì phù hợp với quan hệ và traversal</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Giá trị của đồ thị nằm ở mô hình quan hệ và đường đi bằng chứng — không phải luôn nhanh hơn SQL.</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648" y="1874520"/>
          <a:ext cx="6629400" cy="3611880"/>
        </p:xfrm>
        <a:graphic>
          <a:graphicData uri="http://schemas.openxmlformats.org/drawingml/2006/table">
            <a:tbl>
              <a:tblPr/>
              <a:tblGrid>
                <a:gridCol w="1965960"/>
                <a:gridCol w="2057400"/>
                <a:gridCol w="2606040"/>
              </a:tblGrid>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Yêu cầu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Mô hình bảng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Đồ thị thuộc tính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Quan hệ nhiều–nhiều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Bảng nối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trực tiếp</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Truy vấn nhiều bước</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Chuỗi JOIN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Mẫu đường 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Suy diễn co-star</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Logic vật chất hóa riêng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suy ra có bằng chứng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Giải thích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Dựng lại quan hệ</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Đường đi tự nhiên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7635240" y="1874520"/>
            <a:ext cx="3931920" cy="1572768"/>
          </a:xfrm>
          <a:prstGeom prst="roundRect">
            <a:avLst>
              <a:gd name="adj" fmla="val 3488"/>
            </a:avLst>
          </a:prstGeom>
          <a:solidFill>
            <a:srgbClr val="EAF2F8"/>
          </a:solidFill>
          <a:ln w="12700">
            <a:solidFill>
              <a:srgbClr val="B9D3E8"/>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7909560" y="2148840"/>
            <a:ext cx="3383280" cy="320040"/>
          </a:xfrm>
          <a:prstGeom prst="rect">
            <a:avLst/>
          </a:prstGeom>
          <a:noFill/>
          <a:ln/>
        </p:spPr>
        <p:txBody>
          <a:bodyPr wrap="square" lIns="0" tIns="0" rIns="0" bIns="0" rtlCol="0" anchor="ctr"/>
          <a:lstStyle/>
          <a:p>
            <a:pPr indent="0" marL="0">
              <a:buNone/>
            </a:pPr>
            <a:r>
              <a:rPr lang="en-US" sz="2000" b="1" dirty="0">
                <a:solidFill>
                  <a:srgbClr val="112B46"/>
                </a:solidFill>
                <a:latin typeface="Calibri" pitchFamily="34" charset="0"/>
                <a:ea typeface="Calibri" pitchFamily="34" charset="-122"/>
                <a:cs typeface="Calibri" pitchFamily="34" charset="-120"/>
              </a:rPr>
              <a:t>Neo4j / Cypher</a:t>
            </a:r>
            <a:endParaRPr lang="en-US" sz="2000" dirty="0"/>
          </a:p>
        </p:txBody>
      </p:sp>
      <p:sp>
        <p:nvSpPr>
          <p:cNvPr id="8" name="Text 5"/>
          <p:cNvSpPr/>
          <p:nvPr/>
        </p:nvSpPr>
        <p:spPr>
          <a:xfrm>
            <a:off x="7909560" y="2615184"/>
            <a:ext cx="3154680" cy="420624"/>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Kho vận hành cho duyệt đồ thị, hỏi–đáp và gợi ý.</a:t>
            </a:r>
            <a:endParaRPr lang="en-US" sz="1300" dirty="0"/>
          </a:p>
        </p:txBody>
      </p:sp>
      <p:sp>
        <p:nvSpPr>
          <p:cNvPr id="9" name="Shape 6"/>
          <p:cNvSpPr/>
          <p:nvPr/>
        </p:nvSpPr>
        <p:spPr>
          <a:xfrm>
            <a:off x="7635240" y="3794760"/>
            <a:ext cx="3931920" cy="1572768"/>
          </a:xfrm>
          <a:prstGeom prst="roundRect">
            <a:avLst>
              <a:gd name="adj" fmla="val 3488"/>
            </a:avLst>
          </a:prstGeom>
          <a:solidFill>
            <a:srgbClr val="F0ECF7"/>
          </a:solidFill>
          <a:ln w="12700">
            <a:solidFill>
              <a:srgbClr val="D5C9E8"/>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7909560" y="4069080"/>
            <a:ext cx="3383280" cy="320040"/>
          </a:xfrm>
          <a:prstGeom prst="rect">
            <a:avLst/>
          </a:prstGeom>
          <a:noFill/>
          <a:ln/>
        </p:spPr>
        <p:txBody>
          <a:bodyPr wrap="square" lIns="0" tIns="0" rIns="0" bIns="0" rtlCol="0" anchor="ctr"/>
          <a:lstStyle/>
          <a:p>
            <a:pPr indent="0" marL="0">
              <a:buNone/>
            </a:pPr>
            <a:r>
              <a:rPr lang="en-US" sz="2000" b="1" dirty="0">
                <a:solidFill>
                  <a:srgbClr val="725B9B"/>
                </a:solidFill>
                <a:latin typeface="Calibri" pitchFamily="34" charset="0"/>
                <a:ea typeface="Calibri" pitchFamily="34" charset="-122"/>
                <a:cs typeface="Calibri" pitchFamily="34" charset="-120"/>
              </a:rPr>
              <a:t>Quan hệ có thể mang thuộc tính</a:t>
            </a:r>
            <a:endParaRPr lang="en-US" sz="2000" dirty="0"/>
          </a:p>
        </p:txBody>
      </p:sp>
      <p:sp>
        <p:nvSpPr>
          <p:cNvPr id="11" name="Text 8"/>
          <p:cNvSpPr/>
          <p:nvPr/>
        </p:nvSpPr>
        <p:spPr>
          <a:xfrm>
            <a:off x="7909560" y="4535424"/>
            <a:ext cx="3154680" cy="47548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Cạnh ACTED_IN và CO_STARRED_WITH mang thuộc tính và bằng chứng trực tiếp.</a:t>
            </a:r>
            <a:endParaRPr lang="en-US" sz="13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THIẾT KẾ HỆ THỐNG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Kiến trúc đầu cuối: từ nguồn đến bằng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Sau khi import, đường chạy trình diễn không phụ thuộc Internet.</a:t>
            </a:r>
            <a:endParaRPr lang="en-US" sz="1250" dirty="0"/>
          </a:p>
        </p:txBody>
      </p:sp>
      <p:sp>
        <p:nvSpPr>
          <p:cNvPr id="5" name="Shape 3"/>
          <p:cNvSpPr/>
          <p:nvPr/>
        </p:nvSpPr>
        <p:spPr>
          <a:xfrm>
            <a:off x="502920" y="2148840"/>
            <a:ext cx="1572768" cy="2057400"/>
          </a:xfrm>
          <a:prstGeom prst="roundRect">
            <a:avLst>
              <a:gd name="adj" fmla="val 2907"/>
            </a:avLst>
          </a:prstGeom>
          <a:solidFill>
            <a:srgbClr val="EAF2F8"/>
          </a:solidFill>
          <a:ln w="19050">
            <a:solidFill>
              <a:srgbClr val="337B80"/>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66751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37B80"/>
                </a:solidFill>
                <a:latin typeface="Calibri" pitchFamily="34" charset="0"/>
                <a:ea typeface="Calibri" pitchFamily="34" charset="-122"/>
                <a:cs typeface="Calibri" pitchFamily="34" charset="-120"/>
              </a:rPr>
              <a:t>TMDB + IMDb</a:t>
            </a:r>
            <a:endParaRPr lang="en-US" sz="1700" dirty="0"/>
          </a:p>
        </p:txBody>
      </p:sp>
      <p:sp>
        <p:nvSpPr>
          <p:cNvPr id="7" name="Text 5"/>
          <p:cNvSpPr/>
          <p:nvPr/>
        </p:nvSpPr>
        <p:spPr>
          <a:xfrm>
            <a:off x="66751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Cung cấp dữ liệu nguồn</a:t>
            </a:r>
            <a:endParaRPr lang="en-US" sz="1200" dirty="0"/>
          </a:p>
        </p:txBody>
      </p:sp>
      <p:sp>
        <p:nvSpPr>
          <p:cNvPr id="8" name="Shape 6"/>
          <p:cNvSpPr/>
          <p:nvPr/>
        </p:nvSpPr>
        <p:spPr>
          <a:xfrm>
            <a:off x="2093976" y="3182112"/>
            <a:ext cx="310896" cy="0"/>
          </a:xfrm>
          <a:prstGeom prst="line">
            <a:avLst/>
          </a:prstGeom>
          <a:noFill/>
          <a:ln w="21590">
            <a:solidFill>
              <a:srgbClr val="697586"/>
            </a:solidFill>
            <a:prstDash val="solid"/>
            <a:tailEnd type="triangle"/>
          </a:ln>
        </p:spPr>
      </p:sp>
      <p:sp>
        <p:nvSpPr>
          <p:cNvPr id="9" name="Shape 7"/>
          <p:cNvSpPr/>
          <p:nvPr/>
        </p:nvSpPr>
        <p:spPr>
          <a:xfrm>
            <a:off x="2441448" y="2148840"/>
            <a:ext cx="1572768" cy="2057400"/>
          </a:xfrm>
          <a:prstGeom prst="roundRect">
            <a:avLst>
              <a:gd name="adj" fmla="val 2907"/>
            </a:avLst>
          </a:prstGeom>
          <a:solidFill>
            <a:srgbClr val="FFF2DF"/>
          </a:solidFill>
          <a:ln w="19050">
            <a:solidFill>
              <a:srgbClr val="D38B36"/>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606040"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D38B36"/>
                </a:solidFill>
                <a:latin typeface="Calibri" pitchFamily="34" charset="0"/>
                <a:ea typeface="Calibri" pitchFamily="34" charset="-122"/>
                <a:cs typeface="Calibri" pitchFamily="34" charset="-120"/>
              </a:rPr>
              <a:t>Raw cache</a:t>
            </a:r>
            <a:endParaRPr lang="en-US" sz="1700" dirty="0"/>
          </a:p>
        </p:txBody>
      </p:sp>
      <p:sp>
        <p:nvSpPr>
          <p:cNvPr id="11" name="Text 9"/>
          <p:cNvSpPr/>
          <p:nvPr/>
        </p:nvSpPr>
        <p:spPr>
          <a:xfrm>
            <a:off x="2606040"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Giữ nguyên JSON và GZIP</a:t>
            </a:r>
            <a:endParaRPr lang="en-US" sz="1200" dirty="0"/>
          </a:p>
        </p:txBody>
      </p:sp>
      <p:sp>
        <p:nvSpPr>
          <p:cNvPr id="12" name="Shape 10"/>
          <p:cNvSpPr/>
          <p:nvPr/>
        </p:nvSpPr>
        <p:spPr>
          <a:xfrm>
            <a:off x="4032504" y="3182112"/>
            <a:ext cx="310896" cy="0"/>
          </a:xfrm>
          <a:prstGeom prst="line">
            <a:avLst/>
          </a:prstGeom>
          <a:noFill/>
          <a:ln w="21590">
            <a:solidFill>
              <a:srgbClr val="697586"/>
            </a:solidFill>
            <a:prstDash val="solid"/>
            <a:tailEnd type="triangle"/>
          </a:ln>
        </p:spPr>
      </p:sp>
      <p:sp>
        <p:nvSpPr>
          <p:cNvPr id="13" name="Shape 11"/>
          <p:cNvSpPr/>
          <p:nvPr/>
        </p:nvSpPr>
        <p:spPr>
          <a:xfrm>
            <a:off x="4379976" y="2148840"/>
            <a:ext cx="1572768" cy="2057400"/>
          </a:xfrm>
          <a:prstGeom prst="roundRect">
            <a:avLst>
              <a:gd name="adj" fmla="val 2907"/>
            </a:avLst>
          </a:prstGeom>
          <a:solidFill>
            <a:srgbClr val="E8F4EE"/>
          </a:solidFill>
          <a:ln w="19050">
            <a:solidFill>
              <a:srgbClr val="3D8B66"/>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4544568"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D8B66"/>
                </a:solidFill>
                <a:latin typeface="Calibri" pitchFamily="34" charset="0"/>
                <a:ea typeface="Calibri" pitchFamily="34" charset="-122"/>
                <a:cs typeface="Calibri" pitchFamily="34" charset="-120"/>
              </a:rPr>
              <a:t>Xử lý</a:t>
            </a:r>
            <a:endParaRPr lang="en-US" sz="1700" dirty="0"/>
          </a:p>
        </p:txBody>
      </p:sp>
      <p:sp>
        <p:nvSpPr>
          <p:cNvPr id="15" name="Text 13"/>
          <p:cNvSpPr/>
          <p:nvPr/>
        </p:nvSpPr>
        <p:spPr>
          <a:xfrm>
            <a:off x="4544568"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Làm sạch, nối ID, chuẩn hóa</a:t>
            </a:r>
            <a:endParaRPr lang="en-US" sz="1200" dirty="0"/>
          </a:p>
        </p:txBody>
      </p:sp>
      <p:sp>
        <p:nvSpPr>
          <p:cNvPr id="16" name="Shape 14"/>
          <p:cNvSpPr/>
          <p:nvPr/>
        </p:nvSpPr>
        <p:spPr>
          <a:xfrm>
            <a:off x="5971032" y="3182112"/>
            <a:ext cx="310896" cy="0"/>
          </a:xfrm>
          <a:prstGeom prst="line">
            <a:avLst/>
          </a:prstGeom>
          <a:noFill/>
          <a:ln w="21590">
            <a:solidFill>
              <a:srgbClr val="697586"/>
            </a:solidFill>
            <a:prstDash val="solid"/>
            <a:tailEnd type="triangle"/>
          </a:ln>
        </p:spPr>
      </p:sp>
      <p:sp>
        <p:nvSpPr>
          <p:cNvPr id="17" name="Shape 15"/>
          <p:cNvSpPr/>
          <p:nvPr/>
        </p:nvSpPr>
        <p:spPr>
          <a:xfrm>
            <a:off x="6318504" y="2148840"/>
            <a:ext cx="1572768" cy="2057400"/>
          </a:xfrm>
          <a:prstGeom prst="roundRect">
            <a:avLst>
              <a:gd name="adj" fmla="val 2907"/>
            </a:avLst>
          </a:prstGeom>
          <a:solidFill>
            <a:srgbClr val="F0ECF7"/>
          </a:solidFill>
          <a:ln w="19050">
            <a:solidFill>
              <a:srgbClr val="725B9B"/>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6483096"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725B9B"/>
                </a:solidFill>
                <a:latin typeface="Calibri" pitchFamily="34" charset="0"/>
                <a:ea typeface="Calibri" pitchFamily="34" charset="-122"/>
                <a:cs typeface="Calibri" pitchFamily="34" charset="-120"/>
              </a:rPr>
              <a:t>Neo4j</a:t>
            </a:r>
            <a:endParaRPr lang="en-US" sz="1700" dirty="0"/>
          </a:p>
        </p:txBody>
      </p:sp>
      <p:sp>
        <p:nvSpPr>
          <p:cNvPr id="19" name="Text 17"/>
          <p:cNvSpPr/>
          <p:nvPr/>
        </p:nvSpPr>
        <p:spPr>
          <a:xfrm>
            <a:off x="6483096"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Bảo vệ, nhập và suy diễn</a:t>
            </a:r>
            <a:endParaRPr lang="en-US" sz="1200" dirty="0"/>
          </a:p>
        </p:txBody>
      </p:sp>
      <p:sp>
        <p:nvSpPr>
          <p:cNvPr id="20" name="Shape 18"/>
          <p:cNvSpPr/>
          <p:nvPr/>
        </p:nvSpPr>
        <p:spPr>
          <a:xfrm>
            <a:off x="7909560" y="3182112"/>
            <a:ext cx="310896" cy="0"/>
          </a:xfrm>
          <a:prstGeom prst="line">
            <a:avLst/>
          </a:prstGeom>
          <a:noFill/>
          <a:ln w="21590">
            <a:solidFill>
              <a:srgbClr val="697586"/>
            </a:solidFill>
            <a:prstDash val="solid"/>
            <a:tailEnd type="triangle"/>
          </a:ln>
        </p:spPr>
      </p:sp>
      <p:sp>
        <p:nvSpPr>
          <p:cNvPr id="21" name="Shape 19"/>
          <p:cNvSpPr/>
          <p:nvPr/>
        </p:nvSpPr>
        <p:spPr>
          <a:xfrm>
            <a:off x="8257032" y="2148840"/>
            <a:ext cx="1572768" cy="2057400"/>
          </a:xfrm>
          <a:prstGeom prst="roundRect">
            <a:avLst>
              <a:gd name="adj" fmla="val 2907"/>
            </a:avLst>
          </a:prstGeom>
          <a:solidFill>
            <a:srgbClr val="FBEAEC"/>
          </a:solidFill>
          <a:ln w="19050">
            <a:solidFill>
              <a:srgbClr val="B94D52"/>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8421624"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B94D52"/>
                </a:solidFill>
                <a:latin typeface="Calibri" pitchFamily="34" charset="0"/>
                <a:ea typeface="Calibri" pitchFamily="34" charset="-122"/>
                <a:cs typeface="Calibri" pitchFamily="34" charset="-120"/>
              </a:rPr>
              <a:t>FastAPI</a:t>
            </a:r>
            <a:endParaRPr lang="en-US" sz="1700" dirty="0"/>
          </a:p>
        </p:txBody>
      </p:sp>
      <p:sp>
        <p:nvSpPr>
          <p:cNvPr id="23" name="Text 21"/>
          <p:cNvSpPr/>
          <p:nvPr/>
        </p:nvSpPr>
        <p:spPr>
          <a:xfrm>
            <a:off x="8421624"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Điều phối hỏi–đáp và gợi ý</a:t>
            </a:r>
            <a:endParaRPr lang="en-US" sz="1200" dirty="0"/>
          </a:p>
        </p:txBody>
      </p:sp>
      <p:sp>
        <p:nvSpPr>
          <p:cNvPr id="24" name="Shape 22"/>
          <p:cNvSpPr/>
          <p:nvPr/>
        </p:nvSpPr>
        <p:spPr>
          <a:xfrm>
            <a:off x="9848088" y="3182112"/>
            <a:ext cx="310896" cy="0"/>
          </a:xfrm>
          <a:prstGeom prst="line">
            <a:avLst/>
          </a:prstGeom>
          <a:noFill/>
          <a:ln w="21590">
            <a:solidFill>
              <a:srgbClr val="697586"/>
            </a:solidFill>
            <a:prstDash val="solid"/>
            <a:tailEnd type="triangle"/>
          </a:ln>
        </p:spPr>
      </p:sp>
      <p:sp>
        <p:nvSpPr>
          <p:cNvPr id="25" name="Shape 23"/>
          <p:cNvSpPr/>
          <p:nvPr/>
        </p:nvSpPr>
        <p:spPr>
          <a:xfrm>
            <a:off x="10195560" y="2148840"/>
            <a:ext cx="1572768" cy="2057400"/>
          </a:xfrm>
          <a:prstGeom prst="roundRect">
            <a:avLst>
              <a:gd name="adj" fmla="val 2907"/>
            </a:avLst>
          </a:prstGeom>
          <a:solidFill>
            <a:srgbClr val="EDF2F7"/>
          </a:solidFill>
          <a:ln w="19050">
            <a:solidFill>
              <a:srgbClr val="183D5D"/>
            </a:solidFill>
            <a:prstDash val="solid"/>
          </a:ln>
          <a:effectLst>
            <a:outerShdw sx="100000" sy="100000" kx="0" ky="0" algn="bl" rotWithShape="0" blurRad="25400" dist="50800" dir="2700000">
              <a:srgbClr val="26384A">
                <a:alpha val="13000"/>
              </a:srgbClr>
            </a:outerShdw>
          </a:effectLst>
        </p:spPr>
      </p:sp>
      <p:sp>
        <p:nvSpPr>
          <p:cNvPr id="26" name="Text 24"/>
          <p:cNvSpPr/>
          <p:nvPr/>
        </p:nvSpPr>
        <p:spPr>
          <a:xfrm>
            <a:off x="1036015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183D5D"/>
                </a:solidFill>
                <a:latin typeface="Calibri" pitchFamily="34" charset="0"/>
                <a:ea typeface="Calibri" pitchFamily="34" charset="-122"/>
                <a:cs typeface="Calibri" pitchFamily="34" charset="-120"/>
              </a:rPr>
              <a:t>Giao diện</a:t>
            </a:r>
            <a:endParaRPr lang="en-US" sz="1700" dirty="0"/>
          </a:p>
        </p:txBody>
      </p:sp>
      <p:sp>
        <p:nvSpPr>
          <p:cNvPr id="27" name="Text 25"/>
          <p:cNvSpPr/>
          <p:nvPr/>
        </p:nvSpPr>
        <p:spPr>
          <a:xfrm>
            <a:off x="1036015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Trình bày kết quả và bằng chứng</a:t>
            </a:r>
            <a:endParaRPr lang="en-US" sz="1200" dirty="0"/>
          </a:p>
        </p:txBody>
      </p:sp>
      <p:sp>
        <p:nvSpPr>
          <p:cNvPr id="28" name="Shape 26"/>
          <p:cNvSpPr/>
          <p:nvPr/>
        </p:nvSpPr>
        <p:spPr>
          <a:xfrm>
            <a:off x="1920240" y="4800600"/>
            <a:ext cx="3337560" cy="841248"/>
          </a:xfrm>
          <a:prstGeom prst="roundRect">
            <a:avLst>
              <a:gd name="adj" fmla="val 6522"/>
            </a:avLst>
          </a:prstGeom>
          <a:solidFill>
            <a:srgbClr val="FFF2DF"/>
          </a:solidFill>
          <a:ln w="12700">
            <a:solidFill>
              <a:srgbClr val="D7DEE8"/>
            </a:solidFill>
            <a:prstDash val="solid"/>
          </a:ln>
        </p:spPr>
      </p:sp>
      <p:sp>
        <p:nvSpPr>
          <p:cNvPr id="29" name="Text 27"/>
          <p:cNvSpPr/>
          <p:nvPr/>
        </p:nvSpPr>
        <p:spPr>
          <a:xfrm>
            <a:off x="214884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Khả năng tái lập</a:t>
            </a:r>
            <a:endParaRPr lang="en-US" sz="1300" dirty="0"/>
          </a:p>
        </p:txBody>
      </p:sp>
      <p:sp>
        <p:nvSpPr>
          <p:cNvPr id="30" name="Text 28"/>
          <p:cNvSpPr/>
          <p:nvPr/>
        </p:nvSpPr>
        <p:spPr>
          <a:xfrm>
            <a:off x="2148840" y="5404104"/>
            <a:ext cx="2880360" cy="54864"/>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Checksum và manifest xác định rõ khi nào phải nhập lại dữ liệu.</a:t>
            </a:r>
            <a:endParaRPr lang="en-US" sz="950" dirty="0"/>
          </a:p>
        </p:txBody>
      </p:sp>
      <p:sp>
        <p:nvSpPr>
          <p:cNvPr id="31" name="Shape 29"/>
          <p:cNvSpPr/>
          <p:nvPr/>
        </p:nvSpPr>
        <p:spPr>
          <a:xfrm>
            <a:off x="6903720" y="4800600"/>
            <a:ext cx="3337560" cy="841248"/>
          </a:xfrm>
          <a:prstGeom prst="roundRect">
            <a:avLst>
              <a:gd name="adj" fmla="val 6522"/>
            </a:avLst>
          </a:prstGeom>
          <a:solidFill>
            <a:srgbClr val="E8F4EE"/>
          </a:solidFill>
          <a:ln w="12700">
            <a:solidFill>
              <a:srgbClr val="D7DEE8"/>
            </a:solidFill>
            <a:prstDash val="solid"/>
          </a:ln>
        </p:spPr>
      </p:sp>
      <p:sp>
        <p:nvSpPr>
          <p:cNvPr id="32" name="Text 30"/>
          <p:cNvSpPr/>
          <p:nvPr/>
        </p:nvSpPr>
        <p:spPr>
          <a:xfrm>
            <a:off x="713232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Khả năng giải thích</a:t>
            </a:r>
            <a:endParaRPr lang="en-US" sz="1300" dirty="0"/>
          </a:p>
        </p:txBody>
      </p:sp>
      <p:sp>
        <p:nvSpPr>
          <p:cNvPr id="33" name="Text 31"/>
          <p:cNvSpPr/>
          <p:nvPr/>
        </p:nvSpPr>
        <p:spPr>
          <a:xfrm>
            <a:off x="7132320" y="5404104"/>
            <a:ext cx="2880360" cy="54864"/>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Kết quả giữ thực thể đã liên kết, đường đi và đặc trưng tạo điểm.</a:t>
            </a:r>
            <a:endParaRPr lang="en-US" sz="9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TRI THỨC</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Mô hình dữ liệu đặt định danh lên trước tên gọi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Person có thể vừa là diễn viên vừa là đạo diễn; vai trò được biểu diễn bằng quan hệ.</a:t>
            </a:r>
            <a:endParaRPr lang="en-US" sz="1250" dirty="0"/>
          </a:p>
        </p:txBody>
      </p:sp>
      <p:sp>
        <p:nvSpPr>
          <p:cNvPr id="5" name="Shape 3"/>
          <p:cNvSpPr/>
          <p:nvPr/>
        </p:nvSpPr>
        <p:spPr>
          <a:xfrm>
            <a:off x="566928" y="1737360"/>
            <a:ext cx="7452360" cy="4315968"/>
          </a:xfrm>
          <a:prstGeom prst="roundRect">
            <a:avLst>
              <a:gd name="adj" fmla="val 847"/>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property_graph_schema.png">    </p:cNvPr>
          <p:cNvPicPr>
            <a:picLocks noChangeAspect="1"/>
          </p:cNvPicPr>
          <p:nvPr/>
        </p:nvPicPr>
        <p:blipFill>
          <a:blip r:embed="rId1"/>
          <a:stretch>
            <a:fillRect/>
          </a:stretch>
        </p:blipFill>
        <p:spPr>
          <a:xfrm>
            <a:off x="676656" y="2672095"/>
            <a:ext cx="7232904" cy="2446498"/>
          </a:xfrm>
          <a:prstGeom prst="rect">
            <a:avLst/>
          </a:prstGeom>
        </p:spPr>
      </p:pic>
      <p:sp>
        <p:nvSpPr>
          <p:cNvPr id="7" name="Shape 4"/>
          <p:cNvSpPr/>
          <p:nvPr/>
        </p:nvSpPr>
        <p:spPr>
          <a:xfrm>
            <a:off x="8321040" y="1755648"/>
            <a:ext cx="324612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549640" y="1938528"/>
            <a:ext cx="2788920" cy="301752"/>
          </a:xfrm>
          <a:prstGeom prst="rect">
            <a:avLst/>
          </a:prstGeom>
          <a:noFill/>
          <a:ln/>
        </p:spPr>
        <p:txBody>
          <a:bodyPr wrap="square" lIns="0" tIns="0" rIns="0" bIns="0" rtlCol="0" anchor="ctr">
            <a:normAutofit/>
          </a:bodyPr>
          <a:lstStyle/>
          <a:p>
            <a:pPr indent="0" marL="0">
              <a:buNone/>
            </a:pPr>
            <a:r>
              <a:rPr lang="en-US" sz="1450" b="1" dirty="0">
                <a:solidFill>
                  <a:srgbClr val="112B46"/>
                </a:solidFill>
                <a:latin typeface="Calibri" pitchFamily="34" charset="0"/>
                <a:ea typeface="Calibri" pitchFamily="34" charset="-122"/>
                <a:cs typeface="Calibri" pitchFamily="34" charset="-120"/>
              </a:rPr>
              <a:t>Tên không quyết định danh tính</a:t>
            </a:r>
            <a:endParaRPr lang="en-US" sz="1450" dirty="0"/>
          </a:p>
        </p:txBody>
      </p:sp>
      <p:sp>
        <p:nvSpPr>
          <p:cNvPr id="9" name="Text 6"/>
          <p:cNvSpPr/>
          <p:nvPr/>
        </p:nvSpPr>
        <p:spPr>
          <a:xfrm>
            <a:off x="8549640" y="2359152"/>
            <a:ext cx="2788920" cy="310896"/>
          </a:xfrm>
          <a:prstGeom prst="rect">
            <a:avLst/>
          </a:prstGeom>
          <a:noFill/>
          <a:ln/>
        </p:spPr>
        <p:txBody>
          <a:bodyPr wrap="square" lIns="0" tIns="0" rIns="0" bIns="0" rtlCol="0" anchor="t">
            <a:normAutofit/>
          </a:bodyPr>
          <a:lstStyle/>
          <a:p>
            <a:pPr indent="0" marL="0">
              <a:buNone/>
            </a:pPr>
            <a:r>
              <a:rPr lang="en-US" sz="1030" dirty="0">
                <a:solidFill>
                  <a:srgbClr val="172B3A"/>
                </a:solidFill>
                <a:latin typeface="Calibri" pitchFamily="34" charset="0"/>
                <a:ea typeface="Calibri" pitchFamily="34" charset="-122"/>
                <a:cs typeface="Calibri" pitchFamily="34" charset="-120"/>
              </a:rPr>
              <a:t>`Person.person_id = tmdb:&lt;id&gt;` là khóa ổn định; `name` chỉ dùng để hiển thị và tìm kiếm.</a:t>
            </a:r>
            <a:endParaRPr lang="en-US" sz="1030" dirty="0"/>
          </a:p>
        </p:txBody>
      </p:sp>
      <p:sp>
        <p:nvSpPr>
          <p:cNvPr id="10" name="Shape 7"/>
          <p:cNvSpPr/>
          <p:nvPr/>
        </p:nvSpPr>
        <p:spPr>
          <a:xfrm>
            <a:off x="8321040" y="3090672"/>
            <a:ext cx="324612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549640" y="3273552"/>
            <a:ext cx="2788920" cy="301752"/>
          </a:xfrm>
          <a:prstGeom prst="rect">
            <a:avLst/>
          </a:prstGeom>
          <a:noFill/>
          <a:ln/>
        </p:spPr>
        <p:txBody>
          <a:bodyPr wrap="square" lIns="0" tIns="0" rIns="0" bIns="0" rtlCol="0" anchor="ctr">
            <a:normAutofit/>
          </a:bodyPr>
          <a:lstStyle/>
          <a:p>
            <a:pPr indent="0" marL="0">
              <a:buNone/>
            </a:pPr>
            <a:r>
              <a:rPr lang="en-US" sz="1450" b="1" dirty="0">
                <a:solidFill>
                  <a:srgbClr val="112B46"/>
                </a:solidFill>
                <a:latin typeface="Calibri" pitchFamily="34" charset="0"/>
                <a:ea typeface="Calibri" pitchFamily="34" charset="-122"/>
                <a:cs typeface="Calibri" pitchFamily="34" charset="-120"/>
              </a:rPr>
              <a:t>Vai trò được đặt trên quan hệ</a:t>
            </a:r>
            <a:endParaRPr lang="en-US" sz="1450" dirty="0"/>
          </a:p>
        </p:txBody>
      </p:sp>
      <p:sp>
        <p:nvSpPr>
          <p:cNvPr id="12" name="Text 9"/>
          <p:cNvSpPr/>
          <p:nvPr/>
        </p:nvSpPr>
        <p:spPr>
          <a:xfrm>
            <a:off x="8549640" y="3694176"/>
            <a:ext cx="2788920" cy="31089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`ACTED_IN` cho biết một Person tham gia Movie nào và lưu nhân vật, thứ tự diễn viên, nguồn dữ liệu.</a:t>
            </a:r>
            <a:endParaRPr lang="en-US" sz="1000" dirty="0"/>
          </a:p>
        </p:txBody>
      </p:sp>
      <p:sp>
        <p:nvSpPr>
          <p:cNvPr id="13" name="Shape 10"/>
          <p:cNvSpPr/>
          <p:nvPr/>
        </p:nvSpPr>
        <p:spPr>
          <a:xfrm>
            <a:off x="8321040" y="4425696"/>
            <a:ext cx="324612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549640" y="4608576"/>
            <a:ext cx="2788920" cy="301752"/>
          </a:xfrm>
          <a:prstGeom prst="rect">
            <a:avLst/>
          </a:prstGeom>
          <a:noFill/>
          <a:ln/>
        </p:spPr>
        <p:txBody>
          <a:bodyPr wrap="square" lIns="0" tIns="0" rIns="0" bIns="0" rtlCol="0" anchor="ctr">
            <a:normAutofit/>
          </a:bodyPr>
          <a:lstStyle/>
          <a:p>
            <a:pPr indent="0" marL="0">
              <a:buNone/>
            </a:pPr>
            <a:r>
              <a:rPr lang="en-US" sz="1450" b="1" dirty="0">
                <a:solidFill>
                  <a:srgbClr val="112B46"/>
                </a:solidFill>
                <a:latin typeface="Calibri" pitchFamily="34" charset="0"/>
                <a:ea typeface="Calibri" pitchFamily="34" charset="-122"/>
                <a:cs typeface="Calibri" pitchFamily="34" charset="-120"/>
              </a:rPr>
              <a:t>Schema được bảo vệ trước khi nhập</a:t>
            </a:r>
            <a:endParaRPr lang="en-US" sz="1450" dirty="0"/>
          </a:p>
        </p:txBody>
      </p:sp>
      <p:sp>
        <p:nvSpPr>
          <p:cNvPr id="15" name="Text 12"/>
          <p:cNvSpPr/>
          <p:nvPr/>
        </p:nvSpPr>
        <p:spPr>
          <a:xfrm>
            <a:off x="8549640" y="5029200"/>
            <a:ext cx="2788920" cy="310896"/>
          </a:xfrm>
          <a:prstGeom prst="rect">
            <a:avLst/>
          </a:prstGeom>
          <a:noFill/>
          <a:ln/>
        </p:spPr>
        <p:txBody>
          <a:bodyPr wrap="square" lIns="0" tIns="0" rIns="0" bIns="0" rtlCol="0" anchor="t">
            <a:normAutofit/>
          </a:bodyPr>
          <a:lstStyle/>
          <a:p>
            <a:pPr indent="0" marL="0">
              <a:buNone/>
            </a:pPr>
            <a:r>
              <a:rPr lang="en-US" sz="1030" dirty="0">
                <a:solidFill>
                  <a:srgbClr val="172B3A"/>
                </a:solidFill>
                <a:latin typeface="Calibri" pitchFamily="34" charset="0"/>
                <a:ea typeface="Calibri" pitchFamily="34" charset="-122"/>
                <a:cs typeface="Calibri" pitchFamily="34" charset="-120"/>
              </a:rPr>
              <a:t>Constraint ngăn trùng khóa; index giúp tìm node theo khóa hoặc tên.</a:t>
            </a:r>
            <a:endParaRPr lang="en-US" sz="103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report_latex/images/sources/property_graph_schema.drawio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CHẤT LƯỢNG 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Đồ thị cuối cùng vượt qua toàn bộ quality gate</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bản ghi Movie không có quan hệ bị loại; ảnh chụp hợp lệ còn 4.999 phim.</a:t>
            </a:r>
            <a:endParaRPr lang="en-US" sz="1250" dirty="0"/>
          </a:p>
        </p:txBody>
      </p:sp>
      <p:sp>
        <p:nvSpPr>
          <p:cNvPr id="5" name="Shape 3"/>
          <p:cNvSpPr/>
          <p:nvPr/>
        </p:nvSpPr>
        <p:spPr>
          <a:xfrm>
            <a:off x="59436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76.612</a:t>
            </a:r>
            <a:endParaRPr lang="en-US" sz="2800" dirty="0"/>
          </a:p>
        </p:txBody>
      </p:sp>
      <p:sp>
        <p:nvSpPr>
          <p:cNvPr id="7" name="Text 5"/>
          <p:cNvSpPr/>
          <p:nvPr/>
        </p:nvSpPr>
        <p:spPr>
          <a:xfrm>
            <a:off x="77724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nút</a:t>
            </a:r>
            <a:endParaRPr lang="en-US" sz="1100" dirty="0"/>
          </a:p>
        </p:txBody>
      </p:sp>
      <p:sp>
        <p:nvSpPr>
          <p:cNvPr id="8" name="Shape 6"/>
          <p:cNvSpPr/>
          <p:nvPr/>
        </p:nvSpPr>
        <p:spPr>
          <a:xfrm>
            <a:off x="278892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295351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846.309</a:t>
            </a:r>
            <a:endParaRPr lang="en-US" sz="2800" dirty="0"/>
          </a:p>
        </p:txBody>
      </p:sp>
      <p:sp>
        <p:nvSpPr>
          <p:cNvPr id="10" name="Text 8"/>
          <p:cNvSpPr/>
          <p:nvPr/>
        </p:nvSpPr>
        <p:spPr>
          <a:xfrm>
            <a:off x="297180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quan hệ</a:t>
            </a:r>
            <a:endParaRPr lang="en-US" sz="1100" dirty="0"/>
          </a:p>
        </p:txBody>
      </p:sp>
      <p:sp>
        <p:nvSpPr>
          <p:cNvPr id="11" name="Shape 9"/>
          <p:cNvSpPr/>
          <p:nvPr/>
        </p:nvSpPr>
        <p:spPr>
          <a:xfrm>
            <a:off x="498348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514807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53.555</a:t>
            </a:r>
            <a:endParaRPr lang="en-US" sz="2800" dirty="0"/>
          </a:p>
        </p:txBody>
      </p:sp>
      <p:sp>
        <p:nvSpPr>
          <p:cNvPr id="13" name="Text 11"/>
          <p:cNvSpPr/>
          <p:nvPr/>
        </p:nvSpPr>
        <p:spPr>
          <a:xfrm>
            <a:off x="516636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Person</a:t>
            </a:r>
            <a:endParaRPr lang="en-US" sz="1100" dirty="0"/>
          </a:p>
        </p:txBody>
      </p:sp>
      <p:sp>
        <p:nvSpPr>
          <p:cNvPr id="14" name="Shape 12"/>
          <p:cNvSpPr/>
          <p:nvPr/>
        </p:nvSpPr>
        <p:spPr>
          <a:xfrm>
            <a:off x="717804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734263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12.509</a:t>
            </a:r>
            <a:endParaRPr lang="en-US" sz="2800" dirty="0"/>
          </a:p>
        </p:txBody>
      </p:sp>
      <p:sp>
        <p:nvSpPr>
          <p:cNvPr id="16" name="Text 14"/>
          <p:cNvSpPr/>
          <p:nvPr/>
        </p:nvSpPr>
        <p:spPr>
          <a:xfrm>
            <a:off x="736092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Keyword</a:t>
            </a:r>
            <a:endParaRPr lang="en-US" sz="1100" dirty="0"/>
          </a:p>
        </p:txBody>
      </p:sp>
      <p:sp>
        <p:nvSpPr>
          <p:cNvPr id="17" name="Shape 15"/>
          <p:cNvSpPr/>
          <p:nvPr/>
        </p:nvSpPr>
        <p:spPr>
          <a:xfrm>
            <a:off x="937260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53719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183D5D"/>
                </a:solidFill>
                <a:latin typeface="Arial" pitchFamily="34" charset="0"/>
                <a:ea typeface="Arial" pitchFamily="34" charset="-122"/>
                <a:cs typeface="Arial" pitchFamily="34" charset="-120"/>
              </a:rPr>
              <a:t>5.530</a:t>
            </a:r>
            <a:endParaRPr lang="en-US" sz="2800" dirty="0"/>
          </a:p>
        </p:txBody>
      </p:sp>
      <p:sp>
        <p:nvSpPr>
          <p:cNvPr id="19" name="Text 17"/>
          <p:cNvSpPr/>
          <p:nvPr/>
        </p:nvSpPr>
        <p:spPr>
          <a:xfrm>
            <a:off x="955548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Studio</a:t>
            </a:r>
            <a:endParaRPr lang="en-US" sz="1100" dirty="0"/>
          </a:p>
        </p:txBody>
      </p:sp>
      <p:sp>
        <p:nvSpPr>
          <p:cNvPr id="20" name="Text 18"/>
          <p:cNvSpPr/>
          <p:nvPr/>
        </p:nvSpPr>
        <p:spPr>
          <a:xfrm>
            <a:off x="685800" y="3657600"/>
            <a:ext cx="1920240" cy="685800"/>
          </a:xfrm>
          <a:prstGeom prst="rect">
            <a:avLst/>
          </a:prstGeom>
          <a:noFill/>
          <a:ln/>
        </p:spPr>
        <p:txBody>
          <a:bodyPr wrap="square" lIns="0" tIns="0" rIns="0" bIns="0" rtlCol="0" anchor="ctr"/>
          <a:lstStyle/>
          <a:p>
            <a:pPr algn="ctr" indent="0" marL="0">
              <a:buNone/>
            </a:pPr>
            <a:r>
              <a:rPr lang="en-US" sz="4800" b="1" dirty="0">
                <a:solidFill>
                  <a:srgbClr val="3D8B66"/>
                </a:solidFill>
                <a:latin typeface="Arial" pitchFamily="34" charset="0"/>
                <a:ea typeface="Arial" pitchFamily="34" charset="-122"/>
                <a:cs typeface="Arial" pitchFamily="34" charset="-120"/>
              </a:rPr>
              <a:t>0</a:t>
            </a:r>
            <a:endParaRPr lang="en-US" sz="4800" dirty="0"/>
          </a:p>
        </p:txBody>
      </p:sp>
      <p:sp>
        <p:nvSpPr>
          <p:cNvPr id="21" name="Text 19"/>
          <p:cNvSpPr/>
          <p:nvPr/>
        </p:nvSpPr>
        <p:spPr>
          <a:xfrm>
            <a:off x="685800" y="4370832"/>
            <a:ext cx="1920240" cy="274320"/>
          </a:xfrm>
          <a:prstGeom prst="rect">
            <a:avLst/>
          </a:prstGeom>
          <a:noFill/>
          <a:ln/>
        </p:spPr>
        <p:txBody>
          <a:bodyPr wrap="square" lIns="0" tIns="0" rIns="0" bIns="0" rtlCol="0" anchor="ctr"/>
          <a:lstStyle/>
          <a:p>
            <a:pPr algn="ctr" indent="0" marL="0">
              <a:buNone/>
            </a:pPr>
            <a:r>
              <a:rPr lang="en-US" sz="1300" b="1" dirty="0">
                <a:solidFill>
                  <a:srgbClr val="172B3A"/>
                </a:solidFill>
                <a:latin typeface="Calibri" pitchFamily="34" charset="0"/>
                <a:ea typeface="Calibri" pitchFamily="34" charset="-122"/>
                <a:cs typeface="Calibri" pitchFamily="34" charset="-120"/>
              </a:rPr>
              <a:t>vi phạm cấu trúc</a:t>
            </a:r>
            <a:endParaRPr lang="en-US" sz="1300" dirty="0"/>
          </a:p>
        </p:txBody>
      </p:sp>
      <p:sp>
        <p:nvSpPr>
          <p:cNvPr id="22" name="Shape 20"/>
          <p:cNvSpPr/>
          <p:nvPr/>
        </p:nvSpPr>
        <p:spPr>
          <a:xfrm>
            <a:off x="3108960" y="3611880"/>
            <a:ext cx="384048" cy="384048"/>
          </a:xfrm>
          <a:prstGeom prst="ellipse">
            <a:avLst/>
          </a:prstGeom>
          <a:solidFill>
            <a:srgbClr val="3D8B66"/>
          </a:solidFill>
          <a:ln w="12700">
            <a:solidFill>
              <a:srgbClr val="3D8B66"/>
            </a:solidFill>
            <a:prstDash val="solid"/>
          </a:ln>
        </p:spPr>
      </p:sp>
      <p:sp>
        <p:nvSpPr>
          <p:cNvPr id="23" name="Text 21"/>
          <p:cNvSpPr/>
          <p:nvPr/>
        </p:nvSpPr>
        <p:spPr>
          <a:xfrm>
            <a:off x="310896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4" name="Text 22"/>
          <p:cNvSpPr/>
          <p:nvPr/>
        </p:nvSpPr>
        <p:spPr>
          <a:xfrm>
            <a:off x="367588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Orphan Movie</a:t>
            </a:r>
            <a:endParaRPr lang="en-US" sz="1300" dirty="0"/>
          </a:p>
        </p:txBody>
      </p:sp>
      <p:sp>
        <p:nvSpPr>
          <p:cNvPr id="25" name="Shape 23"/>
          <p:cNvSpPr/>
          <p:nvPr/>
        </p:nvSpPr>
        <p:spPr>
          <a:xfrm>
            <a:off x="7086600" y="3611880"/>
            <a:ext cx="384048" cy="384048"/>
          </a:xfrm>
          <a:prstGeom prst="ellipse">
            <a:avLst/>
          </a:prstGeom>
          <a:solidFill>
            <a:srgbClr val="3D8B66"/>
          </a:solidFill>
          <a:ln w="12700">
            <a:solidFill>
              <a:srgbClr val="3D8B66"/>
            </a:solidFill>
            <a:prstDash val="solid"/>
          </a:ln>
        </p:spPr>
      </p:sp>
      <p:sp>
        <p:nvSpPr>
          <p:cNvPr id="26" name="Text 24"/>
          <p:cNvSpPr/>
          <p:nvPr/>
        </p:nvSpPr>
        <p:spPr>
          <a:xfrm>
            <a:off x="708660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7" name="Text 25"/>
          <p:cNvSpPr/>
          <p:nvPr/>
        </p:nvSpPr>
        <p:spPr>
          <a:xfrm>
            <a:off x="765352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Stable ID trùng</a:t>
            </a:r>
            <a:endParaRPr lang="en-US" sz="1300" dirty="0"/>
          </a:p>
        </p:txBody>
      </p:sp>
      <p:sp>
        <p:nvSpPr>
          <p:cNvPr id="28" name="Shape 26"/>
          <p:cNvSpPr/>
          <p:nvPr/>
        </p:nvSpPr>
        <p:spPr>
          <a:xfrm>
            <a:off x="3108960" y="4599432"/>
            <a:ext cx="384048" cy="384048"/>
          </a:xfrm>
          <a:prstGeom prst="ellipse">
            <a:avLst/>
          </a:prstGeom>
          <a:solidFill>
            <a:srgbClr val="3D8B66"/>
          </a:solidFill>
          <a:ln w="12700">
            <a:solidFill>
              <a:srgbClr val="3D8B66"/>
            </a:solidFill>
            <a:prstDash val="solid"/>
          </a:ln>
        </p:spPr>
      </p:sp>
      <p:sp>
        <p:nvSpPr>
          <p:cNvPr id="29" name="Text 27"/>
          <p:cNvSpPr/>
          <p:nvPr/>
        </p:nvSpPr>
        <p:spPr>
          <a:xfrm>
            <a:off x="310896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0" name="Text 28"/>
          <p:cNvSpPr/>
          <p:nvPr/>
        </p:nvSpPr>
        <p:spPr>
          <a:xfrm>
            <a:off x="367588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Thiếu thuộc tính bắt buộc</a:t>
            </a:r>
            <a:endParaRPr lang="en-US" sz="1300" dirty="0"/>
          </a:p>
        </p:txBody>
      </p:sp>
      <p:sp>
        <p:nvSpPr>
          <p:cNvPr id="31" name="Shape 29"/>
          <p:cNvSpPr/>
          <p:nvPr/>
        </p:nvSpPr>
        <p:spPr>
          <a:xfrm>
            <a:off x="7086600" y="4599432"/>
            <a:ext cx="384048" cy="384048"/>
          </a:xfrm>
          <a:prstGeom prst="ellipse">
            <a:avLst/>
          </a:prstGeom>
          <a:solidFill>
            <a:srgbClr val="3D8B66"/>
          </a:solidFill>
          <a:ln w="12700">
            <a:solidFill>
              <a:srgbClr val="3D8B66"/>
            </a:solidFill>
            <a:prstDash val="solid"/>
          </a:ln>
        </p:spPr>
      </p:sp>
      <p:sp>
        <p:nvSpPr>
          <p:cNvPr id="32" name="Text 30"/>
          <p:cNvSpPr/>
          <p:nvPr/>
        </p:nvSpPr>
        <p:spPr>
          <a:xfrm>
            <a:off x="708660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3" name="Text 31"/>
          <p:cNvSpPr/>
          <p:nvPr/>
        </p:nvSpPr>
        <p:spPr>
          <a:xfrm>
            <a:off x="765352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Cạnh sai kiểu/đầu mút</a:t>
            </a:r>
            <a:endParaRPr lang="en-US" sz="1300" dirty="0"/>
          </a:p>
        </p:txBody>
      </p:sp>
      <p:sp>
        <p:nvSpPr>
          <p:cNvPr id="34" name="Text 32"/>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số liệu: experiments/results/quality/{knowledge_quality_audit,neo4j_validation}.json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VÀ PROVENANCE</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Phân giải thực thể: exact trước, fuzzy có kiểm soát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Mục tiêu là tránh false positive; trường hợp mơ hồ có thể từ chối thay vì nối sai.</a:t>
            </a:r>
            <a:endParaRPr lang="en-US" sz="1250" dirty="0"/>
          </a:p>
        </p:txBody>
      </p:sp>
      <p:sp>
        <p:nvSpPr>
          <p:cNvPr id="5" name="Shape 3"/>
          <p:cNvSpPr/>
          <p:nvPr/>
        </p:nvSpPr>
        <p:spPr>
          <a:xfrm>
            <a:off x="576072" y="1773936"/>
            <a:ext cx="7406640" cy="4261104"/>
          </a:xfrm>
          <a:prstGeom prst="roundRect">
            <a:avLst>
              <a:gd name="adj" fmla="val 85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entity_resolution_flow.png">    </p:cNvPr>
          <p:cNvPicPr>
            <a:picLocks noChangeAspect="1"/>
          </p:cNvPicPr>
          <p:nvPr/>
        </p:nvPicPr>
        <p:blipFill>
          <a:blip r:embed="rId1"/>
          <a:stretch>
            <a:fillRect/>
          </a:stretch>
        </p:blipFill>
        <p:spPr>
          <a:xfrm>
            <a:off x="685800" y="2817893"/>
            <a:ext cx="7187184" cy="2173191"/>
          </a:xfrm>
          <a:prstGeom prst="rect">
            <a:avLst/>
          </a:prstGeom>
        </p:spPr>
      </p:pic>
      <p:sp>
        <p:nvSpPr>
          <p:cNvPr id="7" name="Shape 4"/>
          <p:cNvSpPr/>
          <p:nvPr/>
        </p:nvSpPr>
        <p:spPr>
          <a:xfrm>
            <a:off x="8275320" y="181051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75104"/>
            <a:ext cx="29169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1,000</a:t>
            </a:r>
            <a:endParaRPr lang="en-US" sz="2800" dirty="0"/>
          </a:p>
        </p:txBody>
      </p:sp>
      <p:sp>
        <p:nvSpPr>
          <p:cNvPr id="9" name="Text 6"/>
          <p:cNvSpPr/>
          <p:nvPr/>
        </p:nvSpPr>
        <p:spPr>
          <a:xfrm>
            <a:off x="8458200" y="248716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Precision</a:t>
            </a:r>
            <a:endParaRPr lang="en-US" sz="1100" dirty="0"/>
          </a:p>
        </p:txBody>
      </p:sp>
      <p:sp>
        <p:nvSpPr>
          <p:cNvPr id="10" name="Text 7"/>
          <p:cNvSpPr/>
          <p:nvPr/>
        </p:nvSpPr>
        <p:spPr>
          <a:xfrm>
            <a:off x="8458200" y="277977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1" name="Shape 8"/>
          <p:cNvSpPr/>
          <p:nvPr/>
        </p:nvSpPr>
        <p:spPr>
          <a:xfrm>
            <a:off x="8275320" y="327355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9"/>
          <p:cNvSpPr/>
          <p:nvPr/>
        </p:nvSpPr>
        <p:spPr>
          <a:xfrm>
            <a:off x="8439912" y="3438144"/>
            <a:ext cx="291693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0,933</a:t>
            </a:r>
            <a:endParaRPr lang="en-US" sz="2800" dirty="0"/>
          </a:p>
        </p:txBody>
      </p:sp>
      <p:sp>
        <p:nvSpPr>
          <p:cNvPr id="13" name="Text 10"/>
          <p:cNvSpPr/>
          <p:nvPr/>
        </p:nvSpPr>
        <p:spPr>
          <a:xfrm>
            <a:off x="8458200" y="395020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Recall</a:t>
            </a:r>
            <a:endParaRPr lang="en-US" sz="1100" dirty="0"/>
          </a:p>
        </p:txBody>
      </p:sp>
      <p:sp>
        <p:nvSpPr>
          <p:cNvPr id="14" name="Text 11"/>
          <p:cNvSpPr/>
          <p:nvPr/>
        </p:nvSpPr>
        <p:spPr>
          <a:xfrm>
            <a:off x="8458200" y="424281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 trường hợp abstain</a:t>
            </a:r>
            <a:endParaRPr lang="en-US" sz="750" dirty="0"/>
          </a:p>
        </p:txBody>
      </p:sp>
      <p:sp>
        <p:nvSpPr>
          <p:cNvPr id="15" name="Shape 12"/>
          <p:cNvSpPr/>
          <p:nvPr/>
        </p:nvSpPr>
        <p:spPr>
          <a:xfrm>
            <a:off x="8275320" y="473659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6" name="Text 13"/>
          <p:cNvSpPr/>
          <p:nvPr/>
        </p:nvSpPr>
        <p:spPr>
          <a:xfrm>
            <a:off x="8439912" y="4901184"/>
            <a:ext cx="29169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0,966</a:t>
            </a:r>
            <a:endParaRPr lang="en-US" sz="2800" dirty="0"/>
          </a:p>
        </p:txBody>
      </p:sp>
      <p:sp>
        <p:nvSpPr>
          <p:cNvPr id="17" name="Text 14"/>
          <p:cNvSpPr/>
          <p:nvPr/>
        </p:nvSpPr>
        <p:spPr>
          <a:xfrm>
            <a:off x="8458200" y="541324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F1</a:t>
            </a:r>
            <a:endParaRPr lang="en-US" sz="1100" dirty="0"/>
          </a:p>
        </p:txBody>
      </p:sp>
      <p:sp>
        <p:nvSpPr>
          <p:cNvPr id="18" name="Text 15"/>
          <p:cNvSpPr/>
          <p:nvPr/>
        </p:nvSpPr>
        <p:spPr>
          <a:xfrm>
            <a:off x="8458200" y="570585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nearest-name hard negatives</a:t>
            </a:r>
            <a:endParaRPr lang="en-US" sz="750" dirty="0"/>
          </a:p>
        </p:txBody>
      </p:sp>
      <p:sp>
        <p:nvSpPr>
          <p:cNvPr id="19" name="Text 1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entity_resolution.json · sơ đồ: report_latex/images/sources/entity_resolution_flow.drawio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THỰC THỂ</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Entity resolution và entity linking giải quyết hai thời điểm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Cả hai đều xử lý identity, nhưng một bước hợp nhất dữ liệu khi xây graph; bước còn lại nối đầu vào người dùng vào graph đã có.</a:t>
            </a:r>
            <a:endParaRPr lang="en-US" sz="1250" dirty="0"/>
          </a:p>
        </p:txBody>
      </p:sp>
      <p:sp>
        <p:nvSpPr>
          <p:cNvPr id="5" name="Shape 3"/>
          <p:cNvSpPr/>
          <p:nvPr/>
        </p:nvSpPr>
        <p:spPr>
          <a:xfrm>
            <a:off x="621792" y="1783080"/>
            <a:ext cx="5349240" cy="4251960"/>
          </a:xfrm>
          <a:prstGeom prst="roundRect">
            <a:avLst>
              <a:gd name="adj" fmla="val 129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65960"/>
            <a:ext cx="4892040" cy="301752"/>
          </a:xfrm>
          <a:prstGeom prst="rect">
            <a:avLst/>
          </a:prstGeom>
          <a:noFill/>
          <a:ln/>
        </p:spPr>
        <p:txBody>
          <a:bodyPr wrap="square" lIns="0" tIns="0" rIns="0" bIns="0" rtlCol="0" anchor="ctr">
            <a:normAutofit/>
          </a:bodyPr>
          <a:lstStyle/>
          <a:p>
            <a:pPr indent="0" marL="0">
              <a:buNone/>
            </a:pPr>
            <a:r>
              <a:rPr lang="en-US" sz="2000" b="1" dirty="0">
                <a:solidFill>
                  <a:srgbClr val="725B9B"/>
                </a:solidFill>
                <a:latin typeface="Calibri" pitchFamily="34" charset="0"/>
                <a:ea typeface="Calibri" pitchFamily="34" charset="-122"/>
                <a:cs typeface="Calibri" pitchFamily="34" charset="-120"/>
              </a:rPr>
              <a:t>Entity resolution · lúc tích hợp dữ liệu</a:t>
            </a:r>
            <a:endParaRPr lang="en-US" sz="2000" dirty="0"/>
          </a:p>
        </p:txBody>
      </p:sp>
      <p:sp>
        <p:nvSpPr>
          <p:cNvPr id="7" name="Text 5"/>
          <p:cNvSpPr/>
          <p:nvPr/>
        </p:nvSpPr>
        <p:spPr>
          <a:xfrm>
            <a:off x="850392" y="2386584"/>
            <a:ext cx="4892040" cy="3465576"/>
          </a:xfrm>
          <a:prstGeom prst="rect">
            <a:avLst/>
          </a:prstGeom>
          <a:noFill/>
          <a:ln/>
        </p:spPr>
        <p:txBody>
          <a:bodyPr wrap="square" lIns="0" tIns="0" rIns="0" bIns="0" rtlCol="0" anchor="t">
            <a:normAutofit/>
          </a:bodyPr>
          <a:lstStyle/>
          <a:p>
            <a:pPr indent="0" marL="0">
              <a:buNone/>
            </a:pPr>
            <a:r>
              <a:rPr lang="en-US" sz="1350" dirty="0">
                <a:solidFill>
                  <a:srgbClr val="172B3A"/>
                </a:solidFill>
                <a:latin typeface="Calibri" pitchFamily="34" charset="0"/>
                <a:ea typeface="Calibri" pitchFamily="34" charset="-122"/>
                <a:cs typeface="Calibri" pitchFamily="34" charset="-120"/>
              </a:rPr>
              <a:t>Mục tiêu: quyết định hai record từ cùng hoặc khác nguồn có mô tả cùng một thực thể hay không.</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Tín hiệu ưu tiên trong project:</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1. Exact source ID TMDB/IMDb.</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2. Thuộc tính hỗ trợ khi ID thiếu.</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3. Fuzzy matching chỉ là fallback có confidence và log.</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Sai false positive làm ô nhiễm graph lâu dài, nên hệ thống ưu tiên precision và có thể abstain.</a:t>
            </a:r>
            <a:endParaRPr lang="en-US" sz="1350" dirty="0"/>
          </a:p>
        </p:txBody>
      </p:sp>
      <p:sp>
        <p:nvSpPr>
          <p:cNvPr id="8" name="Shape 6"/>
          <p:cNvSpPr/>
          <p:nvPr/>
        </p:nvSpPr>
        <p:spPr>
          <a:xfrm>
            <a:off x="6217920" y="1783080"/>
            <a:ext cx="5349240" cy="4251960"/>
          </a:xfrm>
          <a:prstGeom prst="roundRect">
            <a:avLst>
              <a:gd name="adj" fmla="val 129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46520" y="1965960"/>
            <a:ext cx="4892040" cy="301752"/>
          </a:xfrm>
          <a:prstGeom prst="rect">
            <a:avLst/>
          </a:prstGeom>
          <a:noFill/>
          <a:ln/>
        </p:spPr>
        <p:txBody>
          <a:bodyPr wrap="square" lIns="0" tIns="0" rIns="0" bIns="0" rtlCol="0" anchor="ctr">
            <a:normAutofit/>
          </a:bodyPr>
          <a:lstStyle/>
          <a:p>
            <a:pPr indent="0" marL="0">
              <a:buNone/>
            </a:pPr>
            <a:r>
              <a:rPr lang="en-US" sz="2000" b="1" dirty="0">
                <a:solidFill>
                  <a:srgbClr val="337B80"/>
                </a:solidFill>
                <a:latin typeface="Calibri" pitchFamily="34" charset="0"/>
                <a:ea typeface="Calibri" pitchFamily="34" charset="-122"/>
                <a:cs typeface="Calibri" pitchFamily="34" charset="-120"/>
              </a:rPr>
              <a:t>Entity linking · lúc xử lý câu hỏi</a:t>
            </a:r>
            <a:endParaRPr lang="en-US" sz="2000" dirty="0"/>
          </a:p>
        </p:txBody>
      </p:sp>
      <p:sp>
        <p:nvSpPr>
          <p:cNvPr id="10" name="Text 8"/>
          <p:cNvSpPr/>
          <p:nvPr/>
        </p:nvSpPr>
        <p:spPr>
          <a:xfrm>
            <a:off x="6446520" y="2386584"/>
            <a:ext cx="4892040" cy="3465576"/>
          </a:xfrm>
          <a:prstGeom prst="rect">
            <a:avLst/>
          </a:prstGeom>
          <a:noFill/>
          <a:ln/>
        </p:spPr>
        <p:txBody>
          <a:bodyPr wrap="square" lIns="0" tIns="0" rIns="0" bIns="0" rtlCol="0" anchor="t">
            <a:normAutofit/>
          </a:bodyPr>
          <a:lstStyle/>
          <a:p>
            <a:pPr indent="0" marL="0">
              <a:buNone/>
            </a:pPr>
            <a:r>
              <a:rPr lang="en-US" sz="1350" dirty="0">
                <a:solidFill>
                  <a:srgbClr val="172B3A"/>
                </a:solidFill>
                <a:latin typeface="Calibri" pitchFamily="34" charset="0"/>
                <a:ea typeface="Calibri" pitchFamily="34" charset="-122"/>
                <a:cs typeface="Calibri" pitchFamily="34" charset="-120"/>
              </a:rPr>
              <a:t>Mục tiêu: nối chuỗi người dùng nhập, ví dụ “Cristopher Nolan”, tới node canonical đã tồn tại.</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Quy trình trong project:</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1. Xác định loại slot: Movie/Person/Genre.</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2. Full-text search tạo candidate.</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3. Fuzzy reranking và threshold.</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4. Trả stable ID + canonical name + confidence.</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Query sau đó dùng ID, không mở rộng lại theo tên.</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biến câu hỏi quan hệ thành mẫu đường đi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Tham số người dùng được truyền riêng; cấu trúc truy vấn lấy từ danh mục cố định.</a:t>
            </a:r>
            <a:endParaRPr lang="en-US" sz="1250" dirty="0"/>
          </a:p>
        </p:txBody>
      </p:sp>
      <p:sp>
        <p:nvSpPr>
          <p:cNvPr id="5" name="Shape 3"/>
          <p:cNvSpPr/>
          <p:nvPr/>
        </p:nvSpPr>
        <p:spPr>
          <a:xfrm>
            <a:off x="621792" y="1755648"/>
            <a:ext cx="6400800" cy="4114800"/>
          </a:xfrm>
          <a:prstGeom prst="roundRect">
            <a:avLst>
              <a:gd name="adj" fmla="val 1111"/>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932688" y="2084832"/>
            <a:ext cx="5806440" cy="2697480"/>
          </a:xfrm>
          <a:prstGeom prst="rect">
            <a:avLst/>
          </a:prstGeom>
          <a:noFill/>
          <a:ln/>
        </p:spPr>
        <p:txBody>
          <a:bodyPr wrap="square" lIns="635" tIns="635" rIns="635" bIns="635" rtlCol="0" anchor="ctr">
            <a:normAutofit/>
          </a:bodyPr>
          <a:lstStyle/>
          <a:p>
            <a:pPr indent="0" marL="0">
              <a:buNone/>
            </a:pPr>
            <a:r>
              <a:rPr lang="en-US" sz="1500" dirty="0">
                <a:solidFill>
                  <a:srgbClr val="D9E8F2"/>
                </a:solidFill>
                <a:latin typeface="Courier New" pitchFamily="34" charset="0"/>
                <a:ea typeface="Courier New" pitchFamily="34" charset="-122"/>
                <a:cs typeface="Courier New" pitchFamily="34" charset="-120"/>
              </a:rPr>
              <a:t>MATCH (d:Person)-[:DIRECTED]-&gt;(m:Movie)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      -[:HAS_GENRE]-&gt;(g:Genre)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WHERE g.name = $genre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RETURN d.name, count(m) AS movie_count</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ORDER BY movie_count DESC</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LIMIT $limit</a:t>
            </a:r>
            <a:endParaRPr lang="en-US" sz="1500" dirty="0"/>
          </a:p>
        </p:txBody>
      </p:sp>
      <p:sp>
        <p:nvSpPr>
          <p:cNvPr id="7" name="Text 5"/>
          <p:cNvSpPr/>
          <p:nvPr/>
        </p:nvSpPr>
        <p:spPr>
          <a:xfrm>
            <a:off x="932688" y="5138928"/>
            <a:ext cx="2377440" cy="329184"/>
          </a:xfrm>
          <a:prstGeom prst="rect">
            <a:avLst/>
          </a:prstGeom>
          <a:noFill/>
          <a:ln/>
        </p:spPr>
        <p:txBody>
          <a:bodyPr wrap="square" lIns="0" tIns="0" rIns="0" bIns="0" rtlCol="0" anchor="ctr"/>
          <a:lstStyle/>
          <a:p>
            <a:pPr indent="0" marL="0">
              <a:buNone/>
            </a:pPr>
            <a:r>
              <a:rPr lang="en-US" sz="1300" b="1" dirty="0">
                <a:solidFill>
                  <a:srgbClr val="8FD0CC"/>
                </a:solidFill>
                <a:latin typeface="Courier New" pitchFamily="34" charset="0"/>
                <a:ea typeface="Courier New" pitchFamily="34" charset="-122"/>
                <a:cs typeface="Courier New" pitchFamily="34" charset="-120"/>
              </a:rPr>
              <a:t>$genre · $limit</a:t>
            </a:r>
            <a:endParaRPr lang="en-US" sz="1300" dirty="0"/>
          </a:p>
        </p:txBody>
      </p:sp>
      <p:sp>
        <p:nvSpPr>
          <p:cNvPr id="8" name="Shape 6"/>
          <p:cNvSpPr/>
          <p:nvPr/>
        </p:nvSpPr>
        <p:spPr>
          <a:xfrm>
            <a:off x="7360920" y="1783080"/>
            <a:ext cx="4160520" cy="960120"/>
          </a:xfrm>
          <a:prstGeom prst="roundRect">
            <a:avLst>
              <a:gd name="adj" fmla="val 5714"/>
            </a:avLst>
          </a:prstGeom>
          <a:solidFill>
            <a:srgbClr val="FFFFFF"/>
          </a:solidFill>
          <a:ln w="12700">
            <a:solidFill>
              <a:srgbClr val="D7DEE8"/>
            </a:solidFill>
            <a:prstDash val="solid"/>
          </a:ln>
        </p:spPr>
      </p:sp>
      <p:sp>
        <p:nvSpPr>
          <p:cNvPr id="9" name="Shape 7"/>
          <p:cNvSpPr/>
          <p:nvPr/>
        </p:nvSpPr>
        <p:spPr>
          <a:xfrm>
            <a:off x="7562088" y="1984248"/>
            <a:ext cx="384048" cy="384048"/>
          </a:xfrm>
          <a:prstGeom prst="ellipse">
            <a:avLst/>
          </a:prstGeom>
          <a:solidFill>
            <a:srgbClr val="337B80"/>
          </a:solidFill>
          <a:ln w="12700">
            <a:solidFill>
              <a:srgbClr val="337B80"/>
            </a:solidFill>
            <a:prstDash val="solid"/>
          </a:ln>
        </p:spPr>
      </p:sp>
      <p:sp>
        <p:nvSpPr>
          <p:cNvPr id="10" name="Text 8"/>
          <p:cNvSpPr/>
          <p:nvPr/>
        </p:nvSpPr>
        <p:spPr>
          <a:xfrm>
            <a:off x="7562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9"/>
          <p:cNvSpPr/>
          <p:nvPr/>
        </p:nvSpPr>
        <p:spPr>
          <a:xfrm>
            <a:off x="8074152" y="1965960"/>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Tra cứu</a:t>
            </a:r>
            <a:endParaRPr lang="en-US" sz="1600" dirty="0"/>
          </a:p>
        </p:txBody>
      </p:sp>
      <p:sp>
        <p:nvSpPr>
          <p:cNvPr id="12" name="Text 10"/>
          <p:cNvSpPr/>
          <p:nvPr/>
        </p:nvSpPr>
        <p:spPr>
          <a:xfrm>
            <a:off x="7589520" y="2386584"/>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theo đạo diễn · diễn viên theo phim</a:t>
            </a:r>
            <a:endParaRPr lang="en-US" sz="1100" dirty="0"/>
          </a:p>
        </p:txBody>
      </p:sp>
      <p:sp>
        <p:nvSpPr>
          <p:cNvPr id="13" name="Shape 11"/>
          <p:cNvSpPr/>
          <p:nvPr/>
        </p:nvSpPr>
        <p:spPr>
          <a:xfrm>
            <a:off x="7360920" y="2907792"/>
            <a:ext cx="4160520" cy="960120"/>
          </a:xfrm>
          <a:prstGeom prst="roundRect">
            <a:avLst>
              <a:gd name="adj" fmla="val 5714"/>
            </a:avLst>
          </a:prstGeom>
          <a:solidFill>
            <a:srgbClr val="FFF2DF"/>
          </a:solidFill>
          <a:ln w="12700">
            <a:solidFill>
              <a:srgbClr val="D7DEE8"/>
            </a:solidFill>
            <a:prstDash val="solid"/>
          </a:ln>
        </p:spPr>
      </p:sp>
      <p:sp>
        <p:nvSpPr>
          <p:cNvPr id="14" name="Shape 12"/>
          <p:cNvSpPr/>
          <p:nvPr/>
        </p:nvSpPr>
        <p:spPr>
          <a:xfrm>
            <a:off x="7562088" y="3108960"/>
            <a:ext cx="384048" cy="384048"/>
          </a:xfrm>
          <a:prstGeom prst="ellipse">
            <a:avLst/>
          </a:prstGeom>
          <a:solidFill>
            <a:srgbClr val="D38B36"/>
          </a:solidFill>
          <a:ln w="12700">
            <a:solidFill>
              <a:srgbClr val="D38B36"/>
            </a:solidFill>
            <a:prstDash val="solid"/>
          </a:ln>
        </p:spPr>
      </p:sp>
      <p:sp>
        <p:nvSpPr>
          <p:cNvPr id="15" name="Text 13"/>
          <p:cNvSpPr/>
          <p:nvPr/>
        </p:nvSpPr>
        <p:spPr>
          <a:xfrm>
            <a:off x="7562088" y="316382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4"/>
          <p:cNvSpPr/>
          <p:nvPr/>
        </p:nvSpPr>
        <p:spPr>
          <a:xfrm>
            <a:off x="8074152" y="3090672"/>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Nhiều bước (multi-hop)</a:t>
            </a:r>
            <a:endParaRPr lang="en-US" sz="1600" dirty="0"/>
          </a:p>
        </p:txBody>
      </p:sp>
      <p:sp>
        <p:nvSpPr>
          <p:cNvPr id="17" name="Text 15"/>
          <p:cNvSpPr/>
          <p:nvPr/>
        </p:nvSpPr>
        <p:spPr>
          <a:xfrm>
            <a:off x="7589520" y="3511296"/>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chung · đạo diễn → phim → thể loại</a:t>
            </a:r>
            <a:endParaRPr lang="en-US" sz="1100" dirty="0"/>
          </a:p>
        </p:txBody>
      </p:sp>
      <p:sp>
        <p:nvSpPr>
          <p:cNvPr id="18" name="Shape 16"/>
          <p:cNvSpPr/>
          <p:nvPr/>
        </p:nvSpPr>
        <p:spPr>
          <a:xfrm>
            <a:off x="7360920" y="4032504"/>
            <a:ext cx="4160520" cy="960120"/>
          </a:xfrm>
          <a:prstGeom prst="roundRect">
            <a:avLst>
              <a:gd name="adj" fmla="val 5714"/>
            </a:avLst>
          </a:prstGeom>
          <a:solidFill>
            <a:srgbClr val="F0ECF7"/>
          </a:solidFill>
          <a:ln w="12700">
            <a:solidFill>
              <a:srgbClr val="D7DEE8"/>
            </a:solidFill>
            <a:prstDash val="solid"/>
          </a:ln>
        </p:spPr>
      </p:sp>
      <p:sp>
        <p:nvSpPr>
          <p:cNvPr id="19" name="Shape 17"/>
          <p:cNvSpPr/>
          <p:nvPr/>
        </p:nvSpPr>
        <p:spPr>
          <a:xfrm>
            <a:off x="7562088" y="4233672"/>
            <a:ext cx="384048" cy="384048"/>
          </a:xfrm>
          <a:prstGeom prst="ellipse">
            <a:avLst/>
          </a:prstGeom>
          <a:solidFill>
            <a:srgbClr val="725B9B"/>
          </a:solidFill>
          <a:ln w="12700">
            <a:solidFill>
              <a:srgbClr val="725B9B"/>
            </a:solidFill>
            <a:prstDash val="solid"/>
          </a:ln>
        </p:spPr>
      </p:sp>
      <p:sp>
        <p:nvSpPr>
          <p:cNvPr id="20" name="Text 18"/>
          <p:cNvSpPr/>
          <p:nvPr/>
        </p:nvSpPr>
        <p:spPr>
          <a:xfrm>
            <a:off x="7562088" y="428853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9"/>
          <p:cNvSpPr/>
          <p:nvPr/>
        </p:nvSpPr>
        <p:spPr>
          <a:xfrm>
            <a:off x="8074152" y="4215384"/>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Đường đi và suy diễn</a:t>
            </a:r>
            <a:endParaRPr lang="en-US" sz="1600" dirty="0"/>
          </a:p>
        </p:txBody>
      </p:sp>
      <p:sp>
        <p:nvSpPr>
          <p:cNvPr id="22" name="Text 20"/>
          <p:cNvSpPr/>
          <p:nvPr/>
        </p:nvSpPr>
        <p:spPr>
          <a:xfrm>
            <a:off x="7589520" y="4636008"/>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shortestPath([*..8]) · CO_STARRED_WITH</a:t>
            </a:r>
            <a:endParaRPr lang="en-US" sz="1100" dirty="0"/>
          </a:p>
        </p:txBody>
      </p:sp>
      <p:sp>
        <p:nvSpPr>
          <p:cNvPr id="23" name="Shape 21"/>
          <p:cNvSpPr/>
          <p:nvPr/>
        </p:nvSpPr>
        <p:spPr>
          <a:xfrm>
            <a:off x="7360920" y="5010912"/>
            <a:ext cx="4160520" cy="914400"/>
          </a:xfrm>
          <a:prstGeom prst="roundRect">
            <a:avLst>
              <a:gd name="adj" fmla="val 6000"/>
            </a:avLst>
          </a:prstGeom>
          <a:solidFill>
            <a:srgbClr val="E8F4EE"/>
          </a:solidFill>
          <a:ln w="12700">
            <a:solidFill>
              <a:srgbClr val="D7DEE8"/>
            </a:solidFill>
            <a:prstDash val="solid"/>
          </a:ln>
        </p:spPr>
      </p:sp>
      <p:sp>
        <p:nvSpPr>
          <p:cNvPr id="24" name="Shape 22"/>
          <p:cNvSpPr/>
          <p:nvPr/>
        </p:nvSpPr>
        <p:spPr>
          <a:xfrm>
            <a:off x="7562088" y="5212080"/>
            <a:ext cx="384048" cy="384048"/>
          </a:xfrm>
          <a:prstGeom prst="ellipse">
            <a:avLst/>
          </a:prstGeom>
          <a:solidFill>
            <a:srgbClr val="3D8B66"/>
          </a:solidFill>
          <a:ln w="12700">
            <a:solidFill>
              <a:srgbClr val="3D8B66"/>
            </a:solidFill>
            <a:prstDash val="solid"/>
          </a:ln>
        </p:spPr>
      </p:sp>
      <p:sp>
        <p:nvSpPr>
          <p:cNvPr id="25" name="Text 23"/>
          <p:cNvSpPr/>
          <p:nvPr/>
        </p:nvSpPr>
        <p:spPr>
          <a:xfrm>
            <a:off x="7562088" y="52669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6" name="Text 24"/>
          <p:cNvSpPr/>
          <p:nvPr/>
        </p:nvSpPr>
        <p:spPr>
          <a:xfrm>
            <a:off x="8074152" y="5193792"/>
            <a:ext cx="324612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An toàn</a:t>
            </a:r>
            <a:endParaRPr lang="en-US" sz="1300" dirty="0"/>
          </a:p>
        </p:txBody>
      </p:sp>
      <p:sp>
        <p:nvSpPr>
          <p:cNvPr id="27" name="Text 25"/>
          <p:cNvSpPr/>
          <p:nvPr/>
        </p:nvSpPr>
        <p:spPr>
          <a:xfrm>
            <a:off x="7589520" y="5614416"/>
            <a:ext cx="3703320" cy="12801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Không nối chuỗi đầu vào vào Cypher.</a:t>
            </a:r>
            <a:endParaRPr lang="en-US" sz="10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CO_STARRED_WITH là fact suy ra có thể kiểm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phép vật chất hóa luật nghiệp vụ bằng Cypher.</a:t>
            </a:r>
            <a:endParaRPr lang="en-US" sz="1250" dirty="0"/>
          </a:p>
        </p:txBody>
      </p:sp>
      <p:sp>
        <p:nvSpPr>
          <p:cNvPr id="5" name="Shape 3"/>
          <p:cNvSpPr/>
          <p:nvPr/>
        </p:nvSpPr>
        <p:spPr>
          <a:xfrm>
            <a:off x="594360" y="1755648"/>
            <a:ext cx="73152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costar_reasoning.png">    </p:cNvPr>
          <p:cNvPicPr>
            <a:picLocks noChangeAspect="1"/>
          </p:cNvPicPr>
          <p:nvPr/>
        </p:nvPicPr>
        <p:blipFill>
          <a:blip r:embed="rId1"/>
          <a:stretch>
            <a:fillRect/>
          </a:stretch>
        </p:blipFill>
        <p:spPr>
          <a:xfrm>
            <a:off x="704088" y="2096005"/>
            <a:ext cx="7095744" cy="3616967"/>
          </a:xfrm>
          <a:prstGeom prst="rect">
            <a:avLst/>
          </a:prstGeom>
        </p:spPr>
      </p:pic>
      <p:sp>
        <p:nvSpPr>
          <p:cNvPr id="7" name="Shape 4"/>
          <p:cNvSpPr/>
          <p:nvPr/>
        </p:nvSpPr>
        <p:spPr>
          <a:xfrm>
            <a:off x="8211312" y="1783080"/>
            <a:ext cx="3383280" cy="1078992"/>
          </a:xfrm>
          <a:prstGeom prst="roundRect">
            <a:avLst>
              <a:gd name="adj" fmla="val 5085"/>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65960"/>
            <a:ext cx="292608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Sự kiện được khẳng định</a:t>
            </a:r>
            <a:endParaRPr lang="en-US" sz="1600" dirty="0"/>
          </a:p>
        </p:txBody>
      </p:sp>
      <p:sp>
        <p:nvSpPr>
          <p:cNvPr id="9" name="Text 6"/>
          <p:cNvSpPr/>
          <p:nvPr/>
        </p:nvSpPr>
        <p:spPr>
          <a:xfrm>
            <a:off x="8439912" y="2386584"/>
            <a:ext cx="2926080" cy="292608"/>
          </a:xfrm>
          <a:prstGeom prst="rect">
            <a:avLst/>
          </a:prstGeom>
          <a:noFill/>
          <a:ln/>
        </p:spPr>
        <p:txBody>
          <a:bodyPr wrap="square" lIns="0" tIns="0" rIns="0" bIns="0" rtlCol="0" anchor="t">
            <a:normAutofit/>
          </a:bodyPr>
          <a:lstStyle/>
          <a:p>
            <a:pPr indent="0" marL="0">
              <a:buNone/>
            </a:pPr>
            <a:r>
              <a:rPr lang="en-US" sz="1080" dirty="0">
                <a:solidFill>
                  <a:srgbClr val="172B3A"/>
                </a:solidFill>
                <a:latin typeface="Calibri" pitchFamily="34" charset="0"/>
                <a:ea typeface="Calibri" pitchFamily="34" charset="-122"/>
                <a:cs typeface="Calibri" pitchFamily="34" charset="-120"/>
              </a:rPr>
              <a:t>Cạnh ACTED_IN được nhập trực tiếp từ danh sách vai diễn của TMDB.</a:t>
            </a:r>
            <a:endParaRPr lang="en-US" sz="1080" dirty="0"/>
          </a:p>
        </p:txBody>
      </p:sp>
      <p:sp>
        <p:nvSpPr>
          <p:cNvPr id="10" name="Shape 7"/>
          <p:cNvSpPr/>
          <p:nvPr/>
        </p:nvSpPr>
        <p:spPr>
          <a:xfrm>
            <a:off x="8211312" y="3136392"/>
            <a:ext cx="3383280" cy="1078992"/>
          </a:xfrm>
          <a:prstGeom prst="roundRect">
            <a:avLst>
              <a:gd name="adj" fmla="val 5085"/>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439912" y="3319272"/>
            <a:ext cx="292608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Sự kiện được suy ra</a:t>
            </a:r>
            <a:endParaRPr lang="en-US" sz="1600" dirty="0"/>
          </a:p>
        </p:txBody>
      </p:sp>
      <p:sp>
        <p:nvSpPr>
          <p:cNvPr id="12" name="Text 9"/>
          <p:cNvSpPr/>
          <p:nvPr/>
        </p:nvSpPr>
        <p:spPr>
          <a:xfrm>
            <a:off x="8439912" y="3739896"/>
            <a:ext cx="2926080" cy="29260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Nếu hai Person cùng ACTED_IN một Movie, hệ thống tạo quan hệ CO_STARRED_WITH.</a:t>
            </a:r>
            <a:endParaRPr lang="en-US" sz="1050" dirty="0"/>
          </a:p>
        </p:txBody>
      </p:sp>
      <p:sp>
        <p:nvSpPr>
          <p:cNvPr id="13" name="Shape 10"/>
          <p:cNvSpPr/>
          <p:nvPr/>
        </p:nvSpPr>
        <p:spPr>
          <a:xfrm>
            <a:off x="8211312" y="4489704"/>
            <a:ext cx="3383280" cy="1280160"/>
          </a:xfrm>
          <a:prstGeom prst="roundRect">
            <a:avLst>
              <a:gd name="adj" fmla="val 4286"/>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439912" y="4672584"/>
            <a:ext cx="2926080" cy="301752"/>
          </a:xfrm>
          <a:prstGeom prst="rect">
            <a:avLst/>
          </a:prstGeom>
          <a:noFill/>
          <a:ln/>
        </p:spPr>
        <p:txBody>
          <a:bodyPr wrap="square" lIns="0" tIns="0" rIns="0" bIns="0" rtlCol="0" anchor="ctr">
            <a:normAutofit/>
          </a:bodyPr>
          <a:lstStyle/>
          <a:p>
            <a:pPr indent="0" marL="0">
              <a:buNone/>
            </a:pPr>
            <a:r>
              <a:rPr lang="en-US" sz="1600" b="1" dirty="0">
                <a:solidFill>
                  <a:srgbClr val="3D8B66"/>
                </a:solidFill>
                <a:latin typeface="Calibri" pitchFamily="34" charset="0"/>
                <a:ea typeface="Calibri" pitchFamily="34" charset="-122"/>
                <a:cs typeface="Calibri" pitchFamily="34" charset="-120"/>
              </a:rPr>
              <a:t>Vì sao kết quả kiểm chứng được?</a:t>
            </a:r>
            <a:endParaRPr lang="en-US" sz="1600" dirty="0"/>
          </a:p>
        </p:txBody>
      </p:sp>
      <p:sp>
        <p:nvSpPr>
          <p:cNvPr id="15" name="Text 12"/>
          <p:cNvSpPr/>
          <p:nvPr/>
        </p:nvSpPr>
        <p:spPr>
          <a:xfrm>
            <a:off x="8439912" y="5093208"/>
            <a:ext cx="2926080" cy="4937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Cạnh suy ra lưu số phim chung, ID các phim làm bằng chứng và cờ `derived=true`.</a:t>
            </a:r>
            <a:endParaRPr lang="en-US" sz="105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report_latex/images/sources/costar_reasoning.drawio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KHẢ NĂNG GIẢI THÍCH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Nguồn gốc, lịch sử biến đổi và bằng chứng trả lời ba câu hỏi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Phân biệt rõ ba lớp truy vết giúp giải thích được cả dữ liệu gốc, dữ liệu suy ra và kết quả ứng dụng.</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21792" y="1783080"/>
          <a:ext cx="10972800" cy="2606040"/>
        </p:xfrm>
        <a:graphic>
          <a:graphicData uri="http://schemas.openxmlformats.org/drawingml/2006/table">
            <a:tbl>
              <a:tblPr/>
              <a:tblGrid>
                <a:gridCol w="1965960"/>
                <a:gridCol w="3703320"/>
                <a:gridCol w="5303520"/>
              </a:tblGrid>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Khái niệm</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Câu hỏi trả lời</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Biểu hiện trong project</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Nguồn gốc (provenance)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Sự kiện đến từ nguồn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`source=tmdb`; checksum IMDb; ID của nguồn</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Lịch sử biến đổi (lineage)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Sự kiện đã đi qua các bước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dữ liệu gốc → làm sạch → CSV → nhập → luật</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Bằng chứng (evidence)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Kết quả này dựa trên node và cạnh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thực thể đã nối; bản ghi/đường đi; đặc trưng chung</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621792" y="4645152"/>
            <a:ext cx="3429000" cy="1353312"/>
          </a:xfrm>
          <a:prstGeom prst="roundRect">
            <a:avLst>
              <a:gd name="adj" fmla="val 4054"/>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7" name="Shape 4"/>
          <p:cNvSpPr/>
          <p:nvPr/>
        </p:nvSpPr>
        <p:spPr>
          <a:xfrm>
            <a:off x="822960" y="4846320"/>
            <a:ext cx="384048" cy="384048"/>
          </a:xfrm>
          <a:prstGeom prst="ellipse">
            <a:avLst/>
          </a:prstGeom>
          <a:solidFill>
            <a:srgbClr val="337B80"/>
          </a:solidFill>
          <a:ln w="12700">
            <a:solidFill>
              <a:srgbClr val="337B80"/>
            </a:solidFill>
            <a:prstDash val="solid"/>
          </a:ln>
        </p:spPr>
      </p:sp>
      <p:sp>
        <p:nvSpPr>
          <p:cNvPr id="8" name="Text 5"/>
          <p:cNvSpPr/>
          <p:nvPr/>
        </p:nvSpPr>
        <p:spPr>
          <a:xfrm>
            <a:off x="822960"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a:t>
            </a:r>
            <a:endParaRPr lang="en-US" sz="1000" dirty="0"/>
          </a:p>
        </p:txBody>
      </p:sp>
      <p:sp>
        <p:nvSpPr>
          <p:cNvPr id="9" name="Text 6"/>
          <p:cNvSpPr/>
          <p:nvPr/>
        </p:nvSpPr>
        <p:spPr>
          <a:xfrm>
            <a:off x="1335024"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Sự kiện được khẳng định</a:t>
            </a:r>
            <a:endParaRPr lang="en-US" sz="1600" dirty="0"/>
          </a:p>
        </p:txBody>
      </p:sp>
      <p:sp>
        <p:nvSpPr>
          <p:cNvPr id="10" name="Text 7"/>
          <p:cNvSpPr/>
          <p:nvPr/>
        </p:nvSpPr>
        <p:spPr>
          <a:xfrm>
            <a:off x="850392" y="5248656"/>
            <a:ext cx="2971800" cy="566928"/>
          </a:xfrm>
          <a:prstGeom prst="rect">
            <a:avLst/>
          </a:prstGeom>
          <a:noFill/>
          <a:ln/>
        </p:spPr>
        <p:txBody>
          <a:bodyPr wrap="square" lIns="0" tIns="0" rIns="0" bIns="0" rtlCol="0" anchor="t">
            <a:normAutofit/>
          </a:bodyPr>
          <a:lstStyle/>
          <a:p>
            <a:pPr indent="0" marL="0">
              <a:buNone/>
            </a:pPr>
            <a:r>
              <a:rPr lang="en-US" sz="1120" dirty="0">
                <a:solidFill>
                  <a:srgbClr val="172B3A"/>
                </a:solidFill>
                <a:latin typeface="Calibri" pitchFamily="34" charset="0"/>
                <a:ea typeface="Calibri" pitchFamily="34" charset="-122"/>
                <a:cs typeface="Calibri" pitchFamily="34" charset="-120"/>
              </a:rPr>
              <a:t>Được lấy trực tiếp từ nguồn, ví dụ Person ACTED_IN Movie; cần giữ nguồn và ID gốc.</a:t>
            </a:r>
            <a:endParaRPr lang="en-US" sz="1120" dirty="0"/>
          </a:p>
        </p:txBody>
      </p:sp>
      <p:sp>
        <p:nvSpPr>
          <p:cNvPr id="11" name="Shape 8"/>
          <p:cNvSpPr/>
          <p:nvPr/>
        </p:nvSpPr>
        <p:spPr>
          <a:xfrm>
            <a:off x="4379976" y="4645152"/>
            <a:ext cx="3429000" cy="1353312"/>
          </a:xfrm>
          <a:prstGeom prst="roundRect">
            <a:avLst>
              <a:gd name="adj" fmla="val 4054"/>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2" name="Shape 9"/>
          <p:cNvSpPr/>
          <p:nvPr/>
        </p:nvSpPr>
        <p:spPr>
          <a:xfrm>
            <a:off x="4581144" y="4846320"/>
            <a:ext cx="384048" cy="384048"/>
          </a:xfrm>
          <a:prstGeom prst="ellipse">
            <a:avLst/>
          </a:prstGeom>
          <a:solidFill>
            <a:srgbClr val="725B9B"/>
          </a:solidFill>
          <a:ln w="12700">
            <a:solidFill>
              <a:srgbClr val="725B9B"/>
            </a:solidFill>
            <a:prstDash val="solid"/>
          </a:ln>
        </p:spPr>
      </p:sp>
      <p:sp>
        <p:nvSpPr>
          <p:cNvPr id="13" name="Text 10"/>
          <p:cNvSpPr/>
          <p:nvPr/>
        </p:nvSpPr>
        <p:spPr>
          <a:xfrm>
            <a:off x="4581144"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a:t>
            </a:r>
            <a:endParaRPr lang="en-US" sz="1000" dirty="0"/>
          </a:p>
        </p:txBody>
      </p:sp>
      <p:sp>
        <p:nvSpPr>
          <p:cNvPr id="14" name="Text 11"/>
          <p:cNvSpPr/>
          <p:nvPr/>
        </p:nvSpPr>
        <p:spPr>
          <a:xfrm>
            <a:off x="5093208"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Sự kiện được suy ra</a:t>
            </a:r>
            <a:endParaRPr lang="en-US" sz="1600" dirty="0"/>
          </a:p>
        </p:txBody>
      </p:sp>
      <p:sp>
        <p:nvSpPr>
          <p:cNvPr id="15" name="Text 12"/>
          <p:cNvSpPr/>
          <p:nvPr/>
        </p:nvSpPr>
        <p:spPr>
          <a:xfrm>
            <a:off x="4608576" y="5248656"/>
            <a:ext cx="2971800" cy="566928"/>
          </a:xfrm>
          <a:prstGeom prst="rect">
            <a:avLst/>
          </a:prstGeom>
          <a:noFill/>
          <a:ln/>
        </p:spPr>
        <p:txBody>
          <a:bodyPr wrap="square" lIns="0" tIns="0" rIns="0" bIns="0" rtlCol="0" anchor="t">
            <a:normAutofit/>
          </a:bodyPr>
          <a:lstStyle/>
          <a:p>
            <a:pPr indent="0" marL="0">
              <a:buNone/>
            </a:pPr>
            <a:r>
              <a:rPr lang="en-US" sz="1120" dirty="0">
                <a:solidFill>
                  <a:srgbClr val="172B3A"/>
                </a:solidFill>
                <a:latin typeface="Calibri" pitchFamily="34" charset="0"/>
                <a:ea typeface="Calibri" pitchFamily="34" charset="-122"/>
                <a:cs typeface="Calibri" pitchFamily="34" charset="-120"/>
              </a:rPr>
              <a:t>Được sinh bởi luật, ví dụ CO_STARRED_WITH; cần giữ luật và các phim làm căn cứ.</a:t>
            </a:r>
            <a:endParaRPr lang="en-US" sz="1120" dirty="0"/>
          </a:p>
        </p:txBody>
      </p:sp>
      <p:sp>
        <p:nvSpPr>
          <p:cNvPr id="16" name="Shape 13"/>
          <p:cNvSpPr/>
          <p:nvPr/>
        </p:nvSpPr>
        <p:spPr>
          <a:xfrm>
            <a:off x="8138160" y="4645152"/>
            <a:ext cx="3429000" cy="1353312"/>
          </a:xfrm>
          <a:prstGeom prst="roundRect">
            <a:avLst>
              <a:gd name="adj" fmla="val 4054"/>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7" name="Shape 14"/>
          <p:cNvSpPr/>
          <p:nvPr/>
        </p:nvSpPr>
        <p:spPr>
          <a:xfrm>
            <a:off x="8339328" y="4846320"/>
            <a:ext cx="384048" cy="384048"/>
          </a:xfrm>
          <a:prstGeom prst="ellipse">
            <a:avLst/>
          </a:prstGeom>
          <a:solidFill>
            <a:srgbClr val="3D8B66"/>
          </a:solidFill>
          <a:ln w="12700">
            <a:solidFill>
              <a:srgbClr val="3D8B66"/>
            </a:solidFill>
            <a:prstDash val="solid"/>
          </a:ln>
        </p:spPr>
      </p:sp>
      <p:sp>
        <p:nvSpPr>
          <p:cNvPr id="18" name="Text 15"/>
          <p:cNvSpPr/>
          <p:nvPr/>
        </p:nvSpPr>
        <p:spPr>
          <a:xfrm>
            <a:off x="8339328"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9" name="Text 16"/>
          <p:cNvSpPr/>
          <p:nvPr/>
        </p:nvSpPr>
        <p:spPr>
          <a:xfrm>
            <a:off x="8851392"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Kết quả giải thích được</a:t>
            </a:r>
            <a:endParaRPr lang="en-US" sz="1600" dirty="0"/>
          </a:p>
        </p:txBody>
      </p:sp>
      <p:sp>
        <p:nvSpPr>
          <p:cNvPr id="20" name="Text 17"/>
          <p:cNvSpPr/>
          <p:nvPr/>
        </p:nvSpPr>
        <p:spPr>
          <a:xfrm>
            <a:off x="8366760" y="5248656"/>
            <a:ext cx="2971800" cy="566928"/>
          </a:xfrm>
          <a:prstGeom prst="rect">
            <a:avLst/>
          </a:prstGeom>
          <a:noFill/>
          <a:ln/>
        </p:spPr>
        <p:txBody>
          <a:bodyPr wrap="square" lIns="0" tIns="0" rIns="0" bIns="0" rtlCol="0" anchor="t">
            <a:normAutofit/>
          </a:bodyPr>
          <a:lstStyle/>
          <a:p>
            <a:pPr indent="0" marL="0">
              <a:buNone/>
            </a:pPr>
            <a:r>
              <a:rPr lang="en-US" sz="1120" dirty="0">
                <a:solidFill>
                  <a:srgbClr val="172B3A"/>
                </a:solidFill>
                <a:latin typeface="Calibri" pitchFamily="34" charset="0"/>
                <a:ea typeface="Calibri" pitchFamily="34" charset="-122"/>
                <a:cs typeface="Calibri" pitchFamily="34" charset="-120"/>
              </a:rPr>
              <a:t>Kèm đường đi hoặc đặc trưng đóng góp đủ để người dùng kiểm tra ngược cách tạo kết quả.</a:t>
            </a:r>
            <a:endParaRPr lang="en-US" sz="112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HỎI–ĐÁP</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Giá trị của chatbot nằm ở việc điều phối Cypher an toàn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Ngôn ngữ tự nhiên chọn ý định và thực thể; Neo4j thực hiện traversal và trả bằng chứng.</a:t>
            </a:r>
            <a:endParaRPr lang="en-US" sz="1250" dirty="0"/>
          </a:p>
        </p:txBody>
      </p:sp>
      <p:sp>
        <p:nvSpPr>
          <p:cNvPr id="5" name="Shape 3"/>
          <p:cNvSpPr/>
          <p:nvPr/>
        </p:nvSpPr>
        <p:spPr>
          <a:xfrm>
            <a:off x="566928" y="1755648"/>
            <a:ext cx="75438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qa_sequence.png">    </p:cNvPr>
          <p:cNvPicPr>
            <a:picLocks noChangeAspect="1"/>
          </p:cNvPicPr>
          <p:nvPr/>
        </p:nvPicPr>
        <p:blipFill>
          <a:blip r:embed="rId1"/>
          <a:stretch>
            <a:fillRect/>
          </a:stretch>
        </p:blipFill>
        <p:spPr>
          <a:xfrm>
            <a:off x="676656" y="2201322"/>
            <a:ext cx="7324344" cy="3406332"/>
          </a:xfrm>
          <a:prstGeom prst="rect">
            <a:avLst/>
          </a:prstGeom>
        </p:spPr>
      </p:pic>
      <p:sp>
        <p:nvSpPr>
          <p:cNvPr id="7" name="Shape 4"/>
          <p:cNvSpPr/>
          <p:nvPr/>
        </p:nvSpPr>
        <p:spPr>
          <a:xfrm>
            <a:off x="8394192" y="1773936"/>
            <a:ext cx="3182112" cy="1051560"/>
          </a:xfrm>
          <a:prstGeom prst="roundRect">
            <a:avLst>
              <a:gd name="adj" fmla="val 5217"/>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622792" y="1956816"/>
            <a:ext cx="2724912" cy="301752"/>
          </a:xfrm>
          <a:prstGeom prst="rect">
            <a:avLst/>
          </a:prstGeom>
          <a:noFill/>
          <a:ln/>
        </p:spPr>
        <p:txBody>
          <a:bodyPr wrap="square" lIns="0" tIns="0" rIns="0" bIns="0" rtlCol="0" anchor="ctr">
            <a:normAutofit/>
          </a:bodyPr>
          <a:lstStyle/>
          <a:p>
            <a:pPr indent="0" marL="0">
              <a:buNone/>
            </a:pPr>
            <a:r>
              <a:rPr lang="en-US" sz="1420" b="1" dirty="0">
                <a:solidFill>
                  <a:srgbClr val="112B46"/>
                </a:solidFill>
                <a:latin typeface="Calibri" pitchFamily="34" charset="0"/>
                <a:ea typeface="Calibri" pitchFamily="34" charset="-122"/>
                <a:cs typeface="Calibri" pitchFamily="34" charset="-120"/>
              </a:rPr>
              <a:t>Giới hạn ở chín loại câu hỏi</a:t>
            </a:r>
            <a:endParaRPr lang="en-US" sz="1420" dirty="0"/>
          </a:p>
        </p:txBody>
      </p:sp>
      <p:sp>
        <p:nvSpPr>
          <p:cNvPr id="9" name="Text 6"/>
          <p:cNvSpPr/>
          <p:nvPr/>
        </p:nvSpPr>
        <p:spPr>
          <a:xfrm>
            <a:off x="8622792" y="2377440"/>
            <a:ext cx="2724912" cy="265176"/>
          </a:xfrm>
          <a:prstGeom prst="rect">
            <a:avLst/>
          </a:prstGeom>
          <a:noFill/>
          <a:ln/>
        </p:spPr>
        <p:txBody>
          <a:bodyPr wrap="square" lIns="0" tIns="0" rIns="0" bIns="0" rtlCol="0" anchor="t">
            <a:normAutofit/>
          </a:bodyPr>
          <a:lstStyle/>
          <a:p>
            <a:pPr indent="0" marL="0">
              <a:buNone/>
            </a:pPr>
            <a:r>
              <a:rPr lang="en-US" sz="970" dirty="0">
                <a:solidFill>
                  <a:srgbClr val="172B3A"/>
                </a:solidFill>
                <a:latin typeface="Calibri" pitchFamily="34" charset="0"/>
                <a:ea typeface="Calibri" pitchFamily="34" charset="-122"/>
                <a:cs typeface="Calibri" pitchFamily="34" charset="-120"/>
              </a:rPr>
              <a:t>Mỗi intent ánh xạ tới một mẫu Cypher cố định; câu ngoài phạm vi được trả về là chưa hỗ trợ.</a:t>
            </a:r>
            <a:endParaRPr lang="en-US" sz="970" dirty="0"/>
          </a:p>
        </p:txBody>
      </p:sp>
      <p:sp>
        <p:nvSpPr>
          <p:cNvPr id="10" name="Shape 7"/>
          <p:cNvSpPr/>
          <p:nvPr/>
        </p:nvSpPr>
        <p:spPr>
          <a:xfrm>
            <a:off x="8394192" y="3081528"/>
            <a:ext cx="3182112" cy="1051560"/>
          </a:xfrm>
          <a:prstGeom prst="roundRect">
            <a:avLst>
              <a:gd name="adj" fmla="val 5217"/>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622792" y="3264408"/>
            <a:ext cx="2724912" cy="301752"/>
          </a:xfrm>
          <a:prstGeom prst="rect">
            <a:avLst/>
          </a:prstGeom>
          <a:noFill/>
          <a:ln/>
        </p:spPr>
        <p:txBody>
          <a:bodyPr wrap="square" lIns="0" tIns="0" rIns="0" bIns="0" rtlCol="0" anchor="ctr">
            <a:normAutofit/>
          </a:bodyPr>
          <a:lstStyle/>
          <a:p>
            <a:pPr indent="0" marL="0">
              <a:buNone/>
            </a:pPr>
            <a:r>
              <a:rPr lang="en-US" sz="1420" b="1" dirty="0">
                <a:solidFill>
                  <a:srgbClr val="112B46"/>
                </a:solidFill>
                <a:latin typeface="Calibri" pitchFamily="34" charset="0"/>
                <a:ea typeface="Calibri" pitchFamily="34" charset="-122"/>
                <a:cs typeface="Calibri" pitchFamily="34" charset="-120"/>
              </a:rPr>
              <a:t>Tên gọi được nối tới node chuẩn</a:t>
            </a:r>
            <a:endParaRPr lang="en-US" sz="1420" dirty="0"/>
          </a:p>
        </p:txBody>
      </p:sp>
      <p:sp>
        <p:nvSpPr>
          <p:cNvPr id="12" name="Text 9"/>
          <p:cNvSpPr/>
          <p:nvPr/>
        </p:nvSpPr>
        <p:spPr>
          <a:xfrm>
            <a:off x="8622792" y="3685032"/>
            <a:ext cx="2724912" cy="265176"/>
          </a:xfrm>
          <a:prstGeom prst="rect">
            <a:avLst/>
          </a:prstGeom>
          <a:noFill/>
          <a:ln/>
        </p:spPr>
        <p:txBody>
          <a:bodyPr wrap="square" lIns="0" tIns="0" rIns="0" bIns="0" rtlCol="0" anchor="t">
            <a:normAutofit/>
          </a:bodyPr>
          <a:lstStyle/>
          <a:p>
            <a:pPr indent="0" marL="0">
              <a:buNone/>
            </a:pPr>
            <a:r>
              <a:rPr lang="en-US" sz="970" dirty="0">
                <a:solidFill>
                  <a:srgbClr val="172B3A"/>
                </a:solidFill>
                <a:latin typeface="Calibri" pitchFamily="34" charset="0"/>
                <a:ea typeface="Calibri" pitchFamily="34" charset="-122"/>
                <a:cs typeface="Calibri" pitchFamily="34" charset="-120"/>
              </a:rPr>
              <a:t>Ví dụ “Cristopher Nolan” được liên kết tới Christopher Nolan cùng stable ID và độ tin cậy.</a:t>
            </a:r>
            <a:endParaRPr lang="en-US" sz="970" dirty="0"/>
          </a:p>
        </p:txBody>
      </p:sp>
      <p:sp>
        <p:nvSpPr>
          <p:cNvPr id="13" name="Shape 10"/>
          <p:cNvSpPr/>
          <p:nvPr/>
        </p:nvSpPr>
        <p:spPr>
          <a:xfrm>
            <a:off x="8394192" y="4389120"/>
            <a:ext cx="3182112" cy="1051560"/>
          </a:xfrm>
          <a:prstGeom prst="roundRect">
            <a:avLst>
              <a:gd name="adj" fmla="val 5217"/>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622792" y="4572000"/>
            <a:ext cx="2724912" cy="301752"/>
          </a:xfrm>
          <a:prstGeom prst="rect">
            <a:avLst/>
          </a:prstGeom>
          <a:noFill/>
          <a:ln/>
        </p:spPr>
        <p:txBody>
          <a:bodyPr wrap="square" lIns="0" tIns="0" rIns="0" bIns="0" rtlCol="0" anchor="ctr">
            <a:normAutofit/>
          </a:bodyPr>
          <a:lstStyle/>
          <a:p>
            <a:pPr indent="0" marL="0">
              <a:buNone/>
            </a:pPr>
            <a:r>
              <a:rPr lang="en-US" sz="1420" b="1" dirty="0">
                <a:solidFill>
                  <a:srgbClr val="112B46"/>
                </a:solidFill>
                <a:latin typeface="Calibri" pitchFamily="34" charset="0"/>
                <a:ea typeface="Calibri" pitchFamily="34" charset="-122"/>
                <a:cs typeface="Calibri" pitchFamily="34" charset="-120"/>
              </a:rPr>
              <a:t>Câu trả lời đi kèm căn cứ</a:t>
            </a:r>
            <a:endParaRPr lang="en-US" sz="1420" dirty="0"/>
          </a:p>
        </p:txBody>
      </p:sp>
      <p:sp>
        <p:nvSpPr>
          <p:cNvPr id="15" name="Text 12"/>
          <p:cNvSpPr/>
          <p:nvPr/>
        </p:nvSpPr>
        <p:spPr>
          <a:xfrm>
            <a:off x="8622792" y="4992624"/>
            <a:ext cx="2724912" cy="265176"/>
          </a:xfrm>
          <a:prstGeom prst="rect">
            <a:avLst/>
          </a:prstGeom>
          <a:noFill/>
          <a:ln/>
        </p:spPr>
        <p:txBody>
          <a:bodyPr wrap="square" lIns="0" tIns="0" rIns="0" bIns="0" rtlCol="0" anchor="t">
            <a:normAutofit/>
          </a:bodyPr>
          <a:lstStyle/>
          <a:p>
            <a:pPr indent="0" marL="0">
              <a:buNone/>
            </a:pPr>
            <a:r>
              <a:rPr lang="en-US" sz="970" dirty="0">
                <a:solidFill>
                  <a:srgbClr val="172B3A"/>
                </a:solidFill>
                <a:latin typeface="Calibri" pitchFamily="34" charset="0"/>
                <a:ea typeface="Calibri" pitchFamily="34" charset="-122"/>
                <a:cs typeface="Calibri" pitchFamily="34" charset="-120"/>
              </a:rPr>
              <a:t>Phản hồi giữ intent, thực thể đã liên kết và bản ghi hoặc đường đi dùng để tạo câu trả lời.</a:t>
            </a:r>
            <a:endParaRPr lang="en-US" sz="97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report_latex/images/sources/qa_sequence.drawio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GỢI 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Gợi ý giải thích được bằng đóng góp trên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IDF giảm ảnh hưởng của đặc trưng quá phổ biến; mỗi đề xuất kèm các đặc trưng chung tạo điểm.</a:t>
            </a:r>
            <a:endParaRPr lang="en-US" sz="1250" dirty="0"/>
          </a:p>
        </p:txBody>
      </p:sp>
      <p:sp>
        <p:nvSpPr>
          <p:cNvPr id="5" name="Shape 3"/>
          <p:cNvSpPr/>
          <p:nvPr/>
        </p:nvSpPr>
        <p:spPr>
          <a:xfrm>
            <a:off x="576072" y="1755648"/>
            <a:ext cx="7114032"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recommendation_explanation.png">    </p:cNvPr>
          <p:cNvPicPr>
            <a:picLocks noChangeAspect="1"/>
          </p:cNvPicPr>
          <p:nvPr/>
        </p:nvPicPr>
        <p:blipFill>
          <a:blip r:embed="rId1"/>
          <a:stretch>
            <a:fillRect/>
          </a:stretch>
        </p:blipFill>
        <p:spPr>
          <a:xfrm>
            <a:off x="685800" y="2952448"/>
            <a:ext cx="6894576" cy="1904081"/>
          </a:xfrm>
          <a:prstGeom prst="rect">
            <a:avLst/>
          </a:prstGeom>
        </p:spPr>
      </p:pic>
      <p:sp>
        <p:nvSpPr>
          <p:cNvPr id="7" name="Text 4"/>
          <p:cNvSpPr/>
          <p:nvPr/>
        </p:nvSpPr>
        <p:spPr>
          <a:xfrm>
            <a:off x="7973568" y="1847088"/>
            <a:ext cx="3566160" cy="566928"/>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ourier New" pitchFamily="34" charset="0"/>
                <a:ea typeface="Courier New" pitchFamily="34" charset="-122"/>
                <a:cs typeface="Courier New" pitchFamily="34" charset="-120"/>
              </a:rPr>
              <a:t>contribution = type_weight × (1 + ln((N+1)/(df+1)))</a:t>
            </a:r>
            <a:endParaRPr lang="en-US" sz="1250" dirty="0"/>
          </a:p>
        </p:txBody>
      </p:sp>
      <p:sp>
        <p:nvSpPr>
          <p:cNvPr id="8" name="Text 5"/>
          <p:cNvSpPr/>
          <p:nvPr/>
        </p:nvSpPr>
        <p:spPr>
          <a:xfrm>
            <a:off x="8001000" y="2697480"/>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Đạo diễn</a:t>
            </a:r>
            <a:endParaRPr lang="en-US" sz="1200" dirty="0"/>
          </a:p>
        </p:txBody>
      </p:sp>
      <p:sp>
        <p:nvSpPr>
          <p:cNvPr id="9" name="Shape 6"/>
          <p:cNvSpPr/>
          <p:nvPr/>
        </p:nvSpPr>
        <p:spPr>
          <a:xfrm>
            <a:off x="9217152" y="2724912"/>
            <a:ext cx="1536192" cy="164592"/>
          </a:xfrm>
          <a:prstGeom prst="rect">
            <a:avLst/>
          </a:prstGeom>
          <a:solidFill>
            <a:srgbClr val="725B9B"/>
          </a:solidFill>
          <a:ln w="12700">
            <a:solidFill>
              <a:srgbClr val="725B9B"/>
            </a:solidFill>
            <a:prstDash val="solid"/>
          </a:ln>
        </p:spPr>
      </p:sp>
      <p:sp>
        <p:nvSpPr>
          <p:cNvPr id="10" name="Text 7"/>
          <p:cNvSpPr/>
          <p:nvPr/>
        </p:nvSpPr>
        <p:spPr>
          <a:xfrm>
            <a:off x="10881360" y="2697480"/>
            <a:ext cx="457200" cy="219456"/>
          </a:xfrm>
          <a:prstGeom prst="rect">
            <a:avLst/>
          </a:prstGeom>
          <a:noFill/>
          <a:ln/>
        </p:spPr>
        <p:txBody>
          <a:bodyPr wrap="square" lIns="0" tIns="0" rIns="0" bIns="0" rtlCol="0" anchor="ctr"/>
          <a:lstStyle/>
          <a:p>
            <a:pPr algn="r" indent="0" marL="0">
              <a:buNone/>
            </a:pPr>
            <a:r>
              <a:rPr lang="en-US" sz="1100" b="1" dirty="0">
                <a:solidFill>
                  <a:srgbClr val="725B9B"/>
                </a:solidFill>
                <a:latin typeface="Arial" pitchFamily="34" charset="0"/>
                <a:ea typeface="Arial" pitchFamily="34" charset="-122"/>
                <a:cs typeface="Arial" pitchFamily="34" charset="-120"/>
              </a:rPr>
              <a:t>3,0</a:t>
            </a:r>
            <a:endParaRPr lang="en-US" sz="1100" dirty="0"/>
          </a:p>
        </p:txBody>
      </p:sp>
      <p:sp>
        <p:nvSpPr>
          <p:cNvPr id="11" name="Text 8"/>
          <p:cNvSpPr/>
          <p:nvPr/>
        </p:nvSpPr>
        <p:spPr>
          <a:xfrm>
            <a:off x="8001000" y="3355848"/>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Diễn viên</a:t>
            </a:r>
            <a:endParaRPr lang="en-US" sz="1200" dirty="0"/>
          </a:p>
        </p:txBody>
      </p:sp>
      <p:sp>
        <p:nvSpPr>
          <p:cNvPr id="12" name="Shape 9"/>
          <p:cNvSpPr/>
          <p:nvPr/>
        </p:nvSpPr>
        <p:spPr>
          <a:xfrm>
            <a:off x="9217152" y="3383280"/>
            <a:ext cx="1024128" cy="164592"/>
          </a:xfrm>
          <a:prstGeom prst="rect">
            <a:avLst/>
          </a:prstGeom>
          <a:solidFill>
            <a:srgbClr val="337B80"/>
          </a:solidFill>
          <a:ln w="12700">
            <a:solidFill>
              <a:srgbClr val="337B80"/>
            </a:solidFill>
            <a:prstDash val="solid"/>
          </a:ln>
        </p:spPr>
      </p:sp>
      <p:sp>
        <p:nvSpPr>
          <p:cNvPr id="13" name="Text 10"/>
          <p:cNvSpPr/>
          <p:nvPr/>
        </p:nvSpPr>
        <p:spPr>
          <a:xfrm>
            <a:off x="10881360" y="3355848"/>
            <a:ext cx="457200" cy="219456"/>
          </a:xfrm>
          <a:prstGeom prst="rect">
            <a:avLst/>
          </a:prstGeom>
          <a:noFill/>
          <a:ln/>
        </p:spPr>
        <p:txBody>
          <a:bodyPr wrap="square" lIns="0" tIns="0" rIns="0" bIns="0" rtlCol="0" anchor="ctr"/>
          <a:lstStyle/>
          <a:p>
            <a:pPr algn="r" indent="0" marL="0">
              <a:buNone/>
            </a:pPr>
            <a:r>
              <a:rPr lang="en-US" sz="1100" b="1" dirty="0">
                <a:solidFill>
                  <a:srgbClr val="337B80"/>
                </a:solidFill>
                <a:latin typeface="Arial" pitchFamily="34" charset="0"/>
                <a:ea typeface="Arial" pitchFamily="34" charset="-122"/>
                <a:cs typeface="Arial" pitchFamily="34" charset="-120"/>
              </a:rPr>
              <a:t>2,0</a:t>
            </a:r>
            <a:endParaRPr lang="en-US" sz="1100" dirty="0"/>
          </a:p>
        </p:txBody>
      </p:sp>
      <p:sp>
        <p:nvSpPr>
          <p:cNvPr id="14" name="Text 11"/>
          <p:cNvSpPr/>
          <p:nvPr/>
        </p:nvSpPr>
        <p:spPr>
          <a:xfrm>
            <a:off x="8001000" y="4014216"/>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Thể loại</a:t>
            </a:r>
            <a:endParaRPr lang="en-US" sz="1200" dirty="0"/>
          </a:p>
        </p:txBody>
      </p:sp>
      <p:sp>
        <p:nvSpPr>
          <p:cNvPr id="15" name="Shape 12"/>
          <p:cNvSpPr/>
          <p:nvPr/>
        </p:nvSpPr>
        <p:spPr>
          <a:xfrm>
            <a:off x="9217152" y="4041648"/>
            <a:ext cx="768096" cy="164592"/>
          </a:xfrm>
          <a:prstGeom prst="rect">
            <a:avLst/>
          </a:prstGeom>
          <a:solidFill>
            <a:srgbClr val="3D8B66"/>
          </a:solidFill>
          <a:ln w="12700">
            <a:solidFill>
              <a:srgbClr val="3D8B66"/>
            </a:solidFill>
            <a:prstDash val="solid"/>
          </a:ln>
        </p:spPr>
      </p:sp>
      <p:sp>
        <p:nvSpPr>
          <p:cNvPr id="16" name="Text 13"/>
          <p:cNvSpPr/>
          <p:nvPr/>
        </p:nvSpPr>
        <p:spPr>
          <a:xfrm>
            <a:off x="10881360" y="4014216"/>
            <a:ext cx="457200" cy="219456"/>
          </a:xfrm>
          <a:prstGeom prst="rect">
            <a:avLst/>
          </a:prstGeom>
          <a:noFill/>
          <a:ln/>
        </p:spPr>
        <p:txBody>
          <a:bodyPr wrap="square" lIns="0" tIns="0" rIns="0" bIns="0" rtlCol="0" anchor="ctr"/>
          <a:lstStyle/>
          <a:p>
            <a:pPr algn="r" indent="0" marL="0">
              <a:buNone/>
            </a:pPr>
            <a:r>
              <a:rPr lang="en-US" sz="1100" b="1" dirty="0">
                <a:solidFill>
                  <a:srgbClr val="3D8B66"/>
                </a:solidFill>
                <a:latin typeface="Arial" pitchFamily="34" charset="0"/>
                <a:ea typeface="Arial" pitchFamily="34" charset="-122"/>
                <a:cs typeface="Arial" pitchFamily="34" charset="-120"/>
              </a:rPr>
              <a:t>1,5</a:t>
            </a:r>
            <a:endParaRPr lang="en-US" sz="1100" dirty="0"/>
          </a:p>
        </p:txBody>
      </p:sp>
      <p:sp>
        <p:nvSpPr>
          <p:cNvPr id="17" name="Text 14"/>
          <p:cNvSpPr/>
          <p:nvPr/>
        </p:nvSpPr>
        <p:spPr>
          <a:xfrm>
            <a:off x="8001000" y="4672584"/>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Từ khóa</a:t>
            </a:r>
            <a:endParaRPr lang="en-US" sz="1200" dirty="0"/>
          </a:p>
        </p:txBody>
      </p:sp>
      <p:sp>
        <p:nvSpPr>
          <p:cNvPr id="18" name="Shape 15"/>
          <p:cNvSpPr/>
          <p:nvPr/>
        </p:nvSpPr>
        <p:spPr>
          <a:xfrm>
            <a:off x="9217152" y="4700016"/>
            <a:ext cx="512064" cy="164592"/>
          </a:xfrm>
          <a:prstGeom prst="rect">
            <a:avLst/>
          </a:prstGeom>
          <a:solidFill>
            <a:srgbClr val="D38B36"/>
          </a:solidFill>
          <a:ln w="12700">
            <a:solidFill>
              <a:srgbClr val="D38B36"/>
            </a:solidFill>
            <a:prstDash val="solid"/>
          </a:ln>
        </p:spPr>
      </p:sp>
      <p:sp>
        <p:nvSpPr>
          <p:cNvPr id="19" name="Text 16"/>
          <p:cNvSpPr/>
          <p:nvPr/>
        </p:nvSpPr>
        <p:spPr>
          <a:xfrm>
            <a:off x="10881360" y="4672584"/>
            <a:ext cx="457200" cy="219456"/>
          </a:xfrm>
          <a:prstGeom prst="rect">
            <a:avLst/>
          </a:prstGeom>
          <a:noFill/>
          <a:ln/>
        </p:spPr>
        <p:txBody>
          <a:bodyPr wrap="square" lIns="0" tIns="0" rIns="0" bIns="0" rtlCol="0" anchor="ctr"/>
          <a:lstStyle/>
          <a:p>
            <a:pPr algn="r" indent="0" marL="0">
              <a:buNone/>
            </a:pPr>
            <a:r>
              <a:rPr lang="en-US" sz="1100" b="1" dirty="0">
                <a:solidFill>
                  <a:srgbClr val="D38B36"/>
                </a:solidFill>
                <a:latin typeface="Arial" pitchFamily="34" charset="0"/>
                <a:ea typeface="Arial" pitchFamily="34" charset="-122"/>
                <a:cs typeface="Arial" pitchFamily="34" charset="-120"/>
              </a:rPr>
              <a:t>1,0</a:t>
            </a:r>
            <a:endParaRPr lang="en-US" sz="1100" dirty="0"/>
          </a:p>
        </p:txBody>
      </p:sp>
      <p:sp>
        <p:nvSpPr>
          <p:cNvPr id="20" name="Shape 17"/>
          <p:cNvSpPr/>
          <p:nvPr/>
        </p:nvSpPr>
        <p:spPr>
          <a:xfrm>
            <a:off x="7973568" y="5138928"/>
            <a:ext cx="3566160" cy="932688"/>
          </a:xfrm>
          <a:prstGeom prst="roundRect">
            <a:avLst>
              <a:gd name="adj" fmla="val 5882"/>
            </a:avLst>
          </a:prstGeom>
          <a:solidFill>
            <a:srgbClr val="E8F4EE"/>
          </a:solidFill>
          <a:ln w="12700">
            <a:solidFill>
              <a:srgbClr val="C4E2D1"/>
            </a:solidFill>
            <a:prstDash val="solid"/>
          </a:ln>
        </p:spPr>
      </p:sp>
      <p:sp>
        <p:nvSpPr>
          <p:cNvPr id="21" name="Text 18"/>
          <p:cNvSpPr/>
          <p:nvPr/>
        </p:nvSpPr>
        <p:spPr>
          <a:xfrm>
            <a:off x="8202168" y="5321808"/>
            <a:ext cx="3108960"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Mỗi điểm số đều có lời giải thích</a:t>
            </a:r>
            <a:endParaRPr lang="en-US" sz="1200" dirty="0"/>
          </a:p>
        </p:txBody>
      </p:sp>
      <p:sp>
        <p:nvSpPr>
          <p:cNvPr id="22" name="Text 19"/>
          <p:cNvSpPr/>
          <p:nvPr/>
        </p:nvSpPr>
        <p:spPr>
          <a:xfrm>
            <a:off x="8202168" y="5742432"/>
            <a:ext cx="3108960" cy="146304"/>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Neo4j trả cả tổng điểm và các đặc trưng chung đã đóng góp vào điểm đó.</a:t>
            </a:r>
            <a:endParaRPr lang="en-US" sz="920" dirty="0"/>
          </a:p>
        </p:txBody>
      </p:sp>
      <p:sp>
        <p:nvSpPr>
          <p:cNvPr id="23" name="Text 20"/>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report_latex/images/sources/recommendation_explanation.drawio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KHÁI NIỆM ĐÁNH GIÁ</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Các metric đo những loại sai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Không có một con số duy nhất đánh giá toàn bộ Knowledge Graph; metric phải khớp với claim.</a:t>
            </a:r>
            <a:endParaRPr lang="en-US" sz="1250" dirty="0"/>
          </a:p>
        </p:txBody>
      </p:sp>
      <p:sp>
        <p:nvSpPr>
          <p:cNvPr id="5" name="Shape 3"/>
          <p:cNvSpPr/>
          <p:nvPr/>
        </p:nvSpPr>
        <p:spPr>
          <a:xfrm>
            <a:off x="621792" y="1755648"/>
            <a:ext cx="3429000" cy="1993392"/>
          </a:xfrm>
          <a:prstGeom prst="roundRect">
            <a:avLst>
              <a:gd name="adj" fmla="val 2752"/>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337B80"/>
                </a:solidFill>
                <a:latin typeface="Calibri" pitchFamily="34" charset="0"/>
                <a:ea typeface="Calibri" pitchFamily="34" charset="-122"/>
                <a:cs typeface="Calibri" pitchFamily="34" charset="-120"/>
              </a:rPr>
              <a:t>Precision · độ chính xác dương</a:t>
            </a:r>
            <a:endParaRPr lang="en-US" sz="1700" dirty="0"/>
          </a:p>
        </p:txBody>
      </p:sp>
      <p:sp>
        <p:nvSpPr>
          <p:cNvPr id="7" name="Text 5"/>
          <p:cNvSpPr/>
          <p:nvPr/>
        </p:nvSpPr>
        <p:spPr>
          <a:xfrm>
            <a:off x="850392"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Trong các liên kết/fact hệ thống chấp nhận, bao nhiêu là đúng?</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Precision = TP / (TP + FP)</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Quan trọng khi một phép nối sai có thể làm ô nhiễm nhiều đường đi.</a:t>
            </a:r>
            <a:endParaRPr lang="en-US" sz="1200" dirty="0"/>
          </a:p>
        </p:txBody>
      </p:sp>
      <p:sp>
        <p:nvSpPr>
          <p:cNvPr id="8" name="Shape 6"/>
          <p:cNvSpPr/>
          <p:nvPr/>
        </p:nvSpPr>
        <p:spPr>
          <a:xfrm>
            <a:off x="4379976" y="1755648"/>
            <a:ext cx="3429000" cy="1993392"/>
          </a:xfrm>
          <a:prstGeom prst="roundRect">
            <a:avLst>
              <a:gd name="adj" fmla="val 2752"/>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608576"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725B9B"/>
                </a:solidFill>
                <a:latin typeface="Calibri" pitchFamily="34" charset="0"/>
                <a:ea typeface="Calibri" pitchFamily="34" charset="-122"/>
                <a:cs typeface="Calibri" pitchFamily="34" charset="-120"/>
              </a:rPr>
              <a:t>Recall · độ bao phủ dương</a:t>
            </a:r>
            <a:endParaRPr lang="en-US" sz="1700" dirty="0"/>
          </a:p>
        </p:txBody>
      </p:sp>
      <p:sp>
        <p:nvSpPr>
          <p:cNvPr id="10" name="Text 8"/>
          <p:cNvSpPr/>
          <p:nvPr/>
        </p:nvSpPr>
        <p:spPr>
          <a:xfrm>
            <a:off x="4608576"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Trong các liên kết/fact đúng cần tìm, hệ thống tìm được bao nhiêu?</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Recall = TP / (TP + FN)</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Abstention bảo thủ thường tăng precision nhưng làm giảm recall.</a:t>
            </a:r>
            <a:endParaRPr lang="en-US" sz="1200" dirty="0"/>
          </a:p>
        </p:txBody>
      </p:sp>
      <p:sp>
        <p:nvSpPr>
          <p:cNvPr id="11" name="Shape 9"/>
          <p:cNvSpPr/>
          <p:nvPr/>
        </p:nvSpPr>
        <p:spPr>
          <a:xfrm>
            <a:off x="8138160" y="1755648"/>
            <a:ext cx="3429000" cy="1993392"/>
          </a:xfrm>
          <a:prstGeom prst="roundRect">
            <a:avLst>
              <a:gd name="adj" fmla="val 2752"/>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8366760"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3D8B66"/>
                </a:solidFill>
                <a:latin typeface="Calibri" pitchFamily="34" charset="0"/>
                <a:ea typeface="Calibri" pitchFamily="34" charset="-122"/>
                <a:cs typeface="Calibri" pitchFamily="34" charset="-120"/>
              </a:rPr>
              <a:t>F1 · cân bằng P và R</a:t>
            </a:r>
            <a:endParaRPr lang="en-US" sz="1700" dirty="0"/>
          </a:p>
        </p:txBody>
      </p:sp>
      <p:sp>
        <p:nvSpPr>
          <p:cNvPr id="13" name="Text 11"/>
          <p:cNvSpPr/>
          <p:nvPr/>
        </p:nvSpPr>
        <p:spPr>
          <a:xfrm>
            <a:off x="8366760"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Trung bình điều hòa của precision và recall.</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F1 = 2PR / (P + R)</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F1 hữu ích khi cần một số tổng hợp nhưng vẫn phải đọc kèm confusion counts.</a:t>
            </a:r>
            <a:endParaRPr lang="en-US" sz="1200" dirty="0"/>
          </a:p>
        </p:txBody>
      </p:sp>
      <p:sp>
        <p:nvSpPr>
          <p:cNvPr id="14" name="Shape 12"/>
          <p:cNvSpPr/>
          <p:nvPr/>
        </p:nvSpPr>
        <p:spPr>
          <a:xfrm>
            <a:off x="621792" y="4041648"/>
            <a:ext cx="5349240" cy="1938528"/>
          </a:xfrm>
          <a:prstGeom prst="roundRect">
            <a:avLst>
              <a:gd name="adj" fmla="val 283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5" name="Shape 13"/>
          <p:cNvSpPr/>
          <p:nvPr/>
        </p:nvSpPr>
        <p:spPr>
          <a:xfrm>
            <a:off x="822960" y="4242816"/>
            <a:ext cx="384048" cy="384048"/>
          </a:xfrm>
          <a:prstGeom prst="ellipse">
            <a:avLst/>
          </a:prstGeom>
          <a:solidFill>
            <a:srgbClr val="D38B36"/>
          </a:solidFill>
          <a:ln w="12700">
            <a:solidFill>
              <a:srgbClr val="D38B36"/>
            </a:solidFill>
            <a:prstDash val="solid"/>
          </a:ln>
        </p:spPr>
      </p:sp>
      <p:sp>
        <p:nvSpPr>
          <p:cNvPr id="16" name="Text 14"/>
          <p:cNvSpPr/>
          <p:nvPr/>
        </p:nvSpPr>
        <p:spPr>
          <a:xfrm>
            <a:off x="822960" y="42976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K</a:t>
            </a:r>
            <a:endParaRPr lang="en-US" sz="1000" dirty="0"/>
          </a:p>
        </p:txBody>
      </p:sp>
      <p:sp>
        <p:nvSpPr>
          <p:cNvPr id="17" name="Text 15"/>
          <p:cNvSpPr/>
          <p:nvPr/>
        </p:nvSpPr>
        <p:spPr>
          <a:xfrm>
            <a:off x="1335024" y="4224528"/>
            <a:ext cx="4434840" cy="301752"/>
          </a:xfrm>
          <a:prstGeom prst="rect">
            <a:avLst/>
          </a:prstGeom>
          <a:noFill/>
          <a:ln/>
        </p:spPr>
        <p:txBody>
          <a:bodyPr wrap="square" lIns="0" tIns="0" rIns="0" bIns="0" rtlCol="0" anchor="ctr">
            <a:normAutofit/>
          </a:bodyPr>
          <a:lstStyle/>
          <a:p>
            <a:pPr indent="0" marL="0">
              <a:buNone/>
            </a:pPr>
            <a:r>
              <a:rPr lang="en-US" sz="1700" b="1" dirty="0">
                <a:solidFill>
                  <a:srgbClr val="D38B36"/>
                </a:solidFill>
                <a:latin typeface="Calibri" pitchFamily="34" charset="0"/>
                <a:ea typeface="Calibri" pitchFamily="34" charset="-122"/>
                <a:cs typeface="Calibri" pitchFamily="34" charset="-120"/>
              </a:rPr>
              <a:t>Precision@K · mức liên quan trong Top-K</a:t>
            </a:r>
            <a:endParaRPr lang="en-US" sz="1700" dirty="0"/>
          </a:p>
        </p:txBody>
      </p:sp>
      <p:sp>
        <p:nvSpPr>
          <p:cNvPr id="18" name="Text 16"/>
          <p:cNvSpPr/>
          <p:nvPr/>
        </p:nvSpPr>
        <p:spPr>
          <a:xfrm>
            <a:off x="850392" y="4645152"/>
            <a:ext cx="4892040" cy="1152144"/>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Tỷ lệ mục liên quan trong K gợi ý đầu tiên. Metric coi các vị trí trong Top-K như nhau, nên chưa phản ánh việc mục tốt nằm ở đầu hay cuối danh sách.</a:t>
            </a:r>
            <a:endParaRPr lang="en-US" sz="1200" dirty="0"/>
          </a:p>
        </p:txBody>
      </p:sp>
      <p:sp>
        <p:nvSpPr>
          <p:cNvPr id="19" name="Shape 17"/>
          <p:cNvSpPr/>
          <p:nvPr/>
        </p:nvSpPr>
        <p:spPr>
          <a:xfrm>
            <a:off x="6217920" y="4041648"/>
            <a:ext cx="5349240" cy="1938528"/>
          </a:xfrm>
          <a:prstGeom prst="roundRect">
            <a:avLst>
              <a:gd name="adj" fmla="val 283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20" name="Shape 18"/>
          <p:cNvSpPr/>
          <p:nvPr/>
        </p:nvSpPr>
        <p:spPr>
          <a:xfrm>
            <a:off x="6419088" y="4242816"/>
            <a:ext cx="384048" cy="384048"/>
          </a:xfrm>
          <a:prstGeom prst="ellipse">
            <a:avLst/>
          </a:prstGeom>
          <a:solidFill>
            <a:srgbClr val="B94D52"/>
          </a:solidFill>
          <a:ln w="12700">
            <a:solidFill>
              <a:srgbClr val="B94D52"/>
            </a:solidFill>
            <a:prstDash val="solid"/>
          </a:ln>
        </p:spPr>
      </p:sp>
      <p:sp>
        <p:nvSpPr>
          <p:cNvPr id="21" name="Text 19"/>
          <p:cNvSpPr/>
          <p:nvPr/>
        </p:nvSpPr>
        <p:spPr>
          <a:xfrm>
            <a:off x="6419088" y="42976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22" name="Text 20"/>
          <p:cNvSpPr/>
          <p:nvPr/>
        </p:nvSpPr>
        <p:spPr>
          <a:xfrm>
            <a:off x="6931152" y="4224528"/>
            <a:ext cx="4434840" cy="301752"/>
          </a:xfrm>
          <a:prstGeom prst="rect">
            <a:avLst/>
          </a:prstGeom>
          <a:noFill/>
          <a:ln/>
        </p:spPr>
        <p:txBody>
          <a:bodyPr wrap="square" lIns="0" tIns="0" rIns="0" bIns="0" rtlCol="0" anchor="ctr">
            <a:normAutofit/>
          </a:bodyPr>
          <a:lstStyle/>
          <a:p>
            <a:pPr indent="0" marL="0">
              <a:buNone/>
            </a:pPr>
            <a:r>
              <a:rPr lang="en-US" sz="1700" b="1" dirty="0">
                <a:solidFill>
                  <a:srgbClr val="B94D52"/>
                </a:solidFill>
                <a:latin typeface="Calibri" pitchFamily="34" charset="0"/>
                <a:ea typeface="Calibri" pitchFamily="34" charset="-122"/>
                <a:cs typeface="Calibri" pitchFamily="34" charset="-120"/>
              </a:rPr>
              <a:t>NDCG@K · chất lượng thứ tự xếp hạng</a:t>
            </a:r>
            <a:endParaRPr lang="en-US" sz="1700" dirty="0"/>
          </a:p>
        </p:txBody>
      </p:sp>
      <p:sp>
        <p:nvSpPr>
          <p:cNvPr id="23" name="Text 21"/>
          <p:cNvSpPr/>
          <p:nvPr/>
        </p:nvSpPr>
        <p:spPr>
          <a:xfrm>
            <a:off x="6446520" y="4645152"/>
            <a:ext cx="4892040" cy="1152144"/>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Discounted Cumulative Gain giảm trọng số ở vị trí thấp; chuẩn hóa bởi thứ tự lý tưởng. NDCG phù hợp khi relevance có mức độ và vị trí đầu danh sách quan trọng hơn.</a:t>
            </a:r>
            <a:endParaRPr lang="en-US" sz="12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THỰC NGHIỆM</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Đánh giá được thiết kế theo từng tuyên bố</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metric gắn với dataset, protocol và giới hạn diễn giải cụ thể.</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648" y="1773936"/>
          <a:ext cx="7498080" cy="4343400"/>
        </p:xfrm>
        <a:graphic>
          <a:graphicData uri="http://schemas.openxmlformats.org/drawingml/2006/table">
            <a:tbl>
              <a:tblPr/>
              <a:tblGrid>
                <a:gridCol w="2103120"/>
                <a:gridCol w="2377440"/>
                <a:gridCol w="3017520"/>
              </a:tblGrid>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Hạng mục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Tập đánh giá</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Metric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Chất lượng dữ liệu</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Toàn corpus</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missing · duplicate · orphan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Phân giải thực thể</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100 cặp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 · R · F1</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Suy diễn co-star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50 fact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precision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Hỏi–đáp</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câu smoke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accuracy + evidence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Gợi ý</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case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P@10 · NDCG@10</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Hiệu năng</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4 quy mô × 4 query</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median · p95 · 100 lần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8430768" y="1792224"/>
            <a:ext cx="3127248" cy="1143000"/>
          </a:xfrm>
          <a:prstGeom prst="roundRect">
            <a:avLst>
              <a:gd name="adj" fmla="val 480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8659368" y="1975104"/>
            <a:ext cx="2670048" cy="301752"/>
          </a:xfrm>
          <a:prstGeom prst="rect">
            <a:avLst/>
          </a:prstGeom>
          <a:noFill/>
          <a:ln/>
        </p:spPr>
        <p:txBody>
          <a:bodyPr wrap="square" lIns="0" tIns="0" rIns="0" bIns="0" rtlCol="0" anchor="ctr">
            <a:normAutofit/>
          </a:bodyPr>
          <a:lstStyle/>
          <a:p>
            <a:pPr indent="0" marL="0">
              <a:buNone/>
            </a:pPr>
            <a:r>
              <a:rPr lang="en-US" sz="1400" b="1" dirty="0">
                <a:solidFill>
                  <a:srgbClr val="D38B36"/>
                </a:solidFill>
                <a:latin typeface="Calibri" pitchFamily="34" charset="0"/>
                <a:ea typeface="Calibri" pitchFamily="34" charset="-122"/>
                <a:cs typeface="Calibri" pitchFamily="34" charset="-120"/>
              </a:rPr>
              <a:t>Silver ≠ ground truth độc lập</a:t>
            </a:r>
            <a:endParaRPr lang="en-US" sz="1400" dirty="0"/>
          </a:p>
        </p:txBody>
      </p:sp>
      <p:sp>
        <p:nvSpPr>
          <p:cNvPr id="8" name="Text 5"/>
          <p:cNvSpPr/>
          <p:nvPr/>
        </p:nvSpPr>
        <p:spPr>
          <a:xfrm>
            <a:off x="8659368" y="2395728"/>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Corpus được sinh tất định, có provenance và rubric công bố.</a:t>
            </a:r>
            <a:endParaRPr lang="en-US" sz="1050" dirty="0"/>
          </a:p>
        </p:txBody>
      </p:sp>
      <p:sp>
        <p:nvSpPr>
          <p:cNvPr id="9" name="Shape 6"/>
          <p:cNvSpPr/>
          <p:nvPr/>
        </p:nvSpPr>
        <p:spPr>
          <a:xfrm>
            <a:off x="8430768" y="3236976"/>
            <a:ext cx="3127248"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8659368" y="3419856"/>
            <a:ext cx="2670048" cy="301752"/>
          </a:xfrm>
          <a:prstGeom prst="rect">
            <a:avLst/>
          </a:prstGeom>
          <a:noFill/>
          <a:ln/>
        </p:spPr>
        <p:txBody>
          <a:bodyPr wrap="square" lIns="0" tIns="0" rIns="0" bIns="0" rtlCol="0" anchor="ctr">
            <a:normAutofit/>
          </a:bodyPr>
          <a:lstStyle/>
          <a:p>
            <a:pPr indent="0" marL="0">
              <a:buNone/>
            </a:pPr>
            <a:r>
              <a:rPr lang="en-US" sz="1400" b="1" dirty="0">
                <a:solidFill>
                  <a:srgbClr val="337B80"/>
                </a:solidFill>
                <a:latin typeface="Calibri" pitchFamily="34" charset="0"/>
                <a:ea typeface="Calibri" pitchFamily="34" charset="-122"/>
                <a:cs typeface="Calibri" pitchFamily="34" charset="-120"/>
              </a:rPr>
              <a:t>Protocol được cố định</a:t>
            </a:r>
            <a:endParaRPr lang="en-US" sz="1400" dirty="0"/>
          </a:p>
        </p:txBody>
      </p:sp>
      <p:sp>
        <p:nvSpPr>
          <p:cNvPr id="11" name="Text 8"/>
          <p:cNvSpPr/>
          <p:nvPr/>
        </p:nvSpPr>
        <p:spPr>
          <a:xfrm>
            <a:off x="8659368" y="3840480"/>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Mỗi kết quả đi kèm snapshot, cấu hình, số lần chạy và tiêu chí chấm.</a:t>
            </a:r>
            <a:endParaRPr lang="en-US" sz="1050" dirty="0"/>
          </a:p>
        </p:txBody>
      </p:sp>
      <p:sp>
        <p:nvSpPr>
          <p:cNvPr id="12" name="Shape 9"/>
          <p:cNvSpPr/>
          <p:nvPr/>
        </p:nvSpPr>
        <p:spPr>
          <a:xfrm>
            <a:off x="8430768" y="4681728"/>
            <a:ext cx="3127248" cy="1143000"/>
          </a:xfrm>
          <a:prstGeom prst="roundRect">
            <a:avLst>
              <a:gd name="adj" fmla="val 480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13" name="Text 10"/>
          <p:cNvSpPr/>
          <p:nvPr/>
        </p:nvSpPr>
        <p:spPr>
          <a:xfrm>
            <a:off x="8659368" y="4864608"/>
            <a:ext cx="2670048" cy="301752"/>
          </a:xfrm>
          <a:prstGeom prst="rect">
            <a:avLst/>
          </a:prstGeom>
          <a:noFill/>
          <a:ln/>
        </p:spPr>
        <p:txBody>
          <a:bodyPr wrap="square" lIns="0" tIns="0" rIns="0" bIns="0" rtlCol="0" anchor="ctr">
            <a:normAutofit/>
          </a:bodyPr>
          <a:lstStyle/>
          <a:p>
            <a:pPr indent="0" marL="0">
              <a:buNone/>
            </a:pPr>
            <a:r>
              <a:rPr lang="en-US" sz="1400" b="1" dirty="0">
                <a:solidFill>
                  <a:srgbClr val="B94D52"/>
                </a:solidFill>
                <a:latin typeface="Calibri" pitchFamily="34" charset="0"/>
                <a:ea typeface="Calibri" pitchFamily="34" charset="-122"/>
                <a:cs typeface="Calibri" pitchFamily="34" charset="-120"/>
              </a:rPr>
              <a:t>Không vượt quá bằng chứng</a:t>
            </a:r>
            <a:endParaRPr lang="en-US" sz="1400" dirty="0"/>
          </a:p>
        </p:txBody>
      </p:sp>
      <p:sp>
        <p:nvSpPr>
          <p:cNvPr id="14" name="Text 11"/>
          <p:cNvSpPr/>
          <p:nvPr/>
        </p:nvSpPr>
        <p:spPr>
          <a:xfrm>
            <a:off x="8659368" y="5285232"/>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Không suy rộng sang concurrency, cold cache hay production scale.</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KẾT QUẢ</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Kết quả chính: đúng cấu trúc, có bằng chứng, còn dư địa cải thiện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con số dưới đây đều thuộc lần chạy 5.000 đầu vào ngày 24/07/2026.</a:t>
            </a:r>
            <a:endParaRPr lang="en-US" sz="1250" dirty="0"/>
          </a:p>
        </p:txBody>
      </p:sp>
      <p:sp>
        <p:nvSpPr>
          <p:cNvPr id="5" name="Shape 3"/>
          <p:cNvSpPr/>
          <p:nvPr/>
        </p:nvSpPr>
        <p:spPr>
          <a:xfrm>
            <a:off x="59436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20/20</a:t>
            </a:r>
            <a:endParaRPr lang="en-US" sz="2800" dirty="0"/>
          </a:p>
        </p:txBody>
      </p:sp>
      <p:sp>
        <p:nvSpPr>
          <p:cNvPr id="7" name="Text 5"/>
          <p:cNvSpPr/>
          <p:nvPr/>
        </p:nvSpPr>
        <p:spPr>
          <a:xfrm>
            <a:off x="77724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QA smoke</a:t>
            </a:r>
            <a:endParaRPr lang="en-US" sz="1100" dirty="0"/>
          </a:p>
        </p:txBody>
      </p:sp>
      <p:sp>
        <p:nvSpPr>
          <p:cNvPr id="8" name="Text 6"/>
          <p:cNvSpPr/>
          <p:nvPr/>
        </p:nvSpPr>
        <p:spPr>
          <a:xfrm>
            <a:off x="77724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Neo4j + evidence</a:t>
            </a:r>
            <a:endParaRPr lang="en-US" sz="750" dirty="0"/>
          </a:p>
        </p:txBody>
      </p:sp>
      <p:sp>
        <p:nvSpPr>
          <p:cNvPr id="9" name="Shape 7"/>
          <p:cNvSpPr/>
          <p:nvPr/>
        </p:nvSpPr>
        <p:spPr>
          <a:xfrm>
            <a:off x="283464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99923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0,966</a:t>
            </a:r>
            <a:endParaRPr lang="en-US" sz="2800" dirty="0"/>
          </a:p>
        </p:txBody>
      </p:sp>
      <p:sp>
        <p:nvSpPr>
          <p:cNvPr id="11" name="Text 9"/>
          <p:cNvSpPr/>
          <p:nvPr/>
        </p:nvSpPr>
        <p:spPr>
          <a:xfrm>
            <a:off x="301752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Entity F1</a:t>
            </a:r>
            <a:endParaRPr lang="en-US" sz="1100" dirty="0"/>
          </a:p>
        </p:txBody>
      </p:sp>
      <p:sp>
        <p:nvSpPr>
          <p:cNvPr id="12" name="Text 10"/>
          <p:cNvSpPr/>
          <p:nvPr/>
        </p:nvSpPr>
        <p:spPr>
          <a:xfrm>
            <a:off x="301752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3" name="Shape 11"/>
          <p:cNvSpPr/>
          <p:nvPr/>
        </p:nvSpPr>
        <p:spPr>
          <a:xfrm>
            <a:off x="507492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523951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1,00</a:t>
            </a:r>
            <a:endParaRPr lang="en-US" sz="2800" dirty="0"/>
          </a:p>
        </p:txBody>
      </p:sp>
      <p:sp>
        <p:nvSpPr>
          <p:cNvPr id="15" name="Text 13"/>
          <p:cNvSpPr/>
          <p:nvPr/>
        </p:nvSpPr>
        <p:spPr>
          <a:xfrm>
            <a:off x="525780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Co-star precision</a:t>
            </a:r>
            <a:endParaRPr lang="en-US" sz="1100" dirty="0"/>
          </a:p>
        </p:txBody>
      </p:sp>
      <p:sp>
        <p:nvSpPr>
          <p:cNvPr id="16" name="Text 14"/>
          <p:cNvSpPr/>
          <p:nvPr/>
        </p:nvSpPr>
        <p:spPr>
          <a:xfrm>
            <a:off x="525780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50 fact silver</a:t>
            </a:r>
            <a:endParaRPr lang="en-US" sz="750" dirty="0"/>
          </a:p>
        </p:txBody>
      </p:sp>
      <p:sp>
        <p:nvSpPr>
          <p:cNvPr id="17" name="Shape 15"/>
          <p:cNvSpPr/>
          <p:nvPr/>
        </p:nvSpPr>
        <p:spPr>
          <a:xfrm>
            <a:off x="731520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747979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0,635</a:t>
            </a:r>
            <a:endParaRPr lang="en-US" sz="2800" dirty="0"/>
          </a:p>
        </p:txBody>
      </p:sp>
      <p:sp>
        <p:nvSpPr>
          <p:cNvPr id="19" name="Text 17"/>
          <p:cNvSpPr/>
          <p:nvPr/>
        </p:nvSpPr>
        <p:spPr>
          <a:xfrm>
            <a:off x="749808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Recommendation P@10</a:t>
            </a:r>
            <a:endParaRPr lang="en-US" sz="1100" dirty="0"/>
          </a:p>
        </p:txBody>
      </p:sp>
      <p:sp>
        <p:nvSpPr>
          <p:cNvPr id="20" name="Text 18"/>
          <p:cNvSpPr/>
          <p:nvPr/>
        </p:nvSpPr>
        <p:spPr>
          <a:xfrm>
            <a:off x="749808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sp>
        <p:nvSpPr>
          <p:cNvPr id="21" name="Shape 19"/>
          <p:cNvSpPr/>
          <p:nvPr/>
        </p:nvSpPr>
        <p:spPr>
          <a:xfrm>
            <a:off x="955548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972007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B94D52"/>
                </a:solidFill>
                <a:latin typeface="Arial" pitchFamily="34" charset="0"/>
                <a:ea typeface="Arial" pitchFamily="34" charset="-122"/>
                <a:cs typeface="Arial" pitchFamily="34" charset="-120"/>
              </a:rPr>
              <a:t>0,672</a:t>
            </a:r>
            <a:endParaRPr lang="en-US" sz="2800" dirty="0"/>
          </a:p>
        </p:txBody>
      </p:sp>
      <p:sp>
        <p:nvSpPr>
          <p:cNvPr id="23" name="Text 21"/>
          <p:cNvSpPr/>
          <p:nvPr/>
        </p:nvSpPr>
        <p:spPr>
          <a:xfrm>
            <a:off x="973836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NDCG@10</a:t>
            </a:r>
            <a:endParaRPr lang="en-US" sz="1100" dirty="0"/>
          </a:p>
        </p:txBody>
      </p:sp>
      <p:sp>
        <p:nvSpPr>
          <p:cNvPr id="24" name="Text 22"/>
          <p:cNvSpPr/>
          <p:nvPr/>
        </p:nvSpPr>
        <p:spPr>
          <a:xfrm>
            <a:off x="973836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graphicFrame>
        <p:nvGraphicFramePr>
          <p:cNvPr id="25" name="Chart 0" descr=""/>
          <p:cNvGraphicFramePr/>
          <p:nvPr/>
        </p:nvGraphicFramePr>
        <p:xfrm>
          <a:off x="731520" y="3429000"/>
          <a:ext cx="6583680" cy="2395728"/>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7680960" y="3493008"/>
            <a:ext cx="3886200" cy="2267712"/>
          </a:xfrm>
          <a:prstGeom prst="roundRect">
            <a:avLst>
              <a:gd name="adj" fmla="val 2419"/>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7" name="Text 24"/>
          <p:cNvSpPr/>
          <p:nvPr/>
        </p:nvSpPr>
        <p:spPr>
          <a:xfrm>
            <a:off x="7909560" y="3675888"/>
            <a:ext cx="3429000" cy="301752"/>
          </a:xfrm>
          <a:prstGeom prst="rect">
            <a:avLst/>
          </a:prstGeom>
          <a:noFill/>
          <a:ln/>
        </p:spPr>
        <p:txBody>
          <a:bodyPr wrap="square" lIns="0" tIns="0" rIns="0" bIns="0" rtlCol="0" anchor="ctr">
            <a:normAutofit/>
          </a:bodyPr>
          <a:lstStyle/>
          <a:p>
            <a:pPr indent="0" marL="0">
              <a:buNone/>
            </a:pPr>
            <a:r>
              <a:rPr lang="en-US" sz="1700" b="1" dirty="0">
                <a:solidFill>
                  <a:srgbClr val="112B46"/>
                </a:solidFill>
                <a:latin typeface="Calibri" pitchFamily="34" charset="0"/>
                <a:ea typeface="Calibri" pitchFamily="34" charset="-122"/>
                <a:cs typeface="Calibri" pitchFamily="34" charset="-120"/>
              </a:rPr>
              <a:t>Ý nghĩa đúng của các con số</a:t>
            </a:r>
            <a:endParaRPr lang="en-US" sz="1700" dirty="0"/>
          </a:p>
        </p:txBody>
      </p:sp>
      <p:sp>
        <p:nvSpPr>
          <p:cNvPr id="28" name="Text 25"/>
          <p:cNvSpPr/>
          <p:nvPr/>
        </p:nvSpPr>
        <p:spPr>
          <a:xfrm>
            <a:off x="7909560" y="4096512"/>
            <a:ext cx="3429000" cy="1481328"/>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QA 20/20 chứng minh luồng đã định hoạt động trên tập smoke test. Entity precision cao nhờ hệ thống chấp nhận bỏ sót khi mơ hồ. Chỉ số gợi ý đo trên corpus silver, vì vậy chưa thể thay cho đánh giá độc lập của người dùng.</a:t>
            </a:r>
            <a:endParaRPr lang="en-US" sz="1220" dirty="0"/>
          </a:p>
        </p:txBody>
      </p:sp>
      <p:sp>
        <p:nvSpPr>
          <p:cNvPr id="29" name="Text 2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experiments/results/summary/quality_metrics.csv</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TỪ LÝ THUYẾT ĐẾN MÔ HÌNH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Competency question dẫn dắt schema và truy vấn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câu hỏi nghiệp vụ phải ánh xạ được thành một graph pattern có thể kiểm chứng.</a:t>
            </a:r>
            <a:endParaRPr lang="en-US" sz="1250" dirty="0"/>
          </a:p>
        </p:txBody>
      </p:sp>
      <p:sp>
        <p:nvSpPr>
          <p:cNvPr id="5" name="Shape 3"/>
          <p:cNvSpPr/>
          <p:nvPr/>
        </p:nvSpPr>
        <p:spPr>
          <a:xfrm>
            <a:off x="621792" y="1783080"/>
            <a:ext cx="3657600" cy="3337560"/>
          </a:xfrm>
          <a:prstGeom prst="roundRect">
            <a:avLst>
              <a:gd name="adj" fmla="val 1644"/>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65960"/>
            <a:ext cx="3200400" cy="301752"/>
          </a:xfrm>
          <a:prstGeom prst="rect">
            <a:avLst/>
          </a:prstGeom>
          <a:noFill/>
          <a:ln/>
        </p:spPr>
        <p:txBody>
          <a:bodyPr wrap="square" lIns="0" tIns="0" rIns="0" bIns="0" rtlCol="0" anchor="ctr">
            <a:normAutofit/>
          </a:bodyPr>
          <a:lstStyle/>
          <a:p>
            <a:pPr indent="0" marL="0">
              <a:buNone/>
            </a:pPr>
            <a:r>
              <a:rPr lang="en-US" sz="1800" b="1" dirty="0">
                <a:solidFill>
                  <a:srgbClr val="725B9B"/>
                </a:solidFill>
                <a:latin typeface="Calibri" pitchFamily="34" charset="0"/>
                <a:ea typeface="Calibri" pitchFamily="34" charset="-122"/>
                <a:cs typeface="Calibri" pitchFamily="34" charset="-120"/>
              </a:rPr>
              <a:t>Câu hỏi năng lực</a:t>
            </a:r>
            <a:endParaRPr lang="en-US" sz="1800" dirty="0"/>
          </a:p>
        </p:txBody>
      </p:sp>
      <p:sp>
        <p:nvSpPr>
          <p:cNvPr id="7" name="Text 5"/>
          <p:cNvSpPr/>
          <p:nvPr/>
        </p:nvSpPr>
        <p:spPr>
          <a:xfrm>
            <a:off x="850392" y="2386584"/>
            <a:ext cx="3200400" cy="255117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Phim nào có hai diễn viên cùng tham gia?</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Khái niệm cần có:</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Person · Movie · ACTED_IN</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Ràng buộc:</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hai Person khác nhau cùng nối tới một Movie.</a:t>
            </a:r>
            <a:endParaRPr lang="en-US" sz="1500" dirty="0"/>
          </a:p>
        </p:txBody>
      </p:sp>
      <p:sp>
        <p:nvSpPr>
          <p:cNvPr id="8" name="Shape 6"/>
          <p:cNvSpPr/>
          <p:nvPr/>
        </p:nvSpPr>
        <p:spPr>
          <a:xfrm>
            <a:off x="4553712" y="1783080"/>
            <a:ext cx="7013448" cy="3337560"/>
          </a:xfrm>
          <a:prstGeom prst="roundRect">
            <a:avLst>
              <a:gd name="adj" fmla="val 1096"/>
            </a:avLst>
          </a:prstGeom>
          <a:solidFill>
            <a:srgbClr val="112B46"/>
          </a:solidFill>
          <a:ln w="12700">
            <a:solidFill>
              <a:srgbClr val="112B46"/>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800600" y="2011680"/>
            <a:ext cx="4206240" cy="256032"/>
          </a:xfrm>
          <a:prstGeom prst="rect">
            <a:avLst/>
          </a:prstGeom>
          <a:noFill/>
          <a:ln/>
        </p:spPr>
        <p:txBody>
          <a:bodyPr wrap="square" lIns="0" tIns="0" rIns="0" bIns="0" rtlCol="0" anchor="ctr"/>
          <a:lstStyle/>
          <a:p>
            <a:pPr indent="0" marL="0">
              <a:buNone/>
            </a:pPr>
            <a:r>
              <a:rPr lang="en-US" sz="1000" b="1" spc="110" kern="0" dirty="0">
                <a:solidFill>
                  <a:srgbClr val="8FD0CC"/>
                </a:solidFill>
                <a:latin typeface="Arial" pitchFamily="34" charset="0"/>
                <a:ea typeface="Arial" pitchFamily="34" charset="-122"/>
                <a:cs typeface="Arial" pitchFamily="34" charset="-120"/>
              </a:rPr>
              <a:t>GRAPH PATTERN TƯƠNG ỨNG</a:t>
            </a:r>
            <a:endParaRPr lang="en-US" sz="1000" dirty="0"/>
          </a:p>
        </p:txBody>
      </p:sp>
      <p:sp>
        <p:nvSpPr>
          <p:cNvPr id="10" name="Text 8"/>
          <p:cNvSpPr/>
          <p:nvPr/>
        </p:nvSpPr>
        <p:spPr>
          <a:xfrm>
            <a:off x="4800600" y="2450592"/>
            <a:ext cx="6355080" cy="2304288"/>
          </a:xfrm>
          <a:prstGeom prst="rect">
            <a:avLst/>
          </a:prstGeom>
          <a:noFill/>
          <a:ln/>
        </p:spPr>
        <p:txBody>
          <a:bodyPr wrap="square" lIns="0" tIns="0" rIns="0" bIns="0" rtlCol="0" anchor="ctr">
            <a:normAutofit/>
          </a:bodyPr>
          <a:lstStyle/>
          <a:p>
            <a:pPr indent="0" marL="0">
              <a:buNone/>
            </a:pPr>
            <a:r>
              <a:rPr lang="en-US" sz="1300" dirty="0">
                <a:solidFill>
                  <a:srgbClr val="D9E8F2"/>
                </a:solidFill>
                <a:latin typeface="Courier New" pitchFamily="34" charset="0"/>
                <a:ea typeface="Courier New" pitchFamily="34" charset="-122"/>
                <a:cs typeface="Courier New" pitchFamily="34" charset="-120"/>
              </a:rPr>
              <a:t>MATCH (a:Person)-[:ACTED_IN]-&gt;(m:Movie)</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&lt;-[:ACTED_IN]-(b:Person)</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WHERE a.person_id = $person1_id</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AND b.person_id = $person2_id</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AND a &lt;&gt; b</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RETURN DISTINCT m.title AS common_movie;</a:t>
            </a:r>
            <a:endParaRPr lang="en-US" sz="1300" dirty="0"/>
          </a:p>
        </p:txBody>
      </p:sp>
      <p:sp>
        <p:nvSpPr>
          <p:cNvPr id="11" name="Shape 9"/>
          <p:cNvSpPr/>
          <p:nvPr/>
        </p:nvSpPr>
        <p:spPr>
          <a:xfrm>
            <a:off x="621792" y="5138928"/>
            <a:ext cx="3364992" cy="950976"/>
          </a:xfrm>
          <a:prstGeom prst="roundRect">
            <a:avLst>
              <a:gd name="adj" fmla="val 5769"/>
            </a:avLst>
          </a:prstGeom>
          <a:solidFill>
            <a:srgbClr val="EAF2F8"/>
          </a:solidFill>
          <a:ln w="12700">
            <a:solidFill>
              <a:srgbClr val="D7DEE8"/>
            </a:solidFill>
            <a:prstDash val="solid"/>
          </a:ln>
        </p:spPr>
      </p:sp>
      <p:sp>
        <p:nvSpPr>
          <p:cNvPr id="12" name="Text 10"/>
          <p:cNvSpPr/>
          <p:nvPr/>
        </p:nvSpPr>
        <p:spPr>
          <a:xfrm>
            <a:off x="850392"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Schema coverage</a:t>
            </a:r>
            <a:endParaRPr lang="en-US" sz="1200" dirty="0"/>
          </a:p>
        </p:txBody>
      </p:sp>
      <p:sp>
        <p:nvSpPr>
          <p:cNvPr id="13" name="Text 11"/>
          <p:cNvSpPr/>
          <p:nvPr/>
        </p:nvSpPr>
        <p:spPr>
          <a:xfrm>
            <a:off x="850392"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Có đủ lớp và quan hệ để biểu diễn?</a:t>
            </a:r>
            <a:endParaRPr lang="en-US" sz="1050" dirty="0"/>
          </a:p>
        </p:txBody>
      </p:sp>
      <p:sp>
        <p:nvSpPr>
          <p:cNvPr id="14" name="Shape 12"/>
          <p:cNvSpPr/>
          <p:nvPr/>
        </p:nvSpPr>
        <p:spPr>
          <a:xfrm>
            <a:off x="4407408" y="5138928"/>
            <a:ext cx="3364992" cy="950976"/>
          </a:xfrm>
          <a:prstGeom prst="roundRect">
            <a:avLst>
              <a:gd name="adj" fmla="val 5769"/>
            </a:avLst>
          </a:prstGeom>
          <a:solidFill>
            <a:srgbClr val="FFF2DF"/>
          </a:solidFill>
          <a:ln w="12700">
            <a:solidFill>
              <a:srgbClr val="D7DEE8"/>
            </a:solidFill>
            <a:prstDash val="solid"/>
          </a:ln>
        </p:spPr>
      </p:sp>
      <p:sp>
        <p:nvSpPr>
          <p:cNvPr id="15" name="Text 13"/>
          <p:cNvSpPr/>
          <p:nvPr/>
        </p:nvSpPr>
        <p:spPr>
          <a:xfrm>
            <a:off x="4636008"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Query answerability</a:t>
            </a:r>
            <a:endParaRPr lang="en-US" sz="1200" dirty="0"/>
          </a:p>
        </p:txBody>
      </p:sp>
      <p:sp>
        <p:nvSpPr>
          <p:cNvPr id="16" name="Text 14"/>
          <p:cNvSpPr/>
          <p:nvPr/>
        </p:nvSpPr>
        <p:spPr>
          <a:xfrm>
            <a:off x="4636008"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Pattern có trả lời được câu hỏi?</a:t>
            </a:r>
            <a:endParaRPr lang="en-US" sz="1050" dirty="0"/>
          </a:p>
        </p:txBody>
      </p:sp>
      <p:sp>
        <p:nvSpPr>
          <p:cNvPr id="17" name="Shape 15"/>
          <p:cNvSpPr/>
          <p:nvPr/>
        </p:nvSpPr>
        <p:spPr>
          <a:xfrm>
            <a:off x="8193024" y="5138928"/>
            <a:ext cx="3364992" cy="950976"/>
          </a:xfrm>
          <a:prstGeom prst="roundRect">
            <a:avLst>
              <a:gd name="adj" fmla="val 5769"/>
            </a:avLst>
          </a:prstGeom>
          <a:solidFill>
            <a:srgbClr val="E8F4EE"/>
          </a:solidFill>
          <a:ln w="12700">
            <a:solidFill>
              <a:srgbClr val="D7DEE8"/>
            </a:solidFill>
            <a:prstDash val="solid"/>
          </a:ln>
        </p:spPr>
      </p:sp>
      <p:sp>
        <p:nvSpPr>
          <p:cNvPr id="18" name="Text 16"/>
          <p:cNvSpPr/>
          <p:nvPr/>
        </p:nvSpPr>
        <p:spPr>
          <a:xfrm>
            <a:off x="8421624"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Evidence</a:t>
            </a:r>
            <a:endParaRPr lang="en-US" sz="1200" dirty="0"/>
          </a:p>
        </p:txBody>
      </p:sp>
      <p:sp>
        <p:nvSpPr>
          <p:cNvPr id="19" name="Text 17"/>
          <p:cNvSpPr/>
          <p:nvPr/>
        </p:nvSpPr>
        <p:spPr>
          <a:xfrm>
            <a:off x="8421624"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Kết quả có lần ngược được đường đi?</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TRÌNH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1 · Tra cứu diễn viên và kiểm chứng fact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Hai giao diện khác nhau phải trả về cùng sự kiện vì cùng đọc một graph Neo4j.</a:t>
            </a:r>
            <a:endParaRPr lang="en-US" sz="1250" dirty="0"/>
          </a:p>
        </p:txBody>
      </p:sp>
      <p:sp>
        <p:nvSpPr>
          <p:cNvPr id="5" name="Shape 3"/>
          <p:cNvSpPr/>
          <p:nvPr/>
        </p:nvSpPr>
        <p:spPr>
          <a:xfrm>
            <a:off x="621792" y="1783080"/>
            <a:ext cx="5257800" cy="4114800"/>
          </a:xfrm>
          <a:prstGeom prst="roundRect">
            <a:avLst>
              <a:gd name="adj" fmla="val 1333"/>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4343400" cy="301752"/>
          </a:xfrm>
          <a:prstGeom prst="rect">
            <a:avLst/>
          </a:prstGeom>
          <a:noFill/>
          <a:ln/>
        </p:spPr>
        <p:txBody>
          <a:bodyPr wrap="square" lIns="0" tIns="0" rIns="0" bIns="0" rtlCol="0" anchor="ctr">
            <a:normAutofit/>
          </a:bodyPr>
          <a:lstStyle/>
          <a:p>
            <a:pPr indent="0" marL="0">
              <a:buNone/>
            </a:pPr>
            <a:r>
              <a:rPr lang="en-US" sz="2000" b="1" dirty="0">
                <a:solidFill>
                  <a:srgbClr val="337B80"/>
                </a:solidFill>
                <a:latin typeface="Calibri" pitchFamily="34" charset="0"/>
                <a:ea typeface="Calibri" pitchFamily="34" charset="-122"/>
                <a:cs typeface="Calibri" pitchFamily="34" charset="-120"/>
              </a:rPr>
              <a:t>Bước 1 · Hỏi trên Web UI</a:t>
            </a:r>
            <a:endParaRPr lang="en-US" sz="2000" dirty="0"/>
          </a:p>
        </p:txBody>
      </p:sp>
      <p:sp>
        <p:nvSpPr>
          <p:cNvPr id="9" name="Text 7"/>
          <p:cNvSpPr/>
          <p:nvPr/>
        </p:nvSpPr>
        <p:spPr>
          <a:xfrm>
            <a:off x="850392" y="2386584"/>
            <a:ext cx="4800600" cy="332841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Câu hỏi:</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“Diễn viên nào đóng trong phim Inception?”</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Quan sát trên kết quả:</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Movie đã được entity linking;</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danh sách Person;</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character và cast_order;</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bằng chứng ACTED_IN.</a:t>
            </a:r>
            <a:endParaRPr lang="en-US" sz="1400" dirty="0"/>
          </a:p>
        </p:txBody>
      </p:sp>
      <p:sp>
        <p:nvSpPr>
          <p:cNvPr id="10" name="Shape 8"/>
          <p:cNvSpPr/>
          <p:nvPr/>
        </p:nvSpPr>
        <p:spPr>
          <a:xfrm>
            <a:off x="6309360" y="1783080"/>
            <a:ext cx="5257800" cy="4114800"/>
          </a:xfrm>
          <a:prstGeom prst="roundRect">
            <a:avLst>
              <a:gd name="adj" fmla="val 1333"/>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6510528" y="1984248"/>
            <a:ext cx="384048" cy="384048"/>
          </a:xfrm>
          <a:prstGeom prst="ellipse">
            <a:avLst/>
          </a:prstGeom>
          <a:solidFill>
            <a:srgbClr val="725B9B"/>
          </a:solidFill>
          <a:ln w="12700">
            <a:solidFill>
              <a:srgbClr val="725B9B"/>
            </a:solidFill>
            <a:prstDash val="solid"/>
          </a:ln>
        </p:spPr>
      </p:sp>
      <p:sp>
        <p:nvSpPr>
          <p:cNvPr id="12" name="Text 10"/>
          <p:cNvSpPr/>
          <p:nvPr/>
        </p:nvSpPr>
        <p:spPr>
          <a:xfrm>
            <a:off x="651052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p:nvPr/>
        </p:nvSpPr>
        <p:spPr>
          <a:xfrm>
            <a:off x="7022592" y="1965960"/>
            <a:ext cx="4343400" cy="301752"/>
          </a:xfrm>
          <a:prstGeom prst="rect">
            <a:avLst/>
          </a:prstGeom>
          <a:noFill/>
          <a:ln/>
        </p:spPr>
        <p:txBody>
          <a:bodyPr wrap="square" lIns="0" tIns="0" rIns="0" bIns="0" rtlCol="0" anchor="ctr">
            <a:normAutofit/>
          </a:bodyPr>
          <a:lstStyle/>
          <a:p>
            <a:pPr indent="0" marL="0">
              <a:buNone/>
            </a:pPr>
            <a:r>
              <a:rPr lang="en-US" sz="2000" b="1" dirty="0">
                <a:solidFill>
                  <a:srgbClr val="725B9B"/>
                </a:solidFill>
                <a:latin typeface="Calibri" pitchFamily="34" charset="0"/>
                <a:ea typeface="Calibri" pitchFamily="34" charset="-122"/>
                <a:cs typeface="Calibri" pitchFamily="34" charset="-120"/>
              </a:rPr>
              <a:t>Bước 2 · Kiểm chứng trong Neo4j Browser</a:t>
            </a:r>
            <a:endParaRPr lang="en-US" sz="2000" dirty="0"/>
          </a:p>
        </p:txBody>
      </p:sp>
      <p:sp>
        <p:nvSpPr>
          <p:cNvPr id="14" name="Text 12"/>
          <p:cNvSpPr/>
          <p:nvPr/>
        </p:nvSpPr>
        <p:spPr>
          <a:xfrm>
            <a:off x="6537960" y="2386584"/>
            <a:ext cx="4800600" cy="332841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Chạy pattern:</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Person -[ACTED_IN]-&gt; Movie</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Đối chiếu tên diễn viên và nhân vật với Web UI. UI đi qua FastAPI, còn Browser truy vấn trực tiếp; hai đường truy cập phải thống nhất về fact.</a:t>
            </a:r>
            <a:endParaRPr lang="en-US" sz="14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TRÌNH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2 · Truy vấn nhiều bước và kiểm chứng đường đi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Kết quả phim chung được chứng minh bằng shared-neighbor pattern Person → Movie ← Person.</a:t>
            </a:r>
            <a:endParaRPr lang="en-US" sz="1250" dirty="0"/>
          </a:p>
        </p:txBody>
      </p:sp>
      <p:sp>
        <p:nvSpPr>
          <p:cNvPr id="5" name="Shape 3"/>
          <p:cNvSpPr/>
          <p:nvPr/>
        </p:nvSpPr>
        <p:spPr>
          <a:xfrm>
            <a:off x="621792" y="1783080"/>
            <a:ext cx="5257800" cy="4114800"/>
          </a:xfrm>
          <a:prstGeom prst="roundRect">
            <a:avLst>
              <a:gd name="adj" fmla="val 1333"/>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D8B66"/>
          </a:solidFill>
          <a:ln w="12700">
            <a:solidFill>
              <a:srgbClr val="3D8B66"/>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8" name="Text 6"/>
          <p:cNvSpPr/>
          <p:nvPr/>
        </p:nvSpPr>
        <p:spPr>
          <a:xfrm>
            <a:off x="1335024" y="1965960"/>
            <a:ext cx="4343400" cy="301752"/>
          </a:xfrm>
          <a:prstGeom prst="rect">
            <a:avLst/>
          </a:prstGeom>
          <a:noFill/>
          <a:ln/>
        </p:spPr>
        <p:txBody>
          <a:bodyPr wrap="square" lIns="0" tIns="0" rIns="0" bIns="0" rtlCol="0" anchor="ctr">
            <a:normAutofit/>
          </a:bodyPr>
          <a:lstStyle/>
          <a:p>
            <a:pPr indent="0" marL="0">
              <a:buNone/>
            </a:pPr>
            <a:r>
              <a:rPr lang="en-US" sz="2000" b="1" dirty="0">
                <a:solidFill>
                  <a:srgbClr val="3D8B66"/>
                </a:solidFill>
                <a:latin typeface="Calibri" pitchFamily="34" charset="0"/>
                <a:ea typeface="Calibri" pitchFamily="34" charset="-122"/>
                <a:cs typeface="Calibri" pitchFamily="34" charset="-120"/>
              </a:rPr>
              <a:t>Bước 3 · Hỏi trên Web UI</a:t>
            </a:r>
            <a:endParaRPr lang="en-US" sz="2000" dirty="0"/>
          </a:p>
        </p:txBody>
      </p:sp>
      <p:sp>
        <p:nvSpPr>
          <p:cNvPr id="9" name="Text 7"/>
          <p:cNvSpPr/>
          <p:nvPr/>
        </p:nvSpPr>
        <p:spPr>
          <a:xfrm>
            <a:off x="850392" y="2386584"/>
            <a:ext cx="4800600" cy="332841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Câu hỏi:</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“Phim chung của Christian Bale và Tom Hardy?”</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Hệ thống phải:</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link đúng hai Person;</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chọn intent common_movies;</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trả The Dark Knight Rises;</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giữ Movie chung làm evidence.</a:t>
            </a:r>
            <a:endParaRPr lang="en-US" sz="1400" dirty="0"/>
          </a:p>
        </p:txBody>
      </p:sp>
      <p:sp>
        <p:nvSpPr>
          <p:cNvPr id="10" name="Shape 8"/>
          <p:cNvSpPr/>
          <p:nvPr/>
        </p:nvSpPr>
        <p:spPr>
          <a:xfrm>
            <a:off x="6309360" y="1783080"/>
            <a:ext cx="5257800" cy="4114800"/>
          </a:xfrm>
          <a:prstGeom prst="roundRect">
            <a:avLst>
              <a:gd name="adj" fmla="val 1333"/>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6510528" y="1984248"/>
            <a:ext cx="384048" cy="384048"/>
          </a:xfrm>
          <a:prstGeom prst="ellipse">
            <a:avLst/>
          </a:prstGeom>
          <a:solidFill>
            <a:srgbClr val="D38B36"/>
          </a:solidFill>
          <a:ln w="12700">
            <a:solidFill>
              <a:srgbClr val="D38B36"/>
            </a:solidFill>
            <a:prstDash val="solid"/>
          </a:ln>
        </p:spPr>
      </p:sp>
      <p:sp>
        <p:nvSpPr>
          <p:cNvPr id="12" name="Text 10"/>
          <p:cNvSpPr/>
          <p:nvPr/>
        </p:nvSpPr>
        <p:spPr>
          <a:xfrm>
            <a:off x="651052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3" name="Text 11"/>
          <p:cNvSpPr/>
          <p:nvPr/>
        </p:nvSpPr>
        <p:spPr>
          <a:xfrm>
            <a:off x="7022592" y="1965960"/>
            <a:ext cx="4343400" cy="301752"/>
          </a:xfrm>
          <a:prstGeom prst="rect">
            <a:avLst/>
          </a:prstGeom>
          <a:noFill/>
          <a:ln/>
        </p:spPr>
        <p:txBody>
          <a:bodyPr wrap="square" lIns="0" tIns="0" rIns="0" bIns="0" rtlCol="0" anchor="ctr">
            <a:normAutofit/>
          </a:bodyPr>
          <a:lstStyle/>
          <a:p>
            <a:pPr indent="0" marL="0">
              <a:buNone/>
            </a:pPr>
            <a:r>
              <a:rPr lang="en-US" sz="2000" b="1" dirty="0">
                <a:solidFill>
                  <a:srgbClr val="D38B36"/>
                </a:solidFill>
                <a:latin typeface="Calibri" pitchFamily="34" charset="0"/>
                <a:ea typeface="Calibri" pitchFamily="34" charset="-122"/>
                <a:cs typeface="Calibri" pitchFamily="34" charset="-120"/>
              </a:rPr>
              <a:t>Bước 4 · Kiểm chứng trong Neo4j Browser</a:t>
            </a:r>
            <a:endParaRPr lang="en-US" sz="2000" dirty="0"/>
          </a:p>
        </p:txBody>
      </p:sp>
      <p:sp>
        <p:nvSpPr>
          <p:cNvPr id="14" name="Text 12"/>
          <p:cNvSpPr/>
          <p:nvPr/>
        </p:nvSpPr>
        <p:spPr>
          <a:xfrm>
            <a:off x="6537960" y="2386584"/>
            <a:ext cx="4800600" cy="332841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Chạy pattern:</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Person → ACTED_IN → Movie</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Person → ACTED_IN → cùng Movie</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Chuyển giữa bảng và graph để chỉ ra Movie là láng giềng chung của hai Person.</a:t>
            </a:r>
            <a:endParaRPr lang="en-US" sz="14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TRÌNH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3 · Gợi ý phim và kiểm chứng lời giải thích</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Điểm xếp hạng và lời giải thích phải dựa trên cùng các đặc trưng chung trong graph.</a:t>
            </a:r>
            <a:endParaRPr lang="en-US" sz="1250" dirty="0"/>
          </a:p>
        </p:txBody>
      </p:sp>
      <p:sp>
        <p:nvSpPr>
          <p:cNvPr id="5" name="Shape 3"/>
          <p:cNvSpPr/>
          <p:nvPr/>
        </p:nvSpPr>
        <p:spPr>
          <a:xfrm>
            <a:off x="621792" y="1783080"/>
            <a:ext cx="5257800" cy="4114800"/>
          </a:xfrm>
          <a:prstGeom prst="roundRect">
            <a:avLst>
              <a:gd name="adj" fmla="val 1333"/>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8" name="Text 6"/>
          <p:cNvSpPr/>
          <p:nvPr/>
        </p:nvSpPr>
        <p:spPr>
          <a:xfrm>
            <a:off x="1335024" y="1965960"/>
            <a:ext cx="4343400" cy="301752"/>
          </a:xfrm>
          <a:prstGeom prst="rect">
            <a:avLst/>
          </a:prstGeom>
          <a:noFill/>
          <a:ln/>
        </p:spPr>
        <p:txBody>
          <a:bodyPr wrap="square" lIns="0" tIns="0" rIns="0" bIns="0" rtlCol="0" anchor="ctr">
            <a:normAutofit/>
          </a:bodyPr>
          <a:lstStyle/>
          <a:p>
            <a:pPr indent="0" marL="0">
              <a:buNone/>
            </a:pPr>
            <a:r>
              <a:rPr lang="en-US" sz="2000" b="1" dirty="0">
                <a:solidFill>
                  <a:srgbClr val="337B80"/>
                </a:solidFill>
                <a:latin typeface="Calibri" pitchFamily="34" charset="0"/>
                <a:ea typeface="Calibri" pitchFamily="34" charset="-122"/>
                <a:cs typeface="Calibri" pitchFamily="34" charset="-120"/>
              </a:rPr>
              <a:t>Bước 5 · Gợi ý trên Web UI</a:t>
            </a:r>
            <a:endParaRPr lang="en-US" sz="2000" dirty="0"/>
          </a:p>
        </p:txBody>
      </p:sp>
      <p:sp>
        <p:nvSpPr>
          <p:cNvPr id="9" name="Text 7"/>
          <p:cNvSpPr/>
          <p:nvPr/>
        </p:nvSpPr>
        <p:spPr>
          <a:xfrm>
            <a:off x="850392" y="2386584"/>
            <a:ext cx="4800600" cy="332841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Chọn Inception và yêu cầu Top-5.</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Với kết quả đứng đầu, mở phần giải thích và ghi nhận:</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tổng điểm;</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đạo diễn hoặc diễn viên chung;</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thể loại, từ khóa hoặc hãng phim chung;</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contribution của từng đặc trưng.</a:t>
            </a:r>
            <a:endParaRPr lang="en-US" sz="1400" dirty="0"/>
          </a:p>
        </p:txBody>
      </p:sp>
      <p:sp>
        <p:nvSpPr>
          <p:cNvPr id="10" name="Shape 8"/>
          <p:cNvSpPr/>
          <p:nvPr/>
        </p:nvSpPr>
        <p:spPr>
          <a:xfrm>
            <a:off x="6309360" y="1783080"/>
            <a:ext cx="5257800" cy="4114800"/>
          </a:xfrm>
          <a:prstGeom prst="roundRect">
            <a:avLst>
              <a:gd name="adj" fmla="val 1333"/>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6510528" y="1984248"/>
            <a:ext cx="384048" cy="384048"/>
          </a:xfrm>
          <a:prstGeom prst="ellipse">
            <a:avLst/>
          </a:prstGeom>
          <a:solidFill>
            <a:srgbClr val="725B9B"/>
          </a:solidFill>
          <a:ln w="12700">
            <a:solidFill>
              <a:srgbClr val="725B9B"/>
            </a:solidFill>
            <a:prstDash val="solid"/>
          </a:ln>
        </p:spPr>
      </p:sp>
      <p:sp>
        <p:nvSpPr>
          <p:cNvPr id="12" name="Text 10"/>
          <p:cNvSpPr/>
          <p:nvPr/>
        </p:nvSpPr>
        <p:spPr>
          <a:xfrm>
            <a:off x="651052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3" name="Text 11"/>
          <p:cNvSpPr/>
          <p:nvPr/>
        </p:nvSpPr>
        <p:spPr>
          <a:xfrm>
            <a:off x="7022592" y="1965960"/>
            <a:ext cx="4343400" cy="301752"/>
          </a:xfrm>
          <a:prstGeom prst="rect">
            <a:avLst/>
          </a:prstGeom>
          <a:noFill/>
          <a:ln/>
        </p:spPr>
        <p:txBody>
          <a:bodyPr wrap="square" lIns="0" tIns="0" rIns="0" bIns="0" rtlCol="0" anchor="ctr">
            <a:normAutofit/>
          </a:bodyPr>
          <a:lstStyle/>
          <a:p>
            <a:pPr indent="0" marL="0">
              <a:buNone/>
            </a:pPr>
            <a:r>
              <a:rPr lang="en-US" sz="2000" b="1" dirty="0">
                <a:solidFill>
                  <a:srgbClr val="725B9B"/>
                </a:solidFill>
                <a:latin typeface="Calibri" pitchFamily="34" charset="0"/>
                <a:ea typeface="Calibri" pitchFamily="34" charset="-122"/>
                <a:cs typeface="Calibri" pitchFamily="34" charset="-120"/>
              </a:rPr>
              <a:t>Bước 6 · Kiểm chứng trong Neo4j Browser</a:t>
            </a:r>
            <a:endParaRPr lang="en-US" sz="2000" dirty="0"/>
          </a:p>
        </p:txBody>
      </p:sp>
      <p:sp>
        <p:nvSpPr>
          <p:cNvPr id="14" name="Text 12"/>
          <p:cNvSpPr/>
          <p:nvPr/>
        </p:nvSpPr>
        <p:spPr>
          <a:xfrm>
            <a:off x="6537960" y="2386584"/>
            <a:ext cx="4800600" cy="332841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Dùng đúng phim đứng đầu làm candidate, rồi truy vấn các shared feature giữa candidate và Inception.</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Đối chiếu kết quả Browser với explanation trên UI. Browser kiểm chứng bằng chứng; query IDF của ứng dụng quyết định điểm và thứ hạng.</a:t>
            </a:r>
            <a:endParaRPr lang="en-US" sz="14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GIỚI HẠN VÀ HƯỚNG PHÁT TRIỂN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Giới hạn được xem là một phần của kết quả</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kết luận chỉ có giá trị trong ảnh chụp dữ liệu và protocol đã công bố.</a:t>
            </a:r>
            <a:endParaRPr lang="en-US" sz="1250" dirty="0"/>
          </a:p>
        </p:txBody>
      </p:sp>
      <p:sp>
        <p:nvSpPr>
          <p:cNvPr id="5" name="Shape 3"/>
          <p:cNvSpPr/>
          <p:nvPr/>
        </p:nvSpPr>
        <p:spPr>
          <a:xfrm>
            <a:off x="621792" y="1737360"/>
            <a:ext cx="2011680" cy="822960"/>
          </a:xfrm>
          <a:prstGeom prst="roundRect">
            <a:avLst>
              <a:gd name="adj" fmla="val 4444"/>
            </a:avLst>
          </a:prstGeom>
          <a:solidFill>
            <a:srgbClr val="FBEAEC"/>
          </a:solidFill>
          <a:ln w="12700">
            <a:solidFill>
              <a:srgbClr val="E9C3C6"/>
            </a:solidFill>
            <a:prstDash val="solid"/>
          </a:ln>
        </p:spPr>
      </p:sp>
      <p:sp>
        <p:nvSpPr>
          <p:cNvPr id="6" name="Text 4"/>
          <p:cNvSpPr/>
          <p:nvPr/>
        </p:nvSpPr>
        <p:spPr>
          <a:xfrm>
            <a:off x="841248" y="1975104"/>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QA đóng</a:t>
            </a:r>
            <a:endParaRPr lang="en-US" sz="1500" dirty="0"/>
          </a:p>
        </p:txBody>
      </p:sp>
      <p:sp>
        <p:nvSpPr>
          <p:cNvPr id="7" name="Text 5"/>
          <p:cNvSpPr/>
          <p:nvPr/>
        </p:nvSpPr>
        <p:spPr>
          <a:xfrm>
            <a:off x="2926080" y="1828800"/>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Chín ý định; chưa phải open-domain QA.</a:t>
            </a:r>
            <a:endParaRPr lang="en-US" sz="1220" dirty="0"/>
          </a:p>
        </p:txBody>
      </p:sp>
      <p:sp>
        <p:nvSpPr>
          <p:cNvPr id="8" name="Shape 6"/>
          <p:cNvSpPr/>
          <p:nvPr/>
        </p:nvSpPr>
        <p:spPr>
          <a:xfrm>
            <a:off x="6967728" y="2148840"/>
            <a:ext cx="685800" cy="0"/>
          </a:xfrm>
          <a:prstGeom prst="line">
            <a:avLst/>
          </a:prstGeom>
          <a:noFill/>
          <a:ln w="17780">
            <a:solidFill>
              <a:srgbClr val="697586"/>
            </a:solidFill>
            <a:prstDash val="solid"/>
            <a:tailEnd type="triangle"/>
          </a:ln>
        </p:spPr>
      </p:sp>
      <p:sp>
        <p:nvSpPr>
          <p:cNvPr id="9" name="Text 7"/>
          <p:cNvSpPr/>
          <p:nvPr/>
        </p:nvSpPr>
        <p:spPr>
          <a:xfrm>
            <a:off x="7845552" y="1828800"/>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intent dựa trên câu hỏi thực tế.</a:t>
            </a:r>
            <a:endParaRPr lang="en-US" sz="1220" dirty="0"/>
          </a:p>
        </p:txBody>
      </p:sp>
      <p:sp>
        <p:nvSpPr>
          <p:cNvPr id="10" name="Shape 8"/>
          <p:cNvSpPr/>
          <p:nvPr/>
        </p:nvSpPr>
        <p:spPr>
          <a:xfrm>
            <a:off x="621792" y="2852928"/>
            <a:ext cx="2011680" cy="822960"/>
          </a:xfrm>
          <a:prstGeom prst="roundRect">
            <a:avLst>
              <a:gd name="adj" fmla="val 4444"/>
            </a:avLst>
          </a:prstGeom>
          <a:solidFill>
            <a:srgbClr val="FBEAEC"/>
          </a:solidFill>
          <a:ln w="12700">
            <a:solidFill>
              <a:srgbClr val="E9C3C6"/>
            </a:solidFill>
            <a:prstDash val="solid"/>
          </a:ln>
        </p:spPr>
      </p:sp>
      <p:sp>
        <p:nvSpPr>
          <p:cNvPr id="11" name="Text 9"/>
          <p:cNvSpPr/>
          <p:nvPr/>
        </p:nvSpPr>
        <p:spPr>
          <a:xfrm>
            <a:off x="841248" y="3090672"/>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Silver corpus</a:t>
            </a:r>
            <a:endParaRPr lang="en-US" sz="1500" dirty="0"/>
          </a:p>
        </p:txBody>
      </p:sp>
      <p:sp>
        <p:nvSpPr>
          <p:cNvPr id="12" name="Text 10"/>
          <p:cNvSpPr/>
          <p:nvPr/>
        </p:nvSpPr>
        <p:spPr>
          <a:xfrm>
            <a:off x="2926080" y="2944368"/>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Tất định và có provenance nhưng chưa có người chấm độc lập.</a:t>
            </a:r>
            <a:endParaRPr lang="en-US" sz="1220" dirty="0"/>
          </a:p>
        </p:txBody>
      </p:sp>
      <p:sp>
        <p:nvSpPr>
          <p:cNvPr id="13" name="Shape 11"/>
          <p:cNvSpPr/>
          <p:nvPr/>
        </p:nvSpPr>
        <p:spPr>
          <a:xfrm>
            <a:off x="6967728" y="3264408"/>
            <a:ext cx="685800" cy="0"/>
          </a:xfrm>
          <a:prstGeom prst="line">
            <a:avLst/>
          </a:prstGeom>
          <a:noFill/>
          <a:ln w="17780">
            <a:solidFill>
              <a:srgbClr val="697586"/>
            </a:solidFill>
            <a:prstDash val="solid"/>
            <a:tailEnd type="triangle"/>
          </a:ln>
        </p:spPr>
      </p:sp>
      <p:sp>
        <p:nvSpPr>
          <p:cNvPr id="14" name="Text 12"/>
          <p:cNvSpPr/>
          <p:nvPr/>
        </p:nvSpPr>
        <p:spPr>
          <a:xfrm>
            <a:off x="7845552" y="2944368"/>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Bổ sung đánh giá người dùng và inter-rater review.</a:t>
            </a:r>
            <a:endParaRPr lang="en-US" sz="1220" dirty="0"/>
          </a:p>
        </p:txBody>
      </p:sp>
      <p:sp>
        <p:nvSpPr>
          <p:cNvPr id="15" name="Shape 13"/>
          <p:cNvSpPr/>
          <p:nvPr/>
        </p:nvSpPr>
        <p:spPr>
          <a:xfrm>
            <a:off x="621792" y="3968496"/>
            <a:ext cx="2011680" cy="822960"/>
          </a:xfrm>
          <a:prstGeom prst="roundRect">
            <a:avLst>
              <a:gd name="adj" fmla="val 4444"/>
            </a:avLst>
          </a:prstGeom>
          <a:solidFill>
            <a:srgbClr val="FBEAEC"/>
          </a:solidFill>
          <a:ln w="12700">
            <a:solidFill>
              <a:srgbClr val="E9C3C6"/>
            </a:solidFill>
            <a:prstDash val="solid"/>
          </a:ln>
        </p:spPr>
      </p:sp>
      <p:sp>
        <p:nvSpPr>
          <p:cNvPr id="16" name="Text 14"/>
          <p:cNvSpPr/>
          <p:nvPr/>
        </p:nvSpPr>
        <p:spPr>
          <a:xfrm>
            <a:off x="841248" y="4206240"/>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Quy mô</a:t>
            </a:r>
            <a:endParaRPr lang="en-US" sz="1500" dirty="0"/>
          </a:p>
        </p:txBody>
      </p:sp>
      <p:sp>
        <p:nvSpPr>
          <p:cNvPr id="17" name="Text 15"/>
          <p:cNvSpPr/>
          <p:nvPr/>
        </p:nvSpPr>
        <p:spPr>
          <a:xfrm>
            <a:off x="2926080" y="4059936"/>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Tối đa 4.999 phim; chưa đo concurrent/cold-cache.</a:t>
            </a:r>
            <a:endParaRPr lang="en-US" sz="1220" dirty="0"/>
          </a:p>
        </p:txBody>
      </p:sp>
      <p:sp>
        <p:nvSpPr>
          <p:cNvPr id="18" name="Shape 16"/>
          <p:cNvSpPr/>
          <p:nvPr/>
        </p:nvSpPr>
        <p:spPr>
          <a:xfrm>
            <a:off x="6967728" y="4379976"/>
            <a:ext cx="685800" cy="0"/>
          </a:xfrm>
          <a:prstGeom prst="line">
            <a:avLst/>
          </a:prstGeom>
          <a:noFill/>
          <a:ln w="17780">
            <a:solidFill>
              <a:srgbClr val="697586"/>
            </a:solidFill>
            <a:prstDash val="solid"/>
            <a:tailEnd type="triangle"/>
          </a:ln>
        </p:spPr>
      </p:sp>
      <p:sp>
        <p:nvSpPr>
          <p:cNvPr id="19" name="Text 17"/>
          <p:cNvSpPr/>
          <p:nvPr/>
        </p:nvSpPr>
        <p:spPr>
          <a:xfrm>
            <a:off x="7845552" y="4059936"/>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Thử nghiệm graph lớn hơn và tải đồng thời.</a:t>
            </a:r>
            <a:endParaRPr lang="en-US" sz="1220" dirty="0"/>
          </a:p>
        </p:txBody>
      </p:sp>
      <p:sp>
        <p:nvSpPr>
          <p:cNvPr id="20" name="Shape 18"/>
          <p:cNvSpPr/>
          <p:nvPr/>
        </p:nvSpPr>
        <p:spPr>
          <a:xfrm>
            <a:off x="621792" y="5084064"/>
            <a:ext cx="2011680" cy="822960"/>
          </a:xfrm>
          <a:prstGeom prst="roundRect">
            <a:avLst>
              <a:gd name="adj" fmla="val 4444"/>
            </a:avLst>
          </a:prstGeom>
          <a:solidFill>
            <a:srgbClr val="FBEAEC"/>
          </a:solidFill>
          <a:ln w="12700">
            <a:solidFill>
              <a:srgbClr val="E9C3C6"/>
            </a:solidFill>
            <a:prstDash val="solid"/>
          </a:ln>
        </p:spPr>
      </p:sp>
      <p:sp>
        <p:nvSpPr>
          <p:cNvPr id="21" name="Text 19"/>
          <p:cNvSpPr/>
          <p:nvPr/>
        </p:nvSpPr>
        <p:spPr>
          <a:xfrm>
            <a:off x="841248" y="5321808"/>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Độ phủ</a:t>
            </a:r>
            <a:endParaRPr lang="en-US" sz="1500" dirty="0"/>
          </a:p>
        </p:txBody>
      </p:sp>
      <p:sp>
        <p:nvSpPr>
          <p:cNvPr id="22" name="Text 20"/>
          <p:cNvSpPr/>
          <p:nvPr/>
        </p:nvSpPr>
        <p:spPr>
          <a:xfrm>
            <a:off x="2926080" y="5175504"/>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Top-20 cast; IMDb mới enrich Movie.</a:t>
            </a:r>
            <a:endParaRPr lang="en-US" sz="1220" dirty="0"/>
          </a:p>
        </p:txBody>
      </p:sp>
      <p:sp>
        <p:nvSpPr>
          <p:cNvPr id="23" name="Shape 21"/>
          <p:cNvSpPr/>
          <p:nvPr/>
        </p:nvSpPr>
        <p:spPr>
          <a:xfrm>
            <a:off x="6967728" y="5495544"/>
            <a:ext cx="685800" cy="0"/>
          </a:xfrm>
          <a:prstGeom prst="line">
            <a:avLst/>
          </a:prstGeom>
          <a:noFill/>
          <a:ln w="17780">
            <a:solidFill>
              <a:srgbClr val="697586"/>
            </a:solidFill>
            <a:prstDash val="solid"/>
            <a:tailEnd type="triangle"/>
          </a:ln>
        </p:spPr>
      </p:sp>
      <p:sp>
        <p:nvSpPr>
          <p:cNvPr id="24" name="Text 22"/>
          <p:cNvSpPr/>
          <p:nvPr/>
        </p:nvSpPr>
        <p:spPr>
          <a:xfrm>
            <a:off x="7845552" y="5175504"/>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credits và liên kết Person/Wikidata.</a:t>
            </a:r>
            <a:endParaRPr lang="en-US" sz="1220" dirty="0"/>
          </a:p>
        </p:txBody>
      </p:sp>
      <p:sp>
        <p:nvSpPr>
          <p:cNvPr id="25" name="Text 23"/>
          <p:cNvSpPr/>
          <p:nvPr/>
        </p:nvSpPr>
        <p:spPr>
          <a:xfrm>
            <a:off x="2926080" y="6144768"/>
            <a:ext cx="2286000" cy="201168"/>
          </a:xfrm>
          <a:prstGeom prst="rect">
            <a:avLst/>
          </a:prstGeom>
          <a:noFill/>
          <a:ln/>
        </p:spPr>
        <p:txBody>
          <a:bodyPr wrap="square" lIns="0" tIns="0" rIns="0" bIns="0" rtlCol="0" anchor="ctr"/>
          <a:lstStyle/>
          <a:p>
            <a:pPr indent="0" marL="0">
              <a:buNone/>
            </a:pPr>
            <a:r>
              <a:rPr lang="en-US" sz="850" b="1" spc="120" kern="0" dirty="0">
                <a:solidFill>
                  <a:srgbClr val="B94D52"/>
                </a:solidFill>
                <a:latin typeface="Arial" pitchFamily="34" charset="0"/>
                <a:ea typeface="Arial" pitchFamily="34" charset="-122"/>
                <a:cs typeface="Arial" pitchFamily="34" charset="-120"/>
              </a:rPr>
              <a:t>GIỚI HẠN HIỆN TẠI</a:t>
            </a:r>
            <a:endParaRPr lang="en-US" sz="850" dirty="0"/>
          </a:p>
        </p:txBody>
      </p:sp>
      <p:sp>
        <p:nvSpPr>
          <p:cNvPr id="26" name="Text 24"/>
          <p:cNvSpPr/>
          <p:nvPr/>
        </p:nvSpPr>
        <p:spPr>
          <a:xfrm>
            <a:off x="7845552" y="6144768"/>
            <a:ext cx="2286000" cy="201168"/>
          </a:xfrm>
          <a:prstGeom prst="rect">
            <a:avLst/>
          </a:prstGeom>
          <a:noFill/>
          <a:ln/>
        </p:spPr>
        <p:txBody>
          <a:bodyPr wrap="square" lIns="0" tIns="0" rIns="0" bIns="0" rtlCol="0" anchor="ctr"/>
          <a:lstStyle/>
          <a:p>
            <a:pPr indent="0" marL="0">
              <a:buNone/>
            </a:pPr>
            <a:r>
              <a:rPr lang="en-US" sz="850" b="1" spc="120" kern="0" dirty="0">
                <a:solidFill>
                  <a:srgbClr val="3D8B66"/>
                </a:solidFill>
                <a:latin typeface="Arial" pitchFamily="34" charset="0"/>
                <a:ea typeface="Arial" pitchFamily="34" charset="-122"/>
                <a:cs typeface="Arial" pitchFamily="34" charset="-120"/>
              </a:rPr>
              <a:t>HƯỚNG PHÁT TRIỂN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85800" y="621792"/>
            <a:ext cx="2286000" cy="256032"/>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KẾT LUẬN</a:t>
            </a:r>
            <a:endParaRPr lang="en-US" sz="1000" dirty="0"/>
          </a:p>
        </p:txBody>
      </p:sp>
      <p:sp>
        <p:nvSpPr>
          <p:cNvPr id="5" name="Text 3"/>
          <p:cNvSpPr/>
          <p:nvPr/>
        </p:nvSpPr>
        <p:spPr>
          <a:xfrm>
            <a:off x="685800" y="1078992"/>
            <a:ext cx="8412480" cy="1143000"/>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Calibri" pitchFamily="34" charset="0"/>
                <a:ea typeface="Calibri" pitchFamily="34" charset="-122"/>
                <a:cs typeface="Calibri" pitchFamily="34" charset="-120"/>
              </a:rPr>
              <a:t>Đồ thị tri thức tạo giá trị khi</a:t>
            </a:r>
            <a:endParaRPr lang="en-US" sz="3100" dirty="0"/>
          </a:p>
          <a:p>
            <a:pPr indent="0" marL="0">
              <a:buNone/>
            </a:pPr>
            <a:r>
              <a:rPr lang="en-US" sz="3100" b="1" dirty="0">
                <a:solidFill>
                  <a:srgbClr val="FFFFFF"/>
                </a:solidFill>
                <a:latin typeface="Calibri" pitchFamily="34" charset="0"/>
                <a:ea typeface="Calibri" pitchFamily="34" charset="-122"/>
                <a:cs typeface="Calibri" pitchFamily="34" charset="-120"/>
              </a:rPr>
              <a:t>mỗi quan hệ đều có thể được kiểm chứng</a:t>
            </a:r>
            <a:endParaRPr lang="en-US" sz="3100" dirty="0"/>
          </a:p>
        </p:txBody>
      </p:sp>
      <p:sp>
        <p:nvSpPr>
          <p:cNvPr id="6" name="Text 4"/>
          <p:cNvSpPr/>
          <p:nvPr/>
        </p:nvSpPr>
        <p:spPr>
          <a:xfrm>
            <a:off x="713232"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01</a:t>
            </a:r>
            <a:endParaRPr lang="en-US" sz="1200" dirty="0"/>
          </a:p>
        </p:txBody>
      </p:sp>
      <p:sp>
        <p:nvSpPr>
          <p:cNvPr id="7" name="Text 5"/>
          <p:cNvSpPr/>
          <p:nvPr/>
        </p:nvSpPr>
        <p:spPr>
          <a:xfrm>
            <a:off x="713232"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Tích hợp nhất quán</a:t>
            </a:r>
            <a:endParaRPr lang="en-US" sz="2000" dirty="0"/>
          </a:p>
        </p:txBody>
      </p:sp>
      <p:sp>
        <p:nvSpPr>
          <p:cNvPr id="8" name="Text 6"/>
          <p:cNvSpPr/>
          <p:nvPr/>
        </p:nvSpPr>
        <p:spPr>
          <a:xfrm>
            <a:off x="713232"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TMDB và IMDb được nối bằng ID ổn định, giữ nguồn gốc và có thể tái lập.</a:t>
            </a:r>
            <a:endParaRPr lang="en-US" sz="1350" dirty="0"/>
          </a:p>
        </p:txBody>
      </p:sp>
      <p:sp>
        <p:nvSpPr>
          <p:cNvPr id="9" name="Text 7"/>
          <p:cNvSpPr/>
          <p:nvPr/>
        </p:nvSpPr>
        <p:spPr>
          <a:xfrm>
            <a:off x="4425696"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02</a:t>
            </a:r>
            <a:endParaRPr lang="en-US" sz="1200" dirty="0"/>
          </a:p>
        </p:txBody>
      </p:sp>
      <p:sp>
        <p:nvSpPr>
          <p:cNvPr id="10" name="Text 8"/>
          <p:cNvSpPr/>
          <p:nvPr/>
        </p:nvSpPr>
        <p:spPr>
          <a:xfrm>
            <a:off x="4425696"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Khai thác quan hệ</a:t>
            </a:r>
            <a:endParaRPr lang="en-US" sz="2000" dirty="0"/>
          </a:p>
        </p:txBody>
      </p:sp>
      <p:sp>
        <p:nvSpPr>
          <p:cNvPr id="11" name="Text 9"/>
          <p:cNvSpPr/>
          <p:nvPr/>
        </p:nvSpPr>
        <p:spPr>
          <a:xfrm>
            <a:off x="4425696"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Cypher duyệt nhiều bước và tạo sự kiện suy ra kèm căn cứ.</a:t>
            </a:r>
            <a:endParaRPr lang="en-US" sz="1350" dirty="0"/>
          </a:p>
        </p:txBody>
      </p:sp>
      <p:sp>
        <p:nvSpPr>
          <p:cNvPr id="12" name="Text 10"/>
          <p:cNvSpPr/>
          <p:nvPr/>
        </p:nvSpPr>
        <p:spPr>
          <a:xfrm>
            <a:off x="8138160"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03</a:t>
            </a:r>
            <a:endParaRPr lang="en-US" sz="1200" dirty="0"/>
          </a:p>
        </p:txBody>
      </p:sp>
      <p:sp>
        <p:nvSpPr>
          <p:cNvPr id="13" name="Text 11"/>
          <p:cNvSpPr/>
          <p:nvPr/>
        </p:nvSpPr>
        <p:spPr>
          <a:xfrm>
            <a:off x="8138160"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Kiểm chứng kết quả</a:t>
            </a:r>
            <a:endParaRPr lang="en-US" sz="2000" dirty="0"/>
          </a:p>
        </p:txBody>
      </p:sp>
      <p:sp>
        <p:nvSpPr>
          <p:cNvPr id="14" name="Text 12"/>
          <p:cNvSpPr/>
          <p:nvPr/>
        </p:nvSpPr>
        <p:spPr>
          <a:xfrm>
            <a:off x="8138160"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Hỏi–đáp và gợi ý trả cả thực thể, đường đi và đặc trưng đóng góp.</a:t>
            </a:r>
            <a:endParaRPr lang="en-US" sz="1350" dirty="0"/>
          </a:p>
        </p:txBody>
      </p:sp>
      <p:sp>
        <p:nvSpPr>
          <p:cNvPr id="15" name="Text 13"/>
          <p:cNvSpPr/>
          <p:nvPr/>
        </p:nvSpPr>
        <p:spPr>
          <a:xfrm>
            <a:off x="713232" y="5943600"/>
            <a:ext cx="7772400" cy="365760"/>
          </a:xfrm>
          <a:prstGeom prst="rect">
            <a:avLst/>
          </a:prstGeom>
          <a:noFill/>
          <a:ln/>
        </p:spPr>
        <p:txBody>
          <a:bodyPr wrap="square" lIns="0" tIns="0" rIns="0" bIns="0" rtlCol="0" anchor="ctr"/>
          <a:lstStyle/>
          <a:p>
            <a:pPr indent="0" marL="0">
              <a:buNone/>
            </a:pPr>
            <a:r>
              <a:rPr lang="en-US" sz="1600" b="1" dirty="0">
                <a:solidFill>
                  <a:srgbClr val="8FD0CC"/>
                </a:solidFill>
                <a:latin typeface="Calibri" pitchFamily="34" charset="0"/>
                <a:ea typeface="Calibri" pitchFamily="34" charset="-122"/>
                <a:cs typeface="Calibri" pitchFamily="34" charset="-120"/>
              </a:rPr>
              <a:t>Xin cảm ơn thầy. Em xin lắng nghe câu hỏi và phản biện.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Đại học Bách khoa Hà Nội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Graph: Nền tảng lý thuyết và nghiên cứu tình huống phim</dc:title>
  <dc:subject>Cơ sở lý thuyết Knowledge Graph và nghiên cứu tình huống phim</dc:subject>
  <dc:creator>Hoàng Kim Khánh</dc:creator>
  <cp:lastModifiedBy>Hoàng Kim Khánh</cp:lastModifiedBy>
  <cp:revision>1</cp:revision>
  <dcterms:created xsi:type="dcterms:W3CDTF">2026-07-25T10:24:51Z</dcterms:created>
  <dcterms:modified xsi:type="dcterms:W3CDTF">2026-07-25T10:24:51Z</dcterms:modified>
</cp:coreProperties>
</file>