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Giá trị</c:v>
                </c:pt>
              </c:strCache>
            </c:strRef>
          </c:tx>
          <c:spPr>
            <a:solidFill>
              <a:srgbClr val="337B8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QA</c:v>
                  </c:pt>
                  <c:pt idx="1">
                    <c:v>ER F1</c:v>
                  </c:pt>
                  <c:pt idx="2">
                    <c:v>Co-star</c:v>
                  </c:pt>
                  <c:pt idx="3">
                    <c:v>P@10</c:v>
                  </c:pt>
                  <c:pt idx="4">
                    <c:v>NDCG@10</c:v>
                  </c:pt>
                </c:lvl>
              </c:multiLvlStrCache>
            </c:multiLvlStrRef>
          </c:cat>
          <c:val>
            <c:numRef>
              <c:f>Sheet1!$B$2:$B$6</c:f>
              <c:numCache>
                <c:formatCode>General</c:formatCode>
                <c:ptCount val="5"/>
                <c:pt idx="0">
                  <c:v>1</c:v>
                </c:pt>
                <c:pt idx="1">
                  <c:v>0.966</c:v>
                </c:pt>
                <c:pt idx="2">
                  <c:v>1</c:v>
                </c:pt>
                <c:pt idx="3">
                  <c:v>0.635</c:v>
                </c:pt>
                <c:pt idx="4">
                  <c:v>0.672</c:v>
                </c:pt>
              </c:numCache>
            </c:numRef>
          </c:val>
        </c:ser>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D7DE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0.2"/>
      </c:valAx>
      <c:spPr>
        <a:noFill/>
        <a:ln w="12700" cap="flat">
          <a:solidFill>
            <a:srgbClr val="D7DEE8"/>
          </a:solid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12B46"/>
                </a:solidFill>
                <a:latin typeface="Calibri"/>
              </a:defRPr>
            </a:pPr>
            <a:r>
              <a:rPr sz="1400" b="0" i="0" u="none" strike="noStrike">
                <a:solidFill>
                  <a:srgbClr val="112B46"/>
                </a:solidFill>
                <a:latin typeface="Calibri"/>
              </a:rPr>
              <a:t>Median latency · common_movies (ms)</a:t>
            </a:r>
          </a:p>
        </c:rich>
      </c:tx>
      <c:layout/>
      <c:overlay val="0"/>
    </c:title>
    <c:autoTitleDeleted val="0"/>
    <c:plotArea>
      <c:layout/>
      <c:lineChart>
        <c:varyColors val="0"/>
        <c:ser>
          <c:idx val="0"/>
          <c:order val="0"/>
          <c:tx>
            <c:strRef>
              <c:f>Sheet1!$B$1</c:f>
              <c:strCache>
                <c:ptCount val="1"/>
                <c:pt idx="0">
                  <c:v>Neo4j · common_movies</c:v>
                </c:pt>
              </c:strCache>
            </c:strRef>
          </c:tx>
          <c:spPr>
            <a:solidFill>
              <a:srgbClr val="337B80"/>
            </a:solidFill>
            <a:ln w="25400" cap="flat">
              <a:solidFill>
                <a:srgbClr val="337B8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337B80"/>
              </a:solidFill>
              <a:ln w="9525" cap="flat">
                <a:solidFill>
                  <a:srgbClr val="337B80"/>
                </a:solidFill>
                <a:prstDash val="solid"/>
                <a:round/>
              </a:ln>
              <a:effectLst/>
            </c:spPr>
          </c:marker>
          <c:cat>
            <c:multiLvlStrRef>
              <c:f>Sheet1!$A$2:$A$5</c:f>
              <c:multiLvlStrCache>
                <c:ptCount val="4"/>
                <c:lvl>
                  <c:pt idx="0">
                    <c:v>500</c:v>
                  </c:pt>
                  <c:pt idx="1">
                    <c:v>1.000</c:v>
                  </c:pt>
                  <c:pt idx="2">
                    <c:v>2.000</c:v>
                  </c:pt>
                  <c:pt idx="3">
                    <c:v>4.999</c:v>
                  </c:pt>
                </c:lvl>
              </c:multiLvlStrCache>
            </c:multiLvlStrRef>
          </c:cat>
          <c:val>
            <c:numRef>
              <c:f>Sheet1!$B$2:$B$5</c:f>
              <c:numCache>
                <c:formatCode>General</c:formatCode>
                <c:ptCount val="4"/>
                <c:pt idx="0">
                  <c:v>15.16</c:v>
                </c:pt>
                <c:pt idx="1">
                  <c:v>16.9</c:v>
                </c:pt>
                <c:pt idx="2">
                  <c:v>25.67</c:v>
                </c:pt>
                <c:pt idx="3">
                  <c:v>44.31</c:v>
                </c:pt>
              </c:numCache>
            </c:numRef>
          </c:val>
          <c:smooth val="0"/>
        </c:ser>
        <c:ser>
          <c:idx val="1"/>
          <c:order val="1"/>
          <c:tx>
            <c:strRef>
              <c:f>Sheet1!$C$1</c:f>
              <c:strCache>
                <c:ptCount val="1"/>
                <c:pt idx="0">
                  <c:v>SQLite · common_movies</c:v>
                </c:pt>
              </c:strCache>
            </c:strRef>
          </c:tx>
          <c:spPr>
            <a:solidFill>
              <a:srgbClr val="D38B36"/>
            </a:solidFill>
            <a:ln w="25400" cap="flat">
              <a:solidFill>
                <a:srgbClr val="D38B3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38B36"/>
              </a:solidFill>
              <a:ln w="9525" cap="flat">
                <a:solidFill>
                  <a:srgbClr val="D38B36"/>
                </a:solidFill>
                <a:prstDash val="solid"/>
                <a:round/>
              </a:ln>
              <a:effectLst/>
            </c:spPr>
          </c:marker>
          <c:cat>
            <c:multiLvlStrRef>
              <c:f>Sheet1!$A$2:$A$5</c:f>
              <c:multiLvlStrCache>
                <c:ptCount val="4"/>
                <c:lvl>
                  <c:pt idx="0">
                    <c:v>500</c:v>
                  </c:pt>
                  <c:pt idx="1">
                    <c:v>1.000</c:v>
                  </c:pt>
                  <c:pt idx="2">
                    <c:v>2.000</c:v>
                  </c:pt>
                  <c:pt idx="3">
                    <c:v>4.999</c:v>
                  </c:pt>
                </c:lvl>
              </c:multiLvlStrCache>
            </c:multiLvlStrRef>
          </c:cat>
          <c:val>
            <c:numRef>
              <c:f>Sheet1!$C$2:$C$5</c:f>
              <c:numCache>
                <c:formatCode>General</c:formatCode>
                <c:ptCount val="4"/>
                <c:pt idx="0">
                  <c:v>2.77</c:v>
                </c:pt>
                <c:pt idx="1">
                  <c:v>7.31</c:v>
                </c:pt>
                <c:pt idx="2">
                  <c:v>14.19</c:v>
                </c:pt>
                <c:pt idx="3">
                  <c:v>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D7DE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12B46"/>
                </a:solidFill>
                <a:latin typeface="Calibri"/>
              </a:defRPr>
            </a:pPr>
            <a:r>
              <a:rPr sz="1400" b="0" i="0" u="none" strike="noStrike">
                <a:solidFill>
                  <a:srgbClr val="112B46"/>
                </a:solidFill>
                <a:latin typeface="Calibri"/>
              </a:rPr>
              <a:t>Lịch sử thiết kế ranker · 20 case</a:t>
            </a:r>
          </a:p>
        </c:rich>
      </c:tx>
      <c:layout/>
      <c:overlay val="0"/>
    </c:title>
    <c:autoTitleDeleted val="0"/>
    <c:plotArea>
      <c:layout/>
      <c:barChart>
        <c:barDir val="col"/>
        <c:grouping val="clustered"/>
        <c:varyColors val="0"/>
        <c:ser>
          <c:idx val="0"/>
          <c:order val="0"/>
          <c:tx>
            <c:strRef>
              <c:f>Sheet1!$B$1</c:f>
              <c:strCache>
                <c:ptCount val="1"/>
                <c:pt idx="0">
                  <c:v>P@10</c:v>
                </c:pt>
              </c:strCache>
            </c:strRef>
          </c:tx>
          <c:spPr>
            <a:solidFill>
              <a:srgbClr val="337B8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Overlap</c:v>
                  </c:pt>
                  <c:pt idx="1">
                    <c:v>Weighted Jaccard</c:v>
                  </c:pt>
                  <c:pt idx="2">
                    <c:v>Hybrid</c:v>
                  </c:pt>
                  <c:pt idx="3">
                    <c:v>IDF production</c:v>
                  </c:pt>
                </c:lvl>
              </c:multiLvlStrCache>
            </c:multiLvlStrRef>
          </c:cat>
          <c:val>
            <c:numRef>
              <c:f>Sheet1!$B$2:$B$5</c:f>
              <c:numCache>
                <c:formatCode>General</c:formatCode>
                <c:ptCount val="4"/>
                <c:pt idx="0">
                  <c:v>0.67</c:v>
                </c:pt>
                <c:pt idx="1">
                  <c:v>0.64</c:v>
                </c:pt>
                <c:pt idx="2">
                  <c:v>0.59</c:v>
                </c:pt>
                <c:pt idx="3">
                  <c:v>0.635</c:v>
                </c:pt>
              </c:numCache>
            </c:numRef>
          </c:val>
        </c:ser>
        <c:ser>
          <c:idx val="1"/>
          <c:order val="1"/>
          <c:tx>
            <c:strRef>
              <c:f>Sheet1!$C$1</c:f>
              <c:strCache>
                <c:ptCount val="1"/>
                <c:pt idx="0">
                  <c:v>NDCG@10</c:v>
                </c:pt>
              </c:strCache>
            </c:strRef>
          </c:tx>
          <c:spPr>
            <a:solidFill>
              <a:srgbClr val="725B9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Overlap</c:v>
                  </c:pt>
                  <c:pt idx="1">
                    <c:v>Weighted Jaccard</c:v>
                  </c:pt>
                  <c:pt idx="2">
                    <c:v>Hybrid</c:v>
                  </c:pt>
                  <c:pt idx="3">
                    <c:v>IDF production</c:v>
                  </c:pt>
                </c:lvl>
              </c:multiLvlStrCache>
            </c:multiLvlStrRef>
          </c:cat>
          <c:val>
            <c:numRef>
              <c:f>Sheet1!$C$2:$C$5</c:f>
              <c:numCache>
                <c:formatCode>General</c:formatCode>
                <c:ptCount val="4"/>
                <c:pt idx="0">
                  <c:v>0.723</c:v>
                </c:pt>
                <c:pt idx="1">
                  <c:v>0.699</c:v>
                </c:pt>
                <c:pt idx="2">
                  <c:v>0.657</c:v>
                </c:pt>
                <c:pt idx="3">
                  <c:v>0.672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
          <c:min val="0"/>
        </c:scaling>
        <c:delete val="0"/>
        <c:axPos val="l"/>
        <c:majorGridlines>
          <c:spPr>
            <a:ln w="12700" cap="flat">
              <a:solidFill>
                <a:srgbClr val="D7DE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0.2"/>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thầy, phần đầu em trình bày nền tảng của Knowledge Graph theo mô hình Property Graph: thực thể, quan hệ, schema, suy diễn và Cypher. Phần sau em dùng Movie Knowledge Graph như một nghiên cứu tình huống để cho thấy các khái niệm đó được hiện thực hóa, kiểm thử và đánh giá như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 phân biệt bốn mức. Dữ liệu là các ký hiệu rời rạc. Thông tin thêm ngữ cảnh. Tri thức nối các thực thể bằng một quan hệ có nghĩa. Khi có schema và quy tắc, hệ thống còn có thể suy ra sự kiện mới. Knowledge Graph chủ yếu hoạt động ở hai tầng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có một định nghĩa duy nhất được mọi tài liệu dùng giống hệt nhau. Trong phạm vi này, Knowledge Graph là mô hình đồ thị của các thực thể có định danh, các quan hệ có ngữ nghĩa và schema đủ để máy diễn giải. Mệnh đề cơ bản có thể đọc theo subject–predicate–object.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Schema mô tả label, loại quan hệ, thuộc tính và constraint chung. Instance chứa các node, edge và fact cụ thể, ví dụ Nolan DIRECTED Inception. Knowledge Graph kết hợp mô hình và dữ liệu thực tế để truy vấn.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chỉ minh họa cấu trúc chung của Property Graph: node có label và property, relationship có loại, hướng và cũng có property. Ví dụ ACTED_IN cho thấy character và cast_order mô tả chính lần một Person tham gia một Movie, nên chúng thuộc cạnh. Schema Movie Knowledge Graph đầy đủ sẽ được trình bày riêng ở slide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Cypher phục vụ cả truy vấn và materialization. Query catalog dùng pattern có parameter. Luật CO_STARRED_WITH được chạy sau import và lưu evidence. Đây là cơ chế suy diễn duy nhất của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Neo4j là kho graph duy nhất vì thuận tiện cho traversal, relationship có property và ứng dụng. SQLite chỉ là mốc so sánh được kiểm soát. Em không kết luận đồ thị luôn nhanh hơn quan hệ; giá trị chính là mô hình và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Luồng chính đi từ TMDB và IMDb qua cache bất biến, xử lý và chuẩn hóa sang Neo4j. FastAPI cung cấp QA và recommendation. Manifest, checksum và các phép kiểm tra bao quanh toàn bộ quy trình.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giữ quy mô lưu trữ hợp lý, hệ thống chỉ tải tệp title.ratings.tsv.gz và đọc streaming. Phép nối là exact ID giữa imdb_id của TMDB và tconst của IMDb. Trong 4.558 phim có IMDb ID, 4.351 phim ghép được rating; hai thang rating được giữ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Mô hình có năm loại nút và năm quan hệ gốc. Person chỉ dùng một label vì cùng một người có thể có nhiều vai trò. Stable source ID là khóa; ACTED_IN giữ metadata trên cạnh. Constraint và index được tạo trước khi nạp.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gồm collect, cache, clean, exact-ID enrich, normalize, load, reason và validate. Raw cache là bất biến; manifest ghi checksum và số lượng. Import dùng batch và MERGE nên có thể chạy lặp. Runtime chỉ import lại khi checksum processed hoặc số Movie thay đổi.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Ảnh chụp cuối có 76.612 nút và 846.309 quan hệ. Không có orphan Movie, stable ID trùng, thuộc tính bắt buộc bị thiếu hay cạnh sai kiểu. Một Movie không có quan hệ đã bị loại ở bước kiểm tra trước khi nạp.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Phép nối TMDB–IMDb dùng exact imdb_id với confidence 1.0. Entity linker ưu tiên exact và full-text candidate trước fuzzy reranking. Trên 100 cặp silver, precision 1.0, recall 0.933 và F1 0.966. Năm lỗi là abstention bảo thủ, không có false positive.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có danh mục truy vấn tham số hóa gồm lookup, aggregation, multi-hop, shortest path và similarity. Ví dụ này đi từ director qua movie sang genre. Giá trị genre và limit là tham số; người dùng không thể thay đổi cấu trúc Cypher.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hai cạnh ACTED_IN cùng đi vào một Movie, hệ thống vật chất hóa CO_STARRED_WITH. Cạnh suy ra lưu số phim chung và danh sách Movie hỗ trợ, nên có thể lần ngược. Đây là cơ chế suy diễn duy nhất của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Chatbot không thay Neo4j và không sinh Cypher tự do. Parser chỉ nhận diện một trong chín ý định và trích slot. Entity linker chuẩn hóa thực thể; catalog chọn mẫu Cypher cố định; Neo4j thực hiện traversal. Response trả cả intent, confidence, evidence và latency.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Ranker dùng IDF-weighted graph similarity. Đặc trưng chung hiếm đóng góp nhiều hơn đặc trưng phổ biến. Trọng số ưu tiên director và actor. Điểm và explanation đều được tính từ traversal trong Neo4j, không tải toàn graph về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tuyên bố có một tập đánh giá riêng. Entity resolution và recommendation dùng silver corpus có provenance. QA là smoke test 20 câu. Benchmark chạy cùng snapshot, máy, warm-up và 100 iterations. Vì vậy em không suy rộng kết quả thành độ chính xác sản xuất hoặc scalability tổng quát.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 smoke đạt 20/20; entity resolution F1 0.966; co-star precision 1.0; recommendation đạt P@10 0.635 và NDCG@10 0.672. Các metric silver phản ánh protocol đã công bố, chưa thay thế đánh giá người dùng độc lập.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SQLite nhanh hơn trên tất cả query và quy mô đã đo. Điều đó cho thấy không nên bán đồ thị bằng tốc độ tuyệt đối; lợi ích là biểu diễn và bằng chứng traversal. Với recommendation, các phương pháp cũ chỉ là lịch sử thiết kế; runtime hiện dùng IDF-weighted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Đầu tiên em dán câu hỏi vào Web UI. Sau khi có kết quả, em chuyển sang Neo4j Browser và dán Cypher bên phải. Hai bên đọc cùng graph nên danh sách diễn viên phải thống nhất; khác biệt chỉ nằm ở lớp hiểu câu hỏi và trình bày.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thứ hai chứng minh multi-hop. Web UI nhận diện hai thực thể và chọn query catalog. Browser cho thấy trực tiếp shared-neighbor pattern Person–Movie–Person và trả cùng phim chung.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chọn Inception trên Web UI, chạy top 5 và ghi lại phim đứng đầu. Sau đó em thay Interstellar bằng đúng tên đó trong lệnh param rồi chạy query. Shared features phải khớp phần explanation. Query rút gọn chỉ kiểm chứng evidence; thứ hạng và contribution IDF được tính bởi query đầy đủ của ứng dụng.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Hạn chế chính là QA chỉ có chín ý định, corpus đánh giá chủ yếu là silver, quy mô tối đa 4.999 phim và top-20 cast. Hướng tiếp theo là thu thập câu hỏi thật, đánh giá người dùng, benchmark tải đồng thời và mở rộng liên kết sang Person/Wikidata.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lại, đề tài đã xây dựng được một quy trình tích hợp đa nguồn có stable identity và provenance; Neo4j hỗ trợ traversal và suy diễn bằng Cypher; hai ứng dụng trả kết quả kèm bằng chứng. Em xin cảm ơn thầy và xin lắng nghe phản biện.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B"/>
          </a:solidFill>
          <a:ln w="12700">
            <a:solidFill>
              <a:srgbClr val="F6F8FB">
                <a:alpha val="0"/>
              </a:srgbClr>
            </a:solidFill>
            <a:prstDash val="solid"/>
          </a:ln>
        </p:spPr>
      </p:sp>
      <p:sp>
        <p:nvSpPr>
          <p:cNvPr id="3" name="Text 1"/>
          <p:cNvSpPr/>
          <p:nvPr/>
        </p:nvSpPr>
        <p:spPr>
          <a:xfrm>
            <a:off x="530352" y="164592"/>
            <a:ext cx="3931920" cy="201168"/>
          </a:xfrm>
          <a:prstGeom prst="rect">
            <a:avLst/>
          </a:prstGeom>
          <a:noFill/>
          <a:ln/>
        </p:spPr>
        <p:txBody>
          <a:bodyPr wrap="square" lIns="0" tIns="0" rIns="0" bIns="0" rtlCol="0" anchor="ctr"/>
          <a:lstStyle/>
          <a:p>
            <a:pPr indent="0" marL="0">
              <a:buNone/>
            </a:pPr>
            <a:r>
              <a:rPr lang="en-US" sz="900" b="1" spc="150" kern="0" dirty="0">
                <a:solidFill>
                  <a:srgbClr val="337B80"/>
                </a:solidFill>
                <a:latin typeface="Arial" pitchFamily="34" charset="0"/>
                <a:ea typeface="Arial" pitchFamily="34" charset="-122"/>
                <a:cs typeface="Arial" pitchFamily="34" charset="-120"/>
              </a:rPr>
              <a:t>KNOWLEDGE GRAPH</a:t>
            </a:r>
            <a:endParaRPr lang="en-US" sz="900" dirty="0"/>
          </a:p>
        </p:txBody>
      </p:sp>
      <p:sp>
        <p:nvSpPr>
          <p:cNvPr id="4" name="Text 2"/>
          <p:cNvSpPr/>
          <p:nvPr/>
        </p:nvSpPr>
        <p:spPr>
          <a:xfrm>
            <a:off x="8001000" y="6510528"/>
            <a:ext cx="3520440" cy="164592"/>
          </a:xfrm>
          <a:prstGeom prst="rect">
            <a:avLst/>
          </a:prstGeom>
          <a:noFill/>
          <a:ln/>
        </p:spPr>
        <p:txBody>
          <a:bodyPr wrap="square" lIns="0" tIns="0" rIns="0" bIns="0" rtlCol="0" anchor="ctr"/>
          <a:lstStyle/>
          <a:p>
            <a:pPr algn="r" indent="0" marL="0">
              <a:buNone/>
            </a:pPr>
            <a:r>
              <a:rPr lang="en-US" sz="800" dirty="0">
                <a:solidFill>
                  <a:srgbClr val="697586"/>
                </a:solidFill>
                <a:latin typeface="Arial" pitchFamily="34" charset="0"/>
                <a:ea typeface="Arial" pitchFamily="34" charset="-122"/>
                <a:cs typeface="Arial" pitchFamily="34" charset="-120"/>
              </a:rPr>
              <a:t>Đại học Bách khoa Hà Nội · Khoa Toán – Tin</a:t>
            </a:r>
            <a:endParaRPr lang="en-US" sz="8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2B46"/>
        </a:solidFill>
      </p:bgPr>
    </p:bg>
    <p:spTree>
      <p:nvGrpSpPr>
        <p:cNvPr id="1" name=""/>
        <p:cNvGrpSpPr/>
        <p:nvPr/>
      </p:nvGrpSpPr>
      <p:grpSpPr>
        <a:xfrm>
          <a:off x="0" y="0"/>
          <a:ext cx="0" cy="0"/>
          <a:chOff x="0" y="0"/>
          <a:chExt cx="0" cy="0"/>
        </a:xfrm>
      </p:grpSpPr>
      <p:sp>
        <p:nvSpPr>
          <p:cNvPr id="2" name="Shape 0"/>
          <p:cNvSpPr/>
          <p:nvPr/>
        </p:nvSpPr>
        <p:spPr>
          <a:xfrm>
            <a:off x="9784080" y="-640080"/>
            <a:ext cx="3200400" cy="3200400"/>
          </a:xfrm>
          <a:prstGeom prst="ellipse">
            <a:avLst/>
          </a:prstGeom>
          <a:solidFill>
            <a:srgbClr val="337B80">
              <a:alpha val="28000"/>
            </a:srgbClr>
          </a:solidFill>
          <a:ln w="12700">
            <a:solidFill>
              <a:srgbClr val="337B80">
                <a:alpha val="0"/>
              </a:srgbClr>
            </a:solidFill>
            <a:prstDash val="solid"/>
          </a:ln>
        </p:spPr>
      </p:sp>
      <p:sp>
        <p:nvSpPr>
          <p:cNvPr id="3" name="Shape 1"/>
          <p:cNvSpPr/>
          <p:nvPr/>
        </p:nvSpPr>
        <p:spPr>
          <a:xfrm>
            <a:off x="-640080" y="5303520"/>
            <a:ext cx="2103120" cy="2103120"/>
          </a:xfrm>
          <a:prstGeom prst="ellipse">
            <a:avLst/>
          </a:prstGeom>
          <a:solidFill>
            <a:srgbClr val="725B9B">
              <a:alpha val="30000"/>
            </a:srgbClr>
          </a:solidFill>
          <a:ln w="12700">
            <a:solidFill>
              <a:srgbClr val="725B9B">
                <a:alpha val="0"/>
              </a:srgbClr>
            </a:solidFill>
            <a:prstDash val="solid"/>
          </a:ln>
        </p:spPr>
      </p:sp>
      <p:sp>
        <p:nvSpPr>
          <p:cNvPr id="4" name="Text 2"/>
          <p:cNvSpPr/>
          <p:nvPr/>
        </p:nvSpPr>
        <p:spPr>
          <a:xfrm>
            <a:off x="658368" y="566928"/>
            <a:ext cx="5943600" cy="274320"/>
          </a:xfrm>
          <a:prstGeom prst="rect">
            <a:avLst/>
          </a:prstGeom>
          <a:noFill/>
          <a:ln/>
        </p:spPr>
        <p:txBody>
          <a:bodyPr wrap="square" lIns="0" tIns="0" rIns="0" bIns="0" rtlCol="0" anchor="ctr"/>
          <a:lstStyle/>
          <a:p>
            <a:pPr indent="0" marL="0">
              <a:buNone/>
            </a:pPr>
            <a:r>
              <a:rPr lang="en-US" sz="1000" b="1" spc="170" kern="0" dirty="0">
                <a:solidFill>
                  <a:srgbClr val="8FD0CC"/>
                </a:solidFill>
                <a:latin typeface="Arial" pitchFamily="34" charset="0"/>
                <a:ea typeface="Arial" pitchFamily="34" charset="-122"/>
                <a:cs typeface="Arial" pitchFamily="34" charset="-120"/>
              </a:rPr>
              <a:t>BÁO CÁO CUỐI KỲ · CƠ SỞ DỮ LIỆU NÂNG CAO</a:t>
            </a:r>
            <a:endParaRPr lang="en-US" sz="1000" dirty="0"/>
          </a:p>
        </p:txBody>
      </p:sp>
      <p:sp>
        <p:nvSpPr>
          <p:cNvPr id="5" name="Text 3"/>
          <p:cNvSpPr/>
          <p:nvPr/>
        </p:nvSpPr>
        <p:spPr>
          <a:xfrm>
            <a:off x="658368" y="1115568"/>
            <a:ext cx="6583680" cy="141732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Calibri" pitchFamily="34" charset="0"/>
                <a:ea typeface="Calibri" pitchFamily="34" charset="-122"/>
                <a:cs typeface="Calibri" pitchFamily="34" charset="-120"/>
              </a:rPr>
              <a:t>Knowledge Graph</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Từ lý thuyết đến ứng dụng</a:t>
            </a:r>
            <a:endParaRPr lang="en-US" sz="3400" dirty="0"/>
          </a:p>
        </p:txBody>
      </p:sp>
      <p:sp>
        <p:nvSpPr>
          <p:cNvPr id="6" name="Text 4"/>
          <p:cNvSpPr/>
          <p:nvPr/>
        </p:nvSpPr>
        <p:spPr>
          <a:xfrm>
            <a:off x="685800" y="2761488"/>
            <a:ext cx="5897880" cy="749808"/>
          </a:xfrm>
          <a:prstGeom prst="rect">
            <a:avLst/>
          </a:prstGeom>
          <a:noFill/>
          <a:ln/>
        </p:spPr>
        <p:txBody>
          <a:bodyPr wrap="square" lIns="0" tIns="0" rIns="0" bIns="0" rtlCol="0" anchor="ctr">
            <a:normAutofit/>
          </a:bodyPr>
          <a:lstStyle/>
          <a:p>
            <a:pPr indent="0" marL="0">
              <a:buNone/>
            </a:pPr>
            <a:r>
              <a:rPr lang="en-US" sz="1550" dirty="0">
                <a:solidFill>
                  <a:srgbClr val="D6E3ED"/>
                </a:solidFill>
                <a:latin typeface="Calibri" pitchFamily="34" charset="0"/>
                <a:ea typeface="Calibri" pitchFamily="34" charset="-122"/>
                <a:cs typeface="Calibri" pitchFamily="34" charset="-120"/>
              </a:rPr>
              <a:t>Khái niệm · Property Graph · Schema · Suy diễn · Cypher</a:t>
            </a:r>
            <a:endParaRPr lang="en-US" sz="1550" dirty="0"/>
          </a:p>
          <a:p>
            <a:pPr indent="0" marL="0">
              <a:buNone/>
            </a:pPr>
            <a:r>
              <a:rPr lang="en-US" sz="1550" dirty="0">
                <a:solidFill>
                  <a:srgbClr val="D6E3ED"/>
                </a:solidFill>
                <a:latin typeface="Calibri" pitchFamily="34" charset="0"/>
                <a:ea typeface="Calibri" pitchFamily="34" charset="-122"/>
                <a:cs typeface="Calibri" pitchFamily="34" charset="-120"/>
              </a:rPr>
              <a:t>Nghiên cứu tình huống: đồ thị tri thức phim đa nguồn</a:t>
            </a:r>
            <a:endParaRPr lang="en-US" sz="1550" dirty="0"/>
          </a:p>
        </p:txBody>
      </p:sp>
      <p:pic>
        <p:nvPicPr>
          <p:cNvPr id="7" name="Image 0" descr="/home/khanhhk/VNPTAI/advanced_database/docs/deliverables/slide/assets/movie_kg_overview.png">    </p:cNvPr>
          <p:cNvPicPr>
            <a:picLocks noChangeAspect="1"/>
          </p:cNvPicPr>
          <p:nvPr/>
        </p:nvPicPr>
        <p:blipFill>
          <a:blip r:embed="rId1"/>
          <a:stretch>
            <a:fillRect/>
          </a:stretch>
        </p:blipFill>
        <p:spPr>
          <a:xfrm>
            <a:off x="7013448" y="2137776"/>
            <a:ext cx="4489704" cy="1439447"/>
          </a:xfrm>
          <a:prstGeom prst="rect">
            <a:avLst/>
          </a:prstGeom>
        </p:spPr>
      </p:pic>
      <p:sp>
        <p:nvSpPr>
          <p:cNvPr id="8" name="Text 5"/>
          <p:cNvSpPr/>
          <p:nvPr/>
        </p:nvSpPr>
        <p:spPr>
          <a:xfrm>
            <a:off x="685800" y="4892040"/>
            <a:ext cx="1005840" cy="219456"/>
          </a:xfrm>
          <a:prstGeom prst="rect">
            <a:avLst/>
          </a:prstGeom>
          <a:noFill/>
          <a:ln/>
        </p:spPr>
        <p:txBody>
          <a:bodyPr wrap="square" lIns="0" tIns="0" rIns="0" bIns="0" rtlCol="0" anchor="ctr"/>
          <a:lstStyle/>
          <a:p>
            <a:pPr indent="0" marL="0">
              <a:buNone/>
            </a:pPr>
            <a:r>
              <a:rPr lang="en-US" sz="900" b="1" dirty="0">
                <a:solidFill>
                  <a:srgbClr val="8FD0CC"/>
                </a:solidFill>
                <a:latin typeface="Arial" pitchFamily="34" charset="0"/>
                <a:ea typeface="Arial" pitchFamily="34" charset="-122"/>
                <a:cs typeface="Arial" pitchFamily="34" charset="-120"/>
              </a:rPr>
              <a:t>Học viên</a:t>
            </a:r>
            <a:endParaRPr lang="en-US" sz="900" dirty="0"/>
          </a:p>
        </p:txBody>
      </p:sp>
      <p:sp>
        <p:nvSpPr>
          <p:cNvPr id="9" name="Text 6"/>
          <p:cNvSpPr/>
          <p:nvPr/>
        </p:nvSpPr>
        <p:spPr>
          <a:xfrm>
            <a:off x="685800" y="5193792"/>
            <a:ext cx="402336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Hoàng Kim Khánh · 20252307M</a:t>
            </a:r>
            <a:endParaRPr lang="en-US" sz="1500" dirty="0"/>
          </a:p>
        </p:txBody>
      </p:sp>
      <p:sp>
        <p:nvSpPr>
          <p:cNvPr id="10" name="Text 7"/>
          <p:cNvSpPr/>
          <p:nvPr/>
        </p:nvSpPr>
        <p:spPr>
          <a:xfrm>
            <a:off x="6217920" y="4892040"/>
            <a:ext cx="1645920" cy="219456"/>
          </a:xfrm>
          <a:prstGeom prst="rect">
            <a:avLst/>
          </a:prstGeom>
          <a:noFill/>
          <a:ln/>
        </p:spPr>
        <p:txBody>
          <a:bodyPr wrap="square" lIns="0" tIns="0" rIns="0" bIns="0" rtlCol="0" anchor="ctr"/>
          <a:lstStyle/>
          <a:p>
            <a:pPr indent="0" marL="0">
              <a:buNone/>
            </a:pPr>
            <a:r>
              <a:rPr lang="en-US" sz="900" b="1" dirty="0">
                <a:solidFill>
                  <a:srgbClr val="8FD0CC"/>
                </a:solidFill>
                <a:latin typeface="Arial" pitchFamily="34" charset="0"/>
                <a:ea typeface="Arial" pitchFamily="34" charset="-122"/>
                <a:cs typeface="Arial" pitchFamily="34" charset="-120"/>
              </a:rPr>
              <a:t>Giảng viên hướng dẫn</a:t>
            </a:r>
            <a:endParaRPr lang="en-US" sz="900" dirty="0"/>
          </a:p>
        </p:txBody>
      </p:sp>
      <p:sp>
        <p:nvSpPr>
          <p:cNvPr id="11" name="Text 8"/>
          <p:cNvSpPr/>
          <p:nvPr/>
        </p:nvSpPr>
        <p:spPr>
          <a:xfrm>
            <a:off x="6217920" y="5193792"/>
            <a:ext cx="310896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TS. Trần Ngọc Thăng</a:t>
            </a:r>
            <a:endParaRPr lang="en-US" sz="1500" dirty="0"/>
          </a:p>
        </p:txBody>
      </p:sp>
      <p:sp>
        <p:nvSpPr>
          <p:cNvPr id="12" name="Text 9"/>
          <p:cNvSpPr/>
          <p:nvPr/>
        </p:nvSpPr>
        <p:spPr>
          <a:xfrm>
            <a:off x="685800" y="6327648"/>
            <a:ext cx="7315200" cy="182880"/>
          </a:xfrm>
          <a:prstGeom prst="rect">
            <a:avLst/>
          </a:prstGeom>
          <a:noFill/>
          <a:ln/>
        </p:spPr>
        <p:txBody>
          <a:bodyPr wrap="square" lIns="0" tIns="0" rIns="0" bIns="0" rtlCol="0" anchor="ctr"/>
          <a:lstStyle/>
          <a:p>
            <a:pPr indent="0" marL="0">
              <a:buNone/>
            </a:pPr>
            <a:r>
              <a:rPr lang="en-US" sz="850" dirty="0">
                <a:solidFill>
                  <a:srgbClr val="9FB2C3"/>
                </a:solidFill>
                <a:latin typeface="Arial" pitchFamily="34" charset="0"/>
                <a:ea typeface="Arial" pitchFamily="34" charset="-122"/>
                <a:cs typeface="Arial" pitchFamily="34" charset="-120"/>
              </a:rPr>
              <a:t>ĐẠI HỌC BÁCH KHOA HÀ NỘI · KHOA TOÁN – TIN · 07/2026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NỀN TẢNG</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Từ dữ liệu đến tri thức có thể sử dụng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Knowledge Graph không chỉ lưu giá trị; nó đặt giá trị vào ngữ cảnh, quan hệ và ngữ nghĩa.</a:t>
            </a:r>
            <a:endParaRPr lang="en-US" sz="1250" dirty="0"/>
          </a:p>
        </p:txBody>
      </p:sp>
      <p:sp>
        <p:nvSpPr>
          <p:cNvPr id="5" name="Shape 3"/>
          <p:cNvSpPr/>
          <p:nvPr/>
        </p:nvSpPr>
        <p:spPr>
          <a:xfrm>
            <a:off x="658368" y="4480560"/>
            <a:ext cx="2395728" cy="1298448"/>
          </a:xfrm>
          <a:prstGeom prst="roundRect">
            <a:avLst>
              <a:gd name="adj" fmla="val 3521"/>
            </a:avLst>
          </a:prstGeom>
          <a:solidFill>
            <a:srgbClr val="EDF2F7"/>
          </a:solidFill>
          <a:ln w="16510">
            <a:solidFill>
              <a:srgbClr val="697586"/>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41248" y="4681728"/>
            <a:ext cx="2011680" cy="228600"/>
          </a:xfrm>
          <a:prstGeom prst="rect">
            <a:avLst/>
          </a:prstGeom>
          <a:noFill/>
          <a:ln/>
        </p:spPr>
        <p:txBody>
          <a:bodyPr wrap="square" lIns="0" tIns="0" rIns="0" bIns="0" rtlCol="0" anchor="ctr"/>
          <a:lstStyle/>
          <a:p>
            <a:pPr indent="0" marL="0">
              <a:buNone/>
            </a:pPr>
            <a:r>
              <a:rPr lang="en-US" sz="1000" b="1" spc="110" kern="0" dirty="0">
                <a:solidFill>
                  <a:srgbClr val="697586"/>
                </a:solidFill>
                <a:latin typeface="Arial" pitchFamily="34" charset="0"/>
                <a:ea typeface="Arial" pitchFamily="34" charset="-122"/>
                <a:cs typeface="Arial" pitchFamily="34" charset="-120"/>
              </a:rPr>
              <a:t>DỮ LIỆU</a:t>
            </a:r>
            <a:endParaRPr lang="en-US" sz="1000" dirty="0"/>
          </a:p>
        </p:txBody>
      </p:sp>
      <p:sp>
        <p:nvSpPr>
          <p:cNvPr id="7" name="Text 5"/>
          <p:cNvSpPr/>
          <p:nvPr/>
        </p:nvSpPr>
        <p:spPr>
          <a:xfrm>
            <a:off x="841248" y="5120640"/>
            <a:ext cx="1993392" cy="658368"/>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“2010”, “Inception”, “Nolan”</a:t>
            </a:r>
            <a:endParaRPr lang="en-US" sz="1300" dirty="0"/>
          </a:p>
        </p:txBody>
      </p:sp>
      <p:sp>
        <p:nvSpPr>
          <p:cNvPr id="8" name="Shape 6"/>
          <p:cNvSpPr/>
          <p:nvPr/>
        </p:nvSpPr>
        <p:spPr>
          <a:xfrm>
            <a:off x="3090672" y="5120640"/>
            <a:ext cx="347472" cy="-228600"/>
          </a:xfrm>
          <a:prstGeom prst="line">
            <a:avLst/>
          </a:prstGeom>
          <a:noFill/>
          <a:ln w="17780">
            <a:solidFill>
              <a:srgbClr val="697586"/>
            </a:solidFill>
            <a:prstDash val="solid"/>
            <a:tailEnd type="triangle"/>
          </a:ln>
        </p:spPr>
      </p:sp>
      <p:sp>
        <p:nvSpPr>
          <p:cNvPr id="9" name="Shape 7"/>
          <p:cNvSpPr/>
          <p:nvPr/>
        </p:nvSpPr>
        <p:spPr>
          <a:xfrm>
            <a:off x="3511296" y="3767328"/>
            <a:ext cx="2395728" cy="2011680"/>
          </a:xfrm>
          <a:prstGeom prst="roundRect">
            <a:avLst>
              <a:gd name="adj" fmla="val 2273"/>
            </a:avLst>
          </a:prstGeom>
          <a:solidFill>
            <a:srgbClr val="EAF2F8"/>
          </a:solidFill>
          <a:ln w="16510">
            <a:solidFill>
              <a:srgbClr val="337B80"/>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3694176" y="3968496"/>
            <a:ext cx="2011680" cy="228600"/>
          </a:xfrm>
          <a:prstGeom prst="rect">
            <a:avLst/>
          </a:prstGeom>
          <a:noFill/>
          <a:ln/>
        </p:spPr>
        <p:txBody>
          <a:bodyPr wrap="square" lIns="0" tIns="0" rIns="0" bIns="0" rtlCol="0" anchor="ctr"/>
          <a:lstStyle/>
          <a:p>
            <a:pPr indent="0" marL="0">
              <a:buNone/>
            </a:pPr>
            <a:r>
              <a:rPr lang="en-US" sz="1000" b="1" spc="110" kern="0" dirty="0">
                <a:solidFill>
                  <a:srgbClr val="337B80"/>
                </a:solidFill>
                <a:latin typeface="Arial" pitchFamily="34" charset="0"/>
                <a:ea typeface="Arial" pitchFamily="34" charset="-122"/>
                <a:cs typeface="Arial" pitchFamily="34" charset="-120"/>
              </a:rPr>
              <a:t>THÔNG TIN</a:t>
            </a:r>
            <a:endParaRPr lang="en-US" sz="1000" dirty="0"/>
          </a:p>
        </p:txBody>
      </p:sp>
      <p:sp>
        <p:nvSpPr>
          <p:cNvPr id="11" name="Text 9"/>
          <p:cNvSpPr/>
          <p:nvPr/>
        </p:nvSpPr>
        <p:spPr>
          <a:xfrm>
            <a:off x="3694176" y="4407408"/>
            <a:ext cx="1993392" cy="658368"/>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Inception là một phim phát hành năm 2010.</a:t>
            </a:r>
            <a:endParaRPr lang="en-US" sz="1300" dirty="0"/>
          </a:p>
        </p:txBody>
      </p:sp>
      <p:sp>
        <p:nvSpPr>
          <p:cNvPr id="12" name="Shape 10"/>
          <p:cNvSpPr/>
          <p:nvPr/>
        </p:nvSpPr>
        <p:spPr>
          <a:xfrm>
            <a:off x="5943600" y="4407408"/>
            <a:ext cx="347472" cy="-228600"/>
          </a:xfrm>
          <a:prstGeom prst="line">
            <a:avLst/>
          </a:prstGeom>
          <a:noFill/>
          <a:ln w="17780">
            <a:solidFill>
              <a:srgbClr val="697586"/>
            </a:solidFill>
            <a:prstDash val="solid"/>
            <a:tailEnd type="triangle"/>
          </a:ln>
        </p:spPr>
      </p:sp>
      <p:sp>
        <p:nvSpPr>
          <p:cNvPr id="13" name="Shape 11"/>
          <p:cNvSpPr/>
          <p:nvPr/>
        </p:nvSpPr>
        <p:spPr>
          <a:xfrm>
            <a:off x="6364224" y="3054096"/>
            <a:ext cx="2395728" cy="2724912"/>
          </a:xfrm>
          <a:prstGeom prst="roundRect">
            <a:avLst>
              <a:gd name="adj" fmla="val 1908"/>
            </a:avLst>
          </a:prstGeom>
          <a:solidFill>
            <a:srgbClr val="F0ECF7"/>
          </a:solidFill>
          <a:ln w="16510">
            <a:solidFill>
              <a:srgbClr val="725B9B"/>
            </a:solidFill>
            <a:prstDash val="solid"/>
          </a:ln>
          <a:effectLst>
            <a:outerShdw sx="100000" sy="100000" kx="0" ky="0" algn="bl" rotWithShape="0" blurRad="25400" dist="50800" dir="2700000">
              <a:srgbClr val="26384A">
                <a:alpha val="13000"/>
              </a:srgbClr>
            </a:outerShdw>
          </a:effectLst>
        </p:spPr>
      </p:sp>
      <p:sp>
        <p:nvSpPr>
          <p:cNvPr id="14" name="Text 12"/>
          <p:cNvSpPr/>
          <p:nvPr/>
        </p:nvSpPr>
        <p:spPr>
          <a:xfrm>
            <a:off x="6547104" y="3255264"/>
            <a:ext cx="2011680" cy="228600"/>
          </a:xfrm>
          <a:prstGeom prst="rect">
            <a:avLst/>
          </a:prstGeom>
          <a:noFill/>
          <a:ln/>
        </p:spPr>
        <p:txBody>
          <a:bodyPr wrap="square" lIns="0" tIns="0" rIns="0" bIns="0" rtlCol="0" anchor="ctr"/>
          <a:lstStyle/>
          <a:p>
            <a:pPr indent="0" marL="0">
              <a:buNone/>
            </a:pPr>
            <a:r>
              <a:rPr lang="en-US" sz="1000" b="1" spc="110" kern="0" dirty="0">
                <a:solidFill>
                  <a:srgbClr val="725B9B"/>
                </a:solidFill>
                <a:latin typeface="Arial" pitchFamily="34" charset="0"/>
                <a:ea typeface="Arial" pitchFamily="34" charset="-122"/>
                <a:cs typeface="Arial" pitchFamily="34" charset="-120"/>
              </a:rPr>
              <a:t>TRI THỨC</a:t>
            </a:r>
            <a:endParaRPr lang="en-US" sz="1000" dirty="0"/>
          </a:p>
        </p:txBody>
      </p:sp>
      <p:sp>
        <p:nvSpPr>
          <p:cNvPr id="15" name="Text 13"/>
          <p:cNvSpPr/>
          <p:nvPr/>
        </p:nvSpPr>
        <p:spPr>
          <a:xfrm>
            <a:off x="6547104" y="3694176"/>
            <a:ext cx="1993392" cy="658368"/>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Christopher Nolan đạo diễn Inception.</a:t>
            </a:r>
            <a:endParaRPr lang="en-US" sz="1300" dirty="0"/>
          </a:p>
        </p:txBody>
      </p:sp>
      <p:sp>
        <p:nvSpPr>
          <p:cNvPr id="16" name="Shape 14"/>
          <p:cNvSpPr/>
          <p:nvPr/>
        </p:nvSpPr>
        <p:spPr>
          <a:xfrm>
            <a:off x="8796528" y="3694176"/>
            <a:ext cx="347472" cy="-228600"/>
          </a:xfrm>
          <a:prstGeom prst="line">
            <a:avLst/>
          </a:prstGeom>
          <a:noFill/>
          <a:ln w="17780">
            <a:solidFill>
              <a:srgbClr val="697586"/>
            </a:solidFill>
            <a:prstDash val="solid"/>
            <a:tailEnd type="triangle"/>
          </a:ln>
        </p:spPr>
      </p:sp>
      <p:sp>
        <p:nvSpPr>
          <p:cNvPr id="17" name="Shape 15"/>
          <p:cNvSpPr/>
          <p:nvPr/>
        </p:nvSpPr>
        <p:spPr>
          <a:xfrm>
            <a:off x="9217152" y="2340864"/>
            <a:ext cx="2395728" cy="3438144"/>
          </a:xfrm>
          <a:prstGeom prst="roundRect">
            <a:avLst>
              <a:gd name="adj" fmla="val 1908"/>
            </a:avLst>
          </a:prstGeom>
          <a:solidFill>
            <a:srgbClr val="E8F4EE"/>
          </a:solidFill>
          <a:ln w="16510">
            <a:solidFill>
              <a:srgbClr val="3D8B66"/>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9400032" y="2542032"/>
            <a:ext cx="2011680" cy="228600"/>
          </a:xfrm>
          <a:prstGeom prst="rect">
            <a:avLst/>
          </a:prstGeom>
          <a:noFill/>
          <a:ln/>
        </p:spPr>
        <p:txBody>
          <a:bodyPr wrap="square" lIns="0" tIns="0" rIns="0" bIns="0" rtlCol="0" anchor="ctr"/>
          <a:lstStyle/>
          <a:p>
            <a:pPr indent="0" marL="0">
              <a:buNone/>
            </a:pPr>
            <a:r>
              <a:rPr lang="en-US" sz="1000" b="1" spc="110" kern="0" dirty="0">
                <a:solidFill>
                  <a:srgbClr val="3D8B66"/>
                </a:solidFill>
                <a:latin typeface="Arial" pitchFamily="34" charset="0"/>
                <a:ea typeface="Arial" pitchFamily="34" charset="-122"/>
                <a:cs typeface="Arial" pitchFamily="34" charset="-120"/>
              </a:rPr>
              <a:t>SUY LUẬN</a:t>
            </a:r>
            <a:endParaRPr lang="en-US" sz="1000" dirty="0"/>
          </a:p>
        </p:txBody>
      </p:sp>
      <p:sp>
        <p:nvSpPr>
          <p:cNvPr id="19" name="Text 17"/>
          <p:cNvSpPr/>
          <p:nvPr/>
        </p:nvSpPr>
        <p:spPr>
          <a:xfrm>
            <a:off x="9400032" y="2980944"/>
            <a:ext cx="1993392" cy="658368"/>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Nolan là đạo diễn của một phim khoa học viễn tưởng.</a:t>
            </a:r>
            <a:endParaRPr lang="en-US" sz="1300" dirty="0"/>
          </a:p>
        </p:txBody>
      </p:sp>
      <p:sp>
        <p:nvSpPr>
          <p:cNvPr id="20" name="Text 18"/>
          <p:cNvSpPr/>
          <p:nvPr/>
        </p:nvSpPr>
        <p:spPr>
          <a:xfrm>
            <a:off x="1280160" y="5925312"/>
            <a:ext cx="9601200" cy="310896"/>
          </a:xfrm>
          <a:prstGeom prst="rect">
            <a:avLst/>
          </a:prstGeom>
          <a:noFill/>
          <a:ln/>
        </p:spPr>
        <p:txBody>
          <a:bodyPr wrap="square" lIns="0" tIns="0" rIns="0" bIns="0" rtlCol="0" anchor="ctr"/>
          <a:lstStyle/>
          <a:p>
            <a:pPr algn="ctr" indent="0" marL="0">
              <a:buNone/>
            </a:pPr>
            <a:r>
              <a:rPr lang="en-US" sz="1500" b="1" dirty="0">
                <a:solidFill>
                  <a:srgbClr val="112B46"/>
                </a:solidFill>
                <a:latin typeface="Calibri" pitchFamily="34" charset="0"/>
                <a:ea typeface="Calibri" pitchFamily="34" charset="-122"/>
                <a:cs typeface="Calibri" pitchFamily="34" charset="-120"/>
              </a:rPr>
              <a:t>Ngữ cảnh + quan hệ + quy tắc làm cho dữ liệu trở thành tri thức có thể truy vấn và suy luận.</a:t>
            </a:r>
            <a:endParaRPr lang="en-US" sz="15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NỀN TẢNG</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Knowledge Graph là gì?</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mô hình tri thức dạng đồ thị, trong đó thực thể và quan hệ mang ngữ nghĩa có thể đọc bởi cả người và máy.</a:t>
            </a:r>
            <a:endParaRPr lang="en-US" sz="1250" dirty="0"/>
          </a:p>
        </p:txBody>
      </p:sp>
      <p:sp>
        <p:nvSpPr>
          <p:cNvPr id="5" name="Shape 3"/>
          <p:cNvSpPr/>
          <p:nvPr/>
        </p:nvSpPr>
        <p:spPr>
          <a:xfrm>
            <a:off x="914400" y="2148840"/>
            <a:ext cx="1828800" cy="1828800"/>
          </a:xfrm>
          <a:prstGeom prst="ellipse">
            <a:avLst/>
          </a:prstGeom>
          <a:solidFill>
            <a:srgbClr val="F0ECF7"/>
          </a:solidFill>
          <a:ln w="25400">
            <a:solidFill>
              <a:srgbClr val="725B9B"/>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1143000" y="2697480"/>
            <a:ext cx="1371600" cy="502920"/>
          </a:xfrm>
          <a:prstGeom prst="rect">
            <a:avLst/>
          </a:prstGeom>
          <a:noFill/>
          <a:ln/>
        </p:spPr>
        <p:txBody>
          <a:bodyPr wrap="square" lIns="0" tIns="0" rIns="0" bIns="0" rtlCol="0" anchor="ctr"/>
          <a:lstStyle/>
          <a:p>
            <a:pPr algn="ctr" indent="0" marL="0">
              <a:buNone/>
            </a:pPr>
            <a:r>
              <a:rPr lang="en-US" sz="1800" b="1" dirty="0">
                <a:solidFill>
                  <a:srgbClr val="725B9B"/>
                </a:solidFill>
                <a:latin typeface="Calibri" pitchFamily="34" charset="0"/>
                <a:ea typeface="Calibri" pitchFamily="34" charset="-122"/>
                <a:cs typeface="Calibri" pitchFamily="34" charset="-120"/>
              </a:rPr>
              <a:t>Christopher</a:t>
            </a:r>
            <a:endParaRPr lang="en-US" sz="1800" dirty="0"/>
          </a:p>
          <a:p>
            <a:pPr algn="ctr" indent="0" marL="0">
              <a:buNone/>
            </a:pPr>
            <a:r>
              <a:rPr lang="en-US" sz="1800" b="1" dirty="0">
                <a:solidFill>
                  <a:srgbClr val="725B9B"/>
                </a:solidFill>
                <a:latin typeface="Calibri" pitchFamily="34" charset="0"/>
                <a:ea typeface="Calibri" pitchFamily="34" charset="-122"/>
                <a:cs typeface="Calibri" pitchFamily="34" charset="-120"/>
              </a:rPr>
              <a:t>Nolan</a:t>
            </a:r>
            <a:endParaRPr lang="en-US" sz="1800" dirty="0"/>
          </a:p>
        </p:txBody>
      </p:sp>
      <p:sp>
        <p:nvSpPr>
          <p:cNvPr id="7" name="Shape 5"/>
          <p:cNvSpPr/>
          <p:nvPr/>
        </p:nvSpPr>
        <p:spPr>
          <a:xfrm>
            <a:off x="5120640" y="2148840"/>
            <a:ext cx="1828800" cy="1828800"/>
          </a:xfrm>
          <a:prstGeom prst="ellipse">
            <a:avLst/>
          </a:prstGeom>
          <a:solidFill>
            <a:srgbClr val="EAF2F8"/>
          </a:solidFill>
          <a:ln w="25400">
            <a:solidFill>
              <a:srgbClr val="337B80"/>
            </a:solidFill>
            <a:prstDash val="solid"/>
          </a:ln>
          <a:effectLst>
            <a:outerShdw sx="100000" sy="100000" kx="0" ky="0" algn="bl" rotWithShape="0" blurRad="25400" dist="50800" dir="2700000">
              <a:srgbClr val="26384A">
                <a:alpha val="13000"/>
              </a:srgbClr>
            </a:outerShdw>
          </a:effectLst>
        </p:spPr>
      </p:sp>
      <p:sp>
        <p:nvSpPr>
          <p:cNvPr id="8" name="Text 6"/>
          <p:cNvSpPr/>
          <p:nvPr/>
        </p:nvSpPr>
        <p:spPr>
          <a:xfrm>
            <a:off x="5349240" y="2816352"/>
            <a:ext cx="1371600" cy="256032"/>
          </a:xfrm>
          <a:prstGeom prst="rect">
            <a:avLst/>
          </a:prstGeom>
          <a:noFill/>
          <a:ln/>
        </p:spPr>
        <p:txBody>
          <a:bodyPr wrap="square" lIns="0" tIns="0" rIns="0" bIns="0" rtlCol="0" anchor="ctr"/>
          <a:lstStyle/>
          <a:p>
            <a:pPr algn="ctr" indent="0" marL="0">
              <a:buNone/>
            </a:pPr>
            <a:r>
              <a:rPr lang="en-US" sz="1800" b="1" dirty="0">
                <a:solidFill>
                  <a:srgbClr val="337B80"/>
                </a:solidFill>
                <a:latin typeface="Calibri" pitchFamily="34" charset="0"/>
                <a:ea typeface="Calibri" pitchFamily="34" charset="-122"/>
                <a:cs typeface="Calibri" pitchFamily="34" charset="-120"/>
              </a:rPr>
              <a:t>Inception</a:t>
            </a:r>
            <a:endParaRPr lang="en-US" sz="1800" dirty="0"/>
          </a:p>
        </p:txBody>
      </p:sp>
      <p:sp>
        <p:nvSpPr>
          <p:cNvPr id="9" name="Shape 7"/>
          <p:cNvSpPr/>
          <p:nvPr/>
        </p:nvSpPr>
        <p:spPr>
          <a:xfrm>
            <a:off x="2788920" y="3044952"/>
            <a:ext cx="2267712" cy="0"/>
          </a:xfrm>
          <a:prstGeom prst="line">
            <a:avLst/>
          </a:prstGeom>
          <a:noFill/>
          <a:ln w="31750">
            <a:solidFill>
              <a:srgbClr val="3D8B66"/>
            </a:solidFill>
            <a:prstDash val="solid"/>
            <a:tailEnd type="triangle"/>
          </a:ln>
        </p:spPr>
      </p:sp>
      <p:sp>
        <p:nvSpPr>
          <p:cNvPr id="10" name="Text 8"/>
          <p:cNvSpPr/>
          <p:nvPr/>
        </p:nvSpPr>
        <p:spPr>
          <a:xfrm>
            <a:off x="3218688" y="2633472"/>
            <a:ext cx="1417320" cy="228600"/>
          </a:xfrm>
          <a:prstGeom prst="rect">
            <a:avLst/>
          </a:prstGeom>
          <a:noFill/>
          <a:ln/>
        </p:spPr>
        <p:txBody>
          <a:bodyPr wrap="square" lIns="0" tIns="0" rIns="0" bIns="0" rtlCol="0" anchor="ctr"/>
          <a:lstStyle/>
          <a:p>
            <a:pPr algn="ctr" indent="0" marL="0">
              <a:buNone/>
            </a:pPr>
            <a:r>
              <a:rPr lang="en-US" sz="1000" b="1" dirty="0">
                <a:solidFill>
                  <a:srgbClr val="3D8B66"/>
                </a:solidFill>
                <a:latin typeface="Arial" pitchFamily="34" charset="0"/>
                <a:ea typeface="Arial" pitchFamily="34" charset="-122"/>
                <a:cs typeface="Arial" pitchFamily="34" charset="-120"/>
              </a:rPr>
              <a:t>DIRECTED</a:t>
            </a:r>
            <a:endParaRPr lang="en-US" sz="1000" dirty="0"/>
          </a:p>
        </p:txBody>
      </p:sp>
      <p:sp>
        <p:nvSpPr>
          <p:cNvPr id="11" name="Shape 9"/>
          <p:cNvSpPr/>
          <p:nvPr/>
        </p:nvSpPr>
        <p:spPr>
          <a:xfrm>
            <a:off x="7543800" y="1783080"/>
            <a:ext cx="3977640" cy="1143000"/>
          </a:xfrm>
          <a:prstGeom prst="roundRect">
            <a:avLst>
              <a:gd name="adj" fmla="val 48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2" name="Shape 10"/>
          <p:cNvSpPr/>
          <p:nvPr/>
        </p:nvSpPr>
        <p:spPr>
          <a:xfrm>
            <a:off x="7744968" y="1984248"/>
            <a:ext cx="384048" cy="384048"/>
          </a:xfrm>
          <a:prstGeom prst="ellipse">
            <a:avLst/>
          </a:prstGeom>
          <a:solidFill>
            <a:srgbClr val="725B9B"/>
          </a:solidFill>
          <a:ln w="12700">
            <a:solidFill>
              <a:srgbClr val="725B9B"/>
            </a:solidFill>
            <a:prstDash val="solid"/>
          </a:ln>
        </p:spPr>
      </p:sp>
      <p:sp>
        <p:nvSpPr>
          <p:cNvPr id="13" name="Text 11"/>
          <p:cNvSpPr/>
          <p:nvPr/>
        </p:nvSpPr>
        <p:spPr>
          <a:xfrm>
            <a:off x="774496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N</a:t>
            </a:r>
            <a:endParaRPr lang="en-US" sz="1000" dirty="0"/>
          </a:p>
        </p:txBody>
      </p:sp>
      <p:sp>
        <p:nvSpPr>
          <p:cNvPr id="14" name="Text 12"/>
          <p:cNvSpPr/>
          <p:nvPr/>
        </p:nvSpPr>
        <p:spPr>
          <a:xfrm>
            <a:off x="8257032" y="1965960"/>
            <a:ext cx="30632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Thực thể (entity)</a:t>
            </a:r>
            <a:endParaRPr lang="en-US" sz="1600" dirty="0"/>
          </a:p>
        </p:txBody>
      </p:sp>
      <p:sp>
        <p:nvSpPr>
          <p:cNvPr id="15" name="Text 13"/>
          <p:cNvSpPr/>
          <p:nvPr/>
        </p:nvSpPr>
        <p:spPr>
          <a:xfrm>
            <a:off x="7772400" y="2386584"/>
            <a:ext cx="352044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Đối tượng có định danh: người, phim, địa điểm, tổ chức…</a:t>
            </a:r>
            <a:endParaRPr lang="en-US" sz="1150" dirty="0"/>
          </a:p>
        </p:txBody>
      </p:sp>
      <p:sp>
        <p:nvSpPr>
          <p:cNvPr id="16" name="Shape 14"/>
          <p:cNvSpPr/>
          <p:nvPr/>
        </p:nvSpPr>
        <p:spPr>
          <a:xfrm>
            <a:off x="7543800" y="3182112"/>
            <a:ext cx="3977640" cy="1143000"/>
          </a:xfrm>
          <a:prstGeom prst="roundRect">
            <a:avLst>
              <a:gd name="adj" fmla="val 48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7" name="Shape 15"/>
          <p:cNvSpPr/>
          <p:nvPr/>
        </p:nvSpPr>
        <p:spPr>
          <a:xfrm>
            <a:off x="7744968" y="3383280"/>
            <a:ext cx="384048" cy="384048"/>
          </a:xfrm>
          <a:prstGeom prst="ellipse">
            <a:avLst/>
          </a:prstGeom>
          <a:solidFill>
            <a:srgbClr val="3D8B66"/>
          </a:solidFill>
          <a:ln w="12700">
            <a:solidFill>
              <a:srgbClr val="3D8B66"/>
            </a:solidFill>
            <a:prstDash val="solid"/>
          </a:ln>
        </p:spPr>
      </p:sp>
      <p:sp>
        <p:nvSpPr>
          <p:cNvPr id="18" name="Text 16"/>
          <p:cNvSpPr/>
          <p:nvPr/>
        </p:nvSpPr>
        <p:spPr>
          <a:xfrm>
            <a:off x="7744968" y="343814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E</a:t>
            </a:r>
            <a:endParaRPr lang="en-US" sz="1000" dirty="0"/>
          </a:p>
        </p:txBody>
      </p:sp>
      <p:sp>
        <p:nvSpPr>
          <p:cNvPr id="19" name="Text 17"/>
          <p:cNvSpPr/>
          <p:nvPr/>
        </p:nvSpPr>
        <p:spPr>
          <a:xfrm>
            <a:off x="8257032" y="3364992"/>
            <a:ext cx="30632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Quan hệ (relationship)</a:t>
            </a:r>
            <a:endParaRPr lang="en-US" sz="1600" dirty="0"/>
          </a:p>
        </p:txBody>
      </p:sp>
      <p:sp>
        <p:nvSpPr>
          <p:cNvPr id="20" name="Text 18"/>
          <p:cNvSpPr/>
          <p:nvPr/>
        </p:nvSpPr>
        <p:spPr>
          <a:xfrm>
            <a:off x="7772400" y="3785616"/>
            <a:ext cx="352044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Liên kết có nghĩa và có hướng giữa các thực thể.</a:t>
            </a:r>
            <a:endParaRPr lang="en-US" sz="1150" dirty="0"/>
          </a:p>
        </p:txBody>
      </p:sp>
      <p:sp>
        <p:nvSpPr>
          <p:cNvPr id="21" name="Shape 19"/>
          <p:cNvSpPr/>
          <p:nvPr/>
        </p:nvSpPr>
        <p:spPr>
          <a:xfrm>
            <a:off x="7543800" y="4581144"/>
            <a:ext cx="3977640" cy="1143000"/>
          </a:xfrm>
          <a:prstGeom prst="roundRect">
            <a:avLst>
              <a:gd name="adj" fmla="val 48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22" name="Shape 20"/>
          <p:cNvSpPr/>
          <p:nvPr/>
        </p:nvSpPr>
        <p:spPr>
          <a:xfrm>
            <a:off x="7744968" y="4782312"/>
            <a:ext cx="384048" cy="384048"/>
          </a:xfrm>
          <a:prstGeom prst="ellipse">
            <a:avLst/>
          </a:prstGeom>
          <a:solidFill>
            <a:srgbClr val="337B80"/>
          </a:solidFill>
          <a:ln w="12700">
            <a:solidFill>
              <a:srgbClr val="337B80"/>
            </a:solidFill>
            <a:prstDash val="solid"/>
          </a:ln>
        </p:spPr>
      </p:sp>
      <p:sp>
        <p:nvSpPr>
          <p:cNvPr id="23" name="Text 21"/>
          <p:cNvSpPr/>
          <p:nvPr/>
        </p:nvSpPr>
        <p:spPr>
          <a:xfrm>
            <a:off x="7744968" y="4837176"/>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P</a:t>
            </a:r>
            <a:endParaRPr lang="en-US" sz="1000" dirty="0"/>
          </a:p>
        </p:txBody>
      </p:sp>
      <p:sp>
        <p:nvSpPr>
          <p:cNvPr id="24" name="Text 22"/>
          <p:cNvSpPr/>
          <p:nvPr/>
        </p:nvSpPr>
        <p:spPr>
          <a:xfrm>
            <a:off x="8257032" y="4764024"/>
            <a:ext cx="30632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Thuộc tính &amp; định danh</a:t>
            </a:r>
            <a:endParaRPr lang="en-US" sz="1600" dirty="0"/>
          </a:p>
        </p:txBody>
      </p:sp>
      <p:sp>
        <p:nvSpPr>
          <p:cNvPr id="25" name="Text 23"/>
          <p:cNvSpPr/>
          <p:nvPr/>
        </p:nvSpPr>
        <p:spPr>
          <a:xfrm>
            <a:off x="7772400" y="5184648"/>
            <a:ext cx="352044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Tên, ngày, rating… mô tả node/cạnh; ID phân biệt identity.</a:t>
            </a:r>
            <a:endParaRPr lang="en-US" sz="1150" dirty="0"/>
          </a:p>
        </p:txBody>
      </p:sp>
      <p:sp>
        <p:nvSpPr>
          <p:cNvPr id="26" name="Text 24"/>
          <p:cNvSpPr/>
          <p:nvPr/>
        </p:nvSpPr>
        <p:spPr>
          <a:xfrm>
            <a:off x="1417320" y="4187952"/>
            <a:ext cx="822960" cy="201168"/>
          </a:xfrm>
          <a:prstGeom prst="rect">
            <a:avLst/>
          </a:prstGeom>
          <a:noFill/>
          <a:ln/>
        </p:spPr>
        <p:txBody>
          <a:bodyPr wrap="square" lIns="0" tIns="0" rIns="0" bIns="0" rtlCol="0" anchor="ctr"/>
          <a:lstStyle/>
          <a:p>
            <a:pPr algn="ctr" indent="0" marL="0">
              <a:buNone/>
            </a:pPr>
            <a:r>
              <a:rPr lang="en-US" sz="900" dirty="0">
                <a:solidFill>
                  <a:srgbClr val="697586"/>
                </a:solidFill>
                <a:latin typeface="Arial" pitchFamily="34" charset="0"/>
                <a:ea typeface="Arial" pitchFamily="34" charset="-122"/>
                <a:cs typeface="Arial" pitchFamily="34" charset="-120"/>
              </a:rPr>
              <a:t>subject</a:t>
            </a:r>
            <a:endParaRPr lang="en-US" sz="900" dirty="0"/>
          </a:p>
        </p:txBody>
      </p:sp>
      <p:sp>
        <p:nvSpPr>
          <p:cNvPr id="27" name="Text 25"/>
          <p:cNvSpPr/>
          <p:nvPr/>
        </p:nvSpPr>
        <p:spPr>
          <a:xfrm>
            <a:off x="3401568" y="3310128"/>
            <a:ext cx="1005840" cy="201168"/>
          </a:xfrm>
          <a:prstGeom prst="rect">
            <a:avLst/>
          </a:prstGeom>
          <a:noFill/>
          <a:ln/>
        </p:spPr>
        <p:txBody>
          <a:bodyPr wrap="square" lIns="0" tIns="0" rIns="0" bIns="0" rtlCol="0" anchor="ctr"/>
          <a:lstStyle/>
          <a:p>
            <a:pPr algn="ctr" indent="0" marL="0">
              <a:buNone/>
            </a:pPr>
            <a:r>
              <a:rPr lang="en-US" sz="900" dirty="0">
                <a:solidFill>
                  <a:srgbClr val="697586"/>
                </a:solidFill>
                <a:latin typeface="Arial" pitchFamily="34" charset="0"/>
                <a:ea typeface="Arial" pitchFamily="34" charset="-122"/>
                <a:cs typeface="Arial" pitchFamily="34" charset="-120"/>
              </a:rPr>
              <a:t>predicate</a:t>
            </a:r>
            <a:endParaRPr lang="en-US" sz="900" dirty="0"/>
          </a:p>
        </p:txBody>
      </p:sp>
      <p:sp>
        <p:nvSpPr>
          <p:cNvPr id="28" name="Text 26"/>
          <p:cNvSpPr/>
          <p:nvPr/>
        </p:nvSpPr>
        <p:spPr>
          <a:xfrm>
            <a:off x="5623560" y="4187952"/>
            <a:ext cx="822960" cy="201168"/>
          </a:xfrm>
          <a:prstGeom prst="rect">
            <a:avLst/>
          </a:prstGeom>
          <a:noFill/>
          <a:ln/>
        </p:spPr>
        <p:txBody>
          <a:bodyPr wrap="square" lIns="0" tIns="0" rIns="0" bIns="0" rtlCol="0" anchor="ctr"/>
          <a:lstStyle/>
          <a:p>
            <a:pPr algn="ctr" indent="0" marL="0">
              <a:buNone/>
            </a:pPr>
            <a:r>
              <a:rPr lang="en-US" sz="900" dirty="0">
                <a:solidFill>
                  <a:srgbClr val="697586"/>
                </a:solidFill>
                <a:latin typeface="Arial" pitchFamily="34" charset="0"/>
                <a:ea typeface="Arial" pitchFamily="34" charset="-122"/>
                <a:cs typeface="Arial" pitchFamily="34" charset="-120"/>
              </a:rPr>
              <a:t>object</a:t>
            </a:r>
            <a:endParaRPr lang="en-US" sz="9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NỀN TẢNG</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Schema nói điều gì được phép; instance nói điều gì đang đúng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Tách lớp khái niệm khỏi dữ liệu cụ thể giúp kiểm tra tính nhất quán và tái sử dụng mô hình.</a:t>
            </a:r>
            <a:endParaRPr lang="en-US" sz="1250" dirty="0"/>
          </a:p>
        </p:txBody>
      </p:sp>
      <p:sp>
        <p:nvSpPr>
          <p:cNvPr id="5" name="Text 3"/>
          <p:cNvSpPr/>
          <p:nvPr/>
        </p:nvSpPr>
        <p:spPr>
          <a:xfrm>
            <a:off x="685800" y="1755648"/>
            <a:ext cx="3840480" cy="228600"/>
          </a:xfrm>
          <a:prstGeom prst="rect">
            <a:avLst/>
          </a:prstGeom>
          <a:noFill/>
          <a:ln/>
        </p:spPr>
        <p:txBody>
          <a:bodyPr wrap="square" lIns="0" tIns="0" rIns="0" bIns="0" rtlCol="0" anchor="ctr"/>
          <a:lstStyle/>
          <a:p>
            <a:pPr indent="0" marL="0">
              <a:buNone/>
            </a:pPr>
            <a:r>
              <a:rPr lang="en-US" sz="1000" b="1" spc="110" kern="0" dirty="0">
                <a:solidFill>
                  <a:srgbClr val="725B9B"/>
                </a:solidFill>
                <a:latin typeface="Arial" pitchFamily="34" charset="0"/>
                <a:ea typeface="Arial" pitchFamily="34" charset="-122"/>
                <a:cs typeface="Arial" pitchFamily="34" charset="-120"/>
              </a:rPr>
              <a:t>LỚP KHÁI NIỆM · TBOX / SCHEMA</a:t>
            </a:r>
            <a:endParaRPr lang="en-US" sz="1000" dirty="0"/>
          </a:p>
        </p:txBody>
      </p:sp>
      <p:sp>
        <p:nvSpPr>
          <p:cNvPr id="6" name="Shape 4"/>
          <p:cNvSpPr/>
          <p:nvPr/>
        </p:nvSpPr>
        <p:spPr>
          <a:xfrm>
            <a:off x="685800" y="2148840"/>
            <a:ext cx="2103120" cy="1143000"/>
          </a:xfrm>
          <a:prstGeom prst="roundRect">
            <a:avLst>
              <a:gd name="adj" fmla="val 48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7" name="Text 5"/>
          <p:cNvSpPr/>
          <p:nvPr/>
        </p:nvSpPr>
        <p:spPr>
          <a:xfrm>
            <a:off x="914400" y="2331720"/>
            <a:ext cx="1645920" cy="301752"/>
          </a:xfrm>
          <a:prstGeom prst="rect">
            <a:avLst/>
          </a:prstGeom>
          <a:noFill/>
          <a:ln/>
        </p:spPr>
        <p:txBody>
          <a:bodyPr wrap="square" lIns="0" tIns="0" rIns="0" bIns="0" rtlCol="0" anchor="ctr">
            <a:normAutofit/>
          </a:bodyPr>
          <a:lstStyle/>
          <a:p>
            <a:pPr indent="0" marL="0">
              <a:buNone/>
            </a:pPr>
            <a:r>
              <a:rPr lang="en-US" sz="1600" b="1" dirty="0">
                <a:solidFill>
                  <a:srgbClr val="725B9B"/>
                </a:solidFill>
                <a:latin typeface="Calibri" pitchFamily="34" charset="0"/>
                <a:ea typeface="Calibri" pitchFamily="34" charset="-122"/>
                <a:cs typeface="Calibri" pitchFamily="34" charset="-120"/>
              </a:rPr>
              <a:t>Person</a:t>
            </a:r>
            <a:endParaRPr lang="en-US" sz="1600" dirty="0"/>
          </a:p>
        </p:txBody>
      </p:sp>
      <p:sp>
        <p:nvSpPr>
          <p:cNvPr id="8" name="Text 6"/>
          <p:cNvSpPr/>
          <p:nvPr/>
        </p:nvSpPr>
        <p:spPr>
          <a:xfrm>
            <a:off x="914400" y="2752344"/>
            <a:ext cx="164592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Một lớp thực thể</a:t>
            </a:r>
            <a:endParaRPr lang="en-US" sz="1150" dirty="0"/>
          </a:p>
        </p:txBody>
      </p:sp>
      <p:sp>
        <p:nvSpPr>
          <p:cNvPr id="9" name="Shape 7"/>
          <p:cNvSpPr/>
          <p:nvPr/>
        </p:nvSpPr>
        <p:spPr>
          <a:xfrm>
            <a:off x="3657600" y="2148840"/>
            <a:ext cx="2103120" cy="1143000"/>
          </a:xfrm>
          <a:prstGeom prst="roundRect">
            <a:avLst>
              <a:gd name="adj" fmla="val 48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3886200" y="2331720"/>
            <a:ext cx="1645920" cy="301752"/>
          </a:xfrm>
          <a:prstGeom prst="rect">
            <a:avLst/>
          </a:prstGeom>
          <a:noFill/>
          <a:ln/>
        </p:spPr>
        <p:txBody>
          <a:bodyPr wrap="square" lIns="0" tIns="0" rIns="0" bIns="0" rtlCol="0" anchor="ctr">
            <a:normAutofit/>
          </a:bodyPr>
          <a:lstStyle/>
          <a:p>
            <a:pPr indent="0" marL="0">
              <a:buNone/>
            </a:pPr>
            <a:r>
              <a:rPr lang="en-US" sz="1600" b="1" dirty="0">
                <a:solidFill>
                  <a:srgbClr val="337B80"/>
                </a:solidFill>
                <a:latin typeface="Calibri" pitchFamily="34" charset="0"/>
                <a:ea typeface="Calibri" pitchFamily="34" charset="-122"/>
                <a:cs typeface="Calibri" pitchFamily="34" charset="-120"/>
              </a:rPr>
              <a:t>Movie</a:t>
            </a:r>
            <a:endParaRPr lang="en-US" sz="1600" dirty="0"/>
          </a:p>
        </p:txBody>
      </p:sp>
      <p:sp>
        <p:nvSpPr>
          <p:cNvPr id="11" name="Text 9"/>
          <p:cNvSpPr/>
          <p:nvPr/>
        </p:nvSpPr>
        <p:spPr>
          <a:xfrm>
            <a:off x="3886200" y="2752344"/>
            <a:ext cx="164592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Một lớp thực thể</a:t>
            </a:r>
            <a:endParaRPr lang="en-US" sz="1150" dirty="0"/>
          </a:p>
        </p:txBody>
      </p:sp>
      <p:sp>
        <p:nvSpPr>
          <p:cNvPr id="12" name="Shape 10"/>
          <p:cNvSpPr/>
          <p:nvPr/>
        </p:nvSpPr>
        <p:spPr>
          <a:xfrm>
            <a:off x="2816352" y="2724912"/>
            <a:ext cx="795528" cy="0"/>
          </a:xfrm>
          <a:prstGeom prst="line">
            <a:avLst/>
          </a:prstGeom>
          <a:noFill/>
          <a:ln w="25400">
            <a:solidFill>
              <a:srgbClr val="3D8B66"/>
            </a:solidFill>
            <a:prstDash val="solid"/>
            <a:tailEnd type="triangle"/>
          </a:ln>
        </p:spPr>
      </p:sp>
      <p:sp>
        <p:nvSpPr>
          <p:cNvPr id="13" name="Text 11"/>
          <p:cNvSpPr/>
          <p:nvPr/>
        </p:nvSpPr>
        <p:spPr>
          <a:xfrm>
            <a:off x="2816352" y="2359152"/>
            <a:ext cx="795528" cy="182880"/>
          </a:xfrm>
          <a:prstGeom prst="rect">
            <a:avLst/>
          </a:prstGeom>
          <a:noFill/>
          <a:ln/>
        </p:spPr>
        <p:txBody>
          <a:bodyPr wrap="square" lIns="0" tIns="0" rIns="0" bIns="0" rtlCol="0" anchor="ctr"/>
          <a:lstStyle/>
          <a:p>
            <a:pPr algn="ctr" indent="0" marL="0">
              <a:buNone/>
            </a:pPr>
            <a:r>
              <a:rPr lang="en-US" sz="900" b="1" dirty="0">
                <a:solidFill>
                  <a:srgbClr val="3D8B66"/>
                </a:solidFill>
                <a:latin typeface="Arial" pitchFamily="34" charset="0"/>
                <a:ea typeface="Arial" pitchFamily="34" charset="-122"/>
                <a:cs typeface="Arial" pitchFamily="34" charset="-120"/>
              </a:rPr>
              <a:t>directed</a:t>
            </a:r>
            <a:endParaRPr lang="en-US" sz="900" dirty="0"/>
          </a:p>
        </p:txBody>
      </p:sp>
      <p:sp>
        <p:nvSpPr>
          <p:cNvPr id="14" name="Text 12"/>
          <p:cNvSpPr/>
          <p:nvPr/>
        </p:nvSpPr>
        <p:spPr>
          <a:xfrm>
            <a:off x="1417320" y="3584448"/>
            <a:ext cx="3566160" cy="256032"/>
          </a:xfrm>
          <a:prstGeom prst="rect">
            <a:avLst/>
          </a:prstGeom>
          <a:noFill/>
          <a:ln/>
        </p:spPr>
        <p:txBody>
          <a:bodyPr wrap="square" lIns="0" tIns="0" rIns="0" bIns="0" rtlCol="0" anchor="ctr"/>
          <a:lstStyle/>
          <a:p>
            <a:pPr algn="ctr" indent="0" marL="0">
              <a:buNone/>
            </a:pPr>
            <a:r>
              <a:rPr lang="en-US" sz="1300" b="1" dirty="0">
                <a:solidFill>
                  <a:srgbClr val="112B46"/>
                </a:solidFill>
                <a:latin typeface="Calibri" pitchFamily="34" charset="0"/>
                <a:ea typeface="Calibri" pitchFamily="34" charset="-122"/>
                <a:cs typeface="Calibri" pitchFamily="34" charset="-120"/>
              </a:rPr>
              <a:t>Domain: Person · Range: Movie</a:t>
            </a:r>
            <a:endParaRPr lang="en-US" sz="1300" dirty="0"/>
          </a:p>
        </p:txBody>
      </p:sp>
      <p:sp>
        <p:nvSpPr>
          <p:cNvPr id="15" name="Shape 13"/>
          <p:cNvSpPr/>
          <p:nvPr/>
        </p:nvSpPr>
        <p:spPr>
          <a:xfrm>
            <a:off x="6080760" y="2057400"/>
            <a:ext cx="914400" cy="1874520"/>
          </a:xfrm>
          <a:prstGeom prst="chevron">
            <a:avLst/>
          </a:prstGeom>
          <a:solidFill>
            <a:srgbClr val="FFF2DF"/>
          </a:solidFill>
          <a:ln w="12700">
            <a:solidFill>
              <a:srgbClr val="D38B36"/>
            </a:solidFill>
            <a:prstDash val="solid"/>
          </a:ln>
        </p:spPr>
      </p:sp>
      <p:sp>
        <p:nvSpPr>
          <p:cNvPr id="16" name="Text 14"/>
          <p:cNvSpPr/>
          <p:nvPr/>
        </p:nvSpPr>
        <p:spPr>
          <a:xfrm rot="5400000">
            <a:off x="6126480" y="2761488"/>
            <a:ext cx="640080" cy="228600"/>
          </a:xfrm>
          <a:prstGeom prst="rect">
            <a:avLst/>
          </a:prstGeom>
          <a:noFill/>
          <a:ln/>
        </p:spPr>
        <p:txBody>
          <a:bodyPr wrap="square" lIns="0" tIns="0" rIns="0" bIns="0" rtlCol="0" anchor="ctr"/>
          <a:lstStyle/>
          <a:p>
            <a:pPr algn="ctr" indent="0" marL="0">
              <a:buNone/>
            </a:pPr>
            <a:r>
              <a:rPr lang="en-US" sz="900" b="1" dirty="0">
                <a:solidFill>
                  <a:srgbClr val="D38B36"/>
                </a:solidFill>
                <a:latin typeface="Arial" pitchFamily="34" charset="0"/>
                <a:ea typeface="Arial" pitchFamily="34" charset="-122"/>
                <a:cs typeface="Arial" pitchFamily="34" charset="-120"/>
              </a:rPr>
              <a:t>thể hiện</a:t>
            </a:r>
            <a:endParaRPr lang="en-US" sz="900" dirty="0"/>
          </a:p>
        </p:txBody>
      </p:sp>
      <p:sp>
        <p:nvSpPr>
          <p:cNvPr id="17" name="Text 15"/>
          <p:cNvSpPr/>
          <p:nvPr/>
        </p:nvSpPr>
        <p:spPr>
          <a:xfrm>
            <a:off x="7360920" y="1755648"/>
            <a:ext cx="3840480" cy="228600"/>
          </a:xfrm>
          <a:prstGeom prst="rect">
            <a:avLst/>
          </a:prstGeom>
          <a:noFill/>
          <a:ln/>
        </p:spPr>
        <p:txBody>
          <a:bodyPr wrap="square" lIns="0" tIns="0" rIns="0" bIns="0" rtlCol="0" anchor="ctr"/>
          <a:lstStyle/>
          <a:p>
            <a:pPr indent="0" marL="0">
              <a:buNone/>
            </a:pPr>
            <a:r>
              <a:rPr lang="en-US" sz="1000" b="1" spc="110" kern="0" dirty="0">
                <a:solidFill>
                  <a:srgbClr val="337B80"/>
                </a:solidFill>
                <a:latin typeface="Arial" pitchFamily="34" charset="0"/>
                <a:ea typeface="Arial" pitchFamily="34" charset="-122"/>
                <a:cs typeface="Arial" pitchFamily="34" charset="-120"/>
              </a:rPr>
              <a:t>LỚP SỰ KIỆN · ABOX / INSTANCE</a:t>
            </a:r>
            <a:endParaRPr lang="en-US" sz="1000" dirty="0"/>
          </a:p>
        </p:txBody>
      </p:sp>
      <p:sp>
        <p:nvSpPr>
          <p:cNvPr id="18" name="Shape 16"/>
          <p:cNvSpPr/>
          <p:nvPr/>
        </p:nvSpPr>
        <p:spPr>
          <a:xfrm>
            <a:off x="7360920" y="2148840"/>
            <a:ext cx="1874520" cy="1143000"/>
          </a:xfrm>
          <a:prstGeom prst="roundRect">
            <a:avLst>
              <a:gd name="adj" fmla="val 48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9" name="Text 17"/>
          <p:cNvSpPr/>
          <p:nvPr/>
        </p:nvSpPr>
        <p:spPr>
          <a:xfrm>
            <a:off x="7589520" y="2331720"/>
            <a:ext cx="1417320" cy="301752"/>
          </a:xfrm>
          <a:prstGeom prst="rect">
            <a:avLst/>
          </a:prstGeom>
          <a:noFill/>
          <a:ln/>
        </p:spPr>
        <p:txBody>
          <a:bodyPr wrap="square" lIns="0" tIns="0" rIns="0" bIns="0" rtlCol="0" anchor="ctr">
            <a:normAutofit/>
          </a:bodyPr>
          <a:lstStyle/>
          <a:p>
            <a:pPr indent="0" marL="0">
              <a:buNone/>
            </a:pPr>
            <a:r>
              <a:rPr lang="en-US" sz="1600" b="1" dirty="0">
                <a:solidFill>
                  <a:srgbClr val="725B9B"/>
                </a:solidFill>
                <a:latin typeface="Calibri" pitchFamily="34" charset="0"/>
                <a:ea typeface="Calibri" pitchFamily="34" charset="-122"/>
                <a:cs typeface="Calibri" pitchFamily="34" charset="-120"/>
              </a:rPr>
              <a:t>Nolan</a:t>
            </a:r>
            <a:endParaRPr lang="en-US" sz="1600" dirty="0"/>
          </a:p>
        </p:txBody>
      </p:sp>
      <p:sp>
        <p:nvSpPr>
          <p:cNvPr id="20" name="Text 18"/>
          <p:cNvSpPr/>
          <p:nvPr/>
        </p:nvSpPr>
        <p:spPr>
          <a:xfrm>
            <a:off x="7589520" y="2752344"/>
            <a:ext cx="141732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instanceOf Person</a:t>
            </a:r>
            <a:endParaRPr lang="en-US" sz="1150" dirty="0"/>
          </a:p>
        </p:txBody>
      </p:sp>
      <p:sp>
        <p:nvSpPr>
          <p:cNvPr id="21" name="Shape 19"/>
          <p:cNvSpPr/>
          <p:nvPr/>
        </p:nvSpPr>
        <p:spPr>
          <a:xfrm>
            <a:off x="10012680" y="2148840"/>
            <a:ext cx="1554480" cy="1143000"/>
          </a:xfrm>
          <a:prstGeom prst="roundRect">
            <a:avLst>
              <a:gd name="adj" fmla="val 48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22" name="Text 20"/>
          <p:cNvSpPr/>
          <p:nvPr/>
        </p:nvSpPr>
        <p:spPr>
          <a:xfrm>
            <a:off x="10241280" y="2331720"/>
            <a:ext cx="1097280" cy="301752"/>
          </a:xfrm>
          <a:prstGeom prst="rect">
            <a:avLst/>
          </a:prstGeom>
          <a:noFill/>
          <a:ln/>
        </p:spPr>
        <p:txBody>
          <a:bodyPr wrap="square" lIns="0" tIns="0" rIns="0" bIns="0" rtlCol="0" anchor="ctr">
            <a:normAutofit/>
          </a:bodyPr>
          <a:lstStyle/>
          <a:p>
            <a:pPr indent="0" marL="0">
              <a:buNone/>
            </a:pPr>
            <a:r>
              <a:rPr lang="en-US" sz="1500" b="1" dirty="0">
                <a:solidFill>
                  <a:srgbClr val="337B80"/>
                </a:solidFill>
                <a:latin typeface="Calibri" pitchFamily="34" charset="0"/>
                <a:ea typeface="Calibri" pitchFamily="34" charset="-122"/>
                <a:cs typeface="Calibri" pitchFamily="34" charset="-120"/>
              </a:rPr>
              <a:t>Inception</a:t>
            </a:r>
            <a:endParaRPr lang="en-US" sz="1500" dirty="0"/>
          </a:p>
        </p:txBody>
      </p:sp>
      <p:sp>
        <p:nvSpPr>
          <p:cNvPr id="23" name="Text 21"/>
          <p:cNvSpPr/>
          <p:nvPr/>
        </p:nvSpPr>
        <p:spPr>
          <a:xfrm>
            <a:off x="10241280" y="2752344"/>
            <a:ext cx="109728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instanceOf Movie</a:t>
            </a:r>
            <a:endParaRPr lang="en-US" sz="1150" dirty="0"/>
          </a:p>
        </p:txBody>
      </p:sp>
      <p:sp>
        <p:nvSpPr>
          <p:cNvPr id="24" name="Shape 22"/>
          <p:cNvSpPr/>
          <p:nvPr/>
        </p:nvSpPr>
        <p:spPr>
          <a:xfrm>
            <a:off x="9253728" y="2724912"/>
            <a:ext cx="731520" cy="0"/>
          </a:xfrm>
          <a:prstGeom prst="line">
            <a:avLst/>
          </a:prstGeom>
          <a:noFill/>
          <a:ln w="25400">
            <a:solidFill>
              <a:srgbClr val="3D8B66"/>
            </a:solidFill>
            <a:prstDash val="solid"/>
            <a:tailEnd type="triangle"/>
          </a:ln>
        </p:spPr>
      </p:sp>
      <p:sp>
        <p:nvSpPr>
          <p:cNvPr id="25" name="Text 23"/>
          <p:cNvSpPr/>
          <p:nvPr/>
        </p:nvSpPr>
        <p:spPr>
          <a:xfrm>
            <a:off x="9253728" y="2359152"/>
            <a:ext cx="731520" cy="182880"/>
          </a:xfrm>
          <a:prstGeom prst="rect">
            <a:avLst/>
          </a:prstGeom>
          <a:noFill/>
          <a:ln/>
        </p:spPr>
        <p:txBody>
          <a:bodyPr wrap="square" lIns="0" tIns="0" rIns="0" bIns="0" rtlCol="0" anchor="ctr"/>
          <a:lstStyle/>
          <a:p>
            <a:pPr algn="ctr" indent="0" marL="0">
              <a:buNone/>
            </a:pPr>
            <a:r>
              <a:rPr lang="en-US" sz="900" b="1" dirty="0">
                <a:solidFill>
                  <a:srgbClr val="3D8B66"/>
                </a:solidFill>
                <a:latin typeface="Arial" pitchFamily="34" charset="0"/>
                <a:ea typeface="Arial" pitchFamily="34" charset="-122"/>
                <a:cs typeface="Arial" pitchFamily="34" charset="-120"/>
              </a:rPr>
              <a:t>directed</a:t>
            </a:r>
            <a:endParaRPr lang="en-US" sz="900" dirty="0"/>
          </a:p>
        </p:txBody>
      </p:sp>
      <p:sp>
        <p:nvSpPr>
          <p:cNvPr id="26" name="Shape 24"/>
          <p:cNvSpPr/>
          <p:nvPr/>
        </p:nvSpPr>
        <p:spPr>
          <a:xfrm>
            <a:off x="1005840" y="4681728"/>
            <a:ext cx="3063240" cy="960120"/>
          </a:xfrm>
          <a:prstGeom prst="roundRect">
            <a:avLst>
              <a:gd name="adj" fmla="val 5714"/>
            </a:avLst>
          </a:prstGeom>
          <a:solidFill>
            <a:srgbClr val="FFFFFF"/>
          </a:solidFill>
          <a:ln w="12700">
            <a:solidFill>
              <a:srgbClr val="D7DEE8"/>
            </a:solidFill>
            <a:prstDash val="solid"/>
          </a:ln>
        </p:spPr>
      </p:sp>
      <p:sp>
        <p:nvSpPr>
          <p:cNvPr id="27" name="Shape 25"/>
          <p:cNvSpPr/>
          <p:nvPr/>
        </p:nvSpPr>
        <p:spPr>
          <a:xfrm>
            <a:off x="1207008" y="4882896"/>
            <a:ext cx="384048" cy="384048"/>
          </a:xfrm>
          <a:prstGeom prst="ellipse">
            <a:avLst/>
          </a:prstGeom>
          <a:solidFill>
            <a:srgbClr val="337B80"/>
          </a:solidFill>
          <a:ln w="12700">
            <a:solidFill>
              <a:srgbClr val="337B80"/>
            </a:solidFill>
            <a:prstDash val="solid"/>
          </a:ln>
        </p:spPr>
      </p:sp>
      <p:sp>
        <p:nvSpPr>
          <p:cNvPr id="28" name="Text 26"/>
          <p:cNvSpPr/>
          <p:nvPr/>
        </p:nvSpPr>
        <p:spPr>
          <a:xfrm>
            <a:off x="1207008" y="493776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29" name="Text 27"/>
          <p:cNvSpPr/>
          <p:nvPr/>
        </p:nvSpPr>
        <p:spPr>
          <a:xfrm>
            <a:off x="1719072" y="4864608"/>
            <a:ext cx="21488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Graph schema</a:t>
            </a:r>
            <a:endParaRPr lang="en-US" sz="1600" dirty="0"/>
          </a:p>
        </p:txBody>
      </p:sp>
      <p:sp>
        <p:nvSpPr>
          <p:cNvPr id="30" name="Text 28"/>
          <p:cNvSpPr/>
          <p:nvPr/>
        </p:nvSpPr>
        <p:spPr>
          <a:xfrm>
            <a:off x="1234440" y="5285232"/>
            <a:ext cx="2606040" cy="17373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Định nghĩa label, thuộc tính, quan hệ, ràng buộc.</a:t>
            </a:r>
            <a:endParaRPr lang="en-US" sz="1150" dirty="0"/>
          </a:p>
        </p:txBody>
      </p:sp>
      <p:sp>
        <p:nvSpPr>
          <p:cNvPr id="31" name="Shape 29"/>
          <p:cNvSpPr/>
          <p:nvPr/>
        </p:nvSpPr>
        <p:spPr>
          <a:xfrm>
            <a:off x="4572000" y="4681728"/>
            <a:ext cx="3063240" cy="960120"/>
          </a:xfrm>
          <a:prstGeom prst="roundRect">
            <a:avLst>
              <a:gd name="adj" fmla="val 5714"/>
            </a:avLst>
          </a:prstGeom>
          <a:solidFill>
            <a:srgbClr val="F0ECF7"/>
          </a:solidFill>
          <a:ln w="12700">
            <a:solidFill>
              <a:srgbClr val="D7DEE8"/>
            </a:solidFill>
            <a:prstDash val="solid"/>
          </a:ln>
        </p:spPr>
      </p:sp>
      <p:sp>
        <p:nvSpPr>
          <p:cNvPr id="32" name="Shape 30"/>
          <p:cNvSpPr/>
          <p:nvPr/>
        </p:nvSpPr>
        <p:spPr>
          <a:xfrm>
            <a:off x="4773168" y="4882896"/>
            <a:ext cx="384048" cy="384048"/>
          </a:xfrm>
          <a:prstGeom prst="ellipse">
            <a:avLst/>
          </a:prstGeom>
          <a:solidFill>
            <a:srgbClr val="725B9B"/>
          </a:solidFill>
          <a:ln w="12700">
            <a:solidFill>
              <a:srgbClr val="725B9B"/>
            </a:solidFill>
            <a:prstDash val="solid"/>
          </a:ln>
        </p:spPr>
      </p:sp>
      <p:sp>
        <p:nvSpPr>
          <p:cNvPr id="33" name="Text 31"/>
          <p:cNvSpPr/>
          <p:nvPr/>
        </p:nvSpPr>
        <p:spPr>
          <a:xfrm>
            <a:off x="4773168" y="493776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34" name="Text 32"/>
          <p:cNvSpPr/>
          <p:nvPr/>
        </p:nvSpPr>
        <p:spPr>
          <a:xfrm>
            <a:off x="5285232" y="4864608"/>
            <a:ext cx="21488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Knowledge base</a:t>
            </a:r>
            <a:endParaRPr lang="en-US" sz="1600" dirty="0"/>
          </a:p>
        </p:txBody>
      </p:sp>
      <p:sp>
        <p:nvSpPr>
          <p:cNvPr id="35" name="Text 33"/>
          <p:cNvSpPr/>
          <p:nvPr/>
        </p:nvSpPr>
        <p:spPr>
          <a:xfrm>
            <a:off x="4800600" y="5285232"/>
            <a:ext cx="2606040" cy="17373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Schema + tập instance/fact đang lưu.</a:t>
            </a:r>
            <a:endParaRPr lang="en-US" sz="1150" dirty="0"/>
          </a:p>
        </p:txBody>
      </p:sp>
      <p:sp>
        <p:nvSpPr>
          <p:cNvPr id="36" name="Shape 34"/>
          <p:cNvSpPr/>
          <p:nvPr/>
        </p:nvSpPr>
        <p:spPr>
          <a:xfrm>
            <a:off x="8138160" y="4681728"/>
            <a:ext cx="3063240" cy="960120"/>
          </a:xfrm>
          <a:prstGeom prst="roundRect">
            <a:avLst>
              <a:gd name="adj" fmla="val 5714"/>
            </a:avLst>
          </a:prstGeom>
          <a:solidFill>
            <a:srgbClr val="E8F4EE"/>
          </a:solidFill>
          <a:ln w="12700">
            <a:solidFill>
              <a:srgbClr val="D7DEE8"/>
            </a:solidFill>
            <a:prstDash val="solid"/>
          </a:ln>
        </p:spPr>
      </p:sp>
      <p:sp>
        <p:nvSpPr>
          <p:cNvPr id="37" name="Shape 35"/>
          <p:cNvSpPr/>
          <p:nvPr/>
        </p:nvSpPr>
        <p:spPr>
          <a:xfrm>
            <a:off x="8339328" y="4882896"/>
            <a:ext cx="384048" cy="384048"/>
          </a:xfrm>
          <a:prstGeom prst="ellipse">
            <a:avLst/>
          </a:prstGeom>
          <a:solidFill>
            <a:srgbClr val="3D8B66"/>
          </a:solidFill>
          <a:ln w="12700">
            <a:solidFill>
              <a:srgbClr val="3D8B66"/>
            </a:solidFill>
            <a:prstDash val="solid"/>
          </a:ln>
        </p:spPr>
      </p:sp>
      <p:sp>
        <p:nvSpPr>
          <p:cNvPr id="38" name="Text 36"/>
          <p:cNvSpPr/>
          <p:nvPr/>
        </p:nvSpPr>
        <p:spPr>
          <a:xfrm>
            <a:off x="8339328" y="493776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39" name="Text 37"/>
          <p:cNvSpPr/>
          <p:nvPr/>
        </p:nvSpPr>
        <p:spPr>
          <a:xfrm>
            <a:off x="8851392" y="4864608"/>
            <a:ext cx="21488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Knowledge Graph</a:t>
            </a:r>
            <a:endParaRPr lang="en-US" sz="1600" dirty="0"/>
          </a:p>
        </p:txBody>
      </p:sp>
      <p:sp>
        <p:nvSpPr>
          <p:cNvPr id="40" name="Text 38"/>
          <p:cNvSpPr/>
          <p:nvPr/>
        </p:nvSpPr>
        <p:spPr>
          <a:xfrm>
            <a:off x="8366760" y="5285232"/>
            <a:ext cx="2606040" cy="17373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Knowledge base được tổ chức và truy vấn như đồ thị.</a:t>
            </a:r>
            <a:endParaRPr lang="en-US" sz="11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MÔ HÌNH BIỂU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Property Graph biểu diễn trực tiếp node, cạnh và thuộc tính</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Đây là mô hình graph duy nhất được triển khai trong project.</a:t>
            </a:r>
            <a:endParaRPr lang="en-US" sz="1250" dirty="0"/>
          </a:p>
        </p:txBody>
      </p:sp>
      <p:sp>
        <p:nvSpPr>
          <p:cNvPr id="5" name="Shape 3"/>
          <p:cNvSpPr/>
          <p:nvPr/>
        </p:nvSpPr>
        <p:spPr>
          <a:xfrm>
            <a:off x="621792" y="1755648"/>
            <a:ext cx="7059168" cy="4297680"/>
          </a:xfrm>
          <a:prstGeom prst="roundRect">
            <a:avLst>
              <a:gd name="adj" fmla="val 1064"/>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96112" y="2011680"/>
            <a:ext cx="2011680" cy="219456"/>
          </a:xfrm>
          <a:prstGeom prst="rect">
            <a:avLst/>
          </a:prstGeom>
          <a:noFill/>
          <a:ln/>
        </p:spPr>
        <p:txBody>
          <a:bodyPr wrap="square" lIns="0" tIns="0" rIns="0" bIns="0" rtlCol="0" anchor="ctr"/>
          <a:lstStyle/>
          <a:p>
            <a:pPr indent="0" marL="0">
              <a:buNone/>
            </a:pPr>
            <a:r>
              <a:rPr lang="en-US" sz="950" b="1" spc="110" kern="0" dirty="0">
                <a:solidFill>
                  <a:srgbClr val="337B80"/>
                </a:solidFill>
                <a:latin typeface="Arial" pitchFamily="34" charset="0"/>
                <a:ea typeface="Arial" pitchFamily="34" charset="-122"/>
                <a:cs typeface="Arial" pitchFamily="34" charset="-120"/>
              </a:rPr>
              <a:t>VÍ DỤ KHÁI NIỆM</a:t>
            </a:r>
            <a:endParaRPr lang="en-US" sz="950" dirty="0"/>
          </a:p>
        </p:txBody>
      </p:sp>
      <p:sp>
        <p:nvSpPr>
          <p:cNvPr id="7" name="Shape 5"/>
          <p:cNvSpPr/>
          <p:nvPr/>
        </p:nvSpPr>
        <p:spPr>
          <a:xfrm>
            <a:off x="987552" y="2743200"/>
            <a:ext cx="1508760" cy="1508760"/>
          </a:xfrm>
          <a:prstGeom prst="ellipse">
            <a:avLst/>
          </a:prstGeom>
          <a:solidFill>
            <a:srgbClr val="F0ECF7"/>
          </a:solidFill>
          <a:ln w="25400">
            <a:solidFill>
              <a:srgbClr val="725B9B"/>
            </a:solidFill>
            <a:prstDash val="solid"/>
          </a:ln>
          <a:effectLst>
            <a:outerShdw sx="100000" sy="100000" kx="0" ky="0" algn="bl" rotWithShape="0" blurRad="25400" dist="50800" dir="2700000">
              <a:srgbClr val="26384A">
                <a:alpha val="13000"/>
              </a:srgbClr>
            </a:outerShdw>
          </a:effectLst>
        </p:spPr>
      </p:sp>
      <p:sp>
        <p:nvSpPr>
          <p:cNvPr id="8" name="Text 6"/>
          <p:cNvSpPr/>
          <p:nvPr/>
        </p:nvSpPr>
        <p:spPr>
          <a:xfrm>
            <a:off x="1216152" y="3246120"/>
            <a:ext cx="1051560" cy="274320"/>
          </a:xfrm>
          <a:prstGeom prst="rect">
            <a:avLst/>
          </a:prstGeom>
          <a:noFill/>
          <a:ln/>
        </p:spPr>
        <p:txBody>
          <a:bodyPr wrap="square" lIns="0" tIns="0" rIns="0" bIns="0" rtlCol="0" anchor="ctr"/>
          <a:lstStyle/>
          <a:p>
            <a:pPr algn="ctr" indent="0" marL="0">
              <a:buNone/>
            </a:pPr>
            <a:r>
              <a:rPr lang="en-US" sz="1800" b="1" dirty="0">
                <a:solidFill>
                  <a:srgbClr val="725B9B"/>
                </a:solidFill>
                <a:latin typeface="Calibri" pitchFamily="34" charset="0"/>
                <a:ea typeface="Calibri" pitchFamily="34" charset="-122"/>
                <a:cs typeface="Calibri" pitchFamily="34" charset="-120"/>
              </a:rPr>
              <a:t>:Person</a:t>
            </a:r>
            <a:endParaRPr lang="en-US" sz="1800" dirty="0"/>
          </a:p>
        </p:txBody>
      </p:sp>
      <p:sp>
        <p:nvSpPr>
          <p:cNvPr id="9" name="Shape 7"/>
          <p:cNvSpPr/>
          <p:nvPr/>
        </p:nvSpPr>
        <p:spPr>
          <a:xfrm>
            <a:off x="5413248" y="2743200"/>
            <a:ext cx="1508760" cy="1508760"/>
          </a:xfrm>
          <a:prstGeom prst="ellipse">
            <a:avLst/>
          </a:prstGeom>
          <a:solidFill>
            <a:srgbClr val="EAF2F8"/>
          </a:solidFill>
          <a:ln w="25400">
            <a:solidFill>
              <a:srgbClr val="337B80"/>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5641848" y="3246120"/>
            <a:ext cx="1051560" cy="274320"/>
          </a:xfrm>
          <a:prstGeom prst="rect">
            <a:avLst/>
          </a:prstGeom>
          <a:noFill/>
          <a:ln/>
        </p:spPr>
        <p:txBody>
          <a:bodyPr wrap="square" lIns="0" tIns="0" rIns="0" bIns="0" rtlCol="0" anchor="ctr"/>
          <a:lstStyle/>
          <a:p>
            <a:pPr algn="ctr" indent="0" marL="0">
              <a:buNone/>
            </a:pPr>
            <a:r>
              <a:rPr lang="en-US" sz="1800" b="1" dirty="0">
                <a:solidFill>
                  <a:srgbClr val="337B80"/>
                </a:solidFill>
                <a:latin typeface="Calibri" pitchFamily="34" charset="0"/>
                <a:ea typeface="Calibri" pitchFamily="34" charset="-122"/>
                <a:cs typeface="Calibri" pitchFamily="34" charset="-120"/>
              </a:rPr>
              <a:t>:Movie</a:t>
            </a:r>
            <a:endParaRPr lang="en-US" sz="1800" dirty="0"/>
          </a:p>
        </p:txBody>
      </p:sp>
      <p:sp>
        <p:nvSpPr>
          <p:cNvPr id="11" name="Shape 9"/>
          <p:cNvSpPr/>
          <p:nvPr/>
        </p:nvSpPr>
        <p:spPr>
          <a:xfrm>
            <a:off x="2542032" y="3493008"/>
            <a:ext cx="2816352" cy="0"/>
          </a:xfrm>
          <a:prstGeom prst="line">
            <a:avLst/>
          </a:prstGeom>
          <a:noFill/>
          <a:ln w="31750">
            <a:solidFill>
              <a:srgbClr val="3D8B66"/>
            </a:solidFill>
            <a:prstDash val="solid"/>
            <a:tailEnd type="triangle"/>
          </a:ln>
        </p:spPr>
      </p:sp>
      <p:sp>
        <p:nvSpPr>
          <p:cNvPr id="12" name="Text 10"/>
          <p:cNvSpPr/>
          <p:nvPr/>
        </p:nvSpPr>
        <p:spPr>
          <a:xfrm>
            <a:off x="3218688" y="3035808"/>
            <a:ext cx="1508760" cy="237744"/>
          </a:xfrm>
          <a:prstGeom prst="rect">
            <a:avLst/>
          </a:prstGeom>
          <a:noFill/>
          <a:ln/>
        </p:spPr>
        <p:txBody>
          <a:bodyPr wrap="square" lIns="0" tIns="0" rIns="0" bIns="0" rtlCol="0" anchor="ctr"/>
          <a:lstStyle/>
          <a:p>
            <a:pPr algn="ctr" indent="0" marL="0">
              <a:buNone/>
            </a:pPr>
            <a:r>
              <a:rPr lang="en-US" sz="1100" b="1" dirty="0">
                <a:solidFill>
                  <a:srgbClr val="3D8B66"/>
                </a:solidFill>
                <a:latin typeface="Arial" pitchFamily="34" charset="0"/>
                <a:ea typeface="Arial" pitchFamily="34" charset="-122"/>
                <a:cs typeface="Arial" pitchFamily="34" charset="-120"/>
              </a:rPr>
              <a:t>:ACTED_IN</a:t>
            </a:r>
            <a:endParaRPr lang="en-US" sz="1100" dirty="0"/>
          </a:p>
        </p:txBody>
      </p:sp>
      <p:sp>
        <p:nvSpPr>
          <p:cNvPr id="13" name="Shape 11"/>
          <p:cNvSpPr/>
          <p:nvPr/>
        </p:nvSpPr>
        <p:spPr>
          <a:xfrm>
            <a:off x="896112" y="4681728"/>
            <a:ext cx="2057400" cy="960120"/>
          </a:xfrm>
          <a:prstGeom prst="roundRect">
            <a:avLst>
              <a:gd name="adj" fmla="val 5714"/>
            </a:avLst>
          </a:prstGeom>
          <a:solidFill>
            <a:srgbClr val="F0ECF7"/>
          </a:solidFill>
          <a:ln w="12700">
            <a:solidFill>
              <a:srgbClr val="D9CFE8"/>
            </a:solidFill>
            <a:prstDash val="solid"/>
          </a:ln>
        </p:spPr>
      </p:sp>
      <p:sp>
        <p:nvSpPr>
          <p:cNvPr id="14" name="Text 12"/>
          <p:cNvSpPr/>
          <p:nvPr/>
        </p:nvSpPr>
        <p:spPr>
          <a:xfrm>
            <a:off x="1124712" y="4864608"/>
            <a:ext cx="160020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Node properties</a:t>
            </a:r>
            <a:endParaRPr lang="en-US" sz="1300" dirty="0"/>
          </a:p>
        </p:txBody>
      </p:sp>
      <p:sp>
        <p:nvSpPr>
          <p:cNvPr id="15" name="Text 13"/>
          <p:cNvSpPr/>
          <p:nvPr/>
        </p:nvSpPr>
        <p:spPr>
          <a:xfrm>
            <a:off x="1124712" y="5285232"/>
            <a:ext cx="1600200" cy="173736"/>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name · birthday</a:t>
            </a:r>
            <a:endParaRPr lang="en-US" sz="1000" dirty="0"/>
          </a:p>
        </p:txBody>
      </p:sp>
      <p:sp>
        <p:nvSpPr>
          <p:cNvPr id="16" name="Shape 14"/>
          <p:cNvSpPr/>
          <p:nvPr/>
        </p:nvSpPr>
        <p:spPr>
          <a:xfrm>
            <a:off x="2999232" y="4681728"/>
            <a:ext cx="2286000" cy="960120"/>
          </a:xfrm>
          <a:prstGeom prst="roundRect">
            <a:avLst>
              <a:gd name="adj" fmla="val 5714"/>
            </a:avLst>
          </a:prstGeom>
          <a:solidFill>
            <a:srgbClr val="E8F4EE"/>
          </a:solidFill>
          <a:ln w="12700">
            <a:solidFill>
              <a:srgbClr val="C4E2D1"/>
            </a:solidFill>
            <a:prstDash val="solid"/>
          </a:ln>
        </p:spPr>
      </p:sp>
      <p:sp>
        <p:nvSpPr>
          <p:cNvPr id="17" name="Text 15"/>
          <p:cNvSpPr/>
          <p:nvPr/>
        </p:nvSpPr>
        <p:spPr>
          <a:xfrm>
            <a:off x="3227832" y="4864608"/>
            <a:ext cx="182880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Edge properties</a:t>
            </a:r>
            <a:endParaRPr lang="en-US" sz="1300" dirty="0"/>
          </a:p>
        </p:txBody>
      </p:sp>
      <p:sp>
        <p:nvSpPr>
          <p:cNvPr id="18" name="Text 16"/>
          <p:cNvSpPr/>
          <p:nvPr/>
        </p:nvSpPr>
        <p:spPr>
          <a:xfrm>
            <a:off x="3227832" y="5285232"/>
            <a:ext cx="1828800" cy="173736"/>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character · cast_order</a:t>
            </a:r>
            <a:endParaRPr lang="en-US" sz="1000" dirty="0"/>
          </a:p>
        </p:txBody>
      </p:sp>
      <p:sp>
        <p:nvSpPr>
          <p:cNvPr id="19" name="Shape 17"/>
          <p:cNvSpPr/>
          <p:nvPr/>
        </p:nvSpPr>
        <p:spPr>
          <a:xfrm>
            <a:off x="5330952" y="4681728"/>
            <a:ext cx="2057400" cy="960120"/>
          </a:xfrm>
          <a:prstGeom prst="roundRect">
            <a:avLst>
              <a:gd name="adj" fmla="val 5714"/>
            </a:avLst>
          </a:prstGeom>
          <a:solidFill>
            <a:srgbClr val="EAF2F8"/>
          </a:solidFill>
          <a:ln w="12700">
            <a:solidFill>
              <a:srgbClr val="BDD4E5"/>
            </a:solidFill>
            <a:prstDash val="solid"/>
          </a:ln>
        </p:spPr>
      </p:sp>
      <p:sp>
        <p:nvSpPr>
          <p:cNvPr id="20" name="Text 18"/>
          <p:cNvSpPr/>
          <p:nvPr/>
        </p:nvSpPr>
        <p:spPr>
          <a:xfrm>
            <a:off x="5559552" y="4864608"/>
            <a:ext cx="160020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Node properties</a:t>
            </a:r>
            <a:endParaRPr lang="en-US" sz="1300" dirty="0"/>
          </a:p>
        </p:txBody>
      </p:sp>
      <p:sp>
        <p:nvSpPr>
          <p:cNvPr id="21" name="Text 19"/>
          <p:cNvSpPr/>
          <p:nvPr/>
        </p:nvSpPr>
        <p:spPr>
          <a:xfrm>
            <a:off x="5559552" y="5285232"/>
            <a:ext cx="1600200" cy="173736"/>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title · release_date</a:t>
            </a:r>
            <a:endParaRPr lang="en-US" sz="1000" dirty="0"/>
          </a:p>
        </p:txBody>
      </p:sp>
      <p:sp>
        <p:nvSpPr>
          <p:cNvPr id="22" name="Shape 20"/>
          <p:cNvSpPr/>
          <p:nvPr/>
        </p:nvSpPr>
        <p:spPr>
          <a:xfrm>
            <a:off x="7973568" y="1792224"/>
            <a:ext cx="3566160" cy="1097280"/>
          </a:xfrm>
          <a:prstGeom prst="roundRect">
            <a:avLst>
              <a:gd name="adj" fmla="val 50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23" name="Shape 21"/>
          <p:cNvSpPr/>
          <p:nvPr/>
        </p:nvSpPr>
        <p:spPr>
          <a:xfrm>
            <a:off x="8174736" y="1993392"/>
            <a:ext cx="384048" cy="384048"/>
          </a:xfrm>
          <a:prstGeom prst="ellipse">
            <a:avLst/>
          </a:prstGeom>
          <a:solidFill>
            <a:srgbClr val="337B80"/>
          </a:solidFill>
          <a:ln w="12700">
            <a:solidFill>
              <a:srgbClr val="337B80"/>
            </a:solidFill>
            <a:prstDash val="solid"/>
          </a:ln>
        </p:spPr>
      </p:sp>
      <p:sp>
        <p:nvSpPr>
          <p:cNvPr id="24" name="Text 22"/>
          <p:cNvSpPr/>
          <p:nvPr/>
        </p:nvSpPr>
        <p:spPr>
          <a:xfrm>
            <a:off x="8174736" y="2048256"/>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N</a:t>
            </a:r>
            <a:endParaRPr lang="en-US" sz="1000" dirty="0"/>
          </a:p>
        </p:txBody>
      </p:sp>
      <p:sp>
        <p:nvSpPr>
          <p:cNvPr id="25" name="Text 23"/>
          <p:cNvSpPr/>
          <p:nvPr/>
        </p:nvSpPr>
        <p:spPr>
          <a:xfrm>
            <a:off x="8686800" y="1975104"/>
            <a:ext cx="265176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Node</a:t>
            </a:r>
            <a:endParaRPr lang="en-US" sz="1600" dirty="0"/>
          </a:p>
        </p:txBody>
      </p:sp>
      <p:sp>
        <p:nvSpPr>
          <p:cNvPr id="26" name="Text 24"/>
          <p:cNvSpPr/>
          <p:nvPr/>
        </p:nvSpPr>
        <p:spPr>
          <a:xfrm>
            <a:off x="8202168" y="2395728"/>
            <a:ext cx="3108960" cy="31089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Thực thể có label, định danh và thuộc tính.</a:t>
            </a:r>
            <a:endParaRPr lang="en-US" sz="1150" dirty="0"/>
          </a:p>
        </p:txBody>
      </p:sp>
      <p:sp>
        <p:nvSpPr>
          <p:cNvPr id="27" name="Shape 25"/>
          <p:cNvSpPr/>
          <p:nvPr/>
        </p:nvSpPr>
        <p:spPr>
          <a:xfrm>
            <a:off x="7973568" y="3145536"/>
            <a:ext cx="3566160" cy="1097280"/>
          </a:xfrm>
          <a:prstGeom prst="roundRect">
            <a:avLst>
              <a:gd name="adj" fmla="val 50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28" name="Shape 26"/>
          <p:cNvSpPr/>
          <p:nvPr/>
        </p:nvSpPr>
        <p:spPr>
          <a:xfrm>
            <a:off x="8174736" y="3346704"/>
            <a:ext cx="384048" cy="384048"/>
          </a:xfrm>
          <a:prstGeom prst="ellipse">
            <a:avLst/>
          </a:prstGeom>
          <a:solidFill>
            <a:srgbClr val="3D8B66"/>
          </a:solidFill>
          <a:ln w="12700">
            <a:solidFill>
              <a:srgbClr val="3D8B66"/>
            </a:solidFill>
            <a:prstDash val="solid"/>
          </a:ln>
        </p:spPr>
      </p:sp>
      <p:sp>
        <p:nvSpPr>
          <p:cNvPr id="29" name="Text 27"/>
          <p:cNvSpPr/>
          <p:nvPr/>
        </p:nvSpPr>
        <p:spPr>
          <a:xfrm>
            <a:off x="8174736" y="3401568"/>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E</a:t>
            </a:r>
            <a:endParaRPr lang="en-US" sz="1000" dirty="0"/>
          </a:p>
        </p:txBody>
      </p:sp>
      <p:sp>
        <p:nvSpPr>
          <p:cNvPr id="30" name="Text 28"/>
          <p:cNvSpPr/>
          <p:nvPr/>
        </p:nvSpPr>
        <p:spPr>
          <a:xfrm>
            <a:off x="8686800" y="3328416"/>
            <a:ext cx="265176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Relationship</a:t>
            </a:r>
            <a:endParaRPr lang="en-US" sz="1600" dirty="0"/>
          </a:p>
        </p:txBody>
      </p:sp>
      <p:sp>
        <p:nvSpPr>
          <p:cNvPr id="31" name="Text 29"/>
          <p:cNvSpPr/>
          <p:nvPr/>
        </p:nvSpPr>
        <p:spPr>
          <a:xfrm>
            <a:off x="8202168" y="3749040"/>
            <a:ext cx="3108960" cy="31089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Cạnh có loại, hướng và nối hai node.</a:t>
            </a:r>
            <a:endParaRPr lang="en-US" sz="1150" dirty="0"/>
          </a:p>
        </p:txBody>
      </p:sp>
      <p:sp>
        <p:nvSpPr>
          <p:cNvPr id="32" name="Shape 30"/>
          <p:cNvSpPr/>
          <p:nvPr/>
        </p:nvSpPr>
        <p:spPr>
          <a:xfrm>
            <a:off x="7973568" y="4498848"/>
            <a:ext cx="3566160" cy="1097280"/>
          </a:xfrm>
          <a:prstGeom prst="roundRect">
            <a:avLst>
              <a:gd name="adj" fmla="val 50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33" name="Shape 31"/>
          <p:cNvSpPr/>
          <p:nvPr/>
        </p:nvSpPr>
        <p:spPr>
          <a:xfrm>
            <a:off x="8174736" y="4700016"/>
            <a:ext cx="384048" cy="384048"/>
          </a:xfrm>
          <a:prstGeom prst="ellipse">
            <a:avLst/>
          </a:prstGeom>
          <a:solidFill>
            <a:srgbClr val="725B9B"/>
          </a:solidFill>
          <a:ln w="12700">
            <a:solidFill>
              <a:srgbClr val="725B9B"/>
            </a:solidFill>
            <a:prstDash val="solid"/>
          </a:ln>
        </p:spPr>
      </p:sp>
      <p:sp>
        <p:nvSpPr>
          <p:cNvPr id="34" name="Text 32"/>
          <p:cNvSpPr/>
          <p:nvPr/>
        </p:nvSpPr>
        <p:spPr>
          <a:xfrm>
            <a:off x="8174736" y="475488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P</a:t>
            </a:r>
            <a:endParaRPr lang="en-US" sz="1000" dirty="0"/>
          </a:p>
        </p:txBody>
      </p:sp>
      <p:sp>
        <p:nvSpPr>
          <p:cNvPr id="35" name="Text 33"/>
          <p:cNvSpPr/>
          <p:nvPr/>
        </p:nvSpPr>
        <p:spPr>
          <a:xfrm>
            <a:off x="8686800" y="4681728"/>
            <a:ext cx="265176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Property</a:t>
            </a:r>
            <a:endParaRPr lang="en-US" sz="1600" dirty="0"/>
          </a:p>
        </p:txBody>
      </p:sp>
      <p:sp>
        <p:nvSpPr>
          <p:cNvPr id="36" name="Text 34"/>
          <p:cNvSpPr/>
          <p:nvPr/>
        </p:nvSpPr>
        <p:spPr>
          <a:xfrm>
            <a:off x="8202168" y="5102352"/>
            <a:ext cx="3108960" cy="31089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Dữ liệu mô tả có thể nằm trên cả node và cạnh.</a:t>
            </a:r>
            <a:endParaRPr lang="en-US" sz="10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TRUY VẤN VÀ SUY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Cypher vừa truy vấn mẫu đường đi, vừa vật chất hóa luật nghiệp vụ</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ngôn ngữ thống nhất cho constraint, traversal, aggregation và derived relationship.</a:t>
            </a:r>
            <a:endParaRPr lang="en-US" sz="1250" dirty="0"/>
          </a:p>
        </p:txBody>
      </p:sp>
      <p:sp>
        <p:nvSpPr>
          <p:cNvPr id="5" name="Shape 3"/>
          <p:cNvSpPr/>
          <p:nvPr/>
        </p:nvSpPr>
        <p:spPr>
          <a:xfrm>
            <a:off x="658368" y="1783080"/>
            <a:ext cx="5303520" cy="4160520"/>
          </a:xfrm>
          <a:prstGeom prst="roundRect">
            <a:avLst>
              <a:gd name="adj" fmla="val 1319"/>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86968" y="1965960"/>
            <a:ext cx="4846320" cy="301752"/>
          </a:xfrm>
          <a:prstGeom prst="rect">
            <a:avLst/>
          </a:prstGeom>
          <a:noFill/>
          <a:ln/>
        </p:spPr>
        <p:txBody>
          <a:bodyPr wrap="square" lIns="0" tIns="0" rIns="0" bIns="0" rtlCol="0" anchor="ctr">
            <a:normAutofit/>
          </a:bodyPr>
          <a:lstStyle/>
          <a:p>
            <a:pPr indent="0" marL="0">
              <a:buNone/>
            </a:pPr>
            <a:r>
              <a:rPr lang="en-US" sz="2100" b="1" dirty="0">
                <a:solidFill>
                  <a:srgbClr val="337B80"/>
                </a:solidFill>
                <a:latin typeface="Calibri" pitchFamily="34" charset="0"/>
                <a:ea typeface="Calibri" pitchFamily="34" charset="-122"/>
                <a:cs typeface="Calibri" pitchFamily="34" charset="-120"/>
              </a:rPr>
              <a:t>Truy vấn bằng pattern</a:t>
            </a:r>
            <a:endParaRPr lang="en-US" sz="2100" dirty="0"/>
          </a:p>
        </p:txBody>
      </p:sp>
      <p:sp>
        <p:nvSpPr>
          <p:cNvPr id="7" name="Text 5"/>
          <p:cNvSpPr/>
          <p:nvPr/>
        </p:nvSpPr>
        <p:spPr>
          <a:xfrm>
            <a:off x="886968" y="2386584"/>
            <a:ext cx="4846320" cy="3374136"/>
          </a:xfrm>
          <a:prstGeom prst="rect">
            <a:avLst/>
          </a:prstGeom>
          <a:noFill/>
          <a:ln/>
        </p:spPr>
        <p:txBody>
          <a:bodyPr wrap="square" lIns="0" tIns="0" rIns="0" bIns="0" rtlCol="0" anchor="t">
            <a:normAutofit/>
          </a:bodyPr>
          <a:lstStyle/>
          <a:p>
            <a:pPr indent="0" marL="0">
              <a:buNone/>
            </a:pPr>
            <a:r>
              <a:rPr lang="en-US" sz="1500" dirty="0">
                <a:solidFill>
                  <a:srgbClr val="172B3A"/>
                </a:solidFill>
                <a:latin typeface="Calibri" pitchFamily="34" charset="0"/>
                <a:ea typeface="Calibri" pitchFamily="34" charset="-122"/>
                <a:cs typeface="Calibri" pitchFamily="34" charset="-120"/>
              </a:rPr>
              <a:t>MATCH (p:Person)-[:DIRECTED]-&gt;(m:Movie)</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WHERE p.name = $name</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RETURN m.title</a:t>
            </a:r>
            <a:endParaRPr lang="en-US" sz="1500" dirty="0"/>
          </a:p>
          <a:p>
            <a:pPr indent="0" marL="0">
              <a:buNone/>
            </a:pP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Pattern thể hiện trực tiếp node và cạnh cần tìm; giá trị người dùng được truyền bằng parameter.</a:t>
            </a:r>
            <a:endParaRPr lang="en-US" sz="1500" dirty="0"/>
          </a:p>
        </p:txBody>
      </p:sp>
      <p:sp>
        <p:nvSpPr>
          <p:cNvPr id="8" name="Shape 6"/>
          <p:cNvSpPr/>
          <p:nvPr/>
        </p:nvSpPr>
        <p:spPr>
          <a:xfrm>
            <a:off x="6236208" y="1783080"/>
            <a:ext cx="5303520" cy="4160520"/>
          </a:xfrm>
          <a:prstGeom prst="roundRect">
            <a:avLst>
              <a:gd name="adj" fmla="val 1319"/>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6464808" y="1965960"/>
            <a:ext cx="4846320" cy="301752"/>
          </a:xfrm>
          <a:prstGeom prst="rect">
            <a:avLst/>
          </a:prstGeom>
          <a:noFill/>
          <a:ln/>
        </p:spPr>
        <p:txBody>
          <a:bodyPr wrap="square" lIns="0" tIns="0" rIns="0" bIns="0" rtlCol="0" anchor="ctr">
            <a:normAutofit/>
          </a:bodyPr>
          <a:lstStyle/>
          <a:p>
            <a:pPr indent="0" marL="0">
              <a:buNone/>
            </a:pPr>
            <a:r>
              <a:rPr lang="en-US" sz="2100" b="1" dirty="0">
                <a:solidFill>
                  <a:srgbClr val="725B9B"/>
                </a:solidFill>
                <a:latin typeface="Calibri" pitchFamily="34" charset="0"/>
                <a:ea typeface="Calibri" pitchFamily="34" charset="-122"/>
                <a:cs typeface="Calibri" pitchFamily="34" charset="-120"/>
              </a:rPr>
              <a:t>Suy diễn bằng rule</a:t>
            </a:r>
            <a:endParaRPr lang="en-US" sz="2100" dirty="0"/>
          </a:p>
        </p:txBody>
      </p:sp>
      <p:sp>
        <p:nvSpPr>
          <p:cNvPr id="10" name="Text 8"/>
          <p:cNvSpPr/>
          <p:nvPr/>
        </p:nvSpPr>
        <p:spPr>
          <a:xfrm>
            <a:off x="6464808" y="2386584"/>
            <a:ext cx="4846320" cy="3374136"/>
          </a:xfrm>
          <a:prstGeom prst="rect">
            <a:avLst/>
          </a:prstGeom>
          <a:noFill/>
          <a:ln/>
        </p:spPr>
        <p:txBody>
          <a:bodyPr wrap="square" lIns="0" tIns="0" rIns="0" bIns="0" rtlCol="0" anchor="t">
            <a:normAutofit/>
          </a:bodyPr>
          <a:lstStyle/>
          <a:p>
            <a:pPr indent="0" marL="0">
              <a:buNone/>
            </a:pPr>
            <a:r>
              <a:rPr lang="en-US" sz="1500" dirty="0">
                <a:solidFill>
                  <a:srgbClr val="172B3A"/>
                </a:solidFill>
                <a:latin typeface="Calibri" pitchFamily="34" charset="0"/>
                <a:ea typeface="Calibri" pitchFamily="34" charset="-122"/>
                <a:cs typeface="Calibri" pitchFamily="34" charset="-120"/>
              </a:rPr>
              <a:t>MATCH (a)-[:ACTED_IN]-&gt;(m)&lt;-[:ACTED_IN]-(b)</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MERGE (a)-[:CO_STARRED_WITH]-&gt;(b)</a:t>
            </a:r>
            <a:endParaRPr lang="en-US" sz="1500" dirty="0"/>
          </a:p>
          <a:p>
            <a:pPr indent="0" marL="0">
              <a:buNone/>
            </a:pP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Fact suy ra lưu movie_count, evidence_movie_ids và derived=true để kiểm chứng.</a:t>
            </a:r>
            <a:endParaRPr lang="en-US" sz="1500" dirty="0"/>
          </a:p>
        </p:txBody>
      </p:sp>
      <p:sp>
        <p:nvSpPr>
          <p:cNvPr id="11" name="Text 9"/>
          <p:cNvSpPr/>
          <p:nvPr/>
        </p:nvSpPr>
        <p:spPr>
          <a:xfrm>
            <a:off x="1188720" y="6126480"/>
            <a:ext cx="9784080" cy="256032"/>
          </a:xfrm>
          <a:prstGeom prst="rect">
            <a:avLst/>
          </a:prstGeom>
          <a:noFill/>
          <a:ln/>
        </p:spPr>
        <p:txBody>
          <a:bodyPr wrap="square" lIns="0" tIns="0" rIns="0" bIns="0" rtlCol="0" anchor="ctr"/>
          <a:lstStyle/>
          <a:p>
            <a:pPr algn="ctr" indent="0" marL="0">
              <a:buNone/>
            </a:pPr>
            <a:r>
              <a:rPr lang="en-US" sz="1350" b="1" dirty="0">
                <a:solidFill>
                  <a:srgbClr val="112B46"/>
                </a:solidFill>
                <a:latin typeface="Calibri" pitchFamily="34" charset="0"/>
                <a:ea typeface="Calibri" pitchFamily="34" charset="-122"/>
                <a:cs typeface="Calibri" pitchFamily="34" charset="-120"/>
              </a:rPr>
              <a:t>Không có reasoner riêng: luật nghiệp vụ được khai báo và thực thi trực tiếp trong Neo4j.</a:t>
            </a:r>
            <a:endParaRPr lang="en-US" sz="13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LỰA CHỌN CÔNG NGHỆ</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Neo4j được chọn vì phù hợp với quan hệ và traversal</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Giá trị của đồ thị nằm ở mô hình quan hệ và đường đi bằng chứng — không phải luôn nhanh hơn SQL.</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648" y="1874520"/>
          <a:ext cx="6629400" cy="3611880"/>
        </p:xfrm>
        <a:graphic>
          <a:graphicData uri="http://schemas.openxmlformats.org/drawingml/2006/table">
            <a:tbl>
              <a:tblPr/>
              <a:tblGrid>
                <a:gridCol w="1965960"/>
                <a:gridCol w="2057400"/>
                <a:gridCol w="2606040"/>
              </a:tblGrid>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Yêu cầu</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Mô hình bảng</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Đồ thị thuộc tính</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Quan hệ nhiều–nhiều</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Bảng nối</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Cạnh trực tiếp</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Truy vấn nhiều bước</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Chuỗi JOIN</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Mẫu đường đi</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Suy diễn co-star</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Logic vật chất hóa riêng</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Cạnh suy ra có bằng chứng</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Giải thích</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Dựng lại quan hệ</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Đường đi tự nhiên</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Shape 3"/>
          <p:cNvSpPr/>
          <p:nvPr/>
        </p:nvSpPr>
        <p:spPr>
          <a:xfrm>
            <a:off x="7635240" y="1874520"/>
            <a:ext cx="3931920" cy="1572768"/>
          </a:xfrm>
          <a:prstGeom prst="roundRect">
            <a:avLst>
              <a:gd name="adj" fmla="val 3488"/>
            </a:avLst>
          </a:prstGeom>
          <a:solidFill>
            <a:srgbClr val="EAF2F8"/>
          </a:solidFill>
          <a:ln w="12700">
            <a:solidFill>
              <a:srgbClr val="B9D3E8"/>
            </a:solidFill>
            <a:prstDash val="solid"/>
          </a:ln>
          <a:effectLst>
            <a:outerShdw sx="100000" sy="100000" kx="0" ky="0" algn="bl" rotWithShape="0" blurRad="25400" dist="50800" dir="2700000">
              <a:srgbClr val="26384A">
                <a:alpha val="13000"/>
              </a:srgbClr>
            </a:outerShdw>
          </a:effectLst>
        </p:spPr>
      </p:sp>
      <p:sp>
        <p:nvSpPr>
          <p:cNvPr id="7" name="Text 4"/>
          <p:cNvSpPr/>
          <p:nvPr/>
        </p:nvSpPr>
        <p:spPr>
          <a:xfrm>
            <a:off x="7909560" y="2148840"/>
            <a:ext cx="3383280" cy="320040"/>
          </a:xfrm>
          <a:prstGeom prst="rect">
            <a:avLst/>
          </a:prstGeom>
          <a:noFill/>
          <a:ln/>
        </p:spPr>
        <p:txBody>
          <a:bodyPr wrap="square" lIns="0" tIns="0" rIns="0" bIns="0" rtlCol="0" anchor="ctr"/>
          <a:lstStyle/>
          <a:p>
            <a:pPr indent="0" marL="0">
              <a:buNone/>
            </a:pPr>
            <a:r>
              <a:rPr lang="en-US" sz="2000" b="1" dirty="0">
                <a:solidFill>
                  <a:srgbClr val="112B46"/>
                </a:solidFill>
                <a:latin typeface="Calibri" pitchFamily="34" charset="0"/>
                <a:ea typeface="Calibri" pitchFamily="34" charset="-122"/>
                <a:cs typeface="Calibri" pitchFamily="34" charset="-120"/>
              </a:rPr>
              <a:t>Neo4j / Cypher</a:t>
            </a:r>
            <a:endParaRPr lang="en-US" sz="2000" dirty="0"/>
          </a:p>
        </p:txBody>
      </p:sp>
      <p:sp>
        <p:nvSpPr>
          <p:cNvPr id="8" name="Text 5"/>
          <p:cNvSpPr/>
          <p:nvPr/>
        </p:nvSpPr>
        <p:spPr>
          <a:xfrm>
            <a:off x="7909560" y="2615184"/>
            <a:ext cx="3154680" cy="420624"/>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Kho vận hành cho duyệt đồ thị, hỏi–đáp và gợi ý.</a:t>
            </a:r>
            <a:endParaRPr lang="en-US" sz="1300" dirty="0"/>
          </a:p>
        </p:txBody>
      </p:sp>
      <p:sp>
        <p:nvSpPr>
          <p:cNvPr id="9" name="Shape 6"/>
          <p:cNvSpPr/>
          <p:nvPr/>
        </p:nvSpPr>
        <p:spPr>
          <a:xfrm>
            <a:off x="7635240" y="3794760"/>
            <a:ext cx="3931920" cy="1572768"/>
          </a:xfrm>
          <a:prstGeom prst="roundRect">
            <a:avLst>
              <a:gd name="adj" fmla="val 3488"/>
            </a:avLst>
          </a:prstGeom>
          <a:solidFill>
            <a:srgbClr val="F0ECF7"/>
          </a:solidFill>
          <a:ln w="12700">
            <a:solidFill>
              <a:srgbClr val="D5C9E8"/>
            </a:solidFill>
            <a:prstDash val="solid"/>
          </a:ln>
          <a:effectLst>
            <a:outerShdw sx="100000" sy="100000" kx="0" ky="0" algn="bl" rotWithShape="0" blurRad="25400" dist="50800" dir="2700000">
              <a:srgbClr val="26384A">
                <a:alpha val="13000"/>
              </a:srgbClr>
            </a:outerShdw>
          </a:effectLst>
        </p:spPr>
      </p:sp>
      <p:sp>
        <p:nvSpPr>
          <p:cNvPr id="10" name="Text 7"/>
          <p:cNvSpPr/>
          <p:nvPr/>
        </p:nvSpPr>
        <p:spPr>
          <a:xfrm>
            <a:off x="7909560" y="4069080"/>
            <a:ext cx="3383280" cy="320040"/>
          </a:xfrm>
          <a:prstGeom prst="rect">
            <a:avLst/>
          </a:prstGeom>
          <a:noFill/>
          <a:ln/>
        </p:spPr>
        <p:txBody>
          <a:bodyPr wrap="square" lIns="0" tIns="0" rIns="0" bIns="0" rtlCol="0" anchor="ctr"/>
          <a:lstStyle/>
          <a:p>
            <a:pPr indent="0" marL="0">
              <a:buNone/>
            </a:pPr>
            <a:r>
              <a:rPr lang="en-US" sz="2000" b="1" dirty="0">
                <a:solidFill>
                  <a:srgbClr val="725B9B"/>
                </a:solidFill>
                <a:latin typeface="Calibri" pitchFamily="34" charset="0"/>
                <a:ea typeface="Calibri" pitchFamily="34" charset="-122"/>
                <a:cs typeface="Calibri" pitchFamily="34" charset="-120"/>
              </a:rPr>
              <a:t>Property-rich relationships</a:t>
            </a:r>
            <a:endParaRPr lang="en-US" sz="2000" dirty="0"/>
          </a:p>
        </p:txBody>
      </p:sp>
      <p:sp>
        <p:nvSpPr>
          <p:cNvPr id="11" name="Text 8"/>
          <p:cNvSpPr/>
          <p:nvPr/>
        </p:nvSpPr>
        <p:spPr>
          <a:xfrm>
            <a:off x="7909560" y="4535424"/>
            <a:ext cx="3154680" cy="475488"/>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Cạnh ACTED_IN và CO_STARRED_WITH mang thuộc tính và bằng chứng trực tiếp.</a:t>
            </a:r>
            <a:endParaRPr lang="en-US" sz="13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THIẾT KẾ HỆ THỐNG</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Kiến trúc đầu cuối: từ nguồn đến bằng chứng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Sau khi import, đường chạy trình diễn không phụ thuộc Internet.</a:t>
            </a:r>
            <a:endParaRPr lang="en-US" sz="1250" dirty="0"/>
          </a:p>
        </p:txBody>
      </p:sp>
      <p:sp>
        <p:nvSpPr>
          <p:cNvPr id="5" name="Shape 3"/>
          <p:cNvSpPr/>
          <p:nvPr/>
        </p:nvSpPr>
        <p:spPr>
          <a:xfrm>
            <a:off x="502920" y="2148840"/>
            <a:ext cx="1572768" cy="2057400"/>
          </a:xfrm>
          <a:prstGeom prst="roundRect">
            <a:avLst>
              <a:gd name="adj" fmla="val 2907"/>
            </a:avLst>
          </a:prstGeom>
          <a:solidFill>
            <a:srgbClr val="EAF2F8"/>
          </a:solidFill>
          <a:ln w="19050">
            <a:solidFill>
              <a:srgbClr val="337B80"/>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667512"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337B80"/>
                </a:solidFill>
                <a:latin typeface="Calibri" pitchFamily="34" charset="0"/>
                <a:ea typeface="Calibri" pitchFamily="34" charset="-122"/>
                <a:cs typeface="Calibri" pitchFamily="34" charset="-120"/>
              </a:rPr>
              <a:t>TMDB + IMDb</a:t>
            </a:r>
            <a:endParaRPr lang="en-US" sz="1700" dirty="0"/>
          </a:p>
        </p:txBody>
      </p:sp>
      <p:sp>
        <p:nvSpPr>
          <p:cNvPr id="7" name="Text 5"/>
          <p:cNvSpPr/>
          <p:nvPr/>
        </p:nvSpPr>
        <p:spPr>
          <a:xfrm>
            <a:off x="667512"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Nguồn dữ liệu</a:t>
            </a:r>
            <a:endParaRPr lang="en-US" sz="1200" dirty="0"/>
          </a:p>
        </p:txBody>
      </p:sp>
      <p:sp>
        <p:nvSpPr>
          <p:cNvPr id="8" name="Shape 6"/>
          <p:cNvSpPr/>
          <p:nvPr/>
        </p:nvSpPr>
        <p:spPr>
          <a:xfrm>
            <a:off x="2093976" y="3182112"/>
            <a:ext cx="310896" cy="0"/>
          </a:xfrm>
          <a:prstGeom prst="line">
            <a:avLst/>
          </a:prstGeom>
          <a:noFill/>
          <a:ln w="21590">
            <a:solidFill>
              <a:srgbClr val="697586"/>
            </a:solidFill>
            <a:prstDash val="solid"/>
            <a:tailEnd type="triangle"/>
          </a:ln>
        </p:spPr>
      </p:sp>
      <p:sp>
        <p:nvSpPr>
          <p:cNvPr id="9" name="Shape 7"/>
          <p:cNvSpPr/>
          <p:nvPr/>
        </p:nvSpPr>
        <p:spPr>
          <a:xfrm>
            <a:off x="2441448" y="2148840"/>
            <a:ext cx="1572768" cy="2057400"/>
          </a:xfrm>
          <a:prstGeom prst="roundRect">
            <a:avLst>
              <a:gd name="adj" fmla="val 2907"/>
            </a:avLst>
          </a:prstGeom>
          <a:solidFill>
            <a:srgbClr val="FFF2DF"/>
          </a:solidFill>
          <a:ln w="19050">
            <a:solidFill>
              <a:srgbClr val="D38B36"/>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2606040"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D38B36"/>
                </a:solidFill>
                <a:latin typeface="Calibri" pitchFamily="34" charset="0"/>
                <a:ea typeface="Calibri" pitchFamily="34" charset="-122"/>
                <a:cs typeface="Calibri" pitchFamily="34" charset="-120"/>
              </a:rPr>
              <a:t>Raw cache</a:t>
            </a:r>
            <a:endParaRPr lang="en-US" sz="1700" dirty="0"/>
          </a:p>
        </p:txBody>
      </p:sp>
      <p:sp>
        <p:nvSpPr>
          <p:cNvPr id="11" name="Text 9"/>
          <p:cNvSpPr/>
          <p:nvPr/>
        </p:nvSpPr>
        <p:spPr>
          <a:xfrm>
            <a:off x="2606040"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JSON · GZIP</a:t>
            </a:r>
            <a:endParaRPr lang="en-US" sz="1200" dirty="0"/>
          </a:p>
        </p:txBody>
      </p:sp>
      <p:sp>
        <p:nvSpPr>
          <p:cNvPr id="12" name="Shape 10"/>
          <p:cNvSpPr/>
          <p:nvPr/>
        </p:nvSpPr>
        <p:spPr>
          <a:xfrm>
            <a:off x="4032504" y="3182112"/>
            <a:ext cx="310896" cy="0"/>
          </a:xfrm>
          <a:prstGeom prst="line">
            <a:avLst/>
          </a:prstGeom>
          <a:noFill/>
          <a:ln w="21590">
            <a:solidFill>
              <a:srgbClr val="697586"/>
            </a:solidFill>
            <a:prstDash val="solid"/>
            <a:tailEnd type="triangle"/>
          </a:ln>
        </p:spPr>
      </p:sp>
      <p:sp>
        <p:nvSpPr>
          <p:cNvPr id="13" name="Shape 11"/>
          <p:cNvSpPr/>
          <p:nvPr/>
        </p:nvSpPr>
        <p:spPr>
          <a:xfrm>
            <a:off x="4379976" y="2148840"/>
            <a:ext cx="1572768" cy="2057400"/>
          </a:xfrm>
          <a:prstGeom prst="roundRect">
            <a:avLst>
              <a:gd name="adj" fmla="val 2907"/>
            </a:avLst>
          </a:prstGeom>
          <a:solidFill>
            <a:srgbClr val="E8F4EE"/>
          </a:solidFill>
          <a:ln w="19050">
            <a:solidFill>
              <a:srgbClr val="3D8B66"/>
            </a:solidFill>
            <a:prstDash val="solid"/>
          </a:ln>
          <a:effectLst>
            <a:outerShdw sx="100000" sy="100000" kx="0" ky="0" algn="bl" rotWithShape="0" blurRad="25400" dist="50800" dir="2700000">
              <a:srgbClr val="26384A">
                <a:alpha val="13000"/>
              </a:srgbClr>
            </a:outerShdw>
          </a:effectLst>
        </p:spPr>
      </p:sp>
      <p:sp>
        <p:nvSpPr>
          <p:cNvPr id="14" name="Text 12"/>
          <p:cNvSpPr/>
          <p:nvPr/>
        </p:nvSpPr>
        <p:spPr>
          <a:xfrm>
            <a:off x="4544568"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3D8B66"/>
                </a:solidFill>
                <a:latin typeface="Calibri" pitchFamily="34" charset="0"/>
                <a:ea typeface="Calibri" pitchFamily="34" charset="-122"/>
                <a:cs typeface="Calibri" pitchFamily="34" charset="-120"/>
              </a:rPr>
              <a:t>Processing</a:t>
            </a:r>
            <a:endParaRPr lang="en-US" sz="1700" dirty="0"/>
          </a:p>
        </p:txBody>
      </p:sp>
      <p:sp>
        <p:nvSpPr>
          <p:cNvPr id="15" name="Text 13"/>
          <p:cNvSpPr/>
          <p:nvPr/>
        </p:nvSpPr>
        <p:spPr>
          <a:xfrm>
            <a:off x="4544568"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Clean · exact join · CSV</a:t>
            </a:r>
            <a:endParaRPr lang="en-US" sz="1200" dirty="0"/>
          </a:p>
        </p:txBody>
      </p:sp>
      <p:sp>
        <p:nvSpPr>
          <p:cNvPr id="16" name="Shape 14"/>
          <p:cNvSpPr/>
          <p:nvPr/>
        </p:nvSpPr>
        <p:spPr>
          <a:xfrm>
            <a:off x="5971032" y="3182112"/>
            <a:ext cx="310896" cy="0"/>
          </a:xfrm>
          <a:prstGeom prst="line">
            <a:avLst/>
          </a:prstGeom>
          <a:noFill/>
          <a:ln w="21590">
            <a:solidFill>
              <a:srgbClr val="697586"/>
            </a:solidFill>
            <a:prstDash val="solid"/>
            <a:tailEnd type="triangle"/>
          </a:ln>
        </p:spPr>
      </p:sp>
      <p:sp>
        <p:nvSpPr>
          <p:cNvPr id="17" name="Shape 15"/>
          <p:cNvSpPr/>
          <p:nvPr/>
        </p:nvSpPr>
        <p:spPr>
          <a:xfrm>
            <a:off x="6318504" y="2148840"/>
            <a:ext cx="1572768" cy="2057400"/>
          </a:xfrm>
          <a:prstGeom prst="roundRect">
            <a:avLst>
              <a:gd name="adj" fmla="val 2907"/>
            </a:avLst>
          </a:prstGeom>
          <a:solidFill>
            <a:srgbClr val="F0ECF7"/>
          </a:solidFill>
          <a:ln w="19050">
            <a:solidFill>
              <a:srgbClr val="725B9B"/>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6483096"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725B9B"/>
                </a:solidFill>
                <a:latin typeface="Calibri" pitchFamily="34" charset="0"/>
                <a:ea typeface="Calibri" pitchFamily="34" charset="-122"/>
                <a:cs typeface="Calibri" pitchFamily="34" charset="-120"/>
              </a:rPr>
              <a:t>Neo4j</a:t>
            </a:r>
            <a:endParaRPr lang="en-US" sz="1700" dirty="0"/>
          </a:p>
        </p:txBody>
      </p:sp>
      <p:sp>
        <p:nvSpPr>
          <p:cNvPr id="19" name="Text 17"/>
          <p:cNvSpPr/>
          <p:nvPr/>
        </p:nvSpPr>
        <p:spPr>
          <a:xfrm>
            <a:off x="6483096"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Constraint · import · reasoning</a:t>
            </a:r>
            <a:endParaRPr lang="en-US" sz="1200" dirty="0"/>
          </a:p>
        </p:txBody>
      </p:sp>
      <p:sp>
        <p:nvSpPr>
          <p:cNvPr id="20" name="Shape 18"/>
          <p:cNvSpPr/>
          <p:nvPr/>
        </p:nvSpPr>
        <p:spPr>
          <a:xfrm>
            <a:off x="7909560" y="3182112"/>
            <a:ext cx="310896" cy="0"/>
          </a:xfrm>
          <a:prstGeom prst="line">
            <a:avLst/>
          </a:prstGeom>
          <a:noFill/>
          <a:ln w="21590">
            <a:solidFill>
              <a:srgbClr val="697586"/>
            </a:solidFill>
            <a:prstDash val="solid"/>
            <a:tailEnd type="triangle"/>
          </a:ln>
        </p:spPr>
      </p:sp>
      <p:sp>
        <p:nvSpPr>
          <p:cNvPr id="21" name="Shape 19"/>
          <p:cNvSpPr/>
          <p:nvPr/>
        </p:nvSpPr>
        <p:spPr>
          <a:xfrm>
            <a:off x="8257032" y="2148840"/>
            <a:ext cx="1572768" cy="2057400"/>
          </a:xfrm>
          <a:prstGeom prst="roundRect">
            <a:avLst>
              <a:gd name="adj" fmla="val 2907"/>
            </a:avLst>
          </a:prstGeom>
          <a:solidFill>
            <a:srgbClr val="FBEAEC"/>
          </a:solidFill>
          <a:ln w="19050">
            <a:solidFill>
              <a:srgbClr val="B94D52"/>
            </a:solidFill>
            <a:prstDash val="solid"/>
          </a:ln>
          <a:effectLst>
            <a:outerShdw sx="100000" sy="100000" kx="0" ky="0" algn="bl" rotWithShape="0" blurRad="25400" dist="50800" dir="2700000">
              <a:srgbClr val="26384A">
                <a:alpha val="13000"/>
              </a:srgbClr>
            </a:outerShdw>
          </a:effectLst>
        </p:spPr>
      </p:sp>
      <p:sp>
        <p:nvSpPr>
          <p:cNvPr id="22" name="Text 20"/>
          <p:cNvSpPr/>
          <p:nvPr/>
        </p:nvSpPr>
        <p:spPr>
          <a:xfrm>
            <a:off x="8421624"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B94D52"/>
                </a:solidFill>
                <a:latin typeface="Calibri" pitchFamily="34" charset="0"/>
                <a:ea typeface="Calibri" pitchFamily="34" charset="-122"/>
                <a:cs typeface="Calibri" pitchFamily="34" charset="-120"/>
              </a:rPr>
              <a:t>FastAPI</a:t>
            </a:r>
            <a:endParaRPr lang="en-US" sz="1700" dirty="0"/>
          </a:p>
        </p:txBody>
      </p:sp>
      <p:sp>
        <p:nvSpPr>
          <p:cNvPr id="23" name="Text 21"/>
          <p:cNvSpPr/>
          <p:nvPr/>
        </p:nvSpPr>
        <p:spPr>
          <a:xfrm>
            <a:off x="8421624"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QA · recommendation</a:t>
            </a:r>
            <a:endParaRPr lang="en-US" sz="1200" dirty="0"/>
          </a:p>
        </p:txBody>
      </p:sp>
      <p:sp>
        <p:nvSpPr>
          <p:cNvPr id="24" name="Shape 22"/>
          <p:cNvSpPr/>
          <p:nvPr/>
        </p:nvSpPr>
        <p:spPr>
          <a:xfrm>
            <a:off x="9848088" y="3182112"/>
            <a:ext cx="310896" cy="0"/>
          </a:xfrm>
          <a:prstGeom prst="line">
            <a:avLst/>
          </a:prstGeom>
          <a:noFill/>
          <a:ln w="21590">
            <a:solidFill>
              <a:srgbClr val="697586"/>
            </a:solidFill>
            <a:prstDash val="solid"/>
            <a:tailEnd type="triangle"/>
          </a:ln>
        </p:spPr>
      </p:sp>
      <p:sp>
        <p:nvSpPr>
          <p:cNvPr id="25" name="Shape 23"/>
          <p:cNvSpPr/>
          <p:nvPr/>
        </p:nvSpPr>
        <p:spPr>
          <a:xfrm>
            <a:off x="10195560" y="2148840"/>
            <a:ext cx="1572768" cy="2057400"/>
          </a:xfrm>
          <a:prstGeom prst="roundRect">
            <a:avLst>
              <a:gd name="adj" fmla="val 2907"/>
            </a:avLst>
          </a:prstGeom>
          <a:solidFill>
            <a:srgbClr val="EDF2F7"/>
          </a:solidFill>
          <a:ln w="19050">
            <a:solidFill>
              <a:srgbClr val="183D5D"/>
            </a:solidFill>
            <a:prstDash val="solid"/>
          </a:ln>
          <a:effectLst>
            <a:outerShdw sx="100000" sy="100000" kx="0" ky="0" algn="bl" rotWithShape="0" blurRad="25400" dist="50800" dir="2700000">
              <a:srgbClr val="26384A">
                <a:alpha val="13000"/>
              </a:srgbClr>
            </a:outerShdw>
          </a:effectLst>
        </p:spPr>
      </p:sp>
      <p:sp>
        <p:nvSpPr>
          <p:cNvPr id="26" name="Text 24"/>
          <p:cNvSpPr/>
          <p:nvPr/>
        </p:nvSpPr>
        <p:spPr>
          <a:xfrm>
            <a:off x="10360152"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183D5D"/>
                </a:solidFill>
                <a:latin typeface="Calibri" pitchFamily="34" charset="0"/>
                <a:ea typeface="Calibri" pitchFamily="34" charset="-122"/>
                <a:cs typeface="Calibri" pitchFamily="34" charset="-120"/>
              </a:rPr>
              <a:t>Web UI</a:t>
            </a:r>
            <a:endParaRPr lang="en-US" sz="1700" dirty="0"/>
          </a:p>
        </p:txBody>
      </p:sp>
      <p:sp>
        <p:nvSpPr>
          <p:cNvPr id="27" name="Text 25"/>
          <p:cNvSpPr/>
          <p:nvPr/>
        </p:nvSpPr>
        <p:spPr>
          <a:xfrm>
            <a:off x="10360152"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Answer · evidence</a:t>
            </a:r>
            <a:endParaRPr lang="en-US" sz="1200" dirty="0"/>
          </a:p>
        </p:txBody>
      </p:sp>
      <p:sp>
        <p:nvSpPr>
          <p:cNvPr id="28" name="Shape 26"/>
          <p:cNvSpPr/>
          <p:nvPr/>
        </p:nvSpPr>
        <p:spPr>
          <a:xfrm>
            <a:off x="1920240" y="4800600"/>
            <a:ext cx="3337560" cy="841248"/>
          </a:xfrm>
          <a:prstGeom prst="roundRect">
            <a:avLst>
              <a:gd name="adj" fmla="val 6522"/>
            </a:avLst>
          </a:prstGeom>
          <a:solidFill>
            <a:srgbClr val="FFF2DF"/>
          </a:solidFill>
          <a:ln w="12700">
            <a:solidFill>
              <a:srgbClr val="D7DEE8"/>
            </a:solidFill>
            <a:prstDash val="solid"/>
          </a:ln>
        </p:spPr>
      </p:sp>
      <p:sp>
        <p:nvSpPr>
          <p:cNvPr id="29" name="Text 27"/>
          <p:cNvSpPr/>
          <p:nvPr/>
        </p:nvSpPr>
        <p:spPr>
          <a:xfrm>
            <a:off x="2148840" y="4983480"/>
            <a:ext cx="288036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Reproducibility</a:t>
            </a:r>
            <a:endParaRPr lang="en-US" sz="1300" dirty="0"/>
          </a:p>
        </p:txBody>
      </p:sp>
      <p:sp>
        <p:nvSpPr>
          <p:cNvPr id="30" name="Text 28"/>
          <p:cNvSpPr/>
          <p:nvPr/>
        </p:nvSpPr>
        <p:spPr>
          <a:xfrm>
            <a:off x="2148840" y="5404104"/>
            <a:ext cx="2880360" cy="54864"/>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Checksum + manifest quyết định import hay reuse.</a:t>
            </a:r>
            <a:endParaRPr lang="en-US" sz="1000" dirty="0"/>
          </a:p>
        </p:txBody>
      </p:sp>
      <p:sp>
        <p:nvSpPr>
          <p:cNvPr id="31" name="Shape 29"/>
          <p:cNvSpPr/>
          <p:nvPr/>
        </p:nvSpPr>
        <p:spPr>
          <a:xfrm>
            <a:off x="6903720" y="4800600"/>
            <a:ext cx="3337560" cy="841248"/>
          </a:xfrm>
          <a:prstGeom prst="roundRect">
            <a:avLst>
              <a:gd name="adj" fmla="val 6522"/>
            </a:avLst>
          </a:prstGeom>
          <a:solidFill>
            <a:srgbClr val="E8F4EE"/>
          </a:solidFill>
          <a:ln w="12700">
            <a:solidFill>
              <a:srgbClr val="D7DEE8"/>
            </a:solidFill>
            <a:prstDash val="solid"/>
          </a:ln>
        </p:spPr>
      </p:sp>
      <p:sp>
        <p:nvSpPr>
          <p:cNvPr id="32" name="Text 30"/>
          <p:cNvSpPr/>
          <p:nvPr/>
        </p:nvSpPr>
        <p:spPr>
          <a:xfrm>
            <a:off x="7132320" y="4983480"/>
            <a:ext cx="288036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Explainability</a:t>
            </a:r>
            <a:endParaRPr lang="en-US" sz="1300" dirty="0"/>
          </a:p>
        </p:txBody>
      </p:sp>
      <p:sp>
        <p:nvSpPr>
          <p:cNvPr id="33" name="Text 31"/>
          <p:cNvSpPr/>
          <p:nvPr/>
        </p:nvSpPr>
        <p:spPr>
          <a:xfrm>
            <a:off x="7132320" y="5404104"/>
            <a:ext cx="2880360" cy="54864"/>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Entity link, graph row/path và shared feature.</a:t>
            </a:r>
            <a:endParaRPr lang="en-US" sz="10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DỮ LIỆU</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Tích hợp IMDb theo chiến lược tiết kiệm lưu trữ</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Chỉ đọc tuần tự tệp rating nén và ghép chính xác theo IMDb ID; không tải toàn bộ IMDb vào đồ thị.</a:t>
            </a:r>
            <a:endParaRPr lang="en-US" sz="1250" dirty="0"/>
          </a:p>
        </p:txBody>
      </p:sp>
      <p:sp>
        <p:nvSpPr>
          <p:cNvPr id="5" name="Shape 3"/>
          <p:cNvSpPr/>
          <p:nvPr/>
        </p:nvSpPr>
        <p:spPr>
          <a:xfrm>
            <a:off x="685800" y="1828800"/>
            <a:ext cx="2011680" cy="1097280"/>
          </a:xfrm>
          <a:prstGeom prst="roundRect">
            <a:avLst>
              <a:gd name="adj" fmla="val 5000"/>
            </a:avLst>
          </a:prstGeom>
          <a:solidFill>
            <a:srgbClr val="EAF2F8"/>
          </a:solidFill>
          <a:ln w="17780">
            <a:solidFill>
              <a:srgbClr val="337B80"/>
            </a:solidFill>
            <a:prstDash val="solid"/>
          </a:ln>
        </p:spPr>
      </p:sp>
      <p:sp>
        <p:nvSpPr>
          <p:cNvPr id="6" name="Text 4"/>
          <p:cNvSpPr/>
          <p:nvPr/>
        </p:nvSpPr>
        <p:spPr>
          <a:xfrm>
            <a:off x="822960" y="2121408"/>
            <a:ext cx="1737360" cy="475488"/>
          </a:xfrm>
          <a:prstGeom prst="rect">
            <a:avLst/>
          </a:prstGeom>
          <a:noFill/>
          <a:ln/>
        </p:spPr>
        <p:txBody>
          <a:bodyPr wrap="square" lIns="0" tIns="0" rIns="0" bIns="0" rtlCol="0" anchor="ctr">
            <a:normAutofit/>
          </a:bodyPr>
          <a:lstStyle/>
          <a:p>
            <a:pPr algn="ctr" indent="0" marL="0">
              <a:buNone/>
            </a:pPr>
            <a:r>
              <a:rPr lang="en-US" sz="1400" b="1" dirty="0">
                <a:solidFill>
                  <a:srgbClr val="112B46"/>
                </a:solidFill>
                <a:latin typeface="Calibri" pitchFamily="34" charset="0"/>
                <a:ea typeface="Calibri" pitchFamily="34" charset="-122"/>
                <a:cs typeface="Calibri" pitchFamily="34" charset="-120"/>
              </a:rPr>
              <a:t>TMDB</a:t>
            </a:r>
            <a:endParaRPr lang="en-US" sz="1400" dirty="0"/>
          </a:p>
          <a:p>
            <a:pPr algn="ctr" indent="0" marL="0">
              <a:buNone/>
            </a:pPr>
            <a:r>
              <a:rPr lang="en-US" sz="1400" b="1" dirty="0">
                <a:solidFill>
                  <a:srgbClr val="112B46"/>
                </a:solidFill>
                <a:latin typeface="Calibri" pitchFamily="34" charset="0"/>
                <a:ea typeface="Calibri" pitchFamily="34" charset="-122"/>
                <a:cs typeface="Calibri" pitchFamily="34" charset="-120"/>
              </a:rPr>
              <a:t>external_ids</a:t>
            </a:r>
            <a:endParaRPr lang="en-US" sz="1400" dirty="0"/>
          </a:p>
        </p:txBody>
      </p:sp>
      <p:sp>
        <p:nvSpPr>
          <p:cNvPr id="7" name="Shape 5"/>
          <p:cNvSpPr/>
          <p:nvPr/>
        </p:nvSpPr>
        <p:spPr>
          <a:xfrm>
            <a:off x="2715768" y="2377440"/>
            <a:ext cx="502920" cy="0"/>
          </a:xfrm>
          <a:prstGeom prst="line">
            <a:avLst/>
          </a:prstGeom>
          <a:noFill/>
          <a:ln w="22860">
            <a:solidFill>
              <a:srgbClr val="697586"/>
            </a:solidFill>
            <a:prstDash val="solid"/>
            <a:headEnd type="none"/>
            <a:tailEnd type="triangle"/>
          </a:ln>
        </p:spPr>
      </p:sp>
      <p:sp>
        <p:nvSpPr>
          <p:cNvPr id="8" name="Shape 6"/>
          <p:cNvSpPr/>
          <p:nvPr/>
        </p:nvSpPr>
        <p:spPr>
          <a:xfrm>
            <a:off x="3291840" y="1828800"/>
            <a:ext cx="2011680" cy="1097280"/>
          </a:xfrm>
          <a:prstGeom prst="chevron">
            <a:avLst>
              <a:gd name="adj" fmla="val 5000"/>
            </a:avLst>
          </a:prstGeom>
          <a:solidFill>
            <a:srgbClr val="FFF2DF"/>
          </a:solidFill>
          <a:ln w="17780">
            <a:solidFill>
              <a:srgbClr val="D38B36"/>
            </a:solidFill>
            <a:prstDash val="solid"/>
          </a:ln>
        </p:spPr>
      </p:sp>
      <p:sp>
        <p:nvSpPr>
          <p:cNvPr id="9" name="Text 7"/>
          <p:cNvSpPr/>
          <p:nvPr/>
        </p:nvSpPr>
        <p:spPr>
          <a:xfrm>
            <a:off x="3429000" y="2121408"/>
            <a:ext cx="1737360" cy="475488"/>
          </a:xfrm>
          <a:prstGeom prst="rect">
            <a:avLst/>
          </a:prstGeom>
          <a:noFill/>
          <a:ln/>
        </p:spPr>
        <p:txBody>
          <a:bodyPr wrap="square" lIns="0" tIns="0" rIns="0" bIns="0" rtlCol="0" anchor="ctr">
            <a:normAutofit/>
          </a:bodyPr>
          <a:lstStyle/>
          <a:p>
            <a:pPr algn="ctr" indent="0" marL="0">
              <a:buNone/>
            </a:pPr>
            <a:r>
              <a:rPr lang="en-US" sz="1400" b="1" dirty="0">
                <a:solidFill>
                  <a:srgbClr val="112B46"/>
                </a:solidFill>
                <a:latin typeface="Calibri" pitchFamily="34" charset="0"/>
                <a:ea typeface="Calibri" pitchFamily="34" charset="-122"/>
                <a:cs typeface="Calibri" pitchFamily="34" charset="-120"/>
              </a:rPr>
              <a:t>imdb_id = tconst</a:t>
            </a:r>
            <a:endParaRPr lang="en-US" sz="1400" dirty="0"/>
          </a:p>
        </p:txBody>
      </p:sp>
      <p:sp>
        <p:nvSpPr>
          <p:cNvPr id="10" name="Shape 8"/>
          <p:cNvSpPr/>
          <p:nvPr/>
        </p:nvSpPr>
        <p:spPr>
          <a:xfrm>
            <a:off x="5321808" y="2377440"/>
            <a:ext cx="502920" cy="0"/>
          </a:xfrm>
          <a:prstGeom prst="line">
            <a:avLst/>
          </a:prstGeom>
          <a:noFill/>
          <a:ln w="22860">
            <a:solidFill>
              <a:srgbClr val="697586"/>
            </a:solidFill>
            <a:prstDash val="solid"/>
            <a:headEnd type="none"/>
            <a:tailEnd type="triangle"/>
          </a:ln>
        </p:spPr>
      </p:sp>
      <p:sp>
        <p:nvSpPr>
          <p:cNvPr id="11" name="Shape 9"/>
          <p:cNvSpPr/>
          <p:nvPr/>
        </p:nvSpPr>
        <p:spPr>
          <a:xfrm>
            <a:off x="5897880" y="1828800"/>
            <a:ext cx="2011680" cy="1097280"/>
          </a:xfrm>
          <a:prstGeom prst="roundRect">
            <a:avLst>
              <a:gd name="adj" fmla="val 5000"/>
            </a:avLst>
          </a:prstGeom>
          <a:solidFill>
            <a:srgbClr val="EAF2F8"/>
          </a:solidFill>
          <a:ln w="17780">
            <a:solidFill>
              <a:srgbClr val="337B80"/>
            </a:solidFill>
            <a:prstDash val="solid"/>
          </a:ln>
        </p:spPr>
      </p:sp>
      <p:sp>
        <p:nvSpPr>
          <p:cNvPr id="12" name="Text 10"/>
          <p:cNvSpPr/>
          <p:nvPr/>
        </p:nvSpPr>
        <p:spPr>
          <a:xfrm>
            <a:off x="6035040" y="2121408"/>
            <a:ext cx="1737360" cy="475488"/>
          </a:xfrm>
          <a:prstGeom prst="rect">
            <a:avLst/>
          </a:prstGeom>
          <a:noFill/>
          <a:ln/>
        </p:spPr>
        <p:txBody>
          <a:bodyPr wrap="square" lIns="0" tIns="0" rIns="0" bIns="0" rtlCol="0" anchor="ctr">
            <a:normAutofit/>
          </a:bodyPr>
          <a:lstStyle/>
          <a:p>
            <a:pPr algn="ctr" indent="0" marL="0">
              <a:buNone/>
            </a:pPr>
            <a:r>
              <a:rPr lang="en-US" sz="1400" b="1" dirty="0">
                <a:solidFill>
                  <a:srgbClr val="112B46"/>
                </a:solidFill>
                <a:latin typeface="Calibri" pitchFamily="34" charset="0"/>
                <a:ea typeface="Calibri" pitchFamily="34" charset="-122"/>
                <a:cs typeface="Calibri" pitchFamily="34" charset="-120"/>
              </a:rPr>
              <a:t>IMDb ratings.gz</a:t>
            </a:r>
            <a:endParaRPr lang="en-US" sz="1400" dirty="0"/>
          </a:p>
        </p:txBody>
      </p:sp>
      <p:sp>
        <p:nvSpPr>
          <p:cNvPr id="13" name="Shape 11"/>
          <p:cNvSpPr/>
          <p:nvPr/>
        </p:nvSpPr>
        <p:spPr>
          <a:xfrm>
            <a:off x="7927848" y="2377440"/>
            <a:ext cx="502920" cy="0"/>
          </a:xfrm>
          <a:prstGeom prst="line">
            <a:avLst/>
          </a:prstGeom>
          <a:noFill/>
          <a:ln w="22860">
            <a:solidFill>
              <a:srgbClr val="697586"/>
            </a:solidFill>
            <a:prstDash val="solid"/>
            <a:headEnd type="none"/>
            <a:tailEnd type="triangle"/>
          </a:ln>
        </p:spPr>
      </p:sp>
      <p:sp>
        <p:nvSpPr>
          <p:cNvPr id="14" name="Shape 12"/>
          <p:cNvSpPr/>
          <p:nvPr/>
        </p:nvSpPr>
        <p:spPr>
          <a:xfrm>
            <a:off x="8503920" y="1828800"/>
            <a:ext cx="2011680" cy="1097280"/>
          </a:xfrm>
          <a:prstGeom prst="roundRect">
            <a:avLst>
              <a:gd name="adj" fmla="val 5000"/>
            </a:avLst>
          </a:prstGeom>
          <a:solidFill>
            <a:srgbClr val="E8F4EE"/>
          </a:solidFill>
          <a:ln w="17780">
            <a:solidFill>
              <a:srgbClr val="3D8B66"/>
            </a:solidFill>
            <a:prstDash val="solid"/>
          </a:ln>
        </p:spPr>
      </p:sp>
      <p:sp>
        <p:nvSpPr>
          <p:cNvPr id="15" name="Text 13"/>
          <p:cNvSpPr/>
          <p:nvPr/>
        </p:nvSpPr>
        <p:spPr>
          <a:xfrm>
            <a:off x="8641080" y="2121408"/>
            <a:ext cx="1737360" cy="475488"/>
          </a:xfrm>
          <a:prstGeom prst="rect">
            <a:avLst/>
          </a:prstGeom>
          <a:noFill/>
          <a:ln/>
        </p:spPr>
        <p:txBody>
          <a:bodyPr wrap="square" lIns="0" tIns="0" rIns="0" bIns="0" rtlCol="0" anchor="ctr">
            <a:normAutofit/>
          </a:bodyPr>
          <a:lstStyle/>
          <a:p>
            <a:pPr algn="ctr" indent="0" marL="0">
              <a:buNone/>
            </a:pPr>
            <a:r>
              <a:rPr lang="en-US" sz="1400" b="1" dirty="0">
                <a:solidFill>
                  <a:srgbClr val="112B46"/>
                </a:solidFill>
                <a:latin typeface="Calibri" pitchFamily="34" charset="0"/>
                <a:ea typeface="Calibri" pitchFamily="34" charset="-122"/>
                <a:cs typeface="Calibri" pitchFamily="34" charset="-120"/>
              </a:rPr>
              <a:t>Movie</a:t>
            </a:r>
            <a:endParaRPr lang="en-US" sz="1400" dirty="0"/>
          </a:p>
          <a:p>
            <a:pPr algn="ctr" indent="0" marL="0">
              <a:buNone/>
            </a:pPr>
            <a:r>
              <a:rPr lang="en-US" sz="1400" b="1" dirty="0">
                <a:solidFill>
                  <a:srgbClr val="112B46"/>
                </a:solidFill>
                <a:latin typeface="Calibri" pitchFamily="34" charset="0"/>
                <a:ea typeface="Calibri" pitchFamily="34" charset="-122"/>
                <a:cs typeface="Calibri" pitchFamily="34" charset="-120"/>
              </a:rPr>
              <a:t>enrichment</a:t>
            </a:r>
            <a:endParaRPr lang="en-US" sz="1400" dirty="0"/>
          </a:p>
        </p:txBody>
      </p:sp>
      <p:sp>
        <p:nvSpPr>
          <p:cNvPr id="16" name="Shape 14"/>
          <p:cNvSpPr/>
          <p:nvPr/>
        </p:nvSpPr>
        <p:spPr>
          <a:xfrm>
            <a:off x="685800" y="3749040"/>
            <a:ext cx="23317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7" name="Text 15"/>
          <p:cNvSpPr/>
          <p:nvPr/>
        </p:nvSpPr>
        <p:spPr>
          <a:xfrm>
            <a:off x="850392" y="3913632"/>
            <a:ext cx="2002536" cy="457200"/>
          </a:xfrm>
          <a:prstGeom prst="rect">
            <a:avLst/>
          </a:prstGeom>
          <a:noFill/>
          <a:ln/>
        </p:spPr>
        <p:txBody>
          <a:bodyPr wrap="square" lIns="0" tIns="0" rIns="0" bIns="0" rtlCol="0" anchor="ctr">
            <a:normAutofit/>
          </a:bodyPr>
          <a:lstStyle/>
          <a:p>
            <a:pPr indent="0" marL="0">
              <a:buNone/>
            </a:pPr>
            <a:r>
              <a:rPr lang="en-US" sz="2800" b="1" dirty="0">
                <a:solidFill>
                  <a:srgbClr val="337B80"/>
                </a:solidFill>
                <a:latin typeface="Arial" pitchFamily="34" charset="0"/>
                <a:ea typeface="Arial" pitchFamily="34" charset="-122"/>
                <a:cs typeface="Arial" pitchFamily="34" charset="-120"/>
              </a:rPr>
              <a:t>4.558</a:t>
            </a:r>
            <a:endParaRPr lang="en-US" sz="2800" dirty="0"/>
          </a:p>
        </p:txBody>
      </p:sp>
      <p:sp>
        <p:nvSpPr>
          <p:cNvPr id="18" name="Text 16"/>
          <p:cNvSpPr/>
          <p:nvPr/>
        </p:nvSpPr>
        <p:spPr>
          <a:xfrm>
            <a:off x="868680" y="4425696"/>
            <a:ext cx="19659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Movie có IMDb ID</a:t>
            </a:r>
            <a:endParaRPr lang="en-US" sz="1100" dirty="0"/>
          </a:p>
        </p:txBody>
      </p:sp>
      <p:sp>
        <p:nvSpPr>
          <p:cNvPr id="19" name="Shape 17"/>
          <p:cNvSpPr/>
          <p:nvPr/>
        </p:nvSpPr>
        <p:spPr>
          <a:xfrm>
            <a:off x="3246120" y="3749040"/>
            <a:ext cx="23317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20" name="Text 18"/>
          <p:cNvSpPr/>
          <p:nvPr/>
        </p:nvSpPr>
        <p:spPr>
          <a:xfrm>
            <a:off x="3410712" y="3913632"/>
            <a:ext cx="200253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4.351</a:t>
            </a:r>
            <a:endParaRPr lang="en-US" sz="2800" dirty="0"/>
          </a:p>
        </p:txBody>
      </p:sp>
      <p:sp>
        <p:nvSpPr>
          <p:cNvPr id="21" name="Text 19"/>
          <p:cNvSpPr/>
          <p:nvPr/>
        </p:nvSpPr>
        <p:spPr>
          <a:xfrm>
            <a:off x="3429000" y="4425696"/>
            <a:ext cx="19659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Rating ghép chính xác</a:t>
            </a:r>
            <a:endParaRPr lang="en-US" sz="1100" dirty="0"/>
          </a:p>
        </p:txBody>
      </p:sp>
      <p:sp>
        <p:nvSpPr>
          <p:cNvPr id="22" name="Shape 20"/>
          <p:cNvSpPr/>
          <p:nvPr/>
        </p:nvSpPr>
        <p:spPr>
          <a:xfrm>
            <a:off x="5806440" y="3749040"/>
            <a:ext cx="23317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23" name="Text 21"/>
          <p:cNvSpPr/>
          <p:nvPr/>
        </p:nvSpPr>
        <p:spPr>
          <a:xfrm>
            <a:off x="5971032" y="3913632"/>
            <a:ext cx="200253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95,5%</a:t>
            </a:r>
            <a:endParaRPr lang="en-US" sz="2800" dirty="0"/>
          </a:p>
        </p:txBody>
      </p:sp>
      <p:sp>
        <p:nvSpPr>
          <p:cNvPr id="24" name="Text 22"/>
          <p:cNvSpPr/>
          <p:nvPr/>
        </p:nvSpPr>
        <p:spPr>
          <a:xfrm>
            <a:off x="5989320" y="4425696"/>
            <a:ext cx="19659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Tỷ lệ ghép trên IMDb ID</a:t>
            </a:r>
            <a:endParaRPr lang="en-US" sz="1100" dirty="0"/>
          </a:p>
        </p:txBody>
      </p:sp>
      <p:sp>
        <p:nvSpPr>
          <p:cNvPr id="25" name="Shape 23"/>
          <p:cNvSpPr/>
          <p:nvPr/>
        </p:nvSpPr>
        <p:spPr>
          <a:xfrm>
            <a:off x="8366760" y="3749040"/>
            <a:ext cx="3154680" cy="1261872"/>
          </a:xfrm>
          <a:prstGeom prst="roundRect">
            <a:avLst>
              <a:gd name="adj" fmla="val 4348"/>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26" name="Text 24"/>
          <p:cNvSpPr/>
          <p:nvPr/>
        </p:nvSpPr>
        <p:spPr>
          <a:xfrm>
            <a:off x="8595360" y="3931920"/>
            <a:ext cx="2697480" cy="301752"/>
          </a:xfrm>
          <a:prstGeom prst="rect">
            <a:avLst/>
          </a:prstGeom>
          <a:noFill/>
          <a:ln/>
        </p:spPr>
        <p:txBody>
          <a:bodyPr wrap="square" lIns="0" tIns="0" rIns="0" bIns="0" rtlCol="0" anchor="ctr">
            <a:normAutofit/>
          </a:bodyPr>
          <a:lstStyle/>
          <a:p>
            <a:pPr indent="0" marL="0">
              <a:buNone/>
            </a:pPr>
            <a:r>
              <a:rPr lang="en-US" sz="1500" b="1" dirty="0">
                <a:solidFill>
                  <a:srgbClr val="112B46"/>
                </a:solidFill>
                <a:latin typeface="Calibri" pitchFamily="34" charset="0"/>
                <a:ea typeface="Calibri" pitchFamily="34" charset="-122"/>
                <a:cs typeface="Calibri" pitchFamily="34" charset="-120"/>
              </a:rPr>
              <a:t>Không ghi đè</a:t>
            </a:r>
            <a:endParaRPr lang="en-US" sz="1500" dirty="0"/>
          </a:p>
        </p:txBody>
      </p:sp>
      <p:sp>
        <p:nvSpPr>
          <p:cNvPr id="27" name="Text 25"/>
          <p:cNvSpPr/>
          <p:nvPr/>
        </p:nvSpPr>
        <p:spPr>
          <a:xfrm>
            <a:off x="8595360" y="4352544"/>
            <a:ext cx="2697480" cy="475488"/>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`rating`, `imdb_rating` và `imdb_votes` được giữ riêng.</a:t>
            </a:r>
            <a:endParaRPr lang="en-US" sz="11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MÔ HÌNH TRI THỨC</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Mô hình dữ liệu đặt định danh lên trước tên gọi</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Person có thể vừa là diễn viên vừa là đạo diễn; vai trò được biểu diễn bằng quan hệ.</a:t>
            </a:r>
            <a:endParaRPr lang="en-US" sz="1250" dirty="0"/>
          </a:p>
        </p:txBody>
      </p:sp>
      <p:sp>
        <p:nvSpPr>
          <p:cNvPr id="5" name="Shape 3"/>
          <p:cNvSpPr/>
          <p:nvPr/>
        </p:nvSpPr>
        <p:spPr>
          <a:xfrm>
            <a:off x="566928" y="1737360"/>
            <a:ext cx="7452360" cy="4315968"/>
          </a:xfrm>
          <a:prstGeom prst="roundRect">
            <a:avLst>
              <a:gd name="adj" fmla="val 847"/>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property_graph_schema.png">    </p:cNvPr>
          <p:cNvPicPr>
            <a:picLocks noChangeAspect="1"/>
          </p:cNvPicPr>
          <p:nvPr/>
        </p:nvPicPr>
        <p:blipFill>
          <a:blip r:embed="rId1"/>
          <a:stretch>
            <a:fillRect/>
          </a:stretch>
        </p:blipFill>
        <p:spPr>
          <a:xfrm>
            <a:off x="676656" y="2672095"/>
            <a:ext cx="7232904" cy="2446498"/>
          </a:xfrm>
          <a:prstGeom prst="rect">
            <a:avLst/>
          </a:prstGeom>
        </p:spPr>
      </p:pic>
      <p:sp>
        <p:nvSpPr>
          <p:cNvPr id="7" name="Shape 4"/>
          <p:cNvSpPr/>
          <p:nvPr/>
        </p:nvSpPr>
        <p:spPr>
          <a:xfrm>
            <a:off x="8321040" y="1755648"/>
            <a:ext cx="3246120" cy="1097280"/>
          </a:xfrm>
          <a:prstGeom prst="roundRect">
            <a:avLst>
              <a:gd name="adj" fmla="val 50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549640" y="1938528"/>
            <a:ext cx="2788920" cy="301752"/>
          </a:xfrm>
          <a:prstGeom prst="rect">
            <a:avLst/>
          </a:prstGeom>
          <a:noFill/>
          <a:ln/>
        </p:spPr>
        <p:txBody>
          <a:bodyPr wrap="square" lIns="0" tIns="0" rIns="0" bIns="0" rtlCol="0" anchor="ctr">
            <a:normAutofit/>
          </a:bodyPr>
          <a:lstStyle/>
          <a:p>
            <a:pPr indent="0" marL="0">
              <a:buNone/>
            </a:pPr>
            <a:r>
              <a:rPr lang="en-US" sz="1500" b="1" dirty="0">
                <a:solidFill>
                  <a:srgbClr val="112B46"/>
                </a:solidFill>
                <a:latin typeface="Calibri" pitchFamily="34" charset="0"/>
                <a:ea typeface="Calibri" pitchFamily="34" charset="-122"/>
                <a:cs typeface="Calibri" pitchFamily="34" charset="-120"/>
              </a:rPr>
              <a:t>Định danh ổn định</a:t>
            </a:r>
            <a:endParaRPr lang="en-US" sz="1500" dirty="0"/>
          </a:p>
        </p:txBody>
      </p:sp>
      <p:sp>
        <p:nvSpPr>
          <p:cNvPr id="9" name="Text 6"/>
          <p:cNvSpPr/>
          <p:nvPr/>
        </p:nvSpPr>
        <p:spPr>
          <a:xfrm>
            <a:off x="8549640" y="2359152"/>
            <a:ext cx="2788920" cy="31089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`Person.person_id = tmdb:&lt;id&gt;`</a:t>
            </a:r>
            <a:endParaRPr lang="en-US" sz="1100" dirty="0"/>
          </a:p>
          <a:p>
            <a:pPr indent="0" marL="0">
              <a:buNone/>
            </a:pPr>
            <a:r>
              <a:rPr lang="en-US" sz="1100" dirty="0">
                <a:solidFill>
                  <a:srgbClr val="172B3A"/>
                </a:solidFill>
                <a:latin typeface="Calibri" pitchFamily="34" charset="0"/>
                <a:ea typeface="Calibri" pitchFamily="34" charset="-122"/>
                <a:cs typeface="Calibri" pitchFamily="34" charset="-120"/>
              </a:rPr>
              <a:t>Tên không phải khóa chính.</a:t>
            </a:r>
            <a:endParaRPr lang="en-US" sz="1100" dirty="0"/>
          </a:p>
        </p:txBody>
      </p:sp>
      <p:sp>
        <p:nvSpPr>
          <p:cNvPr id="10" name="Shape 7"/>
          <p:cNvSpPr/>
          <p:nvPr/>
        </p:nvSpPr>
        <p:spPr>
          <a:xfrm>
            <a:off x="8321040" y="3090672"/>
            <a:ext cx="3246120" cy="1097280"/>
          </a:xfrm>
          <a:prstGeom prst="roundRect">
            <a:avLst>
              <a:gd name="adj" fmla="val 50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1" name="Text 8"/>
          <p:cNvSpPr/>
          <p:nvPr/>
        </p:nvSpPr>
        <p:spPr>
          <a:xfrm>
            <a:off x="8549640" y="3273552"/>
            <a:ext cx="2788920" cy="301752"/>
          </a:xfrm>
          <a:prstGeom prst="rect">
            <a:avLst/>
          </a:prstGeom>
          <a:noFill/>
          <a:ln/>
        </p:spPr>
        <p:txBody>
          <a:bodyPr wrap="square" lIns="0" tIns="0" rIns="0" bIns="0" rtlCol="0" anchor="ctr">
            <a:normAutofit/>
          </a:bodyPr>
          <a:lstStyle/>
          <a:p>
            <a:pPr indent="0" marL="0">
              <a:buNone/>
            </a:pPr>
            <a:r>
              <a:rPr lang="en-US" sz="1500" b="1" dirty="0">
                <a:solidFill>
                  <a:srgbClr val="112B46"/>
                </a:solidFill>
                <a:latin typeface="Calibri" pitchFamily="34" charset="0"/>
                <a:ea typeface="Calibri" pitchFamily="34" charset="-122"/>
                <a:cs typeface="Calibri" pitchFamily="34" charset="-120"/>
              </a:rPr>
              <a:t>Vai trò trên cạnh</a:t>
            </a:r>
            <a:endParaRPr lang="en-US" sz="1500" dirty="0"/>
          </a:p>
        </p:txBody>
      </p:sp>
      <p:sp>
        <p:nvSpPr>
          <p:cNvPr id="12" name="Text 9"/>
          <p:cNvSpPr/>
          <p:nvPr/>
        </p:nvSpPr>
        <p:spPr>
          <a:xfrm>
            <a:off x="8549640" y="3694176"/>
            <a:ext cx="2788920" cy="31089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`ACTED_IN` giữ character, cast_order và source.</a:t>
            </a:r>
            <a:endParaRPr lang="en-US" sz="1100" dirty="0"/>
          </a:p>
        </p:txBody>
      </p:sp>
      <p:sp>
        <p:nvSpPr>
          <p:cNvPr id="13" name="Shape 10"/>
          <p:cNvSpPr/>
          <p:nvPr/>
        </p:nvSpPr>
        <p:spPr>
          <a:xfrm>
            <a:off x="8321040" y="4425696"/>
            <a:ext cx="3246120" cy="1097280"/>
          </a:xfrm>
          <a:prstGeom prst="roundRect">
            <a:avLst>
              <a:gd name="adj" fmla="val 50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4" name="Text 11"/>
          <p:cNvSpPr/>
          <p:nvPr/>
        </p:nvSpPr>
        <p:spPr>
          <a:xfrm>
            <a:off x="8549640" y="4608576"/>
            <a:ext cx="2788920" cy="301752"/>
          </a:xfrm>
          <a:prstGeom prst="rect">
            <a:avLst/>
          </a:prstGeom>
          <a:noFill/>
          <a:ln/>
        </p:spPr>
        <p:txBody>
          <a:bodyPr wrap="square" lIns="0" tIns="0" rIns="0" bIns="0" rtlCol="0" anchor="ctr">
            <a:normAutofit/>
          </a:bodyPr>
          <a:lstStyle/>
          <a:p>
            <a:pPr indent="0" marL="0">
              <a:buNone/>
            </a:pPr>
            <a:r>
              <a:rPr lang="en-US" sz="1500" b="1" dirty="0">
                <a:solidFill>
                  <a:srgbClr val="112B46"/>
                </a:solidFill>
                <a:latin typeface="Calibri" pitchFamily="34" charset="0"/>
                <a:ea typeface="Calibri" pitchFamily="34" charset="-122"/>
                <a:cs typeface="Calibri" pitchFamily="34" charset="-120"/>
              </a:rPr>
              <a:t>Ràng buộc</a:t>
            </a:r>
            <a:endParaRPr lang="en-US" sz="1500" dirty="0"/>
          </a:p>
        </p:txBody>
      </p:sp>
      <p:sp>
        <p:nvSpPr>
          <p:cNvPr id="15" name="Text 12"/>
          <p:cNvSpPr/>
          <p:nvPr/>
        </p:nvSpPr>
        <p:spPr>
          <a:xfrm>
            <a:off x="8549640" y="5029200"/>
            <a:ext cx="2788920" cy="31089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Ràng buộc (constraint) và chỉ mục được tạo trước khi nhập dữ liệu.</a:t>
            </a:r>
            <a:endParaRPr lang="en-US" sz="1100" dirty="0"/>
          </a:p>
        </p:txBody>
      </p:sp>
      <p:sp>
        <p:nvSpPr>
          <p:cNvPr id="16" name="Text 13"/>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report_latex/images/sources/property_graph_schema.drawio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QUY TRÌNH XỬ LÝ</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Quy trình dữ liệu có thể chạy lại và kiểm tra</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Raw cache bất biến → dữ liệu chuẩn hóa tất định → import idempotent → validation.</a:t>
            </a:r>
            <a:endParaRPr lang="en-US" sz="1250" dirty="0"/>
          </a:p>
        </p:txBody>
      </p:sp>
      <p:sp>
        <p:nvSpPr>
          <p:cNvPr id="5" name="Shape 3"/>
          <p:cNvSpPr/>
          <p:nvPr/>
        </p:nvSpPr>
        <p:spPr>
          <a:xfrm>
            <a:off x="457200" y="2194560"/>
            <a:ext cx="1143000" cy="914400"/>
          </a:xfrm>
          <a:prstGeom prst="roundRect">
            <a:avLst>
              <a:gd name="adj" fmla="val 4000"/>
            </a:avLst>
          </a:prstGeom>
          <a:solidFill>
            <a:srgbClr val="EDF2F7"/>
          </a:solidFill>
          <a:ln w="17780">
            <a:solidFill>
              <a:srgbClr val="337B80"/>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548640"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337B80"/>
                </a:solidFill>
                <a:latin typeface="Calibri" pitchFamily="34" charset="0"/>
                <a:ea typeface="Calibri" pitchFamily="34" charset="-122"/>
                <a:cs typeface="Calibri" pitchFamily="34" charset="-120"/>
              </a:rPr>
              <a:t>Collect</a:t>
            </a:r>
            <a:endParaRPr lang="en-US" sz="1300" dirty="0"/>
          </a:p>
        </p:txBody>
      </p:sp>
      <p:sp>
        <p:nvSpPr>
          <p:cNvPr id="7" name="Shape 5"/>
          <p:cNvSpPr/>
          <p:nvPr/>
        </p:nvSpPr>
        <p:spPr>
          <a:xfrm>
            <a:off x="1618488" y="2651760"/>
            <a:ext cx="237744" cy="0"/>
          </a:xfrm>
          <a:prstGeom prst="line">
            <a:avLst/>
          </a:prstGeom>
          <a:noFill/>
          <a:ln w="17780">
            <a:solidFill>
              <a:srgbClr val="697586"/>
            </a:solidFill>
            <a:prstDash val="solid"/>
            <a:tailEnd type="triangle"/>
          </a:ln>
        </p:spPr>
      </p:sp>
      <p:sp>
        <p:nvSpPr>
          <p:cNvPr id="8" name="Shape 6"/>
          <p:cNvSpPr/>
          <p:nvPr/>
        </p:nvSpPr>
        <p:spPr>
          <a:xfrm>
            <a:off x="1892808" y="2194560"/>
            <a:ext cx="1143000" cy="914400"/>
          </a:xfrm>
          <a:prstGeom prst="roundRect">
            <a:avLst>
              <a:gd name="adj" fmla="val 4000"/>
            </a:avLst>
          </a:prstGeom>
          <a:solidFill>
            <a:srgbClr val="FFFFFF"/>
          </a:solidFill>
          <a:ln w="17780">
            <a:solidFill>
              <a:srgbClr val="337B80"/>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1984248"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337B80"/>
                </a:solidFill>
                <a:latin typeface="Calibri" pitchFamily="34" charset="0"/>
                <a:ea typeface="Calibri" pitchFamily="34" charset="-122"/>
                <a:cs typeface="Calibri" pitchFamily="34" charset="-120"/>
              </a:rPr>
              <a:t>Cache</a:t>
            </a:r>
            <a:endParaRPr lang="en-US" sz="1300" dirty="0"/>
          </a:p>
        </p:txBody>
      </p:sp>
      <p:sp>
        <p:nvSpPr>
          <p:cNvPr id="10" name="Shape 8"/>
          <p:cNvSpPr/>
          <p:nvPr/>
        </p:nvSpPr>
        <p:spPr>
          <a:xfrm>
            <a:off x="3054096" y="2651760"/>
            <a:ext cx="237744" cy="0"/>
          </a:xfrm>
          <a:prstGeom prst="line">
            <a:avLst/>
          </a:prstGeom>
          <a:noFill/>
          <a:ln w="17780">
            <a:solidFill>
              <a:srgbClr val="697586"/>
            </a:solidFill>
            <a:prstDash val="solid"/>
            <a:tailEnd type="triangle"/>
          </a:ln>
        </p:spPr>
      </p:sp>
      <p:sp>
        <p:nvSpPr>
          <p:cNvPr id="11" name="Shape 9"/>
          <p:cNvSpPr/>
          <p:nvPr/>
        </p:nvSpPr>
        <p:spPr>
          <a:xfrm>
            <a:off x="3328416" y="2194560"/>
            <a:ext cx="1143000" cy="914400"/>
          </a:xfrm>
          <a:prstGeom prst="roundRect">
            <a:avLst>
              <a:gd name="adj" fmla="val 4000"/>
            </a:avLst>
          </a:prstGeom>
          <a:solidFill>
            <a:srgbClr val="EDF2F7"/>
          </a:solidFill>
          <a:ln w="17780">
            <a:solidFill>
              <a:srgbClr val="D38B36"/>
            </a:solidFill>
            <a:prstDash val="solid"/>
          </a:ln>
          <a:effectLst>
            <a:outerShdw sx="100000" sy="100000" kx="0" ky="0" algn="bl" rotWithShape="0" blurRad="25400" dist="50800" dir="2700000">
              <a:srgbClr val="26384A">
                <a:alpha val="13000"/>
              </a:srgbClr>
            </a:outerShdw>
          </a:effectLst>
        </p:spPr>
      </p:sp>
      <p:sp>
        <p:nvSpPr>
          <p:cNvPr id="12" name="Text 10"/>
          <p:cNvSpPr/>
          <p:nvPr/>
        </p:nvSpPr>
        <p:spPr>
          <a:xfrm>
            <a:off x="3419856"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D38B36"/>
                </a:solidFill>
                <a:latin typeface="Calibri" pitchFamily="34" charset="0"/>
                <a:ea typeface="Calibri" pitchFamily="34" charset="-122"/>
                <a:cs typeface="Calibri" pitchFamily="34" charset="-120"/>
              </a:rPr>
              <a:t>Clean</a:t>
            </a:r>
            <a:endParaRPr lang="en-US" sz="1300" dirty="0"/>
          </a:p>
        </p:txBody>
      </p:sp>
      <p:sp>
        <p:nvSpPr>
          <p:cNvPr id="13" name="Shape 11"/>
          <p:cNvSpPr/>
          <p:nvPr/>
        </p:nvSpPr>
        <p:spPr>
          <a:xfrm>
            <a:off x="4489704" y="2651760"/>
            <a:ext cx="237744" cy="0"/>
          </a:xfrm>
          <a:prstGeom prst="line">
            <a:avLst/>
          </a:prstGeom>
          <a:noFill/>
          <a:ln w="17780">
            <a:solidFill>
              <a:srgbClr val="697586"/>
            </a:solidFill>
            <a:prstDash val="solid"/>
            <a:tailEnd type="triangle"/>
          </a:ln>
        </p:spPr>
      </p:sp>
      <p:sp>
        <p:nvSpPr>
          <p:cNvPr id="14" name="Shape 12"/>
          <p:cNvSpPr/>
          <p:nvPr/>
        </p:nvSpPr>
        <p:spPr>
          <a:xfrm>
            <a:off x="4764024" y="2194560"/>
            <a:ext cx="1143000" cy="914400"/>
          </a:xfrm>
          <a:prstGeom prst="roundRect">
            <a:avLst>
              <a:gd name="adj" fmla="val 4000"/>
            </a:avLst>
          </a:prstGeom>
          <a:solidFill>
            <a:srgbClr val="FFFFFF"/>
          </a:solidFill>
          <a:ln w="17780">
            <a:solidFill>
              <a:srgbClr val="D38B36"/>
            </a:solidFill>
            <a:prstDash val="solid"/>
          </a:ln>
          <a:effectLst>
            <a:outerShdw sx="100000" sy="100000" kx="0" ky="0" algn="bl" rotWithShape="0" blurRad="25400" dist="50800" dir="2700000">
              <a:srgbClr val="26384A">
                <a:alpha val="13000"/>
              </a:srgbClr>
            </a:outerShdw>
          </a:effectLst>
        </p:spPr>
      </p:sp>
      <p:sp>
        <p:nvSpPr>
          <p:cNvPr id="15" name="Text 13"/>
          <p:cNvSpPr/>
          <p:nvPr/>
        </p:nvSpPr>
        <p:spPr>
          <a:xfrm>
            <a:off x="4855464"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D38B36"/>
                </a:solidFill>
                <a:latin typeface="Calibri" pitchFamily="34" charset="0"/>
                <a:ea typeface="Calibri" pitchFamily="34" charset="-122"/>
                <a:cs typeface="Calibri" pitchFamily="34" charset="-120"/>
              </a:rPr>
              <a:t>IMDb join</a:t>
            </a:r>
            <a:endParaRPr lang="en-US" sz="1300" dirty="0"/>
          </a:p>
        </p:txBody>
      </p:sp>
      <p:sp>
        <p:nvSpPr>
          <p:cNvPr id="16" name="Shape 14"/>
          <p:cNvSpPr/>
          <p:nvPr/>
        </p:nvSpPr>
        <p:spPr>
          <a:xfrm>
            <a:off x="5925312" y="2651760"/>
            <a:ext cx="237744" cy="0"/>
          </a:xfrm>
          <a:prstGeom prst="line">
            <a:avLst/>
          </a:prstGeom>
          <a:noFill/>
          <a:ln w="17780">
            <a:solidFill>
              <a:srgbClr val="697586"/>
            </a:solidFill>
            <a:prstDash val="solid"/>
            <a:tailEnd type="triangle"/>
          </a:ln>
        </p:spPr>
      </p:sp>
      <p:sp>
        <p:nvSpPr>
          <p:cNvPr id="17" name="Shape 15"/>
          <p:cNvSpPr/>
          <p:nvPr/>
        </p:nvSpPr>
        <p:spPr>
          <a:xfrm>
            <a:off x="6199632" y="2194560"/>
            <a:ext cx="1143000" cy="914400"/>
          </a:xfrm>
          <a:prstGeom prst="roundRect">
            <a:avLst>
              <a:gd name="adj" fmla="val 4000"/>
            </a:avLst>
          </a:prstGeom>
          <a:solidFill>
            <a:srgbClr val="EDF2F7"/>
          </a:solidFill>
          <a:ln w="17780">
            <a:solidFill>
              <a:srgbClr val="D38B36"/>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6291072"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D38B36"/>
                </a:solidFill>
                <a:latin typeface="Calibri" pitchFamily="34" charset="0"/>
                <a:ea typeface="Calibri" pitchFamily="34" charset="-122"/>
                <a:cs typeface="Calibri" pitchFamily="34" charset="-120"/>
              </a:rPr>
              <a:t>Normalize</a:t>
            </a:r>
            <a:endParaRPr lang="en-US" sz="1300" dirty="0"/>
          </a:p>
        </p:txBody>
      </p:sp>
      <p:sp>
        <p:nvSpPr>
          <p:cNvPr id="19" name="Shape 17"/>
          <p:cNvSpPr/>
          <p:nvPr/>
        </p:nvSpPr>
        <p:spPr>
          <a:xfrm>
            <a:off x="7360920" y="2651760"/>
            <a:ext cx="237744" cy="0"/>
          </a:xfrm>
          <a:prstGeom prst="line">
            <a:avLst/>
          </a:prstGeom>
          <a:noFill/>
          <a:ln w="17780">
            <a:solidFill>
              <a:srgbClr val="697586"/>
            </a:solidFill>
            <a:prstDash val="solid"/>
            <a:tailEnd type="triangle"/>
          </a:ln>
        </p:spPr>
      </p:sp>
      <p:sp>
        <p:nvSpPr>
          <p:cNvPr id="20" name="Shape 18"/>
          <p:cNvSpPr/>
          <p:nvPr/>
        </p:nvSpPr>
        <p:spPr>
          <a:xfrm>
            <a:off x="7635240" y="2194560"/>
            <a:ext cx="1143000" cy="914400"/>
          </a:xfrm>
          <a:prstGeom prst="roundRect">
            <a:avLst>
              <a:gd name="adj" fmla="val 4000"/>
            </a:avLst>
          </a:prstGeom>
          <a:solidFill>
            <a:srgbClr val="FFFFFF"/>
          </a:solidFill>
          <a:ln w="17780">
            <a:solidFill>
              <a:srgbClr val="725B9B"/>
            </a:solidFill>
            <a:prstDash val="solid"/>
          </a:ln>
          <a:effectLst>
            <a:outerShdw sx="100000" sy="100000" kx="0" ky="0" algn="bl" rotWithShape="0" blurRad="25400" dist="50800" dir="2700000">
              <a:srgbClr val="26384A">
                <a:alpha val="13000"/>
              </a:srgbClr>
            </a:outerShdw>
          </a:effectLst>
        </p:spPr>
      </p:sp>
      <p:sp>
        <p:nvSpPr>
          <p:cNvPr id="21" name="Text 19"/>
          <p:cNvSpPr/>
          <p:nvPr/>
        </p:nvSpPr>
        <p:spPr>
          <a:xfrm>
            <a:off x="7726680"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725B9B"/>
                </a:solidFill>
                <a:latin typeface="Calibri" pitchFamily="34" charset="0"/>
                <a:ea typeface="Calibri" pitchFamily="34" charset="-122"/>
                <a:cs typeface="Calibri" pitchFamily="34" charset="-120"/>
              </a:rPr>
              <a:t>Neo4j load</a:t>
            </a:r>
            <a:endParaRPr lang="en-US" sz="1300" dirty="0"/>
          </a:p>
        </p:txBody>
      </p:sp>
      <p:sp>
        <p:nvSpPr>
          <p:cNvPr id="22" name="Shape 20"/>
          <p:cNvSpPr/>
          <p:nvPr/>
        </p:nvSpPr>
        <p:spPr>
          <a:xfrm>
            <a:off x="8796528" y="2651760"/>
            <a:ext cx="237744" cy="0"/>
          </a:xfrm>
          <a:prstGeom prst="line">
            <a:avLst/>
          </a:prstGeom>
          <a:noFill/>
          <a:ln w="17780">
            <a:solidFill>
              <a:srgbClr val="697586"/>
            </a:solidFill>
            <a:prstDash val="solid"/>
            <a:tailEnd type="triangle"/>
          </a:ln>
        </p:spPr>
      </p:sp>
      <p:sp>
        <p:nvSpPr>
          <p:cNvPr id="23" name="Shape 21"/>
          <p:cNvSpPr/>
          <p:nvPr/>
        </p:nvSpPr>
        <p:spPr>
          <a:xfrm>
            <a:off x="9070848" y="2194560"/>
            <a:ext cx="1143000" cy="914400"/>
          </a:xfrm>
          <a:prstGeom prst="roundRect">
            <a:avLst>
              <a:gd name="adj" fmla="val 4000"/>
            </a:avLst>
          </a:prstGeom>
          <a:solidFill>
            <a:srgbClr val="EDF2F7"/>
          </a:solidFill>
          <a:ln w="17780">
            <a:solidFill>
              <a:srgbClr val="725B9B"/>
            </a:solidFill>
            <a:prstDash val="solid"/>
          </a:ln>
          <a:effectLst>
            <a:outerShdw sx="100000" sy="100000" kx="0" ky="0" algn="bl" rotWithShape="0" blurRad="25400" dist="50800" dir="2700000">
              <a:srgbClr val="26384A">
                <a:alpha val="13000"/>
              </a:srgbClr>
            </a:outerShdw>
          </a:effectLst>
        </p:spPr>
      </p:sp>
      <p:sp>
        <p:nvSpPr>
          <p:cNvPr id="24" name="Text 22"/>
          <p:cNvSpPr/>
          <p:nvPr/>
        </p:nvSpPr>
        <p:spPr>
          <a:xfrm>
            <a:off x="9162288"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725B9B"/>
                </a:solidFill>
                <a:latin typeface="Calibri" pitchFamily="34" charset="0"/>
                <a:ea typeface="Calibri" pitchFamily="34" charset="-122"/>
                <a:cs typeface="Calibri" pitchFamily="34" charset="-120"/>
              </a:rPr>
              <a:t>Reason</a:t>
            </a:r>
            <a:endParaRPr lang="en-US" sz="1300" dirty="0"/>
          </a:p>
        </p:txBody>
      </p:sp>
      <p:sp>
        <p:nvSpPr>
          <p:cNvPr id="25" name="Shape 23"/>
          <p:cNvSpPr/>
          <p:nvPr/>
        </p:nvSpPr>
        <p:spPr>
          <a:xfrm>
            <a:off x="10232136" y="2651760"/>
            <a:ext cx="237744" cy="0"/>
          </a:xfrm>
          <a:prstGeom prst="line">
            <a:avLst/>
          </a:prstGeom>
          <a:noFill/>
          <a:ln w="17780">
            <a:solidFill>
              <a:srgbClr val="697586"/>
            </a:solidFill>
            <a:prstDash val="solid"/>
            <a:tailEnd type="triangle"/>
          </a:ln>
        </p:spPr>
      </p:sp>
      <p:sp>
        <p:nvSpPr>
          <p:cNvPr id="26" name="Shape 24"/>
          <p:cNvSpPr/>
          <p:nvPr/>
        </p:nvSpPr>
        <p:spPr>
          <a:xfrm>
            <a:off x="10506456" y="2194560"/>
            <a:ext cx="1143000" cy="914400"/>
          </a:xfrm>
          <a:prstGeom prst="roundRect">
            <a:avLst>
              <a:gd name="adj" fmla="val 4000"/>
            </a:avLst>
          </a:prstGeom>
          <a:solidFill>
            <a:srgbClr val="FFFFFF"/>
          </a:solidFill>
          <a:ln w="17780">
            <a:solidFill>
              <a:srgbClr val="3D8B66"/>
            </a:solidFill>
            <a:prstDash val="solid"/>
          </a:ln>
          <a:effectLst>
            <a:outerShdw sx="100000" sy="100000" kx="0" ky="0" algn="bl" rotWithShape="0" blurRad="25400" dist="50800" dir="2700000">
              <a:srgbClr val="26384A">
                <a:alpha val="13000"/>
              </a:srgbClr>
            </a:outerShdw>
          </a:effectLst>
        </p:spPr>
      </p:sp>
      <p:sp>
        <p:nvSpPr>
          <p:cNvPr id="27" name="Text 25"/>
          <p:cNvSpPr/>
          <p:nvPr/>
        </p:nvSpPr>
        <p:spPr>
          <a:xfrm>
            <a:off x="10597896"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3D8B66"/>
                </a:solidFill>
                <a:latin typeface="Calibri" pitchFamily="34" charset="0"/>
                <a:ea typeface="Calibri" pitchFamily="34" charset="-122"/>
                <a:cs typeface="Calibri" pitchFamily="34" charset="-120"/>
              </a:rPr>
              <a:t>Validate</a:t>
            </a:r>
            <a:endParaRPr lang="en-US" sz="1300" dirty="0"/>
          </a:p>
        </p:txBody>
      </p:sp>
      <p:sp>
        <p:nvSpPr>
          <p:cNvPr id="28" name="Shape 26"/>
          <p:cNvSpPr/>
          <p:nvPr/>
        </p:nvSpPr>
        <p:spPr>
          <a:xfrm>
            <a:off x="621792" y="5074920"/>
            <a:ext cx="2487168" cy="1005840"/>
          </a:xfrm>
          <a:prstGeom prst="roundRect">
            <a:avLst>
              <a:gd name="adj" fmla="val 5455"/>
            </a:avLst>
          </a:prstGeom>
          <a:solidFill>
            <a:srgbClr val="FFFFFF"/>
          </a:solidFill>
          <a:ln w="12700">
            <a:solidFill>
              <a:srgbClr val="D7DEE8"/>
            </a:solidFill>
            <a:prstDash val="solid"/>
          </a:ln>
        </p:spPr>
      </p:sp>
      <p:sp>
        <p:nvSpPr>
          <p:cNvPr id="29" name="Text 27"/>
          <p:cNvSpPr/>
          <p:nvPr/>
        </p:nvSpPr>
        <p:spPr>
          <a:xfrm>
            <a:off x="850392" y="5257800"/>
            <a:ext cx="2029968"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Cache</a:t>
            </a:r>
            <a:endParaRPr lang="en-US" sz="1200" dirty="0"/>
          </a:p>
        </p:txBody>
      </p:sp>
      <p:sp>
        <p:nvSpPr>
          <p:cNvPr id="30" name="Text 28"/>
          <p:cNvSpPr/>
          <p:nvPr/>
        </p:nvSpPr>
        <p:spPr>
          <a:xfrm>
            <a:off x="850392" y="5678424"/>
            <a:ext cx="2029968" cy="219456"/>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Không tải lại nguồn khi xử lý lại</a:t>
            </a:r>
            <a:endParaRPr lang="en-US" sz="950" dirty="0"/>
          </a:p>
        </p:txBody>
      </p:sp>
      <p:sp>
        <p:nvSpPr>
          <p:cNvPr id="31" name="Shape 29"/>
          <p:cNvSpPr/>
          <p:nvPr/>
        </p:nvSpPr>
        <p:spPr>
          <a:xfrm>
            <a:off x="3392424" y="5074920"/>
            <a:ext cx="2487168" cy="1005840"/>
          </a:xfrm>
          <a:prstGeom prst="roundRect">
            <a:avLst>
              <a:gd name="adj" fmla="val 5455"/>
            </a:avLst>
          </a:prstGeom>
          <a:solidFill>
            <a:srgbClr val="F0F6F8"/>
          </a:solidFill>
          <a:ln w="12700">
            <a:solidFill>
              <a:srgbClr val="D7DEE8"/>
            </a:solidFill>
            <a:prstDash val="solid"/>
          </a:ln>
        </p:spPr>
      </p:sp>
      <p:sp>
        <p:nvSpPr>
          <p:cNvPr id="32" name="Text 30"/>
          <p:cNvSpPr/>
          <p:nvPr/>
        </p:nvSpPr>
        <p:spPr>
          <a:xfrm>
            <a:off x="3621024" y="5257800"/>
            <a:ext cx="2029968"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Manifest</a:t>
            </a:r>
            <a:endParaRPr lang="en-US" sz="1200" dirty="0"/>
          </a:p>
        </p:txBody>
      </p:sp>
      <p:sp>
        <p:nvSpPr>
          <p:cNvPr id="33" name="Text 31"/>
          <p:cNvSpPr/>
          <p:nvPr/>
        </p:nvSpPr>
        <p:spPr>
          <a:xfrm>
            <a:off x="3621024" y="5678424"/>
            <a:ext cx="2029968" cy="219456"/>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Count + checksum + chất lượng</a:t>
            </a:r>
            <a:endParaRPr lang="en-US" sz="950" dirty="0"/>
          </a:p>
        </p:txBody>
      </p:sp>
      <p:sp>
        <p:nvSpPr>
          <p:cNvPr id="34" name="Shape 32"/>
          <p:cNvSpPr/>
          <p:nvPr/>
        </p:nvSpPr>
        <p:spPr>
          <a:xfrm>
            <a:off x="6163056" y="5074920"/>
            <a:ext cx="2487168" cy="1005840"/>
          </a:xfrm>
          <a:prstGeom prst="roundRect">
            <a:avLst>
              <a:gd name="adj" fmla="val 5455"/>
            </a:avLst>
          </a:prstGeom>
          <a:solidFill>
            <a:srgbClr val="FFFFFF"/>
          </a:solidFill>
          <a:ln w="12700">
            <a:solidFill>
              <a:srgbClr val="D7DEE8"/>
            </a:solidFill>
            <a:prstDash val="solid"/>
          </a:ln>
        </p:spPr>
      </p:sp>
      <p:sp>
        <p:nvSpPr>
          <p:cNvPr id="35" name="Text 33"/>
          <p:cNvSpPr/>
          <p:nvPr/>
        </p:nvSpPr>
        <p:spPr>
          <a:xfrm>
            <a:off x="6391656" y="5257800"/>
            <a:ext cx="2029968"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MERGE</a:t>
            </a:r>
            <a:endParaRPr lang="en-US" sz="1200" dirty="0"/>
          </a:p>
        </p:txBody>
      </p:sp>
      <p:sp>
        <p:nvSpPr>
          <p:cNvPr id="36" name="Text 34"/>
          <p:cNvSpPr/>
          <p:nvPr/>
        </p:nvSpPr>
        <p:spPr>
          <a:xfrm>
            <a:off x="6391656" y="5678424"/>
            <a:ext cx="2029968" cy="219456"/>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Import lặp không nhân bản</a:t>
            </a:r>
            <a:endParaRPr lang="en-US" sz="950" dirty="0"/>
          </a:p>
        </p:txBody>
      </p:sp>
      <p:sp>
        <p:nvSpPr>
          <p:cNvPr id="37" name="Shape 35"/>
          <p:cNvSpPr/>
          <p:nvPr/>
        </p:nvSpPr>
        <p:spPr>
          <a:xfrm>
            <a:off x="8933688" y="5074920"/>
            <a:ext cx="2487168" cy="1005840"/>
          </a:xfrm>
          <a:prstGeom prst="roundRect">
            <a:avLst>
              <a:gd name="adj" fmla="val 5455"/>
            </a:avLst>
          </a:prstGeom>
          <a:solidFill>
            <a:srgbClr val="F0F6F8"/>
          </a:solidFill>
          <a:ln w="12700">
            <a:solidFill>
              <a:srgbClr val="D7DEE8"/>
            </a:solidFill>
            <a:prstDash val="solid"/>
          </a:ln>
        </p:spPr>
      </p:sp>
      <p:sp>
        <p:nvSpPr>
          <p:cNvPr id="38" name="Text 36"/>
          <p:cNvSpPr/>
          <p:nvPr/>
        </p:nvSpPr>
        <p:spPr>
          <a:xfrm>
            <a:off x="9162288" y="5257800"/>
            <a:ext cx="2029968"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Gate</a:t>
            </a:r>
            <a:endParaRPr lang="en-US" sz="1200" dirty="0"/>
          </a:p>
        </p:txBody>
      </p:sp>
      <p:sp>
        <p:nvSpPr>
          <p:cNvPr id="39" name="Text 37"/>
          <p:cNvSpPr/>
          <p:nvPr/>
        </p:nvSpPr>
        <p:spPr>
          <a:xfrm>
            <a:off x="9162288" y="5678424"/>
            <a:ext cx="2029968" cy="219456"/>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Phát hiện orphan và khóa lỗi</a:t>
            </a:r>
            <a:endParaRPr lang="en-US" sz="9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CHẤT LƯỢNG DỮ LIỆU</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Đồ thị cuối cùng vượt qua toàn bộ quality gate</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bản ghi Movie không có quan hệ bị loại; ảnh chụp hợp lệ còn 4.999 phim.</a:t>
            </a:r>
            <a:endParaRPr lang="en-US" sz="1250" dirty="0"/>
          </a:p>
        </p:txBody>
      </p:sp>
      <p:sp>
        <p:nvSpPr>
          <p:cNvPr id="5" name="Shape 3"/>
          <p:cNvSpPr/>
          <p:nvPr/>
        </p:nvSpPr>
        <p:spPr>
          <a:xfrm>
            <a:off x="59436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75895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337B80"/>
                </a:solidFill>
                <a:latin typeface="Arial" pitchFamily="34" charset="0"/>
                <a:ea typeface="Arial" pitchFamily="34" charset="-122"/>
                <a:cs typeface="Arial" pitchFamily="34" charset="-120"/>
              </a:rPr>
              <a:t>76.612</a:t>
            </a:r>
            <a:endParaRPr lang="en-US" sz="2800" dirty="0"/>
          </a:p>
        </p:txBody>
      </p:sp>
      <p:sp>
        <p:nvSpPr>
          <p:cNvPr id="7" name="Text 5"/>
          <p:cNvSpPr/>
          <p:nvPr/>
        </p:nvSpPr>
        <p:spPr>
          <a:xfrm>
            <a:off x="77724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Tổng số nút</a:t>
            </a:r>
            <a:endParaRPr lang="en-US" sz="1100" dirty="0"/>
          </a:p>
        </p:txBody>
      </p:sp>
      <p:sp>
        <p:nvSpPr>
          <p:cNvPr id="8" name="Shape 6"/>
          <p:cNvSpPr/>
          <p:nvPr/>
        </p:nvSpPr>
        <p:spPr>
          <a:xfrm>
            <a:off x="278892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295351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846.309</a:t>
            </a:r>
            <a:endParaRPr lang="en-US" sz="2800" dirty="0"/>
          </a:p>
        </p:txBody>
      </p:sp>
      <p:sp>
        <p:nvSpPr>
          <p:cNvPr id="10" name="Text 8"/>
          <p:cNvSpPr/>
          <p:nvPr/>
        </p:nvSpPr>
        <p:spPr>
          <a:xfrm>
            <a:off x="297180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Tổng số quan hệ</a:t>
            </a:r>
            <a:endParaRPr lang="en-US" sz="1100" dirty="0"/>
          </a:p>
        </p:txBody>
      </p:sp>
      <p:sp>
        <p:nvSpPr>
          <p:cNvPr id="11" name="Shape 9"/>
          <p:cNvSpPr/>
          <p:nvPr/>
        </p:nvSpPr>
        <p:spPr>
          <a:xfrm>
            <a:off x="498348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2" name="Text 10"/>
          <p:cNvSpPr/>
          <p:nvPr/>
        </p:nvSpPr>
        <p:spPr>
          <a:xfrm>
            <a:off x="514807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53.555</a:t>
            </a:r>
            <a:endParaRPr lang="en-US" sz="2800" dirty="0"/>
          </a:p>
        </p:txBody>
      </p:sp>
      <p:sp>
        <p:nvSpPr>
          <p:cNvPr id="13" name="Text 11"/>
          <p:cNvSpPr/>
          <p:nvPr/>
        </p:nvSpPr>
        <p:spPr>
          <a:xfrm>
            <a:off x="516636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Person</a:t>
            </a:r>
            <a:endParaRPr lang="en-US" sz="1100" dirty="0"/>
          </a:p>
        </p:txBody>
      </p:sp>
      <p:sp>
        <p:nvSpPr>
          <p:cNvPr id="14" name="Shape 12"/>
          <p:cNvSpPr/>
          <p:nvPr/>
        </p:nvSpPr>
        <p:spPr>
          <a:xfrm>
            <a:off x="717804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5" name="Text 13"/>
          <p:cNvSpPr/>
          <p:nvPr/>
        </p:nvSpPr>
        <p:spPr>
          <a:xfrm>
            <a:off x="734263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D38B36"/>
                </a:solidFill>
                <a:latin typeface="Arial" pitchFamily="34" charset="0"/>
                <a:ea typeface="Arial" pitchFamily="34" charset="-122"/>
                <a:cs typeface="Arial" pitchFamily="34" charset="-120"/>
              </a:rPr>
              <a:t>12.509</a:t>
            </a:r>
            <a:endParaRPr lang="en-US" sz="2800" dirty="0"/>
          </a:p>
        </p:txBody>
      </p:sp>
      <p:sp>
        <p:nvSpPr>
          <p:cNvPr id="16" name="Text 14"/>
          <p:cNvSpPr/>
          <p:nvPr/>
        </p:nvSpPr>
        <p:spPr>
          <a:xfrm>
            <a:off x="736092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Keyword</a:t>
            </a:r>
            <a:endParaRPr lang="en-US" sz="1100" dirty="0"/>
          </a:p>
        </p:txBody>
      </p:sp>
      <p:sp>
        <p:nvSpPr>
          <p:cNvPr id="17" name="Shape 15"/>
          <p:cNvSpPr/>
          <p:nvPr/>
        </p:nvSpPr>
        <p:spPr>
          <a:xfrm>
            <a:off x="937260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953719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183D5D"/>
                </a:solidFill>
                <a:latin typeface="Arial" pitchFamily="34" charset="0"/>
                <a:ea typeface="Arial" pitchFamily="34" charset="-122"/>
                <a:cs typeface="Arial" pitchFamily="34" charset="-120"/>
              </a:rPr>
              <a:t>5.530</a:t>
            </a:r>
            <a:endParaRPr lang="en-US" sz="2800" dirty="0"/>
          </a:p>
        </p:txBody>
      </p:sp>
      <p:sp>
        <p:nvSpPr>
          <p:cNvPr id="19" name="Text 17"/>
          <p:cNvSpPr/>
          <p:nvPr/>
        </p:nvSpPr>
        <p:spPr>
          <a:xfrm>
            <a:off x="955548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Studio</a:t>
            </a:r>
            <a:endParaRPr lang="en-US" sz="1100" dirty="0"/>
          </a:p>
        </p:txBody>
      </p:sp>
      <p:sp>
        <p:nvSpPr>
          <p:cNvPr id="20" name="Text 18"/>
          <p:cNvSpPr/>
          <p:nvPr/>
        </p:nvSpPr>
        <p:spPr>
          <a:xfrm>
            <a:off x="685800" y="3657600"/>
            <a:ext cx="1920240" cy="685800"/>
          </a:xfrm>
          <a:prstGeom prst="rect">
            <a:avLst/>
          </a:prstGeom>
          <a:noFill/>
          <a:ln/>
        </p:spPr>
        <p:txBody>
          <a:bodyPr wrap="square" lIns="0" tIns="0" rIns="0" bIns="0" rtlCol="0" anchor="ctr"/>
          <a:lstStyle/>
          <a:p>
            <a:pPr algn="ctr" indent="0" marL="0">
              <a:buNone/>
            </a:pPr>
            <a:r>
              <a:rPr lang="en-US" sz="4800" b="1" dirty="0">
                <a:solidFill>
                  <a:srgbClr val="3D8B66"/>
                </a:solidFill>
                <a:latin typeface="Arial" pitchFamily="34" charset="0"/>
                <a:ea typeface="Arial" pitchFamily="34" charset="-122"/>
                <a:cs typeface="Arial" pitchFamily="34" charset="-120"/>
              </a:rPr>
              <a:t>0</a:t>
            </a:r>
            <a:endParaRPr lang="en-US" sz="4800" dirty="0"/>
          </a:p>
        </p:txBody>
      </p:sp>
      <p:sp>
        <p:nvSpPr>
          <p:cNvPr id="21" name="Text 19"/>
          <p:cNvSpPr/>
          <p:nvPr/>
        </p:nvSpPr>
        <p:spPr>
          <a:xfrm>
            <a:off x="685800" y="4370832"/>
            <a:ext cx="1920240" cy="274320"/>
          </a:xfrm>
          <a:prstGeom prst="rect">
            <a:avLst/>
          </a:prstGeom>
          <a:noFill/>
          <a:ln/>
        </p:spPr>
        <p:txBody>
          <a:bodyPr wrap="square" lIns="0" tIns="0" rIns="0" bIns="0" rtlCol="0" anchor="ctr"/>
          <a:lstStyle/>
          <a:p>
            <a:pPr algn="ctr" indent="0" marL="0">
              <a:buNone/>
            </a:pPr>
            <a:r>
              <a:rPr lang="en-US" sz="1300" b="1" dirty="0">
                <a:solidFill>
                  <a:srgbClr val="172B3A"/>
                </a:solidFill>
                <a:latin typeface="Calibri" pitchFamily="34" charset="0"/>
                <a:ea typeface="Calibri" pitchFamily="34" charset="-122"/>
                <a:cs typeface="Calibri" pitchFamily="34" charset="-120"/>
              </a:rPr>
              <a:t>vi phạm cấu trúc</a:t>
            </a:r>
            <a:endParaRPr lang="en-US" sz="1300" dirty="0"/>
          </a:p>
        </p:txBody>
      </p:sp>
      <p:sp>
        <p:nvSpPr>
          <p:cNvPr id="22" name="Shape 20"/>
          <p:cNvSpPr/>
          <p:nvPr/>
        </p:nvSpPr>
        <p:spPr>
          <a:xfrm>
            <a:off x="3108960" y="3611880"/>
            <a:ext cx="384048" cy="384048"/>
          </a:xfrm>
          <a:prstGeom prst="ellipse">
            <a:avLst/>
          </a:prstGeom>
          <a:solidFill>
            <a:srgbClr val="3D8B66"/>
          </a:solidFill>
          <a:ln w="12700">
            <a:solidFill>
              <a:srgbClr val="3D8B66"/>
            </a:solidFill>
            <a:prstDash val="solid"/>
          </a:ln>
        </p:spPr>
      </p:sp>
      <p:sp>
        <p:nvSpPr>
          <p:cNvPr id="23" name="Text 21"/>
          <p:cNvSpPr/>
          <p:nvPr/>
        </p:nvSpPr>
        <p:spPr>
          <a:xfrm>
            <a:off x="3108960" y="3657600"/>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24" name="Text 22"/>
          <p:cNvSpPr/>
          <p:nvPr/>
        </p:nvSpPr>
        <p:spPr>
          <a:xfrm>
            <a:off x="3675888" y="3639312"/>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Orphan Movie</a:t>
            </a:r>
            <a:endParaRPr lang="en-US" sz="1300" dirty="0"/>
          </a:p>
        </p:txBody>
      </p:sp>
      <p:sp>
        <p:nvSpPr>
          <p:cNvPr id="25" name="Shape 23"/>
          <p:cNvSpPr/>
          <p:nvPr/>
        </p:nvSpPr>
        <p:spPr>
          <a:xfrm>
            <a:off x="7086600" y="3611880"/>
            <a:ext cx="384048" cy="384048"/>
          </a:xfrm>
          <a:prstGeom prst="ellipse">
            <a:avLst/>
          </a:prstGeom>
          <a:solidFill>
            <a:srgbClr val="3D8B66"/>
          </a:solidFill>
          <a:ln w="12700">
            <a:solidFill>
              <a:srgbClr val="3D8B66"/>
            </a:solidFill>
            <a:prstDash val="solid"/>
          </a:ln>
        </p:spPr>
      </p:sp>
      <p:sp>
        <p:nvSpPr>
          <p:cNvPr id="26" name="Text 24"/>
          <p:cNvSpPr/>
          <p:nvPr/>
        </p:nvSpPr>
        <p:spPr>
          <a:xfrm>
            <a:off x="7086600" y="3657600"/>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27" name="Text 25"/>
          <p:cNvSpPr/>
          <p:nvPr/>
        </p:nvSpPr>
        <p:spPr>
          <a:xfrm>
            <a:off x="7653528" y="3639312"/>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Stable ID trùng</a:t>
            </a:r>
            <a:endParaRPr lang="en-US" sz="1300" dirty="0"/>
          </a:p>
        </p:txBody>
      </p:sp>
      <p:sp>
        <p:nvSpPr>
          <p:cNvPr id="28" name="Shape 26"/>
          <p:cNvSpPr/>
          <p:nvPr/>
        </p:nvSpPr>
        <p:spPr>
          <a:xfrm>
            <a:off x="3108960" y="4599432"/>
            <a:ext cx="384048" cy="384048"/>
          </a:xfrm>
          <a:prstGeom prst="ellipse">
            <a:avLst/>
          </a:prstGeom>
          <a:solidFill>
            <a:srgbClr val="3D8B66"/>
          </a:solidFill>
          <a:ln w="12700">
            <a:solidFill>
              <a:srgbClr val="3D8B66"/>
            </a:solidFill>
            <a:prstDash val="solid"/>
          </a:ln>
        </p:spPr>
      </p:sp>
      <p:sp>
        <p:nvSpPr>
          <p:cNvPr id="29" name="Text 27"/>
          <p:cNvSpPr/>
          <p:nvPr/>
        </p:nvSpPr>
        <p:spPr>
          <a:xfrm>
            <a:off x="3108960" y="4645152"/>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0" name="Text 28"/>
          <p:cNvSpPr/>
          <p:nvPr/>
        </p:nvSpPr>
        <p:spPr>
          <a:xfrm>
            <a:off x="3675888" y="4626864"/>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Thiếu thuộc tính bắt buộc</a:t>
            </a:r>
            <a:endParaRPr lang="en-US" sz="1300" dirty="0"/>
          </a:p>
        </p:txBody>
      </p:sp>
      <p:sp>
        <p:nvSpPr>
          <p:cNvPr id="31" name="Shape 29"/>
          <p:cNvSpPr/>
          <p:nvPr/>
        </p:nvSpPr>
        <p:spPr>
          <a:xfrm>
            <a:off x="7086600" y="4599432"/>
            <a:ext cx="384048" cy="384048"/>
          </a:xfrm>
          <a:prstGeom prst="ellipse">
            <a:avLst/>
          </a:prstGeom>
          <a:solidFill>
            <a:srgbClr val="3D8B66"/>
          </a:solidFill>
          <a:ln w="12700">
            <a:solidFill>
              <a:srgbClr val="3D8B66"/>
            </a:solidFill>
            <a:prstDash val="solid"/>
          </a:ln>
        </p:spPr>
      </p:sp>
      <p:sp>
        <p:nvSpPr>
          <p:cNvPr id="32" name="Text 30"/>
          <p:cNvSpPr/>
          <p:nvPr/>
        </p:nvSpPr>
        <p:spPr>
          <a:xfrm>
            <a:off x="7086600" y="4645152"/>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3" name="Text 31"/>
          <p:cNvSpPr/>
          <p:nvPr/>
        </p:nvSpPr>
        <p:spPr>
          <a:xfrm>
            <a:off x="7653528" y="4626864"/>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Cạnh sai kiểu/đầu mút</a:t>
            </a:r>
            <a:endParaRPr lang="en-US" sz="1300" dirty="0"/>
          </a:p>
        </p:txBody>
      </p:sp>
      <p:sp>
        <p:nvSpPr>
          <p:cNvPr id="34" name="Text 32"/>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số liệu: experiments/results/quality/{knowledge_quality_audit,neo4j_validation}.json</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ĐỊNH DANH VÀ PROVENANCE</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Phân giải thực thể: exact trước, fuzzy có kiểm soát</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Mục tiêu là tránh false positive; trường hợp mơ hồ có thể từ chối thay vì nối sai.</a:t>
            </a:r>
            <a:endParaRPr lang="en-US" sz="1250" dirty="0"/>
          </a:p>
        </p:txBody>
      </p:sp>
      <p:sp>
        <p:nvSpPr>
          <p:cNvPr id="5" name="Shape 3"/>
          <p:cNvSpPr/>
          <p:nvPr/>
        </p:nvSpPr>
        <p:spPr>
          <a:xfrm>
            <a:off x="576072" y="1773936"/>
            <a:ext cx="7406640" cy="4261104"/>
          </a:xfrm>
          <a:prstGeom prst="roundRect">
            <a:avLst>
              <a:gd name="adj" fmla="val 85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entity_resolution_flow.png">    </p:cNvPr>
          <p:cNvPicPr>
            <a:picLocks noChangeAspect="1"/>
          </p:cNvPicPr>
          <p:nvPr/>
        </p:nvPicPr>
        <p:blipFill>
          <a:blip r:embed="rId1"/>
          <a:stretch>
            <a:fillRect/>
          </a:stretch>
        </p:blipFill>
        <p:spPr>
          <a:xfrm>
            <a:off x="685800" y="2817893"/>
            <a:ext cx="7187184" cy="2173191"/>
          </a:xfrm>
          <a:prstGeom prst="rect">
            <a:avLst/>
          </a:prstGeom>
        </p:spPr>
      </p:pic>
      <p:sp>
        <p:nvSpPr>
          <p:cNvPr id="7" name="Shape 4"/>
          <p:cNvSpPr/>
          <p:nvPr/>
        </p:nvSpPr>
        <p:spPr>
          <a:xfrm>
            <a:off x="8275320" y="1810512"/>
            <a:ext cx="32461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439912" y="1975104"/>
            <a:ext cx="291693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1,000</a:t>
            </a:r>
            <a:endParaRPr lang="en-US" sz="2800" dirty="0"/>
          </a:p>
        </p:txBody>
      </p:sp>
      <p:sp>
        <p:nvSpPr>
          <p:cNvPr id="9" name="Text 6"/>
          <p:cNvSpPr/>
          <p:nvPr/>
        </p:nvSpPr>
        <p:spPr>
          <a:xfrm>
            <a:off x="8458200" y="2487168"/>
            <a:ext cx="28803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Precision</a:t>
            </a:r>
            <a:endParaRPr lang="en-US" sz="1100" dirty="0"/>
          </a:p>
        </p:txBody>
      </p:sp>
      <p:sp>
        <p:nvSpPr>
          <p:cNvPr id="10" name="Text 7"/>
          <p:cNvSpPr/>
          <p:nvPr/>
        </p:nvSpPr>
        <p:spPr>
          <a:xfrm>
            <a:off x="8458200" y="2779776"/>
            <a:ext cx="288036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100 cặp silver</a:t>
            </a:r>
            <a:endParaRPr lang="en-US" sz="750" dirty="0"/>
          </a:p>
        </p:txBody>
      </p:sp>
      <p:sp>
        <p:nvSpPr>
          <p:cNvPr id="11" name="Shape 8"/>
          <p:cNvSpPr/>
          <p:nvPr/>
        </p:nvSpPr>
        <p:spPr>
          <a:xfrm>
            <a:off x="8275320" y="3273552"/>
            <a:ext cx="32461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2" name="Text 9"/>
          <p:cNvSpPr/>
          <p:nvPr/>
        </p:nvSpPr>
        <p:spPr>
          <a:xfrm>
            <a:off x="8439912" y="3438144"/>
            <a:ext cx="2916936" cy="457200"/>
          </a:xfrm>
          <a:prstGeom prst="rect">
            <a:avLst/>
          </a:prstGeom>
          <a:noFill/>
          <a:ln/>
        </p:spPr>
        <p:txBody>
          <a:bodyPr wrap="square" lIns="0" tIns="0" rIns="0" bIns="0" rtlCol="0" anchor="ctr">
            <a:normAutofit/>
          </a:bodyPr>
          <a:lstStyle/>
          <a:p>
            <a:pPr indent="0" marL="0">
              <a:buNone/>
            </a:pPr>
            <a:r>
              <a:rPr lang="en-US" sz="2800" b="1" dirty="0">
                <a:solidFill>
                  <a:srgbClr val="D38B36"/>
                </a:solidFill>
                <a:latin typeface="Arial" pitchFamily="34" charset="0"/>
                <a:ea typeface="Arial" pitchFamily="34" charset="-122"/>
                <a:cs typeface="Arial" pitchFamily="34" charset="-120"/>
              </a:rPr>
              <a:t>0,933</a:t>
            </a:r>
            <a:endParaRPr lang="en-US" sz="2800" dirty="0"/>
          </a:p>
        </p:txBody>
      </p:sp>
      <p:sp>
        <p:nvSpPr>
          <p:cNvPr id="13" name="Text 10"/>
          <p:cNvSpPr/>
          <p:nvPr/>
        </p:nvSpPr>
        <p:spPr>
          <a:xfrm>
            <a:off x="8458200" y="3950208"/>
            <a:ext cx="28803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Recall</a:t>
            </a:r>
            <a:endParaRPr lang="en-US" sz="1100" dirty="0"/>
          </a:p>
        </p:txBody>
      </p:sp>
      <p:sp>
        <p:nvSpPr>
          <p:cNvPr id="14" name="Text 11"/>
          <p:cNvSpPr/>
          <p:nvPr/>
        </p:nvSpPr>
        <p:spPr>
          <a:xfrm>
            <a:off x="8458200" y="4242816"/>
            <a:ext cx="288036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5 trường hợp abstain</a:t>
            </a:r>
            <a:endParaRPr lang="en-US" sz="750" dirty="0"/>
          </a:p>
        </p:txBody>
      </p:sp>
      <p:sp>
        <p:nvSpPr>
          <p:cNvPr id="15" name="Shape 12"/>
          <p:cNvSpPr/>
          <p:nvPr/>
        </p:nvSpPr>
        <p:spPr>
          <a:xfrm>
            <a:off x="8275320" y="4736592"/>
            <a:ext cx="32461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6" name="Text 13"/>
          <p:cNvSpPr/>
          <p:nvPr/>
        </p:nvSpPr>
        <p:spPr>
          <a:xfrm>
            <a:off x="8439912" y="4901184"/>
            <a:ext cx="291693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0,966</a:t>
            </a:r>
            <a:endParaRPr lang="en-US" sz="2800" dirty="0"/>
          </a:p>
        </p:txBody>
      </p:sp>
      <p:sp>
        <p:nvSpPr>
          <p:cNvPr id="17" name="Text 14"/>
          <p:cNvSpPr/>
          <p:nvPr/>
        </p:nvSpPr>
        <p:spPr>
          <a:xfrm>
            <a:off x="8458200" y="5413248"/>
            <a:ext cx="28803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F1</a:t>
            </a:r>
            <a:endParaRPr lang="en-US" sz="1100" dirty="0"/>
          </a:p>
        </p:txBody>
      </p:sp>
      <p:sp>
        <p:nvSpPr>
          <p:cNvPr id="18" name="Text 15"/>
          <p:cNvSpPr/>
          <p:nvPr/>
        </p:nvSpPr>
        <p:spPr>
          <a:xfrm>
            <a:off x="8458200" y="5705856"/>
            <a:ext cx="288036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nearest-name hard negatives</a:t>
            </a:r>
            <a:endParaRPr lang="en-US" sz="750" dirty="0"/>
          </a:p>
        </p:txBody>
      </p:sp>
      <p:sp>
        <p:nvSpPr>
          <p:cNvPr id="19" name="Text 16"/>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entity_resolution.json · sơ đồ: report_latex/images/sources/entity_resolution_flow.drawio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TRUY VẤN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Cypher biến câu hỏi quan hệ thành mẫu đường đi</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Tham số người dùng được truyền riêng; cấu trúc truy vấn lấy từ danh mục cố định.</a:t>
            </a:r>
            <a:endParaRPr lang="en-US" sz="1250" dirty="0"/>
          </a:p>
        </p:txBody>
      </p:sp>
      <p:sp>
        <p:nvSpPr>
          <p:cNvPr id="5" name="Shape 3"/>
          <p:cNvSpPr/>
          <p:nvPr/>
        </p:nvSpPr>
        <p:spPr>
          <a:xfrm>
            <a:off x="621792" y="1755648"/>
            <a:ext cx="6400800" cy="4114800"/>
          </a:xfrm>
          <a:prstGeom prst="roundRect">
            <a:avLst>
              <a:gd name="adj" fmla="val 1111"/>
            </a:avLst>
          </a:prstGeom>
          <a:solidFill>
            <a:srgbClr val="10283D"/>
          </a:solidFill>
          <a:ln w="12700">
            <a:solidFill>
              <a:srgbClr val="10283D"/>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932688" y="2084832"/>
            <a:ext cx="5806440" cy="2697480"/>
          </a:xfrm>
          <a:prstGeom prst="rect">
            <a:avLst/>
          </a:prstGeom>
          <a:noFill/>
          <a:ln/>
        </p:spPr>
        <p:txBody>
          <a:bodyPr wrap="square" lIns="635" tIns="635" rIns="635" bIns="635" rtlCol="0" anchor="ctr">
            <a:normAutofit/>
          </a:bodyPr>
          <a:lstStyle/>
          <a:p>
            <a:pPr indent="0" marL="0">
              <a:buNone/>
            </a:pPr>
            <a:r>
              <a:rPr lang="en-US" sz="1500" dirty="0">
                <a:solidFill>
                  <a:srgbClr val="D9E8F2"/>
                </a:solidFill>
                <a:latin typeface="Courier New" pitchFamily="34" charset="0"/>
                <a:ea typeface="Courier New" pitchFamily="34" charset="-122"/>
                <a:cs typeface="Courier New" pitchFamily="34" charset="-120"/>
              </a:rPr>
              <a:t>MATCH (d:Person)-[:DIRECTED]-&gt;(m:Movie)</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      -[:HAS_GENRE]-&gt;(g:Genre)</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WHERE g.name = $genre</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RETURN d.name, count(m) AS movie_count</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ORDER BY movie_count DESC</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LIMIT $limit</a:t>
            </a:r>
            <a:endParaRPr lang="en-US" sz="1500" dirty="0"/>
          </a:p>
        </p:txBody>
      </p:sp>
      <p:sp>
        <p:nvSpPr>
          <p:cNvPr id="7" name="Text 5"/>
          <p:cNvSpPr/>
          <p:nvPr/>
        </p:nvSpPr>
        <p:spPr>
          <a:xfrm>
            <a:off x="932688" y="5138928"/>
            <a:ext cx="2377440" cy="329184"/>
          </a:xfrm>
          <a:prstGeom prst="rect">
            <a:avLst/>
          </a:prstGeom>
          <a:noFill/>
          <a:ln/>
        </p:spPr>
        <p:txBody>
          <a:bodyPr wrap="square" lIns="0" tIns="0" rIns="0" bIns="0" rtlCol="0" anchor="ctr"/>
          <a:lstStyle/>
          <a:p>
            <a:pPr indent="0" marL="0">
              <a:buNone/>
            </a:pPr>
            <a:r>
              <a:rPr lang="en-US" sz="1300" b="1" dirty="0">
                <a:solidFill>
                  <a:srgbClr val="8FD0CC"/>
                </a:solidFill>
                <a:latin typeface="Courier New" pitchFamily="34" charset="0"/>
                <a:ea typeface="Courier New" pitchFamily="34" charset="-122"/>
                <a:cs typeface="Courier New" pitchFamily="34" charset="-120"/>
              </a:rPr>
              <a:t>$genre · $limit</a:t>
            </a:r>
            <a:endParaRPr lang="en-US" sz="1300" dirty="0"/>
          </a:p>
        </p:txBody>
      </p:sp>
      <p:sp>
        <p:nvSpPr>
          <p:cNvPr id="8" name="Shape 6"/>
          <p:cNvSpPr/>
          <p:nvPr/>
        </p:nvSpPr>
        <p:spPr>
          <a:xfrm>
            <a:off x="7360920" y="1783080"/>
            <a:ext cx="4160520" cy="960120"/>
          </a:xfrm>
          <a:prstGeom prst="roundRect">
            <a:avLst>
              <a:gd name="adj" fmla="val 5714"/>
            </a:avLst>
          </a:prstGeom>
          <a:solidFill>
            <a:srgbClr val="FFFFFF"/>
          </a:solidFill>
          <a:ln w="12700">
            <a:solidFill>
              <a:srgbClr val="D7DEE8"/>
            </a:solidFill>
            <a:prstDash val="solid"/>
          </a:ln>
        </p:spPr>
      </p:sp>
      <p:sp>
        <p:nvSpPr>
          <p:cNvPr id="9" name="Shape 7"/>
          <p:cNvSpPr/>
          <p:nvPr/>
        </p:nvSpPr>
        <p:spPr>
          <a:xfrm>
            <a:off x="7562088" y="1984248"/>
            <a:ext cx="384048" cy="384048"/>
          </a:xfrm>
          <a:prstGeom prst="ellipse">
            <a:avLst/>
          </a:prstGeom>
          <a:solidFill>
            <a:srgbClr val="337B80"/>
          </a:solidFill>
          <a:ln w="12700">
            <a:solidFill>
              <a:srgbClr val="337B80"/>
            </a:solidFill>
            <a:prstDash val="solid"/>
          </a:ln>
        </p:spPr>
      </p:sp>
      <p:sp>
        <p:nvSpPr>
          <p:cNvPr id="10" name="Text 8"/>
          <p:cNvSpPr/>
          <p:nvPr/>
        </p:nvSpPr>
        <p:spPr>
          <a:xfrm>
            <a:off x="756208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Text 9"/>
          <p:cNvSpPr/>
          <p:nvPr/>
        </p:nvSpPr>
        <p:spPr>
          <a:xfrm>
            <a:off x="8074152" y="1965960"/>
            <a:ext cx="324612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Tra cứu</a:t>
            </a:r>
            <a:endParaRPr lang="en-US" sz="1600" dirty="0"/>
          </a:p>
        </p:txBody>
      </p:sp>
      <p:sp>
        <p:nvSpPr>
          <p:cNvPr id="12" name="Text 10"/>
          <p:cNvSpPr/>
          <p:nvPr/>
        </p:nvSpPr>
        <p:spPr>
          <a:xfrm>
            <a:off x="7589520" y="2386584"/>
            <a:ext cx="3703320" cy="17373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Phim theo đạo diễn · diễn viên theo phim</a:t>
            </a:r>
            <a:endParaRPr lang="en-US" sz="1100" dirty="0"/>
          </a:p>
        </p:txBody>
      </p:sp>
      <p:sp>
        <p:nvSpPr>
          <p:cNvPr id="13" name="Shape 11"/>
          <p:cNvSpPr/>
          <p:nvPr/>
        </p:nvSpPr>
        <p:spPr>
          <a:xfrm>
            <a:off x="7360920" y="2907792"/>
            <a:ext cx="4160520" cy="960120"/>
          </a:xfrm>
          <a:prstGeom prst="roundRect">
            <a:avLst>
              <a:gd name="adj" fmla="val 5714"/>
            </a:avLst>
          </a:prstGeom>
          <a:solidFill>
            <a:srgbClr val="FFF2DF"/>
          </a:solidFill>
          <a:ln w="12700">
            <a:solidFill>
              <a:srgbClr val="D7DEE8"/>
            </a:solidFill>
            <a:prstDash val="solid"/>
          </a:ln>
        </p:spPr>
      </p:sp>
      <p:sp>
        <p:nvSpPr>
          <p:cNvPr id="14" name="Shape 12"/>
          <p:cNvSpPr/>
          <p:nvPr/>
        </p:nvSpPr>
        <p:spPr>
          <a:xfrm>
            <a:off x="7562088" y="3108960"/>
            <a:ext cx="384048" cy="384048"/>
          </a:xfrm>
          <a:prstGeom prst="ellipse">
            <a:avLst/>
          </a:prstGeom>
          <a:solidFill>
            <a:srgbClr val="D38B36"/>
          </a:solidFill>
          <a:ln w="12700">
            <a:solidFill>
              <a:srgbClr val="D38B36"/>
            </a:solidFill>
            <a:prstDash val="solid"/>
          </a:ln>
        </p:spPr>
      </p:sp>
      <p:sp>
        <p:nvSpPr>
          <p:cNvPr id="15" name="Text 13"/>
          <p:cNvSpPr/>
          <p:nvPr/>
        </p:nvSpPr>
        <p:spPr>
          <a:xfrm>
            <a:off x="7562088" y="316382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6" name="Text 14"/>
          <p:cNvSpPr/>
          <p:nvPr/>
        </p:nvSpPr>
        <p:spPr>
          <a:xfrm>
            <a:off x="8074152" y="3090672"/>
            <a:ext cx="324612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Nhiều bước (multi-hop)</a:t>
            </a:r>
            <a:endParaRPr lang="en-US" sz="1600" dirty="0"/>
          </a:p>
        </p:txBody>
      </p:sp>
      <p:sp>
        <p:nvSpPr>
          <p:cNvPr id="17" name="Text 15"/>
          <p:cNvSpPr/>
          <p:nvPr/>
        </p:nvSpPr>
        <p:spPr>
          <a:xfrm>
            <a:off x="7589520" y="3511296"/>
            <a:ext cx="3703320" cy="17373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Phim chung · đạo diễn → phim → thể loại</a:t>
            </a:r>
            <a:endParaRPr lang="en-US" sz="1100" dirty="0"/>
          </a:p>
        </p:txBody>
      </p:sp>
      <p:sp>
        <p:nvSpPr>
          <p:cNvPr id="18" name="Shape 16"/>
          <p:cNvSpPr/>
          <p:nvPr/>
        </p:nvSpPr>
        <p:spPr>
          <a:xfrm>
            <a:off x="7360920" y="4032504"/>
            <a:ext cx="4160520" cy="960120"/>
          </a:xfrm>
          <a:prstGeom prst="roundRect">
            <a:avLst>
              <a:gd name="adj" fmla="val 5714"/>
            </a:avLst>
          </a:prstGeom>
          <a:solidFill>
            <a:srgbClr val="F0ECF7"/>
          </a:solidFill>
          <a:ln w="12700">
            <a:solidFill>
              <a:srgbClr val="D7DEE8"/>
            </a:solidFill>
            <a:prstDash val="solid"/>
          </a:ln>
        </p:spPr>
      </p:sp>
      <p:sp>
        <p:nvSpPr>
          <p:cNvPr id="19" name="Shape 17"/>
          <p:cNvSpPr/>
          <p:nvPr/>
        </p:nvSpPr>
        <p:spPr>
          <a:xfrm>
            <a:off x="7562088" y="4233672"/>
            <a:ext cx="384048" cy="384048"/>
          </a:xfrm>
          <a:prstGeom prst="ellipse">
            <a:avLst/>
          </a:prstGeom>
          <a:solidFill>
            <a:srgbClr val="725B9B"/>
          </a:solidFill>
          <a:ln w="12700">
            <a:solidFill>
              <a:srgbClr val="725B9B"/>
            </a:solidFill>
            <a:prstDash val="solid"/>
          </a:ln>
        </p:spPr>
      </p:sp>
      <p:sp>
        <p:nvSpPr>
          <p:cNvPr id="20" name="Text 18"/>
          <p:cNvSpPr/>
          <p:nvPr/>
        </p:nvSpPr>
        <p:spPr>
          <a:xfrm>
            <a:off x="7562088" y="4288536"/>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1" name="Text 19"/>
          <p:cNvSpPr/>
          <p:nvPr/>
        </p:nvSpPr>
        <p:spPr>
          <a:xfrm>
            <a:off x="8074152" y="4215384"/>
            <a:ext cx="324612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Đường đi và suy diễn</a:t>
            </a:r>
            <a:endParaRPr lang="en-US" sz="1600" dirty="0"/>
          </a:p>
        </p:txBody>
      </p:sp>
      <p:sp>
        <p:nvSpPr>
          <p:cNvPr id="22" name="Text 20"/>
          <p:cNvSpPr/>
          <p:nvPr/>
        </p:nvSpPr>
        <p:spPr>
          <a:xfrm>
            <a:off x="7589520" y="4636008"/>
            <a:ext cx="3703320" cy="17373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shortestPath([*..8]) · CO_STARRED_WITH</a:t>
            </a:r>
            <a:endParaRPr lang="en-US" sz="1100" dirty="0"/>
          </a:p>
        </p:txBody>
      </p:sp>
      <p:sp>
        <p:nvSpPr>
          <p:cNvPr id="23" name="Shape 21"/>
          <p:cNvSpPr/>
          <p:nvPr/>
        </p:nvSpPr>
        <p:spPr>
          <a:xfrm>
            <a:off x="7360920" y="5010912"/>
            <a:ext cx="4160520" cy="914400"/>
          </a:xfrm>
          <a:prstGeom prst="roundRect">
            <a:avLst>
              <a:gd name="adj" fmla="val 6000"/>
            </a:avLst>
          </a:prstGeom>
          <a:solidFill>
            <a:srgbClr val="E8F4EE"/>
          </a:solidFill>
          <a:ln w="12700">
            <a:solidFill>
              <a:srgbClr val="D7DEE8"/>
            </a:solidFill>
            <a:prstDash val="solid"/>
          </a:ln>
        </p:spPr>
      </p:sp>
      <p:sp>
        <p:nvSpPr>
          <p:cNvPr id="24" name="Shape 22"/>
          <p:cNvSpPr/>
          <p:nvPr/>
        </p:nvSpPr>
        <p:spPr>
          <a:xfrm>
            <a:off x="7562088" y="5212080"/>
            <a:ext cx="384048" cy="384048"/>
          </a:xfrm>
          <a:prstGeom prst="ellipse">
            <a:avLst/>
          </a:prstGeom>
          <a:solidFill>
            <a:srgbClr val="3D8B66"/>
          </a:solidFill>
          <a:ln w="12700">
            <a:solidFill>
              <a:srgbClr val="3D8B66"/>
            </a:solidFill>
            <a:prstDash val="solid"/>
          </a:ln>
        </p:spPr>
      </p:sp>
      <p:sp>
        <p:nvSpPr>
          <p:cNvPr id="25" name="Text 23"/>
          <p:cNvSpPr/>
          <p:nvPr/>
        </p:nvSpPr>
        <p:spPr>
          <a:xfrm>
            <a:off x="7562088" y="526694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26" name="Text 24"/>
          <p:cNvSpPr/>
          <p:nvPr/>
        </p:nvSpPr>
        <p:spPr>
          <a:xfrm>
            <a:off x="8074152" y="5193792"/>
            <a:ext cx="324612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An toàn</a:t>
            </a:r>
            <a:endParaRPr lang="en-US" sz="1300" dirty="0"/>
          </a:p>
        </p:txBody>
      </p:sp>
      <p:sp>
        <p:nvSpPr>
          <p:cNvPr id="27" name="Text 25"/>
          <p:cNvSpPr/>
          <p:nvPr/>
        </p:nvSpPr>
        <p:spPr>
          <a:xfrm>
            <a:off x="7589520" y="5614416"/>
            <a:ext cx="3703320" cy="128016"/>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Không nối chuỗi đầu vào vào Cypher.</a:t>
            </a:r>
            <a:endParaRPr lang="en-US" sz="10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SUY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CO_STARRED_WITH là fact suy ra có thể kiểm chứng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Đây là phép vật chất hóa luật nghiệp vụ bằng Cypher.</a:t>
            </a:r>
            <a:endParaRPr lang="en-US" sz="1250" dirty="0"/>
          </a:p>
        </p:txBody>
      </p:sp>
      <p:sp>
        <p:nvSpPr>
          <p:cNvPr id="5" name="Shape 3"/>
          <p:cNvSpPr/>
          <p:nvPr/>
        </p:nvSpPr>
        <p:spPr>
          <a:xfrm>
            <a:off x="594360" y="1755648"/>
            <a:ext cx="7315200" cy="4297680"/>
          </a:xfrm>
          <a:prstGeom prst="roundRect">
            <a:avLst>
              <a:gd name="adj" fmla="val 851"/>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costar_reasoning.png">    </p:cNvPr>
          <p:cNvPicPr>
            <a:picLocks noChangeAspect="1"/>
          </p:cNvPicPr>
          <p:nvPr/>
        </p:nvPicPr>
        <p:blipFill>
          <a:blip r:embed="rId1"/>
          <a:stretch>
            <a:fillRect/>
          </a:stretch>
        </p:blipFill>
        <p:spPr>
          <a:xfrm>
            <a:off x="704088" y="2096005"/>
            <a:ext cx="7095744" cy="3616967"/>
          </a:xfrm>
          <a:prstGeom prst="rect">
            <a:avLst/>
          </a:prstGeom>
        </p:spPr>
      </p:pic>
      <p:sp>
        <p:nvSpPr>
          <p:cNvPr id="7" name="Shape 4"/>
          <p:cNvSpPr/>
          <p:nvPr/>
        </p:nvSpPr>
        <p:spPr>
          <a:xfrm>
            <a:off x="8211312" y="1783080"/>
            <a:ext cx="3383280" cy="1078992"/>
          </a:xfrm>
          <a:prstGeom prst="roundRect">
            <a:avLst>
              <a:gd name="adj" fmla="val 5085"/>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439912" y="1965960"/>
            <a:ext cx="2926080" cy="301752"/>
          </a:xfrm>
          <a:prstGeom prst="rect">
            <a:avLst/>
          </a:prstGeom>
          <a:noFill/>
          <a:ln/>
        </p:spPr>
        <p:txBody>
          <a:bodyPr wrap="square" lIns="0" tIns="0" rIns="0" bIns="0" rtlCol="0" anchor="ctr">
            <a:normAutofit/>
          </a:bodyPr>
          <a:lstStyle/>
          <a:p>
            <a:pPr indent="0" marL="0">
              <a:buNone/>
            </a:pPr>
            <a:r>
              <a:rPr lang="en-US" sz="1600" b="1" dirty="0">
                <a:solidFill>
                  <a:srgbClr val="337B80"/>
                </a:solidFill>
                <a:latin typeface="Calibri" pitchFamily="34" charset="0"/>
                <a:ea typeface="Calibri" pitchFamily="34" charset="-122"/>
                <a:cs typeface="Calibri" pitchFamily="34" charset="-120"/>
              </a:rPr>
              <a:t>Sự kiện được khẳng định</a:t>
            </a:r>
            <a:endParaRPr lang="en-US" sz="1600" dirty="0"/>
          </a:p>
        </p:txBody>
      </p:sp>
      <p:sp>
        <p:nvSpPr>
          <p:cNvPr id="9" name="Text 6"/>
          <p:cNvSpPr/>
          <p:nvPr/>
        </p:nvSpPr>
        <p:spPr>
          <a:xfrm>
            <a:off x="8439912" y="2386584"/>
            <a:ext cx="2926080" cy="292608"/>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ACTED_IN đến từ danh sách vai diễn của TMDB.</a:t>
            </a:r>
            <a:endParaRPr lang="en-US" sz="1150" dirty="0"/>
          </a:p>
        </p:txBody>
      </p:sp>
      <p:sp>
        <p:nvSpPr>
          <p:cNvPr id="10" name="Shape 7"/>
          <p:cNvSpPr/>
          <p:nvPr/>
        </p:nvSpPr>
        <p:spPr>
          <a:xfrm>
            <a:off x="8211312" y="3136392"/>
            <a:ext cx="3383280" cy="1078992"/>
          </a:xfrm>
          <a:prstGeom prst="roundRect">
            <a:avLst>
              <a:gd name="adj" fmla="val 5085"/>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1" name="Text 8"/>
          <p:cNvSpPr/>
          <p:nvPr/>
        </p:nvSpPr>
        <p:spPr>
          <a:xfrm>
            <a:off x="8439912" y="3319272"/>
            <a:ext cx="2926080" cy="301752"/>
          </a:xfrm>
          <a:prstGeom prst="rect">
            <a:avLst/>
          </a:prstGeom>
          <a:noFill/>
          <a:ln/>
        </p:spPr>
        <p:txBody>
          <a:bodyPr wrap="square" lIns="0" tIns="0" rIns="0" bIns="0" rtlCol="0" anchor="ctr">
            <a:normAutofit/>
          </a:bodyPr>
          <a:lstStyle/>
          <a:p>
            <a:pPr indent="0" marL="0">
              <a:buNone/>
            </a:pPr>
            <a:r>
              <a:rPr lang="en-US" sz="1600" b="1" dirty="0">
                <a:solidFill>
                  <a:srgbClr val="725B9B"/>
                </a:solidFill>
                <a:latin typeface="Calibri" pitchFamily="34" charset="0"/>
                <a:ea typeface="Calibri" pitchFamily="34" charset="-122"/>
                <a:cs typeface="Calibri" pitchFamily="34" charset="-120"/>
              </a:rPr>
              <a:t>Sự kiện suy ra</a:t>
            </a:r>
            <a:endParaRPr lang="en-US" sz="1600" dirty="0"/>
          </a:p>
        </p:txBody>
      </p:sp>
      <p:sp>
        <p:nvSpPr>
          <p:cNvPr id="12" name="Text 9"/>
          <p:cNvSpPr/>
          <p:nvPr/>
        </p:nvSpPr>
        <p:spPr>
          <a:xfrm>
            <a:off x="8439912" y="3739896"/>
            <a:ext cx="2926080" cy="292608"/>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CO_STARRED_WITH được tạo từ phim chung.</a:t>
            </a:r>
            <a:endParaRPr lang="en-US" sz="1150" dirty="0"/>
          </a:p>
        </p:txBody>
      </p:sp>
      <p:sp>
        <p:nvSpPr>
          <p:cNvPr id="13" name="Shape 10"/>
          <p:cNvSpPr/>
          <p:nvPr/>
        </p:nvSpPr>
        <p:spPr>
          <a:xfrm>
            <a:off x="8211312" y="4489704"/>
            <a:ext cx="3383280" cy="1280160"/>
          </a:xfrm>
          <a:prstGeom prst="roundRect">
            <a:avLst>
              <a:gd name="adj" fmla="val 4286"/>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4" name="Text 11"/>
          <p:cNvSpPr/>
          <p:nvPr/>
        </p:nvSpPr>
        <p:spPr>
          <a:xfrm>
            <a:off x="8439912" y="4672584"/>
            <a:ext cx="2926080" cy="301752"/>
          </a:xfrm>
          <a:prstGeom prst="rect">
            <a:avLst/>
          </a:prstGeom>
          <a:noFill/>
          <a:ln/>
        </p:spPr>
        <p:txBody>
          <a:bodyPr wrap="square" lIns="0" tIns="0" rIns="0" bIns="0" rtlCol="0" anchor="ctr">
            <a:normAutofit/>
          </a:bodyPr>
          <a:lstStyle/>
          <a:p>
            <a:pPr indent="0" marL="0">
              <a:buNone/>
            </a:pPr>
            <a:r>
              <a:rPr lang="en-US" sz="1600" b="1" dirty="0">
                <a:solidFill>
                  <a:srgbClr val="3D8B66"/>
                </a:solidFill>
                <a:latin typeface="Calibri" pitchFamily="34" charset="0"/>
                <a:ea typeface="Calibri" pitchFamily="34" charset="-122"/>
                <a:cs typeface="Calibri" pitchFamily="34" charset="-120"/>
              </a:rPr>
              <a:t>Bằng chứng</a:t>
            </a:r>
            <a:endParaRPr lang="en-US" sz="1600" dirty="0"/>
          </a:p>
        </p:txBody>
      </p:sp>
      <p:sp>
        <p:nvSpPr>
          <p:cNvPr id="15" name="Text 12"/>
          <p:cNvSpPr/>
          <p:nvPr/>
        </p:nvSpPr>
        <p:spPr>
          <a:xfrm>
            <a:off x="8439912" y="5093208"/>
            <a:ext cx="2926080" cy="493776"/>
          </a:xfrm>
          <a:prstGeom prst="rect">
            <a:avLst/>
          </a:prstGeom>
          <a:noFill/>
          <a:ln/>
        </p:spPr>
        <p:txBody>
          <a:bodyPr wrap="square" lIns="0" tIns="0" rIns="0" bIns="0" rtlCol="0" anchor="t">
            <a:normAutofit/>
          </a:bodyPr>
          <a:lstStyle/>
          <a:p>
            <a:pPr indent="0" marL="0">
              <a:buNone/>
            </a:pPr>
            <a:r>
              <a:rPr lang="en-US" sz="1200" dirty="0">
                <a:solidFill>
                  <a:srgbClr val="172B3A"/>
                </a:solidFill>
                <a:latin typeface="Calibri" pitchFamily="34" charset="0"/>
                <a:ea typeface="Calibri" pitchFamily="34" charset="-122"/>
                <a:cs typeface="Calibri" pitchFamily="34" charset="-120"/>
              </a:rPr>
              <a:t>movie_count · evidence_movie_ids · derived=true</a:t>
            </a:r>
            <a:endParaRPr lang="en-US" sz="1200" dirty="0"/>
          </a:p>
        </p:txBody>
      </p:sp>
      <p:sp>
        <p:nvSpPr>
          <p:cNvPr id="16" name="Text 13"/>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report_latex/images/sources/costar_reasoning.drawio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ỨNG DỤNG HỎI–ĐÁP</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Giá trị của chatbot nằm ở việc điều phối Cypher an toàn</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Ngôn ngữ tự nhiên chọn ý định và thực thể; Neo4j thực hiện traversal và trả bằng chứng.</a:t>
            </a:r>
            <a:endParaRPr lang="en-US" sz="1250" dirty="0"/>
          </a:p>
        </p:txBody>
      </p:sp>
      <p:sp>
        <p:nvSpPr>
          <p:cNvPr id="5" name="Shape 3"/>
          <p:cNvSpPr/>
          <p:nvPr/>
        </p:nvSpPr>
        <p:spPr>
          <a:xfrm>
            <a:off x="566928" y="1755648"/>
            <a:ext cx="7543800" cy="4297680"/>
          </a:xfrm>
          <a:prstGeom prst="roundRect">
            <a:avLst>
              <a:gd name="adj" fmla="val 851"/>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qa_sequence.png">    </p:cNvPr>
          <p:cNvPicPr>
            <a:picLocks noChangeAspect="1"/>
          </p:cNvPicPr>
          <p:nvPr/>
        </p:nvPicPr>
        <p:blipFill>
          <a:blip r:embed="rId1"/>
          <a:stretch>
            <a:fillRect/>
          </a:stretch>
        </p:blipFill>
        <p:spPr>
          <a:xfrm>
            <a:off x="676656" y="2201322"/>
            <a:ext cx="7324344" cy="3406332"/>
          </a:xfrm>
          <a:prstGeom prst="rect">
            <a:avLst/>
          </a:prstGeom>
        </p:spPr>
      </p:pic>
      <p:sp>
        <p:nvSpPr>
          <p:cNvPr id="7" name="Shape 4"/>
          <p:cNvSpPr/>
          <p:nvPr/>
        </p:nvSpPr>
        <p:spPr>
          <a:xfrm>
            <a:off x="8394192" y="1773936"/>
            <a:ext cx="3182112" cy="1051560"/>
          </a:xfrm>
          <a:prstGeom prst="roundRect">
            <a:avLst>
              <a:gd name="adj" fmla="val 5217"/>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622792" y="1956816"/>
            <a:ext cx="2724912" cy="301752"/>
          </a:xfrm>
          <a:prstGeom prst="rect">
            <a:avLst/>
          </a:prstGeom>
          <a:noFill/>
          <a:ln/>
        </p:spPr>
        <p:txBody>
          <a:bodyPr wrap="square" lIns="0" tIns="0" rIns="0" bIns="0" rtlCol="0" anchor="ctr">
            <a:normAutofit/>
          </a:bodyPr>
          <a:lstStyle/>
          <a:p>
            <a:pPr indent="0" marL="0">
              <a:buNone/>
            </a:pPr>
            <a:r>
              <a:rPr lang="en-US" sz="1500" b="1" dirty="0">
                <a:solidFill>
                  <a:srgbClr val="112B46"/>
                </a:solidFill>
                <a:latin typeface="Calibri" pitchFamily="34" charset="0"/>
                <a:ea typeface="Calibri" pitchFamily="34" charset="-122"/>
                <a:cs typeface="Calibri" pitchFamily="34" charset="-120"/>
              </a:rPr>
              <a:t>9 ý định cố định</a:t>
            </a:r>
            <a:endParaRPr lang="en-US" sz="1500" dirty="0"/>
          </a:p>
        </p:txBody>
      </p:sp>
      <p:sp>
        <p:nvSpPr>
          <p:cNvPr id="9" name="Text 6"/>
          <p:cNvSpPr/>
          <p:nvPr/>
        </p:nvSpPr>
        <p:spPr>
          <a:xfrm>
            <a:off x="8622792" y="2377440"/>
            <a:ext cx="2724912" cy="26517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Tra cứu · tổng hợp · nhiều bước · đường đi ngắn nhất</a:t>
            </a:r>
            <a:endParaRPr lang="en-US" sz="1050" dirty="0"/>
          </a:p>
        </p:txBody>
      </p:sp>
      <p:sp>
        <p:nvSpPr>
          <p:cNvPr id="10" name="Shape 7"/>
          <p:cNvSpPr/>
          <p:nvPr/>
        </p:nvSpPr>
        <p:spPr>
          <a:xfrm>
            <a:off x="8394192" y="3081528"/>
            <a:ext cx="3182112" cy="1051560"/>
          </a:xfrm>
          <a:prstGeom prst="roundRect">
            <a:avLst>
              <a:gd name="adj" fmla="val 5217"/>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11" name="Text 8"/>
          <p:cNvSpPr/>
          <p:nvPr/>
        </p:nvSpPr>
        <p:spPr>
          <a:xfrm>
            <a:off x="8622792" y="3264408"/>
            <a:ext cx="2724912" cy="301752"/>
          </a:xfrm>
          <a:prstGeom prst="rect">
            <a:avLst/>
          </a:prstGeom>
          <a:noFill/>
          <a:ln/>
        </p:spPr>
        <p:txBody>
          <a:bodyPr wrap="square" lIns="0" tIns="0" rIns="0" bIns="0" rtlCol="0" anchor="ctr">
            <a:normAutofit/>
          </a:bodyPr>
          <a:lstStyle/>
          <a:p>
            <a:pPr indent="0" marL="0">
              <a:buNone/>
            </a:pPr>
            <a:r>
              <a:rPr lang="en-US" sz="1500" b="1" dirty="0">
                <a:solidFill>
                  <a:srgbClr val="112B46"/>
                </a:solidFill>
                <a:latin typeface="Calibri" pitchFamily="34" charset="0"/>
                <a:ea typeface="Calibri" pitchFamily="34" charset="-122"/>
                <a:cs typeface="Calibri" pitchFamily="34" charset="-120"/>
              </a:rPr>
              <a:t>Liên kết thực thể</a:t>
            </a:r>
            <a:endParaRPr lang="en-US" sz="1500" dirty="0"/>
          </a:p>
        </p:txBody>
      </p:sp>
      <p:sp>
        <p:nvSpPr>
          <p:cNvPr id="12" name="Text 9"/>
          <p:cNvSpPr/>
          <p:nvPr/>
        </p:nvSpPr>
        <p:spPr>
          <a:xfrm>
            <a:off x="8622792" y="3685032"/>
            <a:ext cx="2724912" cy="26517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“Cristopher Nolan” → Christopher Nolan + độ tin cậy</a:t>
            </a:r>
            <a:endParaRPr lang="en-US" sz="1050" dirty="0"/>
          </a:p>
        </p:txBody>
      </p:sp>
      <p:sp>
        <p:nvSpPr>
          <p:cNvPr id="13" name="Shape 10"/>
          <p:cNvSpPr/>
          <p:nvPr/>
        </p:nvSpPr>
        <p:spPr>
          <a:xfrm>
            <a:off x="8394192" y="4389120"/>
            <a:ext cx="3182112" cy="1051560"/>
          </a:xfrm>
          <a:prstGeom prst="roundRect">
            <a:avLst>
              <a:gd name="adj" fmla="val 5217"/>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4" name="Text 11"/>
          <p:cNvSpPr/>
          <p:nvPr/>
        </p:nvSpPr>
        <p:spPr>
          <a:xfrm>
            <a:off x="8622792" y="4572000"/>
            <a:ext cx="2724912" cy="301752"/>
          </a:xfrm>
          <a:prstGeom prst="rect">
            <a:avLst/>
          </a:prstGeom>
          <a:noFill/>
          <a:ln/>
        </p:spPr>
        <p:txBody>
          <a:bodyPr wrap="square" lIns="0" tIns="0" rIns="0" bIns="0" rtlCol="0" anchor="ctr">
            <a:normAutofit/>
          </a:bodyPr>
          <a:lstStyle/>
          <a:p>
            <a:pPr indent="0" marL="0">
              <a:buNone/>
            </a:pPr>
            <a:r>
              <a:rPr lang="en-US" sz="1500" b="1" dirty="0">
                <a:solidFill>
                  <a:srgbClr val="112B46"/>
                </a:solidFill>
                <a:latin typeface="Calibri" pitchFamily="34" charset="0"/>
                <a:ea typeface="Calibri" pitchFamily="34" charset="-122"/>
                <a:cs typeface="Calibri" pitchFamily="34" charset="-120"/>
              </a:rPr>
              <a:t>Bằng chứng đồ thị</a:t>
            </a:r>
            <a:endParaRPr lang="en-US" sz="1500" dirty="0"/>
          </a:p>
        </p:txBody>
      </p:sp>
      <p:sp>
        <p:nvSpPr>
          <p:cNvPr id="15" name="Text 12"/>
          <p:cNvSpPr/>
          <p:nvPr/>
        </p:nvSpPr>
        <p:spPr>
          <a:xfrm>
            <a:off x="8622792" y="4992624"/>
            <a:ext cx="2724912" cy="26517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Ý định · thực thể · bản ghi/đường đi · độ trễ</a:t>
            </a:r>
            <a:endParaRPr lang="en-US" sz="1050" dirty="0"/>
          </a:p>
        </p:txBody>
      </p:sp>
      <p:sp>
        <p:nvSpPr>
          <p:cNvPr id="16" name="Text 13"/>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report_latex/images/sources/qa_sequence.drawio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ỨNG DỤNG GỢI Ý</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Gợi ý giải thích được bằng đóng góp trên đồ thị</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IDF giảm ảnh hưởng của đặc trưng quá phổ biến; mỗi đề xuất kèm các đặc trưng chung tạo điểm.</a:t>
            </a:r>
            <a:endParaRPr lang="en-US" sz="1250" dirty="0"/>
          </a:p>
        </p:txBody>
      </p:sp>
      <p:sp>
        <p:nvSpPr>
          <p:cNvPr id="5" name="Shape 3"/>
          <p:cNvSpPr/>
          <p:nvPr/>
        </p:nvSpPr>
        <p:spPr>
          <a:xfrm>
            <a:off x="576072" y="1755648"/>
            <a:ext cx="7114032" cy="4297680"/>
          </a:xfrm>
          <a:prstGeom prst="roundRect">
            <a:avLst>
              <a:gd name="adj" fmla="val 851"/>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recommendation_explanation.png">    </p:cNvPr>
          <p:cNvPicPr>
            <a:picLocks noChangeAspect="1"/>
          </p:cNvPicPr>
          <p:nvPr/>
        </p:nvPicPr>
        <p:blipFill>
          <a:blip r:embed="rId1"/>
          <a:stretch>
            <a:fillRect/>
          </a:stretch>
        </p:blipFill>
        <p:spPr>
          <a:xfrm>
            <a:off x="685800" y="2952448"/>
            <a:ext cx="6894576" cy="1904081"/>
          </a:xfrm>
          <a:prstGeom prst="rect">
            <a:avLst/>
          </a:prstGeom>
        </p:spPr>
      </p:pic>
      <p:sp>
        <p:nvSpPr>
          <p:cNvPr id="7" name="Text 4"/>
          <p:cNvSpPr/>
          <p:nvPr/>
        </p:nvSpPr>
        <p:spPr>
          <a:xfrm>
            <a:off x="7973568" y="1847088"/>
            <a:ext cx="3566160" cy="566928"/>
          </a:xfrm>
          <a:prstGeom prst="rect">
            <a:avLst/>
          </a:prstGeom>
          <a:noFill/>
          <a:ln/>
        </p:spPr>
        <p:txBody>
          <a:bodyPr wrap="square" lIns="0" tIns="0" rIns="0" bIns="0" rtlCol="0" anchor="ctr">
            <a:normAutofit/>
          </a:bodyPr>
          <a:lstStyle/>
          <a:p>
            <a:pPr indent="0" marL="0">
              <a:buNone/>
            </a:pPr>
            <a:r>
              <a:rPr lang="en-US" sz="1250" b="1" dirty="0">
                <a:solidFill>
                  <a:srgbClr val="112B46"/>
                </a:solidFill>
                <a:latin typeface="Courier New" pitchFamily="34" charset="0"/>
                <a:ea typeface="Courier New" pitchFamily="34" charset="-122"/>
                <a:cs typeface="Courier New" pitchFamily="34" charset="-120"/>
              </a:rPr>
              <a:t>contribution = type_weight × (1 + ln((N+1)/(df+1)))</a:t>
            </a:r>
            <a:endParaRPr lang="en-US" sz="1250" dirty="0"/>
          </a:p>
        </p:txBody>
      </p:sp>
      <p:sp>
        <p:nvSpPr>
          <p:cNvPr id="8" name="Text 5"/>
          <p:cNvSpPr/>
          <p:nvPr/>
        </p:nvSpPr>
        <p:spPr>
          <a:xfrm>
            <a:off x="8001000" y="2697480"/>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Đạo diễn</a:t>
            </a:r>
            <a:endParaRPr lang="en-US" sz="1200" dirty="0"/>
          </a:p>
        </p:txBody>
      </p:sp>
      <p:sp>
        <p:nvSpPr>
          <p:cNvPr id="9" name="Shape 6"/>
          <p:cNvSpPr/>
          <p:nvPr/>
        </p:nvSpPr>
        <p:spPr>
          <a:xfrm>
            <a:off x="9217152" y="2724912"/>
            <a:ext cx="1536192" cy="164592"/>
          </a:xfrm>
          <a:prstGeom prst="rect">
            <a:avLst/>
          </a:prstGeom>
          <a:solidFill>
            <a:srgbClr val="725B9B"/>
          </a:solidFill>
          <a:ln w="12700">
            <a:solidFill>
              <a:srgbClr val="725B9B"/>
            </a:solidFill>
            <a:prstDash val="solid"/>
          </a:ln>
        </p:spPr>
      </p:sp>
      <p:sp>
        <p:nvSpPr>
          <p:cNvPr id="10" name="Text 7"/>
          <p:cNvSpPr/>
          <p:nvPr/>
        </p:nvSpPr>
        <p:spPr>
          <a:xfrm>
            <a:off x="10881360" y="2697480"/>
            <a:ext cx="457200" cy="219456"/>
          </a:xfrm>
          <a:prstGeom prst="rect">
            <a:avLst/>
          </a:prstGeom>
          <a:noFill/>
          <a:ln/>
        </p:spPr>
        <p:txBody>
          <a:bodyPr wrap="square" lIns="0" tIns="0" rIns="0" bIns="0" rtlCol="0" anchor="ctr"/>
          <a:lstStyle/>
          <a:p>
            <a:pPr algn="r" indent="0" marL="0">
              <a:buNone/>
            </a:pPr>
            <a:r>
              <a:rPr lang="en-US" sz="1100" b="1" dirty="0">
                <a:solidFill>
                  <a:srgbClr val="725B9B"/>
                </a:solidFill>
                <a:latin typeface="Arial" pitchFamily="34" charset="0"/>
                <a:ea typeface="Arial" pitchFamily="34" charset="-122"/>
                <a:cs typeface="Arial" pitchFamily="34" charset="-120"/>
              </a:rPr>
              <a:t>3,0</a:t>
            </a:r>
            <a:endParaRPr lang="en-US" sz="1100" dirty="0"/>
          </a:p>
        </p:txBody>
      </p:sp>
      <p:sp>
        <p:nvSpPr>
          <p:cNvPr id="11" name="Text 8"/>
          <p:cNvSpPr/>
          <p:nvPr/>
        </p:nvSpPr>
        <p:spPr>
          <a:xfrm>
            <a:off x="8001000" y="3355848"/>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Diễn viên</a:t>
            </a:r>
            <a:endParaRPr lang="en-US" sz="1200" dirty="0"/>
          </a:p>
        </p:txBody>
      </p:sp>
      <p:sp>
        <p:nvSpPr>
          <p:cNvPr id="12" name="Shape 9"/>
          <p:cNvSpPr/>
          <p:nvPr/>
        </p:nvSpPr>
        <p:spPr>
          <a:xfrm>
            <a:off x="9217152" y="3383280"/>
            <a:ext cx="1024128" cy="164592"/>
          </a:xfrm>
          <a:prstGeom prst="rect">
            <a:avLst/>
          </a:prstGeom>
          <a:solidFill>
            <a:srgbClr val="337B80"/>
          </a:solidFill>
          <a:ln w="12700">
            <a:solidFill>
              <a:srgbClr val="337B80"/>
            </a:solidFill>
            <a:prstDash val="solid"/>
          </a:ln>
        </p:spPr>
      </p:sp>
      <p:sp>
        <p:nvSpPr>
          <p:cNvPr id="13" name="Text 10"/>
          <p:cNvSpPr/>
          <p:nvPr/>
        </p:nvSpPr>
        <p:spPr>
          <a:xfrm>
            <a:off x="10881360" y="3355848"/>
            <a:ext cx="457200" cy="219456"/>
          </a:xfrm>
          <a:prstGeom prst="rect">
            <a:avLst/>
          </a:prstGeom>
          <a:noFill/>
          <a:ln/>
        </p:spPr>
        <p:txBody>
          <a:bodyPr wrap="square" lIns="0" tIns="0" rIns="0" bIns="0" rtlCol="0" anchor="ctr"/>
          <a:lstStyle/>
          <a:p>
            <a:pPr algn="r" indent="0" marL="0">
              <a:buNone/>
            </a:pPr>
            <a:r>
              <a:rPr lang="en-US" sz="1100" b="1" dirty="0">
                <a:solidFill>
                  <a:srgbClr val="337B80"/>
                </a:solidFill>
                <a:latin typeface="Arial" pitchFamily="34" charset="0"/>
                <a:ea typeface="Arial" pitchFamily="34" charset="-122"/>
                <a:cs typeface="Arial" pitchFamily="34" charset="-120"/>
              </a:rPr>
              <a:t>2,0</a:t>
            </a:r>
            <a:endParaRPr lang="en-US" sz="1100" dirty="0"/>
          </a:p>
        </p:txBody>
      </p:sp>
      <p:sp>
        <p:nvSpPr>
          <p:cNvPr id="14" name="Text 11"/>
          <p:cNvSpPr/>
          <p:nvPr/>
        </p:nvSpPr>
        <p:spPr>
          <a:xfrm>
            <a:off x="8001000" y="4014216"/>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Thể loại</a:t>
            </a:r>
            <a:endParaRPr lang="en-US" sz="1200" dirty="0"/>
          </a:p>
        </p:txBody>
      </p:sp>
      <p:sp>
        <p:nvSpPr>
          <p:cNvPr id="15" name="Shape 12"/>
          <p:cNvSpPr/>
          <p:nvPr/>
        </p:nvSpPr>
        <p:spPr>
          <a:xfrm>
            <a:off x="9217152" y="4041648"/>
            <a:ext cx="768096" cy="164592"/>
          </a:xfrm>
          <a:prstGeom prst="rect">
            <a:avLst/>
          </a:prstGeom>
          <a:solidFill>
            <a:srgbClr val="3D8B66"/>
          </a:solidFill>
          <a:ln w="12700">
            <a:solidFill>
              <a:srgbClr val="3D8B66"/>
            </a:solidFill>
            <a:prstDash val="solid"/>
          </a:ln>
        </p:spPr>
      </p:sp>
      <p:sp>
        <p:nvSpPr>
          <p:cNvPr id="16" name="Text 13"/>
          <p:cNvSpPr/>
          <p:nvPr/>
        </p:nvSpPr>
        <p:spPr>
          <a:xfrm>
            <a:off x="10881360" y="4014216"/>
            <a:ext cx="457200" cy="219456"/>
          </a:xfrm>
          <a:prstGeom prst="rect">
            <a:avLst/>
          </a:prstGeom>
          <a:noFill/>
          <a:ln/>
        </p:spPr>
        <p:txBody>
          <a:bodyPr wrap="square" lIns="0" tIns="0" rIns="0" bIns="0" rtlCol="0" anchor="ctr"/>
          <a:lstStyle/>
          <a:p>
            <a:pPr algn="r" indent="0" marL="0">
              <a:buNone/>
            </a:pPr>
            <a:r>
              <a:rPr lang="en-US" sz="1100" b="1" dirty="0">
                <a:solidFill>
                  <a:srgbClr val="3D8B66"/>
                </a:solidFill>
                <a:latin typeface="Arial" pitchFamily="34" charset="0"/>
                <a:ea typeface="Arial" pitchFamily="34" charset="-122"/>
                <a:cs typeface="Arial" pitchFamily="34" charset="-120"/>
              </a:rPr>
              <a:t>1,5</a:t>
            </a:r>
            <a:endParaRPr lang="en-US" sz="1100" dirty="0"/>
          </a:p>
        </p:txBody>
      </p:sp>
      <p:sp>
        <p:nvSpPr>
          <p:cNvPr id="17" name="Text 14"/>
          <p:cNvSpPr/>
          <p:nvPr/>
        </p:nvSpPr>
        <p:spPr>
          <a:xfrm>
            <a:off x="8001000" y="4672584"/>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Từ khóa</a:t>
            </a:r>
            <a:endParaRPr lang="en-US" sz="1200" dirty="0"/>
          </a:p>
        </p:txBody>
      </p:sp>
      <p:sp>
        <p:nvSpPr>
          <p:cNvPr id="18" name="Shape 15"/>
          <p:cNvSpPr/>
          <p:nvPr/>
        </p:nvSpPr>
        <p:spPr>
          <a:xfrm>
            <a:off x="9217152" y="4700016"/>
            <a:ext cx="512064" cy="164592"/>
          </a:xfrm>
          <a:prstGeom prst="rect">
            <a:avLst/>
          </a:prstGeom>
          <a:solidFill>
            <a:srgbClr val="D38B36"/>
          </a:solidFill>
          <a:ln w="12700">
            <a:solidFill>
              <a:srgbClr val="D38B36"/>
            </a:solidFill>
            <a:prstDash val="solid"/>
          </a:ln>
        </p:spPr>
      </p:sp>
      <p:sp>
        <p:nvSpPr>
          <p:cNvPr id="19" name="Text 16"/>
          <p:cNvSpPr/>
          <p:nvPr/>
        </p:nvSpPr>
        <p:spPr>
          <a:xfrm>
            <a:off x="10881360" y="4672584"/>
            <a:ext cx="457200" cy="219456"/>
          </a:xfrm>
          <a:prstGeom prst="rect">
            <a:avLst/>
          </a:prstGeom>
          <a:noFill/>
          <a:ln/>
        </p:spPr>
        <p:txBody>
          <a:bodyPr wrap="square" lIns="0" tIns="0" rIns="0" bIns="0" rtlCol="0" anchor="ctr"/>
          <a:lstStyle/>
          <a:p>
            <a:pPr algn="r" indent="0" marL="0">
              <a:buNone/>
            </a:pPr>
            <a:r>
              <a:rPr lang="en-US" sz="1100" b="1" dirty="0">
                <a:solidFill>
                  <a:srgbClr val="D38B36"/>
                </a:solidFill>
                <a:latin typeface="Arial" pitchFamily="34" charset="0"/>
                <a:ea typeface="Arial" pitchFamily="34" charset="-122"/>
                <a:cs typeface="Arial" pitchFamily="34" charset="-120"/>
              </a:rPr>
              <a:t>1,0</a:t>
            </a:r>
            <a:endParaRPr lang="en-US" sz="1100" dirty="0"/>
          </a:p>
        </p:txBody>
      </p:sp>
      <p:sp>
        <p:nvSpPr>
          <p:cNvPr id="20" name="Shape 17"/>
          <p:cNvSpPr/>
          <p:nvPr/>
        </p:nvSpPr>
        <p:spPr>
          <a:xfrm>
            <a:off x="7973568" y="5138928"/>
            <a:ext cx="3566160" cy="932688"/>
          </a:xfrm>
          <a:prstGeom prst="roundRect">
            <a:avLst>
              <a:gd name="adj" fmla="val 5882"/>
            </a:avLst>
          </a:prstGeom>
          <a:solidFill>
            <a:srgbClr val="E8F4EE"/>
          </a:solidFill>
          <a:ln w="12700">
            <a:solidFill>
              <a:srgbClr val="C4E2D1"/>
            </a:solidFill>
            <a:prstDash val="solid"/>
          </a:ln>
        </p:spPr>
      </p:sp>
      <p:sp>
        <p:nvSpPr>
          <p:cNvPr id="21" name="Text 18"/>
          <p:cNvSpPr/>
          <p:nvPr/>
        </p:nvSpPr>
        <p:spPr>
          <a:xfrm>
            <a:off x="8202168" y="5321808"/>
            <a:ext cx="3108960"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Điểm được tính trong Neo4j</a:t>
            </a:r>
            <a:endParaRPr lang="en-US" sz="1200" dirty="0"/>
          </a:p>
        </p:txBody>
      </p:sp>
      <p:sp>
        <p:nvSpPr>
          <p:cNvPr id="22" name="Text 19"/>
          <p:cNvSpPr/>
          <p:nvPr/>
        </p:nvSpPr>
        <p:spPr>
          <a:xfrm>
            <a:off x="8202168" y="5742432"/>
            <a:ext cx="3108960" cy="146304"/>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Không tải toàn bộ graph về Python.</a:t>
            </a:r>
            <a:endParaRPr lang="en-US" sz="950" dirty="0"/>
          </a:p>
        </p:txBody>
      </p:sp>
      <p:sp>
        <p:nvSpPr>
          <p:cNvPr id="23" name="Text 20"/>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report_latex/images/sources/recommendation_explanation.drawio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THỰC NGHIỆM</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Đánh giá được thiết kế theo từng tuyên bố</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Mỗi metric gắn với dataset, protocol và giới hạn diễn giải cụ thể.</a:t>
            </a: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12648" y="1773936"/>
          <a:ext cx="7498080" cy="4343400"/>
        </p:xfrm>
        <a:graphic>
          <a:graphicData uri="http://schemas.openxmlformats.org/drawingml/2006/table">
            <a:tbl>
              <a:tblPr/>
              <a:tblGrid>
                <a:gridCol w="2103120"/>
                <a:gridCol w="2377440"/>
                <a:gridCol w="3017520"/>
              </a:tblGrid>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Hạng mục</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Tập đánh giá</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Metric</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Chất lượng dữ liệu</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Toàn corpus</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missing · duplicate · orphan</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Phân giải thực thể</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100 cặp silver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 · R · F1</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Suy diễn co-star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50 fact silver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precision</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Hỏi–đáp</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20 câu smoke</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accuracy + evidence</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Gợi ý</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20 case silver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P@10 · NDCG@10</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Hiệu năng</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4 quy mô × 4 query</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median · p95 · 100 lần</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Shape 3"/>
          <p:cNvSpPr/>
          <p:nvPr/>
        </p:nvSpPr>
        <p:spPr>
          <a:xfrm>
            <a:off x="8430768" y="1792224"/>
            <a:ext cx="3127248" cy="1143000"/>
          </a:xfrm>
          <a:prstGeom prst="roundRect">
            <a:avLst>
              <a:gd name="adj" fmla="val 4800"/>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7" name="Text 4"/>
          <p:cNvSpPr/>
          <p:nvPr/>
        </p:nvSpPr>
        <p:spPr>
          <a:xfrm>
            <a:off x="8659368" y="1975104"/>
            <a:ext cx="2670048" cy="301752"/>
          </a:xfrm>
          <a:prstGeom prst="rect">
            <a:avLst/>
          </a:prstGeom>
          <a:noFill/>
          <a:ln/>
        </p:spPr>
        <p:txBody>
          <a:bodyPr wrap="square" lIns="0" tIns="0" rIns="0" bIns="0" rtlCol="0" anchor="ctr">
            <a:normAutofit/>
          </a:bodyPr>
          <a:lstStyle/>
          <a:p>
            <a:pPr indent="0" marL="0">
              <a:buNone/>
            </a:pPr>
            <a:r>
              <a:rPr lang="en-US" sz="1400" b="1" dirty="0">
                <a:solidFill>
                  <a:srgbClr val="D38B36"/>
                </a:solidFill>
                <a:latin typeface="Calibri" pitchFamily="34" charset="0"/>
                <a:ea typeface="Calibri" pitchFamily="34" charset="-122"/>
                <a:cs typeface="Calibri" pitchFamily="34" charset="-120"/>
              </a:rPr>
              <a:t>Silver ≠ ground truth độc lập</a:t>
            </a:r>
            <a:endParaRPr lang="en-US" sz="1400" dirty="0"/>
          </a:p>
        </p:txBody>
      </p:sp>
      <p:sp>
        <p:nvSpPr>
          <p:cNvPr id="8" name="Text 5"/>
          <p:cNvSpPr/>
          <p:nvPr/>
        </p:nvSpPr>
        <p:spPr>
          <a:xfrm>
            <a:off x="8659368" y="2395728"/>
            <a:ext cx="2670048" cy="35661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Corpus được sinh tất định, có provenance và rubric công bố.</a:t>
            </a:r>
            <a:endParaRPr lang="en-US" sz="1050" dirty="0"/>
          </a:p>
        </p:txBody>
      </p:sp>
      <p:sp>
        <p:nvSpPr>
          <p:cNvPr id="9" name="Shape 6"/>
          <p:cNvSpPr/>
          <p:nvPr/>
        </p:nvSpPr>
        <p:spPr>
          <a:xfrm>
            <a:off x="8430768" y="3236976"/>
            <a:ext cx="3127248" cy="1143000"/>
          </a:xfrm>
          <a:prstGeom prst="roundRect">
            <a:avLst>
              <a:gd name="adj" fmla="val 48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10" name="Text 7"/>
          <p:cNvSpPr/>
          <p:nvPr/>
        </p:nvSpPr>
        <p:spPr>
          <a:xfrm>
            <a:off x="8659368" y="3419856"/>
            <a:ext cx="2670048" cy="301752"/>
          </a:xfrm>
          <a:prstGeom prst="rect">
            <a:avLst/>
          </a:prstGeom>
          <a:noFill/>
          <a:ln/>
        </p:spPr>
        <p:txBody>
          <a:bodyPr wrap="square" lIns="0" tIns="0" rIns="0" bIns="0" rtlCol="0" anchor="ctr">
            <a:normAutofit/>
          </a:bodyPr>
          <a:lstStyle/>
          <a:p>
            <a:pPr indent="0" marL="0">
              <a:buNone/>
            </a:pPr>
            <a:r>
              <a:rPr lang="en-US" sz="1400" b="1" dirty="0">
                <a:solidFill>
                  <a:srgbClr val="337B80"/>
                </a:solidFill>
                <a:latin typeface="Calibri" pitchFamily="34" charset="0"/>
                <a:ea typeface="Calibri" pitchFamily="34" charset="-122"/>
                <a:cs typeface="Calibri" pitchFamily="34" charset="-120"/>
              </a:rPr>
              <a:t>So sánh công bằng</a:t>
            </a:r>
            <a:endParaRPr lang="en-US" sz="1400" dirty="0"/>
          </a:p>
        </p:txBody>
      </p:sp>
      <p:sp>
        <p:nvSpPr>
          <p:cNvPr id="11" name="Text 8"/>
          <p:cNvSpPr/>
          <p:nvPr/>
        </p:nvSpPr>
        <p:spPr>
          <a:xfrm>
            <a:off x="8659368" y="3840480"/>
            <a:ext cx="2670048" cy="35661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Neo4j và SQLite dùng cùng snapshot, máy, warm-up và số lần chạy.</a:t>
            </a:r>
            <a:endParaRPr lang="en-US" sz="1050" dirty="0"/>
          </a:p>
        </p:txBody>
      </p:sp>
      <p:sp>
        <p:nvSpPr>
          <p:cNvPr id="12" name="Shape 9"/>
          <p:cNvSpPr/>
          <p:nvPr/>
        </p:nvSpPr>
        <p:spPr>
          <a:xfrm>
            <a:off x="8430768" y="4681728"/>
            <a:ext cx="3127248" cy="1143000"/>
          </a:xfrm>
          <a:prstGeom prst="roundRect">
            <a:avLst>
              <a:gd name="adj" fmla="val 4800"/>
            </a:avLst>
          </a:prstGeom>
          <a:solidFill>
            <a:srgbClr val="FBEAEC"/>
          </a:solidFill>
          <a:ln w="12700">
            <a:solidFill>
              <a:srgbClr val="E9C3C6"/>
            </a:solidFill>
            <a:prstDash val="solid"/>
          </a:ln>
          <a:effectLst>
            <a:outerShdw sx="100000" sy="100000" kx="0" ky="0" algn="bl" rotWithShape="0" blurRad="25400" dist="50800" dir="2700000">
              <a:srgbClr val="26384A">
                <a:alpha val="13000"/>
              </a:srgbClr>
            </a:outerShdw>
          </a:effectLst>
        </p:spPr>
      </p:sp>
      <p:sp>
        <p:nvSpPr>
          <p:cNvPr id="13" name="Text 10"/>
          <p:cNvSpPr/>
          <p:nvPr/>
        </p:nvSpPr>
        <p:spPr>
          <a:xfrm>
            <a:off x="8659368" y="4864608"/>
            <a:ext cx="2670048" cy="301752"/>
          </a:xfrm>
          <a:prstGeom prst="rect">
            <a:avLst/>
          </a:prstGeom>
          <a:noFill/>
          <a:ln/>
        </p:spPr>
        <p:txBody>
          <a:bodyPr wrap="square" lIns="0" tIns="0" rIns="0" bIns="0" rtlCol="0" anchor="ctr">
            <a:normAutofit/>
          </a:bodyPr>
          <a:lstStyle/>
          <a:p>
            <a:pPr indent="0" marL="0">
              <a:buNone/>
            </a:pPr>
            <a:r>
              <a:rPr lang="en-US" sz="1400" b="1" dirty="0">
                <a:solidFill>
                  <a:srgbClr val="B94D52"/>
                </a:solidFill>
                <a:latin typeface="Calibri" pitchFamily="34" charset="0"/>
                <a:ea typeface="Calibri" pitchFamily="34" charset="-122"/>
                <a:cs typeface="Calibri" pitchFamily="34" charset="-120"/>
              </a:rPr>
              <a:t>Không vượt quá bằng chứng</a:t>
            </a:r>
            <a:endParaRPr lang="en-US" sz="1400" dirty="0"/>
          </a:p>
        </p:txBody>
      </p:sp>
      <p:sp>
        <p:nvSpPr>
          <p:cNvPr id="14" name="Text 11"/>
          <p:cNvSpPr/>
          <p:nvPr/>
        </p:nvSpPr>
        <p:spPr>
          <a:xfrm>
            <a:off x="8659368" y="5285232"/>
            <a:ext cx="2670048" cy="35661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Không suy rộng sang concurrency, cold cache hay production scale.</a:t>
            </a:r>
            <a:endParaRPr lang="en-US" sz="10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KẾT QUẢ</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Kết quả chính: đúng cấu trúc, có bằng chứng, còn dư địa cải thiện</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Các con số dưới đây đều thuộc lần chạy 5.000 đầu vào ngày 24/07/2026.</a:t>
            </a:r>
            <a:endParaRPr lang="en-US" sz="1250" dirty="0"/>
          </a:p>
        </p:txBody>
      </p:sp>
      <p:sp>
        <p:nvSpPr>
          <p:cNvPr id="5" name="Shape 3"/>
          <p:cNvSpPr/>
          <p:nvPr/>
        </p:nvSpPr>
        <p:spPr>
          <a:xfrm>
            <a:off x="59436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75895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20/20</a:t>
            </a:r>
            <a:endParaRPr lang="en-US" sz="2800" dirty="0"/>
          </a:p>
        </p:txBody>
      </p:sp>
      <p:sp>
        <p:nvSpPr>
          <p:cNvPr id="7" name="Text 5"/>
          <p:cNvSpPr/>
          <p:nvPr/>
        </p:nvSpPr>
        <p:spPr>
          <a:xfrm>
            <a:off x="77724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QA smoke</a:t>
            </a:r>
            <a:endParaRPr lang="en-US" sz="1100" dirty="0"/>
          </a:p>
        </p:txBody>
      </p:sp>
      <p:sp>
        <p:nvSpPr>
          <p:cNvPr id="8" name="Text 6"/>
          <p:cNvSpPr/>
          <p:nvPr/>
        </p:nvSpPr>
        <p:spPr>
          <a:xfrm>
            <a:off x="77724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Neo4j + evidence</a:t>
            </a:r>
            <a:endParaRPr lang="en-US" sz="750" dirty="0"/>
          </a:p>
        </p:txBody>
      </p:sp>
      <p:sp>
        <p:nvSpPr>
          <p:cNvPr id="9" name="Shape 7"/>
          <p:cNvSpPr/>
          <p:nvPr/>
        </p:nvSpPr>
        <p:spPr>
          <a:xfrm>
            <a:off x="283464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299923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337B80"/>
                </a:solidFill>
                <a:latin typeface="Arial" pitchFamily="34" charset="0"/>
                <a:ea typeface="Arial" pitchFamily="34" charset="-122"/>
                <a:cs typeface="Arial" pitchFamily="34" charset="-120"/>
              </a:rPr>
              <a:t>0,966</a:t>
            </a:r>
            <a:endParaRPr lang="en-US" sz="2800" dirty="0"/>
          </a:p>
        </p:txBody>
      </p:sp>
      <p:sp>
        <p:nvSpPr>
          <p:cNvPr id="11" name="Text 9"/>
          <p:cNvSpPr/>
          <p:nvPr/>
        </p:nvSpPr>
        <p:spPr>
          <a:xfrm>
            <a:off x="301752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Entity F1</a:t>
            </a:r>
            <a:endParaRPr lang="en-US" sz="1100" dirty="0"/>
          </a:p>
        </p:txBody>
      </p:sp>
      <p:sp>
        <p:nvSpPr>
          <p:cNvPr id="12" name="Text 10"/>
          <p:cNvSpPr/>
          <p:nvPr/>
        </p:nvSpPr>
        <p:spPr>
          <a:xfrm>
            <a:off x="301752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100 cặp silver</a:t>
            </a:r>
            <a:endParaRPr lang="en-US" sz="750" dirty="0"/>
          </a:p>
        </p:txBody>
      </p:sp>
      <p:sp>
        <p:nvSpPr>
          <p:cNvPr id="13" name="Shape 11"/>
          <p:cNvSpPr/>
          <p:nvPr/>
        </p:nvSpPr>
        <p:spPr>
          <a:xfrm>
            <a:off x="507492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4" name="Text 12"/>
          <p:cNvSpPr/>
          <p:nvPr/>
        </p:nvSpPr>
        <p:spPr>
          <a:xfrm>
            <a:off x="523951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1,00</a:t>
            </a:r>
            <a:endParaRPr lang="en-US" sz="2800" dirty="0"/>
          </a:p>
        </p:txBody>
      </p:sp>
      <p:sp>
        <p:nvSpPr>
          <p:cNvPr id="15" name="Text 13"/>
          <p:cNvSpPr/>
          <p:nvPr/>
        </p:nvSpPr>
        <p:spPr>
          <a:xfrm>
            <a:off x="525780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Co-star precision</a:t>
            </a:r>
            <a:endParaRPr lang="en-US" sz="1100" dirty="0"/>
          </a:p>
        </p:txBody>
      </p:sp>
      <p:sp>
        <p:nvSpPr>
          <p:cNvPr id="16" name="Text 14"/>
          <p:cNvSpPr/>
          <p:nvPr/>
        </p:nvSpPr>
        <p:spPr>
          <a:xfrm>
            <a:off x="525780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50 fact silver</a:t>
            </a:r>
            <a:endParaRPr lang="en-US" sz="750" dirty="0"/>
          </a:p>
        </p:txBody>
      </p:sp>
      <p:sp>
        <p:nvSpPr>
          <p:cNvPr id="17" name="Shape 15"/>
          <p:cNvSpPr/>
          <p:nvPr/>
        </p:nvSpPr>
        <p:spPr>
          <a:xfrm>
            <a:off x="731520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747979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D38B36"/>
                </a:solidFill>
                <a:latin typeface="Arial" pitchFamily="34" charset="0"/>
                <a:ea typeface="Arial" pitchFamily="34" charset="-122"/>
                <a:cs typeface="Arial" pitchFamily="34" charset="-120"/>
              </a:rPr>
              <a:t>0,635</a:t>
            </a:r>
            <a:endParaRPr lang="en-US" sz="2800" dirty="0"/>
          </a:p>
        </p:txBody>
      </p:sp>
      <p:sp>
        <p:nvSpPr>
          <p:cNvPr id="19" name="Text 17"/>
          <p:cNvSpPr/>
          <p:nvPr/>
        </p:nvSpPr>
        <p:spPr>
          <a:xfrm>
            <a:off x="749808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Recommendation P@10</a:t>
            </a:r>
            <a:endParaRPr lang="en-US" sz="1100" dirty="0"/>
          </a:p>
        </p:txBody>
      </p:sp>
      <p:sp>
        <p:nvSpPr>
          <p:cNvPr id="20" name="Text 18"/>
          <p:cNvSpPr/>
          <p:nvPr/>
        </p:nvSpPr>
        <p:spPr>
          <a:xfrm>
            <a:off x="749808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20 case silver</a:t>
            </a:r>
            <a:endParaRPr lang="en-US" sz="750" dirty="0"/>
          </a:p>
        </p:txBody>
      </p:sp>
      <p:sp>
        <p:nvSpPr>
          <p:cNvPr id="21" name="Shape 19"/>
          <p:cNvSpPr/>
          <p:nvPr/>
        </p:nvSpPr>
        <p:spPr>
          <a:xfrm>
            <a:off x="955548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22" name="Text 20"/>
          <p:cNvSpPr/>
          <p:nvPr/>
        </p:nvSpPr>
        <p:spPr>
          <a:xfrm>
            <a:off x="972007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B94D52"/>
                </a:solidFill>
                <a:latin typeface="Arial" pitchFamily="34" charset="0"/>
                <a:ea typeface="Arial" pitchFamily="34" charset="-122"/>
                <a:cs typeface="Arial" pitchFamily="34" charset="-120"/>
              </a:rPr>
              <a:t>0,672</a:t>
            </a:r>
            <a:endParaRPr lang="en-US" sz="2800" dirty="0"/>
          </a:p>
        </p:txBody>
      </p:sp>
      <p:sp>
        <p:nvSpPr>
          <p:cNvPr id="23" name="Text 21"/>
          <p:cNvSpPr/>
          <p:nvPr/>
        </p:nvSpPr>
        <p:spPr>
          <a:xfrm>
            <a:off x="973836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NDCG@10</a:t>
            </a:r>
            <a:endParaRPr lang="en-US" sz="1100" dirty="0"/>
          </a:p>
        </p:txBody>
      </p:sp>
      <p:sp>
        <p:nvSpPr>
          <p:cNvPr id="24" name="Text 22"/>
          <p:cNvSpPr/>
          <p:nvPr/>
        </p:nvSpPr>
        <p:spPr>
          <a:xfrm>
            <a:off x="973836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20 case silver</a:t>
            </a:r>
            <a:endParaRPr lang="en-US" sz="750" dirty="0"/>
          </a:p>
        </p:txBody>
      </p:sp>
      <p:graphicFrame>
        <p:nvGraphicFramePr>
          <p:cNvPr id="25" name="Chart 0" descr=""/>
          <p:cNvGraphicFramePr/>
          <p:nvPr/>
        </p:nvGraphicFramePr>
        <p:xfrm>
          <a:off x="731520" y="3429000"/>
          <a:ext cx="6583680" cy="2395728"/>
        </p:xfrm>
        <a:graphic xmlns:a="http://schemas.openxmlformats.org/drawingml/2006/main">
          <a:graphicData uri="http://schemas.openxmlformats.org/drawingml/2006/chart">
            <c:chart xmlns:c="http://schemas.openxmlformats.org/drawingml/2006/chart" r:id="rId1"/>
          </a:graphicData>
        </a:graphic>
      </p:graphicFrame>
      <p:sp>
        <p:nvSpPr>
          <p:cNvPr id="26" name="Shape 23"/>
          <p:cNvSpPr/>
          <p:nvPr/>
        </p:nvSpPr>
        <p:spPr>
          <a:xfrm>
            <a:off x="7680960" y="3493008"/>
            <a:ext cx="3886200" cy="2267712"/>
          </a:xfrm>
          <a:prstGeom prst="roundRect">
            <a:avLst>
              <a:gd name="adj" fmla="val 2419"/>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27" name="Text 24"/>
          <p:cNvSpPr/>
          <p:nvPr/>
        </p:nvSpPr>
        <p:spPr>
          <a:xfrm>
            <a:off x="7909560" y="3675888"/>
            <a:ext cx="3429000" cy="301752"/>
          </a:xfrm>
          <a:prstGeom prst="rect">
            <a:avLst/>
          </a:prstGeom>
          <a:noFill/>
          <a:ln/>
        </p:spPr>
        <p:txBody>
          <a:bodyPr wrap="square" lIns="0" tIns="0" rIns="0" bIns="0" rtlCol="0" anchor="ctr">
            <a:normAutofit/>
          </a:bodyPr>
          <a:lstStyle/>
          <a:p>
            <a:pPr indent="0" marL="0">
              <a:buNone/>
            </a:pPr>
            <a:r>
              <a:rPr lang="en-US" sz="1700" b="1" dirty="0">
                <a:solidFill>
                  <a:srgbClr val="112B46"/>
                </a:solidFill>
                <a:latin typeface="Calibri" pitchFamily="34" charset="0"/>
                <a:ea typeface="Calibri" pitchFamily="34" charset="-122"/>
                <a:cs typeface="Calibri" pitchFamily="34" charset="-120"/>
              </a:rPr>
              <a:t>Cách đọc thận trọng</a:t>
            </a:r>
            <a:endParaRPr lang="en-US" sz="1700" dirty="0"/>
          </a:p>
        </p:txBody>
      </p:sp>
      <p:sp>
        <p:nvSpPr>
          <p:cNvPr id="28" name="Text 25"/>
          <p:cNvSpPr/>
          <p:nvPr/>
        </p:nvSpPr>
        <p:spPr>
          <a:xfrm>
            <a:off x="7909560" y="4096512"/>
            <a:ext cx="3429000" cy="1481328"/>
          </a:xfrm>
          <a:prstGeom prst="rect">
            <a:avLst/>
          </a:prstGeom>
          <a:noFill/>
          <a:ln/>
        </p:spPr>
        <p:txBody>
          <a:bodyPr wrap="square" lIns="0" tIns="0" rIns="0" bIns="0" rtlCol="0" anchor="t">
            <a:normAutofit/>
          </a:bodyPr>
          <a:lstStyle/>
          <a:p>
            <a:pPr indent="0" marL="0">
              <a:buNone/>
            </a:pPr>
            <a:r>
              <a:rPr lang="en-US" sz="1250" dirty="0">
                <a:solidFill>
                  <a:srgbClr val="172B3A"/>
                </a:solidFill>
                <a:latin typeface="Calibri" pitchFamily="34" charset="0"/>
                <a:ea typeface="Calibri" pitchFamily="34" charset="-122"/>
                <a:cs typeface="Calibri" pitchFamily="34" charset="-120"/>
              </a:rPr>
              <a:t>• QA là smoke corpus được quản lý.</a:t>
            </a: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 Entity precision cao nhờ abstention bảo thủ.</a:t>
            </a: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 Recommendation là metric silver, chưa phải đánh giá người dùng.</a:t>
            </a: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 Mọi output gợi ý đều có đường giải thích.</a:t>
            </a:r>
            <a:endParaRPr lang="en-US" sz="1250" dirty="0"/>
          </a:p>
        </p:txBody>
      </p:sp>
      <p:sp>
        <p:nvSpPr>
          <p:cNvPr id="29" name="Text 26"/>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experiments/results/summary/quality_metrics.csv</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PHÂN TÍCH</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Phép đo so sánh cho thấy sự đánh đổi</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SQLite nhanh hơn ở toàn bộ cặp truy vấn/quy mô; Neo4j đổi lại mô hình duyệt đồ thị và bằng chứng trực tiếp.</a:t>
            </a:r>
            <a:endParaRPr lang="en-US" sz="1250" dirty="0"/>
          </a:p>
        </p:txBody>
      </p:sp>
      <p:graphicFrame>
        <p:nvGraphicFramePr>
          <p:cNvPr id="5" name="Chart 0" descr=""/>
          <p:cNvGraphicFramePr/>
          <p:nvPr/>
        </p:nvGraphicFramePr>
        <p:xfrm>
          <a:off x="594360" y="1792224"/>
          <a:ext cx="566928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537960" y="1792224"/>
          <a:ext cx="5029200" cy="324612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685800" y="5029200"/>
            <a:ext cx="5440680" cy="960120"/>
          </a:xfrm>
          <a:prstGeom prst="roundRect">
            <a:avLst>
              <a:gd name="adj" fmla="val 5714"/>
            </a:avLst>
          </a:prstGeom>
          <a:solidFill>
            <a:srgbClr val="FFF2DF"/>
          </a:solidFill>
          <a:ln w="12700">
            <a:solidFill>
              <a:srgbClr val="F1D5AA"/>
            </a:solidFill>
            <a:prstDash val="solid"/>
          </a:ln>
        </p:spPr>
      </p:sp>
      <p:sp>
        <p:nvSpPr>
          <p:cNvPr id="8" name="Text 4"/>
          <p:cNvSpPr/>
          <p:nvPr/>
        </p:nvSpPr>
        <p:spPr>
          <a:xfrm>
            <a:off x="914400" y="5212080"/>
            <a:ext cx="498348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Kết luận hiệu năng</a:t>
            </a:r>
            <a:endParaRPr lang="en-US" sz="1300" dirty="0"/>
          </a:p>
        </p:txBody>
      </p:sp>
      <p:sp>
        <p:nvSpPr>
          <p:cNvPr id="9" name="Text 5"/>
          <p:cNvSpPr/>
          <p:nvPr/>
        </p:nvSpPr>
        <p:spPr>
          <a:xfrm>
            <a:off x="914400" y="5632704"/>
            <a:ext cx="4983480" cy="173736"/>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Đo warm-cache, 100 lần/query, không đo concurrency hoặc cold cache.</a:t>
            </a:r>
            <a:endParaRPr lang="en-US" sz="1000" dirty="0"/>
          </a:p>
        </p:txBody>
      </p:sp>
      <p:sp>
        <p:nvSpPr>
          <p:cNvPr id="10" name="Shape 6"/>
          <p:cNvSpPr/>
          <p:nvPr/>
        </p:nvSpPr>
        <p:spPr>
          <a:xfrm>
            <a:off x="6537960" y="5029200"/>
            <a:ext cx="5010912" cy="960120"/>
          </a:xfrm>
          <a:prstGeom prst="roundRect">
            <a:avLst>
              <a:gd name="adj" fmla="val 5714"/>
            </a:avLst>
          </a:prstGeom>
          <a:solidFill>
            <a:srgbClr val="F0ECF7"/>
          </a:solidFill>
          <a:ln w="12700">
            <a:solidFill>
              <a:srgbClr val="D9CFE8"/>
            </a:solidFill>
            <a:prstDash val="solid"/>
          </a:ln>
        </p:spPr>
      </p:sp>
      <p:sp>
        <p:nvSpPr>
          <p:cNvPr id="11" name="Text 7"/>
          <p:cNvSpPr/>
          <p:nvPr/>
        </p:nvSpPr>
        <p:spPr>
          <a:xfrm>
            <a:off x="6766560" y="5212080"/>
            <a:ext cx="4553712"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Kết luận gợi ý</a:t>
            </a:r>
            <a:endParaRPr lang="en-US" sz="1300" dirty="0"/>
          </a:p>
        </p:txBody>
      </p:sp>
      <p:sp>
        <p:nvSpPr>
          <p:cNvPr id="12" name="Text 8"/>
          <p:cNvSpPr/>
          <p:nvPr/>
        </p:nvSpPr>
        <p:spPr>
          <a:xfrm>
            <a:off x="6766560" y="5632704"/>
            <a:ext cx="4553712" cy="173736"/>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Các mốc cũ là lịch sử thiết kế, không phải lựa chọn runtime.</a:t>
            </a:r>
            <a:endParaRPr lang="en-US" sz="1000" dirty="0"/>
          </a:p>
        </p:txBody>
      </p:sp>
      <p:sp>
        <p:nvSpPr>
          <p:cNvPr id="13" name="Text 9"/>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multiscale_benchmark.csv · recommendation_ablation.json · recommendation.json</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TRÌNH DIỄN · QA</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Demo 1 · QA lookup và kiểm chứng cùng fact</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Web UI diễn giải câu hỏi; Neo4j Browser đọc trực tiếp cùng graph.</a:t>
            </a:r>
            <a:endParaRPr lang="en-US" sz="1250" dirty="0"/>
          </a:p>
        </p:txBody>
      </p:sp>
      <p:sp>
        <p:nvSpPr>
          <p:cNvPr id="5" name="Shape 3"/>
          <p:cNvSpPr/>
          <p:nvPr/>
        </p:nvSpPr>
        <p:spPr>
          <a:xfrm>
            <a:off x="621792" y="1783080"/>
            <a:ext cx="3657600" cy="3337560"/>
          </a:xfrm>
          <a:prstGeom prst="roundRect">
            <a:avLst>
              <a:gd name="adj" fmla="val 1644"/>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50392" y="1965960"/>
            <a:ext cx="3200400" cy="301752"/>
          </a:xfrm>
          <a:prstGeom prst="rect">
            <a:avLst/>
          </a:prstGeom>
          <a:noFill/>
          <a:ln/>
        </p:spPr>
        <p:txBody>
          <a:bodyPr wrap="square" lIns="0" tIns="0" rIns="0" bIns="0" rtlCol="0" anchor="ctr">
            <a:normAutofit/>
          </a:bodyPr>
          <a:lstStyle/>
          <a:p>
            <a:pPr indent="0" marL="0">
              <a:buNone/>
            </a:pPr>
            <a:r>
              <a:rPr lang="en-US" sz="1600" b="1" dirty="0">
                <a:solidFill>
                  <a:srgbClr val="337B80"/>
                </a:solidFill>
                <a:latin typeface="Calibri" pitchFamily="34" charset="0"/>
                <a:ea typeface="Calibri" pitchFamily="34" charset="-122"/>
                <a:cs typeface="Calibri" pitchFamily="34" charset="-120"/>
              </a:rPr>
              <a:t>① Web UI · 127.0.0.1:8000</a:t>
            </a:r>
            <a:endParaRPr lang="en-US" sz="1600" dirty="0"/>
          </a:p>
        </p:txBody>
      </p:sp>
      <p:sp>
        <p:nvSpPr>
          <p:cNvPr id="7" name="Text 5"/>
          <p:cNvSpPr/>
          <p:nvPr/>
        </p:nvSpPr>
        <p:spPr>
          <a:xfrm>
            <a:off x="850392" y="2386584"/>
            <a:ext cx="3200400" cy="2551176"/>
          </a:xfrm>
          <a:prstGeom prst="rect">
            <a:avLst/>
          </a:prstGeom>
          <a:noFill/>
          <a:ln/>
        </p:spPr>
        <p:txBody>
          <a:bodyPr wrap="square" lIns="0" tIns="0" rIns="0" bIns="0" rtlCol="0" anchor="t">
            <a:normAutofit/>
          </a:bodyPr>
          <a:lstStyle/>
          <a:p>
            <a:pPr indent="0" marL="0">
              <a:buNone/>
            </a:pPr>
            <a:r>
              <a:rPr lang="en-US" sz="1600" dirty="0">
                <a:solidFill>
                  <a:srgbClr val="172B3A"/>
                </a:solidFill>
                <a:latin typeface="Calibri" pitchFamily="34" charset="0"/>
                <a:ea typeface="Calibri" pitchFamily="34" charset="-122"/>
                <a:cs typeface="Calibri" pitchFamily="34" charset="-120"/>
              </a:rPr>
              <a:t>Dán vào ô hỏi–đáp:</a:t>
            </a:r>
            <a:endParaRPr lang="en-US" sz="1600" dirty="0"/>
          </a:p>
          <a:p>
            <a:pPr indent="0" marL="0">
              <a:buNone/>
            </a:pPr>
            <a:endParaRPr lang="en-US" sz="1600" dirty="0"/>
          </a:p>
          <a:p>
            <a:pPr indent="0" marL="0">
              <a:buNone/>
            </a:pPr>
            <a:r>
              <a:rPr lang="en-US" sz="1600" dirty="0">
                <a:solidFill>
                  <a:srgbClr val="172B3A"/>
                </a:solidFill>
                <a:latin typeface="Calibri" pitchFamily="34" charset="0"/>
                <a:ea typeface="Calibri" pitchFamily="34" charset="-122"/>
                <a:cs typeface="Calibri" pitchFamily="34" charset="-120"/>
              </a:rPr>
              <a:t>Diễn viên nào đóng trong phim Inception?</a:t>
            </a:r>
            <a:endParaRPr lang="en-US" sz="1600" dirty="0"/>
          </a:p>
          <a:p>
            <a:pPr indent="0" marL="0">
              <a:buNone/>
            </a:pPr>
            <a:endParaRPr lang="en-US" sz="1600" dirty="0"/>
          </a:p>
          <a:p>
            <a:pPr indent="0" marL="0">
              <a:buNone/>
            </a:pPr>
            <a:r>
              <a:rPr lang="en-US" sz="1600" dirty="0">
                <a:solidFill>
                  <a:srgbClr val="172B3A"/>
                </a:solidFill>
                <a:latin typeface="Calibri" pitchFamily="34" charset="0"/>
                <a:ea typeface="Calibri" pitchFamily="34" charset="-122"/>
                <a:cs typeface="Calibri" pitchFamily="34" charset="-120"/>
              </a:rPr>
              <a:t>Kỳ vọng: danh sách diễn viên, character và evidence của phim Inception.</a:t>
            </a:r>
            <a:endParaRPr lang="en-US" sz="1600" dirty="0"/>
          </a:p>
        </p:txBody>
      </p:sp>
      <p:sp>
        <p:nvSpPr>
          <p:cNvPr id="8" name="Shape 6"/>
          <p:cNvSpPr/>
          <p:nvPr/>
        </p:nvSpPr>
        <p:spPr>
          <a:xfrm>
            <a:off x="4553712" y="1783080"/>
            <a:ext cx="7013448" cy="3337560"/>
          </a:xfrm>
          <a:prstGeom prst="roundRect">
            <a:avLst>
              <a:gd name="adj" fmla="val 1096"/>
            </a:avLst>
          </a:prstGeom>
          <a:solidFill>
            <a:srgbClr val="112B46"/>
          </a:solidFill>
          <a:ln w="12700">
            <a:solidFill>
              <a:srgbClr val="112B46"/>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4800600" y="2011680"/>
            <a:ext cx="4206240" cy="256032"/>
          </a:xfrm>
          <a:prstGeom prst="rect">
            <a:avLst/>
          </a:prstGeom>
          <a:noFill/>
          <a:ln/>
        </p:spPr>
        <p:txBody>
          <a:bodyPr wrap="square" lIns="0" tIns="0" rIns="0" bIns="0" rtlCol="0" anchor="ctr"/>
          <a:lstStyle/>
          <a:p>
            <a:pPr indent="0" marL="0">
              <a:buNone/>
            </a:pPr>
            <a:r>
              <a:rPr lang="en-US" sz="1000" b="1" spc="110" kern="0" dirty="0">
                <a:solidFill>
                  <a:srgbClr val="8FD0CC"/>
                </a:solidFill>
                <a:latin typeface="Arial" pitchFamily="34" charset="0"/>
                <a:ea typeface="Arial" pitchFamily="34" charset="-122"/>
                <a:cs typeface="Arial" pitchFamily="34" charset="-120"/>
              </a:rPr>
              <a:t>② NEO4J BROWSER · 127.0.0.1:7474</a:t>
            </a:r>
            <a:endParaRPr lang="en-US" sz="1000" dirty="0"/>
          </a:p>
        </p:txBody>
      </p:sp>
      <p:sp>
        <p:nvSpPr>
          <p:cNvPr id="10" name="Text 8"/>
          <p:cNvSpPr/>
          <p:nvPr/>
        </p:nvSpPr>
        <p:spPr>
          <a:xfrm>
            <a:off x="4800600" y="2468880"/>
            <a:ext cx="6355080" cy="2148840"/>
          </a:xfrm>
          <a:prstGeom prst="rect">
            <a:avLst/>
          </a:prstGeom>
          <a:noFill/>
          <a:ln/>
        </p:spPr>
        <p:txBody>
          <a:bodyPr wrap="square" lIns="0" tIns="0" rIns="0" bIns="0" rtlCol="0" anchor="ctr">
            <a:normAutofit/>
          </a:bodyPr>
          <a:lstStyle/>
          <a:p>
            <a:pPr indent="0" marL="0">
              <a:buNone/>
            </a:pPr>
            <a:r>
              <a:rPr lang="en-US" sz="1300" dirty="0">
                <a:solidFill>
                  <a:srgbClr val="D9E8F2"/>
                </a:solidFill>
                <a:latin typeface="Courier New" pitchFamily="34" charset="0"/>
                <a:ea typeface="Courier New" pitchFamily="34" charset="-122"/>
                <a:cs typeface="Courier New" pitchFamily="34" charset="-120"/>
              </a:rPr>
              <a:t>MATCH (p:Person)-[r:ACTED_IN]-&gt;(m:Movie)</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WHERE toLower(m.title) = toLower('Inception')</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RETURN p.name AS actor,</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       r.character AS character</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ORDER BY r.cast_order</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LIMIT 50;</a:t>
            </a:r>
            <a:endParaRPr lang="en-US" sz="1300" dirty="0"/>
          </a:p>
        </p:txBody>
      </p:sp>
      <p:sp>
        <p:nvSpPr>
          <p:cNvPr id="11" name="Shape 9"/>
          <p:cNvSpPr/>
          <p:nvPr/>
        </p:nvSpPr>
        <p:spPr>
          <a:xfrm>
            <a:off x="621792" y="5138928"/>
            <a:ext cx="10945368" cy="950976"/>
          </a:xfrm>
          <a:prstGeom prst="roundRect">
            <a:avLst>
              <a:gd name="adj" fmla="val 5769"/>
            </a:avLst>
          </a:prstGeom>
          <a:solidFill>
            <a:srgbClr val="E8F4EE"/>
          </a:solidFill>
          <a:ln w="12700">
            <a:solidFill>
              <a:srgbClr val="C4E2D1"/>
            </a:solidFill>
            <a:prstDash val="solid"/>
          </a:ln>
        </p:spPr>
      </p:sp>
      <p:sp>
        <p:nvSpPr>
          <p:cNvPr id="12" name="Text 10"/>
          <p:cNvSpPr/>
          <p:nvPr/>
        </p:nvSpPr>
        <p:spPr>
          <a:xfrm>
            <a:off x="850392" y="5321808"/>
            <a:ext cx="10488168"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Đối chiếu</a:t>
            </a:r>
            <a:endParaRPr lang="en-US" sz="1200" dirty="0"/>
          </a:p>
        </p:txBody>
      </p:sp>
      <p:sp>
        <p:nvSpPr>
          <p:cNvPr id="13" name="Text 11"/>
          <p:cNvSpPr/>
          <p:nvPr/>
        </p:nvSpPr>
        <p:spPr>
          <a:xfrm>
            <a:off x="850392" y="5742432"/>
            <a:ext cx="10488168" cy="164592"/>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Tên diễn viên trên hai giao diện phải thống nhất; Web UI chỉ bổ sung entity linking và định dạng câu trả lời.</a:t>
            </a:r>
            <a:endParaRPr lang="en-US" sz="10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TRÌNH DIỄN · QA</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Demo 2 · QA multi-hop và shared-neighbor pattern</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Cùng một yêu cầu nghiệp vụ được kiểm chứng bằng đường đi hai cạnh.</a:t>
            </a:r>
            <a:endParaRPr lang="en-US" sz="1250" dirty="0"/>
          </a:p>
        </p:txBody>
      </p:sp>
      <p:sp>
        <p:nvSpPr>
          <p:cNvPr id="5" name="Shape 3"/>
          <p:cNvSpPr/>
          <p:nvPr/>
        </p:nvSpPr>
        <p:spPr>
          <a:xfrm>
            <a:off x="621792" y="1783080"/>
            <a:ext cx="3657600" cy="3337560"/>
          </a:xfrm>
          <a:prstGeom prst="roundRect">
            <a:avLst>
              <a:gd name="adj" fmla="val 1644"/>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50392" y="1965960"/>
            <a:ext cx="3200400" cy="301752"/>
          </a:xfrm>
          <a:prstGeom prst="rect">
            <a:avLst/>
          </a:prstGeom>
          <a:noFill/>
          <a:ln/>
        </p:spPr>
        <p:txBody>
          <a:bodyPr wrap="square" lIns="0" tIns="0" rIns="0" bIns="0" rtlCol="0" anchor="ctr">
            <a:normAutofit/>
          </a:bodyPr>
          <a:lstStyle/>
          <a:p>
            <a:pPr indent="0" marL="0">
              <a:buNone/>
            </a:pPr>
            <a:r>
              <a:rPr lang="en-US" sz="1600" b="1" dirty="0">
                <a:solidFill>
                  <a:srgbClr val="725B9B"/>
                </a:solidFill>
                <a:latin typeface="Calibri" pitchFamily="34" charset="0"/>
                <a:ea typeface="Calibri" pitchFamily="34" charset="-122"/>
                <a:cs typeface="Calibri" pitchFamily="34" charset="-120"/>
              </a:rPr>
              <a:t>① Web UI · 127.0.0.1:8000</a:t>
            </a:r>
            <a:endParaRPr lang="en-US" sz="1600" dirty="0"/>
          </a:p>
        </p:txBody>
      </p:sp>
      <p:sp>
        <p:nvSpPr>
          <p:cNvPr id="7" name="Text 5"/>
          <p:cNvSpPr/>
          <p:nvPr/>
        </p:nvSpPr>
        <p:spPr>
          <a:xfrm>
            <a:off x="850392" y="2386584"/>
            <a:ext cx="3200400" cy="2551176"/>
          </a:xfrm>
          <a:prstGeom prst="rect">
            <a:avLst/>
          </a:prstGeom>
          <a:noFill/>
          <a:ln/>
        </p:spPr>
        <p:txBody>
          <a:bodyPr wrap="square" lIns="0" tIns="0" rIns="0" bIns="0" rtlCol="0" anchor="t">
            <a:normAutofit/>
          </a:bodyPr>
          <a:lstStyle/>
          <a:p>
            <a:pPr indent="0" marL="0">
              <a:buNone/>
            </a:pPr>
            <a:r>
              <a:rPr lang="en-US" sz="1500" dirty="0">
                <a:solidFill>
                  <a:srgbClr val="172B3A"/>
                </a:solidFill>
                <a:latin typeface="Calibri" pitchFamily="34" charset="0"/>
                <a:ea typeface="Calibri" pitchFamily="34" charset="-122"/>
                <a:cs typeface="Calibri" pitchFamily="34" charset="-120"/>
              </a:rPr>
              <a:t>Dán vào ô hỏi–đáp:</a:t>
            </a:r>
            <a:endParaRPr lang="en-US" sz="1500" dirty="0"/>
          </a:p>
          <a:p>
            <a:pPr indent="0" marL="0">
              <a:buNone/>
            </a:pP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Phim chung của Christian Bale và Tom Hardy?</a:t>
            </a:r>
            <a:endParaRPr lang="en-US" sz="1500" dirty="0"/>
          </a:p>
          <a:p>
            <a:pPr indent="0" marL="0">
              <a:buNone/>
            </a:pP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Kỳ vọng: The Dark Knight Rises cùng evidence của hai ACTED_IN.</a:t>
            </a:r>
            <a:endParaRPr lang="en-US" sz="1500" dirty="0"/>
          </a:p>
        </p:txBody>
      </p:sp>
      <p:sp>
        <p:nvSpPr>
          <p:cNvPr id="8" name="Shape 6"/>
          <p:cNvSpPr/>
          <p:nvPr/>
        </p:nvSpPr>
        <p:spPr>
          <a:xfrm>
            <a:off x="4553712" y="1783080"/>
            <a:ext cx="7013448" cy="3337560"/>
          </a:xfrm>
          <a:prstGeom prst="roundRect">
            <a:avLst>
              <a:gd name="adj" fmla="val 1096"/>
            </a:avLst>
          </a:prstGeom>
          <a:solidFill>
            <a:srgbClr val="112B46"/>
          </a:solidFill>
          <a:ln w="12700">
            <a:solidFill>
              <a:srgbClr val="112B46"/>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4800600" y="2011680"/>
            <a:ext cx="4206240" cy="256032"/>
          </a:xfrm>
          <a:prstGeom prst="rect">
            <a:avLst/>
          </a:prstGeom>
          <a:noFill/>
          <a:ln/>
        </p:spPr>
        <p:txBody>
          <a:bodyPr wrap="square" lIns="0" tIns="0" rIns="0" bIns="0" rtlCol="0" anchor="ctr"/>
          <a:lstStyle/>
          <a:p>
            <a:pPr indent="0" marL="0">
              <a:buNone/>
            </a:pPr>
            <a:r>
              <a:rPr lang="en-US" sz="1000" b="1" spc="110" kern="0" dirty="0">
                <a:solidFill>
                  <a:srgbClr val="8FD0CC"/>
                </a:solidFill>
                <a:latin typeface="Arial" pitchFamily="34" charset="0"/>
                <a:ea typeface="Arial" pitchFamily="34" charset="-122"/>
                <a:cs typeface="Arial" pitchFamily="34" charset="-120"/>
              </a:rPr>
              <a:t>② NEO4J BROWSER · 127.0.0.1:7474</a:t>
            </a:r>
            <a:endParaRPr lang="en-US" sz="1000" dirty="0"/>
          </a:p>
        </p:txBody>
      </p:sp>
      <p:sp>
        <p:nvSpPr>
          <p:cNvPr id="10" name="Text 8"/>
          <p:cNvSpPr/>
          <p:nvPr/>
        </p:nvSpPr>
        <p:spPr>
          <a:xfrm>
            <a:off x="4800600" y="2450592"/>
            <a:ext cx="6355080" cy="2304288"/>
          </a:xfrm>
          <a:prstGeom prst="rect">
            <a:avLst/>
          </a:prstGeom>
          <a:noFill/>
          <a:ln/>
        </p:spPr>
        <p:txBody>
          <a:bodyPr wrap="square" lIns="0" tIns="0" rIns="0" bIns="0" rtlCol="0" anchor="ctr">
            <a:normAutofit/>
          </a:bodyPr>
          <a:lstStyle/>
          <a:p>
            <a:pPr indent="0" marL="0">
              <a:buNone/>
            </a:pPr>
            <a:r>
              <a:rPr lang="en-US" sz="1250" dirty="0">
                <a:solidFill>
                  <a:srgbClr val="D9E8F2"/>
                </a:solidFill>
                <a:latin typeface="Courier New" pitchFamily="34" charset="0"/>
                <a:ea typeface="Courier New" pitchFamily="34" charset="-122"/>
                <a:cs typeface="Courier New" pitchFamily="34" charset="-120"/>
              </a:rPr>
              <a:t>MATCH (a:Person)-[:ACTED_IN]-&gt;(m:Movie)</a:t>
            </a:r>
            <a:endParaRPr lang="en-US" sz="1250" dirty="0"/>
          </a:p>
          <a:p>
            <a:pPr indent="0" marL="0">
              <a:buNone/>
            </a:pPr>
            <a:r>
              <a:rPr lang="en-US" sz="1250" dirty="0">
                <a:solidFill>
                  <a:srgbClr val="D9E8F2"/>
                </a:solidFill>
                <a:latin typeface="Courier New" pitchFamily="34" charset="0"/>
                <a:ea typeface="Courier New" pitchFamily="34" charset="-122"/>
                <a:cs typeface="Courier New" pitchFamily="34" charset="-120"/>
              </a:rPr>
              <a:t>      &lt;-[:ACTED_IN]-(b:Person)</a:t>
            </a:r>
            <a:endParaRPr lang="en-US" sz="1250" dirty="0"/>
          </a:p>
          <a:p>
            <a:pPr indent="0" marL="0">
              <a:buNone/>
            </a:pPr>
            <a:r>
              <a:rPr lang="en-US" sz="1250" dirty="0">
                <a:solidFill>
                  <a:srgbClr val="D9E8F2"/>
                </a:solidFill>
                <a:latin typeface="Courier New" pitchFamily="34" charset="0"/>
                <a:ea typeface="Courier New" pitchFamily="34" charset="-122"/>
                <a:cs typeface="Courier New" pitchFamily="34" charset="-120"/>
              </a:rPr>
              <a:t>WHERE toLower(a.name) =</a:t>
            </a:r>
            <a:endParaRPr lang="en-US" sz="1250" dirty="0"/>
          </a:p>
          <a:p>
            <a:pPr indent="0" marL="0">
              <a:buNone/>
            </a:pPr>
            <a:r>
              <a:rPr lang="en-US" sz="1250" dirty="0">
                <a:solidFill>
                  <a:srgbClr val="D9E8F2"/>
                </a:solidFill>
                <a:latin typeface="Courier New" pitchFamily="34" charset="0"/>
                <a:ea typeface="Courier New" pitchFamily="34" charset="-122"/>
                <a:cs typeface="Courier New" pitchFamily="34" charset="-120"/>
              </a:rPr>
              <a:t>      toLower('Christian Bale')</a:t>
            </a:r>
            <a:endParaRPr lang="en-US" sz="1250" dirty="0"/>
          </a:p>
          <a:p>
            <a:pPr indent="0" marL="0">
              <a:buNone/>
            </a:pPr>
            <a:r>
              <a:rPr lang="en-US" sz="1250" dirty="0">
                <a:solidFill>
                  <a:srgbClr val="D9E8F2"/>
                </a:solidFill>
                <a:latin typeface="Courier New" pitchFamily="34" charset="0"/>
                <a:ea typeface="Courier New" pitchFamily="34" charset="-122"/>
                <a:cs typeface="Courier New" pitchFamily="34" charset="-120"/>
              </a:rPr>
              <a:t>  AND toLower(b.name) =</a:t>
            </a:r>
            <a:endParaRPr lang="en-US" sz="1250" dirty="0"/>
          </a:p>
          <a:p>
            <a:pPr indent="0" marL="0">
              <a:buNone/>
            </a:pPr>
            <a:r>
              <a:rPr lang="en-US" sz="1250" dirty="0">
                <a:solidFill>
                  <a:srgbClr val="D9E8F2"/>
                </a:solidFill>
                <a:latin typeface="Courier New" pitchFamily="34" charset="0"/>
                <a:ea typeface="Courier New" pitchFamily="34" charset="-122"/>
                <a:cs typeface="Courier New" pitchFamily="34" charset="-120"/>
              </a:rPr>
              <a:t>      toLower('Tom Hardy')</a:t>
            </a:r>
            <a:endParaRPr lang="en-US" sz="1250" dirty="0"/>
          </a:p>
          <a:p>
            <a:pPr indent="0" marL="0">
              <a:buNone/>
            </a:pPr>
            <a:r>
              <a:rPr lang="en-US" sz="1250" dirty="0">
                <a:solidFill>
                  <a:srgbClr val="D9E8F2"/>
                </a:solidFill>
                <a:latin typeface="Courier New" pitchFamily="34" charset="0"/>
                <a:ea typeface="Courier New" pitchFamily="34" charset="-122"/>
                <a:cs typeface="Courier New" pitchFamily="34" charset="-120"/>
              </a:rPr>
              <a:t>RETURN DISTINCT m.title AS common_movie;</a:t>
            </a:r>
            <a:endParaRPr lang="en-US" sz="1250" dirty="0"/>
          </a:p>
        </p:txBody>
      </p:sp>
      <p:sp>
        <p:nvSpPr>
          <p:cNvPr id="11" name="Shape 9"/>
          <p:cNvSpPr/>
          <p:nvPr/>
        </p:nvSpPr>
        <p:spPr>
          <a:xfrm>
            <a:off x="621792" y="5138928"/>
            <a:ext cx="10945368" cy="950976"/>
          </a:xfrm>
          <a:prstGeom prst="roundRect">
            <a:avLst>
              <a:gd name="adj" fmla="val 5769"/>
            </a:avLst>
          </a:prstGeom>
          <a:solidFill>
            <a:srgbClr val="E8F4EE"/>
          </a:solidFill>
          <a:ln w="12700">
            <a:solidFill>
              <a:srgbClr val="C4E2D1"/>
            </a:solidFill>
            <a:prstDash val="solid"/>
          </a:ln>
        </p:spPr>
      </p:sp>
      <p:sp>
        <p:nvSpPr>
          <p:cNvPr id="12" name="Text 10"/>
          <p:cNvSpPr/>
          <p:nvPr/>
        </p:nvSpPr>
        <p:spPr>
          <a:xfrm>
            <a:off x="850392" y="5321808"/>
            <a:ext cx="10488168"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Đối chiếu</a:t>
            </a:r>
            <a:endParaRPr lang="en-US" sz="1200" dirty="0"/>
          </a:p>
        </p:txBody>
      </p:sp>
      <p:sp>
        <p:nvSpPr>
          <p:cNvPr id="13" name="Text 11"/>
          <p:cNvSpPr/>
          <p:nvPr/>
        </p:nvSpPr>
        <p:spPr>
          <a:xfrm>
            <a:off x="850392" y="5742432"/>
            <a:ext cx="10488168" cy="164592"/>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Chuyển Browser sang chế độ Graph để chỉ ra Person → Movie ← Person; kết quả phải trùng Web UI.</a:t>
            </a:r>
            <a:endParaRPr lang="en-US" sz="10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TRÌNH DIỄN · GỢI Ý</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Demo 3 · Gợi ý phim và kiểm chứng bằng chứng graph</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Web UI xếp hạng; Neo4j Browser xác nhận các đặc trưng chung tạo lời giải thích.</a:t>
            </a:r>
            <a:endParaRPr lang="en-US" sz="1250" dirty="0"/>
          </a:p>
        </p:txBody>
      </p:sp>
      <p:sp>
        <p:nvSpPr>
          <p:cNvPr id="5" name="Shape 3"/>
          <p:cNvSpPr/>
          <p:nvPr/>
        </p:nvSpPr>
        <p:spPr>
          <a:xfrm>
            <a:off x="566928" y="1691640"/>
            <a:ext cx="3154680" cy="4315968"/>
          </a:xfrm>
          <a:prstGeom prst="roundRect">
            <a:avLst>
              <a:gd name="adj" fmla="val 1739"/>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795528" y="1874520"/>
            <a:ext cx="2697480" cy="301752"/>
          </a:xfrm>
          <a:prstGeom prst="rect">
            <a:avLst/>
          </a:prstGeom>
          <a:noFill/>
          <a:ln/>
        </p:spPr>
        <p:txBody>
          <a:bodyPr wrap="square" lIns="0" tIns="0" rIns="0" bIns="0" rtlCol="0" anchor="ctr">
            <a:normAutofit/>
          </a:bodyPr>
          <a:lstStyle/>
          <a:p>
            <a:pPr indent="0" marL="0">
              <a:buNone/>
            </a:pPr>
            <a:r>
              <a:rPr lang="en-US" sz="1700" b="1" dirty="0">
                <a:solidFill>
                  <a:srgbClr val="3D8B66"/>
                </a:solidFill>
                <a:latin typeface="Calibri" pitchFamily="34" charset="0"/>
                <a:ea typeface="Calibri" pitchFamily="34" charset="-122"/>
                <a:cs typeface="Calibri" pitchFamily="34" charset="-120"/>
              </a:rPr>
              <a:t>① Web UI</a:t>
            </a:r>
            <a:endParaRPr lang="en-US" sz="1700" dirty="0"/>
          </a:p>
        </p:txBody>
      </p:sp>
      <p:sp>
        <p:nvSpPr>
          <p:cNvPr id="7" name="Text 5"/>
          <p:cNvSpPr/>
          <p:nvPr/>
        </p:nvSpPr>
        <p:spPr>
          <a:xfrm>
            <a:off x="795528" y="2295144"/>
            <a:ext cx="2697480" cy="3529584"/>
          </a:xfrm>
          <a:prstGeom prst="rect">
            <a:avLst/>
          </a:prstGeom>
          <a:noFill/>
          <a:ln/>
        </p:spPr>
        <p:txBody>
          <a:bodyPr wrap="square" lIns="0" tIns="0" rIns="0" bIns="0" rtlCol="0" anchor="t">
            <a:normAutofit/>
          </a:bodyPr>
          <a:lstStyle/>
          <a:p>
            <a:pPr indent="0" marL="0">
              <a:buNone/>
            </a:pPr>
            <a:r>
              <a:rPr lang="en-US" sz="1400" dirty="0">
                <a:solidFill>
                  <a:srgbClr val="172B3A"/>
                </a:solidFill>
                <a:latin typeface="Calibri" pitchFamily="34" charset="0"/>
                <a:ea typeface="Calibri" pitchFamily="34" charset="-122"/>
                <a:cs typeface="Calibri" pitchFamily="34" charset="-120"/>
              </a:rPr>
              <a:t>1. Chuyển sang tab Gợi ý</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2. Nhập Inception</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3. Chọn phim năm 2010</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4. Chạy Top 5</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5. Ghi tên phim đứng đầu</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6. Mở phần giải thích</a:t>
            </a:r>
            <a:endParaRPr lang="en-US" sz="1400" dirty="0"/>
          </a:p>
        </p:txBody>
      </p:sp>
      <p:sp>
        <p:nvSpPr>
          <p:cNvPr id="8" name="Shape 6"/>
          <p:cNvSpPr/>
          <p:nvPr/>
        </p:nvSpPr>
        <p:spPr>
          <a:xfrm>
            <a:off x="3950208" y="1691640"/>
            <a:ext cx="7662672" cy="4315968"/>
          </a:xfrm>
          <a:prstGeom prst="roundRect">
            <a:avLst>
              <a:gd name="adj" fmla="val 847"/>
            </a:avLst>
          </a:prstGeom>
          <a:solidFill>
            <a:srgbClr val="112B46"/>
          </a:solidFill>
          <a:ln w="12700">
            <a:solidFill>
              <a:srgbClr val="112B46"/>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4187952" y="1901952"/>
            <a:ext cx="5303520" cy="228600"/>
          </a:xfrm>
          <a:prstGeom prst="rect">
            <a:avLst/>
          </a:prstGeom>
          <a:noFill/>
          <a:ln/>
        </p:spPr>
        <p:txBody>
          <a:bodyPr wrap="square" lIns="0" tIns="0" rIns="0" bIns="0" rtlCol="0" anchor="ctr"/>
          <a:lstStyle/>
          <a:p>
            <a:pPr indent="0" marL="0">
              <a:buNone/>
            </a:pPr>
            <a:r>
              <a:rPr lang="en-US" sz="950" b="1" spc="90" kern="0" dirty="0">
                <a:solidFill>
                  <a:srgbClr val="8FD0CC"/>
                </a:solidFill>
                <a:latin typeface="Arial" pitchFamily="34" charset="0"/>
                <a:ea typeface="Arial" pitchFamily="34" charset="-122"/>
                <a:cs typeface="Arial" pitchFamily="34" charset="-120"/>
              </a:rPr>
              <a:t>② NEO4J BROWSER · THAY TÊN PHIM ĐỨNG ĐẦU</a:t>
            </a:r>
            <a:endParaRPr lang="en-US" sz="950" dirty="0"/>
          </a:p>
        </p:txBody>
      </p:sp>
      <p:sp>
        <p:nvSpPr>
          <p:cNvPr id="10" name="Text 8"/>
          <p:cNvSpPr/>
          <p:nvPr/>
        </p:nvSpPr>
        <p:spPr>
          <a:xfrm>
            <a:off x="4187952" y="2286000"/>
            <a:ext cx="7059168" cy="3154680"/>
          </a:xfrm>
          <a:prstGeom prst="rect">
            <a:avLst/>
          </a:prstGeom>
          <a:noFill/>
          <a:ln/>
        </p:spPr>
        <p:txBody>
          <a:bodyPr wrap="square" lIns="0" tIns="0" rIns="0" bIns="0" rtlCol="0" anchor="ctr">
            <a:normAutofit/>
          </a:bodyPr>
          <a:lstStyle/>
          <a:p>
            <a:pPr indent="0" marL="0">
              <a:buNone/>
            </a:pPr>
            <a:r>
              <a:rPr lang="en-US" sz="1120" dirty="0">
                <a:solidFill>
                  <a:srgbClr val="D9E8F2"/>
                </a:solidFill>
                <a:latin typeface="Courier New" pitchFamily="34" charset="0"/>
                <a:ea typeface="Courier New" pitchFamily="34" charset="-122"/>
                <a:cs typeface="Courier New" pitchFamily="34" charset="-120"/>
              </a:rPr>
              <a:t>:param candidate_title =&gt; 'Interstellar';</a:t>
            </a:r>
            <a:endParaRPr lang="en-US" sz="1120" dirty="0"/>
          </a:p>
          <a:p>
            <a:pPr indent="0" marL="0">
              <a:buNone/>
            </a:pPr>
            <a:endParaRPr lang="en-US" sz="1120" dirty="0"/>
          </a:p>
          <a:p>
            <a:pPr indent="0" marL="0">
              <a:buNone/>
            </a:pPr>
            <a:r>
              <a:rPr lang="en-US" sz="1120" dirty="0">
                <a:solidFill>
                  <a:srgbClr val="D9E8F2"/>
                </a:solidFill>
                <a:latin typeface="Courier New" pitchFamily="34" charset="0"/>
                <a:ea typeface="Courier New" pitchFamily="34" charset="-122"/>
                <a:cs typeface="Courier New" pitchFamily="34" charset="-120"/>
              </a:rPr>
              <a:t>MATCH (source:Movie {tmdb_id: 27205})</a:t>
            </a:r>
            <a:endParaRPr lang="en-US" sz="1120" dirty="0"/>
          </a:p>
          <a:p>
            <a:pPr indent="0" marL="0">
              <a:buNone/>
            </a:pPr>
            <a:r>
              <a:rPr lang="en-US" sz="1120" dirty="0">
                <a:solidFill>
                  <a:srgbClr val="D9E8F2"/>
                </a:solidFill>
                <a:latin typeface="Courier New" pitchFamily="34" charset="0"/>
                <a:ea typeface="Courier New" pitchFamily="34" charset="-122"/>
                <a:cs typeface="Courier New" pitchFamily="34" charset="-120"/>
              </a:rPr>
              <a:t>MATCH (candidate:Movie {title: $candidate_title})</a:t>
            </a:r>
            <a:endParaRPr lang="en-US" sz="1120" dirty="0"/>
          </a:p>
          <a:p>
            <a:pPr indent="0" marL="0">
              <a:buNone/>
            </a:pPr>
            <a:r>
              <a:rPr lang="en-US" sz="1120" dirty="0">
                <a:solidFill>
                  <a:srgbClr val="D9E8F2"/>
                </a:solidFill>
                <a:latin typeface="Courier New" pitchFamily="34" charset="0"/>
                <a:ea typeface="Courier New" pitchFamily="34" charset="-122"/>
                <a:cs typeface="Courier New" pitchFamily="34" charset="-120"/>
              </a:rPr>
              <a:t>MATCH (source)-[r1]-(feature)-[r2]-(candidate)</a:t>
            </a:r>
            <a:endParaRPr lang="en-US" sz="1120" dirty="0"/>
          </a:p>
          <a:p>
            <a:pPr indent="0" marL="0">
              <a:buNone/>
            </a:pPr>
            <a:r>
              <a:rPr lang="en-US" sz="1120" dirty="0">
                <a:solidFill>
                  <a:srgbClr val="D9E8F2"/>
                </a:solidFill>
                <a:latin typeface="Courier New" pitchFamily="34" charset="0"/>
                <a:ea typeface="Courier New" pitchFamily="34" charset="-122"/>
                <a:cs typeface="Courier New" pitchFamily="34" charset="-120"/>
              </a:rPr>
              <a:t>WHERE type(r1) = type(r2)</a:t>
            </a:r>
            <a:endParaRPr lang="en-US" sz="1120" dirty="0"/>
          </a:p>
          <a:p>
            <a:pPr indent="0" marL="0">
              <a:buNone/>
            </a:pPr>
            <a:r>
              <a:rPr lang="en-US" sz="1120" dirty="0">
                <a:solidFill>
                  <a:srgbClr val="D9E8F2"/>
                </a:solidFill>
                <a:latin typeface="Courier New" pitchFamily="34" charset="0"/>
                <a:ea typeface="Courier New" pitchFamily="34" charset="-122"/>
                <a:cs typeface="Courier New" pitchFamily="34" charset="-120"/>
              </a:rPr>
              <a:t>  AND type(r1) IN ['DIRECTED','ACTED_IN',</a:t>
            </a:r>
            <a:endParaRPr lang="en-US" sz="1120" dirty="0"/>
          </a:p>
          <a:p>
            <a:pPr indent="0" marL="0">
              <a:buNone/>
            </a:pPr>
            <a:r>
              <a:rPr lang="en-US" sz="1120" dirty="0">
                <a:solidFill>
                  <a:srgbClr val="D9E8F2"/>
                </a:solidFill>
                <a:latin typeface="Courier New" pitchFamily="34" charset="0"/>
                <a:ea typeface="Courier New" pitchFamily="34" charset="-122"/>
                <a:cs typeface="Courier New" pitchFamily="34" charset="-120"/>
              </a:rPr>
              <a:t>    'HAS_GENRE','HAS_KEYWORD','PRODUCED_BY']</a:t>
            </a:r>
            <a:endParaRPr lang="en-US" sz="1120" dirty="0"/>
          </a:p>
          <a:p>
            <a:pPr indent="0" marL="0">
              <a:buNone/>
            </a:pPr>
            <a:r>
              <a:rPr lang="en-US" sz="1120" dirty="0">
                <a:solidFill>
                  <a:srgbClr val="D9E8F2"/>
                </a:solidFill>
                <a:latin typeface="Courier New" pitchFamily="34" charset="0"/>
                <a:ea typeface="Courier New" pitchFamily="34" charset="-122"/>
                <a:cs typeface="Courier New" pitchFamily="34" charset="-120"/>
              </a:rPr>
              <a:t>RETURN candidate.title AS recommended_movie,</a:t>
            </a:r>
            <a:endParaRPr lang="en-US" sz="1120" dirty="0"/>
          </a:p>
          <a:p>
            <a:pPr indent="0" marL="0">
              <a:buNone/>
            </a:pPr>
            <a:r>
              <a:rPr lang="en-US" sz="1120" dirty="0">
                <a:solidFill>
                  <a:srgbClr val="D9E8F2"/>
                </a:solidFill>
                <a:latin typeface="Courier New" pitchFamily="34" charset="0"/>
                <a:ea typeface="Courier New" pitchFamily="34" charset="-122"/>
                <a:cs typeface="Courier New" pitchFamily="34" charset="-120"/>
              </a:rPr>
              <a:t>       type(r1) AS relation,</a:t>
            </a:r>
            <a:endParaRPr lang="en-US" sz="1120" dirty="0"/>
          </a:p>
          <a:p>
            <a:pPr indent="0" marL="0">
              <a:buNone/>
            </a:pPr>
            <a:r>
              <a:rPr lang="en-US" sz="1120" dirty="0">
                <a:solidFill>
                  <a:srgbClr val="D9E8F2"/>
                </a:solidFill>
                <a:latin typeface="Courier New" pitchFamily="34" charset="0"/>
                <a:ea typeface="Courier New" pitchFamily="34" charset="-122"/>
                <a:cs typeface="Courier New" pitchFamily="34" charset="-120"/>
              </a:rPr>
              <a:t>       collect(DISTINCT coalesce(feature.name,</a:t>
            </a:r>
            <a:endParaRPr lang="en-US" sz="1120" dirty="0"/>
          </a:p>
          <a:p>
            <a:pPr indent="0" marL="0">
              <a:buNone/>
            </a:pPr>
            <a:r>
              <a:rPr lang="en-US" sz="1120" dirty="0">
                <a:solidFill>
                  <a:srgbClr val="D9E8F2"/>
                </a:solidFill>
                <a:latin typeface="Courier New" pitchFamily="34" charset="0"/>
                <a:ea typeface="Courier New" pitchFamily="34" charset="-122"/>
                <a:cs typeface="Courier New" pitchFamily="34" charset="-120"/>
              </a:rPr>
              <a:t>         feature.title)) AS shared_features;</a:t>
            </a:r>
            <a:endParaRPr lang="en-US" sz="1120" dirty="0"/>
          </a:p>
        </p:txBody>
      </p:sp>
      <p:sp>
        <p:nvSpPr>
          <p:cNvPr id="11" name="Text 9"/>
          <p:cNvSpPr/>
          <p:nvPr/>
        </p:nvSpPr>
        <p:spPr>
          <a:xfrm>
            <a:off x="4187952" y="5559552"/>
            <a:ext cx="7059168" cy="256032"/>
          </a:xfrm>
          <a:prstGeom prst="rect">
            <a:avLst/>
          </a:prstGeom>
          <a:noFill/>
          <a:ln/>
        </p:spPr>
        <p:txBody>
          <a:bodyPr wrap="square" lIns="0" tIns="0" rIns="0" bIns="0" rtlCol="0" anchor="ctr">
            <a:normAutofit/>
          </a:bodyPr>
          <a:lstStyle/>
          <a:p>
            <a:pPr indent="0" marL="0">
              <a:buNone/>
            </a:pPr>
            <a:r>
              <a:rPr lang="en-US" sz="1050" b="1" dirty="0">
                <a:solidFill>
                  <a:srgbClr val="8FD0CC"/>
                </a:solidFill>
                <a:latin typeface="Calibri" pitchFamily="34" charset="0"/>
                <a:ea typeface="Calibri" pitchFamily="34" charset="-122"/>
                <a:cs typeface="Calibri" pitchFamily="34" charset="-120"/>
              </a:rPr>
              <a:t>So sánh shared_features với explanation trên Web UI. Query này kiểm chứng evidence; điểm IDF đầy đủ do ứng dụng tính.</a:t>
            </a:r>
            <a:endParaRPr lang="en-US" sz="10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GIỚI HẠN VÀ HƯỚNG PHÁT TRIỂN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Giới hạn được xem là một phần của kết quả</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Các kết luận chỉ có giá trị trong ảnh chụp dữ liệu và protocol đã công bố.</a:t>
            </a:r>
            <a:endParaRPr lang="en-US" sz="1250" dirty="0"/>
          </a:p>
        </p:txBody>
      </p:sp>
      <p:sp>
        <p:nvSpPr>
          <p:cNvPr id="5" name="Shape 3"/>
          <p:cNvSpPr/>
          <p:nvPr/>
        </p:nvSpPr>
        <p:spPr>
          <a:xfrm>
            <a:off x="621792" y="1737360"/>
            <a:ext cx="2011680" cy="822960"/>
          </a:xfrm>
          <a:prstGeom prst="roundRect">
            <a:avLst>
              <a:gd name="adj" fmla="val 4444"/>
            </a:avLst>
          </a:prstGeom>
          <a:solidFill>
            <a:srgbClr val="FBEAEC"/>
          </a:solidFill>
          <a:ln w="12700">
            <a:solidFill>
              <a:srgbClr val="E9C3C6"/>
            </a:solidFill>
            <a:prstDash val="solid"/>
          </a:ln>
        </p:spPr>
      </p:sp>
      <p:sp>
        <p:nvSpPr>
          <p:cNvPr id="6" name="Text 4"/>
          <p:cNvSpPr/>
          <p:nvPr/>
        </p:nvSpPr>
        <p:spPr>
          <a:xfrm>
            <a:off x="841248" y="1975104"/>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QA đóng</a:t>
            </a:r>
            <a:endParaRPr lang="en-US" sz="1500" dirty="0"/>
          </a:p>
        </p:txBody>
      </p:sp>
      <p:sp>
        <p:nvSpPr>
          <p:cNvPr id="7" name="Text 5"/>
          <p:cNvSpPr/>
          <p:nvPr/>
        </p:nvSpPr>
        <p:spPr>
          <a:xfrm>
            <a:off x="2926080" y="1828800"/>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Chín ý định; chưa phải open-domain QA.</a:t>
            </a:r>
            <a:endParaRPr lang="en-US" sz="1220" dirty="0"/>
          </a:p>
        </p:txBody>
      </p:sp>
      <p:sp>
        <p:nvSpPr>
          <p:cNvPr id="8" name="Shape 6"/>
          <p:cNvSpPr/>
          <p:nvPr/>
        </p:nvSpPr>
        <p:spPr>
          <a:xfrm>
            <a:off x="6967728" y="2148840"/>
            <a:ext cx="685800" cy="0"/>
          </a:xfrm>
          <a:prstGeom prst="line">
            <a:avLst/>
          </a:prstGeom>
          <a:noFill/>
          <a:ln w="17780">
            <a:solidFill>
              <a:srgbClr val="697586"/>
            </a:solidFill>
            <a:prstDash val="solid"/>
            <a:tailEnd type="triangle"/>
          </a:ln>
        </p:spPr>
      </p:sp>
      <p:sp>
        <p:nvSpPr>
          <p:cNvPr id="9" name="Text 7"/>
          <p:cNvSpPr/>
          <p:nvPr/>
        </p:nvSpPr>
        <p:spPr>
          <a:xfrm>
            <a:off x="7845552" y="1828800"/>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Mở rộng intent dựa trên câu hỏi thực tế.</a:t>
            </a:r>
            <a:endParaRPr lang="en-US" sz="1220" dirty="0"/>
          </a:p>
        </p:txBody>
      </p:sp>
      <p:sp>
        <p:nvSpPr>
          <p:cNvPr id="10" name="Shape 8"/>
          <p:cNvSpPr/>
          <p:nvPr/>
        </p:nvSpPr>
        <p:spPr>
          <a:xfrm>
            <a:off x="621792" y="2852928"/>
            <a:ext cx="2011680" cy="822960"/>
          </a:xfrm>
          <a:prstGeom prst="roundRect">
            <a:avLst>
              <a:gd name="adj" fmla="val 4444"/>
            </a:avLst>
          </a:prstGeom>
          <a:solidFill>
            <a:srgbClr val="FBEAEC"/>
          </a:solidFill>
          <a:ln w="12700">
            <a:solidFill>
              <a:srgbClr val="E9C3C6"/>
            </a:solidFill>
            <a:prstDash val="solid"/>
          </a:ln>
        </p:spPr>
      </p:sp>
      <p:sp>
        <p:nvSpPr>
          <p:cNvPr id="11" name="Text 9"/>
          <p:cNvSpPr/>
          <p:nvPr/>
        </p:nvSpPr>
        <p:spPr>
          <a:xfrm>
            <a:off x="841248" y="3090672"/>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Silver corpus</a:t>
            </a:r>
            <a:endParaRPr lang="en-US" sz="1500" dirty="0"/>
          </a:p>
        </p:txBody>
      </p:sp>
      <p:sp>
        <p:nvSpPr>
          <p:cNvPr id="12" name="Text 10"/>
          <p:cNvSpPr/>
          <p:nvPr/>
        </p:nvSpPr>
        <p:spPr>
          <a:xfrm>
            <a:off x="2926080" y="2944368"/>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Tất định và có provenance nhưng chưa có người chấm độc lập.</a:t>
            </a:r>
            <a:endParaRPr lang="en-US" sz="1220" dirty="0"/>
          </a:p>
        </p:txBody>
      </p:sp>
      <p:sp>
        <p:nvSpPr>
          <p:cNvPr id="13" name="Shape 11"/>
          <p:cNvSpPr/>
          <p:nvPr/>
        </p:nvSpPr>
        <p:spPr>
          <a:xfrm>
            <a:off x="6967728" y="3264408"/>
            <a:ext cx="685800" cy="0"/>
          </a:xfrm>
          <a:prstGeom prst="line">
            <a:avLst/>
          </a:prstGeom>
          <a:noFill/>
          <a:ln w="17780">
            <a:solidFill>
              <a:srgbClr val="697586"/>
            </a:solidFill>
            <a:prstDash val="solid"/>
            <a:tailEnd type="triangle"/>
          </a:ln>
        </p:spPr>
      </p:sp>
      <p:sp>
        <p:nvSpPr>
          <p:cNvPr id="14" name="Text 12"/>
          <p:cNvSpPr/>
          <p:nvPr/>
        </p:nvSpPr>
        <p:spPr>
          <a:xfrm>
            <a:off x="7845552" y="2944368"/>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Bổ sung đánh giá người dùng và inter-rater review.</a:t>
            </a:r>
            <a:endParaRPr lang="en-US" sz="1220" dirty="0"/>
          </a:p>
        </p:txBody>
      </p:sp>
      <p:sp>
        <p:nvSpPr>
          <p:cNvPr id="15" name="Shape 13"/>
          <p:cNvSpPr/>
          <p:nvPr/>
        </p:nvSpPr>
        <p:spPr>
          <a:xfrm>
            <a:off x="621792" y="3968496"/>
            <a:ext cx="2011680" cy="822960"/>
          </a:xfrm>
          <a:prstGeom prst="roundRect">
            <a:avLst>
              <a:gd name="adj" fmla="val 4444"/>
            </a:avLst>
          </a:prstGeom>
          <a:solidFill>
            <a:srgbClr val="FBEAEC"/>
          </a:solidFill>
          <a:ln w="12700">
            <a:solidFill>
              <a:srgbClr val="E9C3C6"/>
            </a:solidFill>
            <a:prstDash val="solid"/>
          </a:ln>
        </p:spPr>
      </p:sp>
      <p:sp>
        <p:nvSpPr>
          <p:cNvPr id="16" name="Text 14"/>
          <p:cNvSpPr/>
          <p:nvPr/>
        </p:nvSpPr>
        <p:spPr>
          <a:xfrm>
            <a:off x="841248" y="4206240"/>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Quy mô</a:t>
            </a:r>
            <a:endParaRPr lang="en-US" sz="1500" dirty="0"/>
          </a:p>
        </p:txBody>
      </p:sp>
      <p:sp>
        <p:nvSpPr>
          <p:cNvPr id="17" name="Text 15"/>
          <p:cNvSpPr/>
          <p:nvPr/>
        </p:nvSpPr>
        <p:spPr>
          <a:xfrm>
            <a:off x="2926080" y="4059936"/>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Tối đa 4.999 phim; chưa đo concurrent/cold-cache.</a:t>
            </a:r>
            <a:endParaRPr lang="en-US" sz="1220" dirty="0"/>
          </a:p>
        </p:txBody>
      </p:sp>
      <p:sp>
        <p:nvSpPr>
          <p:cNvPr id="18" name="Shape 16"/>
          <p:cNvSpPr/>
          <p:nvPr/>
        </p:nvSpPr>
        <p:spPr>
          <a:xfrm>
            <a:off x="6967728" y="4379976"/>
            <a:ext cx="685800" cy="0"/>
          </a:xfrm>
          <a:prstGeom prst="line">
            <a:avLst/>
          </a:prstGeom>
          <a:noFill/>
          <a:ln w="17780">
            <a:solidFill>
              <a:srgbClr val="697586"/>
            </a:solidFill>
            <a:prstDash val="solid"/>
            <a:tailEnd type="triangle"/>
          </a:ln>
        </p:spPr>
      </p:sp>
      <p:sp>
        <p:nvSpPr>
          <p:cNvPr id="19" name="Text 17"/>
          <p:cNvSpPr/>
          <p:nvPr/>
        </p:nvSpPr>
        <p:spPr>
          <a:xfrm>
            <a:off x="7845552" y="4059936"/>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Thử nghiệm graph lớn hơn và tải đồng thời.</a:t>
            </a:r>
            <a:endParaRPr lang="en-US" sz="1220" dirty="0"/>
          </a:p>
        </p:txBody>
      </p:sp>
      <p:sp>
        <p:nvSpPr>
          <p:cNvPr id="20" name="Shape 18"/>
          <p:cNvSpPr/>
          <p:nvPr/>
        </p:nvSpPr>
        <p:spPr>
          <a:xfrm>
            <a:off x="621792" y="5084064"/>
            <a:ext cx="2011680" cy="822960"/>
          </a:xfrm>
          <a:prstGeom prst="roundRect">
            <a:avLst>
              <a:gd name="adj" fmla="val 4444"/>
            </a:avLst>
          </a:prstGeom>
          <a:solidFill>
            <a:srgbClr val="FBEAEC"/>
          </a:solidFill>
          <a:ln w="12700">
            <a:solidFill>
              <a:srgbClr val="E9C3C6"/>
            </a:solidFill>
            <a:prstDash val="solid"/>
          </a:ln>
        </p:spPr>
      </p:sp>
      <p:sp>
        <p:nvSpPr>
          <p:cNvPr id="21" name="Text 19"/>
          <p:cNvSpPr/>
          <p:nvPr/>
        </p:nvSpPr>
        <p:spPr>
          <a:xfrm>
            <a:off x="841248" y="5321808"/>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Độ phủ</a:t>
            </a:r>
            <a:endParaRPr lang="en-US" sz="1500" dirty="0"/>
          </a:p>
        </p:txBody>
      </p:sp>
      <p:sp>
        <p:nvSpPr>
          <p:cNvPr id="22" name="Text 20"/>
          <p:cNvSpPr/>
          <p:nvPr/>
        </p:nvSpPr>
        <p:spPr>
          <a:xfrm>
            <a:off x="2926080" y="5175504"/>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Top-20 cast; IMDb mới enrich Movie.</a:t>
            </a:r>
            <a:endParaRPr lang="en-US" sz="1220" dirty="0"/>
          </a:p>
        </p:txBody>
      </p:sp>
      <p:sp>
        <p:nvSpPr>
          <p:cNvPr id="23" name="Shape 21"/>
          <p:cNvSpPr/>
          <p:nvPr/>
        </p:nvSpPr>
        <p:spPr>
          <a:xfrm>
            <a:off x="6967728" y="5495544"/>
            <a:ext cx="685800" cy="0"/>
          </a:xfrm>
          <a:prstGeom prst="line">
            <a:avLst/>
          </a:prstGeom>
          <a:noFill/>
          <a:ln w="17780">
            <a:solidFill>
              <a:srgbClr val="697586"/>
            </a:solidFill>
            <a:prstDash val="solid"/>
            <a:tailEnd type="triangle"/>
          </a:ln>
        </p:spPr>
      </p:sp>
      <p:sp>
        <p:nvSpPr>
          <p:cNvPr id="24" name="Text 22"/>
          <p:cNvSpPr/>
          <p:nvPr/>
        </p:nvSpPr>
        <p:spPr>
          <a:xfrm>
            <a:off x="7845552" y="5175504"/>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Mở rộng credits và liên kết Person/Wikidata.</a:t>
            </a:r>
            <a:endParaRPr lang="en-US" sz="1220" dirty="0"/>
          </a:p>
        </p:txBody>
      </p:sp>
      <p:sp>
        <p:nvSpPr>
          <p:cNvPr id="25" name="Text 23"/>
          <p:cNvSpPr/>
          <p:nvPr/>
        </p:nvSpPr>
        <p:spPr>
          <a:xfrm>
            <a:off x="2926080" y="6144768"/>
            <a:ext cx="2286000" cy="201168"/>
          </a:xfrm>
          <a:prstGeom prst="rect">
            <a:avLst/>
          </a:prstGeom>
          <a:noFill/>
          <a:ln/>
        </p:spPr>
        <p:txBody>
          <a:bodyPr wrap="square" lIns="0" tIns="0" rIns="0" bIns="0" rtlCol="0" anchor="ctr"/>
          <a:lstStyle/>
          <a:p>
            <a:pPr indent="0" marL="0">
              <a:buNone/>
            </a:pPr>
            <a:r>
              <a:rPr lang="en-US" sz="850" b="1" spc="120" kern="0" dirty="0">
                <a:solidFill>
                  <a:srgbClr val="B94D52"/>
                </a:solidFill>
                <a:latin typeface="Arial" pitchFamily="34" charset="0"/>
                <a:ea typeface="Arial" pitchFamily="34" charset="-122"/>
                <a:cs typeface="Arial" pitchFamily="34" charset="-120"/>
              </a:rPr>
              <a:t>GIỚI HẠN HIỆN TẠI</a:t>
            </a:r>
            <a:endParaRPr lang="en-US" sz="850" dirty="0"/>
          </a:p>
        </p:txBody>
      </p:sp>
      <p:sp>
        <p:nvSpPr>
          <p:cNvPr id="26" name="Text 24"/>
          <p:cNvSpPr/>
          <p:nvPr/>
        </p:nvSpPr>
        <p:spPr>
          <a:xfrm>
            <a:off x="7845552" y="6144768"/>
            <a:ext cx="2286000" cy="201168"/>
          </a:xfrm>
          <a:prstGeom prst="rect">
            <a:avLst/>
          </a:prstGeom>
          <a:noFill/>
          <a:ln/>
        </p:spPr>
        <p:txBody>
          <a:bodyPr wrap="square" lIns="0" tIns="0" rIns="0" bIns="0" rtlCol="0" anchor="ctr"/>
          <a:lstStyle/>
          <a:p>
            <a:pPr indent="0" marL="0">
              <a:buNone/>
            </a:pPr>
            <a:r>
              <a:rPr lang="en-US" sz="850" b="1" spc="120" kern="0" dirty="0">
                <a:solidFill>
                  <a:srgbClr val="3D8B66"/>
                </a:solidFill>
                <a:latin typeface="Arial" pitchFamily="34" charset="0"/>
                <a:ea typeface="Arial" pitchFamily="34" charset="-122"/>
                <a:cs typeface="Arial" pitchFamily="34" charset="-120"/>
              </a:rPr>
              <a:t>HƯỚNG PHÁT TRIỂN</a:t>
            </a:r>
            <a:endParaRPr lang="en-US" sz="8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12B46"/>
        </a:solidFill>
      </p:bgPr>
    </p:bg>
    <p:spTree>
      <p:nvGrpSpPr>
        <p:cNvPr id="1" name=""/>
        <p:cNvGrpSpPr/>
        <p:nvPr/>
      </p:nvGrpSpPr>
      <p:grpSpPr>
        <a:xfrm>
          <a:off x="0" y="0"/>
          <a:ext cx="0" cy="0"/>
          <a:chOff x="0" y="0"/>
          <a:chExt cx="0" cy="0"/>
        </a:xfrm>
      </p:grpSpPr>
      <p:sp>
        <p:nvSpPr>
          <p:cNvPr id="2" name="Shape 0"/>
          <p:cNvSpPr/>
          <p:nvPr/>
        </p:nvSpPr>
        <p:spPr>
          <a:xfrm>
            <a:off x="9784080" y="-640080"/>
            <a:ext cx="3200400" cy="3200400"/>
          </a:xfrm>
          <a:prstGeom prst="ellipse">
            <a:avLst/>
          </a:prstGeom>
          <a:solidFill>
            <a:srgbClr val="337B80">
              <a:alpha val="28000"/>
            </a:srgbClr>
          </a:solidFill>
          <a:ln w="12700">
            <a:solidFill>
              <a:srgbClr val="337B80">
                <a:alpha val="0"/>
              </a:srgbClr>
            </a:solidFill>
            <a:prstDash val="solid"/>
          </a:ln>
        </p:spPr>
      </p:sp>
      <p:sp>
        <p:nvSpPr>
          <p:cNvPr id="3" name="Shape 1"/>
          <p:cNvSpPr/>
          <p:nvPr/>
        </p:nvSpPr>
        <p:spPr>
          <a:xfrm>
            <a:off x="-640080" y="5303520"/>
            <a:ext cx="2103120" cy="2103120"/>
          </a:xfrm>
          <a:prstGeom prst="ellipse">
            <a:avLst/>
          </a:prstGeom>
          <a:solidFill>
            <a:srgbClr val="725B9B">
              <a:alpha val="30000"/>
            </a:srgbClr>
          </a:solidFill>
          <a:ln w="12700">
            <a:solidFill>
              <a:srgbClr val="725B9B">
                <a:alpha val="0"/>
              </a:srgbClr>
            </a:solidFill>
            <a:prstDash val="solid"/>
          </a:ln>
        </p:spPr>
      </p:sp>
      <p:sp>
        <p:nvSpPr>
          <p:cNvPr id="4" name="Text 2"/>
          <p:cNvSpPr/>
          <p:nvPr/>
        </p:nvSpPr>
        <p:spPr>
          <a:xfrm>
            <a:off x="685800" y="621792"/>
            <a:ext cx="2286000" cy="256032"/>
          </a:xfrm>
          <a:prstGeom prst="rect">
            <a:avLst/>
          </a:prstGeom>
          <a:noFill/>
          <a:ln/>
        </p:spPr>
        <p:txBody>
          <a:bodyPr wrap="square" lIns="0" tIns="0" rIns="0" bIns="0" rtlCol="0" anchor="ctr"/>
          <a:lstStyle/>
          <a:p>
            <a:pPr indent="0" marL="0">
              <a:buNone/>
            </a:pPr>
            <a:r>
              <a:rPr lang="en-US" sz="1000" b="1" spc="170" kern="0" dirty="0">
                <a:solidFill>
                  <a:srgbClr val="8FD0CC"/>
                </a:solidFill>
                <a:latin typeface="Arial" pitchFamily="34" charset="0"/>
                <a:ea typeface="Arial" pitchFamily="34" charset="-122"/>
                <a:cs typeface="Arial" pitchFamily="34" charset="-120"/>
              </a:rPr>
              <a:t>KẾT LUẬN</a:t>
            </a:r>
            <a:endParaRPr lang="en-US" sz="1000" dirty="0"/>
          </a:p>
        </p:txBody>
      </p:sp>
      <p:sp>
        <p:nvSpPr>
          <p:cNvPr id="5" name="Text 3"/>
          <p:cNvSpPr/>
          <p:nvPr/>
        </p:nvSpPr>
        <p:spPr>
          <a:xfrm>
            <a:off x="685800" y="1078992"/>
            <a:ext cx="8412480" cy="1143000"/>
          </a:xfrm>
          <a:prstGeom prst="rect">
            <a:avLst/>
          </a:prstGeom>
          <a:noFill/>
          <a:ln/>
        </p:spPr>
        <p:txBody>
          <a:bodyPr wrap="square" lIns="0" tIns="0" rIns="0" bIns="0" rtlCol="0" anchor="ctr">
            <a:normAutofit/>
          </a:bodyPr>
          <a:lstStyle/>
          <a:p>
            <a:pPr indent="0" marL="0">
              <a:buNone/>
            </a:pPr>
            <a:r>
              <a:rPr lang="en-US" sz="3100" b="1" dirty="0">
                <a:solidFill>
                  <a:srgbClr val="FFFFFF"/>
                </a:solidFill>
                <a:latin typeface="Calibri" pitchFamily="34" charset="0"/>
                <a:ea typeface="Calibri" pitchFamily="34" charset="-122"/>
                <a:cs typeface="Calibri" pitchFamily="34" charset="-120"/>
              </a:rPr>
              <a:t>Đồ thị tri thức tạo giá trị khi</a:t>
            </a:r>
            <a:endParaRPr lang="en-US" sz="3100" dirty="0"/>
          </a:p>
          <a:p>
            <a:pPr indent="0" marL="0">
              <a:buNone/>
            </a:pPr>
            <a:r>
              <a:rPr lang="en-US" sz="3100" b="1" dirty="0">
                <a:solidFill>
                  <a:srgbClr val="FFFFFF"/>
                </a:solidFill>
                <a:latin typeface="Calibri" pitchFamily="34" charset="0"/>
                <a:ea typeface="Calibri" pitchFamily="34" charset="-122"/>
                <a:cs typeface="Calibri" pitchFamily="34" charset="-120"/>
              </a:rPr>
              <a:t>mỗi quan hệ đều có thể được kiểm chứng</a:t>
            </a:r>
            <a:endParaRPr lang="en-US" sz="3100" dirty="0"/>
          </a:p>
        </p:txBody>
      </p:sp>
      <p:sp>
        <p:nvSpPr>
          <p:cNvPr id="6" name="Text 4"/>
          <p:cNvSpPr/>
          <p:nvPr/>
        </p:nvSpPr>
        <p:spPr>
          <a:xfrm>
            <a:off x="713232" y="3246120"/>
            <a:ext cx="411480" cy="256032"/>
          </a:xfrm>
          <a:prstGeom prst="rect">
            <a:avLst/>
          </a:prstGeom>
          <a:noFill/>
          <a:ln/>
        </p:spPr>
        <p:txBody>
          <a:bodyPr wrap="square" lIns="0" tIns="0" rIns="0" bIns="0" rtlCol="0" anchor="ctr"/>
          <a:lstStyle/>
          <a:p>
            <a:pPr indent="0" marL="0">
              <a:buNone/>
            </a:pPr>
            <a:r>
              <a:rPr lang="en-US" sz="1200" b="1" dirty="0">
                <a:solidFill>
                  <a:srgbClr val="8FD0CC"/>
                </a:solidFill>
                <a:latin typeface="Arial" pitchFamily="34" charset="0"/>
                <a:ea typeface="Arial" pitchFamily="34" charset="-122"/>
                <a:cs typeface="Arial" pitchFamily="34" charset="-120"/>
              </a:rPr>
              <a:t>01</a:t>
            </a:r>
            <a:endParaRPr lang="en-US" sz="1200" dirty="0"/>
          </a:p>
        </p:txBody>
      </p:sp>
      <p:sp>
        <p:nvSpPr>
          <p:cNvPr id="7" name="Text 5"/>
          <p:cNvSpPr/>
          <p:nvPr/>
        </p:nvSpPr>
        <p:spPr>
          <a:xfrm>
            <a:off x="713232" y="3685032"/>
            <a:ext cx="3063240" cy="3200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Tích hợp đúng</a:t>
            </a:r>
            <a:endParaRPr lang="en-US" sz="2000" dirty="0"/>
          </a:p>
        </p:txBody>
      </p:sp>
      <p:sp>
        <p:nvSpPr>
          <p:cNvPr id="8" name="Text 6"/>
          <p:cNvSpPr/>
          <p:nvPr/>
        </p:nvSpPr>
        <p:spPr>
          <a:xfrm>
            <a:off x="713232" y="4187952"/>
            <a:ext cx="2971800" cy="749808"/>
          </a:xfrm>
          <a:prstGeom prst="rect">
            <a:avLst/>
          </a:prstGeom>
          <a:noFill/>
          <a:ln/>
        </p:spPr>
        <p:txBody>
          <a:bodyPr wrap="square" lIns="0" tIns="0" rIns="0" bIns="0" rtlCol="0" anchor="ctr">
            <a:normAutofit/>
          </a:bodyPr>
          <a:lstStyle/>
          <a:p>
            <a:pPr indent="0" marL="0">
              <a:buNone/>
            </a:pPr>
            <a:r>
              <a:rPr lang="en-US" sz="1350" dirty="0">
                <a:solidFill>
                  <a:srgbClr val="C9D8E4"/>
                </a:solidFill>
                <a:latin typeface="Calibri" pitchFamily="34" charset="0"/>
                <a:ea typeface="Calibri" pitchFamily="34" charset="-122"/>
                <a:cs typeface="Calibri" pitchFamily="34" charset="-120"/>
              </a:rPr>
              <a:t>TMDB + IMDb, stable ID, provenance và quy trình tái lập.</a:t>
            </a:r>
            <a:endParaRPr lang="en-US" sz="1350" dirty="0"/>
          </a:p>
        </p:txBody>
      </p:sp>
      <p:sp>
        <p:nvSpPr>
          <p:cNvPr id="9" name="Text 7"/>
          <p:cNvSpPr/>
          <p:nvPr/>
        </p:nvSpPr>
        <p:spPr>
          <a:xfrm>
            <a:off x="4425696" y="3246120"/>
            <a:ext cx="411480" cy="256032"/>
          </a:xfrm>
          <a:prstGeom prst="rect">
            <a:avLst/>
          </a:prstGeom>
          <a:noFill/>
          <a:ln/>
        </p:spPr>
        <p:txBody>
          <a:bodyPr wrap="square" lIns="0" tIns="0" rIns="0" bIns="0" rtlCol="0" anchor="ctr"/>
          <a:lstStyle/>
          <a:p>
            <a:pPr indent="0" marL="0">
              <a:buNone/>
            </a:pPr>
            <a:r>
              <a:rPr lang="en-US" sz="1200" b="1" dirty="0">
                <a:solidFill>
                  <a:srgbClr val="8FD0CC"/>
                </a:solidFill>
                <a:latin typeface="Arial" pitchFamily="34" charset="0"/>
                <a:ea typeface="Arial" pitchFamily="34" charset="-122"/>
                <a:cs typeface="Arial" pitchFamily="34" charset="-120"/>
              </a:rPr>
              <a:t>02</a:t>
            </a:r>
            <a:endParaRPr lang="en-US" sz="1200" dirty="0"/>
          </a:p>
        </p:txBody>
      </p:sp>
      <p:sp>
        <p:nvSpPr>
          <p:cNvPr id="10" name="Text 8"/>
          <p:cNvSpPr/>
          <p:nvPr/>
        </p:nvSpPr>
        <p:spPr>
          <a:xfrm>
            <a:off x="4425696" y="3685032"/>
            <a:ext cx="3063240" cy="3200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Truy vấn được</a:t>
            </a:r>
            <a:endParaRPr lang="en-US" sz="2000" dirty="0"/>
          </a:p>
        </p:txBody>
      </p:sp>
      <p:sp>
        <p:nvSpPr>
          <p:cNvPr id="11" name="Text 9"/>
          <p:cNvSpPr/>
          <p:nvPr/>
        </p:nvSpPr>
        <p:spPr>
          <a:xfrm>
            <a:off x="4425696" y="4187952"/>
            <a:ext cx="2971800" cy="749808"/>
          </a:xfrm>
          <a:prstGeom prst="rect">
            <a:avLst/>
          </a:prstGeom>
          <a:noFill/>
          <a:ln/>
        </p:spPr>
        <p:txBody>
          <a:bodyPr wrap="square" lIns="0" tIns="0" rIns="0" bIns="0" rtlCol="0" anchor="ctr">
            <a:normAutofit/>
          </a:bodyPr>
          <a:lstStyle/>
          <a:p>
            <a:pPr indent="0" marL="0">
              <a:buNone/>
            </a:pPr>
            <a:r>
              <a:rPr lang="en-US" sz="1350" dirty="0">
                <a:solidFill>
                  <a:srgbClr val="C9D8E4"/>
                </a:solidFill>
                <a:latin typeface="Calibri" pitchFamily="34" charset="0"/>
                <a:ea typeface="Calibri" pitchFamily="34" charset="-122"/>
                <a:cs typeface="Calibri" pitchFamily="34" charset="-120"/>
              </a:rPr>
              <a:t>Cypher multi-hop và derived fact có bằng chứng.</a:t>
            </a:r>
            <a:endParaRPr lang="en-US" sz="1350" dirty="0"/>
          </a:p>
        </p:txBody>
      </p:sp>
      <p:sp>
        <p:nvSpPr>
          <p:cNvPr id="12" name="Text 10"/>
          <p:cNvSpPr/>
          <p:nvPr/>
        </p:nvSpPr>
        <p:spPr>
          <a:xfrm>
            <a:off x="8138160" y="3246120"/>
            <a:ext cx="411480" cy="256032"/>
          </a:xfrm>
          <a:prstGeom prst="rect">
            <a:avLst/>
          </a:prstGeom>
          <a:noFill/>
          <a:ln/>
        </p:spPr>
        <p:txBody>
          <a:bodyPr wrap="square" lIns="0" tIns="0" rIns="0" bIns="0" rtlCol="0" anchor="ctr"/>
          <a:lstStyle/>
          <a:p>
            <a:pPr indent="0" marL="0">
              <a:buNone/>
            </a:pPr>
            <a:r>
              <a:rPr lang="en-US" sz="1200" b="1" dirty="0">
                <a:solidFill>
                  <a:srgbClr val="8FD0CC"/>
                </a:solidFill>
                <a:latin typeface="Arial" pitchFamily="34" charset="0"/>
                <a:ea typeface="Arial" pitchFamily="34" charset="-122"/>
                <a:cs typeface="Arial" pitchFamily="34" charset="-120"/>
              </a:rPr>
              <a:t>03</a:t>
            </a:r>
            <a:endParaRPr lang="en-US" sz="1200" dirty="0"/>
          </a:p>
        </p:txBody>
      </p:sp>
      <p:sp>
        <p:nvSpPr>
          <p:cNvPr id="13" name="Text 11"/>
          <p:cNvSpPr/>
          <p:nvPr/>
        </p:nvSpPr>
        <p:spPr>
          <a:xfrm>
            <a:off x="8138160" y="3685032"/>
            <a:ext cx="3063240" cy="3200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Giải thích được</a:t>
            </a:r>
            <a:endParaRPr lang="en-US" sz="2000" dirty="0"/>
          </a:p>
        </p:txBody>
      </p:sp>
      <p:sp>
        <p:nvSpPr>
          <p:cNvPr id="14" name="Text 12"/>
          <p:cNvSpPr/>
          <p:nvPr/>
        </p:nvSpPr>
        <p:spPr>
          <a:xfrm>
            <a:off x="8138160" y="4187952"/>
            <a:ext cx="2971800" cy="749808"/>
          </a:xfrm>
          <a:prstGeom prst="rect">
            <a:avLst/>
          </a:prstGeom>
          <a:noFill/>
          <a:ln/>
        </p:spPr>
        <p:txBody>
          <a:bodyPr wrap="square" lIns="0" tIns="0" rIns="0" bIns="0" rtlCol="0" anchor="ctr">
            <a:normAutofit/>
          </a:bodyPr>
          <a:lstStyle/>
          <a:p>
            <a:pPr indent="0" marL="0">
              <a:buNone/>
            </a:pPr>
            <a:r>
              <a:rPr lang="en-US" sz="1350" dirty="0">
                <a:solidFill>
                  <a:srgbClr val="C9D8E4"/>
                </a:solidFill>
                <a:latin typeface="Calibri" pitchFamily="34" charset="0"/>
                <a:ea typeface="Calibri" pitchFamily="34" charset="-122"/>
                <a:cs typeface="Calibri" pitchFamily="34" charset="-120"/>
              </a:rPr>
              <a:t>QA và gợi ý trả cả thực thể, path và đóng góp điểm.</a:t>
            </a:r>
            <a:endParaRPr lang="en-US" sz="1350" dirty="0"/>
          </a:p>
        </p:txBody>
      </p:sp>
      <p:sp>
        <p:nvSpPr>
          <p:cNvPr id="15" name="Text 13"/>
          <p:cNvSpPr/>
          <p:nvPr/>
        </p:nvSpPr>
        <p:spPr>
          <a:xfrm>
            <a:off x="713232" y="5943600"/>
            <a:ext cx="7772400" cy="365760"/>
          </a:xfrm>
          <a:prstGeom prst="rect">
            <a:avLst/>
          </a:prstGeom>
          <a:noFill/>
          <a:ln/>
        </p:spPr>
        <p:txBody>
          <a:bodyPr wrap="square" lIns="0" tIns="0" rIns="0" bIns="0" rtlCol="0" anchor="ctr"/>
          <a:lstStyle/>
          <a:p>
            <a:pPr indent="0" marL="0">
              <a:buNone/>
            </a:pPr>
            <a:r>
              <a:rPr lang="en-US" sz="1600" b="1" dirty="0">
                <a:solidFill>
                  <a:srgbClr val="8FD0CC"/>
                </a:solidFill>
                <a:latin typeface="Calibri" pitchFamily="34" charset="0"/>
                <a:ea typeface="Calibri" pitchFamily="34" charset="-122"/>
                <a:cs typeface="Calibri" pitchFamily="34" charset="-120"/>
              </a:rPr>
              <a:t>Xin cảm ơn thầy. Em xin lắng nghe câu hỏi và phản biện.</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Đại học Bách khoa Hà Nội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Knowledge Graph: Cơ sở lý thuyết và ứng dụng trên dữ liệu phim</dc:title>
  <dc:subject>Cơ sở lý thuyết Knowledge Graph và nghiên cứu tình huống phim</dc:subject>
  <dc:creator>Hoàng Kim Khánh</dc:creator>
  <cp:lastModifiedBy>Hoàng Kim Khánh</cp:lastModifiedBy>
  <cp:revision>1</cp:revision>
  <dcterms:created xsi:type="dcterms:W3CDTF">2026-07-25T04:38:50Z</dcterms:created>
  <dcterms:modified xsi:type="dcterms:W3CDTF">2026-07-25T04:38:50Z</dcterms:modified>
</cp:coreProperties>
</file>